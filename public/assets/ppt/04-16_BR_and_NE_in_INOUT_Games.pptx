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324" r:id="rId4"/>
    <p:sldId id="258" r:id="rId5"/>
    <p:sldId id="260" r:id="rId6"/>
    <p:sldId id="262" r:id="rId7"/>
    <p:sldId id="263" r:id="rId8"/>
    <p:sldId id="325" r:id="rId9"/>
    <p:sldId id="265" r:id="rId10"/>
    <p:sldId id="268" r:id="rId11"/>
    <p:sldId id="269" r:id="rId12"/>
    <p:sldId id="270" r:id="rId13"/>
    <p:sldId id="271" r:id="rId14"/>
    <p:sldId id="272" r:id="rId15"/>
    <p:sldId id="273" r:id="rId16"/>
    <p:sldId id="274" r:id="rId17"/>
    <p:sldId id="275" r:id="rId18"/>
    <p:sldId id="276" r:id="rId19"/>
    <p:sldId id="283" r:id="rId20"/>
    <p:sldId id="287" r:id="rId21"/>
    <p:sldId id="301" r:id="rId22"/>
    <p:sldId id="286" r:id="rId23"/>
    <p:sldId id="285" r:id="rId24"/>
    <p:sldId id="284" r:id="rId25"/>
    <p:sldId id="288" r:id="rId26"/>
    <p:sldId id="280" r:id="rId27"/>
    <p:sldId id="289" r:id="rId28"/>
    <p:sldId id="290" r:id="rId29"/>
    <p:sldId id="292" r:id="rId30"/>
    <p:sldId id="320" r:id="rId31"/>
    <p:sldId id="321" r:id="rId32"/>
    <p:sldId id="293" r:id="rId33"/>
    <p:sldId id="294" r:id="rId34"/>
    <p:sldId id="295" r:id="rId35"/>
    <p:sldId id="296" r:id="rId36"/>
    <p:sldId id="297" r:id="rId37"/>
    <p:sldId id="298" r:id="rId38"/>
    <p:sldId id="299" r:id="rId39"/>
    <p:sldId id="300" r:id="rId40"/>
    <p:sldId id="303" r:id="rId41"/>
    <p:sldId id="305" r:id="rId42"/>
    <p:sldId id="306" r:id="rId43"/>
    <p:sldId id="307" r:id="rId44"/>
    <p:sldId id="308" r:id="rId45"/>
    <p:sldId id="309" r:id="rId46"/>
    <p:sldId id="322" r:id="rId47"/>
    <p:sldId id="310" r:id="rId48"/>
    <p:sldId id="323" r:id="rId49"/>
    <p:sldId id="326" r:id="rId50"/>
    <p:sldId id="327" r:id="rId51"/>
    <p:sldId id="328" r:id="rId52"/>
    <p:sldId id="311" r:id="rId53"/>
    <p:sldId id="312" r:id="rId54"/>
    <p:sldId id="313" r:id="rId55"/>
    <p:sldId id="314" r:id="rId56"/>
    <p:sldId id="315" r:id="rId57"/>
    <p:sldId id="317" r:id="rId58"/>
    <p:sldId id="316" r:id="rId59"/>
    <p:sldId id="318" r:id="rId60"/>
    <p:sldId id="329" r:id="rId61"/>
    <p:sldId id="330" r:id="rId62"/>
    <p:sldId id="331" r:id="rId63"/>
    <p:sldId id="332" r:id="rId64"/>
    <p:sldId id="333" r:id="rId65"/>
    <p:sldId id="334" r:id="rId66"/>
    <p:sldId id="335" r:id="rId67"/>
    <p:sldId id="336" r:id="rId68"/>
    <p:sldId id="337" r:id="rId69"/>
    <p:sldId id="338" r:id="rId70"/>
    <p:sldId id="339" r:id="rId71"/>
    <p:sldId id="340" r:id="rId72"/>
    <p:sldId id="341" r:id="rId73"/>
    <p:sldId id="342" r:id="rId74"/>
    <p:sldId id="343" r:id="rId75"/>
    <p:sldId id="344" r:id="rId76"/>
    <p:sldId id="345" r:id="rId77"/>
    <p:sldId id="346" r:id="rId78"/>
    <p:sldId id="347" r:id="rId79"/>
    <p:sldId id="348" r:id="rId80"/>
    <p:sldId id="349" r:id="rId81"/>
    <p:sldId id="350" r:id="rId82"/>
    <p:sldId id="351" r:id="rId83"/>
    <p:sldId id="352" r:id="rId84"/>
    <p:sldId id="353" r:id="rId85"/>
    <p:sldId id="354" r:id="rId86"/>
    <p:sldId id="355" r:id="rId87"/>
    <p:sldId id="356" r:id="rId88"/>
    <p:sldId id="357" r:id="rId89"/>
    <p:sldId id="358" r:id="rId90"/>
    <p:sldId id="359" r:id="rId91"/>
    <p:sldId id="360" r:id="rId92"/>
    <p:sldId id="361" r:id="rId93"/>
    <p:sldId id="362" r:id="rId94"/>
    <p:sldId id="363" r:id="rId95"/>
    <p:sldId id="364" r:id="rId96"/>
    <p:sldId id="365" r:id="rId97"/>
    <p:sldId id="366" r:id="rId98"/>
    <p:sldId id="373" r:id="rId99"/>
    <p:sldId id="374" r:id="rId100"/>
    <p:sldId id="367" r:id="rId101"/>
    <p:sldId id="368" r:id="rId102"/>
    <p:sldId id="369" r:id="rId103"/>
    <p:sldId id="370" r:id="rId104"/>
    <p:sldId id="371" r:id="rId105"/>
    <p:sldId id="372" r:id="rId10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Stuart" userId="1bf9a496-f356-4f9c-b15f-a24cde0408c2" providerId="ADAL" clId="{D610E14A-756D-4778-AAB0-AFD182EFE9D3}"/>
    <pc:docChg chg="modSld">
      <pc:chgData name="Jordan, Stuart" userId="1bf9a496-f356-4f9c-b15f-a24cde0408c2" providerId="ADAL" clId="{D610E14A-756D-4778-AAB0-AFD182EFE9D3}" dt="2026-04-16T13:51:58.479" v="54" actId="20577"/>
      <pc:docMkLst>
        <pc:docMk/>
      </pc:docMkLst>
      <pc:sldChg chg="modSp mod">
        <pc:chgData name="Jordan, Stuart" userId="1bf9a496-f356-4f9c-b15f-a24cde0408c2" providerId="ADAL" clId="{D610E14A-756D-4778-AAB0-AFD182EFE9D3}" dt="2026-04-16T13:51:58.479" v="54" actId="20577"/>
        <pc:sldMkLst>
          <pc:docMk/>
          <pc:sldMk cId="2118344852" sldId="257"/>
        </pc:sldMkLst>
        <pc:spChg chg="mod">
          <ac:chgData name="Jordan, Stuart" userId="1bf9a496-f356-4f9c-b15f-a24cde0408c2" providerId="ADAL" clId="{D610E14A-756D-4778-AAB0-AFD182EFE9D3}" dt="2026-04-16T13:51:58.479" v="54" actId="20577"/>
          <ac:spMkLst>
            <pc:docMk/>
            <pc:sldMk cId="2118344852" sldId="257"/>
            <ac:spMk id="3" creationId="{AF708F7C-36B0-0FB1-22D1-CE89DFD1122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FBDFBF9-32A0-4414-8D6B-F088313EAB5A}"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3372290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BDFBF9-32A0-4414-8D6B-F088313EAB5A}"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538381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BDFBF9-32A0-4414-8D6B-F088313EAB5A}"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3884719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BDFBF9-32A0-4414-8D6B-F088313EAB5A}"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128145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BDFBF9-32A0-4414-8D6B-F088313EAB5A}"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344940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BDFBF9-32A0-4414-8D6B-F088313EAB5A}"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1819082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BDFBF9-32A0-4414-8D6B-F088313EAB5A}"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1814966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BDFBF9-32A0-4414-8D6B-F088313EAB5A}"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3616999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BDFBF9-32A0-4414-8D6B-F088313EAB5A}"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3931078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BDFBF9-32A0-4414-8D6B-F088313EAB5A}"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2873131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BDFBF9-32A0-4414-8D6B-F088313EAB5A}"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E03D1-57D4-424C-9919-70A0E6373E5C}" type="slidenum">
              <a:rPr lang="en-US" smtClean="0"/>
              <a:t>‹#›</a:t>
            </a:fld>
            <a:endParaRPr lang="en-US"/>
          </a:p>
        </p:txBody>
      </p:sp>
    </p:spTree>
    <p:extLst>
      <p:ext uri="{BB962C8B-B14F-4D97-AF65-F5344CB8AC3E}">
        <p14:creationId xmlns:p14="http://schemas.microsoft.com/office/powerpoint/2010/main" val="1252132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BDFBF9-32A0-4414-8D6B-F088313EAB5A}" type="datetimeFigureOut">
              <a:rPr lang="en-US" smtClean="0"/>
              <a:t>4/16/2026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E03D1-57D4-424C-9919-70A0E6373E5C}" type="slidenum">
              <a:rPr lang="en-US" smtClean="0"/>
              <a:t>‹#›</a:t>
            </a:fld>
            <a:endParaRPr lang="en-US"/>
          </a:p>
        </p:txBody>
      </p:sp>
    </p:spTree>
    <p:extLst>
      <p:ext uri="{BB962C8B-B14F-4D97-AF65-F5344CB8AC3E}">
        <p14:creationId xmlns:p14="http://schemas.microsoft.com/office/powerpoint/2010/main" val="353450214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2.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6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4.png"/><Relationship Id="rId4" Type="http://schemas.openxmlformats.org/officeDocument/2006/relationships/image" Target="../media/image17.png"/><Relationship Id="rId9" Type="http://schemas.openxmlformats.org/officeDocument/2006/relationships/image" Target="../media/image23.png"/></Relationships>
</file>

<file path=ppt/slides/_rels/slide6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png"/><Relationship Id="rId3" Type="http://schemas.openxmlformats.org/officeDocument/2006/relationships/image" Target="../media/image16.png"/><Relationship Id="rId7" Type="http://schemas.openxmlformats.org/officeDocument/2006/relationships/image" Target="../media/image21.png"/><Relationship Id="rId12" Type="http://schemas.openxmlformats.org/officeDocument/2006/relationships/image" Target="../media/image2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6.png"/><Relationship Id="rId5" Type="http://schemas.openxmlformats.org/officeDocument/2006/relationships/image" Target="../media/image18.png"/><Relationship Id="rId10" Type="http://schemas.openxmlformats.org/officeDocument/2006/relationships/image" Target="../media/image25.png"/><Relationship Id="rId4" Type="http://schemas.openxmlformats.org/officeDocument/2006/relationships/image" Target="../media/image17.png"/><Relationship Id="rId9" Type="http://schemas.openxmlformats.org/officeDocument/2006/relationships/image" Target="../media/image23.png"/><Relationship Id="rId14" Type="http://schemas.openxmlformats.org/officeDocument/2006/relationships/image" Target="../media/image2.svg"/></Relationships>
</file>

<file path=ppt/slides/_rels/slide6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png"/><Relationship Id="rId3" Type="http://schemas.openxmlformats.org/officeDocument/2006/relationships/image" Target="../media/image16.png"/><Relationship Id="rId7" Type="http://schemas.openxmlformats.org/officeDocument/2006/relationships/image" Target="../media/image21.png"/><Relationship Id="rId12" Type="http://schemas.openxmlformats.org/officeDocument/2006/relationships/image" Target="../media/image2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6.png"/><Relationship Id="rId5" Type="http://schemas.openxmlformats.org/officeDocument/2006/relationships/image" Target="../media/image18.png"/><Relationship Id="rId10" Type="http://schemas.openxmlformats.org/officeDocument/2006/relationships/image" Target="../media/image25.png"/><Relationship Id="rId4" Type="http://schemas.openxmlformats.org/officeDocument/2006/relationships/image" Target="../media/image17.png"/><Relationship Id="rId9" Type="http://schemas.openxmlformats.org/officeDocument/2006/relationships/image" Target="../media/image23.png"/><Relationship Id="rId14" Type="http://schemas.openxmlformats.org/officeDocument/2006/relationships/image" Target="../media/image2.svg"/></Relationships>
</file>

<file path=ppt/slides/_rels/slide7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png"/><Relationship Id="rId3" Type="http://schemas.openxmlformats.org/officeDocument/2006/relationships/image" Target="../media/image16.png"/><Relationship Id="rId7" Type="http://schemas.openxmlformats.org/officeDocument/2006/relationships/image" Target="../media/image21.png"/><Relationship Id="rId12" Type="http://schemas.openxmlformats.org/officeDocument/2006/relationships/image" Target="../media/image27.png"/><Relationship Id="rId17" Type="http://schemas.openxmlformats.org/officeDocument/2006/relationships/image" Target="../media/image30.png"/><Relationship Id="rId2" Type="http://schemas.openxmlformats.org/officeDocument/2006/relationships/image" Target="../media/image14.png"/><Relationship Id="rId16"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6.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5.png"/><Relationship Id="rId4" Type="http://schemas.openxmlformats.org/officeDocument/2006/relationships/image" Target="../media/image17.png"/><Relationship Id="rId9" Type="http://schemas.openxmlformats.org/officeDocument/2006/relationships/image" Target="../media/image23.png"/><Relationship Id="rId14" Type="http://schemas.openxmlformats.org/officeDocument/2006/relationships/image" Target="../media/image2.sv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svg"/></Relationships>
</file>

<file path=ppt/slides/_rels/slide7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s>
</file>

<file path=ppt/slides/_rels/slide7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s>
</file>

<file path=ppt/slides/_rels/slide7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6"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39.png"/></Relationships>
</file>

<file path=ppt/slides/_rels/slide7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6"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39.png"/></Relationships>
</file>

<file path=ppt/slides/_rels/slide7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image" Target="../media/image14.png"/><Relationship Id="rId16"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39.png"/></Relationships>
</file>

<file path=ppt/slides/_rels/slide7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43.png"/><Relationship Id="rId2" Type="http://schemas.openxmlformats.org/officeDocument/2006/relationships/image" Target="../media/image14.png"/><Relationship Id="rId16"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39.png"/></Relationships>
</file>

<file path=ppt/slides/_rels/slide7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44.png"/><Relationship Id="rId2" Type="http://schemas.openxmlformats.org/officeDocument/2006/relationships/image" Target="../media/image14.png"/><Relationship Id="rId16"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39.png"/></Relationships>
</file>

<file path=ppt/slides/_rels/slide7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s>
</file>

<file path=ppt/slides/_rels/slide8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6.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45.png"/></Relationships>
</file>

<file path=ppt/slides/_rels/slide8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6.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45.png"/></Relationships>
</file>

<file path=ppt/slides/_rels/slide8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48.png"/><Relationship Id="rId2" Type="http://schemas.openxmlformats.org/officeDocument/2006/relationships/image" Target="../media/image14.png"/><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6.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45.png"/></Relationships>
</file>

<file path=ppt/slides/_rels/slide8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9.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48.png"/><Relationship Id="rId2" Type="http://schemas.openxmlformats.org/officeDocument/2006/relationships/image" Target="../media/image14.png"/><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6.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45.png"/></Relationships>
</file>

<file path=ppt/slides/_rels/slide8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9.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50.png"/><Relationship Id="rId2" Type="http://schemas.openxmlformats.org/officeDocument/2006/relationships/image" Target="../media/image14.png"/><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6.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45.png"/></Relationships>
</file>

<file path=ppt/slides/_rels/slide8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50.png"/><Relationship Id="rId2" Type="http://schemas.openxmlformats.org/officeDocument/2006/relationships/image" Target="../media/image14.png"/><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6.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45.png"/></Relationships>
</file>

<file path=ppt/slides/_rels/slide8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50.png"/><Relationship Id="rId2" Type="http://schemas.openxmlformats.org/officeDocument/2006/relationships/image" Target="../media/image14.png"/><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6.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45.png"/></Relationships>
</file>

<file path=ppt/slides/_rels/slide8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s>
</file>

<file path=ppt/slides/_rels/slide8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6"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53.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52.png"/></Relationships>
</file>

<file path=ppt/slides/_rels/slide8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55.png"/><Relationship Id="rId2" Type="http://schemas.openxmlformats.org/officeDocument/2006/relationships/image" Target="../media/image14.png"/><Relationship Id="rId16"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53.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52.png"/></Relationships>
</file>

<file path=ppt/slides/_rels/slide9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17" Type="http://schemas.openxmlformats.org/officeDocument/2006/relationships/image" Target="../media/image56.png"/><Relationship Id="rId2" Type="http://schemas.openxmlformats.org/officeDocument/2006/relationships/image" Target="../media/image14.png"/><Relationship Id="rId16"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53.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52.png"/></Relationships>
</file>

<file path=ppt/slides/_rels/slide9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2.svg"/><Relationship Id="rId9" Type="http://schemas.openxmlformats.org/officeDocument/2006/relationships/image" Target="../media/image34.png"/></Relationships>
</file>

<file path=ppt/slides/_rels/slide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3.png"/></Relationships>
</file>

<file path=ppt/slides/_rels/slide9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8.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12.png"/><Relationship Id="rId4" Type="http://schemas.openxmlformats.org/officeDocument/2006/relationships/image" Target="../media/image13.png"/></Relationships>
</file>

<file path=ppt/slides/_rels/slide9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8.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12.png"/><Relationship Id="rId4" Type="http://schemas.openxmlformats.org/officeDocument/2006/relationships/image" Target="../media/image60.png"/></Relationships>
</file>

<file path=ppt/slides/_rels/slide9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8.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12.png"/><Relationship Id="rId4" Type="http://schemas.openxmlformats.org/officeDocument/2006/relationships/image" Target="../media/image6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B324C-6DF1-3335-7F99-8C3157D9CC6E}"/>
              </a:ext>
            </a:extLst>
          </p:cNvPr>
          <p:cNvSpPr>
            <a:spLocks noGrp="1"/>
          </p:cNvSpPr>
          <p:nvPr>
            <p:ph type="ctrTitle"/>
          </p:nvPr>
        </p:nvSpPr>
        <p:spPr/>
        <p:txBody>
          <a:bodyPr/>
          <a:lstStyle/>
          <a:p>
            <a:r>
              <a:rPr lang="en-US"/>
              <a:t>In-Out Games</a:t>
            </a:r>
          </a:p>
        </p:txBody>
      </p:sp>
    </p:spTree>
    <p:extLst>
      <p:ext uri="{BB962C8B-B14F-4D97-AF65-F5344CB8AC3E}">
        <p14:creationId xmlns:p14="http://schemas.microsoft.com/office/powerpoint/2010/main" val="1172008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D8BA3-CCB9-9F13-BD4D-775810E03160}"/>
              </a:ext>
            </a:extLst>
          </p:cNvPr>
          <p:cNvSpPr>
            <a:spLocks noGrp="1"/>
          </p:cNvSpPr>
          <p:nvPr>
            <p:ph type="title"/>
          </p:nvPr>
        </p:nvSpPr>
        <p:spPr/>
        <p:txBody>
          <a:bodyPr/>
          <a:lstStyle/>
          <a:p>
            <a:r>
              <a:rPr lang="en-US"/>
              <a:t>Your List This Week</a:t>
            </a:r>
          </a:p>
        </p:txBody>
      </p:sp>
      <p:sp>
        <p:nvSpPr>
          <p:cNvPr id="3" name="Content Placeholder 2">
            <a:extLst>
              <a:ext uri="{FF2B5EF4-FFF2-40B4-BE49-F238E27FC236}">
                <a16:creationId xmlns:a16="http://schemas.microsoft.com/office/drawing/2014/main" id="{AF708F7C-36B0-0FB1-22D1-CE89DFD11220}"/>
              </a:ext>
            </a:extLst>
          </p:cNvPr>
          <p:cNvSpPr>
            <a:spLocks noGrp="1"/>
          </p:cNvSpPr>
          <p:nvPr>
            <p:ph idx="1"/>
          </p:nvPr>
        </p:nvSpPr>
        <p:spPr/>
        <p:txBody>
          <a:bodyPr/>
          <a:lstStyle/>
          <a:p>
            <a:pPr>
              <a:lnSpc>
                <a:spcPct val="150000"/>
              </a:lnSpc>
            </a:pPr>
            <a:r>
              <a:rPr lang="en-US"/>
              <a:t>Work through Lesson 8</a:t>
            </a:r>
          </a:p>
          <a:p>
            <a:pPr>
              <a:lnSpc>
                <a:spcPct val="150000"/>
              </a:lnSpc>
            </a:pPr>
            <a:r>
              <a:rPr lang="en-US"/>
              <a:t>Problem solving sessions this Thursday and Friday</a:t>
            </a:r>
          </a:p>
        </p:txBody>
      </p:sp>
    </p:spTree>
    <p:extLst>
      <p:ext uri="{BB962C8B-B14F-4D97-AF65-F5344CB8AC3E}">
        <p14:creationId xmlns:p14="http://schemas.microsoft.com/office/powerpoint/2010/main" val="2118344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DAA43-928E-50EA-639E-5101CC5E1F97}"/>
              </a:ext>
            </a:extLst>
          </p:cNvPr>
          <p:cNvSpPr>
            <a:spLocks noGrp="1"/>
          </p:cNvSpPr>
          <p:nvPr>
            <p:ph type="title"/>
          </p:nvPr>
        </p:nvSpPr>
        <p:spPr/>
        <p:txBody>
          <a:bodyPr/>
          <a:lstStyle/>
          <a:p>
            <a:r>
              <a:rPr lang="en-US" dirty="0"/>
              <a:t>In-Out Games How To</a:t>
            </a:r>
          </a:p>
        </p:txBody>
      </p:sp>
      <p:sp>
        <p:nvSpPr>
          <p:cNvPr id="3" name="Content Placeholder 2">
            <a:extLst>
              <a:ext uri="{FF2B5EF4-FFF2-40B4-BE49-F238E27FC236}">
                <a16:creationId xmlns:a16="http://schemas.microsoft.com/office/drawing/2014/main" id="{DF034002-C650-E891-7974-C4ADCF14AD49}"/>
              </a:ext>
            </a:extLst>
          </p:cNvPr>
          <p:cNvSpPr>
            <a:spLocks noGrp="1"/>
          </p:cNvSpPr>
          <p:nvPr>
            <p:ph idx="1"/>
          </p:nvPr>
        </p:nvSpPr>
        <p:spPr/>
        <p:txBody>
          <a:bodyPr/>
          <a:lstStyle/>
          <a:p>
            <a:pPr>
              <a:buFont typeface="Wingdings" panose="05000000000000000000" pitchFamily="2" charset="2"/>
              <a:buChar char="q"/>
            </a:pPr>
            <a:r>
              <a:rPr lang="en-US" dirty="0"/>
              <a:t> Definition of In-Out Games</a:t>
            </a:r>
          </a:p>
          <a:p>
            <a:pPr>
              <a:buFont typeface="Wingdings" panose="05000000000000000000" pitchFamily="2" charset="2"/>
              <a:buChar char="q"/>
            </a:pPr>
            <a:r>
              <a:rPr lang="en-US" dirty="0"/>
              <a:t> An example – “I Need a Buddy”</a:t>
            </a:r>
          </a:p>
          <a:p>
            <a:pPr>
              <a:buFont typeface="Wingdings" panose="05000000000000000000" pitchFamily="2" charset="2"/>
              <a:buChar char="q"/>
            </a:pPr>
            <a:r>
              <a:rPr lang="en-US" dirty="0"/>
              <a:t> Steps to Identifying Nash Equilibria in In-Out Games</a:t>
            </a:r>
          </a:p>
          <a:p>
            <a:pPr>
              <a:buFont typeface="Wingdings" panose="05000000000000000000" pitchFamily="2" charset="2"/>
              <a:buChar char="q"/>
            </a:pPr>
            <a:r>
              <a:rPr lang="en-US" dirty="0"/>
              <a:t> Practicing/Demonstrating the Steps – Substitutes vs. Complements</a:t>
            </a:r>
          </a:p>
        </p:txBody>
      </p:sp>
    </p:spTree>
    <p:extLst>
      <p:ext uri="{BB962C8B-B14F-4D97-AF65-F5344CB8AC3E}">
        <p14:creationId xmlns:p14="http://schemas.microsoft.com/office/powerpoint/2010/main" val="3264841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435072-5E79-33EE-2D6E-AD21EEADB85A}"/>
              </a:ext>
            </a:extLst>
          </p:cNvPr>
          <p:cNvSpPr txBox="1"/>
          <p:nvPr/>
        </p:nvSpPr>
        <p:spPr>
          <a:xfrm>
            <a:off x="352426" y="257175"/>
            <a:ext cx="3219450" cy="369332"/>
          </a:xfrm>
          <a:prstGeom prst="rect">
            <a:avLst/>
          </a:prstGeom>
          <a:noFill/>
        </p:spPr>
        <p:txBody>
          <a:bodyPr wrap="square" rtlCol="0">
            <a:spAutoFit/>
          </a:bodyPr>
          <a:lstStyle/>
          <a:p>
            <a:r>
              <a:rPr lang="en-US"/>
              <a:t>IN-OUT GAMES -- </a:t>
            </a:r>
            <a:r>
              <a:rPr lang="en-US">
                <a:solidFill>
                  <a:schemeClr val="accent1"/>
                </a:solidFill>
              </a:rPr>
              <a:t>DEFINITION</a:t>
            </a:r>
          </a:p>
        </p:txBody>
      </p:sp>
    </p:spTree>
    <p:extLst>
      <p:ext uri="{BB962C8B-B14F-4D97-AF65-F5344CB8AC3E}">
        <p14:creationId xmlns:p14="http://schemas.microsoft.com/office/powerpoint/2010/main" val="368684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9DABDB13-5676-6A3A-3EC1-BFBA7A494B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A7851D-2717-15BC-7FE1-C38AFA2D2F4D}"/>
              </a:ext>
            </a:extLst>
          </p:cNvPr>
          <p:cNvSpPr txBox="1"/>
          <p:nvPr/>
        </p:nvSpPr>
        <p:spPr>
          <a:xfrm>
            <a:off x="352426" y="257175"/>
            <a:ext cx="3219450" cy="369332"/>
          </a:xfrm>
          <a:prstGeom prst="rect">
            <a:avLst/>
          </a:prstGeom>
          <a:noFill/>
        </p:spPr>
        <p:txBody>
          <a:bodyPr wrap="square" rtlCol="0">
            <a:spAutoFit/>
          </a:bodyPr>
          <a:lstStyle/>
          <a:p>
            <a:r>
              <a:rPr lang="en-US"/>
              <a:t>IN-OUT GAMES -- </a:t>
            </a:r>
            <a:r>
              <a:rPr lang="en-US">
                <a:solidFill>
                  <a:schemeClr val="accent1"/>
                </a:solidFill>
              </a:rPr>
              <a:t>DEFINITION</a:t>
            </a:r>
          </a:p>
        </p:txBody>
      </p:sp>
      <p:sp>
        <p:nvSpPr>
          <p:cNvPr id="2" name="TextBox 1">
            <a:extLst>
              <a:ext uri="{FF2B5EF4-FFF2-40B4-BE49-F238E27FC236}">
                <a16:creationId xmlns:a16="http://schemas.microsoft.com/office/drawing/2014/main" id="{B9A9E976-14C9-1EBB-F679-3BB71D11AEC4}"/>
              </a:ext>
            </a:extLst>
          </p:cNvPr>
          <p:cNvSpPr txBox="1"/>
          <p:nvPr/>
        </p:nvSpPr>
        <p:spPr>
          <a:xfrm>
            <a:off x="1819275" y="1390650"/>
            <a:ext cx="8553450" cy="2308324"/>
          </a:xfrm>
          <a:prstGeom prst="rect">
            <a:avLst/>
          </a:prstGeom>
          <a:noFill/>
        </p:spPr>
        <p:txBody>
          <a:bodyPr wrap="square" rtlCol="0">
            <a:spAutoFit/>
          </a:bodyPr>
          <a:lstStyle/>
          <a:p>
            <a:pPr marL="285750" indent="-285750">
              <a:buFont typeface="Arial" panose="020B0604020202020204" pitchFamily="34" charset="0"/>
              <a:buChar char="•"/>
            </a:pPr>
            <a:r>
              <a:rPr lang="en-US" sz="2400" i="1">
                <a:solidFill>
                  <a:schemeClr val="accent1"/>
                </a:solidFill>
              </a:rPr>
              <a:t>N </a:t>
            </a:r>
            <a:r>
              <a:rPr lang="en-US" sz="2400">
                <a:solidFill>
                  <a:schemeClr val="accent1"/>
                </a:solidFill>
              </a:rPr>
              <a:t>persons, where </a:t>
            </a:r>
            <a:r>
              <a:rPr lang="en-US" sz="2400" i="1">
                <a:solidFill>
                  <a:schemeClr val="accent1"/>
                </a:solidFill>
              </a:rPr>
              <a:t>N</a:t>
            </a:r>
            <a:r>
              <a:rPr lang="en-US" sz="2400">
                <a:solidFill>
                  <a:schemeClr val="accent1"/>
                </a:solidFill>
              </a:rPr>
              <a:t> is an integer greater than or equal to 3.</a:t>
            </a:r>
            <a:br>
              <a:rPr lang="en-US" sz="2400">
                <a:solidFill>
                  <a:schemeClr val="accent1"/>
                </a:solidFill>
              </a:rPr>
            </a:br>
            <a:endParaRPr lang="en-US" sz="2400">
              <a:solidFill>
                <a:schemeClr val="accent1"/>
              </a:solidFill>
            </a:endParaRPr>
          </a:p>
          <a:p>
            <a:pPr marL="285750" indent="-285750">
              <a:buFont typeface="Arial" panose="020B0604020202020204" pitchFamily="34" charset="0"/>
              <a:buChar char="•"/>
            </a:pPr>
            <a:r>
              <a:rPr lang="en-US" sz="2400">
                <a:solidFill>
                  <a:schemeClr val="accent1"/>
                </a:solidFill>
              </a:rPr>
              <a:t>Each person has two available actions: </a:t>
            </a:r>
            <a:r>
              <a:rPr lang="en-US" sz="2400" i="1">
                <a:solidFill>
                  <a:schemeClr val="accent1"/>
                </a:solidFill>
              </a:rPr>
              <a:t>in</a:t>
            </a:r>
            <a:r>
              <a:rPr lang="en-US" sz="2400">
                <a:solidFill>
                  <a:schemeClr val="accent1"/>
                </a:solidFill>
              </a:rPr>
              <a:t> and </a:t>
            </a:r>
            <a:r>
              <a:rPr lang="en-US" sz="2400" i="1">
                <a:solidFill>
                  <a:schemeClr val="accent1"/>
                </a:solidFill>
              </a:rPr>
              <a:t>out.</a:t>
            </a:r>
            <a:br>
              <a:rPr lang="en-US" sz="2400" i="1">
                <a:solidFill>
                  <a:schemeClr val="accent1"/>
                </a:solidFill>
              </a:rPr>
            </a:br>
            <a:endParaRPr lang="en-US" sz="2400" i="1">
              <a:solidFill>
                <a:schemeClr val="accent1"/>
              </a:solidFill>
            </a:endParaRPr>
          </a:p>
          <a:p>
            <a:pPr marL="285750" indent="-285750">
              <a:buFont typeface="Arial" panose="020B0604020202020204" pitchFamily="34" charset="0"/>
              <a:buChar char="•"/>
            </a:pPr>
            <a:r>
              <a:rPr lang="en-US" sz="2400">
                <a:solidFill>
                  <a:schemeClr val="accent1"/>
                </a:solidFill>
              </a:rPr>
              <a:t>Each person’s preferences over her available actions depend on the number of persons other than herself who do </a:t>
            </a:r>
            <a:r>
              <a:rPr lang="en-US" sz="2400" i="1">
                <a:solidFill>
                  <a:schemeClr val="accent1"/>
                </a:solidFill>
              </a:rPr>
              <a:t>in</a:t>
            </a:r>
            <a:r>
              <a:rPr lang="en-US" sz="2400">
                <a:solidFill>
                  <a:schemeClr val="accent1"/>
                </a:solidFill>
              </a:rPr>
              <a:t>.</a:t>
            </a:r>
          </a:p>
        </p:txBody>
      </p:sp>
    </p:spTree>
    <p:extLst>
      <p:ext uri="{BB962C8B-B14F-4D97-AF65-F5344CB8AC3E}">
        <p14:creationId xmlns:p14="http://schemas.microsoft.com/office/powerpoint/2010/main" val="3504086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09FB2619-692E-55AA-A425-31BD0A7670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8AE30D-5F05-E2F7-41CF-32EFF497FED9}"/>
              </a:ext>
            </a:extLst>
          </p:cNvPr>
          <p:cNvSpPr txBox="1"/>
          <p:nvPr/>
        </p:nvSpPr>
        <p:spPr>
          <a:xfrm>
            <a:off x="352425" y="257175"/>
            <a:ext cx="3886199" cy="369332"/>
          </a:xfrm>
          <a:prstGeom prst="rect">
            <a:avLst/>
          </a:prstGeom>
          <a:noFill/>
        </p:spPr>
        <p:txBody>
          <a:bodyPr wrap="square" rtlCol="0">
            <a:spAutoFit/>
          </a:bodyPr>
          <a:lstStyle/>
          <a:p>
            <a:r>
              <a:rPr lang="en-US"/>
              <a:t>IN-OUT GAMES -- </a:t>
            </a:r>
            <a:r>
              <a:rPr lang="en-US">
                <a:solidFill>
                  <a:schemeClr val="accent2"/>
                </a:solidFill>
              </a:rPr>
              <a:t>APPLICATIONS</a:t>
            </a:r>
          </a:p>
        </p:txBody>
      </p:sp>
    </p:spTree>
    <p:extLst>
      <p:ext uri="{BB962C8B-B14F-4D97-AF65-F5344CB8AC3E}">
        <p14:creationId xmlns:p14="http://schemas.microsoft.com/office/powerpoint/2010/main" val="1922843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3E6F537B-AA3B-17A8-B935-44E224F640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E585BF-8A3A-8117-E8CF-4B502F8D15A6}"/>
              </a:ext>
            </a:extLst>
          </p:cNvPr>
          <p:cNvSpPr txBox="1"/>
          <p:nvPr/>
        </p:nvSpPr>
        <p:spPr>
          <a:xfrm>
            <a:off x="352425" y="257175"/>
            <a:ext cx="3886199" cy="369332"/>
          </a:xfrm>
          <a:prstGeom prst="rect">
            <a:avLst/>
          </a:prstGeom>
          <a:noFill/>
        </p:spPr>
        <p:txBody>
          <a:bodyPr wrap="square" rtlCol="0">
            <a:spAutoFit/>
          </a:bodyPr>
          <a:lstStyle/>
          <a:p>
            <a:r>
              <a:rPr lang="en-US"/>
              <a:t>IN-OUT GAMES -- </a:t>
            </a:r>
            <a:r>
              <a:rPr lang="en-US">
                <a:solidFill>
                  <a:schemeClr val="accent2"/>
                </a:solidFill>
              </a:rPr>
              <a:t>APPLICATIONS</a:t>
            </a:r>
          </a:p>
        </p:txBody>
      </p:sp>
      <p:sp>
        <p:nvSpPr>
          <p:cNvPr id="2" name="TextBox 1">
            <a:extLst>
              <a:ext uri="{FF2B5EF4-FFF2-40B4-BE49-F238E27FC236}">
                <a16:creationId xmlns:a16="http://schemas.microsoft.com/office/drawing/2014/main" id="{589614AB-234F-822D-4C05-F47CD6ADF598}"/>
              </a:ext>
            </a:extLst>
          </p:cNvPr>
          <p:cNvSpPr txBox="1"/>
          <p:nvPr/>
        </p:nvSpPr>
        <p:spPr>
          <a:xfrm>
            <a:off x="1819275" y="1038225"/>
            <a:ext cx="8553450" cy="5632311"/>
          </a:xfrm>
          <a:prstGeom prst="rect">
            <a:avLst/>
          </a:prstGeom>
          <a:noFill/>
        </p:spPr>
        <p:txBody>
          <a:bodyPr wrap="square" rtlCol="0">
            <a:spAutoFit/>
          </a:bodyPr>
          <a:lstStyle/>
          <a:p>
            <a:pPr marL="285750" indent="-285750">
              <a:buFont typeface="Arial" panose="020B0604020202020204" pitchFamily="34" charset="0"/>
              <a:buChar char="•"/>
            </a:pPr>
            <a:r>
              <a:rPr lang="en-US" sz="2400">
                <a:solidFill>
                  <a:schemeClr val="accent2"/>
                </a:solidFill>
              </a:rPr>
              <a:t>Persons in a population each choosing whether to participate in a protest.</a:t>
            </a:r>
            <a:br>
              <a:rPr lang="en-US" sz="2400">
                <a:solidFill>
                  <a:schemeClr val="accent2"/>
                </a:solidFill>
              </a:rPr>
            </a:br>
            <a:endParaRPr lang="en-US" sz="2400">
              <a:solidFill>
                <a:schemeClr val="accent2"/>
              </a:solidFill>
            </a:endParaRPr>
          </a:p>
          <a:p>
            <a:pPr marL="285750" indent="-285750">
              <a:buFont typeface="Arial" panose="020B0604020202020204" pitchFamily="34" charset="0"/>
              <a:buChar char="•"/>
            </a:pPr>
            <a:r>
              <a:rPr lang="en-US" sz="2400">
                <a:solidFill>
                  <a:schemeClr val="accent2"/>
                </a:solidFill>
              </a:rPr>
              <a:t>Wealthy individuals each choosing whether to make a donation to a political candidate or party.</a:t>
            </a:r>
            <a:br>
              <a:rPr lang="en-US" sz="2400">
                <a:solidFill>
                  <a:schemeClr val="accent2"/>
                </a:solidFill>
              </a:rPr>
            </a:br>
            <a:endParaRPr lang="en-US" sz="2400">
              <a:solidFill>
                <a:schemeClr val="accent2"/>
              </a:solidFill>
            </a:endParaRPr>
          </a:p>
          <a:p>
            <a:pPr marL="285750" indent="-285750">
              <a:buFont typeface="Arial" panose="020B0604020202020204" pitchFamily="34" charset="0"/>
              <a:buChar char="•"/>
            </a:pPr>
            <a:r>
              <a:rPr lang="en-US" sz="2400">
                <a:solidFill>
                  <a:schemeClr val="accent2"/>
                </a:solidFill>
              </a:rPr>
              <a:t>Persons each choosing whether to enter an electoral race as candidates.</a:t>
            </a:r>
            <a:br>
              <a:rPr lang="en-US" sz="2400">
                <a:solidFill>
                  <a:schemeClr val="accent2"/>
                </a:solidFill>
              </a:rPr>
            </a:br>
            <a:endParaRPr lang="en-US" sz="2400">
              <a:solidFill>
                <a:schemeClr val="accent2"/>
              </a:solidFill>
            </a:endParaRPr>
          </a:p>
          <a:p>
            <a:pPr marL="285750" indent="-285750">
              <a:buFont typeface="Arial" panose="020B0604020202020204" pitchFamily="34" charset="0"/>
              <a:buChar char="•"/>
            </a:pPr>
            <a:r>
              <a:rPr lang="en-US" sz="2400">
                <a:solidFill>
                  <a:schemeClr val="accent2"/>
                </a:solidFill>
              </a:rPr>
              <a:t>Persons in an organization each choosing whether to put work into a shared project.</a:t>
            </a:r>
            <a:br>
              <a:rPr lang="en-US" sz="2400">
                <a:solidFill>
                  <a:schemeClr val="accent2"/>
                </a:solidFill>
              </a:rPr>
            </a:br>
            <a:endParaRPr lang="en-US" sz="2400">
              <a:solidFill>
                <a:schemeClr val="accent2"/>
              </a:solidFill>
            </a:endParaRPr>
          </a:p>
          <a:p>
            <a:pPr marL="285750" indent="-285750">
              <a:buFont typeface="Arial" panose="020B0604020202020204" pitchFamily="34" charset="0"/>
              <a:buChar char="•"/>
            </a:pPr>
            <a:r>
              <a:rPr lang="en-US" sz="2400">
                <a:solidFill>
                  <a:schemeClr val="accent2"/>
                </a:solidFill>
              </a:rPr>
              <a:t>Military officers each choosing whether to participate in a conspiracy to overthrow a civilian government</a:t>
            </a:r>
          </a:p>
          <a:p>
            <a:pPr marL="285750" indent="-285750">
              <a:buFont typeface="Arial" panose="020B0604020202020204" pitchFamily="34" charset="0"/>
              <a:buChar char="•"/>
            </a:pPr>
            <a:endParaRPr lang="en-US" sz="2400">
              <a:solidFill>
                <a:schemeClr val="accent2"/>
              </a:solidFill>
            </a:endParaRPr>
          </a:p>
        </p:txBody>
      </p:sp>
    </p:spTree>
    <p:extLst>
      <p:ext uri="{BB962C8B-B14F-4D97-AF65-F5344CB8AC3E}">
        <p14:creationId xmlns:p14="http://schemas.microsoft.com/office/powerpoint/2010/main" val="2197581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07438-4632-C37F-F9BA-BAA6ABE9C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5FC40-A7D9-3B74-FDE5-9709597CCED2}"/>
              </a:ext>
            </a:extLst>
          </p:cNvPr>
          <p:cNvSpPr>
            <a:spLocks noGrp="1"/>
          </p:cNvSpPr>
          <p:nvPr>
            <p:ph type="title"/>
          </p:nvPr>
        </p:nvSpPr>
        <p:spPr/>
        <p:txBody>
          <a:bodyPr/>
          <a:lstStyle/>
          <a:p>
            <a:r>
              <a:rPr lang="en-US" dirty="0"/>
              <a:t>In-Out Games How To</a:t>
            </a:r>
          </a:p>
        </p:txBody>
      </p:sp>
      <p:sp>
        <p:nvSpPr>
          <p:cNvPr id="3" name="Content Placeholder 2">
            <a:extLst>
              <a:ext uri="{FF2B5EF4-FFF2-40B4-BE49-F238E27FC236}">
                <a16:creationId xmlns:a16="http://schemas.microsoft.com/office/drawing/2014/main" id="{F6D9958E-45C6-B87D-4A0F-C542C04D36F7}"/>
              </a:ext>
            </a:extLst>
          </p:cNvPr>
          <p:cNvSpPr>
            <a:spLocks noGrp="1"/>
          </p:cNvSpPr>
          <p:nvPr>
            <p:ph idx="1"/>
          </p:nvPr>
        </p:nvSpPr>
        <p:spPr/>
        <p:txBody>
          <a:bodyPr/>
          <a:lstStyle/>
          <a:p>
            <a:pPr>
              <a:buFont typeface="Wingdings" panose="05000000000000000000" pitchFamily="2" charset="2"/>
              <a:buChar char="q"/>
            </a:pPr>
            <a:r>
              <a:rPr lang="en-US" dirty="0"/>
              <a:t> Definition of In-Out Games</a:t>
            </a:r>
          </a:p>
          <a:p>
            <a:pPr>
              <a:buFont typeface="Wingdings" panose="05000000000000000000" pitchFamily="2" charset="2"/>
              <a:buChar char="q"/>
            </a:pPr>
            <a:r>
              <a:rPr lang="en-US" dirty="0"/>
              <a:t> An example – “I Need a Buddy”</a:t>
            </a:r>
          </a:p>
          <a:p>
            <a:pPr>
              <a:buFont typeface="Wingdings" panose="05000000000000000000" pitchFamily="2" charset="2"/>
              <a:buChar char="q"/>
            </a:pPr>
            <a:r>
              <a:rPr lang="en-US" dirty="0"/>
              <a:t> Steps to Identifying Nash Equilibria in In-Out Games</a:t>
            </a:r>
          </a:p>
          <a:p>
            <a:pPr>
              <a:buFont typeface="Wingdings" panose="05000000000000000000" pitchFamily="2" charset="2"/>
              <a:buChar char="q"/>
            </a:pPr>
            <a:r>
              <a:rPr lang="en-US" dirty="0"/>
              <a:t> Practicing/Demonstrating the Steps – Substitutes vs. Complements</a:t>
            </a:r>
          </a:p>
        </p:txBody>
      </p:sp>
      <p:pic>
        <p:nvPicPr>
          <p:cNvPr id="5" name="Graphic 4" descr="Checkmark with solid fill">
            <a:extLst>
              <a:ext uri="{FF2B5EF4-FFF2-40B4-BE49-F238E27FC236}">
                <a16:creationId xmlns:a16="http://schemas.microsoft.com/office/drawing/2014/main" id="{4DE1C49D-2CBD-2EDA-6358-E3FA64912F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141" y="1300957"/>
            <a:ext cx="914400" cy="914400"/>
          </a:xfrm>
          <a:prstGeom prst="rect">
            <a:avLst/>
          </a:prstGeom>
        </p:spPr>
      </p:pic>
    </p:spTree>
    <p:extLst>
      <p:ext uri="{BB962C8B-B14F-4D97-AF65-F5344CB8AC3E}">
        <p14:creationId xmlns:p14="http://schemas.microsoft.com/office/powerpoint/2010/main" val="2578740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2FD049E0-4C8A-7493-BE0C-37753E2AF7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7726FF-8FF9-993A-2E30-6DFA24B859F9}"/>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Tree>
    <p:extLst>
      <p:ext uri="{BB962C8B-B14F-4D97-AF65-F5344CB8AC3E}">
        <p14:creationId xmlns:p14="http://schemas.microsoft.com/office/powerpoint/2010/main" val="608715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E424685E-04C2-12DD-9759-2081A5BF31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809061-1B66-4FCE-DBA3-AF04F133C1D2}"/>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
        <p:nvSpPr>
          <p:cNvPr id="2" name="TextBox 1">
            <a:extLst>
              <a:ext uri="{FF2B5EF4-FFF2-40B4-BE49-F238E27FC236}">
                <a16:creationId xmlns:a16="http://schemas.microsoft.com/office/drawing/2014/main" id="{0D3F3A4D-C3EF-71E0-ABD7-EB4704EB8B7E}"/>
              </a:ext>
            </a:extLst>
          </p:cNvPr>
          <p:cNvSpPr txBox="1"/>
          <p:nvPr/>
        </p:nvSpPr>
        <p:spPr>
          <a:xfrm>
            <a:off x="2087545" y="787748"/>
            <a:ext cx="8829675" cy="2554545"/>
          </a:xfrm>
          <a:prstGeom prst="rect">
            <a:avLst/>
          </a:prstGeom>
          <a:noFill/>
        </p:spPr>
        <p:txBody>
          <a:bodyPr wrap="square" rtlCol="0">
            <a:spAutoFit/>
          </a:bodyPr>
          <a:lstStyle/>
          <a:p>
            <a:pPr marL="285750" indent="-285750">
              <a:buFont typeface="Arial" panose="020B0604020202020204" pitchFamily="34" charset="0"/>
              <a:buChar char="•"/>
            </a:pPr>
            <a:r>
              <a:rPr lang="en-US" sz="3200" dirty="0">
                <a:solidFill>
                  <a:schemeClr val="accent1"/>
                </a:solidFill>
              </a:rPr>
              <a:t>10 Persons</a:t>
            </a:r>
            <a:br>
              <a:rPr lang="en-US" sz="3200" dirty="0">
                <a:solidFill>
                  <a:schemeClr val="accent1"/>
                </a:solidFill>
              </a:rPr>
            </a:br>
            <a:endParaRPr lang="en-US" sz="3200" dirty="0">
              <a:solidFill>
                <a:schemeClr val="accent1"/>
              </a:solidFill>
            </a:endParaRPr>
          </a:p>
          <a:p>
            <a:pPr marL="285750" indent="-285750">
              <a:buFont typeface="Arial" panose="020B0604020202020204" pitchFamily="34" charset="0"/>
              <a:buChar char="•"/>
            </a:pPr>
            <a:r>
              <a:rPr lang="en-US" sz="3200" dirty="0">
                <a:solidFill>
                  <a:schemeClr val="accent1"/>
                </a:solidFill>
              </a:rPr>
              <a:t>Each person chooses </a:t>
            </a:r>
            <a:r>
              <a:rPr lang="en-US" sz="3200" i="1" dirty="0">
                <a:solidFill>
                  <a:schemeClr val="accent1"/>
                </a:solidFill>
              </a:rPr>
              <a:t>in</a:t>
            </a:r>
            <a:r>
              <a:rPr lang="en-US" sz="3200" dirty="0">
                <a:solidFill>
                  <a:schemeClr val="accent1"/>
                </a:solidFill>
              </a:rPr>
              <a:t> or </a:t>
            </a:r>
            <a:r>
              <a:rPr lang="en-US" sz="3200" i="1" dirty="0">
                <a:solidFill>
                  <a:schemeClr val="accent1"/>
                </a:solidFill>
              </a:rPr>
              <a:t>out</a:t>
            </a:r>
            <a:br>
              <a:rPr lang="en-US" sz="3200" i="1" dirty="0">
                <a:solidFill>
                  <a:schemeClr val="accent1"/>
                </a:solidFill>
              </a:rPr>
            </a:br>
            <a:endParaRPr lang="en-US" sz="3200" i="1" dirty="0">
              <a:solidFill>
                <a:schemeClr val="accent1"/>
              </a:solidFill>
            </a:endParaRPr>
          </a:p>
          <a:p>
            <a:pPr marL="285750" indent="-285750">
              <a:buFont typeface="Arial" panose="020B0604020202020204" pitchFamily="34" charset="0"/>
              <a:buChar char="•"/>
            </a:pPr>
            <a:r>
              <a:rPr lang="en-US" sz="3200" dirty="0">
                <a:solidFill>
                  <a:schemeClr val="accent1"/>
                </a:solidFill>
              </a:rPr>
              <a:t>Each person i’s utility level is given by:</a:t>
            </a:r>
          </a:p>
        </p:txBody>
      </p:sp>
      <p:pic>
        <p:nvPicPr>
          <p:cNvPr id="6" name="Picture 5">
            <a:extLst>
              <a:ext uri="{FF2B5EF4-FFF2-40B4-BE49-F238E27FC236}">
                <a16:creationId xmlns:a16="http://schemas.microsoft.com/office/drawing/2014/main" id="{E78667F5-F4AB-0F0D-33B2-904E0439951D}"/>
              </a:ext>
            </a:extLst>
          </p:cNvPr>
          <p:cNvPicPr>
            <a:picLocks noChangeAspect="1"/>
          </p:cNvPicPr>
          <p:nvPr/>
        </p:nvPicPr>
        <p:blipFill>
          <a:blip r:embed="rId2"/>
          <a:stretch>
            <a:fillRect/>
          </a:stretch>
        </p:blipFill>
        <p:spPr>
          <a:xfrm>
            <a:off x="2295524" y="3503534"/>
            <a:ext cx="8154538" cy="2353003"/>
          </a:xfrm>
          <a:prstGeom prst="rect">
            <a:avLst/>
          </a:prstGeom>
        </p:spPr>
      </p:pic>
    </p:spTree>
    <p:extLst>
      <p:ext uri="{BB962C8B-B14F-4D97-AF65-F5344CB8AC3E}">
        <p14:creationId xmlns:p14="http://schemas.microsoft.com/office/powerpoint/2010/main" val="2246142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70795D11-73F1-FF59-3B36-1F54D97A51D9}"/>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C8F303DE-5B90-2FFF-FF12-2512D88F3FC5}"/>
              </a:ext>
            </a:extLst>
          </p:cNvPr>
          <p:cNvSpPr/>
          <p:nvPr/>
        </p:nvSpPr>
        <p:spPr>
          <a:xfrm>
            <a:off x="13620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054C584-7009-729C-ACD9-6EDA3B0E714D}"/>
              </a:ext>
            </a:extLst>
          </p:cNvPr>
          <p:cNvSpPr txBox="1"/>
          <p:nvPr/>
        </p:nvSpPr>
        <p:spPr>
          <a:xfrm rot="20206468">
            <a:off x="137159" y="903221"/>
            <a:ext cx="2138249" cy="369332"/>
          </a:xfrm>
          <a:prstGeom prst="rect">
            <a:avLst/>
          </a:prstGeom>
          <a:noFill/>
        </p:spPr>
        <p:txBody>
          <a:bodyPr wrap="square" rtlCol="0">
            <a:spAutoFit/>
          </a:bodyPr>
          <a:lstStyle/>
          <a:p>
            <a:r>
              <a:rPr lang="en-US"/>
              <a:t>any given person, “</a:t>
            </a:r>
            <a:r>
              <a:rPr lang="en-US" i="1"/>
              <a:t>i</a:t>
            </a:r>
            <a:r>
              <a:rPr lang="en-US"/>
              <a:t>”</a:t>
            </a:r>
          </a:p>
        </p:txBody>
      </p:sp>
      <p:sp>
        <p:nvSpPr>
          <p:cNvPr id="2" name="TextBox 1">
            <a:extLst>
              <a:ext uri="{FF2B5EF4-FFF2-40B4-BE49-F238E27FC236}">
                <a16:creationId xmlns:a16="http://schemas.microsoft.com/office/drawing/2014/main" id="{CC911C55-7F53-271B-7147-E9EEC4F9B52A}"/>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Tree>
    <p:extLst>
      <p:ext uri="{BB962C8B-B14F-4D97-AF65-F5344CB8AC3E}">
        <p14:creationId xmlns:p14="http://schemas.microsoft.com/office/powerpoint/2010/main" val="2973233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6FAF5304-6F5E-3437-F177-C12B1DE5838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0AD81998-7976-A780-E37A-936796EB592D}"/>
              </a:ext>
            </a:extLst>
          </p:cNvPr>
          <p:cNvSpPr/>
          <p:nvPr/>
        </p:nvSpPr>
        <p:spPr>
          <a:xfrm>
            <a:off x="13620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ECC39615-5BF2-D4BF-295E-24A4021B58F1}"/>
              </a:ext>
            </a:extLst>
          </p:cNvPr>
          <p:cNvSpPr/>
          <p:nvPr/>
        </p:nvSpPr>
        <p:spPr>
          <a:xfrm>
            <a:off x="25527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B7B7A3BF-FDEC-DB19-A25D-BD3A9CFED003}"/>
              </a:ext>
            </a:extLst>
          </p:cNvPr>
          <p:cNvSpPr/>
          <p:nvPr/>
        </p:nvSpPr>
        <p:spPr>
          <a:xfrm>
            <a:off x="29622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E5DEAC6-32CE-A4E1-720F-BC7755B046F5}"/>
              </a:ext>
            </a:extLst>
          </p:cNvPr>
          <p:cNvSpPr/>
          <p:nvPr/>
        </p:nvSpPr>
        <p:spPr>
          <a:xfrm>
            <a:off x="33718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8861B30-77FC-EFF3-5F3F-A8FA18450481}"/>
              </a:ext>
            </a:extLst>
          </p:cNvPr>
          <p:cNvSpPr/>
          <p:nvPr/>
        </p:nvSpPr>
        <p:spPr>
          <a:xfrm>
            <a:off x="37814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769EE5C-598D-DE75-105B-087004CBC3C0}"/>
              </a:ext>
            </a:extLst>
          </p:cNvPr>
          <p:cNvSpPr/>
          <p:nvPr/>
        </p:nvSpPr>
        <p:spPr>
          <a:xfrm>
            <a:off x="41910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6CE9C48-708A-2A52-80EB-07FD07A9DE28}"/>
              </a:ext>
            </a:extLst>
          </p:cNvPr>
          <p:cNvSpPr/>
          <p:nvPr/>
        </p:nvSpPr>
        <p:spPr>
          <a:xfrm>
            <a:off x="46005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45CC6F-FA93-B6C3-4289-827E0B6AA211}"/>
              </a:ext>
            </a:extLst>
          </p:cNvPr>
          <p:cNvSpPr/>
          <p:nvPr/>
        </p:nvSpPr>
        <p:spPr>
          <a:xfrm>
            <a:off x="50101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9C95C92-75D6-CA22-17E6-0C3A91809334}"/>
              </a:ext>
            </a:extLst>
          </p:cNvPr>
          <p:cNvSpPr/>
          <p:nvPr/>
        </p:nvSpPr>
        <p:spPr>
          <a:xfrm>
            <a:off x="54197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3C934CB-0244-B469-418D-910C7D337773}"/>
              </a:ext>
            </a:extLst>
          </p:cNvPr>
          <p:cNvSpPr/>
          <p:nvPr/>
        </p:nvSpPr>
        <p:spPr>
          <a:xfrm>
            <a:off x="58293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455E8E5-E781-BBE2-2402-575B585661BF}"/>
              </a:ext>
            </a:extLst>
          </p:cNvPr>
          <p:cNvSpPr txBox="1"/>
          <p:nvPr/>
        </p:nvSpPr>
        <p:spPr>
          <a:xfrm>
            <a:off x="3246106" y="792717"/>
            <a:ext cx="2243138" cy="369332"/>
          </a:xfrm>
          <a:prstGeom prst="rect">
            <a:avLst/>
          </a:prstGeom>
          <a:noFill/>
        </p:spPr>
        <p:txBody>
          <a:bodyPr wrap="square" rtlCol="0">
            <a:spAutoFit/>
          </a:bodyPr>
          <a:lstStyle/>
          <a:p>
            <a:r>
              <a:rPr lang="en-US"/>
              <a:t>the other 9 persons</a:t>
            </a:r>
          </a:p>
        </p:txBody>
      </p:sp>
      <p:sp>
        <p:nvSpPr>
          <p:cNvPr id="25" name="TextBox 24">
            <a:extLst>
              <a:ext uri="{FF2B5EF4-FFF2-40B4-BE49-F238E27FC236}">
                <a16:creationId xmlns:a16="http://schemas.microsoft.com/office/drawing/2014/main" id="{17E15399-5CFB-162A-2C61-5E726F4DF4DE}"/>
              </a:ext>
            </a:extLst>
          </p:cNvPr>
          <p:cNvSpPr txBox="1"/>
          <p:nvPr/>
        </p:nvSpPr>
        <p:spPr>
          <a:xfrm rot="20206468">
            <a:off x="137159" y="903221"/>
            <a:ext cx="2138249" cy="369332"/>
          </a:xfrm>
          <a:prstGeom prst="rect">
            <a:avLst/>
          </a:prstGeom>
          <a:noFill/>
        </p:spPr>
        <p:txBody>
          <a:bodyPr wrap="square" rtlCol="0">
            <a:spAutoFit/>
          </a:bodyPr>
          <a:lstStyle/>
          <a:p>
            <a:r>
              <a:rPr lang="en-US"/>
              <a:t>any given person, “</a:t>
            </a:r>
            <a:r>
              <a:rPr lang="en-US" i="1"/>
              <a:t>i</a:t>
            </a:r>
            <a:r>
              <a:rPr lang="en-US"/>
              <a:t>”</a:t>
            </a:r>
          </a:p>
        </p:txBody>
      </p:sp>
      <p:sp>
        <p:nvSpPr>
          <p:cNvPr id="7" name="TextBox 6">
            <a:extLst>
              <a:ext uri="{FF2B5EF4-FFF2-40B4-BE49-F238E27FC236}">
                <a16:creationId xmlns:a16="http://schemas.microsoft.com/office/drawing/2014/main" id="{F109D9B2-30AA-6FA2-947C-048B46FFC485}"/>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Tree>
    <p:extLst>
      <p:ext uri="{BB962C8B-B14F-4D97-AF65-F5344CB8AC3E}">
        <p14:creationId xmlns:p14="http://schemas.microsoft.com/office/powerpoint/2010/main" val="3366784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E9062EEA-9302-879C-D4A1-632FBCEFE5D7}"/>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B044A98F-C8B2-8E28-2593-7CFDFE40A9B7}"/>
              </a:ext>
            </a:extLst>
          </p:cNvPr>
          <p:cNvSpPr/>
          <p:nvPr/>
        </p:nvSpPr>
        <p:spPr>
          <a:xfrm>
            <a:off x="13620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95C81CD6-D811-9C1F-9EEC-0AC81686C60C}"/>
              </a:ext>
            </a:extLst>
          </p:cNvPr>
          <p:cNvSpPr/>
          <p:nvPr/>
        </p:nvSpPr>
        <p:spPr>
          <a:xfrm>
            <a:off x="25527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6B0772C2-FDC7-F984-880F-1E4C03964C2F}"/>
              </a:ext>
            </a:extLst>
          </p:cNvPr>
          <p:cNvSpPr/>
          <p:nvPr/>
        </p:nvSpPr>
        <p:spPr>
          <a:xfrm>
            <a:off x="29622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FEB5475-600E-988A-FD8F-BFA2E99FD9E3}"/>
              </a:ext>
            </a:extLst>
          </p:cNvPr>
          <p:cNvSpPr/>
          <p:nvPr/>
        </p:nvSpPr>
        <p:spPr>
          <a:xfrm>
            <a:off x="33718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439B24F-8F71-ED6B-FDB3-38E182ADD38B}"/>
              </a:ext>
            </a:extLst>
          </p:cNvPr>
          <p:cNvSpPr/>
          <p:nvPr/>
        </p:nvSpPr>
        <p:spPr>
          <a:xfrm>
            <a:off x="37814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ABE2C8E-7F35-6360-E339-8F123FF6E00F}"/>
              </a:ext>
            </a:extLst>
          </p:cNvPr>
          <p:cNvSpPr/>
          <p:nvPr/>
        </p:nvSpPr>
        <p:spPr>
          <a:xfrm>
            <a:off x="41910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8D21F8C-6E33-3028-E47C-D791246A3F59}"/>
              </a:ext>
            </a:extLst>
          </p:cNvPr>
          <p:cNvSpPr/>
          <p:nvPr/>
        </p:nvSpPr>
        <p:spPr>
          <a:xfrm>
            <a:off x="46005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FD0338D-58DC-5B15-D74F-1BD4E6A5514E}"/>
              </a:ext>
            </a:extLst>
          </p:cNvPr>
          <p:cNvSpPr/>
          <p:nvPr/>
        </p:nvSpPr>
        <p:spPr>
          <a:xfrm>
            <a:off x="50101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7F106F4-F74F-F842-CF06-97F21B748A57}"/>
              </a:ext>
            </a:extLst>
          </p:cNvPr>
          <p:cNvSpPr/>
          <p:nvPr/>
        </p:nvSpPr>
        <p:spPr>
          <a:xfrm>
            <a:off x="54197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B89CABF-7543-82B0-3E5B-72C42EDDC3DC}"/>
              </a:ext>
            </a:extLst>
          </p:cNvPr>
          <p:cNvSpPr/>
          <p:nvPr/>
        </p:nvSpPr>
        <p:spPr>
          <a:xfrm>
            <a:off x="58293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56283DD-BAD7-F5E3-0540-2BC08ADD22CE}"/>
              </a:ext>
            </a:extLst>
          </p:cNvPr>
          <p:cNvSpPr txBox="1"/>
          <p:nvPr/>
        </p:nvSpPr>
        <p:spPr>
          <a:xfrm>
            <a:off x="3246106" y="792717"/>
            <a:ext cx="2243138" cy="369332"/>
          </a:xfrm>
          <a:prstGeom prst="rect">
            <a:avLst/>
          </a:prstGeom>
          <a:noFill/>
        </p:spPr>
        <p:txBody>
          <a:bodyPr wrap="square" rtlCol="0">
            <a:spAutoFit/>
          </a:bodyPr>
          <a:lstStyle/>
          <a:p>
            <a:r>
              <a:rPr lang="en-US"/>
              <a:t>the other 9 persons</a:t>
            </a:r>
          </a:p>
        </p:txBody>
      </p:sp>
      <p:sp>
        <p:nvSpPr>
          <p:cNvPr id="15" name="Oval 14">
            <a:extLst>
              <a:ext uri="{FF2B5EF4-FFF2-40B4-BE49-F238E27FC236}">
                <a16:creationId xmlns:a16="http://schemas.microsoft.com/office/drawing/2014/main" id="{B4A54589-EE13-A206-4C84-33DE5E3379E4}"/>
              </a:ext>
            </a:extLst>
          </p:cNvPr>
          <p:cNvSpPr/>
          <p:nvPr/>
        </p:nvSpPr>
        <p:spPr>
          <a:xfrm>
            <a:off x="25431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E7FBE62-C997-AE58-CAF7-DFCA31F674DF}"/>
              </a:ext>
            </a:extLst>
          </p:cNvPr>
          <p:cNvSpPr/>
          <p:nvPr/>
        </p:nvSpPr>
        <p:spPr>
          <a:xfrm>
            <a:off x="2952750" y="2686050"/>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1758D11-AC26-7322-DE87-F00A9924409A}"/>
              </a:ext>
            </a:extLst>
          </p:cNvPr>
          <p:cNvSpPr/>
          <p:nvPr/>
        </p:nvSpPr>
        <p:spPr>
          <a:xfrm>
            <a:off x="33623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3F3A018-81C1-ACA6-C031-545CFB2E1C4E}"/>
              </a:ext>
            </a:extLst>
          </p:cNvPr>
          <p:cNvSpPr/>
          <p:nvPr/>
        </p:nvSpPr>
        <p:spPr>
          <a:xfrm>
            <a:off x="37719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C851EF5-1359-1A90-2A94-CA0C38014432}"/>
              </a:ext>
            </a:extLst>
          </p:cNvPr>
          <p:cNvSpPr/>
          <p:nvPr/>
        </p:nvSpPr>
        <p:spPr>
          <a:xfrm>
            <a:off x="41814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B145DAA-B0AD-2340-9E71-8D219F299664}"/>
              </a:ext>
            </a:extLst>
          </p:cNvPr>
          <p:cNvSpPr/>
          <p:nvPr/>
        </p:nvSpPr>
        <p:spPr>
          <a:xfrm>
            <a:off x="459105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57BA27C-D4EA-B2EE-255E-E9B0EEBB3028}"/>
              </a:ext>
            </a:extLst>
          </p:cNvPr>
          <p:cNvSpPr/>
          <p:nvPr/>
        </p:nvSpPr>
        <p:spPr>
          <a:xfrm>
            <a:off x="50006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21AC578-37CF-8164-C447-E8E080E19FA0}"/>
              </a:ext>
            </a:extLst>
          </p:cNvPr>
          <p:cNvSpPr/>
          <p:nvPr/>
        </p:nvSpPr>
        <p:spPr>
          <a:xfrm>
            <a:off x="54102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9072004-92CE-49FD-D285-D350118D75D3}"/>
              </a:ext>
            </a:extLst>
          </p:cNvPr>
          <p:cNvSpPr/>
          <p:nvPr/>
        </p:nvSpPr>
        <p:spPr>
          <a:xfrm>
            <a:off x="58197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D6016BF-C4F6-91F1-59B2-055E5B057ACA}"/>
              </a:ext>
            </a:extLst>
          </p:cNvPr>
          <p:cNvSpPr txBox="1"/>
          <p:nvPr/>
        </p:nvSpPr>
        <p:spPr>
          <a:xfrm>
            <a:off x="2770815" y="2316718"/>
            <a:ext cx="3640469" cy="369332"/>
          </a:xfrm>
          <a:prstGeom prst="rect">
            <a:avLst/>
          </a:prstGeom>
          <a:noFill/>
        </p:spPr>
        <p:txBody>
          <a:bodyPr wrap="square" rtlCol="0">
            <a:spAutoFit/>
          </a:bodyPr>
          <a:lstStyle/>
          <a:p>
            <a:r>
              <a:rPr lang="en-US"/>
              <a:t>one does </a:t>
            </a:r>
            <a:r>
              <a:rPr lang="en-US" i="1"/>
              <a:t>in</a:t>
            </a:r>
            <a:r>
              <a:rPr lang="en-US"/>
              <a:t> the others do </a:t>
            </a:r>
            <a:r>
              <a:rPr lang="en-US" i="1"/>
              <a:t>out</a:t>
            </a:r>
            <a:r>
              <a:rPr lang="en-US"/>
              <a:t>...</a:t>
            </a:r>
          </a:p>
        </p:txBody>
      </p:sp>
      <p:sp>
        <p:nvSpPr>
          <p:cNvPr id="25" name="TextBox 24">
            <a:extLst>
              <a:ext uri="{FF2B5EF4-FFF2-40B4-BE49-F238E27FC236}">
                <a16:creationId xmlns:a16="http://schemas.microsoft.com/office/drawing/2014/main" id="{C4DA8DF1-AFEE-C2CD-D897-AB9D2DA45F0C}"/>
              </a:ext>
            </a:extLst>
          </p:cNvPr>
          <p:cNvSpPr txBox="1"/>
          <p:nvPr/>
        </p:nvSpPr>
        <p:spPr>
          <a:xfrm rot="20206468">
            <a:off x="137159" y="903221"/>
            <a:ext cx="2138249" cy="369332"/>
          </a:xfrm>
          <a:prstGeom prst="rect">
            <a:avLst/>
          </a:prstGeom>
          <a:noFill/>
        </p:spPr>
        <p:txBody>
          <a:bodyPr wrap="square" rtlCol="0">
            <a:spAutoFit/>
          </a:bodyPr>
          <a:lstStyle/>
          <a:p>
            <a:r>
              <a:rPr lang="en-US"/>
              <a:t>any given person, “</a:t>
            </a:r>
            <a:r>
              <a:rPr lang="en-US" i="1"/>
              <a:t>i</a:t>
            </a:r>
            <a:r>
              <a:rPr lang="en-US"/>
              <a:t>”</a:t>
            </a:r>
          </a:p>
        </p:txBody>
      </p:sp>
      <p:sp>
        <p:nvSpPr>
          <p:cNvPr id="26" name="TextBox 25">
            <a:extLst>
              <a:ext uri="{FF2B5EF4-FFF2-40B4-BE49-F238E27FC236}">
                <a16:creationId xmlns:a16="http://schemas.microsoft.com/office/drawing/2014/main" id="{F1EFDC9E-0883-11A6-9911-454AE0143CA1}"/>
              </a:ext>
            </a:extLst>
          </p:cNvPr>
          <p:cNvSpPr txBox="1"/>
          <p:nvPr/>
        </p:nvSpPr>
        <p:spPr>
          <a:xfrm>
            <a:off x="6333167" y="2634734"/>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7" name="TextBox 6">
            <a:extLst>
              <a:ext uri="{FF2B5EF4-FFF2-40B4-BE49-F238E27FC236}">
                <a16:creationId xmlns:a16="http://schemas.microsoft.com/office/drawing/2014/main" id="{C7110E2E-3754-1F9F-85F7-68A42D94EAFD}"/>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Tree>
    <p:extLst>
      <p:ext uri="{BB962C8B-B14F-4D97-AF65-F5344CB8AC3E}">
        <p14:creationId xmlns:p14="http://schemas.microsoft.com/office/powerpoint/2010/main" val="1446332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A7F89056-77B1-91C1-99FD-3C17C61F716D}"/>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741E4D8-9445-5F36-D6C6-DF00AE4FE4B4}"/>
              </a:ext>
            </a:extLst>
          </p:cNvPr>
          <p:cNvSpPr/>
          <p:nvPr/>
        </p:nvSpPr>
        <p:spPr>
          <a:xfrm>
            <a:off x="13620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9D65021C-9E17-6FC3-B532-B4D8145EABB0}"/>
              </a:ext>
            </a:extLst>
          </p:cNvPr>
          <p:cNvSpPr/>
          <p:nvPr/>
        </p:nvSpPr>
        <p:spPr>
          <a:xfrm>
            <a:off x="25527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DF7BE5FC-2E7C-C0DD-38CB-E6E07968A5F9}"/>
              </a:ext>
            </a:extLst>
          </p:cNvPr>
          <p:cNvSpPr/>
          <p:nvPr/>
        </p:nvSpPr>
        <p:spPr>
          <a:xfrm>
            <a:off x="29622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4EF061E-0462-9A7D-03D6-2BA4BE66DA1C}"/>
              </a:ext>
            </a:extLst>
          </p:cNvPr>
          <p:cNvSpPr/>
          <p:nvPr/>
        </p:nvSpPr>
        <p:spPr>
          <a:xfrm>
            <a:off x="33718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6A54F64-D37B-254C-A7A0-9D2C064E62E7}"/>
              </a:ext>
            </a:extLst>
          </p:cNvPr>
          <p:cNvSpPr/>
          <p:nvPr/>
        </p:nvSpPr>
        <p:spPr>
          <a:xfrm>
            <a:off x="37814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573D5-B0AB-6712-4F94-89BDE56DF962}"/>
              </a:ext>
            </a:extLst>
          </p:cNvPr>
          <p:cNvSpPr/>
          <p:nvPr/>
        </p:nvSpPr>
        <p:spPr>
          <a:xfrm>
            <a:off x="41910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CF1EFCA-CD66-2BAB-896E-E10E7A3496AC}"/>
              </a:ext>
            </a:extLst>
          </p:cNvPr>
          <p:cNvSpPr/>
          <p:nvPr/>
        </p:nvSpPr>
        <p:spPr>
          <a:xfrm>
            <a:off x="46005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A29166F-306D-0405-C604-A99FAB0D98D8}"/>
              </a:ext>
            </a:extLst>
          </p:cNvPr>
          <p:cNvSpPr/>
          <p:nvPr/>
        </p:nvSpPr>
        <p:spPr>
          <a:xfrm>
            <a:off x="50101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3BD4AFE-537F-549D-262B-C26230739888}"/>
              </a:ext>
            </a:extLst>
          </p:cNvPr>
          <p:cNvSpPr/>
          <p:nvPr/>
        </p:nvSpPr>
        <p:spPr>
          <a:xfrm>
            <a:off x="54197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654A360-E06D-77A7-3F2D-FC06F9FEEB4F}"/>
              </a:ext>
            </a:extLst>
          </p:cNvPr>
          <p:cNvSpPr/>
          <p:nvPr/>
        </p:nvSpPr>
        <p:spPr>
          <a:xfrm>
            <a:off x="58293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62F3BDD-F072-D4D0-082D-1264F6134354}"/>
              </a:ext>
            </a:extLst>
          </p:cNvPr>
          <p:cNvSpPr txBox="1"/>
          <p:nvPr/>
        </p:nvSpPr>
        <p:spPr>
          <a:xfrm>
            <a:off x="3246106" y="792717"/>
            <a:ext cx="2243138" cy="369332"/>
          </a:xfrm>
          <a:prstGeom prst="rect">
            <a:avLst/>
          </a:prstGeom>
          <a:noFill/>
        </p:spPr>
        <p:txBody>
          <a:bodyPr wrap="square" rtlCol="0">
            <a:spAutoFit/>
          </a:bodyPr>
          <a:lstStyle/>
          <a:p>
            <a:r>
              <a:rPr lang="en-US"/>
              <a:t>the other 9 persons</a:t>
            </a:r>
          </a:p>
        </p:txBody>
      </p:sp>
      <p:sp>
        <p:nvSpPr>
          <p:cNvPr id="15" name="Oval 14">
            <a:extLst>
              <a:ext uri="{FF2B5EF4-FFF2-40B4-BE49-F238E27FC236}">
                <a16:creationId xmlns:a16="http://schemas.microsoft.com/office/drawing/2014/main" id="{9B61F5F1-C890-63B1-A11C-C26E061FBCB3}"/>
              </a:ext>
            </a:extLst>
          </p:cNvPr>
          <p:cNvSpPr/>
          <p:nvPr/>
        </p:nvSpPr>
        <p:spPr>
          <a:xfrm>
            <a:off x="25431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48099D6-D361-D0B6-EC5F-84627D67BBE9}"/>
              </a:ext>
            </a:extLst>
          </p:cNvPr>
          <p:cNvSpPr/>
          <p:nvPr/>
        </p:nvSpPr>
        <p:spPr>
          <a:xfrm>
            <a:off x="2952750" y="2686050"/>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9366006-2F75-0533-8B27-7381A58B202C}"/>
              </a:ext>
            </a:extLst>
          </p:cNvPr>
          <p:cNvSpPr/>
          <p:nvPr/>
        </p:nvSpPr>
        <p:spPr>
          <a:xfrm>
            <a:off x="33623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E6CC512-A893-3883-2F5D-F401AB2F39E2}"/>
              </a:ext>
            </a:extLst>
          </p:cNvPr>
          <p:cNvSpPr/>
          <p:nvPr/>
        </p:nvSpPr>
        <p:spPr>
          <a:xfrm>
            <a:off x="37719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A00D73F-4A8B-F2FA-5B4A-BDD80E42D47D}"/>
              </a:ext>
            </a:extLst>
          </p:cNvPr>
          <p:cNvSpPr/>
          <p:nvPr/>
        </p:nvSpPr>
        <p:spPr>
          <a:xfrm>
            <a:off x="41814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70048F0-FA6F-A731-71C7-5209381EADE8}"/>
              </a:ext>
            </a:extLst>
          </p:cNvPr>
          <p:cNvSpPr/>
          <p:nvPr/>
        </p:nvSpPr>
        <p:spPr>
          <a:xfrm>
            <a:off x="459105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CB723EC-8195-78A1-B94E-3ED99F9C7364}"/>
              </a:ext>
            </a:extLst>
          </p:cNvPr>
          <p:cNvSpPr/>
          <p:nvPr/>
        </p:nvSpPr>
        <p:spPr>
          <a:xfrm>
            <a:off x="50006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08A3119-49DE-C9EF-D8E8-1E76048E33A2}"/>
              </a:ext>
            </a:extLst>
          </p:cNvPr>
          <p:cNvSpPr/>
          <p:nvPr/>
        </p:nvSpPr>
        <p:spPr>
          <a:xfrm>
            <a:off x="54102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B95C80D-3CE6-5EF9-ACE6-509EA9BC2277}"/>
              </a:ext>
            </a:extLst>
          </p:cNvPr>
          <p:cNvSpPr/>
          <p:nvPr/>
        </p:nvSpPr>
        <p:spPr>
          <a:xfrm>
            <a:off x="58197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A995914-210D-8884-07AA-415F7044D7AB}"/>
              </a:ext>
            </a:extLst>
          </p:cNvPr>
          <p:cNvSpPr txBox="1"/>
          <p:nvPr/>
        </p:nvSpPr>
        <p:spPr>
          <a:xfrm>
            <a:off x="2770815" y="2316718"/>
            <a:ext cx="3640469" cy="369332"/>
          </a:xfrm>
          <a:prstGeom prst="rect">
            <a:avLst/>
          </a:prstGeom>
          <a:noFill/>
        </p:spPr>
        <p:txBody>
          <a:bodyPr wrap="square" rtlCol="0">
            <a:spAutoFit/>
          </a:bodyPr>
          <a:lstStyle/>
          <a:p>
            <a:r>
              <a:rPr lang="en-US"/>
              <a:t>one does </a:t>
            </a:r>
            <a:r>
              <a:rPr lang="en-US" i="1"/>
              <a:t>in</a:t>
            </a:r>
            <a:r>
              <a:rPr lang="en-US"/>
              <a:t> the others do </a:t>
            </a:r>
            <a:r>
              <a:rPr lang="en-US" i="1"/>
              <a:t>out</a:t>
            </a:r>
            <a:r>
              <a:rPr lang="en-US"/>
              <a:t>...</a:t>
            </a:r>
          </a:p>
        </p:txBody>
      </p:sp>
      <p:sp>
        <p:nvSpPr>
          <p:cNvPr id="25" name="TextBox 24">
            <a:extLst>
              <a:ext uri="{FF2B5EF4-FFF2-40B4-BE49-F238E27FC236}">
                <a16:creationId xmlns:a16="http://schemas.microsoft.com/office/drawing/2014/main" id="{16447055-14B0-BE26-3F1B-19020A77B406}"/>
              </a:ext>
            </a:extLst>
          </p:cNvPr>
          <p:cNvSpPr txBox="1"/>
          <p:nvPr/>
        </p:nvSpPr>
        <p:spPr>
          <a:xfrm rot="20206468">
            <a:off x="137159" y="903221"/>
            <a:ext cx="2138249" cy="369332"/>
          </a:xfrm>
          <a:prstGeom prst="rect">
            <a:avLst/>
          </a:prstGeom>
          <a:noFill/>
        </p:spPr>
        <p:txBody>
          <a:bodyPr wrap="square" rtlCol="0">
            <a:spAutoFit/>
          </a:bodyPr>
          <a:lstStyle/>
          <a:p>
            <a:r>
              <a:rPr lang="en-US"/>
              <a:t>any given person, “</a:t>
            </a:r>
            <a:r>
              <a:rPr lang="en-US" i="1"/>
              <a:t>i</a:t>
            </a:r>
            <a:r>
              <a:rPr lang="en-US"/>
              <a:t>”</a:t>
            </a:r>
          </a:p>
        </p:txBody>
      </p:sp>
      <p:sp>
        <p:nvSpPr>
          <p:cNvPr id="26" name="TextBox 25">
            <a:extLst>
              <a:ext uri="{FF2B5EF4-FFF2-40B4-BE49-F238E27FC236}">
                <a16:creationId xmlns:a16="http://schemas.microsoft.com/office/drawing/2014/main" id="{EF70A170-377A-417E-E3D1-7F5CBA258A87}"/>
              </a:ext>
            </a:extLst>
          </p:cNvPr>
          <p:cNvSpPr txBox="1"/>
          <p:nvPr/>
        </p:nvSpPr>
        <p:spPr>
          <a:xfrm>
            <a:off x="6333167" y="2634734"/>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7" name="Oval 6">
            <a:extLst>
              <a:ext uri="{FF2B5EF4-FFF2-40B4-BE49-F238E27FC236}">
                <a16:creationId xmlns:a16="http://schemas.microsoft.com/office/drawing/2014/main" id="{D8813A38-248D-1927-0249-6B8B202B4537}"/>
              </a:ext>
            </a:extLst>
          </p:cNvPr>
          <p:cNvSpPr/>
          <p:nvPr/>
        </p:nvSpPr>
        <p:spPr>
          <a:xfrm>
            <a:off x="25431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58AE03B-07B4-E915-78F2-61A4478FD303}"/>
              </a:ext>
            </a:extLst>
          </p:cNvPr>
          <p:cNvSpPr/>
          <p:nvPr/>
        </p:nvSpPr>
        <p:spPr>
          <a:xfrm>
            <a:off x="295275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5716141A-D5AA-A323-9A84-97AA323CAFD7}"/>
              </a:ext>
            </a:extLst>
          </p:cNvPr>
          <p:cNvSpPr/>
          <p:nvPr/>
        </p:nvSpPr>
        <p:spPr>
          <a:xfrm>
            <a:off x="336232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0203EAE-5253-712F-54D8-3422EA10D269}"/>
              </a:ext>
            </a:extLst>
          </p:cNvPr>
          <p:cNvSpPr/>
          <p:nvPr/>
        </p:nvSpPr>
        <p:spPr>
          <a:xfrm>
            <a:off x="377190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B76EFFEA-9039-8113-1B3B-1D8216FC7A37}"/>
              </a:ext>
            </a:extLst>
          </p:cNvPr>
          <p:cNvSpPr/>
          <p:nvPr/>
        </p:nvSpPr>
        <p:spPr>
          <a:xfrm>
            <a:off x="41814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AB067A3-4868-226F-6759-899F278822BD}"/>
              </a:ext>
            </a:extLst>
          </p:cNvPr>
          <p:cNvSpPr/>
          <p:nvPr/>
        </p:nvSpPr>
        <p:spPr>
          <a:xfrm>
            <a:off x="459105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14CC0456-7FD9-7319-CCAD-FF9A74E4BE84}"/>
              </a:ext>
            </a:extLst>
          </p:cNvPr>
          <p:cNvSpPr/>
          <p:nvPr/>
        </p:nvSpPr>
        <p:spPr>
          <a:xfrm>
            <a:off x="500062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CBE6464-ECE8-8075-41F3-8A256A68BE27}"/>
              </a:ext>
            </a:extLst>
          </p:cNvPr>
          <p:cNvSpPr/>
          <p:nvPr/>
        </p:nvSpPr>
        <p:spPr>
          <a:xfrm>
            <a:off x="541020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8362A15-EB38-0BF4-6A92-A27213D9D725}"/>
              </a:ext>
            </a:extLst>
          </p:cNvPr>
          <p:cNvSpPr/>
          <p:nvPr/>
        </p:nvSpPr>
        <p:spPr>
          <a:xfrm>
            <a:off x="58197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FBFBD98-FDF7-6AEC-70CD-0AE6B386FCFE}"/>
              </a:ext>
            </a:extLst>
          </p:cNvPr>
          <p:cNvSpPr txBox="1"/>
          <p:nvPr/>
        </p:nvSpPr>
        <p:spPr>
          <a:xfrm>
            <a:off x="2770815" y="1547335"/>
            <a:ext cx="3640469" cy="369332"/>
          </a:xfrm>
          <a:prstGeom prst="rect">
            <a:avLst/>
          </a:prstGeom>
          <a:noFill/>
        </p:spPr>
        <p:txBody>
          <a:bodyPr wrap="square" rtlCol="0">
            <a:spAutoFit/>
          </a:bodyPr>
          <a:lstStyle/>
          <a:p>
            <a:pPr algn="ctr"/>
            <a:r>
              <a:rPr lang="en-US"/>
              <a:t>all do </a:t>
            </a:r>
            <a:r>
              <a:rPr lang="en-US" i="1"/>
              <a:t>out</a:t>
            </a:r>
            <a:r>
              <a:rPr lang="en-US"/>
              <a:t>...</a:t>
            </a:r>
          </a:p>
        </p:txBody>
      </p:sp>
      <p:sp>
        <p:nvSpPr>
          <p:cNvPr id="36" name="TextBox 35">
            <a:extLst>
              <a:ext uri="{FF2B5EF4-FFF2-40B4-BE49-F238E27FC236}">
                <a16:creationId xmlns:a16="http://schemas.microsoft.com/office/drawing/2014/main" id="{CF95FFBF-8F7D-649B-C152-C7651AEF136B}"/>
              </a:ext>
            </a:extLst>
          </p:cNvPr>
          <p:cNvSpPr txBox="1"/>
          <p:nvPr/>
        </p:nvSpPr>
        <p:spPr>
          <a:xfrm>
            <a:off x="6333167" y="1865351"/>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37" name="TextBox 36">
            <a:extLst>
              <a:ext uri="{FF2B5EF4-FFF2-40B4-BE49-F238E27FC236}">
                <a16:creationId xmlns:a16="http://schemas.microsoft.com/office/drawing/2014/main" id="{DF38B761-4050-7D6B-1E34-EC51CC2DA3B6}"/>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Tree>
    <p:extLst>
      <p:ext uri="{BB962C8B-B14F-4D97-AF65-F5344CB8AC3E}">
        <p14:creationId xmlns:p14="http://schemas.microsoft.com/office/powerpoint/2010/main" val="2669009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6EF0484B-5998-EF54-9353-D6018AC24524}"/>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8C337F7-5E3F-5193-AE0F-20D67DDFC631}"/>
              </a:ext>
            </a:extLst>
          </p:cNvPr>
          <p:cNvSpPr/>
          <p:nvPr/>
        </p:nvSpPr>
        <p:spPr>
          <a:xfrm>
            <a:off x="13620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9C68D235-5B2D-54A6-3251-55DC8C4AAD96}"/>
              </a:ext>
            </a:extLst>
          </p:cNvPr>
          <p:cNvSpPr/>
          <p:nvPr/>
        </p:nvSpPr>
        <p:spPr>
          <a:xfrm>
            <a:off x="25527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1879FCBC-F724-BC2B-89D2-D4BFAB8A1E29}"/>
              </a:ext>
            </a:extLst>
          </p:cNvPr>
          <p:cNvSpPr/>
          <p:nvPr/>
        </p:nvSpPr>
        <p:spPr>
          <a:xfrm>
            <a:off x="29622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28922C0-DB76-A258-3889-C2695C586DE7}"/>
              </a:ext>
            </a:extLst>
          </p:cNvPr>
          <p:cNvSpPr/>
          <p:nvPr/>
        </p:nvSpPr>
        <p:spPr>
          <a:xfrm>
            <a:off x="33718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47E7127-0548-C9D8-C9CB-4018AB988298}"/>
              </a:ext>
            </a:extLst>
          </p:cNvPr>
          <p:cNvSpPr/>
          <p:nvPr/>
        </p:nvSpPr>
        <p:spPr>
          <a:xfrm>
            <a:off x="37814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429B9F5-B06F-25BD-EDC9-59A017750235}"/>
              </a:ext>
            </a:extLst>
          </p:cNvPr>
          <p:cNvSpPr/>
          <p:nvPr/>
        </p:nvSpPr>
        <p:spPr>
          <a:xfrm>
            <a:off x="41910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700B6C1-AD69-D812-949C-C99FE2AE39AD}"/>
              </a:ext>
            </a:extLst>
          </p:cNvPr>
          <p:cNvSpPr/>
          <p:nvPr/>
        </p:nvSpPr>
        <p:spPr>
          <a:xfrm>
            <a:off x="46005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C5A3DA4-B4BD-854C-956B-B7CF5113C1B7}"/>
              </a:ext>
            </a:extLst>
          </p:cNvPr>
          <p:cNvSpPr/>
          <p:nvPr/>
        </p:nvSpPr>
        <p:spPr>
          <a:xfrm>
            <a:off x="50101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C4AA2AA-0EF4-9A9A-BA4D-55CA28228C10}"/>
              </a:ext>
            </a:extLst>
          </p:cNvPr>
          <p:cNvSpPr/>
          <p:nvPr/>
        </p:nvSpPr>
        <p:spPr>
          <a:xfrm>
            <a:off x="54197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88CC333-ABB8-5915-862D-6B83756F1D54}"/>
              </a:ext>
            </a:extLst>
          </p:cNvPr>
          <p:cNvSpPr/>
          <p:nvPr/>
        </p:nvSpPr>
        <p:spPr>
          <a:xfrm>
            <a:off x="58293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51918A2-925A-1316-63F3-D04EC5AC3C64}"/>
              </a:ext>
            </a:extLst>
          </p:cNvPr>
          <p:cNvSpPr txBox="1"/>
          <p:nvPr/>
        </p:nvSpPr>
        <p:spPr>
          <a:xfrm>
            <a:off x="3246106" y="792717"/>
            <a:ext cx="2243138" cy="369332"/>
          </a:xfrm>
          <a:prstGeom prst="rect">
            <a:avLst/>
          </a:prstGeom>
          <a:noFill/>
        </p:spPr>
        <p:txBody>
          <a:bodyPr wrap="square" rtlCol="0">
            <a:spAutoFit/>
          </a:bodyPr>
          <a:lstStyle/>
          <a:p>
            <a:r>
              <a:rPr lang="en-US"/>
              <a:t>the other 9 persons</a:t>
            </a:r>
          </a:p>
        </p:txBody>
      </p:sp>
      <p:sp>
        <p:nvSpPr>
          <p:cNvPr id="15" name="Oval 14">
            <a:extLst>
              <a:ext uri="{FF2B5EF4-FFF2-40B4-BE49-F238E27FC236}">
                <a16:creationId xmlns:a16="http://schemas.microsoft.com/office/drawing/2014/main" id="{19B49FCF-682A-22B1-CC3A-D921085F36FB}"/>
              </a:ext>
            </a:extLst>
          </p:cNvPr>
          <p:cNvSpPr/>
          <p:nvPr/>
        </p:nvSpPr>
        <p:spPr>
          <a:xfrm>
            <a:off x="25431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292861B-102E-A473-3FD6-BAEB6F94F3D1}"/>
              </a:ext>
            </a:extLst>
          </p:cNvPr>
          <p:cNvSpPr/>
          <p:nvPr/>
        </p:nvSpPr>
        <p:spPr>
          <a:xfrm>
            <a:off x="2952750" y="2686050"/>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F71BF3B-D9E5-AA3B-CA9A-572D2F1FAF05}"/>
              </a:ext>
            </a:extLst>
          </p:cNvPr>
          <p:cNvSpPr/>
          <p:nvPr/>
        </p:nvSpPr>
        <p:spPr>
          <a:xfrm>
            <a:off x="33623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7EE6D85-BDC8-DAB6-A1E9-984CE9A2AF45}"/>
              </a:ext>
            </a:extLst>
          </p:cNvPr>
          <p:cNvSpPr/>
          <p:nvPr/>
        </p:nvSpPr>
        <p:spPr>
          <a:xfrm>
            <a:off x="37719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E5B50F3-BB31-065C-D80B-353B0393B919}"/>
              </a:ext>
            </a:extLst>
          </p:cNvPr>
          <p:cNvSpPr/>
          <p:nvPr/>
        </p:nvSpPr>
        <p:spPr>
          <a:xfrm>
            <a:off x="41814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47DA4BC-9233-ABF3-B774-EE274B0EEEFF}"/>
              </a:ext>
            </a:extLst>
          </p:cNvPr>
          <p:cNvSpPr/>
          <p:nvPr/>
        </p:nvSpPr>
        <p:spPr>
          <a:xfrm>
            <a:off x="459105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E878AB5-6B6F-95AF-58D2-97E4AA5F1B2F}"/>
              </a:ext>
            </a:extLst>
          </p:cNvPr>
          <p:cNvSpPr/>
          <p:nvPr/>
        </p:nvSpPr>
        <p:spPr>
          <a:xfrm>
            <a:off x="50006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E96679E-22D6-84F7-B619-F28D9AF9B676}"/>
              </a:ext>
            </a:extLst>
          </p:cNvPr>
          <p:cNvSpPr/>
          <p:nvPr/>
        </p:nvSpPr>
        <p:spPr>
          <a:xfrm>
            <a:off x="54102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60085A4-C2F5-B0BE-D1D8-A00082CCB9FA}"/>
              </a:ext>
            </a:extLst>
          </p:cNvPr>
          <p:cNvSpPr/>
          <p:nvPr/>
        </p:nvSpPr>
        <p:spPr>
          <a:xfrm>
            <a:off x="58197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A45498A-1909-360F-2358-9784B718305B}"/>
              </a:ext>
            </a:extLst>
          </p:cNvPr>
          <p:cNvSpPr txBox="1"/>
          <p:nvPr/>
        </p:nvSpPr>
        <p:spPr>
          <a:xfrm>
            <a:off x="2770815" y="2316718"/>
            <a:ext cx="3640469" cy="369332"/>
          </a:xfrm>
          <a:prstGeom prst="rect">
            <a:avLst/>
          </a:prstGeom>
          <a:noFill/>
        </p:spPr>
        <p:txBody>
          <a:bodyPr wrap="square" rtlCol="0">
            <a:spAutoFit/>
          </a:bodyPr>
          <a:lstStyle/>
          <a:p>
            <a:r>
              <a:rPr lang="en-US"/>
              <a:t>one does </a:t>
            </a:r>
            <a:r>
              <a:rPr lang="en-US" i="1"/>
              <a:t>in</a:t>
            </a:r>
            <a:r>
              <a:rPr lang="en-US"/>
              <a:t> the others do </a:t>
            </a:r>
            <a:r>
              <a:rPr lang="en-US" i="1"/>
              <a:t>out</a:t>
            </a:r>
            <a:r>
              <a:rPr lang="en-US"/>
              <a:t>...</a:t>
            </a:r>
          </a:p>
        </p:txBody>
      </p:sp>
      <p:sp>
        <p:nvSpPr>
          <p:cNvPr id="25" name="TextBox 24">
            <a:extLst>
              <a:ext uri="{FF2B5EF4-FFF2-40B4-BE49-F238E27FC236}">
                <a16:creationId xmlns:a16="http://schemas.microsoft.com/office/drawing/2014/main" id="{F1F789AF-8B4C-2D84-0A60-8D716D28E669}"/>
              </a:ext>
            </a:extLst>
          </p:cNvPr>
          <p:cNvSpPr txBox="1"/>
          <p:nvPr/>
        </p:nvSpPr>
        <p:spPr>
          <a:xfrm rot="20206468">
            <a:off x="137159" y="903221"/>
            <a:ext cx="2138249" cy="369332"/>
          </a:xfrm>
          <a:prstGeom prst="rect">
            <a:avLst/>
          </a:prstGeom>
          <a:noFill/>
        </p:spPr>
        <p:txBody>
          <a:bodyPr wrap="square" rtlCol="0">
            <a:spAutoFit/>
          </a:bodyPr>
          <a:lstStyle/>
          <a:p>
            <a:r>
              <a:rPr lang="en-US"/>
              <a:t>any given person, “</a:t>
            </a:r>
            <a:r>
              <a:rPr lang="en-US" i="1"/>
              <a:t>i</a:t>
            </a:r>
            <a:r>
              <a:rPr lang="en-US"/>
              <a:t>”</a:t>
            </a:r>
          </a:p>
        </p:txBody>
      </p:sp>
      <p:sp>
        <p:nvSpPr>
          <p:cNvPr id="26" name="TextBox 25">
            <a:extLst>
              <a:ext uri="{FF2B5EF4-FFF2-40B4-BE49-F238E27FC236}">
                <a16:creationId xmlns:a16="http://schemas.microsoft.com/office/drawing/2014/main" id="{598F9EEA-36E9-DAF6-28BA-1D7DE7D058D5}"/>
              </a:ext>
            </a:extLst>
          </p:cNvPr>
          <p:cNvSpPr txBox="1"/>
          <p:nvPr/>
        </p:nvSpPr>
        <p:spPr>
          <a:xfrm>
            <a:off x="6333167" y="2634734"/>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7" name="Oval 6">
            <a:extLst>
              <a:ext uri="{FF2B5EF4-FFF2-40B4-BE49-F238E27FC236}">
                <a16:creationId xmlns:a16="http://schemas.microsoft.com/office/drawing/2014/main" id="{7F60298E-2CD9-027E-600E-D2260D6F3F60}"/>
              </a:ext>
            </a:extLst>
          </p:cNvPr>
          <p:cNvSpPr/>
          <p:nvPr/>
        </p:nvSpPr>
        <p:spPr>
          <a:xfrm>
            <a:off x="25431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86F8C39-4E13-830C-980B-270D60A4E23C}"/>
              </a:ext>
            </a:extLst>
          </p:cNvPr>
          <p:cNvSpPr/>
          <p:nvPr/>
        </p:nvSpPr>
        <p:spPr>
          <a:xfrm>
            <a:off x="295275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67D4B76-544D-BF6C-683E-7ECCCCC79BB2}"/>
              </a:ext>
            </a:extLst>
          </p:cNvPr>
          <p:cNvSpPr/>
          <p:nvPr/>
        </p:nvSpPr>
        <p:spPr>
          <a:xfrm>
            <a:off x="336232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9098850-B985-11C9-F58F-9F12E918D112}"/>
              </a:ext>
            </a:extLst>
          </p:cNvPr>
          <p:cNvSpPr/>
          <p:nvPr/>
        </p:nvSpPr>
        <p:spPr>
          <a:xfrm>
            <a:off x="377190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A8E0C7F-515B-FB30-285A-4E963076B0EF}"/>
              </a:ext>
            </a:extLst>
          </p:cNvPr>
          <p:cNvSpPr/>
          <p:nvPr/>
        </p:nvSpPr>
        <p:spPr>
          <a:xfrm>
            <a:off x="41814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DC3DF6F-B904-73EE-8CA6-180EDACC59CB}"/>
              </a:ext>
            </a:extLst>
          </p:cNvPr>
          <p:cNvSpPr/>
          <p:nvPr/>
        </p:nvSpPr>
        <p:spPr>
          <a:xfrm>
            <a:off x="459105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ADF9935-D79F-EC31-C00B-ACB7FB07A1AF}"/>
              </a:ext>
            </a:extLst>
          </p:cNvPr>
          <p:cNvSpPr/>
          <p:nvPr/>
        </p:nvSpPr>
        <p:spPr>
          <a:xfrm>
            <a:off x="500062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98DA4C3-932E-851E-D96A-325E140F152C}"/>
              </a:ext>
            </a:extLst>
          </p:cNvPr>
          <p:cNvSpPr/>
          <p:nvPr/>
        </p:nvSpPr>
        <p:spPr>
          <a:xfrm>
            <a:off x="541020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FF32E1B-E9B9-ECDF-71F8-2D0F9963B336}"/>
              </a:ext>
            </a:extLst>
          </p:cNvPr>
          <p:cNvSpPr/>
          <p:nvPr/>
        </p:nvSpPr>
        <p:spPr>
          <a:xfrm>
            <a:off x="58197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FE3BE9E0-1B5B-2A59-DFC1-8709CC9772CC}"/>
              </a:ext>
            </a:extLst>
          </p:cNvPr>
          <p:cNvSpPr txBox="1"/>
          <p:nvPr/>
        </p:nvSpPr>
        <p:spPr>
          <a:xfrm>
            <a:off x="2770815" y="1547335"/>
            <a:ext cx="3640469" cy="369332"/>
          </a:xfrm>
          <a:prstGeom prst="rect">
            <a:avLst/>
          </a:prstGeom>
          <a:noFill/>
        </p:spPr>
        <p:txBody>
          <a:bodyPr wrap="square" rtlCol="0">
            <a:spAutoFit/>
          </a:bodyPr>
          <a:lstStyle/>
          <a:p>
            <a:pPr algn="ctr"/>
            <a:r>
              <a:rPr lang="en-US"/>
              <a:t>all do </a:t>
            </a:r>
            <a:r>
              <a:rPr lang="en-US" i="1"/>
              <a:t>out</a:t>
            </a:r>
            <a:r>
              <a:rPr lang="en-US"/>
              <a:t>...</a:t>
            </a:r>
          </a:p>
        </p:txBody>
      </p:sp>
      <p:sp>
        <p:nvSpPr>
          <p:cNvPr id="36" name="TextBox 35">
            <a:extLst>
              <a:ext uri="{FF2B5EF4-FFF2-40B4-BE49-F238E27FC236}">
                <a16:creationId xmlns:a16="http://schemas.microsoft.com/office/drawing/2014/main" id="{B42BCF2C-DB40-85E8-1D35-2C00CACEA09F}"/>
              </a:ext>
            </a:extLst>
          </p:cNvPr>
          <p:cNvSpPr txBox="1"/>
          <p:nvPr/>
        </p:nvSpPr>
        <p:spPr>
          <a:xfrm>
            <a:off x="6333167" y="1865351"/>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37" name="Oval 36">
            <a:extLst>
              <a:ext uri="{FF2B5EF4-FFF2-40B4-BE49-F238E27FC236}">
                <a16:creationId xmlns:a16="http://schemas.microsoft.com/office/drawing/2014/main" id="{77DA4E01-FF57-4CE4-CFF7-AB84619FD983}"/>
              </a:ext>
            </a:extLst>
          </p:cNvPr>
          <p:cNvSpPr/>
          <p:nvPr/>
        </p:nvSpPr>
        <p:spPr>
          <a:xfrm>
            <a:off x="25527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313951F-B40D-6DC8-2D4D-B19D3FA727F1}"/>
              </a:ext>
            </a:extLst>
          </p:cNvPr>
          <p:cNvSpPr/>
          <p:nvPr/>
        </p:nvSpPr>
        <p:spPr>
          <a:xfrm>
            <a:off x="2962275" y="350674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57DCD40A-3AAF-6115-EF40-50A5837688E2}"/>
              </a:ext>
            </a:extLst>
          </p:cNvPr>
          <p:cNvSpPr/>
          <p:nvPr/>
        </p:nvSpPr>
        <p:spPr>
          <a:xfrm>
            <a:off x="337185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2C14FE03-8551-85B4-D252-A1234071DC3B}"/>
              </a:ext>
            </a:extLst>
          </p:cNvPr>
          <p:cNvSpPr/>
          <p:nvPr/>
        </p:nvSpPr>
        <p:spPr>
          <a:xfrm>
            <a:off x="378142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28D984E-31A4-7B80-1C01-38EE4A2E7D68}"/>
              </a:ext>
            </a:extLst>
          </p:cNvPr>
          <p:cNvSpPr/>
          <p:nvPr/>
        </p:nvSpPr>
        <p:spPr>
          <a:xfrm>
            <a:off x="41910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A14B142-A776-AC36-D429-9B389A7A02B1}"/>
              </a:ext>
            </a:extLst>
          </p:cNvPr>
          <p:cNvSpPr/>
          <p:nvPr/>
        </p:nvSpPr>
        <p:spPr>
          <a:xfrm>
            <a:off x="460057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CA6439A-E7FD-C706-D348-79430687C143}"/>
              </a:ext>
            </a:extLst>
          </p:cNvPr>
          <p:cNvSpPr/>
          <p:nvPr/>
        </p:nvSpPr>
        <p:spPr>
          <a:xfrm>
            <a:off x="5010150" y="350674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BA66917B-31AE-7DFA-62D8-DBB415E30F5E}"/>
              </a:ext>
            </a:extLst>
          </p:cNvPr>
          <p:cNvSpPr/>
          <p:nvPr/>
        </p:nvSpPr>
        <p:spPr>
          <a:xfrm>
            <a:off x="541972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9832D8AD-3820-AE11-87B9-06945C16EE00}"/>
              </a:ext>
            </a:extLst>
          </p:cNvPr>
          <p:cNvSpPr/>
          <p:nvPr/>
        </p:nvSpPr>
        <p:spPr>
          <a:xfrm>
            <a:off x="58293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F776A1F6-7DC5-E07F-6AF3-15218C27AE4E}"/>
              </a:ext>
            </a:extLst>
          </p:cNvPr>
          <p:cNvSpPr txBox="1"/>
          <p:nvPr/>
        </p:nvSpPr>
        <p:spPr>
          <a:xfrm>
            <a:off x="2780340" y="3137417"/>
            <a:ext cx="3640469" cy="369332"/>
          </a:xfrm>
          <a:prstGeom prst="rect">
            <a:avLst/>
          </a:prstGeom>
          <a:noFill/>
        </p:spPr>
        <p:txBody>
          <a:bodyPr wrap="square" rtlCol="0">
            <a:spAutoFit/>
          </a:bodyPr>
          <a:lstStyle/>
          <a:p>
            <a:r>
              <a:rPr lang="en-US"/>
              <a:t>two do </a:t>
            </a:r>
            <a:r>
              <a:rPr lang="en-US" i="1"/>
              <a:t>in</a:t>
            </a:r>
            <a:r>
              <a:rPr lang="en-US"/>
              <a:t> the others do </a:t>
            </a:r>
            <a:r>
              <a:rPr lang="en-US" i="1"/>
              <a:t>out</a:t>
            </a:r>
            <a:r>
              <a:rPr lang="en-US"/>
              <a:t>...</a:t>
            </a:r>
          </a:p>
        </p:txBody>
      </p:sp>
      <p:sp>
        <p:nvSpPr>
          <p:cNvPr id="47" name="TextBox 46">
            <a:extLst>
              <a:ext uri="{FF2B5EF4-FFF2-40B4-BE49-F238E27FC236}">
                <a16:creationId xmlns:a16="http://schemas.microsoft.com/office/drawing/2014/main" id="{0F1DC201-2308-F7C2-9219-F16A466C5543}"/>
              </a:ext>
            </a:extLst>
          </p:cNvPr>
          <p:cNvSpPr txBox="1"/>
          <p:nvPr/>
        </p:nvSpPr>
        <p:spPr>
          <a:xfrm>
            <a:off x="6342692" y="3455433"/>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48" name="TextBox 47">
            <a:extLst>
              <a:ext uri="{FF2B5EF4-FFF2-40B4-BE49-F238E27FC236}">
                <a16:creationId xmlns:a16="http://schemas.microsoft.com/office/drawing/2014/main" id="{D05E8FA4-0B08-037A-AA3D-6D26F197DA90}"/>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Tree>
    <p:extLst>
      <p:ext uri="{BB962C8B-B14F-4D97-AF65-F5344CB8AC3E}">
        <p14:creationId xmlns:p14="http://schemas.microsoft.com/office/powerpoint/2010/main" val="3710116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ED046E28-4489-67CA-0CE4-C51CAFB6AC4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91B203E2-8C75-8A98-7A1E-E6973CC85212}"/>
              </a:ext>
            </a:extLst>
          </p:cNvPr>
          <p:cNvSpPr/>
          <p:nvPr/>
        </p:nvSpPr>
        <p:spPr>
          <a:xfrm>
            <a:off x="13620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76E5601D-8C31-F889-671C-41BD91D911F4}"/>
              </a:ext>
            </a:extLst>
          </p:cNvPr>
          <p:cNvSpPr/>
          <p:nvPr/>
        </p:nvSpPr>
        <p:spPr>
          <a:xfrm>
            <a:off x="25527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93C17BB9-3AA0-AB35-66C1-EB4B17B08DD1}"/>
              </a:ext>
            </a:extLst>
          </p:cNvPr>
          <p:cNvSpPr/>
          <p:nvPr/>
        </p:nvSpPr>
        <p:spPr>
          <a:xfrm>
            <a:off x="29622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93C931A-D2E3-1F01-1E46-8DC3D308AD64}"/>
              </a:ext>
            </a:extLst>
          </p:cNvPr>
          <p:cNvSpPr/>
          <p:nvPr/>
        </p:nvSpPr>
        <p:spPr>
          <a:xfrm>
            <a:off x="33718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447FBB8-F1B1-D8EA-85BD-A93BF71F6044}"/>
              </a:ext>
            </a:extLst>
          </p:cNvPr>
          <p:cNvSpPr/>
          <p:nvPr/>
        </p:nvSpPr>
        <p:spPr>
          <a:xfrm>
            <a:off x="37814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6D7A25C-C311-B9FB-7357-CA805F7FD431}"/>
              </a:ext>
            </a:extLst>
          </p:cNvPr>
          <p:cNvSpPr/>
          <p:nvPr/>
        </p:nvSpPr>
        <p:spPr>
          <a:xfrm>
            <a:off x="41910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D1B3E2-09DC-D0B5-0978-488B27C0056E}"/>
              </a:ext>
            </a:extLst>
          </p:cNvPr>
          <p:cNvSpPr/>
          <p:nvPr/>
        </p:nvSpPr>
        <p:spPr>
          <a:xfrm>
            <a:off x="46005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0291577-CFCD-6D9F-EF50-5C48D8CE4D5F}"/>
              </a:ext>
            </a:extLst>
          </p:cNvPr>
          <p:cNvSpPr/>
          <p:nvPr/>
        </p:nvSpPr>
        <p:spPr>
          <a:xfrm>
            <a:off x="50101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0EC06F-E2A1-2E5E-6A69-D71A8FAADD7F}"/>
              </a:ext>
            </a:extLst>
          </p:cNvPr>
          <p:cNvSpPr/>
          <p:nvPr/>
        </p:nvSpPr>
        <p:spPr>
          <a:xfrm>
            <a:off x="54197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4DF59D4-EC15-54C7-488A-110B4A8B5AD2}"/>
              </a:ext>
            </a:extLst>
          </p:cNvPr>
          <p:cNvSpPr/>
          <p:nvPr/>
        </p:nvSpPr>
        <p:spPr>
          <a:xfrm>
            <a:off x="58293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00FD886-891B-4D78-15D8-E8B90390DDA2}"/>
              </a:ext>
            </a:extLst>
          </p:cNvPr>
          <p:cNvSpPr txBox="1"/>
          <p:nvPr/>
        </p:nvSpPr>
        <p:spPr>
          <a:xfrm>
            <a:off x="3246106" y="792717"/>
            <a:ext cx="2243138" cy="369332"/>
          </a:xfrm>
          <a:prstGeom prst="rect">
            <a:avLst/>
          </a:prstGeom>
          <a:noFill/>
        </p:spPr>
        <p:txBody>
          <a:bodyPr wrap="square" rtlCol="0">
            <a:spAutoFit/>
          </a:bodyPr>
          <a:lstStyle/>
          <a:p>
            <a:r>
              <a:rPr lang="en-US"/>
              <a:t>the other 9 persons</a:t>
            </a:r>
          </a:p>
        </p:txBody>
      </p:sp>
      <p:sp>
        <p:nvSpPr>
          <p:cNvPr id="15" name="Oval 14">
            <a:extLst>
              <a:ext uri="{FF2B5EF4-FFF2-40B4-BE49-F238E27FC236}">
                <a16:creationId xmlns:a16="http://schemas.microsoft.com/office/drawing/2014/main" id="{DB86A531-B89D-E645-721B-B37FA66957EC}"/>
              </a:ext>
            </a:extLst>
          </p:cNvPr>
          <p:cNvSpPr/>
          <p:nvPr/>
        </p:nvSpPr>
        <p:spPr>
          <a:xfrm>
            <a:off x="25431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860BAA4-DD7A-8BE8-10C2-EB558DE88C0F}"/>
              </a:ext>
            </a:extLst>
          </p:cNvPr>
          <p:cNvSpPr/>
          <p:nvPr/>
        </p:nvSpPr>
        <p:spPr>
          <a:xfrm>
            <a:off x="2952750" y="2686050"/>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EAE55D6-AF91-015C-3A72-2503C3CB3E63}"/>
              </a:ext>
            </a:extLst>
          </p:cNvPr>
          <p:cNvSpPr/>
          <p:nvPr/>
        </p:nvSpPr>
        <p:spPr>
          <a:xfrm>
            <a:off x="33623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941B625-B0ED-2324-D1FB-F59C7CE67960}"/>
              </a:ext>
            </a:extLst>
          </p:cNvPr>
          <p:cNvSpPr/>
          <p:nvPr/>
        </p:nvSpPr>
        <p:spPr>
          <a:xfrm>
            <a:off x="37719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3DAB3C0-726B-967B-BDC5-3E153793475D}"/>
              </a:ext>
            </a:extLst>
          </p:cNvPr>
          <p:cNvSpPr/>
          <p:nvPr/>
        </p:nvSpPr>
        <p:spPr>
          <a:xfrm>
            <a:off x="41814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BE48ED1-AEB4-406B-A2E2-7FE50BE10138}"/>
              </a:ext>
            </a:extLst>
          </p:cNvPr>
          <p:cNvSpPr/>
          <p:nvPr/>
        </p:nvSpPr>
        <p:spPr>
          <a:xfrm>
            <a:off x="459105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D6A0BD0-9F45-22C0-95F3-249A73153CFE}"/>
              </a:ext>
            </a:extLst>
          </p:cNvPr>
          <p:cNvSpPr/>
          <p:nvPr/>
        </p:nvSpPr>
        <p:spPr>
          <a:xfrm>
            <a:off x="50006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E87B602-85F9-B73F-BB2B-9956A6683B10}"/>
              </a:ext>
            </a:extLst>
          </p:cNvPr>
          <p:cNvSpPr/>
          <p:nvPr/>
        </p:nvSpPr>
        <p:spPr>
          <a:xfrm>
            <a:off x="54102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12CF0F9-8164-3EC1-8632-C2A17691C99E}"/>
              </a:ext>
            </a:extLst>
          </p:cNvPr>
          <p:cNvSpPr/>
          <p:nvPr/>
        </p:nvSpPr>
        <p:spPr>
          <a:xfrm>
            <a:off x="58197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D3B25CE-36FF-21C8-0B58-BED1C6583B85}"/>
              </a:ext>
            </a:extLst>
          </p:cNvPr>
          <p:cNvSpPr txBox="1"/>
          <p:nvPr/>
        </p:nvSpPr>
        <p:spPr>
          <a:xfrm>
            <a:off x="2770815" y="2316718"/>
            <a:ext cx="3640469" cy="369332"/>
          </a:xfrm>
          <a:prstGeom prst="rect">
            <a:avLst/>
          </a:prstGeom>
          <a:noFill/>
        </p:spPr>
        <p:txBody>
          <a:bodyPr wrap="square" rtlCol="0">
            <a:spAutoFit/>
          </a:bodyPr>
          <a:lstStyle/>
          <a:p>
            <a:r>
              <a:rPr lang="en-US"/>
              <a:t>one does </a:t>
            </a:r>
            <a:r>
              <a:rPr lang="en-US" i="1"/>
              <a:t>in</a:t>
            </a:r>
            <a:r>
              <a:rPr lang="en-US"/>
              <a:t> the others do </a:t>
            </a:r>
            <a:r>
              <a:rPr lang="en-US" i="1"/>
              <a:t>out</a:t>
            </a:r>
            <a:r>
              <a:rPr lang="en-US"/>
              <a:t>...</a:t>
            </a:r>
          </a:p>
        </p:txBody>
      </p:sp>
      <p:sp>
        <p:nvSpPr>
          <p:cNvPr id="25" name="TextBox 24">
            <a:extLst>
              <a:ext uri="{FF2B5EF4-FFF2-40B4-BE49-F238E27FC236}">
                <a16:creationId xmlns:a16="http://schemas.microsoft.com/office/drawing/2014/main" id="{781595AB-BCBD-F2BC-3EE2-E5FE22C7630F}"/>
              </a:ext>
            </a:extLst>
          </p:cNvPr>
          <p:cNvSpPr txBox="1"/>
          <p:nvPr/>
        </p:nvSpPr>
        <p:spPr>
          <a:xfrm rot="20206468">
            <a:off x="137159" y="903221"/>
            <a:ext cx="2138249" cy="369332"/>
          </a:xfrm>
          <a:prstGeom prst="rect">
            <a:avLst/>
          </a:prstGeom>
          <a:noFill/>
        </p:spPr>
        <p:txBody>
          <a:bodyPr wrap="square" rtlCol="0">
            <a:spAutoFit/>
          </a:bodyPr>
          <a:lstStyle/>
          <a:p>
            <a:r>
              <a:rPr lang="en-US"/>
              <a:t>any given person, “</a:t>
            </a:r>
            <a:r>
              <a:rPr lang="en-US" i="1"/>
              <a:t>i</a:t>
            </a:r>
            <a:r>
              <a:rPr lang="en-US"/>
              <a:t>”</a:t>
            </a:r>
          </a:p>
        </p:txBody>
      </p:sp>
      <p:sp>
        <p:nvSpPr>
          <p:cNvPr id="26" name="TextBox 25">
            <a:extLst>
              <a:ext uri="{FF2B5EF4-FFF2-40B4-BE49-F238E27FC236}">
                <a16:creationId xmlns:a16="http://schemas.microsoft.com/office/drawing/2014/main" id="{E78BC1A7-8501-1DA7-2B22-F61A8CA1D58D}"/>
              </a:ext>
            </a:extLst>
          </p:cNvPr>
          <p:cNvSpPr txBox="1"/>
          <p:nvPr/>
        </p:nvSpPr>
        <p:spPr>
          <a:xfrm>
            <a:off x="6333167" y="2634734"/>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7" name="Oval 6">
            <a:extLst>
              <a:ext uri="{FF2B5EF4-FFF2-40B4-BE49-F238E27FC236}">
                <a16:creationId xmlns:a16="http://schemas.microsoft.com/office/drawing/2014/main" id="{7D1A81EF-A238-2086-F2F5-5857E9E3ECFF}"/>
              </a:ext>
            </a:extLst>
          </p:cNvPr>
          <p:cNvSpPr/>
          <p:nvPr/>
        </p:nvSpPr>
        <p:spPr>
          <a:xfrm>
            <a:off x="25431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7A63B33-B86E-29CA-AC4A-6C39863D2182}"/>
              </a:ext>
            </a:extLst>
          </p:cNvPr>
          <p:cNvSpPr/>
          <p:nvPr/>
        </p:nvSpPr>
        <p:spPr>
          <a:xfrm>
            <a:off x="295275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301A8C2-F263-1A8F-5C45-3DFBA9624A85}"/>
              </a:ext>
            </a:extLst>
          </p:cNvPr>
          <p:cNvSpPr/>
          <p:nvPr/>
        </p:nvSpPr>
        <p:spPr>
          <a:xfrm>
            <a:off x="336232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A2538F5-4205-5857-793C-46898C7E7974}"/>
              </a:ext>
            </a:extLst>
          </p:cNvPr>
          <p:cNvSpPr/>
          <p:nvPr/>
        </p:nvSpPr>
        <p:spPr>
          <a:xfrm>
            <a:off x="377190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5BD6416-61D8-6BE4-2A34-10E841D9AC5B}"/>
              </a:ext>
            </a:extLst>
          </p:cNvPr>
          <p:cNvSpPr/>
          <p:nvPr/>
        </p:nvSpPr>
        <p:spPr>
          <a:xfrm>
            <a:off x="41814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17CF620-C5A1-7F13-5CCA-1E5B1A442E82}"/>
              </a:ext>
            </a:extLst>
          </p:cNvPr>
          <p:cNvSpPr/>
          <p:nvPr/>
        </p:nvSpPr>
        <p:spPr>
          <a:xfrm>
            <a:off x="459105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33A7D44-7C04-005E-5532-296F7C0541C1}"/>
              </a:ext>
            </a:extLst>
          </p:cNvPr>
          <p:cNvSpPr/>
          <p:nvPr/>
        </p:nvSpPr>
        <p:spPr>
          <a:xfrm>
            <a:off x="500062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2BF7194-A826-57D3-12CB-1148D9FD1F63}"/>
              </a:ext>
            </a:extLst>
          </p:cNvPr>
          <p:cNvSpPr/>
          <p:nvPr/>
        </p:nvSpPr>
        <p:spPr>
          <a:xfrm>
            <a:off x="541020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9D0482A-66EB-8CF1-AB30-0365E81BC23C}"/>
              </a:ext>
            </a:extLst>
          </p:cNvPr>
          <p:cNvSpPr/>
          <p:nvPr/>
        </p:nvSpPr>
        <p:spPr>
          <a:xfrm>
            <a:off x="58197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961D989-95D4-D9F4-675F-0F4E9FA4185E}"/>
              </a:ext>
            </a:extLst>
          </p:cNvPr>
          <p:cNvSpPr txBox="1"/>
          <p:nvPr/>
        </p:nvSpPr>
        <p:spPr>
          <a:xfrm>
            <a:off x="2770815" y="1547335"/>
            <a:ext cx="3640469" cy="369332"/>
          </a:xfrm>
          <a:prstGeom prst="rect">
            <a:avLst/>
          </a:prstGeom>
          <a:noFill/>
        </p:spPr>
        <p:txBody>
          <a:bodyPr wrap="square" rtlCol="0">
            <a:spAutoFit/>
          </a:bodyPr>
          <a:lstStyle/>
          <a:p>
            <a:pPr algn="ctr"/>
            <a:r>
              <a:rPr lang="en-US"/>
              <a:t>all do </a:t>
            </a:r>
            <a:r>
              <a:rPr lang="en-US" i="1"/>
              <a:t>out</a:t>
            </a:r>
            <a:r>
              <a:rPr lang="en-US"/>
              <a:t>...</a:t>
            </a:r>
          </a:p>
        </p:txBody>
      </p:sp>
      <p:sp>
        <p:nvSpPr>
          <p:cNvPr id="36" name="TextBox 35">
            <a:extLst>
              <a:ext uri="{FF2B5EF4-FFF2-40B4-BE49-F238E27FC236}">
                <a16:creationId xmlns:a16="http://schemas.microsoft.com/office/drawing/2014/main" id="{8EE4B92A-F079-44CA-0650-8802213903FC}"/>
              </a:ext>
            </a:extLst>
          </p:cNvPr>
          <p:cNvSpPr txBox="1"/>
          <p:nvPr/>
        </p:nvSpPr>
        <p:spPr>
          <a:xfrm>
            <a:off x="6333167" y="1865351"/>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37" name="Oval 36">
            <a:extLst>
              <a:ext uri="{FF2B5EF4-FFF2-40B4-BE49-F238E27FC236}">
                <a16:creationId xmlns:a16="http://schemas.microsoft.com/office/drawing/2014/main" id="{6A9B649E-4626-90A3-C038-E42146C1FA1D}"/>
              </a:ext>
            </a:extLst>
          </p:cNvPr>
          <p:cNvSpPr/>
          <p:nvPr/>
        </p:nvSpPr>
        <p:spPr>
          <a:xfrm>
            <a:off x="25527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1DB747A1-31E4-C068-56A8-B4171F4498C9}"/>
              </a:ext>
            </a:extLst>
          </p:cNvPr>
          <p:cNvSpPr/>
          <p:nvPr/>
        </p:nvSpPr>
        <p:spPr>
          <a:xfrm>
            <a:off x="2962275" y="350674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E3FFC31-0D65-F729-799D-30958A7E97E0}"/>
              </a:ext>
            </a:extLst>
          </p:cNvPr>
          <p:cNvSpPr/>
          <p:nvPr/>
        </p:nvSpPr>
        <p:spPr>
          <a:xfrm>
            <a:off x="337185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4003238-4CAC-6717-B939-1A0CF04BE21B}"/>
              </a:ext>
            </a:extLst>
          </p:cNvPr>
          <p:cNvSpPr/>
          <p:nvPr/>
        </p:nvSpPr>
        <p:spPr>
          <a:xfrm>
            <a:off x="378142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FA84D42D-2FE7-5A61-B1A2-92515B3C6CD6}"/>
              </a:ext>
            </a:extLst>
          </p:cNvPr>
          <p:cNvSpPr/>
          <p:nvPr/>
        </p:nvSpPr>
        <p:spPr>
          <a:xfrm>
            <a:off x="41910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41D59D7-B6FD-6A3F-6A96-072336D8C454}"/>
              </a:ext>
            </a:extLst>
          </p:cNvPr>
          <p:cNvSpPr/>
          <p:nvPr/>
        </p:nvSpPr>
        <p:spPr>
          <a:xfrm>
            <a:off x="460057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A801E58C-28C7-22E0-11B8-5BD95FFB4878}"/>
              </a:ext>
            </a:extLst>
          </p:cNvPr>
          <p:cNvSpPr/>
          <p:nvPr/>
        </p:nvSpPr>
        <p:spPr>
          <a:xfrm>
            <a:off x="5010150" y="350674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168D8372-5BEE-E647-1462-DFE181974121}"/>
              </a:ext>
            </a:extLst>
          </p:cNvPr>
          <p:cNvSpPr/>
          <p:nvPr/>
        </p:nvSpPr>
        <p:spPr>
          <a:xfrm>
            <a:off x="541972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0474616F-8DF6-3EE2-6B0E-DA1AA3E207A6}"/>
              </a:ext>
            </a:extLst>
          </p:cNvPr>
          <p:cNvSpPr/>
          <p:nvPr/>
        </p:nvSpPr>
        <p:spPr>
          <a:xfrm>
            <a:off x="58293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7FADA5AC-0B2E-80E3-C5BA-76B5E4D7E34D}"/>
              </a:ext>
            </a:extLst>
          </p:cNvPr>
          <p:cNvSpPr txBox="1"/>
          <p:nvPr/>
        </p:nvSpPr>
        <p:spPr>
          <a:xfrm>
            <a:off x="2780340" y="3137417"/>
            <a:ext cx="3640469" cy="369332"/>
          </a:xfrm>
          <a:prstGeom prst="rect">
            <a:avLst/>
          </a:prstGeom>
          <a:noFill/>
        </p:spPr>
        <p:txBody>
          <a:bodyPr wrap="square" rtlCol="0">
            <a:spAutoFit/>
          </a:bodyPr>
          <a:lstStyle/>
          <a:p>
            <a:r>
              <a:rPr lang="en-US"/>
              <a:t>two do </a:t>
            </a:r>
            <a:r>
              <a:rPr lang="en-US" i="1"/>
              <a:t>in</a:t>
            </a:r>
            <a:r>
              <a:rPr lang="en-US"/>
              <a:t> the others do </a:t>
            </a:r>
            <a:r>
              <a:rPr lang="en-US" i="1"/>
              <a:t>out</a:t>
            </a:r>
            <a:r>
              <a:rPr lang="en-US"/>
              <a:t>...</a:t>
            </a:r>
          </a:p>
        </p:txBody>
      </p:sp>
      <p:sp>
        <p:nvSpPr>
          <p:cNvPr id="47" name="TextBox 46">
            <a:extLst>
              <a:ext uri="{FF2B5EF4-FFF2-40B4-BE49-F238E27FC236}">
                <a16:creationId xmlns:a16="http://schemas.microsoft.com/office/drawing/2014/main" id="{267DF210-FF30-0C28-FD5C-2EAEF802CC44}"/>
              </a:ext>
            </a:extLst>
          </p:cNvPr>
          <p:cNvSpPr txBox="1"/>
          <p:nvPr/>
        </p:nvSpPr>
        <p:spPr>
          <a:xfrm>
            <a:off x="6342692" y="3455433"/>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48" name="Oval 47">
            <a:extLst>
              <a:ext uri="{FF2B5EF4-FFF2-40B4-BE49-F238E27FC236}">
                <a16:creationId xmlns:a16="http://schemas.microsoft.com/office/drawing/2014/main" id="{C87B1274-107E-D05E-6D25-198410B31E65}"/>
              </a:ext>
            </a:extLst>
          </p:cNvPr>
          <p:cNvSpPr/>
          <p:nvPr/>
        </p:nvSpPr>
        <p:spPr>
          <a:xfrm>
            <a:off x="2552700"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5ABDB642-1831-9AD9-666B-4A311AC17004}"/>
              </a:ext>
            </a:extLst>
          </p:cNvPr>
          <p:cNvSpPr/>
          <p:nvPr/>
        </p:nvSpPr>
        <p:spPr>
          <a:xfrm>
            <a:off x="2962275" y="446079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E49BC64B-64C1-967E-F318-E4346D9F38E3}"/>
              </a:ext>
            </a:extLst>
          </p:cNvPr>
          <p:cNvSpPr/>
          <p:nvPr/>
        </p:nvSpPr>
        <p:spPr>
          <a:xfrm>
            <a:off x="3371850"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44135902-0668-0986-0D81-788CECF02860}"/>
              </a:ext>
            </a:extLst>
          </p:cNvPr>
          <p:cNvSpPr/>
          <p:nvPr/>
        </p:nvSpPr>
        <p:spPr>
          <a:xfrm>
            <a:off x="3781425" y="446079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5333E52-09EF-9A21-6891-63C9C88FDFA3}"/>
              </a:ext>
            </a:extLst>
          </p:cNvPr>
          <p:cNvSpPr/>
          <p:nvPr/>
        </p:nvSpPr>
        <p:spPr>
          <a:xfrm>
            <a:off x="4191000"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53CE9627-C9D4-E7F1-7176-BED4506FBB4D}"/>
              </a:ext>
            </a:extLst>
          </p:cNvPr>
          <p:cNvSpPr/>
          <p:nvPr/>
        </p:nvSpPr>
        <p:spPr>
          <a:xfrm>
            <a:off x="4600575"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B4233BFC-C9E3-FADE-85B3-0E7044ABEE50}"/>
              </a:ext>
            </a:extLst>
          </p:cNvPr>
          <p:cNvSpPr/>
          <p:nvPr/>
        </p:nvSpPr>
        <p:spPr>
          <a:xfrm>
            <a:off x="5010150"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60829EA-E89E-7766-48BF-EFEE4C152BEC}"/>
              </a:ext>
            </a:extLst>
          </p:cNvPr>
          <p:cNvSpPr/>
          <p:nvPr/>
        </p:nvSpPr>
        <p:spPr>
          <a:xfrm>
            <a:off x="5419725"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7F7CBE5E-6995-3CF2-D368-0CC3FB5400DD}"/>
              </a:ext>
            </a:extLst>
          </p:cNvPr>
          <p:cNvSpPr/>
          <p:nvPr/>
        </p:nvSpPr>
        <p:spPr>
          <a:xfrm>
            <a:off x="5829300" y="446079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8AF1F8E6-026B-F94D-1C6C-BF57221B4423}"/>
              </a:ext>
            </a:extLst>
          </p:cNvPr>
          <p:cNvSpPr txBox="1"/>
          <p:nvPr/>
        </p:nvSpPr>
        <p:spPr>
          <a:xfrm>
            <a:off x="2780340" y="4091467"/>
            <a:ext cx="3640469" cy="369332"/>
          </a:xfrm>
          <a:prstGeom prst="rect">
            <a:avLst/>
          </a:prstGeom>
          <a:noFill/>
        </p:spPr>
        <p:txBody>
          <a:bodyPr wrap="square" rtlCol="0">
            <a:spAutoFit/>
          </a:bodyPr>
          <a:lstStyle/>
          <a:p>
            <a:r>
              <a:rPr lang="en-US"/>
              <a:t>three do </a:t>
            </a:r>
            <a:r>
              <a:rPr lang="en-US" i="1"/>
              <a:t>in</a:t>
            </a:r>
            <a:r>
              <a:rPr lang="en-US"/>
              <a:t> the others do </a:t>
            </a:r>
            <a:r>
              <a:rPr lang="en-US" i="1"/>
              <a:t>out</a:t>
            </a:r>
            <a:r>
              <a:rPr lang="en-US"/>
              <a:t>...</a:t>
            </a:r>
          </a:p>
        </p:txBody>
      </p:sp>
      <p:sp>
        <p:nvSpPr>
          <p:cNvPr id="58" name="TextBox 57">
            <a:extLst>
              <a:ext uri="{FF2B5EF4-FFF2-40B4-BE49-F238E27FC236}">
                <a16:creationId xmlns:a16="http://schemas.microsoft.com/office/drawing/2014/main" id="{412AB0D7-6D1C-6130-AB2D-F597558D6D00}"/>
              </a:ext>
            </a:extLst>
          </p:cNvPr>
          <p:cNvSpPr txBox="1"/>
          <p:nvPr/>
        </p:nvSpPr>
        <p:spPr>
          <a:xfrm>
            <a:off x="6342692" y="4409483"/>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59" name="TextBox 58">
            <a:extLst>
              <a:ext uri="{FF2B5EF4-FFF2-40B4-BE49-F238E27FC236}">
                <a16:creationId xmlns:a16="http://schemas.microsoft.com/office/drawing/2014/main" id="{F85FC2FB-224A-CAAF-978A-2A5D0CF2C28A}"/>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Tree>
    <p:extLst>
      <p:ext uri="{BB962C8B-B14F-4D97-AF65-F5344CB8AC3E}">
        <p14:creationId xmlns:p14="http://schemas.microsoft.com/office/powerpoint/2010/main" val="1168922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0B11AD4F-B697-DA71-A352-268208FC2899}"/>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8B7C0602-75B8-C271-A5AC-D8522CFC4EA0}"/>
              </a:ext>
            </a:extLst>
          </p:cNvPr>
          <p:cNvSpPr/>
          <p:nvPr/>
        </p:nvSpPr>
        <p:spPr>
          <a:xfrm>
            <a:off x="13620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3F924011-EB7A-6E9A-D919-B06039F685E4}"/>
              </a:ext>
            </a:extLst>
          </p:cNvPr>
          <p:cNvSpPr/>
          <p:nvPr/>
        </p:nvSpPr>
        <p:spPr>
          <a:xfrm>
            <a:off x="25527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21DDAFB-C8CA-91C3-0BFC-DDB7F1593B55}"/>
              </a:ext>
            </a:extLst>
          </p:cNvPr>
          <p:cNvSpPr/>
          <p:nvPr/>
        </p:nvSpPr>
        <p:spPr>
          <a:xfrm>
            <a:off x="29622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2F8513D-50B7-E32F-C74F-F582AE0044CE}"/>
              </a:ext>
            </a:extLst>
          </p:cNvPr>
          <p:cNvSpPr/>
          <p:nvPr/>
        </p:nvSpPr>
        <p:spPr>
          <a:xfrm>
            <a:off x="33718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84E0679-E948-B416-61C6-7150236ABE2F}"/>
              </a:ext>
            </a:extLst>
          </p:cNvPr>
          <p:cNvSpPr/>
          <p:nvPr/>
        </p:nvSpPr>
        <p:spPr>
          <a:xfrm>
            <a:off x="37814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8A7AE4B-F5E8-D609-ED26-272EC8368DE4}"/>
              </a:ext>
            </a:extLst>
          </p:cNvPr>
          <p:cNvSpPr/>
          <p:nvPr/>
        </p:nvSpPr>
        <p:spPr>
          <a:xfrm>
            <a:off x="41910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2776E07-1EFB-8F12-3ABE-4D34FBB2C968}"/>
              </a:ext>
            </a:extLst>
          </p:cNvPr>
          <p:cNvSpPr/>
          <p:nvPr/>
        </p:nvSpPr>
        <p:spPr>
          <a:xfrm>
            <a:off x="460057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F8314E0-AE61-B268-6539-8A694A900418}"/>
              </a:ext>
            </a:extLst>
          </p:cNvPr>
          <p:cNvSpPr/>
          <p:nvPr/>
        </p:nvSpPr>
        <p:spPr>
          <a:xfrm>
            <a:off x="501015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FAE6D5D-79DA-8A2D-E568-4177D27B96F6}"/>
              </a:ext>
            </a:extLst>
          </p:cNvPr>
          <p:cNvSpPr/>
          <p:nvPr/>
        </p:nvSpPr>
        <p:spPr>
          <a:xfrm>
            <a:off x="5419725"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DA708E2-87C5-1EFC-66F6-FFBF588E4299}"/>
              </a:ext>
            </a:extLst>
          </p:cNvPr>
          <p:cNvSpPr/>
          <p:nvPr/>
        </p:nvSpPr>
        <p:spPr>
          <a:xfrm>
            <a:off x="5829300" y="1162050"/>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E8848C6-551B-352E-CE6D-3D87DD03AFF6}"/>
              </a:ext>
            </a:extLst>
          </p:cNvPr>
          <p:cNvSpPr txBox="1"/>
          <p:nvPr/>
        </p:nvSpPr>
        <p:spPr>
          <a:xfrm>
            <a:off x="3246106" y="792717"/>
            <a:ext cx="2243138" cy="369332"/>
          </a:xfrm>
          <a:prstGeom prst="rect">
            <a:avLst/>
          </a:prstGeom>
          <a:noFill/>
        </p:spPr>
        <p:txBody>
          <a:bodyPr wrap="square" rtlCol="0">
            <a:spAutoFit/>
          </a:bodyPr>
          <a:lstStyle/>
          <a:p>
            <a:r>
              <a:rPr lang="en-US"/>
              <a:t>the other 9 persons</a:t>
            </a:r>
          </a:p>
        </p:txBody>
      </p:sp>
      <p:sp>
        <p:nvSpPr>
          <p:cNvPr id="15" name="Oval 14">
            <a:extLst>
              <a:ext uri="{FF2B5EF4-FFF2-40B4-BE49-F238E27FC236}">
                <a16:creationId xmlns:a16="http://schemas.microsoft.com/office/drawing/2014/main" id="{102F4277-FEC0-2DC1-6997-36AB86371929}"/>
              </a:ext>
            </a:extLst>
          </p:cNvPr>
          <p:cNvSpPr/>
          <p:nvPr/>
        </p:nvSpPr>
        <p:spPr>
          <a:xfrm>
            <a:off x="25431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3772947-E733-2DE3-EFF5-E3539276C126}"/>
              </a:ext>
            </a:extLst>
          </p:cNvPr>
          <p:cNvSpPr/>
          <p:nvPr/>
        </p:nvSpPr>
        <p:spPr>
          <a:xfrm>
            <a:off x="2952750" y="2686050"/>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5B9EA69-03DA-1D25-2698-C774899F805B}"/>
              </a:ext>
            </a:extLst>
          </p:cNvPr>
          <p:cNvSpPr/>
          <p:nvPr/>
        </p:nvSpPr>
        <p:spPr>
          <a:xfrm>
            <a:off x="33623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8959F67-68BE-819D-8E6C-953244355A94}"/>
              </a:ext>
            </a:extLst>
          </p:cNvPr>
          <p:cNvSpPr/>
          <p:nvPr/>
        </p:nvSpPr>
        <p:spPr>
          <a:xfrm>
            <a:off x="37719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7C1AECB-1450-E446-3CF3-3FF57902F6E3}"/>
              </a:ext>
            </a:extLst>
          </p:cNvPr>
          <p:cNvSpPr/>
          <p:nvPr/>
        </p:nvSpPr>
        <p:spPr>
          <a:xfrm>
            <a:off x="41814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B37CC5E-D230-2216-7D76-4510A067E6D4}"/>
              </a:ext>
            </a:extLst>
          </p:cNvPr>
          <p:cNvSpPr/>
          <p:nvPr/>
        </p:nvSpPr>
        <p:spPr>
          <a:xfrm>
            <a:off x="459105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50CF555-4810-0034-87FD-05220442CC17}"/>
              </a:ext>
            </a:extLst>
          </p:cNvPr>
          <p:cNvSpPr/>
          <p:nvPr/>
        </p:nvSpPr>
        <p:spPr>
          <a:xfrm>
            <a:off x="500062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151004B-CDBE-8973-840C-3D87AE1A547C}"/>
              </a:ext>
            </a:extLst>
          </p:cNvPr>
          <p:cNvSpPr/>
          <p:nvPr/>
        </p:nvSpPr>
        <p:spPr>
          <a:xfrm>
            <a:off x="5410200"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596714A-EDC7-7610-1D6E-4F0B707AFE38}"/>
              </a:ext>
            </a:extLst>
          </p:cNvPr>
          <p:cNvSpPr/>
          <p:nvPr/>
        </p:nvSpPr>
        <p:spPr>
          <a:xfrm>
            <a:off x="5819775" y="2686050"/>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9C75747-754D-7DB7-CF06-F8656CC9DCFF}"/>
              </a:ext>
            </a:extLst>
          </p:cNvPr>
          <p:cNvSpPr txBox="1"/>
          <p:nvPr/>
        </p:nvSpPr>
        <p:spPr>
          <a:xfrm>
            <a:off x="2770815" y="2316718"/>
            <a:ext cx="3640469" cy="369332"/>
          </a:xfrm>
          <a:prstGeom prst="rect">
            <a:avLst/>
          </a:prstGeom>
          <a:noFill/>
        </p:spPr>
        <p:txBody>
          <a:bodyPr wrap="square" rtlCol="0">
            <a:spAutoFit/>
          </a:bodyPr>
          <a:lstStyle/>
          <a:p>
            <a:r>
              <a:rPr lang="en-US"/>
              <a:t>one does </a:t>
            </a:r>
            <a:r>
              <a:rPr lang="en-US" i="1"/>
              <a:t>in</a:t>
            </a:r>
            <a:r>
              <a:rPr lang="en-US"/>
              <a:t> the others do </a:t>
            </a:r>
            <a:r>
              <a:rPr lang="en-US" i="1"/>
              <a:t>out</a:t>
            </a:r>
            <a:r>
              <a:rPr lang="en-US"/>
              <a:t>...</a:t>
            </a:r>
          </a:p>
        </p:txBody>
      </p:sp>
      <p:sp>
        <p:nvSpPr>
          <p:cNvPr id="25" name="TextBox 24">
            <a:extLst>
              <a:ext uri="{FF2B5EF4-FFF2-40B4-BE49-F238E27FC236}">
                <a16:creationId xmlns:a16="http://schemas.microsoft.com/office/drawing/2014/main" id="{053635E7-B039-B635-11D8-406A59860B21}"/>
              </a:ext>
            </a:extLst>
          </p:cNvPr>
          <p:cNvSpPr txBox="1"/>
          <p:nvPr/>
        </p:nvSpPr>
        <p:spPr>
          <a:xfrm rot="20206468">
            <a:off x="137159" y="903221"/>
            <a:ext cx="2138249" cy="369332"/>
          </a:xfrm>
          <a:prstGeom prst="rect">
            <a:avLst/>
          </a:prstGeom>
          <a:noFill/>
        </p:spPr>
        <p:txBody>
          <a:bodyPr wrap="square" rtlCol="0">
            <a:spAutoFit/>
          </a:bodyPr>
          <a:lstStyle/>
          <a:p>
            <a:r>
              <a:rPr lang="en-US"/>
              <a:t>any given person, “</a:t>
            </a:r>
            <a:r>
              <a:rPr lang="en-US" i="1"/>
              <a:t>i</a:t>
            </a:r>
            <a:r>
              <a:rPr lang="en-US"/>
              <a:t>”</a:t>
            </a:r>
          </a:p>
        </p:txBody>
      </p:sp>
      <p:sp>
        <p:nvSpPr>
          <p:cNvPr id="26" name="TextBox 25">
            <a:extLst>
              <a:ext uri="{FF2B5EF4-FFF2-40B4-BE49-F238E27FC236}">
                <a16:creationId xmlns:a16="http://schemas.microsoft.com/office/drawing/2014/main" id="{F44EAB81-660B-7602-C2DA-0A414265D02B}"/>
              </a:ext>
            </a:extLst>
          </p:cNvPr>
          <p:cNvSpPr txBox="1"/>
          <p:nvPr/>
        </p:nvSpPr>
        <p:spPr>
          <a:xfrm>
            <a:off x="6333167" y="2634734"/>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7" name="Oval 6">
            <a:extLst>
              <a:ext uri="{FF2B5EF4-FFF2-40B4-BE49-F238E27FC236}">
                <a16:creationId xmlns:a16="http://schemas.microsoft.com/office/drawing/2014/main" id="{C7F3777F-33A1-8622-3271-0DC7E05BF23D}"/>
              </a:ext>
            </a:extLst>
          </p:cNvPr>
          <p:cNvSpPr/>
          <p:nvPr/>
        </p:nvSpPr>
        <p:spPr>
          <a:xfrm>
            <a:off x="25431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097170B-A394-3578-070B-3A0DA166E81C}"/>
              </a:ext>
            </a:extLst>
          </p:cNvPr>
          <p:cNvSpPr/>
          <p:nvPr/>
        </p:nvSpPr>
        <p:spPr>
          <a:xfrm>
            <a:off x="295275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6FEBC18-54EB-3F36-F87B-43917C9D039B}"/>
              </a:ext>
            </a:extLst>
          </p:cNvPr>
          <p:cNvSpPr/>
          <p:nvPr/>
        </p:nvSpPr>
        <p:spPr>
          <a:xfrm>
            <a:off x="336232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DDC2107-ECFF-469E-1E36-B59816D74695}"/>
              </a:ext>
            </a:extLst>
          </p:cNvPr>
          <p:cNvSpPr/>
          <p:nvPr/>
        </p:nvSpPr>
        <p:spPr>
          <a:xfrm>
            <a:off x="377190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83CFB3D-F0D5-91E9-106D-7E391A4A7EAB}"/>
              </a:ext>
            </a:extLst>
          </p:cNvPr>
          <p:cNvSpPr/>
          <p:nvPr/>
        </p:nvSpPr>
        <p:spPr>
          <a:xfrm>
            <a:off x="41814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46FC5E9-910F-83A1-193A-7109A85244CF}"/>
              </a:ext>
            </a:extLst>
          </p:cNvPr>
          <p:cNvSpPr/>
          <p:nvPr/>
        </p:nvSpPr>
        <p:spPr>
          <a:xfrm>
            <a:off x="459105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8C7BABA-4D4B-00EF-039C-6061F9C03BEF}"/>
              </a:ext>
            </a:extLst>
          </p:cNvPr>
          <p:cNvSpPr/>
          <p:nvPr/>
        </p:nvSpPr>
        <p:spPr>
          <a:xfrm>
            <a:off x="500062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4D9779E-758A-A23C-BD5E-FDA1F462BECD}"/>
              </a:ext>
            </a:extLst>
          </p:cNvPr>
          <p:cNvSpPr/>
          <p:nvPr/>
        </p:nvSpPr>
        <p:spPr>
          <a:xfrm>
            <a:off x="5410200"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6B96BC5-4C4A-70DE-C2E9-B000F54E34A4}"/>
              </a:ext>
            </a:extLst>
          </p:cNvPr>
          <p:cNvSpPr/>
          <p:nvPr/>
        </p:nvSpPr>
        <p:spPr>
          <a:xfrm>
            <a:off x="5819775" y="1916667"/>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C111EFF-4993-4085-B487-67D29D78891B}"/>
              </a:ext>
            </a:extLst>
          </p:cNvPr>
          <p:cNvSpPr txBox="1"/>
          <p:nvPr/>
        </p:nvSpPr>
        <p:spPr>
          <a:xfrm>
            <a:off x="2770815" y="1547335"/>
            <a:ext cx="3640469" cy="369332"/>
          </a:xfrm>
          <a:prstGeom prst="rect">
            <a:avLst/>
          </a:prstGeom>
          <a:noFill/>
        </p:spPr>
        <p:txBody>
          <a:bodyPr wrap="square" rtlCol="0">
            <a:spAutoFit/>
          </a:bodyPr>
          <a:lstStyle/>
          <a:p>
            <a:pPr algn="ctr"/>
            <a:r>
              <a:rPr lang="en-US"/>
              <a:t>all do </a:t>
            </a:r>
            <a:r>
              <a:rPr lang="en-US" i="1"/>
              <a:t>out</a:t>
            </a:r>
            <a:r>
              <a:rPr lang="en-US"/>
              <a:t>...</a:t>
            </a:r>
          </a:p>
        </p:txBody>
      </p:sp>
      <p:sp>
        <p:nvSpPr>
          <p:cNvPr id="36" name="TextBox 35">
            <a:extLst>
              <a:ext uri="{FF2B5EF4-FFF2-40B4-BE49-F238E27FC236}">
                <a16:creationId xmlns:a16="http://schemas.microsoft.com/office/drawing/2014/main" id="{CB940C7E-CA25-415A-45CF-3A7CFDBA35E7}"/>
              </a:ext>
            </a:extLst>
          </p:cNvPr>
          <p:cNvSpPr txBox="1"/>
          <p:nvPr/>
        </p:nvSpPr>
        <p:spPr>
          <a:xfrm>
            <a:off x="6333167" y="1865351"/>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37" name="Oval 36">
            <a:extLst>
              <a:ext uri="{FF2B5EF4-FFF2-40B4-BE49-F238E27FC236}">
                <a16:creationId xmlns:a16="http://schemas.microsoft.com/office/drawing/2014/main" id="{F37F3875-2821-4EE8-54E2-E489130ECF0C}"/>
              </a:ext>
            </a:extLst>
          </p:cNvPr>
          <p:cNvSpPr/>
          <p:nvPr/>
        </p:nvSpPr>
        <p:spPr>
          <a:xfrm>
            <a:off x="25527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0DC9124-67ED-7D1C-EBCB-BE19D1341158}"/>
              </a:ext>
            </a:extLst>
          </p:cNvPr>
          <p:cNvSpPr/>
          <p:nvPr/>
        </p:nvSpPr>
        <p:spPr>
          <a:xfrm>
            <a:off x="2962275" y="350674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89B2A50-A2C1-63DD-92F3-72CB95EABC38}"/>
              </a:ext>
            </a:extLst>
          </p:cNvPr>
          <p:cNvSpPr/>
          <p:nvPr/>
        </p:nvSpPr>
        <p:spPr>
          <a:xfrm>
            <a:off x="337185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6E6EC54-34DE-9D1E-6A8D-115E7F9E0CBD}"/>
              </a:ext>
            </a:extLst>
          </p:cNvPr>
          <p:cNvSpPr/>
          <p:nvPr/>
        </p:nvSpPr>
        <p:spPr>
          <a:xfrm>
            <a:off x="378142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F4954D5C-5D20-AC03-E380-FBF41D959E26}"/>
              </a:ext>
            </a:extLst>
          </p:cNvPr>
          <p:cNvSpPr/>
          <p:nvPr/>
        </p:nvSpPr>
        <p:spPr>
          <a:xfrm>
            <a:off x="41910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59B0FE00-D7B3-1777-19B1-A5AE32A49F6A}"/>
              </a:ext>
            </a:extLst>
          </p:cNvPr>
          <p:cNvSpPr/>
          <p:nvPr/>
        </p:nvSpPr>
        <p:spPr>
          <a:xfrm>
            <a:off x="460057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412391E5-5CA3-ECBF-DFFA-1317E555256C}"/>
              </a:ext>
            </a:extLst>
          </p:cNvPr>
          <p:cNvSpPr/>
          <p:nvPr/>
        </p:nvSpPr>
        <p:spPr>
          <a:xfrm>
            <a:off x="5010150" y="350674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56DF093-A2C9-40A5-D731-B49CB4F7C5CA}"/>
              </a:ext>
            </a:extLst>
          </p:cNvPr>
          <p:cNvSpPr/>
          <p:nvPr/>
        </p:nvSpPr>
        <p:spPr>
          <a:xfrm>
            <a:off x="5419725"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C5E54248-D467-29E6-ED22-B67A2BEA7217}"/>
              </a:ext>
            </a:extLst>
          </p:cNvPr>
          <p:cNvSpPr/>
          <p:nvPr/>
        </p:nvSpPr>
        <p:spPr>
          <a:xfrm>
            <a:off x="5829300" y="350674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2744DCD-3D0F-63E1-31FD-7C395287CB05}"/>
              </a:ext>
            </a:extLst>
          </p:cNvPr>
          <p:cNvSpPr txBox="1"/>
          <p:nvPr/>
        </p:nvSpPr>
        <p:spPr>
          <a:xfrm>
            <a:off x="2780340" y="3137417"/>
            <a:ext cx="3640469" cy="369332"/>
          </a:xfrm>
          <a:prstGeom prst="rect">
            <a:avLst/>
          </a:prstGeom>
          <a:noFill/>
        </p:spPr>
        <p:txBody>
          <a:bodyPr wrap="square" rtlCol="0">
            <a:spAutoFit/>
          </a:bodyPr>
          <a:lstStyle/>
          <a:p>
            <a:r>
              <a:rPr lang="en-US"/>
              <a:t>two do </a:t>
            </a:r>
            <a:r>
              <a:rPr lang="en-US" i="1"/>
              <a:t>in</a:t>
            </a:r>
            <a:r>
              <a:rPr lang="en-US"/>
              <a:t> the others do </a:t>
            </a:r>
            <a:r>
              <a:rPr lang="en-US" i="1"/>
              <a:t>out</a:t>
            </a:r>
            <a:r>
              <a:rPr lang="en-US"/>
              <a:t>...</a:t>
            </a:r>
          </a:p>
        </p:txBody>
      </p:sp>
      <p:sp>
        <p:nvSpPr>
          <p:cNvPr id="47" name="TextBox 46">
            <a:extLst>
              <a:ext uri="{FF2B5EF4-FFF2-40B4-BE49-F238E27FC236}">
                <a16:creationId xmlns:a16="http://schemas.microsoft.com/office/drawing/2014/main" id="{203388F5-987F-116D-E997-35ABA53453FF}"/>
              </a:ext>
            </a:extLst>
          </p:cNvPr>
          <p:cNvSpPr txBox="1"/>
          <p:nvPr/>
        </p:nvSpPr>
        <p:spPr>
          <a:xfrm>
            <a:off x="6342692" y="3455433"/>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48" name="Oval 47">
            <a:extLst>
              <a:ext uri="{FF2B5EF4-FFF2-40B4-BE49-F238E27FC236}">
                <a16:creationId xmlns:a16="http://schemas.microsoft.com/office/drawing/2014/main" id="{86B6EDEF-8596-B350-5FBB-A56C63F3AA73}"/>
              </a:ext>
            </a:extLst>
          </p:cNvPr>
          <p:cNvSpPr/>
          <p:nvPr/>
        </p:nvSpPr>
        <p:spPr>
          <a:xfrm>
            <a:off x="2552700"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433E3A4-F0F0-084C-C490-C87462633183}"/>
              </a:ext>
            </a:extLst>
          </p:cNvPr>
          <p:cNvSpPr/>
          <p:nvPr/>
        </p:nvSpPr>
        <p:spPr>
          <a:xfrm>
            <a:off x="2962275" y="446079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9F0A0B2F-6E09-647B-329C-A8425053404A}"/>
              </a:ext>
            </a:extLst>
          </p:cNvPr>
          <p:cNvSpPr/>
          <p:nvPr/>
        </p:nvSpPr>
        <p:spPr>
          <a:xfrm>
            <a:off x="3371850"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2FF374FC-B61C-662E-EFA0-D125A19F3D31}"/>
              </a:ext>
            </a:extLst>
          </p:cNvPr>
          <p:cNvSpPr/>
          <p:nvPr/>
        </p:nvSpPr>
        <p:spPr>
          <a:xfrm>
            <a:off x="3781425" y="446079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668F8CF1-B3D2-13E6-7BB8-3F7EF04695BF}"/>
              </a:ext>
            </a:extLst>
          </p:cNvPr>
          <p:cNvSpPr/>
          <p:nvPr/>
        </p:nvSpPr>
        <p:spPr>
          <a:xfrm>
            <a:off x="4191000"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0CFE6CB-79DB-5409-140D-D0820441A16F}"/>
              </a:ext>
            </a:extLst>
          </p:cNvPr>
          <p:cNvSpPr/>
          <p:nvPr/>
        </p:nvSpPr>
        <p:spPr>
          <a:xfrm>
            <a:off x="4600575"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68D105E5-F2D1-37FA-2571-383D86187C29}"/>
              </a:ext>
            </a:extLst>
          </p:cNvPr>
          <p:cNvSpPr/>
          <p:nvPr/>
        </p:nvSpPr>
        <p:spPr>
          <a:xfrm>
            <a:off x="5010150"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4B403DF-7805-44AD-FD98-000137116D04}"/>
              </a:ext>
            </a:extLst>
          </p:cNvPr>
          <p:cNvSpPr/>
          <p:nvPr/>
        </p:nvSpPr>
        <p:spPr>
          <a:xfrm>
            <a:off x="5419725" y="4460799"/>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7B1D866D-1096-7DD8-3E65-476692CCB4C3}"/>
              </a:ext>
            </a:extLst>
          </p:cNvPr>
          <p:cNvSpPr/>
          <p:nvPr/>
        </p:nvSpPr>
        <p:spPr>
          <a:xfrm>
            <a:off x="5829300" y="4460799"/>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9B3A484C-A857-E7FE-BC61-1FDBB4E00EB1}"/>
              </a:ext>
            </a:extLst>
          </p:cNvPr>
          <p:cNvSpPr txBox="1"/>
          <p:nvPr/>
        </p:nvSpPr>
        <p:spPr>
          <a:xfrm>
            <a:off x="2780340" y="4091467"/>
            <a:ext cx="3640469" cy="369332"/>
          </a:xfrm>
          <a:prstGeom prst="rect">
            <a:avLst/>
          </a:prstGeom>
          <a:noFill/>
        </p:spPr>
        <p:txBody>
          <a:bodyPr wrap="square" rtlCol="0">
            <a:spAutoFit/>
          </a:bodyPr>
          <a:lstStyle/>
          <a:p>
            <a:r>
              <a:rPr lang="en-US"/>
              <a:t>three do </a:t>
            </a:r>
            <a:r>
              <a:rPr lang="en-US" i="1"/>
              <a:t>in</a:t>
            </a:r>
            <a:r>
              <a:rPr lang="en-US"/>
              <a:t> the others do </a:t>
            </a:r>
            <a:r>
              <a:rPr lang="en-US" i="1"/>
              <a:t>out</a:t>
            </a:r>
            <a:r>
              <a:rPr lang="en-US"/>
              <a:t>...</a:t>
            </a:r>
          </a:p>
        </p:txBody>
      </p:sp>
      <p:sp>
        <p:nvSpPr>
          <p:cNvPr id="58" name="TextBox 57">
            <a:extLst>
              <a:ext uri="{FF2B5EF4-FFF2-40B4-BE49-F238E27FC236}">
                <a16:creationId xmlns:a16="http://schemas.microsoft.com/office/drawing/2014/main" id="{7F531181-902F-803F-32E4-39DA56455A08}"/>
              </a:ext>
            </a:extLst>
          </p:cNvPr>
          <p:cNvSpPr txBox="1"/>
          <p:nvPr/>
        </p:nvSpPr>
        <p:spPr>
          <a:xfrm>
            <a:off x="6342692" y="4409483"/>
            <a:ext cx="4172908" cy="369332"/>
          </a:xfrm>
          <a:prstGeom prst="rect">
            <a:avLst/>
          </a:prstGeom>
          <a:noFill/>
        </p:spPr>
        <p:txBody>
          <a:bodyPr wrap="square" rtlCol="0">
            <a:spAutoFit/>
          </a:bodyPr>
          <a:lstStyle/>
          <a:p>
            <a:r>
              <a:rPr lang="en-US" i="1"/>
              <a:t>...i</a:t>
            </a:r>
            <a:r>
              <a:rPr lang="en-US"/>
              <a:t>’s utility from </a:t>
            </a:r>
            <a:r>
              <a:rPr lang="en-US" i="1"/>
              <a:t>out</a:t>
            </a:r>
            <a:r>
              <a:rPr lang="en-US"/>
              <a:t> is 0 and from </a:t>
            </a:r>
            <a:r>
              <a:rPr lang="en-US" i="1"/>
              <a:t>in</a:t>
            </a:r>
            <a:r>
              <a:rPr lang="en-US"/>
              <a:t> is 1.</a:t>
            </a:r>
            <a:endParaRPr lang="en-US" i="1"/>
          </a:p>
        </p:txBody>
      </p:sp>
      <p:sp>
        <p:nvSpPr>
          <p:cNvPr id="59" name="TextBox 58">
            <a:extLst>
              <a:ext uri="{FF2B5EF4-FFF2-40B4-BE49-F238E27FC236}">
                <a16:creationId xmlns:a16="http://schemas.microsoft.com/office/drawing/2014/main" id="{6E8B574C-2688-E499-8B09-F1EBDE380C1D}"/>
              </a:ext>
            </a:extLst>
          </p:cNvPr>
          <p:cNvSpPr txBox="1"/>
          <p:nvPr/>
        </p:nvSpPr>
        <p:spPr>
          <a:xfrm>
            <a:off x="3767137" y="5528191"/>
            <a:ext cx="4371975" cy="369332"/>
          </a:xfrm>
          <a:prstGeom prst="rect">
            <a:avLst/>
          </a:prstGeom>
          <a:noFill/>
        </p:spPr>
        <p:txBody>
          <a:bodyPr wrap="square" rtlCol="0">
            <a:spAutoFit/>
          </a:bodyPr>
          <a:lstStyle/>
          <a:p>
            <a:pPr algn="ctr"/>
            <a:r>
              <a:rPr lang="en-US" i="1"/>
              <a:t>etc, etc, etc.</a:t>
            </a:r>
          </a:p>
        </p:txBody>
      </p:sp>
      <p:sp>
        <p:nvSpPr>
          <p:cNvPr id="60" name="TextBox 59">
            <a:extLst>
              <a:ext uri="{FF2B5EF4-FFF2-40B4-BE49-F238E27FC236}">
                <a16:creationId xmlns:a16="http://schemas.microsoft.com/office/drawing/2014/main" id="{06589B1D-5008-B67D-F0BA-15D3034A7ED1}"/>
              </a:ext>
            </a:extLst>
          </p:cNvPr>
          <p:cNvSpPr txBox="1"/>
          <p:nvPr/>
        </p:nvSpPr>
        <p:spPr>
          <a:xfrm>
            <a:off x="352425" y="257175"/>
            <a:ext cx="4757457" cy="369332"/>
          </a:xfrm>
          <a:prstGeom prst="rect">
            <a:avLst/>
          </a:prstGeom>
          <a:noFill/>
        </p:spPr>
        <p:txBody>
          <a:bodyPr wrap="square" rtlCol="0">
            <a:spAutoFit/>
          </a:bodyPr>
          <a:lstStyle/>
          <a:p>
            <a:r>
              <a:rPr lang="en-US" dirty="0"/>
              <a:t>IN-OUT GAMES – </a:t>
            </a:r>
            <a:r>
              <a:rPr lang="en-US" dirty="0">
                <a:solidFill>
                  <a:schemeClr val="accent1"/>
                </a:solidFill>
              </a:rPr>
              <a:t>EXAMPLE: “I NEED A BUDDY”</a:t>
            </a:r>
          </a:p>
        </p:txBody>
      </p:sp>
    </p:spTree>
    <p:extLst>
      <p:ext uri="{BB962C8B-B14F-4D97-AF65-F5344CB8AC3E}">
        <p14:creationId xmlns:p14="http://schemas.microsoft.com/office/powerpoint/2010/main" val="3657313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D05429-22B3-04C6-3BB1-594C2F6CA969}"/>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2254523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F77CF-1AE1-3C24-AF1C-34359276CC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2D049E-7517-8209-D4C2-4FA176C19517}"/>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2C4605FB-2D06-0508-BE86-E8325D73E1C8}"/>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29B723AD-D7F7-0E3D-9724-B805E886FCDF}"/>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endParaRPr lang="en-US"/>
          </a:p>
        </p:txBody>
      </p:sp>
      <p:sp>
        <p:nvSpPr>
          <p:cNvPr id="8" name="TextBox 7">
            <a:extLst>
              <a:ext uri="{FF2B5EF4-FFF2-40B4-BE49-F238E27FC236}">
                <a16:creationId xmlns:a16="http://schemas.microsoft.com/office/drawing/2014/main" id="{6A5FC60D-C92C-80EC-F405-A0E064AA500D}"/>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endParaRPr lang="en-US"/>
          </a:p>
        </p:txBody>
      </p:sp>
      <p:sp>
        <p:nvSpPr>
          <p:cNvPr id="6" name="TextBox 5">
            <a:extLst>
              <a:ext uri="{FF2B5EF4-FFF2-40B4-BE49-F238E27FC236}">
                <a16:creationId xmlns:a16="http://schemas.microsoft.com/office/drawing/2014/main" id="{F0C159DF-BB1E-2AEC-1954-CF908920DAE4}"/>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752223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E022C-506D-C08C-97C9-4563F7DB95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C43532-49D4-F85A-D6E3-8D24F072248F}"/>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A7A41F35-0C1D-E082-D3CA-3D15FACEDD81}"/>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A0E7CC21-56DC-BA3C-E996-F09A3E9E4BA1}"/>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8" name="TextBox 7">
            <a:extLst>
              <a:ext uri="{FF2B5EF4-FFF2-40B4-BE49-F238E27FC236}">
                <a16:creationId xmlns:a16="http://schemas.microsoft.com/office/drawing/2014/main" id="{04793D44-7FDF-1BCB-1B83-A9A8015EF3D7}"/>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endParaRPr lang="en-US"/>
          </a:p>
        </p:txBody>
      </p:sp>
      <p:sp>
        <p:nvSpPr>
          <p:cNvPr id="6" name="TextBox 5">
            <a:extLst>
              <a:ext uri="{FF2B5EF4-FFF2-40B4-BE49-F238E27FC236}">
                <a16:creationId xmlns:a16="http://schemas.microsoft.com/office/drawing/2014/main" id="{74C7AF2C-C1B1-7FC5-EC35-843FC75DFFB9}"/>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4282873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80E21-0510-BA99-D7C9-4AC0635786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CE4B34-8A08-311C-9D47-18E08321D97F}"/>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DC47A145-5CC6-9FC9-88C6-7A52CDBC9CF4}"/>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6B3120B7-4B48-8A9C-E0AF-8428EF396924}"/>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8" name="TextBox 7">
            <a:extLst>
              <a:ext uri="{FF2B5EF4-FFF2-40B4-BE49-F238E27FC236}">
                <a16:creationId xmlns:a16="http://schemas.microsoft.com/office/drawing/2014/main" id="{2DAAAD7D-19E7-616B-BEB6-0971FF2F2150}"/>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endParaRPr lang="en-US"/>
          </a:p>
        </p:txBody>
      </p:sp>
      <p:pic>
        <p:nvPicPr>
          <p:cNvPr id="6" name="Picture 5">
            <a:extLst>
              <a:ext uri="{FF2B5EF4-FFF2-40B4-BE49-F238E27FC236}">
                <a16:creationId xmlns:a16="http://schemas.microsoft.com/office/drawing/2014/main" id="{89FF8693-A639-4934-FD40-5EE59E01DF94}"/>
              </a:ext>
            </a:extLst>
          </p:cNvPr>
          <p:cNvPicPr>
            <a:picLocks noChangeAspect="1"/>
          </p:cNvPicPr>
          <p:nvPr/>
        </p:nvPicPr>
        <p:blipFill>
          <a:blip r:embed="rId2"/>
          <a:stretch>
            <a:fillRect/>
          </a:stretch>
        </p:blipFill>
        <p:spPr>
          <a:xfrm>
            <a:off x="6678680" y="63499"/>
            <a:ext cx="5248276" cy="1514397"/>
          </a:xfrm>
          <a:prstGeom prst="rect">
            <a:avLst/>
          </a:prstGeom>
          <a:ln>
            <a:solidFill>
              <a:schemeClr val="accent1"/>
            </a:solidFill>
          </a:ln>
        </p:spPr>
      </p:pic>
      <p:sp>
        <p:nvSpPr>
          <p:cNvPr id="7" name="TextBox 6">
            <a:extLst>
              <a:ext uri="{FF2B5EF4-FFF2-40B4-BE49-F238E27FC236}">
                <a16:creationId xmlns:a16="http://schemas.microsoft.com/office/drawing/2014/main" id="{605957E3-F9FB-A981-1127-B051E4CBBBDB}"/>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1086669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6F1D-0B1E-FD4A-B108-DD04FDBE34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07D0C6-71A1-C938-7B6D-04CCD4A7ED23}"/>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3BF55209-081B-4750-A595-78C000C1C186}"/>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3A37929B-4D3E-BC5C-F7C6-08C781651FDD}"/>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6" name="TextBox 5">
            <a:extLst>
              <a:ext uri="{FF2B5EF4-FFF2-40B4-BE49-F238E27FC236}">
                <a16:creationId xmlns:a16="http://schemas.microsoft.com/office/drawing/2014/main" id="{6C337FEA-34F8-FC69-29E8-41271679113F}"/>
              </a:ext>
            </a:extLst>
          </p:cNvPr>
          <p:cNvSpPr txBox="1"/>
          <p:nvPr/>
        </p:nvSpPr>
        <p:spPr>
          <a:xfrm>
            <a:off x="1447800" y="2074308"/>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ANY EXPECTATION IN WHICH AT LEAST ONE OTHER PERSON DOES </a:t>
            </a:r>
            <a:r>
              <a:rPr lang="en-US">
                <a:solidFill>
                  <a:schemeClr val="accent6"/>
                </a:solidFill>
                <a:sym typeface="Wingdings" panose="05000000000000000000" pitchFamily="2" charset="2"/>
              </a:rPr>
              <a:t>IN</a:t>
            </a:r>
            <a:endParaRPr lang="en-US">
              <a:solidFill>
                <a:schemeClr val="accent6"/>
              </a:solidFill>
            </a:endParaRPr>
          </a:p>
        </p:txBody>
      </p:sp>
      <p:sp>
        <p:nvSpPr>
          <p:cNvPr id="8" name="TextBox 7">
            <a:extLst>
              <a:ext uri="{FF2B5EF4-FFF2-40B4-BE49-F238E27FC236}">
                <a16:creationId xmlns:a16="http://schemas.microsoft.com/office/drawing/2014/main" id="{D8A3C564-7110-184A-671F-9F67246B7555}"/>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endParaRPr lang="en-US"/>
          </a:p>
        </p:txBody>
      </p:sp>
      <p:pic>
        <p:nvPicPr>
          <p:cNvPr id="7" name="Picture 6">
            <a:extLst>
              <a:ext uri="{FF2B5EF4-FFF2-40B4-BE49-F238E27FC236}">
                <a16:creationId xmlns:a16="http://schemas.microsoft.com/office/drawing/2014/main" id="{A156A45D-FD7F-FAB6-3CD1-41A6971F38E0}"/>
              </a:ext>
            </a:extLst>
          </p:cNvPr>
          <p:cNvPicPr>
            <a:picLocks noChangeAspect="1"/>
          </p:cNvPicPr>
          <p:nvPr/>
        </p:nvPicPr>
        <p:blipFill>
          <a:blip r:embed="rId2"/>
          <a:stretch>
            <a:fillRect/>
          </a:stretch>
        </p:blipFill>
        <p:spPr>
          <a:xfrm>
            <a:off x="6678680" y="63499"/>
            <a:ext cx="5248276" cy="1514397"/>
          </a:xfrm>
          <a:prstGeom prst="rect">
            <a:avLst/>
          </a:prstGeom>
          <a:ln>
            <a:solidFill>
              <a:schemeClr val="accent1"/>
            </a:solidFill>
          </a:ln>
        </p:spPr>
      </p:pic>
      <p:sp>
        <p:nvSpPr>
          <p:cNvPr id="9" name="TextBox 8">
            <a:extLst>
              <a:ext uri="{FF2B5EF4-FFF2-40B4-BE49-F238E27FC236}">
                <a16:creationId xmlns:a16="http://schemas.microsoft.com/office/drawing/2014/main" id="{6AB0B0BA-5BB4-0E83-DF0F-2A5D3C187AF3}"/>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2747558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5F982-4D34-2327-4465-6E3BBC102A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6378587-1252-A600-066C-671DE4D2ACAA}"/>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1B4201EF-131F-3AC7-070A-7C28DCA628FA}"/>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3FC22B9C-7CC3-6D7A-80F1-5DAE1E79274E}"/>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6" name="TextBox 5">
            <a:extLst>
              <a:ext uri="{FF2B5EF4-FFF2-40B4-BE49-F238E27FC236}">
                <a16:creationId xmlns:a16="http://schemas.microsoft.com/office/drawing/2014/main" id="{249E7635-D121-08AD-D8C2-25748263A10C}"/>
              </a:ext>
            </a:extLst>
          </p:cNvPr>
          <p:cNvSpPr txBox="1"/>
          <p:nvPr/>
        </p:nvSpPr>
        <p:spPr>
          <a:xfrm>
            <a:off x="1447800" y="2074308"/>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ANY EXPECTATION IN WHICH AT LEAST ONE OTHER PERSON DOES </a:t>
            </a:r>
            <a:r>
              <a:rPr lang="en-US">
                <a:solidFill>
                  <a:schemeClr val="accent6"/>
                </a:solidFill>
                <a:sym typeface="Wingdings" panose="05000000000000000000" pitchFamily="2" charset="2"/>
              </a:rPr>
              <a:t>IN</a:t>
            </a:r>
            <a:endParaRPr lang="en-US">
              <a:solidFill>
                <a:schemeClr val="accent6"/>
              </a:solidFill>
            </a:endParaRPr>
          </a:p>
        </p:txBody>
      </p:sp>
      <p:sp>
        <p:nvSpPr>
          <p:cNvPr id="7" name="TextBox 6">
            <a:extLst>
              <a:ext uri="{FF2B5EF4-FFF2-40B4-BE49-F238E27FC236}">
                <a16:creationId xmlns:a16="http://schemas.microsoft.com/office/drawing/2014/main" id="{754BF41D-6572-60CE-FA01-3C379492BD21}"/>
              </a:ext>
            </a:extLst>
          </p:cNvPr>
          <p:cNvSpPr txBox="1"/>
          <p:nvPr/>
        </p:nvSpPr>
        <p:spPr>
          <a:xfrm>
            <a:off x="1447800" y="2987159"/>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THE EXPECTATION IN WHICH ALL OTHER PERSONS DO </a:t>
            </a:r>
            <a:r>
              <a:rPr lang="en-US">
                <a:solidFill>
                  <a:schemeClr val="accent6"/>
                </a:solidFill>
                <a:sym typeface="Wingdings" panose="05000000000000000000" pitchFamily="2" charset="2"/>
              </a:rPr>
              <a:t>OUT</a:t>
            </a:r>
            <a:endParaRPr lang="en-US">
              <a:solidFill>
                <a:schemeClr val="accent6"/>
              </a:solidFill>
            </a:endParaRPr>
          </a:p>
        </p:txBody>
      </p:sp>
      <p:sp>
        <p:nvSpPr>
          <p:cNvPr id="8" name="TextBox 7">
            <a:extLst>
              <a:ext uri="{FF2B5EF4-FFF2-40B4-BE49-F238E27FC236}">
                <a16:creationId xmlns:a16="http://schemas.microsoft.com/office/drawing/2014/main" id="{8AF8C2AE-2931-77F0-3AF2-85FB20F1E836}"/>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endParaRPr lang="en-US"/>
          </a:p>
        </p:txBody>
      </p:sp>
      <p:pic>
        <p:nvPicPr>
          <p:cNvPr id="9" name="Picture 8">
            <a:extLst>
              <a:ext uri="{FF2B5EF4-FFF2-40B4-BE49-F238E27FC236}">
                <a16:creationId xmlns:a16="http://schemas.microsoft.com/office/drawing/2014/main" id="{6DF8730D-1702-E217-55CC-3A0571C4AA22}"/>
              </a:ext>
            </a:extLst>
          </p:cNvPr>
          <p:cNvPicPr>
            <a:picLocks noChangeAspect="1"/>
          </p:cNvPicPr>
          <p:nvPr/>
        </p:nvPicPr>
        <p:blipFill>
          <a:blip r:embed="rId2"/>
          <a:stretch>
            <a:fillRect/>
          </a:stretch>
        </p:blipFill>
        <p:spPr>
          <a:xfrm>
            <a:off x="6678680" y="63499"/>
            <a:ext cx="5248276" cy="1514397"/>
          </a:xfrm>
          <a:prstGeom prst="rect">
            <a:avLst/>
          </a:prstGeom>
          <a:ln>
            <a:solidFill>
              <a:schemeClr val="accent1"/>
            </a:solidFill>
          </a:ln>
        </p:spPr>
      </p:pic>
      <p:sp>
        <p:nvSpPr>
          <p:cNvPr id="10" name="TextBox 9">
            <a:extLst>
              <a:ext uri="{FF2B5EF4-FFF2-40B4-BE49-F238E27FC236}">
                <a16:creationId xmlns:a16="http://schemas.microsoft.com/office/drawing/2014/main" id="{7A003E57-DBFB-7097-E325-FCB71A48AC8F}"/>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3839902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980A3-80DA-71EC-DBC2-7C5FC06D59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98323D-B211-A5D8-09E4-06FDA02D6EC1}"/>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DFEFE3F4-255D-3B73-5C1E-9419B1266467}"/>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AB7C2C82-D1A2-7902-2C8E-43A8FB2705F5}"/>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6" name="TextBox 5">
            <a:extLst>
              <a:ext uri="{FF2B5EF4-FFF2-40B4-BE49-F238E27FC236}">
                <a16:creationId xmlns:a16="http://schemas.microsoft.com/office/drawing/2014/main" id="{B3284F38-3018-F1E9-8CCC-80DFB327F311}"/>
              </a:ext>
            </a:extLst>
          </p:cNvPr>
          <p:cNvSpPr txBox="1"/>
          <p:nvPr/>
        </p:nvSpPr>
        <p:spPr>
          <a:xfrm>
            <a:off x="1447800" y="2074308"/>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ANY EXPECTATION IN WHICH AT LEAST ONE OTHER PERSON DOES </a:t>
            </a:r>
            <a:r>
              <a:rPr lang="en-US">
                <a:solidFill>
                  <a:schemeClr val="accent6"/>
                </a:solidFill>
                <a:sym typeface="Wingdings" panose="05000000000000000000" pitchFamily="2" charset="2"/>
              </a:rPr>
              <a:t>IN</a:t>
            </a:r>
            <a:endParaRPr lang="en-US">
              <a:solidFill>
                <a:schemeClr val="accent6"/>
              </a:solidFill>
            </a:endParaRPr>
          </a:p>
        </p:txBody>
      </p:sp>
      <p:sp>
        <p:nvSpPr>
          <p:cNvPr id="7" name="TextBox 6">
            <a:extLst>
              <a:ext uri="{FF2B5EF4-FFF2-40B4-BE49-F238E27FC236}">
                <a16:creationId xmlns:a16="http://schemas.microsoft.com/office/drawing/2014/main" id="{60A66427-6437-743A-C4C4-6EB27887BFF7}"/>
              </a:ext>
            </a:extLst>
          </p:cNvPr>
          <p:cNvSpPr txBox="1"/>
          <p:nvPr/>
        </p:nvSpPr>
        <p:spPr>
          <a:xfrm>
            <a:off x="1447800" y="2987159"/>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THE EXPECTATION IN WHICH ALL OTHER PERSONS DO </a:t>
            </a:r>
            <a:r>
              <a:rPr lang="en-US">
                <a:solidFill>
                  <a:schemeClr val="accent6"/>
                </a:solidFill>
                <a:sym typeface="Wingdings" panose="05000000000000000000" pitchFamily="2" charset="2"/>
              </a:rPr>
              <a:t>OUT</a:t>
            </a:r>
            <a:endParaRPr lang="en-US">
              <a:solidFill>
                <a:schemeClr val="accent6"/>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BE040DC-0578-9E46-5CBB-CF8BAB24EE1F}"/>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r>
                  <a:rPr lang="en-US"/>
                  <a:t>Is there a profile of actions that is a Nash Equilibrium in which...</a:t>
                </a:r>
              </a:p>
              <a:p>
                <a:endParaRPr lang="en-US"/>
              </a:p>
              <a:p>
                <a:pPr marL="285750" indent="-285750">
                  <a:buFont typeface="Arial" panose="020B0604020202020204" pitchFamily="34" charset="0"/>
                  <a:buChar char="•"/>
                </a:pPr>
                <a:r>
                  <a:rPr lang="en-US"/>
                  <a:t>...every one of the 10 persons do </a:t>
                </a:r>
                <a:r>
                  <a:rPr lang="en-US" i="1"/>
                  <a:t>out</a:t>
                </a:r>
                <a:r>
                  <a:rPr lang="en-US"/>
                  <a:t>?</a:t>
                </a:r>
                <a:br>
                  <a:rPr lang="en-US"/>
                </a:br>
                <a:endParaRPr lang="en-US"/>
              </a:p>
              <a:p>
                <a:pPr marL="285750" indent="-285750">
                  <a:buFont typeface="Arial" panose="020B0604020202020204" pitchFamily="34" charset="0"/>
                  <a:buChar char="•"/>
                </a:pPr>
                <a:r>
                  <a:rPr lang="en-US"/>
                  <a:t>...every one of the 10 persons do </a:t>
                </a:r>
                <a:r>
                  <a:rPr lang="en-US" i="1"/>
                  <a:t>in</a:t>
                </a:r>
                <a:r>
                  <a:rPr lang="en-US"/>
                  <a:t>?</a:t>
                </a:r>
                <a:br>
                  <a:rPr lang="en-US"/>
                </a:br>
                <a:endParaRPr lang="en-US"/>
              </a:p>
              <a:p>
                <a:pPr marL="285750" indent="-285750">
                  <a:buFont typeface="Arial" panose="020B0604020202020204" pitchFamily="34" charset="0"/>
                  <a:buChar char="•"/>
                </a:pPr>
                <a:r>
                  <a:rPr lang="en-US"/>
                  <a:t>...</a:t>
                </a:r>
                <a:r>
                  <a:rPr lang="en-US" i="1"/>
                  <a:t>K</a:t>
                </a:r>
                <a:r>
                  <a:rPr lang="en-US"/>
                  <a:t> of the 10 persons do </a:t>
                </a:r>
                <a:r>
                  <a:rPr lang="en-US" i="1"/>
                  <a:t>in</a:t>
                </a:r>
                <a:r>
                  <a:rPr lang="en-US"/>
                  <a:t>, where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≤9</m:t>
                    </m:r>
                  </m:oMath>
                </a14:m>
                <a:r>
                  <a:rPr lang="en-US"/>
                  <a:t>?</a:t>
                </a:r>
              </a:p>
            </p:txBody>
          </p:sp>
        </mc:Choice>
        <mc:Fallback xmlns="">
          <p:sp>
            <p:nvSpPr>
              <p:cNvPr id="8" name="TextBox 7">
                <a:extLst>
                  <a:ext uri="{FF2B5EF4-FFF2-40B4-BE49-F238E27FC236}">
                    <a16:creationId xmlns:a16="http://schemas.microsoft.com/office/drawing/2014/main" id="{9BE040DC-0578-9E46-5CBB-CF8BAB24EE1F}"/>
                  </a:ext>
                </a:extLst>
              </p:cNvPr>
              <p:cNvSpPr txBox="1">
                <a:spLocks noRot="1" noChangeAspect="1" noMove="1" noResize="1" noEditPoints="1" noAdjustHandles="1" noChangeArrowheads="1" noChangeShapeType="1" noTextEdit="1"/>
              </p:cNvSpPr>
              <p:nvPr/>
            </p:nvSpPr>
            <p:spPr>
              <a:xfrm>
                <a:off x="723900" y="4292316"/>
                <a:ext cx="10848975" cy="2486025"/>
              </a:xfrm>
              <a:prstGeom prst="rect">
                <a:avLst/>
              </a:prstGeom>
              <a:blipFill>
                <a:blip r:embed="rId2"/>
                <a:stretch>
                  <a:fillRect l="-336" t="-483"/>
                </a:stretch>
              </a:blipFill>
              <a:ln w="38100">
                <a:solidFill>
                  <a:schemeClr val="accent6"/>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8A2EB22B-C2D8-C962-53E3-A78AFC1C997F}"/>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1302881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09405-4280-D1A3-1D7D-AA1F95A6C4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5931FE-8FA0-6003-3E29-269674FD3E19}"/>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E8DDDF5F-6502-FB8E-ECC5-F1BE0B637539}"/>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50E2A39B-3A4F-DEC9-6668-B90255EA10B0}"/>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6" name="TextBox 5">
            <a:extLst>
              <a:ext uri="{FF2B5EF4-FFF2-40B4-BE49-F238E27FC236}">
                <a16:creationId xmlns:a16="http://schemas.microsoft.com/office/drawing/2014/main" id="{5EE322DD-142F-3F16-9369-6F30FC0CC76A}"/>
              </a:ext>
            </a:extLst>
          </p:cNvPr>
          <p:cNvSpPr txBox="1"/>
          <p:nvPr/>
        </p:nvSpPr>
        <p:spPr>
          <a:xfrm>
            <a:off x="1447800" y="2074308"/>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ANY EXPECTATION IN WHICH AT LEAST ONE OTHER PERSON DOES </a:t>
            </a:r>
            <a:r>
              <a:rPr lang="en-US">
                <a:solidFill>
                  <a:schemeClr val="accent6"/>
                </a:solidFill>
                <a:sym typeface="Wingdings" panose="05000000000000000000" pitchFamily="2" charset="2"/>
              </a:rPr>
              <a:t>IN</a:t>
            </a:r>
            <a:endParaRPr lang="en-US">
              <a:solidFill>
                <a:schemeClr val="accent6"/>
              </a:solidFill>
            </a:endParaRPr>
          </a:p>
        </p:txBody>
      </p:sp>
      <p:sp>
        <p:nvSpPr>
          <p:cNvPr id="7" name="TextBox 6">
            <a:extLst>
              <a:ext uri="{FF2B5EF4-FFF2-40B4-BE49-F238E27FC236}">
                <a16:creationId xmlns:a16="http://schemas.microsoft.com/office/drawing/2014/main" id="{183BA76D-928E-1B4B-0A39-15C4CC99A341}"/>
              </a:ext>
            </a:extLst>
          </p:cNvPr>
          <p:cNvSpPr txBox="1"/>
          <p:nvPr/>
        </p:nvSpPr>
        <p:spPr>
          <a:xfrm>
            <a:off x="1447800" y="2987159"/>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THE EXPECTATION IN WHICH ALL OTHER PERSONS DO </a:t>
            </a:r>
            <a:r>
              <a:rPr lang="en-US">
                <a:solidFill>
                  <a:schemeClr val="accent6"/>
                </a:solidFill>
                <a:sym typeface="Wingdings" panose="05000000000000000000" pitchFamily="2" charset="2"/>
              </a:rPr>
              <a:t>OUT</a:t>
            </a:r>
            <a:endParaRPr lang="en-US">
              <a:solidFill>
                <a:schemeClr val="accent6"/>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0DCAE5A-DEC5-48DA-7D87-92C15EC70AFB}"/>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r>
                  <a:rPr lang="en-US"/>
                  <a:t>Is there a profile of actions that is a Nash Equilibrium in which...</a:t>
                </a:r>
              </a:p>
              <a:p>
                <a:endParaRPr lang="en-US"/>
              </a:p>
              <a:p>
                <a:pPr marL="285750" indent="-285750">
                  <a:buFont typeface="Arial" panose="020B0604020202020204" pitchFamily="34" charset="0"/>
                  <a:buChar char="•"/>
                </a:pPr>
                <a:r>
                  <a:rPr lang="en-US"/>
                  <a:t>...every one of the 10 persons do </a:t>
                </a:r>
                <a:r>
                  <a:rPr lang="en-US" i="1"/>
                  <a:t>out</a:t>
                </a:r>
                <a:r>
                  <a:rPr lang="en-US"/>
                  <a:t>?</a:t>
                </a:r>
                <a:br>
                  <a:rPr lang="en-US"/>
                </a:br>
                <a:endParaRPr lang="en-US"/>
              </a:p>
              <a:p>
                <a:pPr marL="285750" indent="-285750">
                  <a:buFont typeface="Arial" panose="020B0604020202020204" pitchFamily="34" charset="0"/>
                  <a:buChar char="•"/>
                </a:pPr>
                <a:r>
                  <a:rPr lang="en-US"/>
                  <a:t>...every one of the 10 persons do </a:t>
                </a:r>
                <a:r>
                  <a:rPr lang="en-US" i="1"/>
                  <a:t>in</a:t>
                </a:r>
                <a:r>
                  <a:rPr lang="en-US"/>
                  <a:t>?</a:t>
                </a:r>
                <a:br>
                  <a:rPr lang="en-US"/>
                </a:br>
                <a:endParaRPr lang="en-US"/>
              </a:p>
              <a:p>
                <a:pPr marL="285750" indent="-285750">
                  <a:buFont typeface="Arial" panose="020B0604020202020204" pitchFamily="34" charset="0"/>
                  <a:buChar char="•"/>
                </a:pPr>
                <a:r>
                  <a:rPr lang="en-US"/>
                  <a:t>...</a:t>
                </a:r>
                <a:r>
                  <a:rPr lang="en-US" i="1"/>
                  <a:t>K</a:t>
                </a:r>
                <a:r>
                  <a:rPr lang="en-US"/>
                  <a:t> of the 10 persons do </a:t>
                </a:r>
                <a:r>
                  <a:rPr lang="en-US" i="1"/>
                  <a:t>in</a:t>
                </a:r>
                <a:r>
                  <a:rPr lang="en-US"/>
                  <a:t>, where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≤9</m:t>
                    </m:r>
                  </m:oMath>
                </a14:m>
                <a:r>
                  <a:rPr lang="en-US"/>
                  <a:t>?</a:t>
                </a:r>
              </a:p>
            </p:txBody>
          </p:sp>
        </mc:Choice>
        <mc:Fallback xmlns="">
          <p:sp>
            <p:nvSpPr>
              <p:cNvPr id="8" name="TextBox 7">
                <a:extLst>
                  <a:ext uri="{FF2B5EF4-FFF2-40B4-BE49-F238E27FC236}">
                    <a16:creationId xmlns:a16="http://schemas.microsoft.com/office/drawing/2014/main" id="{60DCAE5A-DEC5-48DA-7D87-92C15EC70AFB}"/>
                  </a:ext>
                </a:extLst>
              </p:cNvPr>
              <p:cNvSpPr txBox="1">
                <a:spLocks noRot="1" noChangeAspect="1" noMove="1" noResize="1" noEditPoints="1" noAdjustHandles="1" noChangeArrowheads="1" noChangeShapeType="1" noTextEdit="1"/>
              </p:cNvSpPr>
              <p:nvPr/>
            </p:nvSpPr>
            <p:spPr>
              <a:xfrm>
                <a:off x="723900" y="4292316"/>
                <a:ext cx="10848975" cy="2486025"/>
              </a:xfrm>
              <a:prstGeom prst="rect">
                <a:avLst/>
              </a:prstGeom>
              <a:blipFill>
                <a:blip r:embed="rId2"/>
                <a:stretch>
                  <a:fillRect l="-336" t="-483"/>
                </a:stretch>
              </a:blipFill>
              <a:ln w="38100">
                <a:solidFill>
                  <a:schemeClr val="accent6"/>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DDE8A9B6-882F-E91B-5EFE-DFCA6D4EC346}"/>
              </a:ext>
            </a:extLst>
          </p:cNvPr>
          <p:cNvSpPr txBox="1"/>
          <p:nvPr/>
        </p:nvSpPr>
        <p:spPr>
          <a:xfrm rot="1886705">
            <a:off x="6821272" y="5002272"/>
            <a:ext cx="3692957" cy="64633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these cover all the profiles, so we can solve this by checking each one!</a:t>
            </a:r>
          </a:p>
        </p:txBody>
      </p:sp>
      <p:sp>
        <p:nvSpPr>
          <p:cNvPr id="10" name="TextBox 9">
            <a:extLst>
              <a:ext uri="{FF2B5EF4-FFF2-40B4-BE49-F238E27FC236}">
                <a16:creationId xmlns:a16="http://schemas.microsoft.com/office/drawing/2014/main" id="{28C08383-600F-BC7D-B6FC-F3CA5D2E540B}"/>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4116574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ED06A-B87B-2890-D27A-EDBA98F7B1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4DE1B8-9A02-FACE-8D16-05D6B173A9CD}"/>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out</a:t>
            </a:r>
            <a:r>
              <a:rPr lang="en-US"/>
              <a:t> a Nash Equilibrium?</a:t>
            </a:r>
          </a:p>
        </p:txBody>
      </p:sp>
      <p:sp>
        <p:nvSpPr>
          <p:cNvPr id="3" name="TextBox 2">
            <a:extLst>
              <a:ext uri="{FF2B5EF4-FFF2-40B4-BE49-F238E27FC236}">
                <a16:creationId xmlns:a16="http://schemas.microsoft.com/office/drawing/2014/main" id="{38848E87-5002-09B1-C2FC-191634826A63}"/>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3378998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A0B5C-B277-6152-5F09-9BEE1960B0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C29F2F-9E79-B9FF-F218-8050C705A2CF}"/>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out</a:t>
            </a:r>
            <a:r>
              <a:rPr lang="en-US"/>
              <a:t> a Nash Equilibrium?</a:t>
            </a:r>
          </a:p>
        </p:txBody>
      </p:sp>
      <p:sp>
        <p:nvSpPr>
          <p:cNvPr id="9" name="Oval 8">
            <a:extLst>
              <a:ext uri="{FF2B5EF4-FFF2-40B4-BE49-F238E27FC236}">
                <a16:creationId xmlns:a16="http://schemas.microsoft.com/office/drawing/2014/main" id="{77A7CDB2-ADC9-AD8B-D34A-91E56EF7E423}"/>
              </a:ext>
            </a:extLst>
          </p:cNvPr>
          <p:cNvSpPr/>
          <p:nvPr/>
        </p:nvSpPr>
        <p:spPr>
          <a:xfrm>
            <a:off x="41243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3998804-20CD-63C4-15C1-E405AAB30848}"/>
              </a:ext>
            </a:extLst>
          </p:cNvPr>
          <p:cNvSpPr/>
          <p:nvPr/>
        </p:nvSpPr>
        <p:spPr>
          <a:xfrm>
            <a:off x="45339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DB7FEA2-C3F1-CDB7-2505-F0841781B533}"/>
              </a:ext>
            </a:extLst>
          </p:cNvPr>
          <p:cNvSpPr/>
          <p:nvPr/>
        </p:nvSpPr>
        <p:spPr>
          <a:xfrm>
            <a:off x="49434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D068957-4B15-0B58-BC06-88F597CB2F45}"/>
              </a:ext>
            </a:extLst>
          </p:cNvPr>
          <p:cNvSpPr/>
          <p:nvPr/>
        </p:nvSpPr>
        <p:spPr>
          <a:xfrm>
            <a:off x="53530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26E916-CAEF-F9FD-9592-007C285DDA9E}"/>
              </a:ext>
            </a:extLst>
          </p:cNvPr>
          <p:cNvSpPr/>
          <p:nvPr/>
        </p:nvSpPr>
        <p:spPr>
          <a:xfrm>
            <a:off x="57626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D0E3216-1593-0540-BFFF-226D50F6AADA}"/>
              </a:ext>
            </a:extLst>
          </p:cNvPr>
          <p:cNvSpPr/>
          <p:nvPr/>
        </p:nvSpPr>
        <p:spPr>
          <a:xfrm>
            <a:off x="61722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66972A-A693-2C55-FE1A-3BB8FDB0958E}"/>
              </a:ext>
            </a:extLst>
          </p:cNvPr>
          <p:cNvSpPr/>
          <p:nvPr/>
        </p:nvSpPr>
        <p:spPr>
          <a:xfrm>
            <a:off x="65817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FB833F-41DA-3B08-D2B3-50269A8504D0}"/>
              </a:ext>
            </a:extLst>
          </p:cNvPr>
          <p:cNvSpPr/>
          <p:nvPr/>
        </p:nvSpPr>
        <p:spPr>
          <a:xfrm>
            <a:off x="69913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6A21D9E-4314-0161-CF61-E22D7B96F79D}"/>
              </a:ext>
            </a:extLst>
          </p:cNvPr>
          <p:cNvSpPr/>
          <p:nvPr/>
        </p:nvSpPr>
        <p:spPr>
          <a:xfrm>
            <a:off x="74009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71521F6-128A-0FE5-02A6-2C02BEFF9141}"/>
              </a:ext>
            </a:extLst>
          </p:cNvPr>
          <p:cNvSpPr/>
          <p:nvPr/>
        </p:nvSpPr>
        <p:spPr>
          <a:xfrm>
            <a:off x="7810502"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EBA5B81-EDF6-5252-195C-6163364A2685}"/>
              </a:ext>
            </a:extLst>
          </p:cNvPr>
          <p:cNvSpPr txBox="1"/>
          <p:nvPr/>
        </p:nvSpPr>
        <p:spPr>
          <a:xfrm rot="1947986">
            <a:off x="7292627" y="1890745"/>
            <a:ext cx="2686048" cy="369332"/>
          </a:xfrm>
          <a:prstGeom prst="rect">
            <a:avLst/>
          </a:prstGeom>
          <a:noFill/>
        </p:spPr>
        <p:txBody>
          <a:bodyPr wrap="square" rtlCol="0">
            <a:spAutoFit/>
          </a:bodyPr>
          <a:lstStyle/>
          <a:p>
            <a:pPr algn="ctr"/>
            <a:r>
              <a:rPr lang="en-US"/>
              <a:t>all 10 do </a:t>
            </a:r>
            <a:r>
              <a:rPr lang="en-US" i="1"/>
              <a:t>out</a:t>
            </a:r>
            <a:endParaRPr lang="en-US"/>
          </a:p>
        </p:txBody>
      </p:sp>
      <p:sp>
        <p:nvSpPr>
          <p:cNvPr id="5" name="TextBox 4">
            <a:extLst>
              <a:ext uri="{FF2B5EF4-FFF2-40B4-BE49-F238E27FC236}">
                <a16:creationId xmlns:a16="http://schemas.microsoft.com/office/drawing/2014/main" id="{175C64B6-FE25-5BB5-21D2-FD19F7A505BD}"/>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3061831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F1E2-64CE-34DE-B34F-068C1A0385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937540-DA4A-28CC-3C85-A697C8B81319}"/>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out</a:t>
            </a:r>
            <a:r>
              <a:rPr lang="en-US"/>
              <a:t> a Nash Equilibrium?</a:t>
            </a:r>
          </a:p>
        </p:txBody>
      </p:sp>
      <p:sp>
        <p:nvSpPr>
          <p:cNvPr id="9" name="Oval 8">
            <a:extLst>
              <a:ext uri="{FF2B5EF4-FFF2-40B4-BE49-F238E27FC236}">
                <a16:creationId xmlns:a16="http://schemas.microsoft.com/office/drawing/2014/main" id="{3E51F9C3-31BA-69C0-01D0-323F93857648}"/>
              </a:ext>
            </a:extLst>
          </p:cNvPr>
          <p:cNvSpPr/>
          <p:nvPr/>
        </p:nvSpPr>
        <p:spPr>
          <a:xfrm>
            <a:off x="2933700" y="2181225"/>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4E25EFD-77B2-401A-C6D1-3B3A9E5B8787}"/>
              </a:ext>
            </a:extLst>
          </p:cNvPr>
          <p:cNvSpPr/>
          <p:nvPr/>
        </p:nvSpPr>
        <p:spPr>
          <a:xfrm>
            <a:off x="45339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2149FA4-3E2C-9246-A393-D708BF58E821}"/>
              </a:ext>
            </a:extLst>
          </p:cNvPr>
          <p:cNvSpPr/>
          <p:nvPr/>
        </p:nvSpPr>
        <p:spPr>
          <a:xfrm>
            <a:off x="49434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3285E62-84A4-4457-9487-0BC36149F8D2}"/>
              </a:ext>
            </a:extLst>
          </p:cNvPr>
          <p:cNvSpPr/>
          <p:nvPr/>
        </p:nvSpPr>
        <p:spPr>
          <a:xfrm>
            <a:off x="53530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C421AF5-43FE-E1B9-107E-690676781433}"/>
              </a:ext>
            </a:extLst>
          </p:cNvPr>
          <p:cNvSpPr/>
          <p:nvPr/>
        </p:nvSpPr>
        <p:spPr>
          <a:xfrm>
            <a:off x="57626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A6684ED-0BF7-C748-982A-E81E941B77A0}"/>
              </a:ext>
            </a:extLst>
          </p:cNvPr>
          <p:cNvSpPr/>
          <p:nvPr/>
        </p:nvSpPr>
        <p:spPr>
          <a:xfrm>
            <a:off x="61722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54F8562-A58C-99AE-9DB6-B3C28F0AEF3B}"/>
              </a:ext>
            </a:extLst>
          </p:cNvPr>
          <p:cNvSpPr/>
          <p:nvPr/>
        </p:nvSpPr>
        <p:spPr>
          <a:xfrm>
            <a:off x="65817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F9FEA20-94CF-F105-4B62-0E0BC8A3A5E1}"/>
              </a:ext>
            </a:extLst>
          </p:cNvPr>
          <p:cNvSpPr/>
          <p:nvPr/>
        </p:nvSpPr>
        <p:spPr>
          <a:xfrm>
            <a:off x="69913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5D59AAA-3AF5-B989-DD61-D49454F09C07}"/>
              </a:ext>
            </a:extLst>
          </p:cNvPr>
          <p:cNvSpPr/>
          <p:nvPr/>
        </p:nvSpPr>
        <p:spPr>
          <a:xfrm>
            <a:off x="74009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DE2E693-1659-684B-6A01-8A16BE297EC1}"/>
              </a:ext>
            </a:extLst>
          </p:cNvPr>
          <p:cNvSpPr/>
          <p:nvPr/>
        </p:nvSpPr>
        <p:spPr>
          <a:xfrm>
            <a:off x="7810502"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CE2FFE9-5903-AFFB-DA62-1F72D81D867E}"/>
              </a:ext>
            </a:extLst>
          </p:cNvPr>
          <p:cNvSpPr txBox="1"/>
          <p:nvPr/>
        </p:nvSpPr>
        <p:spPr>
          <a:xfrm>
            <a:off x="2933700" y="3686175"/>
            <a:ext cx="6781800" cy="1905000"/>
          </a:xfrm>
          <a:prstGeom prst="rect">
            <a:avLst/>
          </a:prstGeom>
          <a:noFill/>
          <a:ln w="38100">
            <a:solidFill>
              <a:schemeClr val="accent6"/>
            </a:solidFill>
          </a:ln>
        </p:spPr>
        <p:txBody>
          <a:bodyPr wrap="square" rtlCol="0">
            <a:noAutofit/>
          </a:bodyPr>
          <a:lstStyle/>
          <a:p>
            <a:r>
              <a:rPr lang="en-US"/>
              <a:t>If this is an NE, then for any one of the 10, doing </a:t>
            </a:r>
            <a:r>
              <a:rPr lang="en-US" i="1"/>
              <a:t>out </a:t>
            </a:r>
            <a:r>
              <a:rPr lang="en-US"/>
              <a:t>must be a best response to the expectation that the other 9 to </a:t>
            </a:r>
            <a:r>
              <a:rPr lang="en-US" i="1"/>
              <a:t>out</a:t>
            </a:r>
            <a:r>
              <a:rPr lang="en-US"/>
              <a:t>.</a:t>
            </a:r>
          </a:p>
        </p:txBody>
      </p:sp>
      <p:sp>
        <p:nvSpPr>
          <p:cNvPr id="3" name="TextBox 2">
            <a:extLst>
              <a:ext uri="{FF2B5EF4-FFF2-40B4-BE49-F238E27FC236}">
                <a16:creationId xmlns:a16="http://schemas.microsoft.com/office/drawing/2014/main" id="{9E2B8833-928E-D702-E2E5-9E40BABA7EC8}"/>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1580008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B8301-2513-A41F-5AFB-CA70C6048F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123415-7488-E1A9-3B14-9943391F7657}"/>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out</a:t>
            </a:r>
            <a:r>
              <a:rPr lang="en-US"/>
              <a:t> a Nash Equilibrium?</a:t>
            </a:r>
          </a:p>
        </p:txBody>
      </p:sp>
      <p:sp>
        <p:nvSpPr>
          <p:cNvPr id="9" name="Oval 8">
            <a:extLst>
              <a:ext uri="{FF2B5EF4-FFF2-40B4-BE49-F238E27FC236}">
                <a16:creationId xmlns:a16="http://schemas.microsoft.com/office/drawing/2014/main" id="{0AB59849-2E6A-5BC7-E7DB-262DD25B0576}"/>
              </a:ext>
            </a:extLst>
          </p:cNvPr>
          <p:cNvSpPr/>
          <p:nvPr/>
        </p:nvSpPr>
        <p:spPr>
          <a:xfrm>
            <a:off x="2933700" y="2181225"/>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5B9C197-E65F-9D39-490B-8557E0E2AE96}"/>
              </a:ext>
            </a:extLst>
          </p:cNvPr>
          <p:cNvSpPr/>
          <p:nvPr/>
        </p:nvSpPr>
        <p:spPr>
          <a:xfrm>
            <a:off x="45339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49B6911-6E52-44F4-3996-1DC9D3AD9B70}"/>
              </a:ext>
            </a:extLst>
          </p:cNvPr>
          <p:cNvSpPr/>
          <p:nvPr/>
        </p:nvSpPr>
        <p:spPr>
          <a:xfrm>
            <a:off x="49434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45C5377-8ACE-B6DF-8092-CAA1B201BEF2}"/>
              </a:ext>
            </a:extLst>
          </p:cNvPr>
          <p:cNvSpPr/>
          <p:nvPr/>
        </p:nvSpPr>
        <p:spPr>
          <a:xfrm>
            <a:off x="53530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2715FA5-0736-4EE1-5808-4EA090353C81}"/>
              </a:ext>
            </a:extLst>
          </p:cNvPr>
          <p:cNvSpPr/>
          <p:nvPr/>
        </p:nvSpPr>
        <p:spPr>
          <a:xfrm>
            <a:off x="57626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07BF5AB-B3CE-C370-18AD-F35D1510924A}"/>
              </a:ext>
            </a:extLst>
          </p:cNvPr>
          <p:cNvSpPr/>
          <p:nvPr/>
        </p:nvSpPr>
        <p:spPr>
          <a:xfrm>
            <a:off x="61722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DE83D58-035A-A19F-1FF8-AD82CB9FB16B}"/>
              </a:ext>
            </a:extLst>
          </p:cNvPr>
          <p:cNvSpPr/>
          <p:nvPr/>
        </p:nvSpPr>
        <p:spPr>
          <a:xfrm>
            <a:off x="65817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5F3C596-ED85-6186-2221-92D808482C6E}"/>
              </a:ext>
            </a:extLst>
          </p:cNvPr>
          <p:cNvSpPr/>
          <p:nvPr/>
        </p:nvSpPr>
        <p:spPr>
          <a:xfrm>
            <a:off x="69913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AE8FAA3-1F04-F9A3-3F4D-9B7876374C8C}"/>
              </a:ext>
            </a:extLst>
          </p:cNvPr>
          <p:cNvSpPr/>
          <p:nvPr/>
        </p:nvSpPr>
        <p:spPr>
          <a:xfrm>
            <a:off x="74009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4F40BF0-AF6F-0711-5008-D7D87A657E10}"/>
              </a:ext>
            </a:extLst>
          </p:cNvPr>
          <p:cNvSpPr/>
          <p:nvPr/>
        </p:nvSpPr>
        <p:spPr>
          <a:xfrm>
            <a:off x="7810502"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E2D8899-E992-5C20-530E-0F12EF6E0450}"/>
              </a:ext>
            </a:extLst>
          </p:cNvPr>
          <p:cNvSpPr txBox="1"/>
          <p:nvPr/>
        </p:nvSpPr>
        <p:spPr>
          <a:xfrm>
            <a:off x="2933700" y="3686175"/>
            <a:ext cx="6781800" cy="1905000"/>
          </a:xfrm>
          <a:prstGeom prst="rect">
            <a:avLst/>
          </a:prstGeom>
          <a:noFill/>
          <a:ln w="38100">
            <a:solidFill>
              <a:schemeClr val="accent6"/>
            </a:solidFill>
          </a:ln>
        </p:spPr>
        <p:txBody>
          <a:bodyPr wrap="square" rtlCol="0">
            <a:noAutofit/>
          </a:bodyPr>
          <a:lstStyle/>
          <a:p>
            <a:r>
              <a:rPr lang="en-US" dirty="0"/>
              <a:t>If this is an NE, then for any one of the 10, doing </a:t>
            </a:r>
            <a:r>
              <a:rPr lang="en-US" i="1" dirty="0"/>
              <a:t>out </a:t>
            </a:r>
            <a:r>
              <a:rPr lang="en-US" dirty="0"/>
              <a:t>must be a best response to the expectation that the other 9 to </a:t>
            </a:r>
            <a:r>
              <a:rPr lang="en-US" i="1" dirty="0"/>
              <a:t>out</a:t>
            </a:r>
            <a:r>
              <a:rPr lang="en-US" dirty="0"/>
              <a:t>.</a:t>
            </a:r>
          </a:p>
          <a:p>
            <a:endParaRPr lang="en-US" dirty="0"/>
          </a:p>
          <a:p>
            <a:endParaRPr lang="en-US" dirty="0"/>
          </a:p>
          <a:p>
            <a:endParaRPr lang="en-US" dirty="0"/>
          </a:p>
        </p:txBody>
      </p:sp>
      <p:sp>
        <p:nvSpPr>
          <p:cNvPr id="3" name="TextBox 2">
            <a:extLst>
              <a:ext uri="{FF2B5EF4-FFF2-40B4-BE49-F238E27FC236}">
                <a16:creationId xmlns:a16="http://schemas.microsoft.com/office/drawing/2014/main" id="{F108FF64-10A4-3A27-1B77-CFFA6349B94B}"/>
              </a:ext>
            </a:extLst>
          </p:cNvPr>
          <p:cNvSpPr txBox="1"/>
          <p:nvPr/>
        </p:nvSpPr>
        <p:spPr>
          <a:xfrm>
            <a:off x="3724275" y="2638425"/>
            <a:ext cx="3533775" cy="369332"/>
          </a:xfrm>
          <a:prstGeom prst="rect">
            <a:avLst/>
          </a:prstGeom>
          <a:noFill/>
        </p:spPr>
        <p:txBody>
          <a:bodyPr wrap="square" rtlCol="0">
            <a:spAutoFit/>
          </a:bodyPr>
          <a:lstStyle/>
          <a:p>
            <a:r>
              <a:rPr lang="en-US"/>
              <a:t>utility from </a:t>
            </a:r>
            <a:r>
              <a:rPr lang="en-US" i="1"/>
              <a:t>in</a:t>
            </a:r>
            <a:r>
              <a:rPr lang="en-US"/>
              <a:t> is -1</a:t>
            </a:r>
          </a:p>
        </p:txBody>
      </p:sp>
      <p:sp>
        <p:nvSpPr>
          <p:cNvPr id="6" name="TextBox 5">
            <a:extLst>
              <a:ext uri="{FF2B5EF4-FFF2-40B4-BE49-F238E27FC236}">
                <a16:creationId xmlns:a16="http://schemas.microsoft.com/office/drawing/2014/main" id="{AEECCE03-DAED-DF00-16DC-D4503277A758}"/>
              </a:ext>
            </a:extLst>
          </p:cNvPr>
          <p:cNvSpPr txBox="1"/>
          <p:nvPr/>
        </p:nvSpPr>
        <p:spPr>
          <a:xfrm>
            <a:off x="3762375" y="3059075"/>
            <a:ext cx="3533775" cy="369332"/>
          </a:xfrm>
          <a:prstGeom prst="rect">
            <a:avLst/>
          </a:prstGeom>
          <a:noFill/>
        </p:spPr>
        <p:txBody>
          <a:bodyPr wrap="square" rtlCol="0">
            <a:spAutoFit/>
          </a:bodyPr>
          <a:lstStyle/>
          <a:p>
            <a:r>
              <a:rPr lang="en-US"/>
              <a:t>utility from </a:t>
            </a:r>
            <a:r>
              <a:rPr lang="en-US" i="1"/>
              <a:t>out</a:t>
            </a:r>
            <a:r>
              <a:rPr lang="en-US"/>
              <a:t> is 0</a:t>
            </a:r>
          </a:p>
        </p:txBody>
      </p:sp>
      <p:cxnSp>
        <p:nvCxnSpPr>
          <p:cNvPr id="8" name="Straight Arrow Connector 7">
            <a:extLst>
              <a:ext uri="{FF2B5EF4-FFF2-40B4-BE49-F238E27FC236}">
                <a16:creationId xmlns:a16="http://schemas.microsoft.com/office/drawing/2014/main" id="{E08F88F2-F659-D676-C5B5-CD3567A18FCC}"/>
              </a:ext>
            </a:extLst>
          </p:cNvPr>
          <p:cNvCxnSpPr>
            <a:stCxn id="9" idx="5"/>
            <a:endCxn id="3" idx="1"/>
          </p:cNvCxnSpPr>
          <p:nvPr/>
        </p:nvCxnSpPr>
        <p:spPr>
          <a:xfrm>
            <a:off x="3161343" y="2408868"/>
            <a:ext cx="562932" cy="41422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20310AD-8ABF-306C-0DF8-6957F3CFD7C4}"/>
              </a:ext>
            </a:extLst>
          </p:cNvPr>
          <p:cNvCxnSpPr>
            <a:cxnSpLocks/>
            <a:stCxn id="9" idx="5"/>
            <a:endCxn id="6" idx="1"/>
          </p:cNvCxnSpPr>
          <p:nvPr/>
        </p:nvCxnSpPr>
        <p:spPr>
          <a:xfrm>
            <a:off x="3161343" y="2408868"/>
            <a:ext cx="601032" cy="83487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338B6C06-4409-5D36-7818-BEBBB3B720D5}"/>
              </a:ext>
            </a:extLst>
          </p:cNvPr>
          <p:cNvPicPr>
            <a:picLocks noChangeAspect="1"/>
          </p:cNvPicPr>
          <p:nvPr/>
        </p:nvPicPr>
        <p:blipFill>
          <a:blip r:embed="rId2"/>
          <a:stretch>
            <a:fillRect/>
          </a:stretch>
        </p:blipFill>
        <p:spPr>
          <a:xfrm>
            <a:off x="6678680" y="63499"/>
            <a:ext cx="5248276" cy="1514397"/>
          </a:xfrm>
          <a:prstGeom prst="rect">
            <a:avLst/>
          </a:prstGeom>
          <a:ln>
            <a:solidFill>
              <a:schemeClr val="accent1"/>
            </a:solidFill>
          </a:ln>
        </p:spPr>
      </p:pic>
      <p:sp>
        <p:nvSpPr>
          <p:cNvPr id="20" name="TextBox 19">
            <a:extLst>
              <a:ext uri="{FF2B5EF4-FFF2-40B4-BE49-F238E27FC236}">
                <a16:creationId xmlns:a16="http://schemas.microsoft.com/office/drawing/2014/main" id="{4563D621-D6D3-6DEB-3073-7B6A95B09FB6}"/>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354756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FA792-4C58-24A0-64EC-EB740767178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9C9A9A-48F5-14D4-5B8B-8E6DA7BCE80A}"/>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out</a:t>
            </a:r>
            <a:r>
              <a:rPr lang="en-US"/>
              <a:t> a Nash Equilibrium?</a:t>
            </a:r>
          </a:p>
        </p:txBody>
      </p:sp>
      <p:sp>
        <p:nvSpPr>
          <p:cNvPr id="9" name="Oval 8">
            <a:extLst>
              <a:ext uri="{FF2B5EF4-FFF2-40B4-BE49-F238E27FC236}">
                <a16:creationId xmlns:a16="http://schemas.microsoft.com/office/drawing/2014/main" id="{A834BE18-0579-EDE9-A687-604C3AEF9547}"/>
              </a:ext>
            </a:extLst>
          </p:cNvPr>
          <p:cNvSpPr/>
          <p:nvPr/>
        </p:nvSpPr>
        <p:spPr>
          <a:xfrm>
            <a:off x="2933700" y="2181225"/>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D030750-3AD8-3F3D-E727-FC11F3A59DB2}"/>
              </a:ext>
            </a:extLst>
          </p:cNvPr>
          <p:cNvSpPr/>
          <p:nvPr/>
        </p:nvSpPr>
        <p:spPr>
          <a:xfrm>
            <a:off x="45339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7B930C2-18D6-07CE-75C9-ACEA8C6E573B}"/>
              </a:ext>
            </a:extLst>
          </p:cNvPr>
          <p:cNvSpPr/>
          <p:nvPr/>
        </p:nvSpPr>
        <p:spPr>
          <a:xfrm>
            <a:off x="49434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8C5DA33-7ABB-554B-28F3-EBF265EA030B}"/>
              </a:ext>
            </a:extLst>
          </p:cNvPr>
          <p:cNvSpPr/>
          <p:nvPr/>
        </p:nvSpPr>
        <p:spPr>
          <a:xfrm>
            <a:off x="53530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88E93F-B98A-9C15-C055-B0662CB65858}"/>
              </a:ext>
            </a:extLst>
          </p:cNvPr>
          <p:cNvSpPr/>
          <p:nvPr/>
        </p:nvSpPr>
        <p:spPr>
          <a:xfrm>
            <a:off x="57626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2F7E331-E7B1-E942-0FBE-12D2C5F0AC93}"/>
              </a:ext>
            </a:extLst>
          </p:cNvPr>
          <p:cNvSpPr/>
          <p:nvPr/>
        </p:nvSpPr>
        <p:spPr>
          <a:xfrm>
            <a:off x="61722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00F453C-4764-5536-40A1-3FDC0CC72119}"/>
              </a:ext>
            </a:extLst>
          </p:cNvPr>
          <p:cNvSpPr/>
          <p:nvPr/>
        </p:nvSpPr>
        <p:spPr>
          <a:xfrm>
            <a:off x="65817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41C57F0-F05B-C8B4-57B7-A24C9B1684A8}"/>
              </a:ext>
            </a:extLst>
          </p:cNvPr>
          <p:cNvSpPr/>
          <p:nvPr/>
        </p:nvSpPr>
        <p:spPr>
          <a:xfrm>
            <a:off x="69913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FBAA068-CB7D-CA78-8CD7-1A66ECD4389B}"/>
              </a:ext>
            </a:extLst>
          </p:cNvPr>
          <p:cNvSpPr/>
          <p:nvPr/>
        </p:nvSpPr>
        <p:spPr>
          <a:xfrm>
            <a:off x="74009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D898CFF-3071-CE33-DB25-1C6010C66C6F}"/>
              </a:ext>
            </a:extLst>
          </p:cNvPr>
          <p:cNvSpPr/>
          <p:nvPr/>
        </p:nvSpPr>
        <p:spPr>
          <a:xfrm>
            <a:off x="7810502"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2A50D2-53AE-BEB2-F19D-49DD2FFD77A2}"/>
              </a:ext>
            </a:extLst>
          </p:cNvPr>
          <p:cNvSpPr txBox="1"/>
          <p:nvPr/>
        </p:nvSpPr>
        <p:spPr>
          <a:xfrm>
            <a:off x="2933700" y="3686175"/>
            <a:ext cx="6781800" cy="1905000"/>
          </a:xfrm>
          <a:prstGeom prst="rect">
            <a:avLst/>
          </a:prstGeom>
          <a:noFill/>
          <a:ln w="38100">
            <a:solidFill>
              <a:schemeClr val="accent6"/>
            </a:solidFill>
          </a:ln>
        </p:spPr>
        <p:txBody>
          <a:bodyPr wrap="square" rtlCol="0">
            <a:noAutofit/>
          </a:bodyPr>
          <a:lstStyle/>
          <a:p>
            <a:r>
              <a:rPr lang="en-US" dirty="0"/>
              <a:t>If this is an NE, then for any one of the 10, doing </a:t>
            </a:r>
            <a:r>
              <a:rPr lang="en-US" i="1" dirty="0"/>
              <a:t>out </a:t>
            </a:r>
            <a:r>
              <a:rPr lang="en-US" dirty="0"/>
              <a:t>must be a best response to the expectation that the other 9 to </a:t>
            </a:r>
            <a:r>
              <a:rPr lang="en-US" i="1" dirty="0"/>
              <a:t>out</a:t>
            </a:r>
            <a:r>
              <a:rPr lang="en-US" dirty="0"/>
              <a:t>.</a:t>
            </a:r>
          </a:p>
          <a:p>
            <a:endParaRPr lang="en-US" dirty="0"/>
          </a:p>
          <a:p>
            <a:endParaRPr lang="en-US" dirty="0"/>
          </a:p>
          <a:p>
            <a:endParaRPr lang="en-US" dirty="0"/>
          </a:p>
        </p:txBody>
      </p:sp>
      <p:sp>
        <p:nvSpPr>
          <p:cNvPr id="3" name="TextBox 2">
            <a:extLst>
              <a:ext uri="{FF2B5EF4-FFF2-40B4-BE49-F238E27FC236}">
                <a16:creationId xmlns:a16="http://schemas.microsoft.com/office/drawing/2014/main" id="{3972DE05-7B50-3C49-571B-93437017F6E5}"/>
              </a:ext>
            </a:extLst>
          </p:cNvPr>
          <p:cNvSpPr txBox="1"/>
          <p:nvPr/>
        </p:nvSpPr>
        <p:spPr>
          <a:xfrm>
            <a:off x="3724275" y="2638425"/>
            <a:ext cx="3533775" cy="369332"/>
          </a:xfrm>
          <a:prstGeom prst="rect">
            <a:avLst/>
          </a:prstGeom>
          <a:noFill/>
        </p:spPr>
        <p:txBody>
          <a:bodyPr wrap="square" rtlCol="0">
            <a:spAutoFit/>
          </a:bodyPr>
          <a:lstStyle/>
          <a:p>
            <a:r>
              <a:rPr lang="en-US"/>
              <a:t>utility from </a:t>
            </a:r>
            <a:r>
              <a:rPr lang="en-US" i="1"/>
              <a:t>in</a:t>
            </a:r>
            <a:r>
              <a:rPr lang="en-US"/>
              <a:t> is -1</a:t>
            </a:r>
          </a:p>
        </p:txBody>
      </p:sp>
      <p:sp>
        <p:nvSpPr>
          <p:cNvPr id="6" name="TextBox 5">
            <a:extLst>
              <a:ext uri="{FF2B5EF4-FFF2-40B4-BE49-F238E27FC236}">
                <a16:creationId xmlns:a16="http://schemas.microsoft.com/office/drawing/2014/main" id="{0AAF9103-05C6-FC7A-FF33-A046C1C3A674}"/>
              </a:ext>
            </a:extLst>
          </p:cNvPr>
          <p:cNvSpPr txBox="1"/>
          <p:nvPr/>
        </p:nvSpPr>
        <p:spPr>
          <a:xfrm>
            <a:off x="3762375" y="3059075"/>
            <a:ext cx="3533775" cy="369332"/>
          </a:xfrm>
          <a:prstGeom prst="rect">
            <a:avLst/>
          </a:prstGeom>
          <a:noFill/>
        </p:spPr>
        <p:txBody>
          <a:bodyPr wrap="square" rtlCol="0">
            <a:spAutoFit/>
          </a:bodyPr>
          <a:lstStyle/>
          <a:p>
            <a:r>
              <a:rPr lang="en-US"/>
              <a:t>utility from </a:t>
            </a:r>
            <a:r>
              <a:rPr lang="en-US" i="1"/>
              <a:t>out</a:t>
            </a:r>
            <a:r>
              <a:rPr lang="en-US"/>
              <a:t> is 0</a:t>
            </a:r>
          </a:p>
        </p:txBody>
      </p:sp>
      <p:cxnSp>
        <p:nvCxnSpPr>
          <p:cNvPr id="8" name="Straight Arrow Connector 7">
            <a:extLst>
              <a:ext uri="{FF2B5EF4-FFF2-40B4-BE49-F238E27FC236}">
                <a16:creationId xmlns:a16="http://schemas.microsoft.com/office/drawing/2014/main" id="{C51BD71C-AF32-2ACA-A7D8-159E4512CF9C}"/>
              </a:ext>
            </a:extLst>
          </p:cNvPr>
          <p:cNvCxnSpPr>
            <a:stCxn id="9" idx="5"/>
            <a:endCxn id="3" idx="1"/>
          </p:cNvCxnSpPr>
          <p:nvPr/>
        </p:nvCxnSpPr>
        <p:spPr>
          <a:xfrm>
            <a:off x="3161343" y="2408868"/>
            <a:ext cx="562932" cy="41422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B4AA768-DC19-03A4-C650-FBEB62E00DD0}"/>
              </a:ext>
            </a:extLst>
          </p:cNvPr>
          <p:cNvCxnSpPr>
            <a:cxnSpLocks/>
            <a:stCxn id="9" idx="5"/>
            <a:endCxn id="6" idx="1"/>
          </p:cNvCxnSpPr>
          <p:nvPr/>
        </p:nvCxnSpPr>
        <p:spPr>
          <a:xfrm>
            <a:off x="3161343" y="2408868"/>
            <a:ext cx="601032" cy="83487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5DF1B4C-909E-E7E5-FCD5-91BAE0689038}"/>
              </a:ext>
            </a:extLst>
          </p:cNvPr>
          <p:cNvPicPr>
            <a:picLocks noChangeAspect="1"/>
          </p:cNvPicPr>
          <p:nvPr/>
        </p:nvPicPr>
        <p:blipFill>
          <a:blip r:embed="rId2"/>
          <a:stretch>
            <a:fillRect/>
          </a:stretch>
        </p:blipFill>
        <p:spPr>
          <a:xfrm>
            <a:off x="6678680" y="63499"/>
            <a:ext cx="5248276" cy="1514397"/>
          </a:xfrm>
          <a:prstGeom prst="rect">
            <a:avLst/>
          </a:prstGeom>
          <a:ln>
            <a:solidFill>
              <a:schemeClr val="accent1"/>
            </a:solidFill>
          </a:ln>
        </p:spPr>
      </p:pic>
      <p:cxnSp>
        <p:nvCxnSpPr>
          <p:cNvPr id="20" name="Straight Arrow Connector 19">
            <a:extLst>
              <a:ext uri="{FF2B5EF4-FFF2-40B4-BE49-F238E27FC236}">
                <a16:creationId xmlns:a16="http://schemas.microsoft.com/office/drawing/2014/main" id="{EAF6F355-D08E-23E1-E0E7-D09C2093ADA9}"/>
              </a:ext>
            </a:extLst>
          </p:cNvPr>
          <p:cNvCxnSpPr/>
          <p:nvPr/>
        </p:nvCxnSpPr>
        <p:spPr>
          <a:xfrm>
            <a:off x="5619750" y="2823091"/>
            <a:ext cx="819150" cy="23598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8A4FEBB-7767-48E9-4A95-F818B2DE04BC}"/>
              </a:ext>
            </a:extLst>
          </p:cNvPr>
          <p:cNvCxnSpPr>
            <a:cxnSpLocks/>
          </p:cNvCxnSpPr>
          <p:nvPr/>
        </p:nvCxnSpPr>
        <p:spPr>
          <a:xfrm flipV="1">
            <a:off x="5762625" y="3059075"/>
            <a:ext cx="676275" cy="18466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05349C-4551-0865-8450-C0BA04444F79}"/>
              </a:ext>
            </a:extLst>
          </p:cNvPr>
          <p:cNvSpPr txBox="1"/>
          <p:nvPr/>
        </p:nvSpPr>
        <p:spPr>
          <a:xfrm>
            <a:off x="6457950" y="2848750"/>
            <a:ext cx="3533775" cy="369332"/>
          </a:xfrm>
          <a:prstGeom prst="rect">
            <a:avLst/>
          </a:prstGeom>
          <a:noFill/>
        </p:spPr>
        <p:txBody>
          <a:bodyPr wrap="square" rtlCol="0">
            <a:spAutoFit/>
          </a:bodyPr>
          <a:lstStyle/>
          <a:p>
            <a:r>
              <a:rPr lang="en-US" i="1"/>
              <a:t>out</a:t>
            </a:r>
            <a:r>
              <a:rPr lang="en-US"/>
              <a:t> is a best response!</a:t>
            </a:r>
            <a:endParaRPr lang="en-US" i="1"/>
          </a:p>
        </p:txBody>
      </p:sp>
      <p:sp>
        <p:nvSpPr>
          <p:cNvPr id="23" name="TextBox 22">
            <a:extLst>
              <a:ext uri="{FF2B5EF4-FFF2-40B4-BE49-F238E27FC236}">
                <a16:creationId xmlns:a16="http://schemas.microsoft.com/office/drawing/2014/main" id="{5F7FCDD2-B2E2-6525-1E31-E990C274FF84}"/>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514513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C34FC-638F-8CB4-CC46-BB8A10F629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FC0D35C-31C0-2267-054B-42B1F1FAAA07}"/>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out</a:t>
            </a:r>
            <a:r>
              <a:rPr lang="en-US"/>
              <a:t> a Nash Equilibrium?</a:t>
            </a:r>
          </a:p>
        </p:txBody>
      </p:sp>
      <p:sp>
        <p:nvSpPr>
          <p:cNvPr id="9" name="Oval 8">
            <a:extLst>
              <a:ext uri="{FF2B5EF4-FFF2-40B4-BE49-F238E27FC236}">
                <a16:creationId xmlns:a16="http://schemas.microsoft.com/office/drawing/2014/main" id="{D91D2E2E-0279-4F4E-2AFA-925F9E3D1230}"/>
              </a:ext>
            </a:extLst>
          </p:cNvPr>
          <p:cNvSpPr/>
          <p:nvPr/>
        </p:nvSpPr>
        <p:spPr>
          <a:xfrm>
            <a:off x="2933700" y="2181225"/>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C294FA1-64AC-7B23-FC08-21CA6D473BAB}"/>
              </a:ext>
            </a:extLst>
          </p:cNvPr>
          <p:cNvSpPr/>
          <p:nvPr/>
        </p:nvSpPr>
        <p:spPr>
          <a:xfrm>
            <a:off x="45339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23EDA95-174A-DF17-30C8-D86A8E25B7DD}"/>
              </a:ext>
            </a:extLst>
          </p:cNvPr>
          <p:cNvSpPr/>
          <p:nvPr/>
        </p:nvSpPr>
        <p:spPr>
          <a:xfrm>
            <a:off x="49434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FDD0E39-A0B1-4FD2-5986-166D9B4865D2}"/>
              </a:ext>
            </a:extLst>
          </p:cNvPr>
          <p:cNvSpPr/>
          <p:nvPr/>
        </p:nvSpPr>
        <p:spPr>
          <a:xfrm>
            <a:off x="53530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C1B206C-1DD8-E035-AE40-5B72FDB95DB8}"/>
              </a:ext>
            </a:extLst>
          </p:cNvPr>
          <p:cNvSpPr/>
          <p:nvPr/>
        </p:nvSpPr>
        <p:spPr>
          <a:xfrm>
            <a:off x="57626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79E49B3-6CE4-ECD7-1AF4-B275A326C494}"/>
              </a:ext>
            </a:extLst>
          </p:cNvPr>
          <p:cNvSpPr/>
          <p:nvPr/>
        </p:nvSpPr>
        <p:spPr>
          <a:xfrm>
            <a:off x="617220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86E9561-64D3-BAF3-03DF-DF78F5008577}"/>
              </a:ext>
            </a:extLst>
          </p:cNvPr>
          <p:cNvSpPr/>
          <p:nvPr/>
        </p:nvSpPr>
        <p:spPr>
          <a:xfrm>
            <a:off x="658177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D3DBB77-359F-4805-80EC-FAE4362A71C4}"/>
              </a:ext>
            </a:extLst>
          </p:cNvPr>
          <p:cNvSpPr/>
          <p:nvPr/>
        </p:nvSpPr>
        <p:spPr>
          <a:xfrm>
            <a:off x="6991350"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C93B8B8-F530-A9F6-3003-3FD793F06BC2}"/>
              </a:ext>
            </a:extLst>
          </p:cNvPr>
          <p:cNvSpPr/>
          <p:nvPr/>
        </p:nvSpPr>
        <p:spPr>
          <a:xfrm>
            <a:off x="7400925"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8CAD59E-F011-8256-28A0-6A37A48C065E}"/>
              </a:ext>
            </a:extLst>
          </p:cNvPr>
          <p:cNvSpPr/>
          <p:nvPr/>
        </p:nvSpPr>
        <p:spPr>
          <a:xfrm>
            <a:off x="7810502" y="2181225"/>
            <a:ext cx="266700" cy="2667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B42E31-BE10-1F71-8C9F-242549721D56}"/>
              </a:ext>
            </a:extLst>
          </p:cNvPr>
          <p:cNvSpPr txBox="1"/>
          <p:nvPr/>
        </p:nvSpPr>
        <p:spPr>
          <a:xfrm>
            <a:off x="2933700" y="3686175"/>
            <a:ext cx="6781800" cy="1905000"/>
          </a:xfrm>
          <a:prstGeom prst="rect">
            <a:avLst/>
          </a:prstGeom>
          <a:noFill/>
          <a:ln w="38100">
            <a:solidFill>
              <a:schemeClr val="accent6"/>
            </a:solidFill>
          </a:ln>
        </p:spPr>
        <p:txBody>
          <a:bodyPr wrap="square" rtlCol="0">
            <a:noAutofit/>
          </a:bodyPr>
          <a:lstStyle/>
          <a:p>
            <a:r>
              <a:rPr lang="en-US" dirty="0"/>
              <a:t>If this is an NE, then for any one of the 10, doing </a:t>
            </a:r>
            <a:r>
              <a:rPr lang="en-US" i="1" dirty="0"/>
              <a:t>out </a:t>
            </a:r>
            <a:r>
              <a:rPr lang="en-US" dirty="0"/>
              <a:t>must be a best response to the expectation that the other 9 to </a:t>
            </a:r>
            <a:r>
              <a:rPr lang="en-US" i="1" dirty="0"/>
              <a:t>out</a:t>
            </a:r>
            <a:r>
              <a:rPr lang="en-US" dirty="0"/>
              <a:t>.</a:t>
            </a:r>
          </a:p>
          <a:p>
            <a:endParaRPr lang="en-US" dirty="0"/>
          </a:p>
          <a:p>
            <a:r>
              <a:rPr lang="en-US" dirty="0"/>
              <a:t>SO, this profile IS a Nash Equilibrium!</a:t>
            </a:r>
          </a:p>
          <a:p>
            <a:endParaRPr lang="en-US" dirty="0"/>
          </a:p>
        </p:txBody>
      </p:sp>
      <p:sp>
        <p:nvSpPr>
          <p:cNvPr id="3" name="TextBox 2">
            <a:extLst>
              <a:ext uri="{FF2B5EF4-FFF2-40B4-BE49-F238E27FC236}">
                <a16:creationId xmlns:a16="http://schemas.microsoft.com/office/drawing/2014/main" id="{72804315-564D-9D8A-74AF-5D2C8523E31F}"/>
              </a:ext>
            </a:extLst>
          </p:cNvPr>
          <p:cNvSpPr txBox="1"/>
          <p:nvPr/>
        </p:nvSpPr>
        <p:spPr>
          <a:xfrm>
            <a:off x="3724275" y="2638425"/>
            <a:ext cx="3533775" cy="369332"/>
          </a:xfrm>
          <a:prstGeom prst="rect">
            <a:avLst/>
          </a:prstGeom>
          <a:noFill/>
        </p:spPr>
        <p:txBody>
          <a:bodyPr wrap="square" rtlCol="0">
            <a:spAutoFit/>
          </a:bodyPr>
          <a:lstStyle/>
          <a:p>
            <a:r>
              <a:rPr lang="en-US"/>
              <a:t>utility from </a:t>
            </a:r>
            <a:r>
              <a:rPr lang="en-US" i="1"/>
              <a:t>in</a:t>
            </a:r>
            <a:r>
              <a:rPr lang="en-US"/>
              <a:t> is -1</a:t>
            </a:r>
          </a:p>
        </p:txBody>
      </p:sp>
      <p:sp>
        <p:nvSpPr>
          <p:cNvPr id="6" name="TextBox 5">
            <a:extLst>
              <a:ext uri="{FF2B5EF4-FFF2-40B4-BE49-F238E27FC236}">
                <a16:creationId xmlns:a16="http://schemas.microsoft.com/office/drawing/2014/main" id="{06FF0427-62B5-2A9A-82BE-13F4E9DEEB3D}"/>
              </a:ext>
            </a:extLst>
          </p:cNvPr>
          <p:cNvSpPr txBox="1"/>
          <p:nvPr/>
        </p:nvSpPr>
        <p:spPr>
          <a:xfrm>
            <a:off x="3762375" y="3059075"/>
            <a:ext cx="3533775" cy="369332"/>
          </a:xfrm>
          <a:prstGeom prst="rect">
            <a:avLst/>
          </a:prstGeom>
          <a:noFill/>
        </p:spPr>
        <p:txBody>
          <a:bodyPr wrap="square" rtlCol="0">
            <a:spAutoFit/>
          </a:bodyPr>
          <a:lstStyle/>
          <a:p>
            <a:r>
              <a:rPr lang="en-US"/>
              <a:t>utility from </a:t>
            </a:r>
            <a:r>
              <a:rPr lang="en-US" i="1"/>
              <a:t>out</a:t>
            </a:r>
            <a:r>
              <a:rPr lang="en-US"/>
              <a:t> is 0</a:t>
            </a:r>
          </a:p>
        </p:txBody>
      </p:sp>
      <p:cxnSp>
        <p:nvCxnSpPr>
          <p:cNvPr id="8" name="Straight Arrow Connector 7">
            <a:extLst>
              <a:ext uri="{FF2B5EF4-FFF2-40B4-BE49-F238E27FC236}">
                <a16:creationId xmlns:a16="http://schemas.microsoft.com/office/drawing/2014/main" id="{4640A959-4655-53CA-BF90-930454A5F7C3}"/>
              </a:ext>
            </a:extLst>
          </p:cNvPr>
          <p:cNvCxnSpPr>
            <a:stCxn id="9" idx="5"/>
            <a:endCxn id="3" idx="1"/>
          </p:cNvCxnSpPr>
          <p:nvPr/>
        </p:nvCxnSpPr>
        <p:spPr>
          <a:xfrm>
            <a:off x="3161343" y="2408868"/>
            <a:ext cx="562932" cy="41422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059ED01-C105-CA95-2DBE-9C27CF57D753}"/>
              </a:ext>
            </a:extLst>
          </p:cNvPr>
          <p:cNvCxnSpPr>
            <a:cxnSpLocks/>
            <a:stCxn id="9" idx="5"/>
            <a:endCxn id="6" idx="1"/>
          </p:cNvCxnSpPr>
          <p:nvPr/>
        </p:nvCxnSpPr>
        <p:spPr>
          <a:xfrm>
            <a:off x="3161343" y="2408868"/>
            <a:ext cx="601032" cy="83487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4DF7691-898C-4C16-C999-86783E5A6E5B}"/>
              </a:ext>
            </a:extLst>
          </p:cNvPr>
          <p:cNvCxnSpPr/>
          <p:nvPr/>
        </p:nvCxnSpPr>
        <p:spPr>
          <a:xfrm>
            <a:off x="5619750" y="2823091"/>
            <a:ext cx="819150" cy="23598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FC3392E-E027-3951-2882-B6DE8CCFF0E5}"/>
              </a:ext>
            </a:extLst>
          </p:cNvPr>
          <p:cNvCxnSpPr>
            <a:cxnSpLocks/>
          </p:cNvCxnSpPr>
          <p:nvPr/>
        </p:nvCxnSpPr>
        <p:spPr>
          <a:xfrm flipV="1">
            <a:off x="5762625" y="3059075"/>
            <a:ext cx="676275" cy="18466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DE5F50E-8C0C-E99E-C627-A856C5BB1D76}"/>
              </a:ext>
            </a:extLst>
          </p:cNvPr>
          <p:cNvSpPr txBox="1"/>
          <p:nvPr/>
        </p:nvSpPr>
        <p:spPr>
          <a:xfrm>
            <a:off x="6457950" y="2848750"/>
            <a:ext cx="3533775" cy="369332"/>
          </a:xfrm>
          <a:prstGeom prst="rect">
            <a:avLst/>
          </a:prstGeom>
          <a:noFill/>
        </p:spPr>
        <p:txBody>
          <a:bodyPr wrap="square" rtlCol="0">
            <a:spAutoFit/>
          </a:bodyPr>
          <a:lstStyle/>
          <a:p>
            <a:r>
              <a:rPr lang="en-US" i="1"/>
              <a:t>out</a:t>
            </a:r>
            <a:r>
              <a:rPr lang="en-US"/>
              <a:t> is a best response!</a:t>
            </a:r>
            <a:endParaRPr lang="en-US" i="1"/>
          </a:p>
        </p:txBody>
      </p:sp>
      <p:sp>
        <p:nvSpPr>
          <p:cNvPr id="23" name="TextBox 22">
            <a:extLst>
              <a:ext uri="{FF2B5EF4-FFF2-40B4-BE49-F238E27FC236}">
                <a16:creationId xmlns:a16="http://schemas.microsoft.com/office/drawing/2014/main" id="{0C22993F-DDEF-AE91-33A6-C7249201DB1D}"/>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3367477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D7691-104D-1F3C-339B-54CEA43BFE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837CD3-6493-C256-A143-6B2845D2A601}"/>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CD045D0C-B935-0EA3-DE9E-286245A9CAB8}"/>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89BE5927-B039-58E6-C840-6B2034F3ED7E}"/>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6" name="TextBox 5">
            <a:extLst>
              <a:ext uri="{FF2B5EF4-FFF2-40B4-BE49-F238E27FC236}">
                <a16:creationId xmlns:a16="http://schemas.microsoft.com/office/drawing/2014/main" id="{79A94B03-B23E-A7EE-7E9C-1689649CBB7D}"/>
              </a:ext>
            </a:extLst>
          </p:cNvPr>
          <p:cNvSpPr txBox="1"/>
          <p:nvPr/>
        </p:nvSpPr>
        <p:spPr>
          <a:xfrm>
            <a:off x="1447800" y="2074308"/>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ANY EXPECTATION IN WHICH AT LEAST ONE OTHER PERSON DOES </a:t>
            </a:r>
            <a:r>
              <a:rPr lang="en-US">
                <a:solidFill>
                  <a:schemeClr val="accent6"/>
                </a:solidFill>
                <a:sym typeface="Wingdings" panose="05000000000000000000" pitchFamily="2" charset="2"/>
              </a:rPr>
              <a:t>IN</a:t>
            </a:r>
            <a:endParaRPr lang="en-US">
              <a:solidFill>
                <a:schemeClr val="accent6"/>
              </a:solidFill>
            </a:endParaRPr>
          </a:p>
        </p:txBody>
      </p:sp>
      <p:sp>
        <p:nvSpPr>
          <p:cNvPr id="7" name="TextBox 6">
            <a:extLst>
              <a:ext uri="{FF2B5EF4-FFF2-40B4-BE49-F238E27FC236}">
                <a16:creationId xmlns:a16="http://schemas.microsoft.com/office/drawing/2014/main" id="{152D0E41-3CBB-291D-54B3-B2D91DD2549A}"/>
              </a:ext>
            </a:extLst>
          </p:cNvPr>
          <p:cNvSpPr txBox="1"/>
          <p:nvPr/>
        </p:nvSpPr>
        <p:spPr>
          <a:xfrm>
            <a:off x="1447800" y="2987159"/>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THE EXPECTATION IN WHICH ALL OTHER PERSONS DO </a:t>
            </a:r>
            <a:r>
              <a:rPr lang="en-US">
                <a:solidFill>
                  <a:schemeClr val="accent6"/>
                </a:solidFill>
                <a:sym typeface="Wingdings" panose="05000000000000000000" pitchFamily="2" charset="2"/>
              </a:rPr>
              <a:t>OUT</a:t>
            </a:r>
            <a:endParaRPr lang="en-US">
              <a:solidFill>
                <a:schemeClr val="accent6"/>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B814CD7-082F-E690-15F1-EE818866B62F}"/>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r>
                  <a:rPr lang="en-US"/>
                  <a:t>Is there a profile of actions that is a Nash Equilibrium in which...</a:t>
                </a:r>
              </a:p>
              <a:p>
                <a:endParaRPr lang="en-US"/>
              </a:p>
              <a:p>
                <a:pPr marL="285750" indent="-285750">
                  <a:buFont typeface="Arial" panose="020B0604020202020204" pitchFamily="34" charset="0"/>
                  <a:buChar char="•"/>
                </a:pPr>
                <a:r>
                  <a:rPr lang="en-US"/>
                  <a:t>...every one of the 10 persons do </a:t>
                </a:r>
                <a:r>
                  <a:rPr lang="en-US" i="1"/>
                  <a:t>out</a:t>
                </a:r>
                <a:r>
                  <a:rPr lang="en-US"/>
                  <a:t>?</a:t>
                </a:r>
                <a:br>
                  <a:rPr lang="en-US"/>
                </a:br>
                <a:endParaRPr lang="en-US"/>
              </a:p>
              <a:p>
                <a:pPr marL="285750" indent="-285750">
                  <a:buFont typeface="Arial" panose="020B0604020202020204" pitchFamily="34" charset="0"/>
                  <a:buChar char="•"/>
                </a:pPr>
                <a:r>
                  <a:rPr lang="en-US"/>
                  <a:t>...every one of the 10 persons do </a:t>
                </a:r>
                <a:r>
                  <a:rPr lang="en-US" i="1"/>
                  <a:t>in</a:t>
                </a:r>
                <a:r>
                  <a:rPr lang="en-US"/>
                  <a:t>?</a:t>
                </a:r>
                <a:br>
                  <a:rPr lang="en-US"/>
                </a:br>
                <a:endParaRPr lang="en-US"/>
              </a:p>
              <a:p>
                <a:pPr marL="285750" indent="-285750">
                  <a:buFont typeface="Arial" panose="020B0604020202020204" pitchFamily="34" charset="0"/>
                  <a:buChar char="•"/>
                </a:pPr>
                <a:r>
                  <a:rPr lang="en-US"/>
                  <a:t>...</a:t>
                </a:r>
                <a:r>
                  <a:rPr lang="en-US" i="1"/>
                  <a:t>K</a:t>
                </a:r>
                <a:r>
                  <a:rPr lang="en-US"/>
                  <a:t> of the 10 persons do </a:t>
                </a:r>
                <a:r>
                  <a:rPr lang="en-US" i="1"/>
                  <a:t>in</a:t>
                </a:r>
                <a:r>
                  <a:rPr lang="en-US"/>
                  <a:t>, where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≤9</m:t>
                    </m:r>
                  </m:oMath>
                </a14:m>
                <a:r>
                  <a:rPr lang="en-US"/>
                  <a:t>?</a:t>
                </a:r>
              </a:p>
            </p:txBody>
          </p:sp>
        </mc:Choice>
        <mc:Fallback xmlns="">
          <p:sp>
            <p:nvSpPr>
              <p:cNvPr id="8" name="TextBox 7">
                <a:extLst>
                  <a:ext uri="{FF2B5EF4-FFF2-40B4-BE49-F238E27FC236}">
                    <a16:creationId xmlns:a16="http://schemas.microsoft.com/office/drawing/2014/main" id="{1B814CD7-082F-E690-15F1-EE818866B62F}"/>
                  </a:ext>
                </a:extLst>
              </p:cNvPr>
              <p:cNvSpPr txBox="1">
                <a:spLocks noRot="1" noChangeAspect="1" noMove="1" noResize="1" noEditPoints="1" noAdjustHandles="1" noChangeArrowheads="1" noChangeShapeType="1" noTextEdit="1"/>
              </p:cNvSpPr>
              <p:nvPr/>
            </p:nvSpPr>
            <p:spPr>
              <a:xfrm>
                <a:off x="723900" y="4292316"/>
                <a:ext cx="10848975" cy="2486025"/>
              </a:xfrm>
              <a:prstGeom prst="rect">
                <a:avLst/>
              </a:prstGeom>
              <a:blipFill>
                <a:blip r:embed="rId2"/>
                <a:stretch>
                  <a:fillRect l="-336" t="-483"/>
                </a:stretch>
              </a:blipFill>
              <a:ln w="38100">
                <a:solidFill>
                  <a:schemeClr val="accent6"/>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CEBEAA4B-CB6A-BD48-B3FA-9FD1B7C59CC0}"/>
              </a:ext>
            </a:extLst>
          </p:cNvPr>
          <p:cNvSpPr txBox="1"/>
          <p:nvPr/>
        </p:nvSpPr>
        <p:spPr>
          <a:xfrm>
            <a:off x="4698206" y="4818100"/>
            <a:ext cx="719138"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YES</a:t>
            </a:r>
          </a:p>
        </p:txBody>
      </p:sp>
      <p:sp>
        <p:nvSpPr>
          <p:cNvPr id="10" name="TextBox 9">
            <a:extLst>
              <a:ext uri="{FF2B5EF4-FFF2-40B4-BE49-F238E27FC236}">
                <a16:creationId xmlns:a16="http://schemas.microsoft.com/office/drawing/2014/main" id="{BE490EB8-3907-9505-1582-5A1CBF88CBDF}"/>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476029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541E-F26A-D749-559C-1AC8B10A80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15C90B-62DE-008D-6ED7-1C4514E04231}"/>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in</a:t>
            </a:r>
            <a:r>
              <a:rPr lang="en-US"/>
              <a:t> a Nash Equilibrium?</a:t>
            </a:r>
          </a:p>
        </p:txBody>
      </p:sp>
      <p:sp>
        <p:nvSpPr>
          <p:cNvPr id="3" name="TextBox 2">
            <a:extLst>
              <a:ext uri="{FF2B5EF4-FFF2-40B4-BE49-F238E27FC236}">
                <a16:creationId xmlns:a16="http://schemas.microsoft.com/office/drawing/2014/main" id="{50165BC9-CC07-492A-73DF-4A16785C38CE}"/>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1073891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8DBCA-0DD5-DA5F-6D66-DF6FAF58FD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C467B7-76B0-8D87-9BBC-5902E214F746}"/>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in</a:t>
            </a:r>
            <a:r>
              <a:rPr lang="en-US"/>
              <a:t> a Nash Equilibrium?</a:t>
            </a:r>
          </a:p>
        </p:txBody>
      </p:sp>
      <p:sp>
        <p:nvSpPr>
          <p:cNvPr id="3" name="Oval 2">
            <a:extLst>
              <a:ext uri="{FF2B5EF4-FFF2-40B4-BE49-F238E27FC236}">
                <a16:creationId xmlns:a16="http://schemas.microsoft.com/office/drawing/2014/main" id="{8CA239BD-BF95-F131-817B-D7FDE778FEC7}"/>
              </a:ext>
            </a:extLst>
          </p:cNvPr>
          <p:cNvSpPr/>
          <p:nvPr/>
        </p:nvSpPr>
        <p:spPr>
          <a:xfrm>
            <a:off x="41243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9B83E75-16BB-795E-0BCF-AB362FF373A6}"/>
              </a:ext>
            </a:extLst>
          </p:cNvPr>
          <p:cNvSpPr/>
          <p:nvPr/>
        </p:nvSpPr>
        <p:spPr>
          <a:xfrm>
            <a:off x="45339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4B01860-2D95-6881-804C-727BAC40E65A}"/>
              </a:ext>
            </a:extLst>
          </p:cNvPr>
          <p:cNvSpPr/>
          <p:nvPr/>
        </p:nvSpPr>
        <p:spPr>
          <a:xfrm>
            <a:off x="49434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6E883D0-CBA7-12B3-5962-11972670A05D}"/>
              </a:ext>
            </a:extLst>
          </p:cNvPr>
          <p:cNvSpPr/>
          <p:nvPr/>
        </p:nvSpPr>
        <p:spPr>
          <a:xfrm>
            <a:off x="53530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AFBB84D-9BB1-E70D-F75A-9709645F6F7C}"/>
              </a:ext>
            </a:extLst>
          </p:cNvPr>
          <p:cNvSpPr/>
          <p:nvPr/>
        </p:nvSpPr>
        <p:spPr>
          <a:xfrm>
            <a:off x="57626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51D2D6D-1027-7A41-C576-EDBC8C9C1CB6}"/>
              </a:ext>
            </a:extLst>
          </p:cNvPr>
          <p:cNvSpPr/>
          <p:nvPr/>
        </p:nvSpPr>
        <p:spPr>
          <a:xfrm>
            <a:off x="61722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DCDAB68-9B17-186F-924C-A694263AD477}"/>
              </a:ext>
            </a:extLst>
          </p:cNvPr>
          <p:cNvSpPr/>
          <p:nvPr/>
        </p:nvSpPr>
        <p:spPr>
          <a:xfrm>
            <a:off x="65817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188725A-8211-2C4A-04FB-5E701D1407AB}"/>
              </a:ext>
            </a:extLst>
          </p:cNvPr>
          <p:cNvSpPr/>
          <p:nvPr/>
        </p:nvSpPr>
        <p:spPr>
          <a:xfrm>
            <a:off x="69913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3DC521E-FB63-0DEB-640C-1AA0F7024A39}"/>
              </a:ext>
            </a:extLst>
          </p:cNvPr>
          <p:cNvSpPr/>
          <p:nvPr/>
        </p:nvSpPr>
        <p:spPr>
          <a:xfrm>
            <a:off x="74009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74EB3B9-CD7A-E7CE-CFF2-6D991146CB15}"/>
              </a:ext>
            </a:extLst>
          </p:cNvPr>
          <p:cNvSpPr/>
          <p:nvPr/>
        </p:nvSpPr>
        <p:spPr>
          <a:xfrm>
            <a:off x="7810502"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76E1608-8D04-81A1-C055-B84BDECE8790}"/>
              </a:ext>
            </a:extLst>
          </p:cNvPr>
          <p:cNvSpPr txBox="1"/>
          <p:nvPr/>
        </p:nvSpPr>
        <p:spPr>
          <a:xfrm rot="1947986">
            <a:off x="7292627" y="1890745"/>
            <a:ext cx="2686048" cy="369332"/>
          </a:xfrm>
          <a:prstGeom prst="rect">
            <a:avLst/>
          </a:prstGeom>
          <a:noFill/>
        </p:spPr>
        <p:txBody>
          <a:bodyPr wrap="square" rtlCol="0">
            <a:spAutoFit/>
          </a:bodyPr>
          <a:lstStyle/>
          <a:p>
            <a:pPr algn="ctr"/>
            <a:r>
              <a:rPr lang="en-US"/>
              <a:t>all 10 do </a:t>
            </a:r>
            <a:r>
              <a:rPr lang="en-US" i="1"/>
              <a:t>in</a:t>
            </a:r>
            <a:endParaRPr lang="en-US"/>
          </a:p>
        </p:txBody>
      </p:sp>
      <p:sp>
        <p:nvSpPr>
          <p:cNvPr id="15" name="TextBox 14">
            <a:extLst>
              <a:ext uri="{FF2B5EF4-FFF2-40B4-BE49-F238E27FC236}">
                <a16:creationId xmlns:a16="http://schemas.microsoft.com/office/drawing/2014/main" id="{E997D7E1-6166-A51E-9524-7E6CB17B09AD}"/>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9293354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7039C-B2DB-2B8F-16C3-49BDF81F70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4B2B46B-E139-3CEE-0D40-097BFD4A410F}"/>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in</a:t>
            </a:r>
            <a:r>
              <a:rPr lang="en-US"/>
              <a:t> a Nash Equilibrium?</a:t>
            </a:r>
          </a:p>
        </p:txBody>
      </p:sp>
      <p:sp>
        <p:nvSpPr>
          <p:cNvPr id="3" name="Oval 2">
            <a:extLst>
              <a:ext uri="{FF2B5EF4-FFF2-40B4-BE49-F238E27FC236}">
                <a16:creationId xmlns:a16="http://schemas.microsoft.com/office/drawing/2014/main" id="{9A10E4BF-F7CB-A4DA-4B9E-B14462B472E8}"/>
              </a:ext>
            </a:extLst>
          </p:cNvPr>
          <p:cNvSpPr/>
          <p:nvPr/>
        </p:nvSpPr>
        <p:spPr>
          <a:xfrm>
            <a:off x="2743203" y="2181225"/>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2524EA2-C005-8A70-2342-C605C9780DDE}"/>
              </a:ext>
            </a:extLst>
          </p:cNvPr>
          <p:cNvSpPr/>
          <p:nvPr/>
        </p:nvSpPr>
        <p:spPr>
          <a:xfrm>
            <a:off x="45339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8276272-9436-6D63-26F2-AE909D8B59B2}"/>
              </a:ext>
            </a:extLst>
          </p:cNvPr>
          <p:cNvSpPr/>
          <p:nvPr/>
        </p:nvSpPr>
        <p:spPr>
          <a:xfrm>
            <a:off x="49434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6545E3C-06B7-E9CF-AEA4-D790F103E6B1}"/>
              </a:ext>
            </a:extLst>
          </p:cNvPr>
          <p:cNvSpPr/>
          <p:nvPr/>
        </p:nvSpPr>
        <p:spPr>
          <a:xfrm>
            <a:off x="53530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32B6C29-3003-5389-AB20-19AD4639E663}"/>
              </a:ext>
            </a:extLst>
          </p:cNvPr>
          <p:cNvSpPr/>
          <p:nvPr/>
        </p:nvSpPr>
        <p:spPr>
          <a:xfrm>
            <a:off x="57626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207748E-AEB3-3F2C-B86A-01F2CC63437A}"/>
              </a:ext>
            </a:extLst>
          </p:cNvPr>
          <p:cNvSpPr/>
          <p:nvPr/>
        </p:nvSpPr>
        <p:spPr>
          <a:xfrm>
            <a:off x="61722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B72C4EA-4CD5-CF48-5CAF-BD4FA041BDD0}"/>
              </a:ext>
            </a:extLst>
          </p:cNvPr>
          <p:cNvSpPr/>
          <p:nvPr/>
        </p:nvSpPr>
        <p:spPr>
          <a:xfrm>
            <a:off x="65817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08B2C88-FCD6-AF84-A876-9D34937AE0E4}"/>
              </a:ext>
            </a:extLst>
          </p:cNvPr>
          <p:cNvSpPr/>
          <p:nvPr/>
        </p:nvSpPr>
        <p:spPr>
          <a:xfrm>
            <a:off x="69913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F013DC1-80F2-083C-5880-1230E04B2752}"/>
              </a:ext>
            </a:extLst>
          </p:cNvPr>
          <p:cNvSpPr/>
          <p:nvPr/>
        </p:nvSpPr>
        <p:spPr>
          <a:xfrm>
            <a:off x="74009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B9846F5-0BA4-189A-6490-BAD23AADD74F}"/>
              </a:ext>
            </a:extLst>
          </p:cNvPr>
          <p:cNvSpPr/>
          <p:nvPr/>
        </p:nvSpPr>
        <p:spPr>
          <a:xfrm>
            <a:off x="7810502"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EF84C81-6C67-62CA-B1F3-12C37B90A938}"/>
              </a:ext>
            </a:extLst>
          </p:cNvPr>
          <p:cNvSpPr txBox="1"/>
          <p:nvPr/>
        </p:nvSpPr>
        <p:spPr>
          <a:xfrm>
            <a:off x="2933700" y="3686175"/>
            <a:ext cx="6781800" cy="1905000"/>
          </a:xfrm>
          <a:prstGeom prst="rect">
            <a:avLst/>
          </a:prstGeom>
          <a:noFill/>
          <a:ln w="38100">
            <a:solidFill>
              <a:schemeClr val="accent6"/>
            </a:solidFill>
          </a:ln>
        </p:spPr>
        <p:txBody>
          <a:bodyPr wrap="square" rtlCol="0">
            <a:noAutofit/>
          </a:bodyPr>
          <a:lstStyle/>
          <a:p>
            <a:r>
              <a:rPr lang="en-US"/>
              <a:t>If this is an NE, then for any one of the 10, doing </a:t>
            </a:r>
            <a:r>
              <a:rPr lang="en-US" i="1"/>
              <a:t>in </a:t>
            </a:r>
            <a:r>
              <a:rPr lang="en-US"/>
              <a:t>must be a best response to the expectation that the other 9 to </a:t>
            </a:r>
            <a:r>
              <a:rPr lang="en-US" i="1"/>
              <a:t>in</a:t>
            </a:r>
            <a:r>
              <a:rPr lang="en-US"/>
              <a:t>.</a:t>
            </a:r>
          </a:p>
          <a:p>
            <a:endParaRPr lang="en-US"/>
          </a:p>
          <a:p>
            <a:endParaRPr lang="en-US"/>
          </a:p>
        </p:txBody>
      </p:sp>
      <p:sp>
        <p:nvSpPr>
          <p:cNvPr id="14" name="TextBox 13">
            <a:extLst>
              <a:ext uri="{FF2B5EF4-FFF2-40B4-BE49-F238E27FC236}">
                <a16:creationId xmlns:a16="http://schemas.microsoft.com/office/drawing/2014/main" id="{DC1C1847-3DBF-9503-37A1-DEF3AC6F636C}"/>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22293869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455B9-80DD-691F-CD74-65ABB50DE2D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9466C8-1D90-DC15-63DD-83411B7EFA9B}"/>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in</a:t>
            </a:r>
            <a:r>
              <a:rPr lang="en-US"/>
              <a:t> a Nash Equilibrium?</a:t>
            </a:r>
          </a:p>
        </p:txBody>
      </p:sp>
      <p:sp>
        <p:nvSpPr>
          <p:cNvPr id="3" name="Oval 2">
            <a:extLst>
              <a:ext uri="{FF2B5EF4-FFF2-40B4-BE49-F238E27FC236}">
                <a16:creationId xmlns:a16="http://schemas.microsoft.com/office/drawing/2014/main" id="{CFC3D0B2-F74C-A33E-6579-1978CF20D3F2}"/>
              </a:ext>
            </a:extLst>
          </p:cNvPr>
          <p:cNvSpPr/>
          <p:nvPr/>
        </p:nvSpPr>
        <p:spPr>
          <a:xfrm>
            <a:off x="2743203" y="2181225"/>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5BD9727-CF76-F277-864E-89735F915A6E}"/>
              </a:ext>
            </a:extLst>
          </p:cNvPr>
          <p:cNvSpPr/>
          <p:nvPr/>
        </p:nvSpPr>
        <p:spPr>
          <a:xfrm>
            <a:off x="45339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D6150A2-5699-90BD-93B1-6D130C8D214B}"/>
              </a:ext>
            </a:extLst>
          </p:cNvPr>
          <p:cNvSpPr/>
          <p:nvPr/>
        </p:nvSpPr>
        <p:spPr>
          <a:xfrm>
            <a:off x="49434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7469C80-A0B8-8212-1E45-B5758F7D2312}"/>
              </a:ext>
            </a:extLst>
          </p:cNvPr>
          <p:cNvSpPr/>
          <p:nvPr/>
        </p:nvSpPr>
        <p:spPr>
          <a:xfrm>
            <a:off x="53530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9983DBC-AE79-EA25-D8D1-D491A29B43C2}"/>
              </a:ext>
            </a:extLst>
          </p:cNvPr>
          <p:cNvSpPr/>
          <p:nvPr/>
        </p:nvSpPr>
        <p:spPr>
          <a:xfrm>
            <a:off x="57626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3DD555A-CAE0-1936-8C39-78E8EDC88CE0}"/>
              </a:ext>
            </a:extLst>
          </p:cNvPr>
          <p:cNvSpPr/>
          <p:nvPr/>
        </p:nvSpPr>
        <p:spPr>
          <a:xfrm>
            <a:off x="61722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D32AD25-71DE-AA0B-6DD7-F44849C8C9D1}"/>
              </a:ext>
            </a:extLst>
          </p:cNvPr>
          <p:cNvSpPr/>
          <p:nvPr/>
        </p:nvSpPr>
        <p:spPr>
          <a:xfrm>
            <a:off x="65817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7BAACA0-38A9-21C6-9E29-063C693868B5}"/>
              </a:ext>
            </a:extLst>
          </p:cNvPr>
          <p:cNvSpPr/>
          <p:nvPr/>
        </p:nvSpPr>
        <p:spPr>
          <a:xfrm>
            <a:off x="69913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C4425F7-1F59-D50A-86E1-16D69EA2C5F8}"/>
              </a:ext>
            </a:extLst>
          </p:cNvPr>
          <p:cNvSpPr/>
          <p:nvPr/>
        </p:nvSpPr>
        <p:spPr>
          <a:xfrm>
            <a:off x="74009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2CE7AE1-6908-DB9A-012D-33FC7D0B80BC}"/>
              </a:ext>
            </a:extLst>
          </p:cNvPr>
          <p:cNvSpPr/>
          <p:nvPr/>
        </p:nvSpPr>
        <p:spPr>
          <a:xfrm>
            <a:off x="7810502"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0B8027B-7C1E-3F86-BB7E-9CC610A1CF80}"/>
              </a:ext>
            </a:extLst>
          </p:cNvPr>
          <p:cNvSpPr txBox="1"/>
          <p:nvPr/>
        </p:nvSpPr>
        <p:spPr>
          <a:xfrm>
            <a:off x="2933700" y="3686175"/>
            <a:ext cx="6781800" cy="1905000"/>
          </a:xfrm>
          <a:prstGeom prst="rect">
            <a:avLst/>
          </a:prstGeom>
          <a:noFill/>
          <a:ln w="38100">
            <a:solidFill>
              <a:schemeClr val="accent6"/>
            </a:solidFill>
          </a:ln>
        </p:spPr>
        <p:txBody>
          <a:bodyPr wrap="square" rtlCol="0">
            <a:noAutofit/>
          </a:bodyPr>
          <a:lstStyle/>
          <a:p>
            <a:r>
              <a:rPr lang="en-US"/>
              <a:t>If this is an NE, then for any one of the 10, doing </a:t>
            </a:r>
            <a:r>
              <a:rPr lang="en-US" i="1"/>
              <a:t>in </a:t>
            </a:r>
            <a:r>
              <a:rPr lang="en-US"/>
              <a:t>must be a best response to the expectation that the other 9 to </a:t>
            </a:r>
            <a:r>
              <a:rPr lang="en-US" i="1"/>
              <a:t>in</a:t>
            </a:r>
            <a:r>
              <a:rPr lang="en-US"/>
              <a:t>.</a:t>
            </a:r>
          </a:p>
          <a:p>
            <a:endParaRPr lang="en-US"/>
          </a:p>
          <a:p>
            <a:endParaRPr lang="en-US"/>
          </a:p>
        </p:txBody>
      </p:sp>
      <p:sp>
        <p:nvSpPr>
          <p:cNvPr id="14" name="TextBox 13">
            <a:extLst>
              <a:ext uri="{FF2B5EF4-FFF2-40B4-BE49-F238E27FC236}">
                <a16:creationId xmlns:a16="http://schemas.microsoft.com/office/drawing/2014/main" id="{9E1E5A87-7F2B-5864-5279-E36DC7A63898}"/>
              </a:ext>
            </a:extLst>
          </p:cNvPr>
          <p:cNvSpPr txBox="1"/>
          <p:nvPr/>
        </p:nvSpPr>
        <p:spPr>
          <a:xfrm>
            <a:off x="3724275" y="2638425"/>
            <a:ext cx="3533775" cy="369332"/>
          </a:xfrm>
          <a:prstGeom prst="rect">
            <a:avLst/>
          </a:prstGeom>
          <a:noFill/>
        </p:spPr>
        <p:txBody>
          <a:bodyPr wrap="square" rtlCol="0">
            <a:spAutoFit/>
          </a:bodyPr>
          <a:lstStyle/>
          <a:p>
            <a:r>
              <a:rPr lang="en-US"/>
              <a:t>utility from </a:t>
            </a:r>
            <a:r>
              <a:rPr lang="en-US" i="1"/>
              <a:t>in</a:t>
            </a:r>
            <a:r>
              <a:rPr lang="en-US"/>
              <a:t> is 1</a:t>
            </a:r>
          </a:p>
        </p:txBody>
      </p:sp>
      <p:sp>
        <p:nvSpPr>
          <p:cNvPr id="16" name="TextBox 15">
            <a:extLst>
              <a:ext uri="{FF2B5EF4-FFF2-40B4-BE49-F238E27FC236}">
                <a16:creationId xmlns:a16="http://schemas.microsoft.com/office/drawing/2014/main" id="{20817CCB-640D-8BC7-ACD7-E9525FEA067B}"/>
              </a:ext>
            </a:extLst>
          </p:cNvPr>
          <p:cNvSpPr txBox="1"/>
          <p:nvPr/>
        </p:nvSpPr>
        <p:spPr>
          <a:xfrm>
            <a:off x="3762375" y="3059075"/>
            <a:ext cx="3533775" cy="369332"/>
          </a:xfrm>
          <a:prstGeom prst="rect">
            <a:avLst/>
          </a:prstGeom>
          <a:noFill/>
        </p:spPr>
        <p:txBody>
          <a:bodyPr wrap="square" rtlCol="0">
            <a:spAutoFit/>
          </a:bodyPr>
          <a:lstStyle/>
          <a:p>
            <a:r>
              <a:rPr lang="en-US"/>
              <a:t>utility from </a:t>
            </a:r>
            <a:r>
              <a:rPr lang="en-US" i="1"/>
              <a:t>out</a:t>
            </a:r>
            <a:r>
              <a:rPr lang="en-US"/>
              <a:t> is 0</a:t>
            </a:r>
          </a:p>
        </p:txBody>
      </p:sp>
      <p:cxnSp>
        <p:nvCxnSpPr>
          <p:cNvPr id="17" name="Straight Arrow Connector 16">
            <a:extLst>
              <a:ext uri="{FF2B5EF4-FFF2-40B4-BE49-F238E27FC236}">
                <a16:creationId xmlns:a16="http://schemas.microsoft.com/office/drawing/2014/main" id="{E624A701-16DD-062F-5EA1-A7ACE4F80609}"/>
              </a:ext>
            </a:extLst>
          </p:cNvPr>
          <p:cNvCxnSpPr>
            <a:endCxn id="14" idx="1"/>
          </p:cNvCxnSpPr>
          <p:nvPr/>
        </p:nvCxnSpPr>
        <p:spPr>
          <a:xfrm>
            <a:off x="3161343" y="2408868"/>
            <a:ext cx="562932" cy="41422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2C3FCC0-D0AE-1D46-29D2-5271107A5BD2}"/>
              </a:ext>
            </a:extLst>
          </p:cNvPr>
          <p:cNvCxnSpPr>
            <a:cxnSpLocks/>
            <a:endCxn id="16" idx="1"/>
          </p:cNvCxnSpPr>
          <p:nvPr/>
        </p:nvCxnSpPr>
        <p:spPr>
          <a:xfrm>
            <a:off x="3161343" y="2408868"/>
            <a:ext cx="601032" cy="83487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D4331C08-B54D-71C7-9278-6672C9AF09D5}"/>
              </a:ext>
            </a:extLst>
          </p:cNvPr>
          <p:cNvPicPr>
            <a:picLocks noChangeAspect="1"/>
          </p:cNvPicPr>
          <p:nvPr/>
        </p:nvPicPr>
        <p:blipFill>
          <a:blip r:embed="rId2"/>
          <a:stretch>
            <a:fillRect/>
          </a:stretch>
        </p:blipFill>
        <p:spPr>
          <a:xfrm>
            <a:off x="6678680" y="63499"/>
            <a:ext cx="5248276" cy="1514397"/>
          </a:xfrm>
          <a:prstGeom prst="rect">
            <a:avLst/>
          </a:prstGeom>
          <a:ln>
            <a:solidFill>
              <a:schemeClr val="accent1"/>
            </a:solidFill>
          </a:ln>
        </p:spPr>
      </p:pic>
      <p:sp>
        <p:nvSpPr>
          <p:cNvPr id="20" name="TextBox 19">
            <a:extLst>
              <a:ext uri="{FF2B5EF4-FFF2-40B4-BE49-F238E27FC236}">
                <a16:creationId xmlns:a16="http://schemas.microsoft.com/office/drawing/2014/main" id="{A494AD8E-A988-F4C6-1F38-818B81BF822A}"/>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16211868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9F530-A59B-EA34-05DC-C14AA3E302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9ACB35-F0F1-637B-ACED-6A54CB7390B3}"/>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in</a:t>
            </a:r>
            <a:r>
              <a:rPr lang="en-US"/>
              <a:t> a Nash Equilibrium?</a:t>
            </a:r>
          </a:p>
        </p:txBody>
      </p:sp>
      <p:sp>
        <p:nvSpPr>
          <p:cNvPr id="3" name="Oval 2">
            <a:extLst>
              <a:ext uri="{FF2B5EF4-FFF2-40B4-BE49-F238E27FC236}">
                <a16:creationId xmlns:a16="http://schemas.microsoft.com/office/drawing/2014/main" id="{54B425E8-D109-EC58-A2AA-483A533B87CA}"/>
              </a:ext>
            </a:extLst>
          </p:cNvPr>
          <p:cNvSpPr/>
          <p:nvPr/>
        </p:nvSpPr>
        <p:spPr>
          <a:xfrm>
            <a:off x="2743203" y="2181225"/>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E37DAC6-FF1B-E73B-11E2-51A66C21D39E}"/>
              </a:ext>
            </a:extLst>
          </p:cNvPr>
          <p:cNvSpPr/>
          <p:nvPr/>
        </p:nvSpPr>
        <p:spPr>
          <a:xfrm>
            <a:off x="45339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B88C7D7-CDEF-FBC8-AC01-B204C527E4B2}"/>
              </a:ext>
            </a:extLst>
          </p:cNvPr>
          <p:cNvSpPr/>
          <p:nvPr/>
        </p:nvSpPr>
        <p:spPr>
          <a:xfrm>
            <a:off x="49434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4FAEE8B-1902-D160-D0EF-C83A70FF4A8E}"/>
              </a:ext>
            </a:extLst>
          </p:cNvPr>
          <p:cNvSpPr/>
          <p:nvPr/>
        </p:nvSpPr>
        <p:spPr>
          <a:xfrm>
            <a:off x="53530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811FAA3-3E4E-D713-00CF-F8034ED3AE97}"/>
              </a:ext>
            </a:extLst>
          </p:cNvPr>
          <p:cNvSpPr/>
          <p:nvPr/>
        </p:nvSpPr>
        <p:spPr>
          <a:xfrm>
            <a:off x="57626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C00AE59-6E8F-2437-0CD4-D02BF58F0071}"/>
              </a:ext>
            </a:extLst>
          </p:cNvPr>
          <p:cNvSpPr/>
          <p:nvPr/>
        </p:nvSpPr>
        <p:spPr>
          <a:xfrm>
            <a:off x="61722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5558A0F-3394-E21F-E05B-E09B95B1DF07}"/>
              </a:ext>
            </a:extLst>
          </p:cNvPr>
          <p:cNvSpPr/>
          <p:nvPr/>
        </p:nvSpPr>
        <p:spPr>
          <a:xfrm>
            <a:off x="65817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6D19B4A-8BBB-4237-D283-0FB7A5EF0596}"/>
              </a:ext>
            </a:extLst>
          </p:cNvPr>
          <p:cNvSpPr/>
          <p:nvPr/>
        </p:nvSpPr>
        <p:spPr>
          <a:xfrm>
            <a:off x="69913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A37583D-11CC-F8DC-384A-72DA12959D0C}"/>
              </a:ext>
            </a:extLst>
          </p:cNvPr>
          <p:cNvSpPr/>
          <p:nvPr/>
        </p:nvSpPr>
        <p:spPr>
          <a:xfrm>
            <a:off x="74009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8039AEF-FF00-4E73-063E-3F6043FCC02B}"/>
              </a:ext>
            </a:extLst>
          </p:cNvPr>
          <p:cNvSpPr/>
          <p:nvPr/>
        </p:nvSpPr>
        <p:spPr>
          <a:xfrm>
            <a:off x="7810502"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B48A434-65E5-0B54-82BC-3A2C7149D29C}"/>
              </a:ext>
            </a:extLst>
          </p:cNvPr>
          <p:cNvSpPr txBox="1"/>
          <p:nvPr/>
        </p:nvSpPr>
        <p:spPr>
          <a:xfrm>
            <a:off x="2933700" y="3686175"/>
            <a:ext cx="6781800" cy="1905000"/>
          </a:xfrm>
          <a:prstGeom prst="rect">
            <a:avLst/>
          </a:prstGeom>
          <a:noFill/>
          <a:ln w="38100">
            <a:solidFill>
              <a:schemeClr val="accent6"/>
            </a:solidFill>
          </a:ln>
        </p:spPr>
        <p:txBody>
          <a:bodyPr wrap="square" rtlCol="0">
            <a:noAutofit/>
          </a:bodyPr>
          <a:lstStyle/>
          <a:p>
            <a:r>
              <a:rPr lang="en-US"/>
              <a:t>If this is an NE, then for any one of the 10, doing </a:t>
            </a:r>
            <a:r>
              <a:rPr lang="en-US" i="1"/>
              <a:t>in </a:t>
            </a:r>
            <a:r>
              <a:rPr lang="en-US"/>
              <a:t>must be a best response to the expectation that the other 9 to </a:t>
            </a:r>
            <a:r>
              <a:rPr lang="en-US" i="1"/>
              <a:t>in</a:t>
            </a:r>
            <a:r>
              <a:rPr lang="en-US"/>
              <a:t>.</a:t>
            </a:r>
          </a:p>
          <a:p>
            <a:endParaRPr lang="en-US"/>
          </a:p>
          <a:p>
            <a:endParaRPr lang="en-US"/>
          </a:p>
        </p:txBody>
      </p:sp>
      <p:sp>
        <p:nvSpPr>
          <p:cNvPr id="14" name="TextBox 13">
            <a:extLst>
              <a:ext uri="{FF2B5EF4-FFF2-40B4-BE49-F238E27FC236}">
                <a16:creationId xmlns:a16="http://schemas.microsoft.com/office/drawing/2014/main" id="{8F401C52-7E46-9994-5704-ED0CC15FDE36}"/>
              </a:ext>
            </a:extLst>
          </p:cNvPr>
          <p:cNvSpPr txBox="1"/>
          <p:nvPr/>
        </p:nvSpPr>
        <p:spPr>
          <a:xfrm>
            <a:off x="3724275" y="2638425"/>
            <a:ext cx="3533775" cy="369332"/>
          </a:xfrm>
          <a:prstGeom prst="rect">
            <a:avLst/>
          </a:prstGeom>
          <a:noFill/>
        </p:spPr>
        <p:txBody>
          <a:bodyPr wrap="square" rtlCol="0">
            <a:spAutoFit/>
          </a:bodyPr>
          <a:lstStyle/>
          <a:p>
            <a:r>
              <a:rPr lang="en-US"/>
              <a:t>utility from </a:t>
            </a:r>
            <a:r>
              <a:rPr lang="en-US" i="1"/>
              <a:t>in</a:t>
            </a:r>
            <a:r>
              <a:rPr lang="en-US"/>
              <a:t> is 1</a:t>
            </a:r>
          </a:p>
        </p:txBody>
      </p:sp>
      <p:sp>
        <p:nvSpPr>
          <p:cNvPr id="16" name="TextBox 15">
            <a:extLst>
              <a:ext uri="{FF2B5EF4-FFF2-40B4-BE49-F238E27FC236}">
                <a16:creationId xmlns:a16="http://schemas.microsoft.com/office/drawing/2014/main" id="{3691A335-8E25-EDE5-6CE4-539BBB99E847}"/>
              </a:ext>
            </a:extLst>
          </p:cNvPr>
          <p:cNvSpPr txBox="1"/>
          <p:nvPr/>
        </p:nvSpPr>
        <p:spPr>
          <a:xfrm>
            <a:off x="3762375" y="3059075"/>
            <a:ext cx="3533775" cy="369332"/>
          </a:xfrm>
          <a:prstGeom prst="rect">
            <a:avLst/>
          </a:prstGeom>
          <a:noFill/>
        </p:spPr>
        <p:txBody>
          <a:bodyPr wrap="square" rtlCol="0">
            <a:spAutoFit/>
          </a:bodyPr>
          <a:lstStyle/>
          <a:p>
            <a:r>
              <a:rPr lang="en-US"/>
              <a:t>utility from </a:t>
            </a:r>
            <a:r>
              <a:rPr lang="en-US" i="1"/>
              <a:t>out</a:t>
            </a:r>
            <a:r>
              <a:rPr lang="en-US"/>
              <a:t> is 0</a:t>
            </a:r>
          </a:p>
        </p:txBody>
      </p:sp>
      <p:cxnSp>
        <p:nvCxnSpPr>
          <p:cNvPr id="17" name="Straight Arrow Connector 16">
            <a:extLst>
              <a:ext uri="{FF2B5EF4-FFF2-40B4-BE49-F238E27FC236}">
                <a16:creationId xmlns:a16="http://schemas.microsoft.com/office/drawing/2014/main" id="{AB361814-639F-862E-53F5-5BE8F12AAB77}"/>
              </a:ext>
            </a:extLst>
          </p:cNvPr>
          <p:cNvCxnSpPr>
            <a:endCxn id="14" idx="1"/>
          </p:cNvCxnSpPr>
          <p:nvPr/>
        </p:nvCxnSpPr>
        <p:spPr>
          <a:xfrm>
            <a:off x="3161343" y="2408868"/>
            <a:ext cx="562932" cy="41422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1B7402D-1AB1-26C2-5E7D-CA4714FE7BE6}"/>
              </a:ext>
            </a:extLst>
          </p:cNvPr>
          <p:cNvCxnSpPr>
            <a:cxnSpLocks/>
            <a:endCxn id="16" idx="1"/>
          </p:cNvCxnSpPr>
          <p:nvPr/>
        </p:nvCxnSpPr>
        <p:spPr>
          <a:xfrm>
            <a:off x="3161343" y="2408868"/>
            <a:ext cx="601032" cy="83487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97EF047-60FA-36EB-E6A7-1933C4835BE3}"/>
              </a:ext>
            </a:extLst>
          </p:cNvPr>
          <p:cNvCxnSpPr/>
          <p:nvPr/>
        </p:nvCxnSpPr>
        <p:spPr>
          <a:xfrm>
            <a:off x="5619750" y="2823091"/>
            <a:ext cx="819150" cy="23598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623570-248A-F931-C2A4-A62CC5767CB8}"/>
              </a:ext>
            </a:extLst>
          </p:cNvPr>
          <p:cNvCxnSpPr>
            <a:cxnSpLocks/>
          </p:cNvCxnSpPr>
          <p:nvPr/>
        </p:nvCxnSpPr>
        <p:spPr>
          <a:xfrm flipV="1">
            <a:off x="5762625" y="3059075"/>
            <a:ext cx="676275" cy="18466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8DBC118-D5C8-5022-2826-418C1557201E}"/>
              </a:ext>
            </a:extLst>
          </p:cNvPr>
          <p:cNvSpPr txBox="1"/>
          <p:nvPr/>
        </p:nvSpPr>
        <p:spPr>
          <a:xfrm>
            <a:off x="6457950" y="2848750"/>
            <a:ext cx="3533775" cy="369332"/>
          </a:xfrm>
          <a:prstGeom prst="rect">
            <a:avLst/>
          </a:prstGeom>
          <a:noFill/>
        </p:spPr>
        <p:txBody>
          <a:bodyPr wrap="square" rtlCol="0">
            <a:spAutoFit/>
          </a:bodyPr>
          <a:lstStyle/>
          <a:p>
            <a:r>
              <a:rPr lang="en-US" i="1"/>
              <a:t>in</a:t>
            </a:r>
            <a:r>
              <a:rPr lang="en-US"/>
              <a:t> is a best response!</a:t>
            </a:r>
            <a:endParaRPr lang="en-US" i="1"/>
          </a:p>
        </p:txBody>
      </p:sp>
      <p:sp>
        <p:nvSpPr>
          <p:cNvPr id="22" name="TextBox 21">
            <a:extLst>
              <a:ext uri="{FF2B5EF4-FFF2-40B4-BE49-F238E27FC236}">
                <a16:creationId xmlns:a16="http://schemas.microsoft.com/office/drawing/2014/main" id="{E8583569-92BB-08DB-6DD5-CBE312F2E224}"/>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6735628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4D0B1-ECFD-BB33-B1D7-CC45E5EBA4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5763D5-69D5-2EF3-B124-C282AC7B9315}"/>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the profile in which every one of the 10 persons do </a:t>
            </a:r>
            <a:r>
              <a:rPr lang="en-US" i="1"/>
              <a:t>in</a:t>
            </a:r>
            <a:r>
              <a:rPr lang="en-US"/>
              <a:t> a Nash Equilibrium?</a:t>
            </a:r>
          </a:p>
        </p:txBody>
      </p:sp>
      <p:sp>
        <p:nvSpPr>
          <p:cNvPr id="3" name="Oval 2">
            <a:extLst>
              <a:ext uri="{FF2B5EF4-FFF2-40B4-BE49-F238E27FC236}">
                <a16:creationId xmlns:a16="http://schemas.microsoft.com/office/drawing/2014/main" id="{7B5702E7-9696-1A23-24CE-E57FDD63749B}"/>
              </a:ext>
            </a:extLst>
          </p:cNvPr>
          <p:cNvSpPr/>
          <p:nvPr/>
        </p:nvSpPr>
        <p:spPr>
          <a:xfrm>
            <a:off x="2743203" y="2181225"/>
            <a:ext cx="266700" cy="266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4C9E050-A0B3-82F8-984D-DACC2C9D96FE}"/>
              </a:ext>
            </a:extLst>
          </p:cNvPr>
          <p:cNvSpPr/>
          <p:nvPr/>
        </p:nvSpPr>
        <p:spPr>
          <a:xfrm>
            <a:off x="45339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276A699-62F2-5FAC-3D94-94902BF2D942}"/>
              </a:ext>
            </a:extLst>
          </p:cNvPr>
          <p:cNvSpPr/>
          <p:nvPr/>
        </p:nvSpPr>
        <p:spPr>
          <a:xfrm>
            <a:off x="49434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0B0F67B-F57D-402B-6537-A7E163B391F3}"/>
              </a:ext>
            </a:extLst>
          </p:cNvPr>
          <p:cNvSpPr/>
          <p:nvPr/>
        </p:nvSpPr>
        <p:spPr>
          <a:xfrm>
            <a:off x="53530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32AB676-A3E9-48F3-9063-79C901898ACD}"/>
              </a:ext>
            </a:extLst>
          </p:cNvPr>
          <p:cNvSpPr/>
          <p:nvPr/>
        </p:nvSpPr>
        <p:spPr>
          <a:xfrm>
            <a:off x="57626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D7AE587-C38C-F655-20A0-1A82A0A71520}"/>
              </a:ext>
            </a:extLst>
          </p:cNvPr>
          <p:cNvSpPr/>
          <p:nvPr/>
        </p:nvSpPr>
        <p:spPr>
          <a:xfrm>
            <a:off x="617220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8E21C78-BDA6-137B-09A0-66BAEBDAEECF}"/>
              </a:ext>
            </a:extLst>
          </p:cNvPr>
          <p:cNvSpPr/>
          <p:nvPr/>
        </p:nvSpPr>
        <p:spPr>
          <a:xfrm>
            <a:off x="658177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1CD4A22-1C76-1528-C4EA-958A8816B4C6}"/>
              </a:ext>
            </a:extLst>
          </p:cNvPr>
          <p:cNvSpPr/>
          <p:nvPr/>
        </p:nvSpPr>
        <p:spPr>
          <a:xfrm>
            <a:off x="6991350"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E940F66-1E2E-9CDE-471A-FFD2B9FA8A07}"/>
              </a:ext>
            </a:extLst>
          </p:cNvPr>
          <p:cNvSpPr/>
          <p:nvPr/>
        </p:nvSpPr>
        <p:spPr>
          <a:xfrm>
            <a:off x="7400925"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5C1AFB8-131E-6B56-433F-2DDF53831003}"/>
              </a:ext>
            </a:extLst>
          </p:cNvPr>
          <p:cNvSpPr/>
          <p:nvPr/>
        </p:nvSpPr>
        <p:spPr>
          <a:xfrm>
            <a:off x="7810502" y="2181225"/>
            <a:ext cx="266700" cy="266700"/>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35DCC84-0CFF-3C54-92E5-F2A26F71A72D}"/>
              </a:ext>
            </a:extLst>
          </p:cNvPr>
          <p:cNvSpPr txBox="1"/>
          <p:nvPr/>
        </p:nvSpPr>
        <p:spPr>
          <a:xfrm>
            <a:off x="2933700" y="3686175"/>
            <a:ext cx="6781800" cy="1905000"/>
          </a:xfrm>
          <a:prstGeom prst="rect">
            <a:avLst/>
          </a:prstGeom>
          <a:noFill/>
          <a:ln w="38100">
            <a:solidFill>
              <a:schemeClr val="accent6"/>
            </a:solidFill>
          </a:ln>
        </p:spPr>
        <p:txBody>
          <a:bodyPr wrap="square" rtlCol="0">
            <a:noAutofit/>
          </a:bodyPr>
          <a:lstStyle/>
          <a:p>
            <a:r>
              <a:rPr lang="en-US"/>
              <a:t>If this is an NE, then for any one of the 10, doing </a:t>
            </a:r>
            <a:r>
              <a:rPr lang="en-US" i="1"/>
              <a:t>in </a:t>
            </a:r>
            <a:r>
              <a:rPr lang="en-US"/>
              <a:t>must be a best response to the expectation that the other 9 to </a:t>
            </a:r>
            <a:r>
              <a:rPr lang="en-US" i="1"/>
              <a:t>in</a:t>
            </a:r>
            <a:r>
              <a:rPr lang="en-US"/>
              <a:t>.</a:t>
            </a:r>
          </a:p>
          <a:p>
            <a:endParaRPr lang="en-US"/>
          </a:p>
          <a:p>
            <a:r>
              <a:rPr lang="en-US"/>
              <a:t>...SO </a:t>
            </a:r>
            <a:r>
              <a:rPr lang="en-US" i="1"/>
              <a:t>in</a:t>
            </a:r>
            <a:r>
              <a:rPr lang="en-US"/>
              <a:t> is a BR for each person to the expectation that all 9 others do </a:t>
            </a:r>
            <a:r>
              <a:rPr lang="en-US" i="1"/>
              <a:t>in.  </a:t>
            </a:r>
            <a:r>
              <a:rPr lang="en-US"/>
              <a:t>SO, all 10 doing </a:t>
            </a:r>
            <a:r>
              <a:rPr lang="en-US" i="1"/>
              <a:t>in</a:t>
            </a:r>
            <a:r>
              <a:rPr lang="en-US"/>
              <a:t> is a Nash Equilibrium!</a:t>
            </a:r>
          </a:p>
          <a:p>
            <a:endParaRPr lang="en-US"/>
          </a:p>
          <a:p>
            <a:endParaRPr lang="en-US"/>
          </a:p>
          <a:p>
            <a:endParaRPr lang="en-US"/>
          </a:p>
        </p:txBody>
      </p:sp>
      <p:sp>
        <p:nvSpPr>
          <p:cNvPr id="14" name="TextBox 13">
            <a:extLst>
              <a:ext uri="{FF2B5EF4-FFF2-40B4-BE49-F238E27FC236}">
                <a16:creationId xmlns:a16="http://schemas.microsoft.com/office/drawing/2014/main" id="{B8AC751E-97E5-6CFA-4E51-E9C098F8F8BD}"/>
              </a:ext>
            </a:extLst>
          </p:cNvPr>
          <p:cNvSpPr txBox="1"/>
          <p:nvPr/>
        </p:nvSpPr>
        <p:spPr>
          <a:xfrm>
            <a:off x="3724275" y="2638425"/>
            <a:ext cx="3533775" cy="369332"/>
          </a:xfrm>
          <a:prstGeom prst="rect">
            <a:avLst/>
          </a:prstGeom>
          <a:noFill/>
        </p:spPr>
        <p:txBody>
          <a:bodyPr wrap="square" rtlCol="0">
            <a:spAutoFit/>
          </a:bodyPr>
          <a:lstStyle/>
          <a:p>
            <a:r>
              <a:rPr lang="en-US"/>
              <a:t>utility from </a:t>
            </a:r>
            <a:r>
              <a:rPr lang="en-US" i="1"/>
              <a:t>in</a:t>
            </a:r>
            <a:r>
              <a:rPr lang="en-US"/>
              <a:t> is 1</a:t>
            </a:r>
          </a:p>
        </p:txBody>
      </p:sp>
      <p:sp>
        <p:nvSpPr>
          <p:cNvPr id="16" name="TextBox 15">
            <a:extLst>
              <a:ext uri="{FF2B5EF4-FFF2-40B4-BE49-F238E27FC236}">
                <a16:creationId xmlns:a16="http://schemas.microsoft.com/office/drawing/2014/main" id="{905A3607-69D5-7EFC-EFEF-5B2BA4BF13F0}"/>
              </a:ext>
            </a:extLst>
          </p:cNvPr>
          <p:cNvSpPr txBox="1"/>
          <p:nvPr/>
        </p:nvSpPr>
        <p:spPr>
          <a:xfrm>
            <a:off x="3762375" y="3059075"/>
            <a:ext cx="3533775" cy="369332"/>
          </a:xfrm>
          <a:prstGeom prst="rect">
            <a:avLst/>
          </a:prstGeom>
          <a:noFill/>
        </p:spPr>
        <p:txBody>
          <a:bodyPr wrap="square" rtlCol="0">
            <a:spAutoFit/>
          </a:bodyPr>
          <a:lstStyle/>
          <a:p>
            <a:r>
              <a:rPr lang="en-US"/>
              <a:t>utility from </a:t>
            </a:r>
            <a:r>
              <a:rPr lang="en-US" i="1"/>
              <a:t>out</a:t>
            </a:r>
            <a:r>
              <a:rPr lang="en-US"/>
              <a:t> is 0</a:t>
            </a:r>
          </a:p>
        </p:txBody>
      </p:sp>
      <p:cxnSp>
        <p:nvCxnSpPr>
          <p:cNvPr id="17" name="Straight Arrow Connector 16">
            <a:extLst>
              <a:ext uri="{FF2B5EF4-FFF2-40B4-BE49-F238E27FC236}">
                <a16:creationId xmlns:a16="http://schemas.microsoft.com/office/drawing/2014/main" id="{ECD4857E-D64E-18C4-B75C-0AF6048159BD}"/>
              </a:ext>
            </a:extLst>
          </p:cNvPr>
          <p:cNvCxnSpPr>
            <a:endCxn id="14" idx="1"/>
          </p:cNvCxnSpPr>
          <p:nvPr/>
        </p:nvCxnSpPr>
        <p:spPr>
          <a:xfrm>
            <a:off x="3161343" y="2408868"/>
            <a:ext cx="562932" cy="41422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26C02A9-697F-5AD3-CA5B-C8D63BCD0395}"/>
              </a:ext>
            </a:extLst>
          </p:cNvPr>
          <p:cNvCxnSpPr>
            <a:cxnSpLocks/>
            <a:endCxn id="16" idx="1"/>
          </p:cNvCxnSpPr>
          <p:nvPr/>
        </p:nvCxnSpPr>
        <p:spPr>
          <a:xfrm>
            <a:off x="3161343" y="2408868"/>
            <a:ext cx="601032" cy="83487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2938E2F-859B-8564-2378-BEE4771E8447}"/>
              </a:ext>
            </a:extLst>
          </p:cNvPr>
          <p:cNvCxnSpPr/>
          <p:nvPr/>
        </p:nvCxnSpPr>
        <p:spPr>
          <a:xfrm>
            <a:off x="5619750" y="2823091"/>
            <a:ext cx="819150" cy="23598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ABB7D47-204F-F288-2FAE-783F788C369C}"/>
              </a:ext>
            </a:extLst>
          </p:cNvPr>
          <p:cNvCxnSpPr>
            <a:cxnSpLocks/>
          </p:cNvCxnSpPr>
          <p:nvPr/>
        </p:nvCxnSpPr>
        <p:spPr>
          <a:xfrm flipV="1">
            <a:off x="5762625" y="3059075"/>
            <a:ext cx="676275" cy="18466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430AA79-2D1E-3649-3DFB-4094C88A01F7}"/>
              </a:ext>
            </a:extLst>
          </p:cNvPr>
          <p:cNvSpPr txBox="1"/>
          <p:nvPr/>
        </p:nvSpPr>
        <p:spPr>
          <a:xfrm>
            <a:off x="6457950" y="2848750"/>
            <a:ext cx="3533775" cy="369332"/>
          </a:xfrm>
          <a:prstGeom prst="rect">
            <a:avLst/>
          </a:prstGeom>
          <a:noFill/>
        </p:spPr>
        <p:txBody>
          <a:bodyPr wrap="square" rtlCol="0">
            <a:spAutoFit/>
          </a:bodyPr>
          <a:lstStyle/>
          <a:p>
            <a:r>
              <a:rPr lang="en-US" i="1"/>
              <a:t>in</a:t>
            </a:r>
            <a:r>
              <a:rPr lang="en-US"/>
              <a:t> is a best response!</a:t>
            </a:r>
            <a:endParaRPr lang="en-US" i="1"/>
          </a:p>
        </p:txBody>
      </p:sp>
      <p:sp>
        <p:nvSpPr>
          <p:cNvPr id="22" name="TextBox 21">
            <a:extLst>
              <a:ext uri="{FF2B5EF4-FFF2-40B4-BE49-F238E27FC236}">
                <a16:creationId xmlns:a16="http://schemas.microsoft.com/office/drawing/2014/main" id="{CCBB5282-0C4E-FAB7-18AB-FC19FBC05868}"/>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162264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62339-4B22-2ECE-A91A-77A25D4A9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0DFDA4-3320-BC6B-1BE0-35C08A08BFBA}"/>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02083E53-8660-AA25-1CFE-D0082E4EA270}"/>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F7217BE3-F21A-F52D-8362-4D2898DDCD65}"/>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6" name="TextBox 5">
            <a:extLst>
              <a:ext uri="{FF2B5EF4-FFF2-40B4-BE49-F238E27FC236}">
                <a16:creationId xmlns:a16="http://schemas.microsoft.com/office/drawing/2014/main" id="{4D9E15CB-85CC-4903-7629-9ED1514ECE48}"/>
              </a:ext>
            </a:extLst>
          </p:cNvPr>
          <p:cNvSpPr txBox="1"/>
          <p:nvPr/>
        </p:nvSpPr>
        <p:spPr>
          <a:xfrm>
            <a:off x="1447800" y="2074308"/>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ANY EXPECTATION IN WHICH AT LEAST ONE OTHER PERSON DOES </a:t>
            </a:r>
            <a:r>
              <a:rPr lang="en-US">
                <a:solidFill>
                  <a:schemeClr val="accent6"/>
                </a:solidFill>
                <a:sym typeface="Wingdings" panose="05000000000000000000" pitchFamily="2" charset="2"/>
              </a:rPr>
              <a:t>IN</a:t>
            </a:r>
            <a:endParaRPr lang="en-US">
              <a:solidFill>
                <a:schemeClr val="accent6"/>
              </a:solidFill>
            </a:endParaRPr>
          </a:p>
        </p:txBody>
      </p:sp>
      <p:sp>
        <p:nvSpPr>
          <p:cNvPr id="7" name="TextBox 6">
            <a:extLst>
              <a:ext uri="{FF2B5EF4-FFF2-40B4-BE49-F238E27FC236}">
                <a16:creationId xmlns:a16="http://schemas.microsoft.com/office/drawing/2014/main" id="{E22B93A3-6639-AC1C-46D3-240BE31D2AB3}"/>
              </a:ext>
            </a:extLst>
          </p:cNvPr>
          <p:cNvSpPr txBox="1"/>
          <p:nvPr/>
        </p:nvSpPr>
        <p:spPr>
          <a:xfrm>
            <a:off x="1447800" y="2987159"/>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THE EXPECTATION IN WHICH ALL OTHER PERSONS DO </a:t>
            </a:r>
            <a:r>
              <a:rPr lang="en-US">
                <a:solidFill>
                  <a:schemeClr val="accent6"/>
                </a:solidFill>
                <a:sym typeface="Wingdings" panose="05000000000000000000" pitchFamily="2" charset="2"/>
              </a:rPr>
              <a:t>OUT</a:t>
            </a:r>
            <a:endParaRPr lang="en-US">
              <a:solidFill>
                <a:schemeClr val="accent6"/>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863C95-53AB-2F9D-4E8A-2B692BC0EAB8}"/>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r>
                  <a:rPr lang="en-US"/>
                  <a:t>Is there a profile of actions that is a Nash Equilibrium in which...</a:t>
                </a:r>
              </a:p>
              <a:p>
                <a:endParaRPr lang="en-US"/>
              </a:p>
              <a:p>
                <a:pPr marL="285750" indent="-285750">
                  <a:buFont typeface="Arial" panose="020B0604020202020204" pitchFamily="34" charset="0"/>
                  <a:buChar char="•"/>
                </a:pPr>
                <a:r>
                  <a:rPr lang="en-US"/>
                  <a:t>...every one of the 10 persons do </a:t>
                </a:r>
                <a:r>
                  <a:rPr lang="en-US" i="1"/>
                  <a:t>out</a:t>
                </a:r>
                <a:r>
                  <a:rPr lang="en-US"/>
                  <a:t>?</a:t>
                </a:r>
                <a:br>
                  <a:rPr lang="en-US"/>
                </a:br>
                <a:endParaRPr lang="en-US"/>
              </a:p>
              <a:p>
                <a:pPr marL="285750" indent="-285750">
                  <a:buFont typeface="Arial" panose="020B0604020202020204" pitchFamily="34" charset="0"/>
                  <a:buChar char="•"/>
                </a:pPr>
                <a:r>
                  <a:rPr lang="en-US"/>
                  <a:t>...every one of the 10 persons do </a:t>
                </a:r>
                <a:r>
                  <a:rPr lang="en-US" i="1"/>
                  <a:t>in</a:t>
                </a:r>
                <a:r>
                  <a:rPr lang="en-US"/>
                  <a:t>?</a:t>
                </a:r>
                <a:br>
                  <a:rPr lang="en-US"/>
                </a:br>
                <a:endParaRPr lang="en-US"/>
              </a:p>
              <a:p>
                <a:pPr marL="285750" indent="-285750">
                  <a:buFont typeface="Arial" panose="020B0604020202020204" pitchFamily="34" charset="0"/>
                  <a:buChar char="•"/>
                </a:pPr>
                <a:r>
                  <a:rPr lang="en-US"/>
                  <a:t>...</a:t>
                </a:r>
                <a:r>
                  <a:rPr lang="en-US" i="1"/>
                  <a:t>K</a:t>
                </a:r>
                <a:r>
                  <a:rPr lang="en-US"/>
                  <a:t> of the 10 persons do </a:t>
                </a:r>
                <a:r>
                  <a:rPr lang="en-US" i="1"/>
                  <a:t>in</a:t>
                </a:r>
                <a:r>
                  <a:rPr lang="en-US"/>
                  <a:t>, where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≤9</m:t>
                    </m:r>
                  </m:oMath>
                </a14:m>
                <a:r>
                  <a:rPr lang="en-US"/>
                  <a:t>?</a:t>
                </a:r>
              </a:p>
            </p:txBody>
          </p:sp>
        </mc:Choice>
        <mc:Fallback xmlns="">
          <p:sp>
            <p:nvSpPr>
              <p:cNvPr id="8" name="TextBox 7">
                <a:extLst>
                  <a:ext uri="{FF2B5EF4-FFF2-40B4-BE49-F238E27FC236}">
                    <a16:creationId xmlns:a16="http://schemas.microsoft.com/office/drawing/2014/main" id="{56863C95-53AB-2F9D-4E8A-2B692BC0EAB8}"/>
                  </a:ext>
                </a:extLst>
              </p:cNvPr>
              <p:cNvSpPr txBox="1">
                <a:spLocks noRot="1" noChangeAspect="1" noMove="1" noResize="1" noEditPoints="1" noAdjustHandles="1" noChangeArrowheads="1" noChangeShapeType="1" noTextEdit="1"/>
              </p:cNvSpPr>
              <p:nvPr/>
            </p:nvSpPr>
            <p:spPr>
              <a:xfrm>
                <a:off x="723900" y="4292316"/>
                <a:ext cx="10848975" cy="2486025"/>
              </a:xfrm>
              <a:prstGeom prst="rect">
                <a:avLst/>
              </a:prstGeom>
              <a:blipFill>
                <a:blip r:embed="rId2"/>
                <a:stretch>
                  <a:fillRect l="-336" t="-483"/>
                </a:stretch>
              </a:blipFill>
              <a:ln w="38100">
                <a:solidFill>
                  <a:schemeClr val="accent6"/>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B3A34B7A-D940-5039-63AB-1FADF4BBA377}"/>
              </a:ext>
            </a:extLst>
          </p:cNvPr>
          <p:cNvSpPr txBox="1"/>
          <p:nvPr/>
        </p:nvSpPr>
        <p:spPr>
          <a:xfrm>
            <a:off x="4698206" y="4818100"/>
            <a:ext cx="719138"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YES</a:t>
            </a:r>
          </a:p>
        </p:txBody>
      </p:sp>
      <p:sp>
        <p:nvSpPr>
          <p:cNvPr id="10" name="TextBox 9">
            <a:extLst>
              <a:ext uri="{FF2B5EF4-FFF2-40B4-BE49-F238E27FC236}">
                <a16:creationId xmlns:a16="http://schemas.microsoft.com/office/drawing/2014/main" id="{68214351-A4C9-FD49-6283-F9EFC9DDC73B}"/>
              </a:ext>
            </a:extLst>
          </p:cNvPr>
          <p:cNvSpPr txBox="1"/>
          <p:nvPr/>
        </p:nvSpPr>
        <p:spPr>
          <a:xfrm>
            <a:off x="4698206" y="5383769"/>
            <a:ext cx="719138"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YES</a:t>
            </a:r>
          </a:p>
        </p:txBody>
      </p:sp>
      <p:sp>
        <p:nvSpPr>
          <p:cNvPr id="11" name="TextBox 10">
            <a:extLst>
              <a:ext uri="{FF2B5EF4-FFF2-40B4-BE49-F238E27FC236}">
                <a16:creationId xmlns:a16="http://schemas.microsoft.com/office/drawing/2014/main" id="{C96711F5-1B04-09AE-A159-A19C26F88A08}"/>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1391480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A8786-BFEA-029C-C559-D7D703BCE10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2523358-84B1-4C27-6712-139ADC198781}"/>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any profile in which </a:t>
                </a:r>
                <a14:m>
                  <m:oMath xmlns:m="http://schemas.openxmlformats.org/officeDocument/2006/math">
                    <m:r>
                      <a:rPr lang="en-US" b="0" i="1" smtClean="0">
                        <a:latin typeface="Cambria Math" panose="02040503050406030204" pitchFamily="18" charset="0"/>
                      </a:rPr>
                      <m:t>𝐾</m:t>
                    </m:r>
                  </m:oMath>
                </a14:m>
                <a:r>
                  <a:rPr lang="en-US"/>
                  <a:t> do </a:t>
                </a:r>
                <a:r>
                  <a:rPr lang="en-US" i="1"/>
                  <a:t>in </a:t>
                </a:r>
                <a:r>
                  <a:rPr lang="en-US"/>
                  <a:t>with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&lt;9</m:t>
                    </m:r>
                  </m:oMath>
                </a14:m>
                <a:r>
                  <a:rPr lang="en-US"/>
                  <a:t> a Nash Equilibrium?</a:t>
                </a:r>
              </a:p>
            </p:txBody>
          </p:sp>
        </mc:Choice>
        <mc:Fallback xmlns="">
          <p:sp>
            <p:nvSpPr>
              <p:cNvPr id="4" name="TextBox 3">
                <a:extLst>
                  <a:ext uri="{FF2B5EF4-FFF2-40B4-BE49-F238E27FC236}">
                    <a16:creationId xmlns:a16="http://schemas.microsoft.com/office/drawing/2014/main" id="{62523358-84B1-4C27-6712-139ADC198781}"/>
                  </a:ext>
                </a:extLst>
              </p:cNvPr>
              <p:cNvSpPr txBox="1">
                <a:spLocks noRot="1" noChangeAspect="1" noMove="1" noResize="1" noEditPoints="1" noAdjustHandles="1" noChangeArrowheads="1" noChangeShapeType="1" noTextEdit="1"/>
              </p:cNvSpPr>
              <p:nvPr/>
            </p:nvSpPr>
            <p:spPr>
              <a:xfrm>
                <a:off x="2428874" y="884275"/>
                <a:ext cx="7439025" cy="369332"/>
              </a:xfrm>
              <a:prstGeom prst="rect">
                <a:avLst/>
              </a:prstGeom>
              <a:blipFill>
                <a:blip r:embed="rId2"/>
                <a:stretch>
                  <a:fillRect t="-6349" b="-22222"/>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8AA40055-0D07-995F-5397-1C6E76A2D2BD}"/>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3380278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A874A-4B6B-D0FB-0E9B-FF1B76F082B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5F5A339-4BF2-898D-CEF9-4A8EC09FA77E}"/>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any profile in which </a:t>
                </a:r>
                <a14:m>
                  <m:oMath xmlns:m="http://schemas.openxmlformats.org/officeDocument/2006/math">
                    <m:r>
                      <a:rPr lang="en-US" b="0" i="1" smtClean="0">
                        <a:latin typeface="Cambria Math" panose="02040503050406030204" pitchFamily="18" charset="0"/>
                      </a:rPr>
                      <m:t>𝐾</m:t>
                    </m:r>
                  </m:oMath>
                </a14:m>
                <a:r>
                  <a:rPr lang="en-US"/>
                  <a:t> do </a:t>
                </a:r>
                <a:r>
                  <a:rPr lang="en-US" i="1"/>
                  <a:t>in </a:t>
                </a:r>
                <a:r>
                  <a:rPr lang="en-US"/>
                  <a:t>with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&lt;9</m:t>
                    </m:r>
                  </m:oMath>
                </a14:m>
                <a:r>
                  <a:rPr lang="en-US"/>
                  <a:t> a Nash Equilibrium?</a:t>
                </a:r>
              </a:p>
            </p:txBody>
          </p:sp>
        </mc:Choice>
        <mc:Fallback xmlns="">
          <p:sp>
            <p:nvSpPr>
              <p:cNvPr id="4" name="TextBox 3">
                <a:extLst>
                  <a:ext uri="{FF2B5EF4-FFF2-40B4-BE49-F238E27FC236}">
                    <a16:creationId xmlns:a16="http://schemas.microsoft.com/office/drawing/2014/main" id="{25F5A339-4BF2-898D-CEF9-4A8EC09FA77E}"/>
                  </a:ext>
                </a:extLst>
              </p:cNvPr>
              <p:cNvSpPr txBox="1">
                <a:spLocks noRot="1" noChangeAspect="1" noMove="1" noResize="1" noEditPoints="1" noAdjustHandles="1" noChangeArrowheads="1" noChangeShapeType="1" noTextEdit="1"/>
              </p:cNvSpPr>
              <p:nvPr/>
            </p:nvSpPr>
            <p:spPr>
              <a:xfrm>
                <a:off x="2428874" y="884275"/>
                <a:ext cx="7439025" cy="369332"/>
              </a:xfrm>
              <a:prstGeom prst="rect">
                <a:avLst/>
              </a:prstGeom>
              <a:blipFill>
                <a:blip r:embed="rId2"/>
                <a:stretch>
                  <a:fillRect t="-6349" b="-22222"/>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056EF0C8-B4D7-F827-13B4-DDED42E810E3}"/>
              </a:ext>
            </a:extLst>
          </p:cNvPr>
          <p:cNvSpPr/>
          <p:nvPr/>
        </p:nvSpPr>
        <p:spPr>
          <a:xfrm>
            <a:off x="262393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11DB33-399D-1AA7-8BAB-5F2714452A8A}"/>
                  </a:ext>
                </a:extLst>
              </p:cNvPr>
              <p:cNvSpPr txBox="1"/>
              <p:nvPr/>
            </p:nvSpPr>
            <p:spPr>
              <a:xfrm>
                <a:off x="3298963" y="1396297"/>
                <a:ext cx="874535"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𝐾</m:t>
                    </m:r>
                  </m:oMath>
                </a14:m>
                <a:r>
                  <a:rPr lang="en-US"/>
                  <a:t> do </a:t>
                </a:r>
                <a:r>
                  <a:rPr lang="en-US" i="1"/>
                  <a:t>in</a:t>
                </a:r>
                <a:endParaRPr lang="en-US"/>
              </a:p>
            </p:txBody>
          </p:sp>
        </mc:Choice>
        <mc:Fallback xmlns="">
          <p:sp>
            <p:nvSpPr>
              <p:cNvPr id="5" name="TextBox 4">
                <a:extLst>
                  <a:ext uri="{FF2B5EF4-FFF2-40B4-BE49-F238E27FC236}">
                    <a16:creationId xmlns:a16="http://schemas.microsoft.com/office/drawing/2014/main" id="{8A11DB33-399D-1AA7-8BAB-5F2714452A8A}"/>
                  </a:ext>
                </a:extLst>
              </p:cNvPr>
              <p:cNvSpPr txBox="1">
                <a:spLocks noRot="1" noChangeAspect="1" noMove="1" noResize="1" noEditPoints="1" noAdjustHandles="1" noChangeArrowheads="1" noChangeShapeType="1" noTextEdit="1"/>
              </p:cNvSpPr>
              <p:nvPr/>
            </p:nvSpPr>
            <p:spPr>
              <a:xfrm>
                <a:off x="3298963" y="1396297"/>
                <a:ext cx="874535" cy="369332"/>
              </a:xfrm>
              <a:prstGeom prst="rect">
                <a:avLst/>
              </a:prstGeom>
              <a:blipFill>
                <a:blip r:embed="rId3"/>
                <a:stretch>
                  <a:fillRect t="-8197" r="-5556" b="-24590"/>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77E1CA13-426B-4025-D758-C3486E425CD8}"/>
              </a:ext>
            </a:extLst>
          </p:cNvPr>
          <p:cNvSpPr/>
          <p:nvPr/>
        </p:nvSpPr>
        <p:spPr>
          <a:xfrm>
            <a:off x="2951922" y="218660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BC9B69E-2072-B1A8-A1D5-B59D703AA237}"/>
              </a:ext>
            </a:extLst>
          </p:cNvPr>
          <p:cNvSpPr/>
          <p:nvPr/>
        </p:nvSpPr>
        <p:spPr>
          <a:xfrm>
            <a:off x="3299791" y="2842591"/>
            <a:ext cx="347869" cy="347869"/>
          </a:xfrm>
          <a:prstGeom prst="ellipse">
            <a:avLst/>
          </a:prstGeom>
          <a:solidFill>
            <a:schemeClr val="accent6"/>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A909B19-BFE1-723E-5C09-CA60AF1612F3}"/>
              </a:ext>
            </a:extLst>
          </p:cNvPr>
          <p:cNvSpPr/>
          <p:nvPr/>
        </p:nvSpPr>
        <p:spPr>
          <a:xfrm>
            <a:off x="3758648" y="2360543"/>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6C1DCCB-9F93-07F4-B8CF-90FB1CD8D5A8}"/>
              </a:ext>
            </a:extLst>
          </p:cNvPr>
          <p:cNvSpPr/>
          <p:nvPr/>
        </p:nvSpPr>
        <p:spPr>
          <a:xfrm>
            <a:off x="4002155" y="295688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88ECBDC-1007-1627-0DD0-8E95E79B2F72}"/>
              </a:ext>
            </a:extLst>
          </p:cNvPr>
          <p:cNvSpPr/>
          <p:nvPr/>
        </p:nvSpPr>
        <p:spPr>
          <a:xfrm>
            <a:off x="3889510" y="1959445"/>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63D4AA2-DC9A-9690-010A-E4069E28329F}"/>
              </a:ext>
            </a:extLst>
          </p:cNvPr>
          <p:cNvSpPr/>
          <p:nvPr/>
        </p:nvSpPr>
        <p:spPr>
          <a:xfrm>
            <a:off x="722906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283E904-7DE3-2582-DB95-6E3FF676E5F8}"/>
                  </a:ext>
                </a:extLst>
              </p:cNvPr>
              <p:cNvSpPr txBox="1"/>
              <p:nvPr/>
            </p:nvSpPr>
            <p:spPr>
              <a:xfrm>
                <a:off x="7478892" y="1370914"/>
                <a:ext cx="1547796"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𝐾</m:t>
                    </m:r>
                  </m:oMath>
                </a14:m>
                <a:r>
                  <a:rPr lang="en-US"/>
                  <a:t> do </a:t>
                </a:r>
                <a:r>
                  <a:rPr lang="en-US" i="1"/>
                  <a:t>out</a:t>
                </a:r>
                <a:endParaRPr lang="en-US"/>
              </a:p>
            </p:txBody>
          </p:sp>
        </mc:Choice>
        <mc:Fallback xmlns="">
          <p:sp>
            <p:nvSpPr>
              <p:cNvPr id="12" name="TextBox 11">
                <a:extLst>
                  <a:ext uri="{FF2B5EF4-FFF2-40B4-BE49-F238E27FC236}">
                    <a16:creationId xmlns:a16="http://schemas.microsoft.com/office/drawing/2014/main" id="{7283E904-7DE3-2582-DB95-6E3FF676E5F8}"/>
                  </a:ext>
                </a:extLst>
              </p:cNvPr>
              <p:cNvSpPr txBox="1">
                <a:spLocks noRot="1" noChangeAspect="1" noMove="1" noResize="1" noEditPoints="1" noAdjustHandles="1" noChangeArrowheads="1" noChangeShapeType="1" noTextEdit="1"/>
              </p:cNvSpPr>
              <p:nvPr/>
            </p:nvSpPr>
            <p:spPr>
              <a:xfrm>
                <a:off x="7478892" y="1370914"/>
                <a:ext cx="1547796" cy="369332"/>
              </a:xfrm>
              <a:prstGeom prst="rect">
                <a:avLst/>
              </a:prstGeom>
              <a:blipFill>
                <a:blip r:embed="rId4"/>
                <a:stretch>
                  <a:fillRect t="-10000" r="-3150" b="-26667"/>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83B37BBF-3397-1AAC-17D4-8590F4222043}"/>
              </a:ext>
            </a:extLst>
          </p:cNvPr>
          <p:cNvSpPr/>
          <p:nvPr/>
        </p:nvSpPr>
        <p:spPr>
          <a:xfrm>
            <a:off x="7557052" y="218660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6930727-2503-43E0-C64F-E70F99E4C915}"/>
              </a:ext>
            </a:extLst>
          </p:cNvPr>
          <p:cNvSpPr/>
          <p:nvPr/>
        </p:nvSpPr>
        <p:spPr>
          <a:xfrm>
            <a:off x="7904921" y="2842591"/>
            <a:ext cx="347869" cy="347869"/>
          </a:xfrm>
          <a:prstGeom prst="ellipse">
            <a:avLst/>
          </a:prstGeom>
          <a:solidFill>
            <a:srgbClr val="FF0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C8BEF0D-E7B1-769F-4D76-0B8AF9E760B6}"/>
              </a:ext>
            </a:extLst>
          </p:cNvPr>
          <p:cNvSpPr/>
          <p:nvPr/>
        </p:nvSpPr>
        <p:spPr>
          <a:xfrm>
            <a:off x="8363778" y="2360543"/>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F1B1D0-5FBC-793C-2F56-92A02BF444C0}"/>
              </a:ext>
            </a:extLst>
          </p:cNvPr>
          <p:cNvSpPr/>
          <p:nvPr/>
        </p:nvSpPr>
        <p:spPr>
          <a:xfrm>
            <a:off x="8607285" y="295688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510A7AA-8B6D-BB75-D0D0-97AEE19DFDE5}"/>
              </a:ext>
            </a:extLst>
          </p:cNvPr>
          <p:cNvSpPr/>
          <p:nvPr/>
        </p:nvSpPr>
        <p:spPr>
          <a:xfrm>
            <a:off x="8494640" y="1959445"/>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C6BBBD8-28BF-F8EF-8576-F71FC19E79EA}"/>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4064184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FB46C-6589-045C-9F4F-3E903EBC795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B896066-0CE4-DD57-152B-F820770E269A}"/>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any profile in which </a:t>
                </a:r>
                <a14:m>
                  <m:oMath xmlns:m="http://schemas.openxmlformats.org/officeDocument/2006/math">
                    <m:r>
                      <a:rPr lang="en-US" b="0" i="1" smtClean="0">
                        <a:latin typeface="Cambria Math" panose="02040503050406030204" pitchFamily="18" charset="0"/>
                      </a:rPr>
                      <m:t>𝐾</m:t>
                    </m:r>
                  </m:oMath>
                </a14:m>
                <a:r>
                  <a:rPr lang="en-US"/>
                  <a:t> do </a:t>
                </a:r>
                <a:r>
                  <a:rPr lang="en-US" i="1"/>
                  <a:t>in </a:t>
                </a:r>
                <a:r>
                  <a:rPr lang="en-US"/>
                  <a:t>with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&lt;9</m:t>
                    </m:r>
                  </m:oMath>
                </a14:m>
                <a:r>
                  <a:rPr lang="en-US"/>
                  <a:t> a Nash Equilibrium?</a:t>
                </a:r>
              </a:p>
            </p:txBody>
          </p:sp>
        </mc:Choice>
        <mc:Fallback xmlns="">
          <p:sp>
            <p:nvSpPr>
              <p:cNvPr id="4" name="TextBox 3">
                <a:extLst>
                  <a:ext uri="{FF2B5EF4-FFF2-40B4-BE49-F238E27FC236}">
                    <a16:creationId xmlns:a16="http://schemas.microsoft.com/office/drawing/2014/main" id="{0B896066-0CE4-DD57-152B-F820770E269A}"/>
                  </a:ext>
                </a:extLst>
              </p:cNvPr>
              <p:cNvSpPr txBox="1">
                <a:spLocks noRot="1" noChangeAspect="1" noMove="1" noResize="1" noEditPoints="1" noAdjustHandles="1" noChangeArrowheads="1" noChangeShapeType="1" noTextEdit="1"/>
              </p:cNvSpPr>
              <p:nvPr/>
            </p:nvSpPr>
            <p:spPr>
              <a:xfrm>
                <a:off x="2428874" y="884275"/>
                <a:ext cx="7439025" cy="369332"/>
              </a:xfrm>
              <a:prstGeom prst="rect">
                <a:avLst/>
              </a:prstGeom>
              <a:blipFill>
                <a:blip r:embed="rId2"/>
                <a:stretch>
                  <a:fillRect t="-6349" b="-22222"/>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4AACC8A2-E2BB-D8F9-5A35-1F9B9ED93D95}"/>
              </a:ext>
            </a:extLst>
          </p:cNvPr>
          <p:cNvSpPr/>
          <p:nvPr/>
        </p:nvSpPr>
        <p:spPr>
          <a:xfrm>
            <a:off x="262393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D553E41-C9C8-4E68-B936-4D61865AB235}"/>
                  </a:ext>
                </a:extLst>
              </p:cNvPr>
              <p:cNvSpPr txBox="1"/>
              <p:nvPr/>
            </p:nvSpPr>
            <p:spPr>
              <a:xfrm>
                <a:off x="3298963" y="1396297"/>
                <a:ext cx="874535"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𝐾</m:t>
                    </m:r>
                  </m:oMath>
                </a14:m>
                <a:r>
                  <a:rPr lang="en-US"/>
                  <a:t> do </a:t>
                </a:r>
                <a:r>
                  <a:rPr lang="en-US" i="1"/>
                  <a:t>in</a:t>
                </a:r>
                <a:endParaRPr lang="en-US"/>
              </a:p>
            </p:txBody>
          </p:sp>
        </mc:Choice>
        <mc:Fallback xmlns="">
          <p:sp>
            <p:nvSpPr>
              <p:cNvPr id="5" name="TextBox 4">
                <a:extLst>
                  <a:ext uri="{FF2B5EF4-FFF2-40B4-BE49-F238E27FC236}">
                    <a16:creationId xmlns:a16="http://schemas.microsoft.com/office/drawing/2014/main" id="{7D553E41-C9C8-4E68-B936-4D61865AB235}"/>
                  </a:ext>
                </a:extLst>
              </p:cNvPr>
              <p:cNvSpPr txBox="1">
                <a:spLocks noRot="1" noChangeAspect="1" noMove="1" noResize="1" noEditPoints="1" noAdjustHandles="1" noChangeArrowheads="1" noChangeShapeType="1" noTextEdit="1"/>
              </p:cNvSpPr>
              <p:nvPr/>
            </p:nvSpPr>
            <p:spPr>
              <a:xfrm>
                <a:off x="3298963" y="1396297"/>
                <a:ext cx="874535" cy="369332"/>
              </a:xfrm>
              <a:prstGeom prst="rect">
                <a:avLst/>
              </a:prstGeom>
              <a:blipFill>
                <a:blip r:embed="rId3"/>
                <a:stretch>
                  <a:fillRect t="-8197" r="-5556" b="-24590"/>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C0B59565-44D6-D850-872B-F845136FA027}"/>
              </a:ext>
            </a:extLst>
          </p:cNvPr>
          <p:cNvSpPr/>
          <p:nvPr/>
        </p:nvSpPr>
        <p:spPr>
          <a:xfrm>
            <a:off x="2951922" y="218660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87B3D8B-2989-9A38-5297-7F09AB5CDAD2}"/>
              </a:ext>
            </a:extLst>
          </p:cNvPr>
          <p:cNvSpPr/>
          <p:nvPr/>
        </p:nvSpPr>
        <p:spPr>
          <a:xfrm>
            <a:off x="3299791" y="2842591"/>
            <a:ext cx="347869" cy="347869"/>
          </a:xfrm>
          <a:prstGeom prst="ellipse">
            <a:avLst/>
          </a:prstGeom>
          <a:solidFill>
            <a:schemeClr val="accent6"/>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A773526-AF15-FA2D-1E6F-DDAC9304357E}"/>
              </a:ext>
            </a:extLst>
          </p:cNvPr>
          <p:cNvSpPr/>
          <p:nvPr/>
        </p:nvSpPr>
        <p:spPr>
          <a:xfrm>
            <a:off x="3758648" y="2360543"/>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E7B308-50C2-8D08-6769-F8A9244A5E69}"/>
              </a:ext>
            </a:extLst>
          </p:cNvPr>
          <p:cNvSpPr/>
          <p:nvPr/>
        </p:nvSpPr>
        <p:spPr>
          <a:xfrm>
            <a:off x="4002155" y="295688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832786A-9D67-60AE-7DE7-B5F7770F55DF}"/>
              </a:ext>
            </a:extLst>
          </p:cNvPr>
          <p:cNvSpPr/>
          <p:nvPr/>
        </p:nvSpPr>
        <p:spPr>
          <a:xfrm>
            <a:off x="3889510" y="1959445"/>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1250864-40FE-7BE7-DA7F-54D93B46C2A6}"/>
              </a:ext>
            </a:extLst>
          </p:cNvPr>
          <p:cNvSpPr/>
          <p:nvPr/>
        </p:nvSpPr>
        <p:spPr>
          <a:xfrm>
            <a:off x="722906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9F88CAF-71CE-191B-6427-B0763137881F}"/>
                  </a:ext>
                </a:extLst>
              </p:cNvPr>
              <p:cNvSpPr txBox="1"/>
              <p:nvPr/>
            </p:nvSpPr>
            <p:spPr>
              <a:xfrm>
                <a:off x="7478892" y="1370914"/>
                <a:ext cx="1547796"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𝐾</m:t>
                    </m:r>
                  </m:oMath>
                </a14:m>
                <a:r>
                  <a:rPr lang="en-US"/>
                  <a:t> do </a:t>
                </a:r>
                <a:r>
                  <a:rPr lang="en-US" i="1"/>
                  <a:t>out</a:t>
                </a:r>
                <a:endParaRPr lang="en-US"/>
              </a:p>
            </p:txBody>
          </p:sp>
        </mc:Choice>
        <mc:Fallback xmlns="">
          <p:sp>
            <p:nvSpPr>
              <p:cNvPr id="12" name="TextBox 11">
                <a:extLst>
                  <a:ext uri="{FF2B5EF4-FFF2-40B4-BE49-F238E27FC236}">
                    <a16:creationId xmlns:a16="http://schemas.microsoft.com/office/drawing/2014/main" id="{29F88CAF-71CE-191B-6427-B0763137881F}"/>
                  </a:ext>
                </a:extLst>
              </p:cNvPr>
              <p:cNvSpPr txBox="1">
                <a:spLocks noRot="1" noChangeAspect="1" noMove="1" noResize="1" noEditPoints="1" noAdjustHandles="1" noChangeArrowheads="1" noChangeShapeType="1" noTextEdit="1"/>
              </p:cNvSpPr>
              <p:nvPr/>
            </p:nvSpPr>
            <p:spPr>
              <a:xfrm>
                <a:off x="7478892" y="1370914"/>
                <a:ext cx="1547796" cy="369332"/>
              </a:xfrm>
              <a:prstGeom prst="rect">
                <a:avLst/>
              </a:prstGeom>
              <a:blipFill>
                <a:blip r:embed="rId4"/>
                <a:stretch>
                  <a:fillRect t="-10000" r="-3150" b="-26667"/>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CFBDAFF7-689D-2CC0-6C25-215CA1A76B74}"/>
              </a:ext>
            </a:extLst>
          </p:cNvPr>
          <p:cNvSpPr/>
          <p:nvPr/>
        </p:nvSpPr>
        <p:spPr>
          <a:xfrm>
            <a:off x="7557052" y="218660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E495937-9A02-99A0-5BE9-6381FD7F8954}"/>
              </a:ext>
            </a:extLst>
          </p:cNvPr>
          <p:cNvSpPr/>
          <p:nvPr/>
        </p:nvSpPr>
        <p:spPr>
          <a:xfrm>
            <a:off x="7904921" y="2842591"/>
            <a:ext cx="347869" cy="347869"/>
          </a:xfrm>
          <a:prstGeom prst="ellipse">
            <a:avLst/>
          </a:prstGeom>
          <a:solidFill>
            <a:srgbClr val="FF0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637F3BA-17AF-FE21-C5D8-FC6F99192508}"/>
              </a:ext>
            </a:extLst>
          </p:cNvPr>
          <p:cNvSpPr/>
          <p:nvPr/>
        </p:nvSpPr>
        <p:spPr>
          <a:xfrm>
            <a:off x="8363778" y="2360543"/>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8006AEB-BCF8-3F75-1307-0B98CB984AC5}"/>
              </a:ext>
            </a:extLst>
          </p:cNvPr>
          <p:cNvSpPr/>
          <p:nvPr/>
        </p:nvSpPr>
        <p:spPr>
          <a:xfrm>
            <a:off x="8607285" y="295688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AB9D504-DE16-2B2B-AEC6-C504A0C1AF97}"/>
              </a:ext>
            </a:extLst>
          </p:cNvPr>
          <p:cNvSpPr/>
          <p:nvPr/>
        </p:nvSpPr>
        <p:spPr>
          <a:xfrm>
            <a:off x="8494640" y="1959445"/>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0117249-DD37-CD87-1125-12D64645BD4A}"/>
              </a:ext>
            </a:extLst>
          </p:cNvPr>
          <p:cNvSpPr txBox="1"/>
          <p:nvPr/>
        </p:nvSpPr>
        <p:spPr>
          <a:xfrm>
            <a:off x="904875" y="4655618"/>
            <a:ext cx="10553700" cy="369332"/>
          </a:xfrm>
          <a:prstGeom prst="rect">
            <a:avLst/>
          </a:prstGeom>
          <a:noFill/>
          <a:ln w="28575">
            <a:solidFill>
              <a:schemeClr val="accent6"/>
            </a:solidFill>
          </a:ln>
        </p:spPr>
        <p:txBody>
          <a:bodyPr wrap="square" rtlCol="0">
            <a:spAutoFit/>
          </a:bodyPr>
          <a:lstStyle/>
          <a:p>
            <a:r>
              <a:rPr lang="en-US"/>
              <a:t>If this profile is a Nash Equilibrium then it must be that...</a:t>
            </a:r>
          </a:p>
        </p:txBody>
      </p:sp>
      <p:sp>
        <p:nvSpPr>
          <p:cNvPr id="19" name="TextBox 18">
            <a:extLst>
              <a:ext uri="{FF2B5EF4-FFF2-40B4-BE49-F238E27FC236}">
                <a16:creationId xmlns:a16="http://schemas.microsoft.com/office/drawing/2014/main" id="{C6720570-BBDF-3239-EAD4-251122F0A51D}"/>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10542711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DC30D-EEB9-1875-B750-D99E701559C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D6A74FF-1145-BCE2-91DB-4BE07A00C513}"/>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any profile in which </a:t>
                </a:r>
                <a14:m>
                  <m:oMath xmlns:m="http://schemas.openxmlformats.org/officeDocument/2006/math">
                    <m:r>
                      <a:rPr lang="en-US" b="0" i="1" smtClean="0">
                        <a:latin typeface="Cambria Math" panose="02040503050406030204" pitchFamily="18" charset="0"/>
                      </a:rPr>
                      <m:t>𝐾</m:t>
                    </m:r>
                  </m:oMath>
                </a14:m>
                <a:r>
                  <a:rPr lang="en-US"/>
                  <a:t> do </a:t>
                </a:r>
                <a:r>
                  <a:rPr lang="en-US" i="1"/>
                  <a:t>in </a:t>
                </a:r>
                <a:r>
                  <a:rPr lang="en-US"/>
                  <a:t>with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&lt;9</m:t>
                    </m:r>
                  </m:oMath>
                </a14:m>
                <a:r>
                  <a:rPr lang="en-US"/>
                  <a:t> a Nash Equilibrium?</a:t>
                </a:r>
              </a:p>
            </p:txBody>
          </p:sp>
        </mc:Choice>
        <mc:Fallback xmlns="">
          <p:sp>
            <p:nvSpPr>
              <p:cNvPr id="4" name="TextBox 3">
                <a:extLst>
                  <a:ext uri="{FF2B5EF4-FFF2-40B4-BE49-F238E27FC236}">
                    <a16:creationId xmlns:a16="http://schemas.microsoft.com/office/drawing/2014/main" id="{BD6A74FF-1145-BCE2-91DB-4BE07A00C513}"/>
                  </a:ext>
                </a:extLst>
              </p:cNvPr>
              <p:cNvSpPr txBox="1">
                <a:spLocks noRot="1" noChangeAspect="1" noMove="1" noResize="1" noEditPoints="1" noAdjustHandles="1" noChangeArrowheads="1" noChangeShapeType="1" noTextEdit="1"/>
              </p:cNvSpPr>
              <p:nvPr/>
            </p:nvSpPr>
            <p:spPr>
              <a:xfrm>
                <a:off x="2428874" y="884275"/>
                <a:ext cx="7439025" cy="369332"/>
              </a:xfrm>
              <a:prstGeom prst="rect">
                <a:avLst/>
              </a:prstGeom>
              <a:blipFill>
                <a:blip r:embed="rId2"/>
                <a:stretch>
                  <a:fillRect t="-6349" b="-22222"/>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75E7413D-685C-7A3D-4E0F-EC1D161ACC68}"/>
              </a:ext>
            </a:extLst>
          </p:cNvPr>
          <p:cNvSpPr/>
          <p:nvPr/>
        </p:nvSpPr>
        <p:spPr>
          <a:xfrm>
            <a:off x="262393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BCBF301-F6F9-73DB-7090-AE4EC9364D7E}"/>
                  </a:ext>
                </a:extLst>
              </p:cNvPr>
              <p:cNvSpPr txBox="1"/>
              <p:nvPr/>
            </p:nvSpPr>
            <p:spPr>
              <a:xfrm>
                <a:off x="3298963" y="1396297"/>
                <a:ext cx="874535"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𝐾</m:t>
                    </m:r>
                  </m:oMath>
                </a14:m>
                <a:r>
                  <a:rPr lang="en-US"/>
                  <a:t> do </a:t>
                </a:r>
                <a:r>
                  <a:rPr lang="en-US" i="1"/>
                  <a:t>in</a:t>
                </a:r>
                <a:endParaRPr lang="en-US"/>
              </a:p>
            </p:txBody>
          </p:sp>
        </mc:Choice>
        <mc:Fallback xmlns="">
          <p:sp>
            <p:nvSpPr>
              <p:cNvPr id="5" name="TextBox 4">
                <a:extLst>
                  <a:ext uri="{FF2B5EF4-FFF2-40B4-BE49-F238E27FC236}">
                    <a16:creationId xmlns:a16="http://schemas.microsoft.com/office/drawing/2014/main" id="{7BCBF301-F6F9-73DB-7090-AE4EC9364D7E}"/>
                  </a:ext>
                </a:extLst>
              </p:cNvPr>
              <p:cNvSpPr txBox="1">
                <a:spLocks noRot="1" noChangeAspect="1" noMove="1" noResize="1" noEditPoints="1" noAdjustHandles="1" noChangeArrowheads="1" noChangeShapeType="1" noTextEdit="1"/>
              </p:cNvSpPr>
              <p:nvPr/>
            </p:nvSpPr>
            <p:spPr>
              <a:xfrm>
                <a:off x="3298963" y="1396297"/>
                <a:ext cx="874535" cy="369332"/>
              </a:xfrm>
              <a:prstGeom prst="rect">
                <a:avLst/>
              </a:prstGeom>
              <a:blipFill>
                <a:blip r:embed="rId3"/>
                <a:stretch>
                  <a:fillRect t="-8197" r="-5556" b="-24590"/>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F7D11E20-F33D-6BC2-41CC-CAD7A7075977}"/>
              </a:ext>
            </a:extLst>
          </p:cNvPr>
          <p:cNvSpPr/>
          <p:nvPr/>
        </p:nvSpPr>
        <p:spPr>
          <a:xfrm>
            <a:off x="2951922" y="218660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EEECAB7-D2F1-EFFE-0384-042A0005FB27}"/>
              </a:ext>
            </a:extLst>
          </p:cNvPr>
          <p:cNvSpPr/>
          <p:nvPr/>
        </p:nvSpPr>
        <p:spPr>
          <a:xfrm>
            <a:off x="2905540" y="2990849"/>
            <a:ext cx="347869" cy="347869"/>
          </a:xfrm>
          <a:prstGeom prst="ellipse">
            <a:avLst/>
          </a:prstGeom>
          <a:solidFill>
            <a:schemeClr val="accent6"/>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EE40A8B-24CC-03AA-FEE6-DE63243C3097}"/>
              </a:ext>
            </a:extLst>
          </p:cNvPr>
          <p:cNvSpPr/>
          <p:nvPr/>
        </p:nvSpPr>
        <p:spPr>
          <a:xfrm>
            <a:off x="3758648" y="2360543"/>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C13CAC9-7116-8941-F4A2-E0A788FC875B}"/>
              </a:ext>
            </a:extLst>
          </p:cNvPr>
          <p:cNvSpPr/>
          <p:nvPr/>
        </p:nvSpPr>
        <p:spPr>
          <a:xfrm>
            <a:off x="4002155" y="295688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AD0D48C-9E9C-9B0F-1D2B-1E2020A98A4E}"/>
              </a:ext>
            </a:extLst>
          </p:cNvPr>
          <p:cNvSpPr/>
          <p:nvPr/>
        </p:nvSpPr>
        <p:spPr>
          <a:xfrm>
            <a:off x="3889510" y="1959445"/>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C8D723D-680C-8DAF-1885-B057C32F4D5E}"/>
              </a:ext>
            </a:extLst>
          </p:cNvPr>
          <p:cNvSpPr/>
          <p:nvPr/>
        </p:nvSpPr>
        <p:spPr>
          <a:xfrm>
            <a:off x="722906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78F07D1-9077-FCB0-4610-C55184BCC818}"/>
                  </a:ext>
                </a:extLst>
              </p:cNvPr>
              <p:cNvSpPr txBox="1"/>
              <p:nvPr/>
            </p:nvSpPr>
            <p:spPr>
              <a:xfrm>
                <a:off x="7478892" y="1370914"/>
                <a:ext cx="1547796"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𝐾</m:t>
                    </m:r>
                  </m:oMath>
                </a14:m>
                <a:r>
                  <a:rPr lang="en-US"/>
                  <a:t> do </a:t>
                </a:r>
                <a:r>
                  <a:rPr lang="en-US" i="1"/>
                  <a:t>out</a:t>
                </a:r>
                <a:endParaRPr lang="en-US"/>
              </a:p>
            </p:txBody>
          </p:sp>
        </mc:Choice>
        <mc:Fallback xmlns="">
          <p:sp>
            <p:nvSpPr>
              <p:cNvPr id="12" name="TextBox 11">
                <a:extLst>
                  <a:ext uri="{FF2B5EF4-FFF2-40B4-BE49-F238E27FC236}">
                    <a16:creationId xmlns:a16="http://schemas.microsoft.com/office/drawing/2014/main" id="{678F07D1-9077-FCB0-4610-C55184BCC818}"/>
                  </a:ext>
                </a:extLst>
              </p:cNvPr>
              <p:cNvSpPr txBox="1">
                <a:spLocks noRot="1" noChangeAspect="1" noMove="1" noResize="1" noEditPoints="1" noAdjustHandles="1" noChangeArrowheads="1" noChangeShapeType="1" noTextEdit="1"/>
              </p:cNvSpPr>
              <p:nvPr/>
            </p:nvSpPr>
            <p:spPr>
              <a:xfrm>
                <a:off x="7478892" y="1370914"/>
                <a:ext cx="1547796" cy="369332"/>
              </a:xfrm>
              <a:prstGeom prst="rect">
                <a:avLst/>
              </a:prstGeom>
              <a:blipFill>
                <a:blip r:embed="rId4"/>
                <a:stretch>
                  <a:fillRect t="-10000" r="-3150" b="-26667"/>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E17F5295-0194-217B-86F1-312B98A4183B}"/>
              </a:ext>
            </a:extLst>
          </p:cNvPr>
          <p:cNvSpPr/>
          <p:nvPr/>
        </p:nvSpPr>
        <p:spPr>
          <a:xfrm>
            <a:off x="7557052" y="218660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A04691D-D348-A1C6-D806-0E780BF1AB67}"/>
              </a:ext>
            </a:extLst>
          </p:cNvPr>
          <p:cNvSpPr/>
          <p:nvPr/>
        </p:nvSpPr>
        <p:spPr>
          <a:xfrm>
            <a:off x="7904921" y="2842591"/>
            <a:ext cx="347869" cy="347869"/>
          </a:xfrm>
          <a:prstGeom prst="ellipse">
            <a:avLst/>
          </a:prstGeom>
          <a:solidFill>
            <a:srgbClr val="FF0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4EDC3C1-131A-B8CE-FE38-573D2BF447B6}"/>
              </a:ext>
            </a:extLst>
          </p:cNvPr>
          <p:cNvSpPr/>
          <p:nvPr/>
        </p:nvSpPr>
        <p:spPr>
          <a:xfrm>
            <a:off x="8363778" y="2360543"/>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08D114-F8BB-D235-7556-C6E388905875}"/>
              </a:ext>
            </a:extLst>
          </p:cNvPr>
          <p:cNvSpPr/>
          <p:nvPr/>
        </p:nvSpPr>
        <p:spPr>
          <a:xfrm>
            <a:off x="8607285" y="295688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310639D-14C1-96CF-2190-B192CCF89D51}"/>
              </a:ext>
            </a:extLst>
          </p:cNvPr>
          <p:cNvSpPr/>
          <p:nvPr/>
        </p:nvSpPr>
        <p:spPr>
          <a:xfrm>
            <a:off x="8494640" y="1959445"/>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353D5D9-C522-679D-46AD-C51BC1250BD3}"/>
              </a:ext>
            </a:extLst>
          </p:cNvPr>
          <p:cNvSpPr txBox="1"/>
          <p:nvPr/>
        </p:nvSpPr>
        <p:spPr>
          <a:xfrm>
            <a:off x="904875" y="4655618"/>
            <a:ext cx="10553700" cy="369332"/>
          </a:xfrm>
          <a:prstGeom prst="rect">
            <a:avLst/>
          </a:prstGeom>
          <a:noFill/>
          <a:ln w="28575">
            <a:solidFill>
              <a:schemeClr val="accent6"/>
            </a:solidFill>
          </a:ln>
        </p:spPr>
        <p:txBody>
          <a:bodyPr wrap="square" rtlCol="0">
            <a:spAutoFit/>
          </a:bodyPr>
          <a:lstStyle/>
          <a:p>
            <a:r>
              <a:rPr lang="en-US"/>
              <a:t>If this profile is a Nash Equilibrium then it must be that...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2A164F9-1F5E-9AD2-1349-4982634673D6}"/>
                  </a:ext>
                </a:extLst>
              </p:cNvPr>
              <p:cNvSpPr txBox="1"/>
              <p:nvPr/>
            </p:nvSpPr>
            <p:spPr>
              <a:xfrm>
                <a:off x="538162" y="5236732"/>
                <a:ext cx="4848225" cy="923330"/>
              </a:xfrm>
              <a:prstGeom prst="rect">
                <a:avLst/>
              </a:prstGeom>
              <a:noFill/>
              <a:ln w="38100">
                <a:solidFill>
                  <a:schemeClr val="accent2"/>
                </a:solidFill>
              </a:ln>
            </p:spPr>
            <p:txBody>
              <a:bodyPr wrap="square" rtlCol="0">
                <a:spAutoFit/>
              </a:bodyPr>
              <a:lstStyle/>
              <a:p>
                <a:r>
                  <a:rPr lang="en-US"/>
                  <a:t>...for any given person who does </a:t>
                </a:r>
                <a:r>
                  <a:rPr lang="en-US" i="1"/>
                  <a:t>in</a:t>
                </a:r>
                <a:r>
                  <a:rPr lang="en-US"/>
                  <a:t> in the profile, doing </a:t>
                </a:r>
                <a:r>
                  <a:rPr lang="en-US" i="1"/>
                  <a:t>in </a:t>
                </a:r>
                <a:r>
                  <a:rPr lang="en-US"/>
                  <a:t>is a best response to the expectation that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−1</m:t>
                    </m:r>
                  </m:oMath>
                </a14:m>
                <a:r>
                  <a:rPr lang="en-US"/>
                  <a:t> other persons do </a:t>
                </a:r>
                <a:r>
                  <a:rPr lang="en-US" i="1"/>
                  <a:t>in</a:t>
                </a:r>
                <a:r>
                  <a:rPr lang="en-US"/>
                  <a:t>.</a:t>
                </a:r>
              </a:p>
            </p:txBody>
          </p:sp>
        </mc:Choice>
        <mc:Fallback xmlns="">
          <p:sp>
            <p:nvSpPr>
              <p:cNvPr id="19" name="TextBox 18">
                <a:extLst>
                  <a:ext uri="{FF2B5EF4-FFF2-40B4-BE49-F238E27FC236}">
                    <a16:creationId xmlns:a16="http://schemas.microsoft.com/office/drawing/2014/main" id="{F2A164F9-1F5E-9AD2-1349-4982634673D6}"/>
                  </a:ext>
                </a:extLst>
              </p:cNvPr>
              <p:cNvSpPr txBox="1">
                <a:spLocks noRot="1" noChangeAspect="1" noMove="1" noResize="1" noEditPoints="1" noAdjustHandles="1" noChangeArrowheads="1" noChangeShapeType="1" noTextEdit="1"/>
              </p:cNvSpPr>
              <p:nvPr/>
            </p:nvSpPr>
            <p:spPr>
              <a:xfrm>
                <a:off x="538162" y="5236732"/>
                <a:ext cx="4848225" cy="923330"/>
              </a:xfrm>
              <a:prstGeom prst="rect">
                <a:avLst/>
              </a:prstGeom>
              <a:blipFill>
                <a:blip r:embed="rId5"/>
                <a:stretch>
                  <a:fillRect l="-623" t="-1266" r="-1122" b="-6962"/>
                </a:stretch>
              </a:blipFill>
              <a:ln w="38100">
                <a:solidFill>
                  <a:schemeClr val="accent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3F16AD36-D6F1-055D-ED1C-4B4DDD1C0C68}"/>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4029083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DFD0B-4795-794B-A00B-1AFB74BF94E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0C0A3D-308B-ED91-60F9-93687D23F2F4}"/>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any profile in which </a:t>
                </a:r>
                <a14:m>
                  <m:oMath xmlns:m="http://schemas.openxmlformats.org/officeDocument/2006/math">
                    <m:r>
                      <a:rPr lang="en-US" b="0" i="1" smtClean="0">
                        <a:latin typeface="Cambria Math" panose="02040503050406030204" pitchFamily="18" charset="0"/>
                      </a:rPr>
                      <m:t>𝐾</m:t>
                    </m:r>
                  </m:oMath>
                </a14:m>
                <a:r>
                  <a:rPr lang="en-US"/>
                  <a:t> do </a:t>
                </a:r>
                <a:r>
                  <a:rPr lang="en-US" i="1"/>
                  <a:t>in </a:t>
                </a:r>
                <a:r>
                  <a:rPr lang="en-US"/>
                  <a:t>with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&lt;9</m:t>
                    </m:r>
                  </m:oMath>
                </a14:m>
                <a:r>
                  <a:rPr lang="en-US"/>
                  <a:t> a Nash Equilibrium?</a:t>
                </a:r>
              </a:p>
            </p:txBody>
          </p:sp>
        </mc:Choice>
        <mc:Fallback xmlns="">
          <p:sp>
            <p:nvSpPr>
              <p:cNvPr id="4" name="TextBox 3">
                <a:extLst>
                  <a:ext uri="{FF2B5EF4-FFF2-40B4-BE49-F238E27FC236}">
                    <a16:creationId xmlns:a16="http://schemas.microsoft.com/office/drawing/2014/main" id="{AD0C0A3D-308B-ED91-60F9-93687D23F2F4}"/>
                  </a:ext>
                </a:extLst>
              </p:cNvPr>
              <p:cNvSpPr txBox="1">
                <a:spLocks noRot="1" noChangeAspect="1" noMove="1" noResize="1" noEditPoints="1" noAdjustHandles="1" noChangeArrowheads="1" noChangeShapeType="1" noTextEdit="1"/>
              </p:cNvSpPr>
              <p:nvPr/>
            </p:nvSpPr>
            <p:spPr>
              <a:xfrm>
                <a:off x="2428874" y="884275"/>
                <a:ext cx="7439025" cy="369332"/>
              </a:xfrm>
              <a:prstGeom prst="rect">
                <a:avLst/>
              </a:prstGeom>
              <a:blipFill>
                <a:blip r:embed="rId2"/>
                <a:stretch>
                  <a:fillRect t="-6349" b="-22222"/>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64BC5AE3-37F5-4D32-EB43-14288D15F39E}"/>
              </a:ext>
            </a:extLst>
          </p:cNvPr>
          <p:cNvSpPr/>
          <p:nvPr/>
        </p:nvSpPr>
        <p:spPr>
          <a:xfrm>
            <a:off x="262393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7CBCA7E-5A03-AFAC-3021-48CB30BEE7DB}"/>
                  </a:ext>
                </a:extLst>
              </p:cNvPr>
              <p:cNvSpPr txBox="1"/>
              <p:nvPr/>
            </p:nvSpPr>
            <p:spPr>
              <a:xfrm>
                <a:off x="3298963" y="1396297"/>
                <a:ext cx="874535"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𝐾</m:t>
                    </m:r>
                  </m:oMath>
                </a14:m>
                <a:r>
                  <a:rPr lang="en-US"/>
                  <a:t> do </a:t>
                </a:r>
                <a:r>
                  <a:rPr lang="en-US" i="1"/>
                  <a:t>in</a:t>
                </a:r>
                <a:endParaRPr lang="en-US"/>
              </a:p>
            </p:txBody>
          </p:sp>
        </mc:Choice>
        <mc:Fallback xmlns="">
          <p:sp>
            <p:nvSpPr>
              <p:cNvPr id="5" name="TextBox 4">
                <a:extLst>
                  <a:ext uri="{FF2B5EF4-FFF2-40B4-BE49-F238E27FC236}">
                    <a16:creationId xmlns:a16="http://schemas.microsoft.com/office/drawing/2014/main" id="{97CBCA7E-5A03-AFAC-3021-48CB30BEE7DB}"/>
                  </a:ext>
                </a:extLst>
              </p:cNvPr>
              <p:cNvSpPr txBox="1">
                <a:spLocks noRot="1" noChangeAspect="1" noMove="1" noResize="1" noEditPoints="1" noAdjustHandles="1" noChangeArrowheads="1" noChangeShapeType="1" noTextEdit="1"/>
              </p:cNvSpPr>
              <p:nvPr/>
            </p:nvSpPr>
            <p:spPr>
              <a:xfrm>
                <a:off x="3298963" y="1396297"/>
                <a:ext cx="874535" cy="369332"/>
              </a:xfrm>
              <a:prstGeom prst="rect">
                <a:avLst/>
              </a:prstGeom>
              <a:blipFill>
                <a:blip r:embed="rId3"/>
                <a:stretch>
                  <a:fillRect t="-8197" r="-5556" b="-24590"/>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55958113-05A2-4E81-0048-487CC90147D0}"/>
              </a:ext>
            </a:extLst>
          </p:cNvPr>
          <p:cNvSpPr/>
          <p:nvPr/>
        </p:nvSpPr>
        <p:spPr>
          <a:xfrm>
            <a:off x="2951922" y="218660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EBFDBAA-D5DB-EE6B-0FC7-94BCDEB2B21E}"/>
              </a:ext>
            </a:extLst>
          </p:cNvPr>
          <p:cNvSpPr/>
          <p:nvPr/>
        </p:nvSpPr>
        <p:spPr>
          <a:xfrm>
            <a:off x="2905540" y="2990849"/>
            <a:ext cx="347869" cy="347869"/>
          </a:xfrm>
          <a:prstGeom prst="ellipse">
            <a:avLst/>
          </a:prstGeom>
          <a:solidFill>
            <a:schemeClr val="accent6"/>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7F66973-9CDE-885E-27B0-FDAB6DE58701}"/>
              </a:ext>
            </a:extLst>
          </p:cNvPr>
          <p:cNvSpPr/>
          <p:nvPr/>
        </p:nvSpPr>
        <p:spPr>
          <a:xfrm>
            <a:off x="3758648" y="2360543"/>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154767A-2F29-BC0B-37FF-C2CDE57BC5EB}"/>
              </a:ext>
            </a:extLst>
          </p:cNvPr>
          <p:cNvSpPr/>
          <p:nvPr/>
        </p:nvSpPr>
        <p:spPr>
          <a:xfrm>
            <a:off x="4002155" y="295688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68DE069-5BD8-68A5-5B9D-B48EF34BB890}"/>
              </a:ext>
            </a:extLst>
          </p:cNvPr>
          <p:cNvSpPr/>
          <p:nvPr/>
        </p:nvSpPr>
        <p:spPr>
          <a:xfrm>
            <a:off x="3889510" y="1959445"/>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9FBF828-AAF6-C7EA-97A1-AAFFF2ADC80F}"/>
              </a:ext>
            </a:extLst>
          </p:cNvPr>
          <p:cNvSpPr/>
          <p:nvPr/>
        </p:nvSpPr>
        <p:spPr>
          <a:xfrm>
            <a:off x="722906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26F747A-EF1A-4745-DA45-8FB3D6B53029}"/>
                  </a:ext>
                </a:extLst>
              </p:cNvPr>
              <p:cNvSpPr txBox="1"/>
              <p:nvPr/>
            </p:nvSpPr>
            <p:spPr>
              <a:xfrm>
                <a:off x="7478892" y="1370914"/>
                <a:ext cx="1547796"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𝐾</m:t>
                    </m:r>
                  </m:oMath>
                </a14:m>
                <a:r>
                  <a:rPr lang="en-US"/>
                  <a:t> do </a:t>
                </a:r>
                <a:r>
                  <a:rPr lang="en-US" i="1"/>
                  <a:t>out</a:t>
                </a:r>
                <a:endParaRPr lang="en-US"/>
              </a:p>
            </p:txBody>
          </p:sp>
        </mc:Choice>
        <mc:Fallback xmlns="">
          <p:sp>
            <p:nvSpPr>
              <p:cNvPr id="12" name="TextBox 11">
                <a:extLst>
                  <a:ext uri="{FF2B5EF4-FFF2-40B4-BE49-F238E27FC236}">
                    <a16:creationId xmlns:a16="http://schemas.microsoft.com/office/drawing/2014/main" id="{E26F747A-EF1A-4745-DA45-8FB3D6B53029}"/>
                  </a:ext>
                </a:extLst>
              </p:cNvPr>
              <p:cNvSpPr txBox="1">
                <a:spLocks noRot="1" noChangeAspect="1" noMove="1" noResize="1" noEditPoints="1" noAdjustHandles="1" noChangeArrowheads="1" noChangeShapeType="1" noTextEdit="1"/>
              </p:cNvSpPr>
              <p:nvPr/>
            </p:nvSpPr>
            <p:spPr>
              <a:xfrm>
                <a:off x="7478892" y="1370914"/>
                <a:ext cx="1547796" cy="369332"/>
              </a:xfrm>
              <a:prstGeom prst="rect">
                <a:avLst/>
              </a:prstGeom>
              <a:blipFill>
                <a:blip r:embed="rId4"/>
                <a:stretch>
                  <a:fillRect t="-10000" r="-3150" b="-26667"/>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83955F88-FE37-0B2F-B2C5-83B69730FD11}"/>
              </a:ext>
            </a:extLst>
          </p:cNvPr>
          <p:cNvSpPr/>
          <p:nvPr/>
        </p:nvSpPr>
        <p:spPr>
          <a:xfrm>
            <a:off x="7557052" y="218660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6FF922F-A887-7B5A-D1B4-CC5166A5BF05}"/>
              </a:ext>
            </a:extLst>
          </p:cNvPr>
          <p:cNvSpPr/>
          <p:nvPr/>
        </p:nvSpPr>
        <p:spPr>
          <a:xfrm>
            <a:off x="7396369" y="3043030"/>
            <a:ext cx="347869" cy="347869"/>
          </a:xfrm>
          <a:prstGeom prst="ellipse">
            <a:avLst/>
          </a:prstGeom>
          <a:solidFill>
            <a:srgbClr val="FF0000"/>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5B67D2D-C7B5-4206-9198-03DC1E75BC75}"/>
              </a:ext>
            </a:extLst>
          </p:cNvPr>
          <p:cNvSpPr/>
          <p:nvPr/>
        </p:nvSpPr>
        <p:spPr>
          <a:xfrm>
            <a:off x="8363778" y="2360543"/>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10D1DB7-19A8-CFB2-835E-5FC1A12CD22D}"/>
              </a:ext>
            </a:extLst>
          </p:cNvPr>
          <p:cNvSpPr/>
          <p:nvPr/>
        </p:nvSpPr>
        <p:spPr>
          <a:xfrm>
            <a:off x="8607285" y="295688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5578C26-2385-BBCA-5D04-2809FA9356E2}"/>
              </a:ext>
            </a:extLst>
          </p:cNvPr>
          <p:cNvSpPr/>
          <p:nvPr/>
        </p:nvSpPr>
        <p:spPr>
          <a:xfrm>
            <a:off x="8494640" y="1959445"/>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FAC5F01-C377-648D-008A-2B41C9E7169D}"/>
              </a:ext>
            </a:extLst>
          </p:cNvPr>
          <p:cNvSpPr txBox="1"/>
          <p:nvPr/>
        </p:nvSpPr>
        <p:spPr>
          <a:xfrm>
            <a:off x="904875" y="4655618"/>
            <a:ext cx="10553700" cy="369332"/>
          </a:xfrm>
          <a:prstGeom prst="rect">
            <a:avLst/>
          </a:prstGeom>
          <a:noFill/>
          <a:ln w="28575">
            <a:solidFill>
              <a:schemeClr val="accent6"/>
            </a:solidFill>
          </a:ln>
        </p:spPr>
        <p:txBody>
          <a:bodyPr wrap="square" rtlCol="0">
            <a:spAutoFit/>
          </a:bodyPr>
          <a:lstStyle/>
          <a:p>
            <a:r>
              <a:rPr lang="en-US"/>
              <a:t>If this profile is a Nash Equilibrium then it must be that...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0D94A24-FCCD-475B-CCA1-83C72D33CD8A}"/>
                  </a:ext>
                </a:extLst>
              </p:cNvPr>
              <p:cNvSpPr txBox="1"/>
              <p:nvPr/>
            </p:nvSpPr>
            <p:spPr>
              <a:xfrm>
                <a:off x="538162" y="5236732"/>
                <a:ext cx="4848225" cy="923330"/>
              </a:xfrm>
              <a:prstGeom prst="rect">
                <a:avLst/>
              </a:prstGeom>
              <a:noFill/>
              <a:ln w="38100">
                <a:solidFill>
                  <a:schemeClr val="accent2"/>
                </a:solidFill>
              </a:ln>
            </p:spPr>
            <p:txBody>
              <a:bodyPr wrap="square" rtlCol="0">
                <a:spAutoFit/>
              </a:bodyPr>
              <a:lstStyle/>
              <a:p>
                <a:r>
                  <a:rPr lang="en-US"/>
                  <a:t>...for any given person who does </a:t>
                </a:r>
                <a:r>
                  <a:rPr lang="en-US" i="1"/>
                  <a:t>in</a:t>
                </a:r>
                <a:r>
                  <a:rPr lang="en-US"/>
                  <a:t> in the profile, doing </a:t>
                </a:r>
                <a:r>
                  <a:rPr lang="en-US" i="1"/>
                  <a:t>in </a:t>
                </a:r>
                <a:r>
                  <a:rPr lang="en-US"/>
                  <a:t>is a best response to the expectation that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−1</m:t>
                    </m:r>
                  </m:oMath>
                </a14:m>
                <a:r>
                  <a:rPr lang="en-US"/>
                  <a:t> other persons do </a:t>
                </a:r>
                <a:r>
                  <a:rPr lang="en-US" i="1"/>
                  <a:t>in</a:t>
                </a:r>
                <a:r>
                  <a:rPr lang="en-US"/>
                  <a:t>.</a:t>
                </a:r>
              </a:p>
            </p:txBody>
          </p:sp>
        </mc:Choice>
        <mc:Fallback xmlns="">
          <p:sp>
            <p:nvSpPr>
              <p:cNvPr id="19" name="TextBox 18">
                <a:extLst>
                  <a:ext uri="{FF2B5EF4-FFF2-40B4-BE49-F238E27FC236}">
                    <a16:creationId xmlns:a16="http://schemas.microsoft.com/office/drawing/2014/main" id="{90D94A24-FCCD-475B-CCA1-83C72D33CD8A}"/>
                  </a:ext>
                </a:extLst>
              </p:cNvPr>
              <p:cNvSpPr txBox="1">
                <a:spLocks noRot="1" noChangeAspect="1" noMove="1" noResize="1" noEditPoints="1" noAdjustHandles="1" noChangeArrowheads="1" noChangeShapeType="1" noTextEdit="1"/>
              </p:cNvSpPr>
              <p:nvPr/>
            </p:nvSpPr>
            <p:spPr>
              <a:xfrm>
                <a:off x="538162" y="5236732"/>
                <a:ext cx="4848225" cy="923330"/>
              </a:xfrm>
              <a:prstGeom prst="rect">
                <a:avLst/>
              </a:prstGeom>
              <a:blipFill>
                <a:blip r:embed="rId5"/>
                <a:stretch>
                  <a:fillRect l="-623" t="-1266" r="-1122" b="-6962"/>
                </a:stretch>
              </a:blipFill>
              <a:ln w="38100">
                <a:solidFill>
                  <a:schemeClr val="accent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9DEB8A22-5F60-9C6D-573D-A533B0E4BBF1}"/>
              </a:ext>
            </a:extLst>
          </p:cNvPr>
          <p:cNvSpPr txBox="1"/>
          <p:nvPr/>
        </p:nvSpPr>
        <p:spPr>
          <a:xfrm>
            <a:off x="5653969" y="5361161"/>
            <a:ext cx="951671" cy="369332"/>
          </a:xfrm>
          <a:prstGeom prst="rect">
            <a:avLst/>
          </a:prstGeom>
          <a:noFill/>
          <a:ln w="28575">
            <a:solidFill>
              <a:schemeClr val="accent6"/>
            </a:solidFill>
          </a:ln>
        </p:spPr>
        <p:txBody>
          <a:bodyPr wrap="none" rtlCol="0">
            <a:spAutoFit/>
          </a:bodyPr>
          <a:lstStyle/>
          <a:p>
            <a:r>
              <a:rPr lang="en-US"/>
              <a:t>...AND...</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39DB1C8-4CC5-495F-E0DE-AC4218D00758}"/>
                  </a:ext>
                </a:extLst>
              </p:cNvPr>
              <p:cNvSpPr txBox="1"/>
              <p:nvPr/>
            </p:nvSpPr>
            <p:spPr>
              <a:xfrm>
                <a:off x="6862347" y="5247660"/>
                <a:ext cx="4848225" cy="923330"/>
              </a:xfrm>
              <a:prstGeom prst="rect">
                <a:avLst/>
              </a:prstGeom>
              <a:noFill/>
              <a:ln w="28575">
                <a:solidFill>
                  <a:schemeClr val="accent1"/>
                </a:solidFill>
              </a:ln>
            </p:spPr>
            <p:txBody>
              <a:bodyPr wrap="square" rtlCol="0">
                <a:spAutoFit/>
              </a:bodyPr>
              <a:lstStyle/>
              <a:p>
                <a:r>
                  <a:rPr lang="en-US"/>
                  <a:t>...for any given person who does </a:t>
                </a:r>
                <a:r>
                  <a:rPr lang="en-US" i="1"/>
                  <a:t>out</a:t>
                </a:r>
                <a:r>
                  <a:rPr lang="en-US"/>
                  <a:t> in the profile, doing </a:t>
                </a:r>
                <a:r>
                  <a:rPr lang="en-US" i="1"/>
                  <a:t>out </a:t>
                </a:r>
                <a:r>
                  <a:rPr lang="en-US"/>
                  <a:t>is a best response to the expectation that </a:t>
                </a:r>
                <a14:m>
                  <m:oMath xmlns:m="http://schemas.openxmlformats.org/officeDocument/2006/math">
                    <m:r>
                      <a:rPr lang="en-US" b="0" i="1" smtClean="0">
                        <a:latin typeface="Cambria Math" panose="02040503050406030204" pitchFamily="18" charset="0"/>
                      </a:rPr>
                      <m:t>𝐾</m:t>
                    </m:r>
                  </m:oMath>
                </a14:m>
                <a:r>
                  <a:rPr lang="en-US"/>
                  <a:t> other persons do </a:t>
                </a:r>
                <a:r>
                  <a:rPr lang="en-US" i="1"/>
                  <a:t>in</a:t>
                </a:r>
                <a:r>
                  <a:rPr lang="en-US"/>
                  <a:t>.</a:t>
                </a:r>
              </a:p>
            </p:txBody>
          </p:sp>
        </mc:Choice>
        <mc:Fallback xmlns="">
          <p:sp>
            <p:nvSpPr>
              <p:cNvPr id="21" name="TextBox 20">
                <a:extLst>
                  <a:ext uri="{FF2B5EF4-FFF2-40B4-BE49-F238E27FC236}">
                    <a16:creationId xmlns:a16="http://schemas.microsoft.com/office/drawing/2014/main" id="{F39DB1C8-4CC5-495F-E0DE-AC4218D00758}"/>
                  </a:ext>
                </a:extLst>
              </p:cNvPr>
              <p:cNvSpPr txBox="1">
                <a:spLocks noRot="1" noChangeAspect="1" noMove="1" noResize="1" noEditPoints="1" noAdjustHandles="1" noChangeArrowheads="1" noChangeShapeType="1" noTextEdit="1"/>
              </p:cNvSpPr>
              <p:nvPr/>
            </p:nvSpPr>
            <p:spPr>
              <a:xfrm>
                <a:off x="6862347" y="5247660"/>
                <a:ext cx="4848225" cy="923330"/>
              </a:xfrm>
              <a:prstGeom prst="rect">
                <a:avLst/>
              </a:prstGeom>
              <a:blipFill>
                <a:blip r:embed="rId6"/>
                <a:stretch>
                  <a:fillRect l="-875" t="-2564" b="-7692"/>
                </a:stretch>
              </a:blipFill>
              <a:ln w="28575">
                <a:solidFill>
                  <a:schemeClr val="accent1"/>
                </a:solidFill>
              </a:ln>
            </p:spPr>
            <p:txBody>
              <a:bodyPr/>
              <a:lstStyle/>
              <a:p>
                <a:r>
                  <a:rPr lang="en-US">
                    <a:noFill/>
                  </a:rPr>
                  <a:t> </a:t>
                </a:r>
              </a:p>
            </p:txBody>
          </p:sp>
        </mc:Fallback>
      </mc:AlternateContent>
      <p:sp>
        <p:nvSpPr>
          <p:cNvPr id="22" name="TextBox 21">
            <a:extLst>
              <a:ext uri="{FF2B5EF4-FFF2-40B4-BE49-F238E27FC236}">
                <a16:creationId xmlns:a16="http://schemas.microsoft.com/office/drawing/2014/main" id="{9B938717-48E1-64A1-E044-0B0E51E41662}"/>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2663942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1BC5C-16B4-FCEC-B3ED-2DB7C883CC46}"/>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78C9B669-BE64-9ED8-E020-7085B0EEFF83}"/>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4FCF2F-844F-3D8E-B07D-E1B1A89E307D}"/>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any profile in which </a:t>
                </a:r>
                <a14:m>
                  <m:oMath xmlns:m="http://schemas.openxmlformats.org/officeDocument/2006/math">
                    <m:r>
                      <a:rPr lang="en-US" b="0" i="1" smtClean="0">
                        <a:latin typeface="Cambria Math" panose="02040503050406030204" pitchFamily="18" charset="0"/>
                      </a:rPr>
                      <m:t>𝐾</m:t>
                    </m:r>
                  </m:oMath>
                </a14:m>
                <a:r>
                  <a:rPr lang="en-US"/>
                  <a:t> do </a:t>
                </a:r>
                <a:r>
                  <a:rPr lang="en-US" i="1"/>
                  <a:t>in </a:t>
                </a:r>
                <a:r>
                  <a:rPr lang="en-US"/>
                  <a:t>with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&lt;9</m:t>
                    </m:r>
                  </m:oMath>
                </a14:m>
                <a:r>
                  <a:rPr lang="en-US"/>
                  <a:t> a Nash Equilibrium?</a:t>
                </a:r>
              </a:p>
            </p:txBody>
          </p:sp>
        </mc:Choice>
        <mc:Fallback xmlns="">
          <p:sp>
            <p:nvSpPr>
              <p:cNvPr id="4" name="TextBox 3">
                <a:extLst>
                  <a:ext uri="{FF2B5EF4-FFF2-40B4-BE49-F238E27FC236}">
                    <a16:creationId xmlns:a16="http://schemas.microsoft.com/office/drawing/2014/main" id="{5D4FCF2F-844F-3D8E-B07D-E1B1A89E307D}"/>
                  </a:ext>
                </a:extLst>
              </p:cNvPr>
              <p:cNvSpPr txBox="1">
                <a:spLocks noRot="1" noChangeAspect="1" noMove="1" noResize="1" noEditPoints="1" noAdjustHandles="1" noChangeArrowheads="1" noChangeShapeType="1" noTextEdit="1"/>
              </p:cNvSpPr>
              <p:nvPr/>
            </p:nvSpPr>
            <p:spPr>
              <a:xfrm>
                <a:off x="2428874" y="884275"/>
                <a:ext cx="7439025" cy="369332"/>
              </a:xfrm>
              <a:prstGeom prst="rect">
                <a:avLst/>
              </a:prstGeom>
              <a:blipFill>
                <a:blip r:embed="rId2"/>
                <a:stretch>
                  <a:fillRect t="-6349" b="-22222"/>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DA90DDB3-D753-0331-134C-29E5132A6EC6}"/>
              </a:ext>
            </a:extLst>
          </p:cNvPr>
          <p:cNvSpPr/>
          <p:nvPr/>
        </p:nvSpPr>
        <p:spPr>
          <a:xfrm>
            <a:off x="262393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A0F8AE8-202C-59CA-FC85-A208F87A69B9}"/>
                  </a:ext>
                </a:extLst>
              </p:cNvPr>
              <p:cNvSpPr txBox="1"/>
              <p:nvPr/>
            </p:nvSpPr>
            <p:spPr>
              <a:xfrm>
                <a:off x="3298963" y="1396297"/>
                <a:ext cx="874535"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𝐾</m:t>
                    </m:r>
                  </m:oMath>
                </a14:m>
                <a:r>
                  <a:rPr lang="en-US"/>
                  <a:t> do </a:t>
                </a:r>
                <a:r>
                  <a:rPr lang="en-US" i="1"/>
                  <a:t>in</a:t>
                </a:r>
                <a:endParaRPr lang="en-US"/>
              </a:p>
            </p:txBody>
          </p:sp>
        </mc:Choice>
        <mc:Fallback xmlns="">
          <p:sp>
            <p:nvSpPr>
              <p:cNvPr id="5" name="TextBox 4">
                <a:extLst>
                  <a:ext uri="{FF2B5EF4-FFF2-40B4-BE49-F238E27FC236}">
                    <a16:creationId xmlns:a16="http://schemas.microsoft.com/office/drawing/2014/main" id="{4A0F8AE8-202C-59CA-FC85-A208F87A69B9}"/>
                  </a:ext>
                </a:extLst>
              </p:cNvPr>
              <p:cNvSpPr txBox="1">
                <a:spLocks noRot="1" noChangeAspect="1" noMove="1" noResize="1" noEditPoints="1" noAdjustHandles="1" noChangeArrowheads="1" noChangeShapeType="1" noTextEdit="1"/>
              </p:cNvSpPr>
              <p:nvPr/>
            </p:nvSpPr>
            <p:spPr>
              <a:xfrm>
                <a:off x="3298963" y="1396297"/>
                <a:ext cx="874535" cy="369332"/>
              </a:xfrm>
              <a:prstGeom prst="rect">
                <a:avLst/>
              </a:prstGeom>
              <a:blipFill>
                <a:blip r:embed="rId3"/>
                <a:stretch>
                  <a:fillRect t="-8197" r="-5556" b="-24590"/>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EEBDBC91-3074-3B83-199F-4D0C68BC6554}"/>
              </a:ext>
            </a:extLst>
          </p:cNvPr>
          <p:cNvSpPr/>
          <p:nvPr/>
        </p:nvSpPr>
        <p:spPr>
          <a:xfrm>
            <a:off x="2951922" y="218660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497A520-F2FC-4C27-B27C-B81CFA0821BB}"/>
              </a:ext>
            </a:extLst>
          </p:cNvPr>
          <p:cNvSpPr/>
          <p:nvPr/>
        </p:nvSpPr>
        <p:spPr>
          <a:xfrm>
            <a:off x="2905540" y="2990849"/>
            <a:ext cx="347869" cy="347869"/>
          </a:xfrm>
          <a:prstGeom prst="ellipse">
            <a:avLst/>
          </a:prstGeom>
          <a:solidFill>
            <a:schemeClr val="accent6"/>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23271A1-7718-FC94-5C1C-910616302E90}"/>
              </a:ext>
            </a:extLst>
          </p:cNvPr>
          <p:cNvSpPr/>
          <p:nvPr/>
        </p:nvSpPr>
        <p:spPr>
          <a:xfrm>
            <a:off x="3758648" y="2360543"/>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AE388A6-E1AA-1348-6F98-FA8F05B83AD1}"/>
              </a:ext>
            </a:extLst>
          </p:cNvPr>
          <p:cNvSpPr/>
          <p:nvPr/>
        </p:nvSpPr>
        <p:spPr>
          <a:xfrm>
            <a:off x="4002155" y="295688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65B0163-92C5-9436-7C44-87C73CAE3593}"/>
              </a:ext>
            </a:extLst>
          </p:cNvPr>
          <p:cNvSpPr/>
          <p:nvPr/>
        </p:nvSpPr>
        <p:spPr>
          <a:xfrm>
            <a:off x="3889510" y="1959445"/>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890C85-ED7B-76B0-BEE0-A8AC0C761510}"/>
              </a:ext>
            </a:extLst>
          </p:cNvPr>
          <p:cNvSpPr/>
          <p:nvPr/>
        </p:nvSpPr>
        <p:spPr>
          <a:xfrm>
            <a:off x="722906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0FB1F2C-E8CA-0EF4-4556-34F6352ECAC3}"/>
                  </a:ext>
                </a:extLst>
              </p:cNvPr>
              <p:cNvSpPr txBox="1"/>
              <p:nvPr/>
            </p:nvSpPr>
            <p:spPr>
              <a:xfrm>
                <a:off x="7478892" y="1370914"/>
                <a:ext cx="1547796"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𝐾</m:t>
                    </m:r>
                  </m:oMath>
                </a14:m>
                <a:r>
                  <a:rPr lang="en-US"/>
                  <a:t> do </a:t>
                </a:r>
                <a:r>
                  <a:rPr lang="en-US" i="1"/>
                  <a:t>out</a:t>
                </a:r>
                <a:endParaRPr lang="en-US"/>
              </a:p>
            </p:txBody>
          </p:sp>
        </mc:Choice>
        <mc:Fallback xmlns="">
          <p:sp>
            <p:nvSpPr>
              <p:cNvPr id="12" name="TextBox 11">
                <a:extLst>
                  <a:ext uri="{FF2B5EF4-FFF2-40B4-BE49-F238E27FC236}">
                    <a16:creationId xmlns:a16="http://schemas.microsoft.com/office/drawing/2014/main" id="{A0FB1F2C-E8CA-0EF4-4556-34F6352ECAC3}"/>
                  </a:ext>
                </a:extLst>
              </p:cNvPr>
              <p:cNvSpPr txBox="1">
                <a:spLocks noRot="1" noChangeAspect="1" noMove="1" noResize="1" noEditPoints="1" noAdjustHandles="1" noChangeArrowheads="1" noChangeShapeType="1" noTextEdit="1"/>
              </p:cNvSpPr>
              <p:nvPr/>
            </p:nvSpPr>
            <p:spPr>
              <a:xfrm>
                <a:off x="7478892" y="1370914"/>
                <a:ext cx="1547796" cy="369332"/>
              </a:xfrm>
              <a:prstGeom prst="rect">
                <a:avLst/>
              </a:prstGeom>
              <a:blipFill>
                <a:blip r:embed="rId4"/>
                <a:stretch>
                  <a:fillRect t="-10000" r="-3150" b="-26667"/>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90DCEDA2-645A-88CB-5802-161CB4091B85}"/>
              </a:ext>
            </a:extLst>
          </p:cNvPr>
          <p:cNvSpPr/>
          <p:nvPr/>
        </p:nvSpPr>
        <p:spPr>
          <a:xfrm>
            <a:off x="7557052" y="218660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A8C88B6-5C4F-36DE-2C6F-9E9CE076104C}"/>
              </a:ext>
            </a:extLst>
          </p:cNvPr>
          <p:cNvSpPr/>
          <p:nvPr/>
        </p:nvSpPr>
        <p:spPr>
          <a:xfrm>
            <a:off x="7396369" y="3043030"/>
            <a:ext cx="347869" cy="347869"/>
          </a:xfrm>
          <a:prstGeom prst="ellipse">
            <a:avLst/>
          </a:prstGeom>
          <a:solidFill>
            <a:srgbClr val="FF0000"/>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8A04BF2-79AC-44A7-7287-EC70635D1186}"/>
              </a:ext>
            </a:extLst>
          </p:cNvPr>
          <p:cNvSpPr/>
          <p:nvPr/>
        </p:nvSpPr>
        <p:spPr>
          <a:xfrm>
            <a:off x="8363778" y="2360543"/>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2845C9E-980A-E42B-EEA0-C045BDC3BBCF}"/>
              </a:ext>
            </a:extLst>
          </p:cNvPr>
          <p:cNvSpPr/>
          <p:nvPr/>
        </p:nvSpPr>
        <p:spPr>
          <a:xfrm>
            <a:off x="8607285" y="295688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7D0495A-24A9-4542-FD2F-1E4F641E1794}"/>
              </a:ext>
            </a:extLst>
          </p:cNvPr>
          <p:cNvSpPr/>
          <p:nvPr/>
        </p:nvSpPr>
        <p:spPr>
          <a:xfrm>
            <a:off x="8494640" y="1959445"/>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14A6727-39A1-E04E-9744-10FE615FB35D}"/>
              </a:ext>
            </a:extLst>
          </p:cNvPr>
          <p:cNvSpPr txBox="1"/>
          <p:nvPr/>
        </p:nvSpPr>
        <p:spPr>
          <a:xfrm>
            <a:off x="904875" y="4655618"/>
            <a:ext cx="10553700" cy="369332"/>
          </a:xfrm>
          <a:prstGeom prst="rect">
            <a:avLst/>
          </a:prstGeom>
          <a:noFill/>
          <a:ln w="28575">
            <a:solidFill>
              <a:schemeClr val="accent6"/>
            </a:solidFill>
          </a:ln>
        </p:spPr>
        <p:txBody>
          <a:bodyPr wrap="square" rtlCol="0">
            <a:spAutoFit/>
          </a:bodyPr>
          <a:lstStyle/>
          <a:p>
            <a:r>
              <a:rPr lang="en-US"/>
              <a:t>If this profile is a Nash Equilibrium then it must be that...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5870D71-1DFF-D8FA-A4D3-BBA5642CAD9D}"/>
                  </a:ext>
                </a:extLst>
              </p:cNvPr>
              <p:cNvSpPr txBox="1"/>
              <p:nvPr/>
            </p:nvSpPr>
            <p:spPr>
              <a:xfrm>
                <a:off x="538162" y="5236732"/>
                <a:ext cx="4848225" cy="923330"/>
              </a:xfrm>
              <a:prstGeom prst="rect">
                <a:avLst/>
              </a:prstGeom>
              <a:noFill/>
              <a:ln w="38100">
                <a:solidFill>
                  <a:schemeClr val="accent2"/>
                </a:solidFill>
              </a:ln>
            </p:spPr>
            <p:txBody>
              <a:bodyPr wrap="square" rtlCol="0">
                <a:spAutoFit/>
              </a:bodyPr>
              <a:lstStyle/>
              <a:p>
                <a:r>
                  <a:rPr lang="en-US"/>
                  <a:t>...for any given person who does </a:t>
                </a:r>
                <a:r>
                  <a:rPr lang="en-US" i="1"/>
                  <a:t>in</a:t>
                </a:r>
                <a:r>
                  <a:rPr lang="en-US"/>
                  <a:t> in the profile, doing </a:t>
                </a:r>
                <a:r>
                  <a:rPr lang="en-US" i="1"/>
                  <a:t>in </a:t>
                </a:r>
                <a:r>
                  <a:rPr lang="en-US"/>
                  <a:t>is a best response to the expectation that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−1</m:t>
                    </m:r>
                  </m:oMath>
                </a14:m>
                <a:r>
                  <a:rPr lang="en-US"/>
                  <a:t> other persons do </a:t>
                </a:r>
                <a:r>
                  <a:rPr lang="en-US" i="1"/>
                  <a:t>in</a:t>
                </a:r>
                <a:r>
                  <a:rPr lang="en-US"/>
                  <a:t>.</a:t>
                </a:r>
              </a:p>
            </p:txBody>
          </p:sp>
        </mc:Choice>
        <mc:Fallback xmlns="">
          <p:sp>
            <p:nvSpPr>
              <p:cNvPr id="19" name="TextBox 18">
                <a:extLst>
                  <a:ext uri="{FF2B5EF4-FFF2-40B4-BE49-F238E27FC236}">
                    <a16:creationId xmlns:a16="http://schemas.microsoft.com/office/drawing/2014/main" id="{65870D71-1DFF-D8FA-A4D3-BBA5642CAD9D}"/>
                  </a:ext>
                </a:extLst>
              </p:cNvPr>
              <p:cNvSpPr txBox="1">
                <a:spLocks noRot="1" noChangeAspect="1" noMove="1" noResize="1" noEditPoints="1" noAdjustHandles="1" noChangeArrowheads="1" noChangeShapeType="1" noTextEdit="1"/>
              </p:cNvSpPr>
              <p:nvPr/>
            </p:nvSpPr>
            <p:spPr>
              <a:xfrm>
                <a:off x="538162" y="5236732"/>
                <a:ext cx="4848225" cy="923330"/>
              </a:xfrm>
              <a:prstGeom prst="rect">
                <a:avLst/>
              </a:prstGeom>
              <a:blipFill>
                <a:blip r:embed="rId5"/>
                <a:stretch>
                  <a:fillRect l="-623" t="-1266" r="-1122" b="-6962"/>
                </a:stretch>
              </a:blipFill>
              <a:ln w="38100">
                <a:solidFill>
                  <a:schemeClr val="accent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885EF202-E819-A783-4BAE-9003628EE8F8}"/>
              </a:ext>
            </a:extLst>
          </p:cNvPr>
          <p:cNvSpPr txBox="1"/>
          <p:nvPr/>
        </p:nvSpPr>
        <p:spPr>
          <a:xfrm>
            <a:off x="5653969" y="5361161"/>
            <a:ext cx="951671" cy="369332"/>
          </a:xfrm>
          <a:prstGeom prst="rect">
            <a:avLst/>
          </a:prstGeom>
          <a:noFill/>
          <a:ln w="28575">
            <a:solidFill>
              <a:schemeClr val="accent6"/>
            </a:solidFill>
          </a:ln>
        </p:spPr>
        <p:txBody>
          <a:bodyPr wrap="none" rtlCol="0">
            <a:spAutoFit/>
          </a:bodyPr>
          <a:lstStyle/>
          <a:p>
            <a:r>
              <a:rPr lang="en-US"/>
              <a:t>...AND...</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F292D6B-664F-2F85-B4B4-832609981834}"/>
                  </a:ext>
                </a:extLst>
              </p:cNvPr>
              <p:cNvSpPr txBox="1"/>
              <p:nvPr/>
            </p:nvSpPr>
            <p:spPr>
              <a:xfrm>
                <a:off x="6862347" y="5247660"/>
                <a:ext cx="4848225" cy="923330"/>
              </a:xfrm>
              <a:prstGeom prst="rect">
                <a:avLst/>
              </a:prstGeom>
              <a:noFill/>
              <a:ln w="28575">
                <a:solidFill>
                  <a:schemeClr val="accent1"/>
                </a:solidFill>
              </a:ln>
            </p:spPr>
            <p:txBody>
              <a:bodyPr wrap="square" rtlCol="0">
                <a:spAutoFit/>
              </a:bodyPr>
              <a:lstStyle/>
              <a:p>
                <a:r>
                  <a:rPr lang="en-US"/>
                  <a:t>...for any given person who does </a:t>
                </a:r>
                <a:r>
                  <a:rPr lang="en-US" i="1"/>
                  <a:t>out</a:t>
                </a:r>
                <a:r>
                  <a:rPr lang="en-US"/>
                  <a:t> in the profile, doing </a:t>
                </a:r>
                <a:r>
                  <a:rPr lang="en-US" i="1"/>
                  <a:t>out </a:t>
                </a:r>
                <a:r>
                  <a:rPr lang="en-US"/>
                  <a:t>is a best response to the expectation that </a:t>
                </a:r>
                <a14:m>
                  <m:oMath xmlns:m="http://schemas.openxmlformats.org/officeDocument/2006/math">
                    <m:r>
                      <a:rPr lang="en-US" b="0" i="1" smtClean="0">
                        <a:latin typeface="Cambria Math" panose="02040503050406030204" pitchFamily="18" charset="0"/>
                      </a:rPr>
                      <m:t>𝐾</m:t>
                    </m:r>
                  </m:oMath>
                </a14:m>
                <a:r>
                  <a:rPr lang="en-US"/>
                  <a:t> other persons do </a:t>
                </a:r>
                <a:r>
                  <a:rPr lang="en-US" i="1"/>
                  <a:t>in</a:t>
                </a:r>
                <a:r>
                  <a:rPr lang="en-US"/>
                  <a:t>.</a:t>
                </a:r>
              </a:p>
            </p:txBody>
          </p:sp>
        </mc:Choice>
        <mc:Fallback xmlns="">
          <p:sp>
            <p:nvSpPr>
              <p:cNvPr id="21" name="TextBox 20">
                <a:extLst>
                  <a:ext uri="{FF2B5EF4-FFF2-40B4-BE49-F238E27FC236}">
                    <a16:creationId xmlns:a16="http://schemas.microsoft.com/office/drawing/2014/main" id="{4F292D6B-664F-2F85-B4B4-832609981834}"/>
                  </a:ext>
                </a:extLst>
              </p:cNvPr>
              <p:cNvSpPr txBox="1">
                <a:spLocks noRot="1" noChangeAspect="1" noMove="1" noResize="1" noEditPoints="1" noAdjustHandles="1" noChangeArrowheads="1" noChangeShapeType="1" noTextEdit="1"/>
              </p:cNvSpPr>
              <p:nvPr/>
            </p:nvSpPr>
            <p:spPr>
              <a:xfrm>
                <a:off x="6862347" y="5247660"/>
                <a:ext cx="4848225" cy="923330"/>
              </a:xfrm>
              <a:prstGeom prst="rect">
                <a:avLst/>
              </a:prstGeom>
              <a:blipFill>
                <a:blip r:embed="rId6"/>
                <a:stretch>
                  <a:fillRect l="-875" t="-2564" b="-7692"/>
                </a:stretch>
              </a:blipFill>
              <a:ln w="28575">
                <a:solidFill>
                  <a:schemeClr val="accent1"/>
                </a:solidFill>
              </a:ln>
            </p:spPr>
            <p:txBody>
              <a:bodyPr/>
              <a:lstStyle/>
              <a:p>
                <a:r>
                  <a:rPr lang="en-US">
                    <a:noFill/>
                  </a:rPr>
                  <a:t> </a:t>
                </a:r>
              </a:p>
            </p:txBody>
          </p:sp>
        </mc:Fallback>
      </mc:AlternateContent>
      <p:pic>
        <p:nvPicPr>
          <p:cNvPr id="22" name="Picture 21">
            <a:extLst>
              <a:ext uri="{FF2B5EF4-FFF2-40B4-BE49-F238E27FC236}">
                <a16:creationId xmlns:a16="http://schemas.microsoft.com/office/drawing/2014/main" id="{5B613E70-CF7D-621D-C4C1-A7928ECB8193}"/>
              </a:ext>
            </a:extLst>
          </p:cNvPr>
          <p:cNvPicPr>
            <a:picLocks noChangeAspect="1"/>
          </p:cNvPicPr>
          <p:nvPr/>
        </p:nvPicPr>
        <p:blipFill>
          <a:blip r:embed="rId7"/>
          <a:stretch>
            <a:fillRect/>
          </a:stretch>
        </p:blipFill>
        <p:spPr>
          <a:xfrm>
            <a:off x="-208" y="-35291"/>
            <a:ext cx="5248276" cy="1514397"/>
          </a:xfrm>
          <a:prstGeom prst="rect">
            <a:avLst/>
          </a:prstGeom>
          <a:ln>
            <a:solidFill>
              <a:schemeClr val="accent1"/>
            </a:solidFill>
          </a:ln>
        </p:spPr>
      </p:pic>
      <p:sp>
        <p:nvSpPr>
          <p:cNvPr id="23" name="TextBox 22">
            <a:extLst>
              <a:ext uri="{FF2B5EF4-FFF2-40B4-BE49-F238E27FC236}">
                <a16:creationId xmlns:a16="http://schemas.microsoft.com/office/drawing/2014/main" id="{AD9A9141-DB48-7ABD-43A2-9D7C52FFBD5A}"/>
              </a:ext>
            </a:extLst>
          </p:cNvPr>
          <p:cNvSpPr txBox="1"/>
          <p:nvPr/>
        </p:nvSpPr>
        <p:spPr>
          <a:xfrm>
            <a:off x="6096000" y="3641900"/>
            <a:ext cx="3533775" cy="369332"/>
          </a:xfrm>
          <a:prstGeom prst="rect">
            <a:avLst/>
          </a:prstGeom>
          <a:noFill/>
        </p:spPr>
        <p:txBody>
          <a:bodyPr wrap="square" rtlCol="0">
            <a:spAutoFit/>
          </a:bodyPr>
          <a:lstStyle/>
          <a:p>
            <a:r>
              <a:rPr lang="en-US"/>
              <a:t>utility from </a:t>
            </a:r>
            <a:r>
              <a:rPr lang="en-US" i="1"/>
              <a:t>in</a:t>
            </a:r>
            <a:r>
              <a:rPr lang="en-US"/>
              <a:t> is 1</a:t>
            </a:r>
          </a:p>
        </p:txBody>
      </p:sp>
      <p:sp>
        <p:nvSpPr>
          <p:cNvPr id="24" name="TextBox 23">
            <a:extLst>
              <a:ext uri="{FF2B5EF4-FFF2-40B4-BE49-F238E27FC236}">
                <a16:creationId xmlns:a16="http://schemas.microsoft.com/office/drawing/2014/main" id="{C7393C35-C22F-DA5B-5801-C53761A65FF3}"/>
              </a:ext>
            </a:extLst>
          </p:cNvPr>
          <p:cNvSpPr txBox="1"/>
          <p:nvPr/>
        </p:nvSpPr>
        <p:spPr>
          <a:xfrm>
            <a:off x="8115920" y="3643107"/>
            <a:ext cx="3533775" cy="369332"/>
          </a:xfrm>
          <a:prstGeom prst="rect">
            <a:avLst/>
          </a:prstGeom>
          <a:noFill/>
        </p:spPr>
        <p:txBody>
          <a:bodyPr wrap="square" rtlCol="0">
            <a:spAutoFit/>
          </a:bodyPr>
          <a:lstStyle/>
          <a:p>
            <a:r>
              <a:rPr lang="en-US"/>
              <a:t>utility from </a:t>
            </a:r>
            <a:r>
              <a:rPr lang="en-US" i="1"/>
              <a:t>out</a:t>
            </a:r>
            <a:r>
              <a:rPr lang="en-US"/>
              <a:t> is 0</a:t>
            </a:r>
          </a:p>
        </p:txBody>
      </p:sp>
      <p:cxnSp>
        <p:nvCxnSpPr>
          <p:cNvPr id="25" name="Straight Arrow Connector 24">
            <a:extLst>
              <a:ext uri="{FF2B5EF4-FFF2-40B4-BE49-F238E27FC236}">
                <a16:creationId xmlns:a16="http://schemas.microsoft.com/office/drawing/2014/main" id="{3DFCD17B-378D-18A2-9509-0B119CD3E6F8}"/>
              </a:ext>
            </a:extLst>
          </p:cNvPr>
          <p:cNvCxnSpPr>
            <a:cxnSpLocks/>
            <a:stCxn id="14" idx="4"/>
          </p:cNvCxnSpPr>
          <p:nvPr/>
        </p:nvCxnSpPr>
        <p:spPr>
          <a:xfrm flipH="1">
            <a:off x="7038975" y="3390899"/>
            <a:ext cx="531329" cy="342901"/>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6EDFBF1-ADB5-63A3-7165-52C9CD732E00}"/>
              </a:ext>
            </a:extLst>
          </p:cNvPr>
          <p:cNvCxnSpPr>
            <a:cxnSpLocks/>
            <a:stCxn id="14" idx="4"/>
          </p:cNvCxnSpPr>
          <p:nvPr/>
        </p:nvCxnSpPr>
        <p:spPr>
          <a:xfrm>
            <a:off x="7570304" y="3390899"/>
            <a:ext cx="1141343" cy="251001"/>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4A83FE7-D4AB-0B03-2099-BAC9453AECED}"/>
              </a:ext>
            </a:extLst>
          </p:cNvPr>
          <p:cNvCxnSpPr>
            <a:cxnSpLocks/>
          </p:cNvCxnSpPr>
          <p:nvPr/>
        </p:nvCxnSpPr>
        <p:spPr>
          <a:xfrm>
            <a:off x="7128011" y="3956510"/>
            <a:ext cx="734876" cy="277432"/>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A89E81B-39B9-0B0A-4825-F062AD9B951D}"/>
              </a:ext>
            </a:extLst>
          </p:cNvPr>
          <p:cNvCxnSpPr>
            <a:cxnSpLocks/>
          </p:cNvCxnSpPr>
          <p:nvPr/>
        </p:nvCxnSpPr>
        <p:spPr>
          <a:xfrm flipH="1">
            <a:off x="8115920" y="3978407"/>
            <a:ext cx="552654" cy="2026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9185F5F-5E55-FDE1-838B-B1F94A15963F}"/>
              </a:ext>
            </a:extLst>
          </p:cNvPr>
          <p:cNvSpPr txBox="1"/>
          <p:nvPr/>
        </p:nvSpPr>
        <p:spPr>
          <a:xfrm>
            <a:off x="6862347" y="4227514"/>
            <a:ext cx="3648490" cy="369332"/>
          </a:xfrm>
          <a:prstGeom prst="rect">
            <a:avLst/>
          </a:prstGeom>
          <a:noFill/>
        </p:spPr>
        <p:txBody>
          <a:bodyPr wrap="square" rtlCol="0">
            <a:spAutoFit/>
          </a:bodyPr>
          <a:lstStyle/>
          <a:p>
            <a:r>
              <a:rPr lang="en-US" i="1"/>
              <a:t>out </a:t>
            </a:r>
            <a:r>
              <a:rPr lang="en-US"/>
              <a:t>is NOT a best response!!!</a:t>
            </a:r>
            <a:endParaRPr lang="en-US" i="1"/>
          </a:p>
        </p:txBody>
      </p:sp>
    </p:spTree>
    <p:extLst>
      <p:ext uri="{BB962C8B-B14F-4D97-AF65-F5344CB8AC3E}">
        <p14:creationId xmlns:p14="http://schemas.microsoft.com/office/powerpoint/2010/main" val="799826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577F2-C629-CDD8-55A8-80F081FE70A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FB93D1-F284-7B5D-9075-9D2215B2C808}"/>
                  </a:ext>
                </a:extLst>
              </p:cNvPr>
              <p:cNvSpPr txBox="1"/>
              <p:nvPr/>
            </p:nvSpPr>
            <p:spPr>
              <a:xfrm>
                <a:off x="2428874" y="884275"/>
                <a:ext cx="743902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Is any profile in which </a:t>
                </a:r>
                <a14:m>
                  <m:oMath xmlns:m="http://schemas.openxmlformats.org/officeDocument/2006/math">
                    <m:r>
                      <a:rPr lang="en-US" b="0" i="1" smtClean="0">
                        <a:latin typeface="Cambria Math" panose="02040503050406030204" pitchFamily="18" charset="0"/>
                      </a:rPr>
                      <m:t>𝐾</m:t>
                    </m:r>
                  </m:oMath>
                </a14:m>
                <a:r>
                  <a:rPr lang="en-US"/>
                  <a:t> do </a:t>
                </a:r>
                <a:r>
                  <a:rPr lang="en-US" i="1"/>
                  <a:t>in </a:t>
                </a:r>
                <a:r>
                  <a:rPr lang="en-US"/>
                  <a:t>with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&lt;9</m:t>
                    </m:r>
                  </m:oMath>
                </a14:m>
                <a:r>
                  <a:rPr lang="en-US"/>
                  <a:t> a Nash Equilibrium?</a:t>
                </a:r>
              </a:p>
            </p:txBody>
          </p:sp>
        </mc:Choice>
        <mc:Fallback xmlns="">
          <p:sp>
            <p:nvSpPr>
              <p:cNvPr id="4" name="TextBox 3">
                <a:extLst>
                  <a:ext uri="{FF2B5EF4-FFF2-40B4-BE49-F238E27FC236}">
                    <a16:creationId xmlns:a16="http://schemas.microsoft.com/office/drawing/2014/main" id="{ADFB93D1-F284-7B5D-9075-9D2215B2C808}"/>
                  </a:ext>
                </a:extLst>
              </p:cNvPr>
              <p:cNvSpPr txBox="1">
                <a:spLocks noRot="1" noChangeAspect="1" noMove="1" noResize="1" noEditPoints="1" noAdjustHandles="1" noChangeArrowheads="1" noChangeShapeType="1" noTextEdit="1"/>
              </p:cNvSpPr>
              <p:nvPr/>
            </p:nvSpPr>
            <p:spPr>
              <a:xfrm>
                <a:off x="2428874" y="884275"/>
                <a:ext cx="7439025" cy="369332"/>
              </a:xfrm>
              <a:prstGeom prst="rect">
                <a:avLst/>
              </a:prstGeom>
              <a:blipFill>
                <a:blip r:embed="rId2"/>
                <a:stretch>
                  <a:fillRect t="-6349" b="-22222"/>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1D01BB9A-F6E5-6534-A958-345F333FE633}"/>
              </a:ext>
            </a:extLst>
          </p:cNvPr>
          <p:cNvSpPr/>
          <p:nvPr/>
        </p:nvSpPr>
        <p:spPr>
          <a:xfrm>
            <a:off x="262393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0D0E4C8-5FAA-168E-0769-CE7BB540090A}"/>
                  </a:ext>
                </a:extLst>
              </p:cNvPr>
              <p:cNvSpPr txBox="1"/>
              <p:nvPr/>
            </p:nvSpPr>
            <p:spPr>
              <a:xfrm>
                <a:off x="3298963" y="1396297"/>
                <a:ext cx="874535"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𝐾</m:t>
                    </m:r>
                  </m:oMath>
                </a14:m>
                <a:r>
                  <a:rPr lang="en-US"/>
                  <a:t> do </a:t>
                </a:r>
                <a:r>
                  <a:rPr lang="en-US" i="1"/>
                  <a:t>in</a:t>
                </a:r>
                <a:endParaRPr lang="en-US"/>
              </a:p>
            </p:txBody>
          </p:sp>
        </mc:Choice>
        <mc:Fallback xmlns="">
          <p:sp>
            <p:nvSpPr>
              <p:cNvPr id="5" name="TextBox 4">
                <a:extLst>
                  <a:ext uri="{FF2B5EF4-FFF2-40B4-BE49-F238E27FC236}">
                    <a16:creationId xmlns:a16="http://schemas.microsoft.com/office/drawing/2014/main" id="{50D0E4C8-5FAA-168E-0769-CE7BB540090A}"/>
                  </a:ext>
                </a:extLst>
              </p:cNvPr>
              <p:cNvSpPr txBox="1">
                <a:spLocks noRot="1" noChangeAspect="1" noMove="1" noResize="1" noEditPoints="1" noAdjustHandles="1" noChangeArrowheads="1" noChangeShapeType="1" noTextEdit="1"/>
              </p:cNvSpPr>
              <p:nvPr/>
            </p:nvSpPr>
            <p:spPr>
              <a:xfrm>
                <a:off x="3298963" y="1396297"/>
                <a:ext cx="874535" cy="369332"/>
              </a:xfrm>
              <a:prstGeom prst="rect">
                <a:avLst/>
              </a:prstGeom>
              <a:blipFill>
                <a:blip r:embed="rId3"/>
                <a:stretch>
                  <a:fillRect t="-8197" r="-5556" b="-24590"/>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BF7432A4-BB2A-6464-8F3C-115DC7572060}"/>
              </a:ext>
            </a:extLst>
          </p:cNvPr>
          <p:cNvSpPr/>
          <p:nvPr/>
        </p:nvSpPr>
        <p:spPr>
          <a:xfrm>
            <a:off x="2951922" y="218660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59C95C4-6B60-C1EB-62FC-4B8C0BE82C4D}"/>
              </a:ext>
            </a:extLst>
          </p:cNvPr>
          <p:cNvSpPr/>
          <p:nvPr/>
        </p:nvSpPr>
        <p:spPr>
          <a:xfrm>
            <a:off x="2905540" y="2990849"/>
            <a:ext cx="347869" cy="347869"/>
          </a:xfrm>
          <a:prstGeom prst="ellipse">
            <a:avLst/>
          </a:prstGeom>
          <a:solidFill>
            <a:schemeClr val="accent6"/>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F190C52-463D-8AA8-9248-6C96E4990211}"/>
              </a:ext>
            </a:extLst>
          </p:cNvPr>
          <p:cNvSpPr/>
          <p:nvPr/>
        </p:nvSpPr>
        <p:spPr>
          <a:xfrm>
            <a:off x="3758648" y="2360543"/>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DF87472-E9F9-2257-8C88-F2FB4E7B5A4E}"/>
              </a:ext>
            </a:extLst>
          </p:cNvPr>
          <p:cNvSpPr/>
          <p:nvPr/>
        </p:nvSpPr>
        <p:spPr>
          <a:xfrm>
            <a:off x="4002155" y="2956889"/>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D16BE0D-66D5-73D3-0B30-D91C39B3CE8C}"/>
              </a:ext>
            </a:extLst>
          </p:cNvPr>
          <p:cNvSpPr/>
          <p:nvPr/>
        </p:nvSpPr>
        <p:spPr>
          <a:xfrm>
            <a:off x="3889510" y="1959445"/>
            <a:ext cx="347869" cy="34786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E9648E6-CF6B-8A4C-DA39-3B80503CA97A}"/>
              </a:ext>
            </a:extLst>
          </p:cNvPr>
          <p:cNvSpPr/>
          <p:nvPr/>
        </p:nvSpPr>
        <p:spPr>
          <a:xfrm>
            <a:off x="7229060" y="1858617"/>
            <a:ext cx="2057400" cy="1639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801592B-637A-EFF5-E726-95921BDC2041}"/>
                  </a:ext>
                </a:extLst>
              </p:cNvPr>
              <p:cNvSpPr txBox="1"/>
              <p:nvPr/>
            </p:nvSpPr>
            <p:spPr>
              <a:xfrm>
                <a:off x="7478892" y="1370914"/>
                <a:ext cx="1547796"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𝐾</m:t>
                    </m:r>
                  </m:oMath>
                </a14:m>
                <a:r>
                  <a:rPr lang="en-US"/>
                  <a:t> do </a:t>
                </a:r>
                <a:r>
                  <a:rPr lang="en-US" i="1"/>
                  <a:t>out</a:t>
                </a:r>
                <a:endParaRPr lang="en-US"/>
              </a:p>
            </p:txBody>
          </p:sp>
        </mc:Choice>
        <mc:Fallback xmlns="">
          <p:sp>
            <p:nvSpPr>
              <p:cNvPr id="12" name="TextBox 11">
                <a:extLst>
                  <a:ext uri="{FF2B5EF4-FFF2-40B4-BE49-F238E27FC236}">
                    <a16:creationId xmlns:a16="http://schemas.microsoft.com/office/drawing/2014/main" id="{E801592B-637A-EFF5-E726-95921BDC2041}"/>
                  </a:ext>
                </a:extLst>
              </p:cNvPr>
              <p:cNvSpPr txBox="1">
                <a:spLocks noRot="1" noChangeAspect="1" noMove="1" noResize="1" noEditPoints="1" noAdjustHandles="1" noChangeArrowheads="1" noChangeShapeType="1" noTextEdit="1"/>
              </p:cNvSpPr>
              <p:nvPr/>
            </p:nvSpPr>
            <p:spPr>
              <a:xfrm>
                <a:off x="7478892" y="1370914"/>
                <a:ext cx="1547796" cy="369332"/>
              </a:xfrm>
              <a:prstGeom prst="rect">
                <a:avLst/>
              </a:prstGeom>
              <a:blipFill>
                <a:blip r:embed="rId4"/>
                <a:stretch>
                  <a:fillRect t="-10000" r="-3150" b="-26667"/>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4C171F53-4D63-D8FE-49C3-249EF92BE816}"/>
              </a:ext>
            </a:extLst>
          </p:cNvPr>
          <p:cNvSpPr/>
          <p:nvPr/>
        </p:nvSpPr>
        <p:spPr>
          <a:xfrm>
            <a:off x="7557052" y="218660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E963CB7-300E-9C06-F122-947E69C96422}"/>
              </a:ext>
            </a:extLst>
          </p:cNvPr>
          <p:cNvSpPr/>
          <p:nvPr/>
        </p:nvSpPr>
        <p:spPr>
          <a:xfrm>
            <a:off x="7396369" y="3043030"/>
            <a:ext cx="347869" cy="347869"/>
          </a:xfrm>
          <a:prstGeom prst="ellipse">
            <a:avLst/>
          </a:prstGeom>
          <a:solidFill>
            <a:srgbClr val="FF0000"/>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2BAFE83-7B1B-088F-1983-8049FAD20299}"/>
              </a:ext>
            </a:extLst>
          </p:cNvPr>
          <p:cNvSpPr/>
          <p:nvPr/>
        </p:nvSpPr>
        <p:spPr>
          <a:xfrm>
            <a:off x="8363778" y="2360543"/>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FF0100D-B883-20DE-935B-C3F7F8434D71}"/>
              </a:ext>
            </a:extLst>
          </p:cNvPr>
          <p:cNvSpPr/>
          <p:nvPr/>
        </p:nvSpPr>
        <p:spPr>
          <a:xfrm>
            <a:off x="8607285" y="2956889"/>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80A95BA-56EF-2F8F-D545-FECDFDB80285}"/>
              </a:ext>
            </a:extLst>
          </p:cNvPr>
          <p:cNvSpPr/>
          <p:nvPr/>
        </p:nvSpPr>
        <p:spPr>
          <a:xfrm>
            <a:off x="8494640" y="1959445"/>
            <a:ext cx="347869" cy="3478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A830AE0-D4F2-D4E9-07DC-6BC98ADF1570}"/>
              </a:ext>
            </a:extLst>
          </p:cNvPr>
          <p:cNvSpPr txBox="1"/>
          <p:nvPr/>
        </p:nvSpPr>
        <p:spPr>
          <a:xfrm>
            <a:off x="904875" y="4655618"/>
            <a:ext cx="10553700" cy="369332"/>
          </a:xfrm>
          <a:prstGeom prst="rect">
            <a:avLst/>
          </a:prstGeom>
          <a:noFill/>
          <a:ln w="28575">
            <a:solidFill>
              <a:schemeClr val="accent6"/>
            </a:solidFill>
          </a:ln>
        </p:spPr>
        <p:txBody>
          <a:bodyPr wrap="square" rtlCol="0">
            <a:spAutoFit/>
          </a:bodyPr>
          <a:lstStyle/>
          <a:p>
            <a:r>
              <a:rPr lang="en-US"/>
              <a:t>If this profile is a Nash Equilibrium then it must be that...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A983C17-F290-2336-5321-0AECB952377E}"/>
                  </a:ext>
                </a:extLst>
              </p:cNvPr>
              <p:cNvSpPr txBox="1"/>
              <p:nvPr/>
            </p:nvSpPr>
            <p:spPr>
              <a:xfrm>
                <a:off x="538162" y="5236732"/>
                <a:ext cx="4848225" cy="923330"/>
              </a:xfrm>
              <a:prstGeom prst="rect">
                <a:avLst/>
              </a:prstGeom>
              <a:noFill/>
              <a:ln w="38100">
                <a:solidFill>
                  <a:schemeClr val="accent2"/>
                </a:solidFill>
              </a:ln>
            </p:spPr>
            <p:txBody>
              <a:bodyPr wrap="square" rtlCol="0">
                <a:spAutoFit/>
              </a:bodyPr>
              <a:lstStyle/>
              <a:p>
                <a:r>
                  <a:rPr lang="en-US"/>
                  <a:t>...for any given person who does </a:t>
                </a:r>
                <a:r>
                  <a:rPr lang="en-US" i="1"/>
                  <a:t>in</a:t>
                </a:r>
                <a:r>
                  <a:rPr lang="en-US"/>
                  <a:t> in the profile, doing </a:t>
                </a:r>
                <a:r>
                  <a:rPr lang="en-US" i="1"/>
                  <a:t>in </a:t>
                </a:r>
                <a:r>
                  <a:rPr lang="en-US"/>
                  <a:t>is a best response to the expectation that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−1</m:t>
                    </m:r>
                  </m:oMath>
                </a14:m>
                <a:r>
                  <a:rPr lang="en-US"/>
                  <a:t> other persons do </a:t>
                </a:r>
                <a:r>
                  <a:rPr lang="en-US" i="1"/>
                  <a:t>in</a:t>
                </a:r>
                <a:r>
                  <a:rPr lang="en-US"/>
                  <a:t>.</a:t>
                </a:r>
              </a:p>
            </p:txBody>
          </p:sp>
        </mc:Choice>
        <mc:Fallback xmlns="">
          <p:sp>
            <p:nvSpPr>
              <p:cNvPr id="19" name="TextBox 18">
                <a:extLst>
                  <a:ext uri="{FF2B5EF4-FFF2-40B4-BE49-F238E27FC236}">
                    <a16:creationId xmlns:a16="http://schemas.microsoft.com/office/drawing/2014/main" id="{AA983C17-F290-2336-5321-0AECB952377E}"/>
                  </a:ext>
                </a:extLst>
              </p:cNvPr>
              <p:cNvSpPr txBox="1">
                <a:spLocks noRot="1" noChangeAspect="1" noMove="1" noResize="1" noEditPoints="1" noAdjustHandles="1" noChangeArrowheads="1" noChangeShapeType="1" noTextEdit="1"/>
              </p:cNvSpPr>
              <p:nvPr/>
            </p:nvSpPr>
            <p:spPr>
              <a:xfrm>
                <a:off x="538162" y="5236732"/>
                <a:ext cx="4848225" cy="923330"/>
              </a:xfrm>
              <a:prstGeom prst="rect">
                <a:avLst/>
              </a:prstGeom>
              <a:blipFill>
                <a:blip r:embed="rId5"/>
                <a:stretch>
                  <a:fillRect l="-623" t="-1266" r="-1122" b="-6962"/>
                </a:stretch>
              </a:blipFill>
              <a:ln w="38100">
                <a:solidFill>
                  <a:schemeClr val="accent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19440F1A-E10A-2434-1995-BB03E8524FC2}"/>
              </a:ext>
            </a:extLst>
          </p:cNvPr>
          <p:cNvSpPr txBox="1"/>
          <p:nvPr/>
        </p:nvSpPr>
        <p:spPr>
          <a:xfrm>
            <a:off x="5653969" y="5361161"/>
            <a:ext cx="951671" cy="369332"/>
          </a:xfrm>
          <a:prstGeom prst="rect">
            <a:avLst/>
          </a:prstGeom>
          <a:noFill/>
          <a:ln w="28575">
            <a:solidFill>
              <a:schemeClr val="accent6"/>
            </a:solidFill>
          </a:ln>
        </p:spPr>
        <p:txBody>
          <a:bodyPr wrap="none" rtlCol="0">
            <a:spAutoFit/>
          </a:bodyPr>
          <a:lstStyle/>
          <a:p>
            <a:r>
              <a:rPr lang="en-US"/>
              <a:t>...AND...</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A3B63CF-F621-C5C1-5C19-9610378D0C8C}"/>
                  </a:ext>
                </a:extLst>
              </p:cNvPr>
              <p:cNvSpPr txBox="1"/>
              <p:nvPr/>
            </p:nvSpPr>
            <p:spPr>
              <a:xfrm>
                <a:off x="6862347" y="5247660"/>
                <a:ext cx="4848225" cy="923330"/>
              </a:xfrm>
              <a:prstGeom prst="rect">
                <a:avLst/>
              </a:prstGeom>
              <a:noFill/>
              <a:ln w="28575">
                <a:solidFill>
                  <a:schemeClr val="accent1"/>
                </a:solidFill>
              </a:ln>
            </p:spPr>
            <p:txBody>
              <a:bodyPr wrap="square" rtlCol="0">
                <a:spAutoFit/>
              </a:bodyPr>
              <a:lstStyle/>
              <a:p>
                <a:r>
                  <a:rPr lang="en-US"/>
                  <a:t>...for any given person who does </a:t>
                </a:r>
                <a:r>
                  <a:rPr lang="en-US" i="1"/>
                  <a:t>out</a:t>
                </a:r>
                <a:r>
                  <a:rPr lang="en-US"/>
                  <a:t> in the profile, doing </a:t>
                </a:r>
                <a:r>
                  <a:rPr lang="en-US" i="1"/>
                  <a:t>out </a:t>
                </a:r>
                <a:r>
                  <a:rPr lang="en-US"/>
                  <a:t>is a best response to the expectation that </a:t>
                </a:r>
                <a14:m>
                  <m:oMath xmlns:m="http://schemas.openxmlformats.org/officeDocument/2006/math">
                    <m:r>
                      <a:rPr lang="en-US" b="0" i="1" smtClean="0">
                        <a:latin typeface="Cambria Math" panose="02040503050406030204" pitchFamily="18" charset="0"/>
                      </a:rPr>
                      <m:t>𝐾</m:t>
                    </m:r>
                  </m:oMath>
                </a14:m>
                <a:r>
                  <a:rPr lang="en-US"/>
                  <a:t> other persons do </a:t>
                </a:r>
                <a:r>
                  <a:rPr lang="en-US" i="1"/>
                  <a:t>in</a:t>
                </a:r>
                <a:r>
                  <a:rPr lang="en-US"/>
                  <a:t>.</a:t>
                </a:r>
              </a:p>
            </p:txBody>
          </p:sp>
        </mc:Choice>
        <mc:Fallback xmlns="">
          <p:sp>
            <p:nvSpPr>
              <p:cNvPr id="21" name="TextBox 20">
                <a:extLst>
                  <a:ext uri="{FF2B5EF4-FFF2-40B4-BE49-F238E27FC236}">
                    <a16:creationId xmlns:a16="http://schemas.microsoft.com/office/drawing/2014/main" id="{1A3B63CF-F621-C5C1-5C19-9610378D0C8C}"/>
                  </a:ext>
                </a:extLst>
              </p:cNvPr>
              <p:cNvSpPr txBox="1">
                <a:spLocks noRot="1" noChangeAspect="1" noMove="1" noResize="1" noEditPoints="1" noAdjustHandles="1" noChangeArrowheads="1" noChangeShapeType="1" noTextEdit="1"/>
              </p:cNvSpPr>
              <p:nvPr/>
            </p:nvSpPr>
            <p:spPr>
              <a:xfrm>
                <a:off x="6862347" y="5247660"/>
                <a:ext cx="4848225" cy="923330"/>
              </a:xfrm>
              <a:prstGeom prst="rect">
                <a:avLst/>
              </a:prstGeom>
              <a:blipFill>
                <a:blip r:embed="rId6"/>
                <a:stretch>
                  <a:fillRect l="-875" t="-2564" b="-7692"/>
                </a:stretch>
              </a:blipFill>
              <a:ln w="28575">
                <a:solidFill>
                  <a:schemeClr val="accent1"/>
                </a:solidFill>
              </a:ln>
            </p:spPr>
            <p:txBody>
              <a:bodyPr/>
              <a:lstStyle/>
              <a:p>
                <a:r>
                  <a:rPr lang="en-US">
                    <a:noFill/>
                  </a:rPr>
                  <a:t> </a:t>
                </a:r>
              </a:p>
            </p:txBody>
          </p:sp>
        </mc:Fallback>
      </mc:AlternateContent>
      <p:sp>
        <p:nvSpPr>
          <p:cNvPr id="23" name="TextBox 22">
            <a:extLst>
              <a:ext uri="{FF2B5EF4-FFF2-40B4-BE49-F238E27FC236}">
                <a16:creationId xmlns:a16="http://schemas.microsoft.com/office/drawing/2014/main" id="{3F31579B-EBD1-83E1-9161-C0D42ACAA6F4}"/>
              </a:ext>
            </a:extLst>
          </p:cNvPr>
          <p:cNvSpPr txBox="1"/>
          <p:nvPr/>
        </p:nvSpPr>
        <p:spPr>
          <a:xfrm>
            <a:off x="6096000" y="3641900"/>
            <a:ext cx="3533775" cy="369332"/>
          </a:xfrm>
          <a:prstGeom prst="rect">
            <a:avLst/>
          </a:prstGeom>
          <a:noFill/>
        </p:spPr>
        <p:txBody>
          <a:bodyPr wrap="square" rtlCol="0">
            <a:spAutoFit/>
          </a:bodyPr>
          <a:lstStyle/>
          <a:p>
            <a:r>
              <a:rPr lang="en-US"/>
              <a:t>utility from </a:t>
            </a:r>
            <a:r>
              <a:rPr lang="en-US" i="1"/>
              <a:t>in</a:t>
            </a:r>
            <a:r>
              <a:rPr lang="en-US"/>
              <a:t> is 1</a:t>
            </a:r>
          </a:p>
        </p:txBody>
      </p:sp>
      <p:sp>
        <p:nvSpPr>
          <p:cNvPr id="24" name="TextBox 23">
            <a:extLst>
              <a:ext uri="{FF2B5EF4-FFF2-40B4-BE49-F238E27FC236}">
                <a16:creationId xmlns:a16="http://schemas.microsoft.com/office/drawing/2014/main" id="{D278E545-E8A1-99D3-8387-8C30D8E9BE58}"/>
              </a:ext>
            </a:extLst>
          </p:cNvPr>
          <p:cNvSpPr txBox="1"/>
          <p:nvPr/>
        </p:nvSpPr>
        <p:spPr>
          <a:xfrm>
            <a:off x="8115920" y="3643107"/>
            <a:ext cx="3533775" cy="369332"/>
          </a:xfrm>
          <a:prstGeom prst="rect">
            <a:avLst/>
          </a:prstGeom>
          <a:noFill/>
        </p:spPr>
        <p:txBody>
          <a:bodyPr wrap="square" rtlCol="0">
            <a:spAutoFit/>
          </a:bodyPr>
          <a:lstStyle/>
          <a:p>
            <a:r>
              <a:rPr lang="en-US"/>
              <a:t>utility from </a:t>
            </a:r>
            <a:r>
              <a:rPr lang="en-US" i="1"/>
              <a:t>out</a:t>
            </a:r>
            <a:r>
              <a:rPr lang="en-US"/>
              <a:t> is 0</a:t>
            </a:r>
          </a:p>
        </p:txBody>
      </p:sp>
      <p:cxnSp>
        <p:nvCxnSpPr>
          <p:cNvPr id="25" name="Straight Arrow Connector 24">
            <a:extLst>
              <a:ext uri="{FF2B5EF4-FFF2-40B4-BE49-F238E27FC236}">
                <a16:creationId xmlns:a16="http://schemas.microsoft.com/office/drawing/2014/main" id="{68CDBBC2-2CF7-5F69-47AD-68FC4122C60B}"/>
              </a:ext>
            </a:extLst>
          </p:cNvPr>
          <p:cNvCxnSpPr>
            <a:cxnSpLocks/>
            <a:stCxn id="14" idx="4"/>
          </p:cNvCxnSpPr>
          <p:nvPr/>
        </p:nvCxnSpPr>
        <p:spPr>
          <a:xfrm flipH="1">
            <a:off x="7038975" y="3390899"/>
            <a:ext cx="531329" cy="342901"/>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5A6CE52-B863-68D1-5469-5E4EC68139F1}"/>
              </a:ext>
            </a:extLst>
          </p:cNvPr>
          <p:cNvCxnSpPr>
            <a:cxnSpLocks/>
            <a:stCxn id="14" idx="4"/>
          </p:cNvCxnSpPr>
          <p:nvPr/>
        </p:nvCxnSpPr>
        <p:spPr>
          <a:xfrm>
            <a:off x="7570304" y="3390899"/>
            <a:ext cx="1141343" cy="251001"/>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D24A5AF-EAE1-3D46-6B5F-7E77D0006DD4}"/>
              </a:ext>
            </a:extLst>
          </p:cNvPr>
          <p:cNvCxnSpPr>
            <a:cxnSpLocks/>
          </p:cNvCxnSpPr>
          <p:nvPr/>
        </p:nvCxnSpPr>
        <p:spPr>
          <a:xfrm>
            <a:off x="7128011" y="3956510"/>
            <a:ext cx="734876" cy="277432"/>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1055FB7-DD1D-7FAD-402D-AA699B5990B3}"/>
              </a:ext>
            </a:extLst>
          </p:cNvPr>
          <p:cNvCxnSpPr>
            <a:cxnSpLocks/>
          </p:cNvCxnSpPr>
          <p:nvPr/>
        </p:nvCxnSpPr>
        <p:spPr>
          <a:xfrm flipH="1">
            <a:off x="8115920" y="3978407"/>
            <a:ext cx="552654" cy="2026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AFFE1B5-D0D0-C814-91BD-C262E64BE307}"/>
              </a:ext>
            </a:extLst>
          </p:cNvPr>
          <p:cNvSpPr txBox="1"/>
          <p:nvPr/>
        </p:nvSpPr>
        <p:spPr>
          <a:xfrm>
            <a:off x="6862347" y="4227514"/>
            <a:ext cx="3648490" cy="369332"/>
          </a:xfrm>
          <a:prstGeom prst="rect">
            <a:avLst/>
          </a:prstGeom>
          <a:noFill/>
        </p:spPr>
        <p:txBody>
          <a:bodyPr wrap="square" rtlCol="0">
            <a:spAutoFit/>
          </a:bodyPr>
          <a:lstStyle/>
          <a:p>
            <a:r>
              <a:rPr lang="en-US" i="1"/>
              <a:t>out </a:t>
            </a:r>
            <a:r>
              <a:rPr lang="en-US"/>
              <a:t>is NOT a best response!!!</a:t>
            </a:r>
            <a:endParaRPr lang="en-US" i="1"/>
          </a:p>
        </p:txBody>
      </p:sp>
      <p:sp>
        <p:nvSpPr>
          <p:cNvPr id="27" name="TextBox 26">
            <a:extLst>
              <a:ext uri="{FF2B5EF4-FFF2-40B4-BE49-F238E27FC236}">
                <a16:creationId xmlns:a16="http://schemas.microsoft.com/office/drawing/2014/main" id="{FE1937B9-0E8C-8D8C-FFC2-43F05AA157C8}"/>
              </a:ext>
            </a:extLst>
          </p:cNvPr>
          <p:cNvSpPr txBox="1"/>
          <p:nvPr/>
        </p:nvSpPr>
        <p:spPr>
          <a:xfrm rot="1574409">
            <a:off x="9673221" y="3309594"/>
            <a:ext cx="2357718" cy="646331"/>
          </a:xfrm>
          <a:prstGeom prst="rect">
            <a:avLst/>
          </a:prstGeom>
          <a:solidFill>
            <a:srgbClr val="FF0000"/>
          </a:solidFill>
        </p:spPr>
        <p:txBody>
          <a:bodyPr wrap="square" rtlCol="0">
            <a:spAutoFit/>
          </a:bodyPr>
          <a:lstStyle/>
          <a:p>
            <a:r>
              <a:rPr lang="en-US" dirty="0">
                <a:solidFill>
                  <a:schemeClr val="bg1"/>
                </a:solidFill>
              </a:rPr>
              <a:t>so no such profile can be a Nash Equilibrium!</a:t>
            </a:r>
          </a:p>
        </p:txBody>
      </p:sp>
      <p:sp>
        <p:nvSpPr>
          <p:cNvPr id="28" name="TextBox 27">
            <a:extLst>
              <a:ext uri="{FF2B5EF4-FFF2-40B4-BE49-F238E27FC236}">
                <a16:creationId xmlns:a16="http://schemas.microsoft.com/office/drawing/2014/main" id="{DC22A3FD-B212-5DFB-3222-26E82AEF62BF}"/>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pic>
        <p:nvPicPr>
          <p:cNvPr id="29" name="Picture 28">
            <a:extLst>
              <a:ext uri="{FF2B5EF4-FFF2-40B4-BE49-F238E27FC236}">
                <a16:creationId xmlns:a16="http://schemas.microsoft.com/office/drawing/2014/main" id="{9BA844B9-BA60-F212-A17A-D02BAF2A2C0D}"/>
              </a:ext>
            </a:extLst>
          </p:cNvPr>
          <p:cNvPicPr>
            <a:picLocks noChangeAspect="1"/>
          </p:cNvPicPr>
          <p:nvPr/>
        </p:nvPicPr>
        <p:blipFill>
          <a:blip r:embed="rId7"/>
          <a:stretch>
            <a:fillRect/>
          </a:stretch>
        </p:blipFill>
        <p:spPr>
          <a:xfrm>
            <a:off x="-208" y="-35291"/>
            <a:ext cx="5248276" cy="1514397"/>
          </a:xfrm>
          <a:prstGeom prst="rect">
            <a:avLst/>
          </a:prstGeom>
          <a:ln>
            <a:solidFill>
              <a:schemeClr val="accent1"/>
            </a:solidFill>
          </a:ln>
        </p:spPr>
      </p:pic>
    </p:spTree>
    <p:extLst>
      <p:ext uri="{BB962C8B-B14F-4D97-AF65-F5344CB8AC3E}">
        <p14:creationId xmlns:p14="http://schemas.microsoft.com/office/powerpoint/2010/main" val="2810118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FCD8-5B35-E755-F2E3-532A2FE01A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D76A74-0781-DBAA-1023-FA308BF9700D}"/>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67455EF7-3B89-CB3A-6966-E562B8C4DB2F}"/>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81397283-70E5-8402-4A3F-21492C9901B7}"/>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6" name="TextBox 5">
            <a:extLst>
              <a:ext uri="{FF2B5EF4-FFF2-40B4-BE49-F238E27FC236}">
                <a16:creationId xmlns:a16="http://schemas.microsoft.com/office/drawing/2014/main" id="{81D0FBF4-05DC-E847-233B-ABBAF14B4208}"/>
              </a:ext>
            </a:extLst>
          </p:cNvPr>
          <p:cNvSpPr txBox="1"/>
          <p:nvPr/>
        </p:nvSpPr>
        <p:spPr>
          <a:xfrm>
            <a:off x="1447800" y="2074308"/>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ANY EXPECTATION IN WHICH AT LEAST ONE OTHER PERSON DOES </a:t>
            </a:r>
            <a:r>
              <a:rPr lang="en-US">
                <a:solidFill>
                  <a:schemeClr val="accent6"/>
                </a:solidFill>
                <a:sym typeface="Wingdings" panose="05000000000000000000" pitchFamily="2" charset="2"/>
              </a:rPr>
              <a:t>IN</a:t>
            </a:r>
            <a:endParaRPr lang="en-US">
              <a:solidFill>
                <a:schemeClr val="accent6"/>
              </a:solidFill>
            </a:endParaRPr>
          </a:p>
        </p:txBody>
      </p:sp>
      <p:sp>
        <p:nvSpPr>
          <p:cNvPr id="7" name="TextBox 6">
            <a:extLst>
              <a:ext uri="{FF2B5EF4-FFF2-40B4-BE49-F238E27FC236}">
                <a16:creationId xmlns:a16="http://schemas.microsoft.com/office/drawing/2014/main" id="{400458C7-5D1F-EA6A-6E30-236A89180A16}"/>
              </a:ext>
            </a:extLst>
          </p:cNvPr>
          <p:cNvSpPr txBox="1"/>
          <p:nvPr/>
        </p:nvSpPr>
        <p:spPr>
          <a:xfrm>
            <a:off x="1447800" y="2987159"/>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THE EXPECTATION IN WHICH ALL OTHER PERSONS DO </a:t>
            </a:r>
            <a:r>
              <a:rPr lang="en-US">
                <a:solidFill>
                  <a:schemeClr val="accent6"/>
                </a:solidFill>
                <a:sym typeface="Wingdings" panose="05000000000000000000" pitchFamily="2" charset="2"/>
              </a:rPr>
              <a:t>OUT</a:t>
            </a:r>
            <a:endParaRPr lang="en-US">
              <a:solidFill>
                <a:schemeClr val="accent6"/>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0B1F310-0147-A74D-0BA8-9B8B5E8E9FDF}"/>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r>
                  <a:rPr lang="en-US"/>
                  <a:t>Is there a profile of actions that is a Nash Equilibrium in which...</a:t>
                </a:r>
              </a:p>
              <a:p>
                <a:endParaRPr lang="en-US"/>
              </a:p>
              <a:p>
                <a:pPr marL="285750" indent="-285750">
                  <a:buFont typeface="Arial" panose="020B0604020202020204" pitchFamily="34" charset="0"/>
                  <a:buChar char="•"/>
                </a:pPr>
                <a:r>
                  <a:rPr lang="en-US"/>
                  <a:t>...every one of the 10 persons do </a:t>
                </a:r>
                <a:r>
                  <a:rPr lang="en-US" i="1"/>
                  <a:t>out</a:t>
                </a:r>
                <a:r>
                  <a:rPr lang="en-US"/>
                  <a:t>?</a:t>
                </a:r>
                <a:br>
                  <a:rPr lang="en-US"/>
                </a:br>
                <a:endParaRPr lang="en-US"/>
              </a:p>
              <a:p>
                <a:pPr marL="285750" indent="-285750">
                  <a:buFont typeface="Arial" panose="020B0604020202020204" pitchFamily="34" charset="0"/>
                  <a:buChar char="•"/>
                </a:pPr>
                <a:r>
                  <a:rPr lang="en-US"/>
                  <a:t>...every one of the 10 persons do </a:t>
                </a:r>
                <a:r>
                  <a:rPr lang="en-US" i="1"/>
                  <a:t>in</a:t>
                </a:r>
                <a:r>
                  <a:rPr lang="en-US"/>
                  <a:t>?</a:t>
                </a:r>
                <a:br>
                  <a:rPr lang="en-US"/>
                </a:br>
                <a:endParaRPr lang="en-US"/>
              </a:p>
              <a:p>
                <a:pPr marL="285750" indent="-285750">
                  <a:buFont typeface="Arial" panose="020B0604020202020204" pitchFamily="34" charset="0"/>
                  <a:buChar char="•"/>
                </a:pPr>
                <a:r>
                  <a:rPr lang="en-US"/>
                  <a:t>...</a:t>
                </a:r>
                <a:r>
                  <a:rPr lang="en-US" i="1"/>
                  <a:t>K</a:t>
                </a:r>
                <a:r>
                  <a:rPr lang="en-US"/>
                  <a:t> of the 10 persons do </a:t>
                </a:r>
                <a:r>
                  <a:rPr lang="en-US" i="1"/>
                  <a:t>in</a:t>
                </a:r>
                <a:r>
                  <a:rPr lang="en-US"/>
                  <a:t>, where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≤9</m:t>
                    </m:r>
                  </m:oMath>
                </a14:m>
                <a:r>
                  <a:rPr lang="en-US"/>
                  <a:t>?</a:t>
                </a:r>
              </a:p>
            </p:txBody>
          </p:sp>
        </mc:Choice>
        <mc:Fallback xmlns="">
          <p:sp>
            <p:nvSpPr>
              <p:cNvPr id="8" name="TextBox 7">
                <a:extLst>
                  <a:ext uri="{FF2B5EF4-FFF2-40B4-BE49-F238E27FC236}">
                    <a16:creationId xmlns:a16="http://schemas.microsoft.com/office/drawing/2014/main" id="{10B1F310-0147-A74D-0BA8-9B8B5E8E9FDF}"/>
                  </a:ext>
                </a:extLst>
              </p:cNvPr>
              <p:cNvSpPr txBox="1">
                <a:spLocks noRot="1" noChangeAspect="1" noMove="1" noResize="1" noEditPoints="1" noAdjustHandles="1" noChangeArrowheads="1" noChangeShapeType="1" noTextEdit="1"/>
              </p:cNvSpPr>
              <p:nvPr/>
            </p:nvSpPr>
            <p:spPr>
              <a:xfrm>
                <a:off x="723900" y="4292316"/>
                <a:ext cx="10848975" cy="2486025"/>
              </a:xfrm>
              <a:prstGeom prst="rect">
                <a:avLst/>
              </a:prstGeom>
              <a:blipFill>
                <a:blip r:embed="rId2"/>
                <a:stretch>
                  <a:fillRect l="-336" t="-483"/>
                </a:stretch>
              </a:blipFill>
              <a:ln w="38100">
                <a:solidFill>
                  <a:schemeClr val="accent6"/>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775131C4-ECF5-0CCE-C13C-35C9AE6240B8}"/>
              </a:ext>
            </a:extLst>
          </p:cNvPr>
          <p:cNvSpPr txBox="1"/>
          <p:nvPr/>
        </p:nvSpPr>
        <p:spPr>
          <a:xfrm>
            <a:off x="4698206" y="4818100"/>
            <a:ext cx="719138"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YES</a:t>
            </a:r>
          </a:p>
        </p:txBody>
      </p:sp>
      <p:sp>
        <p:nvSpPr>
          <p:cNvPr id="10" name="TextBox 9">
            <a:extLst>
              <a:ext uri="{FF2B5EF4-FFF2-40B4-BE49-F238E27FC236}">
                <a16:creationId xmlns:a16="http://schemas.microsoft.com/office/drawing/2014/main" id="{B9B6497F-0401-F25A-6BF3-43D4E6857002}"/>
              </a:ext>
            </a:extLst>
          </p:cNvPr>
          <p:cNvSpPr txBox="1"/>
          <p:nvPr/>
        </p:nvSpPr>
        <p:spPr>
          <a:xfrm>
            <a:off x="4698206" y="5383769"/>
            <a:ext cx="719138"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YES</a:t>
            </a:r>
          </a:p>
        </p:txBody>
      </p:sp>
      <p:sp>
        <p:nvSpPr>
          <p:cNvPr id="11" name="TextBox 10">
            <a:extLst>
              <a:ext uri="{FF2B5EF4-FFF2-40B4-BE49-F238E27FC236}">
                <a16:creationId xmlns:a16="http://schemas.microsoft.com/office/drawing/2014/main" id="{1BDB72DC-C1C4-7E35-EE45-11D85F995429}"/>
              </a:ext>
            </a:extLst>
          </p:cNvPr>
          <p:cNvSpPr txBox="1"/>
          <p:nvPr/>
        </p:nvSpPr>
        <p:spPr>
          <a:xfrm>
            <a:off x="5564981" y="5917169"/>
            <a:ext cx="719138" cy="36933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NO</a:t>
            </a:r>
          </a:p>
        </p:txBody>
      </p:sp>
      <p:sp>
        <p:nvSpPr>
          <p:cNvPr id="14" name="TextBox 13">
            <a:extLst>
              <a:ext uri="{FF2B5EF4-FFF2-40B4-BE49-F238E27FC236}">
                <a16:creationId xmlns:a16="http://schemas.microsoft.com/office/drawing/2014/main" id="{AE3539B7-6022-6273-7B2C-6F11F2B14375}"/>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819200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C4977-F3C4-4FD5-295C-586816EF854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15ED7E-5EF9-9C4C-467E-A7194F3D004D}"/>
              </a:ext>
            </a:extLst>
          </p:cNvPr>
          <p:cNvSpPr txBox="1"/>
          <p:nvPr/>
        </p:nvSpPr>
        <p:spPr>
          <a:xfrm>
            <a:off x="723900" y="676275"/>
            <a:ext cx="2390775"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1: Best Responses</a:t>
            </a:r>
          </a:p>
        </p:txBody>
      </p:sp>
      <p:sp>
        <p:nvSpPr>
          <p:cNvPr id="4" name="TextBox 3">
            <a:extLst>
              <a:ext uri="{FF2B5EF4-FFF2-40B4-BE49-F238E27FC236}">
                <a16:creationId xmlns:a16="http://schemas.microsoft.com/office/drawing/2014/main" id="{8CC996A1-F465-9C97-95AE-18986D736C7B}"/>
              </a:ext>
            </a:extLst>
          </p:cNvPr>
          <p:cNvSpPr txBox="1"/>
          <p:nvPr/>
        </p:nvSpPr>
        <p:spPr>
          <a:xfrm>
            <a:off x="747712" y="3875125"/>
            <a:ext cx="2495550"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a:t>Step 2: Nash Equilibrium</a:t>
            </a:r>
          </a:p>
        </p:txBody>
      </p:sp>
      <p:sp>
        <p:nvSpPr>
          <p:cNvPr id="5" name="TextBox 4">
            <a:extLst>
              <a:ext uri="{FF2B5EF4-FFF2-40B4-BE49-F238E27FC236}">
                <a16:creationId xmlns:a16="http://schemas.microsoft.com/office/drawing/2014/main" id="{17AFC1A8-6271-406E-91DD-A3CEA841897E}"/>
              </a:ext>
            </a:extLst>
          </p:cNvPr>
          <p:cNvSpPr txBox="1"/>
          <p:nvPr/>
        </p:nvSpPr>
        <p:spPr>
          <a:xfrm>
            <a:off x="723900" y="1104899"/>
            <a:ext cx="10848975" cy="2486025"/>
          </a:xfrm>
          <a:prstGeom prst="rect">
            <a:avLst/>
          </a:prstGeom>
          <a:noFill/>
          <a:ln w="38100">
            <a:solidFill>
              <a:schemeClr val="accent6"/>
            </a:solidFill>
          </a:ln>
        </p:spPr>
        <p:txBody>
          <a:bodyPr wrap="square" rtlCol="0">
            <a:noAutofit/>
          </a:bodyPr>
          <a:lstStyle/>
          <a:p>
            <a:r>
              <a:rPr lang="en-US"/>
              <a:t>Take any given person “i”...</a:t>
            </a:r>
            <a:br>
              <a:rPr lang="en-US"/>
            </a:br>
            <a:endParaRPr lang="en-US"/>
          </a:p>
          <a:p>
            <a:pPr marL="285750" indent="-285750">
              <a:buFont typeface="Arial" panose="020B0604020202020204" pitchFamily="34" charset="0"/>
              <a:buChar char="•"/>
            </a:pPr>
            <a:r>
              <a:rPr lang="en-US"/>
              <a:t>To which expectations about what the other 9 persons will do is </a:t>
            </a:r>
            <a:r>
              <a:rPr lang="en-US" i="1"/>
              <a:t>in</a:t>
            </a:r>
            <a:r>
              <a:rPr lang="en-US"/>
              <a:t> a best response for person </a:t>
            </a:r>
            <a:r>
              <a:rPr lang="en-US" i="1"/>
              <a:t>i</a:t>
            </a:r>
            <a:r>
              <a:rPr lang="en-US"/>
              <a:t>?</a:t>
            </a:r>
            <a:br>
              <a:rPr lang="en-US"/>
            </a:br>
            <a:br>
              <a:rPr lang="en-US" i="1"/>
            </a:br>
            <a:endParaRPr lang="en-US" i="1"/>
          </a:p>
          <a:p>
            <a:pPr marL="285750" indent="-285750">
              <a:buFont typeface="Arial" panose="020B0604020202020204" pitchFamily="34" charset="0"/>
              <a:buChar char="•"/>
            </a:pPr>
            <a:r>
              <a:rPr lang="en-US"/>
              <a:t>To which expectations about what the other 9 persons will do is </a:t>
            </a:r>
            <a:r>
              <a:rPr lang="en-US" i="1"/>
              <a:t>out</a:t>
            </a:r>
            <a:r>
              <a:rPr lang="en-US"/>
              <a:t> a best response for person </a:t>
            </a:r>
            <a:r>
              <a:rPr lang="en-US" i="1"/>
              <a:t>i</a:t>
            </a:r>
            <a:r>
              <a:rPr lang="en-US"/>
              <a:t>?</a:t>
            </a:r>
          </a:p>
        </p:txBody>
      </p:sp>
      <p:sp>
        <p:nvSpPr>
          <p:cNvPr id="6" name="TextBox 5">
            <a:extLst>
              <a:ext uri="{FF2B5EF4-FFF2-40B4-BE49-F238E27FC236}">
                <a16:creationId xmlns:a16="http://schemas.microsoft.com/office/drawing/2014/main" id="{0E3F93AF-3893-511E-675D-9D3CE84AE342}"/>
              </a:ext>
            </a:extLst>
          </p:cNvPr>
          <p:cNvSpPr txBox="1"/>
          <p:nvPr/>
        </p:nvSpPr>
        <p:spPr>
          <a:xfrm>
            <a:off x="1447800" y="2074308"/>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ANY EXPECTATION IN WHICH AT LEAST ONE OTHER PERSON DOES </a:t>
            </a:r>
            <a:r>
              <a:rPr lang="en-US">
                <a:solidFill>
                  <a:schemeClr val="accent6"/>
                </a:solidFill>
                <a:sym typeface="Wingdings" panose="05000000000000000000" pitchFamily="2" charset="2"/>
              </a:rPr>
              <a:t>IN</a:t>
            </a:r>
            <a:endParaRPr lang="en-US">
              <a:solidFill>
                <a:schemeClr val="accent6"/>
              </a:solidFill>
            </a:endParaRPr>
          </a:p>
        </p:txBody>
      </p:sp>
      <p:sp>
        <p:nvSpPr>
          <p:cNvPr id="7" name="TextBox 6">
            <a:extLst>
              <a:ext uri="{FF2B5EF4-FFF2-40B4-BE49-F238E27FC236}">
                <a16:creationId xmlns:a16="http://schemas.microsoft.com/office/drawing/2014/main" id="{405C91EF-B581-CB78-27D8-372D070C2FDA}"/>
              </a:ext>
            </a:extLst>
          </p:cNvPr>
          <p:cNvSpPr txBox="1"/>
          <p:nvPr/>
        </p:nvSpPr>
        <p:spPr>
          <a:xfrm>
            <a:off x="1447800" y="2987159"/>
            <a:ext cx="7219950" cy="369332"/>
          </a:xfrm>
          <a:prstGeom prst="rect">
            <a:avLst/>
          </a:prstGeom>
          <a:noFill/>
        </p:spPr>
        <p:txBody>
          <a:bodyPr wrap="square" rtlCol="0">
            <a:spAutoFit/>
          </a:bodyPr>
          <a:lstStyle/>
          <a:p>
            <a:r>
              <a:rPr lang="en-US" i="1">
                <a:solidFill>
                  <a:schemeClr val="accent6"/>
                </a:solidFill>
                <a:sym typeface="Wingdings" panose="05000000000000000000" pitchFamily="2" charset="2"/>
              </a:rPr>
              <a:t>----&gt; THE EXPECTATION IN WHICH ALL OTHER PERSONS DO </a:t>
            </a:r>
            <a:r>
              <a:rPr lang="en-US">
                <a:solidFill>
                  <a:schemeClr val="accent6"/>
                </a:solidFill>
                <a:sym typeface="Wingdings" panose="05000000000000000000" pitchFamily="2" charset="2"/>
              </a:rPr>
              <a:t>OUT</a:t>
            </a:r>
            <a:endParaRPr lang="en-US">
              <a:solidFill>
                <a:schemeClr val="accent6"/>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9CC9A31-9E19-6F37-864F-5C09F5C4DF9B}"/>
                  </a:ext>
                </a:extLst>
              </p:cNvPr>
              <p:cNvSpPr txBox="1"/>
              <p:nvPr/>
            </p:nvSpPr>
            <p:spPr>
              <a:xfrm>
                <a:off x="723900" y="4292316"/>
                <a:ext cx="10848975" cy="2486025"/>
              </a:xfrm>
              <a:prstGeom prst="rect">
                <a:avLst/>
              </a:prstGeom>
              <a:noFill/>
              <a:ln w="38100">
                <a:solidFill>
                  <a:schemeClr val="accent6"/>
                </a:solidFill>
              </a:ln>
            </p:spPr>
            <p:txBody>
              <a:bodyPr wrap="square" rtlCol="0">
                <a:noAutofit/>
              </a:bodyPr>
              <a:lstStyle/>
              <a:p>
                <a:r>
                  <a:rPr lang="en-US"/>
                  <a:t>Is there a profile of actions that is a Nash Equilibrium in which...</a:t>
                </a:r>
              </a:p>
              <a:p>
                <a:endParaRPr lang="en-US"/>
              </a:p>
              <a:p>
                <a:pPr marL="285750" indent="-285750">
                  <a:buFont typeface="Arial" panose="020B0604020202020204" pitchFamily="34" charset="0"/>
                  <a:buChar char="•"/>
                </a:pPr>
                <a:r>
                  <a:rPr lang="en-US"/>
                  <a:t>...every one of the 10 persons do </a:t>
                </a:r>
                <a:r>
                  <a:rPr lang="en-US" i="1"/>
                  <a:t>out</a:t>
                </a:r>
                <a:r>
                  <a:rPr lang="en-US"/>
                  <a:t>?</a:t>
                </a:r>
                <a:br>
                  <a:rPr lang="en-US"/>
                </a:br>
                <a:endParaRPr lang="en-US"/>
              </a:p>
              <a:p>
                <a:pPr marL="285750" indent="-285750">
                  <a:buFont typeface="Arial" panose="020B0604020202020204" pitchFamily="34" charset="0"/>
                  <a:buChar char="•"/>
                </a:pPr>
                <a:r>
                  <a:rPr lang="en-US"/>
                  <a:t>...every one of the 10 persons do </a:t>
                </a:r>
                <a:r>
                  <a:rPr lang="en-US" i="1"/>
                  <a:t>in</a:t>
                </a:r>
                <a:r>
                  <a:rPr lang="en-US"/>
                  <a:t>?</a:t>
                </a:r>
                <a:br>
                  <a:rPr lang="en-US"/>
                </a:br>
                <a:endParaRPr lang="en-US"/>
              </a:p>
              <a:p>
                <a:pPr marL="285750" indent="-285750">
                  <a:buFont typeface="Arial" panose="020B0604020202020204" pitchFamily="34" charset="0"/>
                  <a:buChar char="•"/>
                </a:pPr>
                <a:r>
                  <a:rPr lang="en-US"/>
                  <a:t>...</a:t>
                </a:r>
                <a:r>
                  <a:rPr lang="en-US" i="1"/>
                  <a:t>K</a:t>
                </a:r>
                <a:r>
                  <a:rPr lang="en-US"/>
                  <a:t> of the 10 persons do </a:t>
                </a:r>
                <a:r>
                  <a:rPr lang="en-US" i="1"/>
                  <a:t>in</a:t>
                </a:r>
                <a:r>
                  <a:rPr lang="en-US"/>
                  <a:t>, where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𝐾</m:t>
                    </m:r>
                    <m:r>
                      <a:rPr lang="en-US" b="0" i="1" smtClean="0">
                        <a:latin typeface="Cambria Math" panose="02040503050406030204" pitchFamily="18" charset="0"/>
                      </a:rPr>
                      <m:t>≤9</m:t>
                    </m:r>
                  </m:oMath>
                </a14:m>
                <a:r>
                  <a:rPr lang="en-US"/>
                  <a:t>?</a:t>
                </a:r>
              </a:p>
            </p:txBody>
          </p:sp>
        </mc:Choice>
        <mc:Fallback xmlns="">
          <p:sp>
            <p:nvSpPr>
              <p:cNvPr id="8" name="TextBox 7">
                <a:extLst>
                  <a:ext uri="{FF2B5EF4-FFF2-40B4-BE49-F238E27FC236}">
                    <a16:creationId xmlns:a16="http://schemas.microsoft.com/office/drawing/2014/main" id="{69CC9A31-9E19-6F37-864F-5C09F5C4DF9B}"/>
                  </a:ext>
                </a:extLst>
              </p:cNvPr>
              <p:cNvSpPr txBox="1">
                <a:spLocks noRot="1" noChangeAspect="1" noMove="1" noResize="1" noEditPoints="1" noAdjustHandles="1" noChangeArrowheads="1" noChangeShapeType="1" noTextEdit="1"/>
              </p:cNvSpPr>
              <p:nvPr/>
            </p:nvSpPr>
            <p:spPr>
              <a:xfrm>
                <a:off x="723900" y="4292316"/>
                <a:ext cx="10848975" cy="2486025"/>
              </a:xfrm>
              <a:prstGeom prst="rect">
                <a:avLst/>
              </a:prstGeom>
              <a:blipFill>
                <a:blip r:embed="rId2"/>
                <a:stretch>
                  <a:fillRect l="-336" t="-483"/>
                </a:stretch>
              </a:blipFill>
              <a:ln w="38100">
                <a:solidFill>
                  <a:schemeClr val="accent6"/>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91DF083F-E4EC-770B-C36E-09BFE3DB5A27}"/>
              </a:ext>
            </a:extLst>
          </p:cNvPr>
          <p:cNvSpPr txBox="1"/>
          <p:nvPr/>
        </p:nvSpPr>
        <p:spPr>
          <a:xfrm>
            <a:off x="4698206" y="4818100"/>
            <a:ext cx="719138"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YES</a:t>
            </a:r>
          </a:p>
        </p:txBody>
      </p:sp>
      <p:sp>
        <p:nvSpPr>
          <p:cNvPr id="10" name="TextBox 9">
            <a:extLst>
              <a:ext uri="{FF2B5EF4-FFF2-40B4-BE49-F238E27FC236}">
                <a16:creationId xmlns:a16="http://schemas.microsoft.com/office/drawing/2014/main" id="{2B92C588-4486-0DD9-46C0-412D69DF4730}"/>
              </a:ext>
            </a:extLst>
          </p:cNvPr>
          <p:cNvSpPr txBox="1"/>
          <p:nvPr/>
        </p:nvSpPr>
        <p:spPr>
          <a:xfrm>
            <a:off x="4698206" y="5383769"/>
            <a:ext cx="719138" cy="3693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YES</a:t>
            </a:r>
          </a:p>
        </p:txBody>
      </p:sp>
      <p:sp>
        <p:nvSpPr>
          <p:cNvPr id="11" name="TextBox 10">
            <a:extLst>
              <a:ext uri="{FF2B5EF4-FFF2-40B4-BE49-F238E27FC236}">
                <a16:creationId xmlns:a16="http://schemas.microsoft.com/office/drawing/2014/main" id="{DC8BB15E-7C70-2A8E-4E8F-C9F2CF5E0EF0}"/>
              </a:ext>
            </a:extLst>
          </p:cNvPr>
          <p:cNvSpPr txBox="1"/>
          <p:nvPr/>
        </p:nvSpPr>
        <p:spPr>
          <a:xfrm>
            <a:off x="5564981" y="5917169"/>
            <a:ext cx="719138" cy="36933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t>NO</a:t>
            </a:r>
          </a:p>
        </p:txBody>
      </p:sp>
      <p:sp>
        <p:nvSpPr>
          <p:cNvPr id="12" name="TextBox 11">
            <a:extLst>
              <a:ext uri="{FF2B5EF4-FFF2-40B4-BE49-F238E27FC236}">
                <a16:creationId xmlns:a16="http://schemas.microsoft.com/office/drawing/2014/main" id="{5731B4D0-3624-C924-D854-B674EA4D52C7}"/>
              </a:ext>
            </a:extLst>
          </p:cNvPr>
          <p:cNvSpPr txBox="1"/>
          <p:nvPr/>
        </p:nvSpPr>
        <p:spPr>
          <a:xfrm rot="1681661">
            <a:off x="8806831" y="3929593"/>
            <a:ext cx="3133725" cy="1477328"/>
          </a:xfrm>
          <a:prstGeom prst="rect">
            <a:avLst/>
          </a:prstGeom>
          <a:solidFill>
            <a:schemeClr val="bg1"/>
          </a:solidFill>
          <a:ln w="57150">
            <a:solidFill>
              <a:schemeClr val="accent6"/>
            </a:solidFill>
          </a:ln>
        </p:spPr>
        <p:txBody>
          <a:bodyPr wrap="square" rtlCol="0">
            <a:spAutoFit/>
          </a:bodyPr>
          <a:lstStyle/>
          <a:p>
            <a:r>
              <a:rPr lang="en-US"/>
              <a:t>So equilibria in this game have a weird on-off quality...</a:t>
            </a:r>
          </a:p>
          <a:p>
            <a:endParaRPr lang="en-US"/>
          </a:p>
          <a:p>
            <a:r>
              <a:rPr lang="en-US"/>
              <a:t>Either everybody does </a:t>
            </a:r>
            <a:r>
              <a:rPr lang="en-US" i="1"/>
              <a:t>in</a:t>
            </a:r>
            <a:r>
              <a:rPr lang="en-US"/>
              <a:t> or everybody does </a:t>
            </a:r>
            <a:r>
              <a:rPr lang="en-US" i="1"/>
              <a:t>out</a:t>
            </a:r>
            <a:r>
              <a:rPr lang="en-US"/>
              <a:t>.</a:t>
            </a:r>
          </a:p>
        </p:txBody>
      </p:sp>
      <p:sp>
        <p:nvSpPr>
          <p:cNvPr id="13" name="TextBox 12">
            <a:extLst>
              <a:ext uri="{FF2B5EF4-FFF2-40B4-BE49-F238E27FC236}">
                <a16:creationId xmlns:a16="http://schemas.microsoft.com/office/drawing/2014/main" id="{56E0E368-131D-1753-50A1-923CDD178B4E}"/>
              </a:ext>
            </a:extLst>
          </p:cNvPr>
          <p:cNvSpPr txBox="1"/>
          <p:nvPr/>
        </p:nvSpPr>
        <p:spPr>
          <a:xfrm>
            <a:off x="352425" y="257175"/>
            <a:ext cx="6105525" cy="369332"/>
          </a:xfrm>
          <a:prstGeom prst="rect">
            <a:avLst/>
          </a:prstGeom>
          <a:noFill/>
        </p:spPr>
        <p:txBody>
          <a:bodyPr wrap="square" rtlCol="0">
            <a:spAutoFit/>
          </a:bodyPr>
          <a:lstStyle/>
          <a:p>
            <a:r>
              <a:rPr lang="en-US" dirty="0"/>
              <a:t>IN-OUT GAMES – </a:t>
            </a:r>
            <a:r>
              <a:rPr lang="en-US" dirty="0">
                <a:solidFill>
                  <a:schemeClr val="accent6"/>
                </a:solidFill>
              </a:rPr>
              <a:t>NASH EQUILIBRIUM IN “I NEED A BUDDY”</a:t>
            </a:r>
          </a:p>
        </p:txBody>
      </p:sp>
    </p:spTree>
    <p:extLst>
      <p:ext uri="{BB962C8B-B14F-4D97-AF65-F5344CB8AC3E}">
        <p14:creationId xmlns:p14="http://schemas.microsoft.com/office/powerpoint/2010/main" val="31071555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465DA-9D09-9E9B-8EF4-13204E3F6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A7528-E6C7-0B06-5154-37812BA93C55}"/>
              </a:ext>
            </a:extLst>
          </p:cNvPr>
          <p:cNvSpPr>
            <a:spLocks noGrp="1"/>
          </p:cNvSpPr>
          <p:nvPr>
            <p:ph type="title"/>
          </p:nvPr>
        </p:nvSpPr>
        <p:spPr/>
        <p:txBody>
          <a:bodyPr/>
          <a:lstStyle/>
          <a:p>
            <a:r>
              <a:rPr lang="en-US" dirty="0"/>
              <a:t>In-Out Games How To</a:t>
            </a:r>
          </a:p>
        </p:txBody>
      </p:sp>
      <p:sp>
        <p:nvSpPr>
          <p:cNvPr id="3" name="Content Placeholder 2">
            <a:extLst>
              <a:ext uri="{FF2B5EF4-FFF2-40B4-BE49-F238E27FC236}">
                <a16:creationId xmlns:a16="http://schemas.microsoft.com/office/drawing/2014/main" id="{9B9178D3-60A7-C064-5601-5EF4F167CD02}"/>
              </a:ext>
            </a:extLst>
          </p:cNvPr>
          <p:cNvSpPr>
            <a:spLocks noGrp="1"/>
          </p:cNvSpPr>
          <p:nvPr>
            <p:ph idx="1"/>
          </p:nvPr>
        </p:nvSpPr>
        <p:spPr/>
        <p:txBody>
          <a:bodyPr/>
          <a:lstStyle/>
          <a:p>
            <a:pPr>
              <a:buFont typeface="Wingdings" panose="05000000000000000000" pitchFamily="2" charset="2"/>
              <a:buChar char="q"/>
            </a:pPr>
            <a:r>
              <a:rPr lang="en-US" dirty="0"/>
              <a:t> Definition of In-Out Games</a:t>
            </a:r>
          </a:p>
          <a:p>
            <a:pPr>
              <a:buFont typeface="Wingdings" panose="05000000000000000000" pitchFamily="2" charset="2"/>
              <a:buChar char="q"/>
            </a:pPr>
            <a:r>
              <a:rPr lang="en-US" dirty="0"/>
              <a:t> An example – “I Need a Buddy”</a:t>
            </a:r>
          </a:p>
          <a:p>
            <a:pPr>
              <a:buFont typeface="Wingdings" panose="05000000000000000000" pitchFamily="2" charset="2"/>
              <a:buChar char="q"/>
            </a:pPr>
            <a:r>
              <a:rPr lang="en-US" dirty="0"/>
              <a:t> Steps to Identifying Nash Equilibria in In-Out Games</a:t>
            </a:r>
          </a:p>
          <a:p>
            <a:pPr>
              <a:buFont typeface="Wingdings" panose="05000000000000000000" pitchFamily="2" charset="2"/>
              <a:buChar char="q"/>
            </a:pPr>
            <a:r>
              <a:rPr lang="en-US" dirty="0"/>
              <a:t> Practicing/Demonstrating the Steps – Substitutes vs. Complements</a:t>
            </a:r>
          </a:p>
        </p:txBody>
      </p:sp>
      <p:pic>
        <p:nvPicPr>
          <p:cNvPr id="5" name="Graphic 4" descr="Checkmark with solid fill">
            <a:extLst>
              <a:ext uri="{FF2B5EF4-FFF2-40B4-BE49-F238E27FC236}">
                <a16:creationId xmlns:a16="http://schemas.microsoft.com/office/drawing/2014/main" id="{96C1F6EE-675D-2176-ECD7-732CC85088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141" y="1300957"/>
            <a:ext cx="914400" cy="914400"/>
          </a:xfrm>
          <a:prstGeom prst="rect">
            <a:avLst/>
          </a:prstGeom>
        </p:spPr>
      </p:pic>
      <p:pic>
        <p:nvPicPr>
          <p:cNvPr id="4" name="Graphic 3" descr="Checkmark with solid fill">
            <a:extLst>
              <a:ext uri="{FF2B5EF4-FFF2-40B4-BE49-F238E27FC236}">
                <a16:creationId xmlns:a16="http://schemas.microsoft.com/office/drawing/2014/main" id="{92D18F57-290E-3129-5116-C47944FEF9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1223" y="1797481"/>
            <a:ext cx="914400" cy="914400"/>
          </a:xfrm>
          <a:prstGeom prst="rect">
            <a:avLst/>
          </a:prstGeom>
        </p:spPr>
      </p:pic>
    </p:spTree>
    <p:extLst>
      <p:ext uri="{BB962C8B-B14F-4D97-AF65-F5344CB8AC3E}">
        <p14:creationId xmlns:p14="http://schemas.microsoft.com/office/powerpoint/2010/main" val="17939822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F5A-3AC4-BB3B-005A-CF391F09A459}"/>
              </a:ext>
            </a:extLst>
          </p:cNvPr>
          <p:cNvSpPr>
            <a:spLocks noGrp="1"/>
          </p:cNvSpPr>
          <p:nvPr>
            <p:ph type="title"/>
          </p:nvPr>
        </p:nvSpPr>
        <p:spPr>
          <a:xfrm>
            <a:off x="2176182" y="203760"/>
            <a:ext cx="7839635" cy="1325563"/>
          </a:xfrm>
        </p:spPr>
        <p:txBody>
          <a:bodyPr/>
          <a:lstStyle/>
          <a:p>
            <a:pPr algn="ctr"/>
            <a:r>
              <a:rPr lang="en-US" dirty="0"/>
              <a:t>Steps in Identifying Nash Equilibria in In-Out Games</a:t>
            </a:r>
          </a:p>
        </p:txBody>
      </p:sp>
      <p:sp>
        <p:nvSpPr>
          <p:cNvPr id="3" name="Content Placeholder 2">
            <a:extLst>
              <a:ext uri="{FF2B5EF4-FFF2-40B4-BE49-F238E27FC236}">
                <a16:creationId xmlns:a16="http://schemas.microsoft.com/office/drawing/2014/main" id="{C4F3335D-1806-5DA2-F78C-BB5F55C273C3}"/>
              </a:ext>
            </a:extLst>
          </p:cNvPr>
          <p:cNvSpPr>
            <a:spLocks noGrp="1"/>
          </p:cNvSpPr>
          <p:nvPr>
            <p:ph idx="1"/>
          </p:nvPr>
        </p:nvSpPr>
        <p:spPr/>
        <p:txBody>
          <a:bodyPr/>
          <a:lstStyle/>
          <a:p>
            <a:pPr marL="0" indent="0">
              <a:buNone/>
            </a:pPr>
            <a:r>
              <a:rPr lang="en-US" b="1" dirty="0"/>
              <a:t>STEP 1:</a:t>
            </a:r>
            <a:r>
              <a:rPr lang="en-US" dirty="0"/>
              <a:t> Create a list of ALL POSSIBLE profiles of actions in the game.</a:t>
            </a:r>
            <a:br>
              <a:rPr lang="en-US" dirty="0"/>
            </a:br>
            <a:endParaRPr lang="en-US" dirty="0"/>
          </a:p>
          <a:p>
            <a:pPr marL="0" indent="0">
              <a:buNone/>
            </a:pPr>
            <a:r>
              <a:rPr lang="en-US" b="1" dirty="0"/>
              <a:t>STEP 2:</a:t>
            </a:r>
            <a:r>
              <a:rPr lang="en-US" dirty="0"/>
              <a:t> Break up the list into mutually exclusive groups, with each group a candidate for NE.</a:t>
            </a:r>
          </a:p>
          <a:p>
            <a:pPr marL="0" indent="0">
              <a:buNone/>
            </a:pPr>
            <a:br>
              <a:rPr lang="en-US" dirty="0"/>
            </a:br>
            <a:r>
              <a:rPr lang="en-US" b="1" dirty="0"/>
              <a:t>STEP 3:</a:t>
            </a:r>
            <a:r>
              <a:rPr lang="en-US" dirty="0"/>
              <a:t> Check each group of profiles (Checking process – what has to be true for each behavior in the profile to be a best response?)</a:t>
            </a:r>
          </a:p>
        </p:txBody>
      </p:sp>
    </p:spTree>
    <p:extLst>
      <p:ext uri="{BB962C8B-B14F-4D97-AF65-F5344CB8AC3E}">
        <p14:creationId xmlns:p14="http://schemas.microsoft.com/office/powerpoint/2010/main" val="31367697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EA73E-52E6-01DA-FB57-138A3403F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3010A-832B-975A-1163-234D4599185D}"/>
              </a:ext>
            </a:extLst>
          </p:cNvPr>
          <p:cNvSpPr>
            <a:spLocks noGrp="1"/>
          </p:cNvSpPr>
          <p:nvPr>
            <p:ph type="title"/>
          </p:nvPr>
        </p:nvSpPr>
        <p:spPr/>
        <p:txBody>
          <a:bodyPr/>
          <a:lstStyle/>
          <a:p>
            <a:r>
              <a:rPr lang="en-US" dirty="0"/>
              <a:t>In-Out Games How To</a:t>
            </a:r>
          </a:p>
        </p:txBody>
      </p:sp>
      <p:sp>
        <p:nvSpPr>
          <p:cNvPr id="3" name="Content Placeholder 2">
            <a:extLst>
              <a:ext uri="{FF2B5EF4-FFF2-40B4-BE49-F238E27FC236}">
                <a16:creationId xmlns:a16="http://schemas.microsoft.com/office/drawing/2014/main" id="{9245CA6E-FE1D-90EB-30A6-8981D666072E}"/>
              </a:ext>
            </a:extLst>
          </p:cNvPr>
          <p:cNvSpPr>
            <a:spLocks noGrp="1"/>
          </p:cNvSpPr>
          <p:nvPr>
            <p:ph idx="1"/>
          </p:nvPr>
        </p:nvSpPr>
        <p:spPr/>
        <p:txBody>
          <a:bodyPr/>
          <a:lstStyle/>
          <a:p>
            <a:pPr>
              <a:buFont typeface="Wingdings" panose="05000000000000000000" pitchFamily="2" charset="2"/>
              <a:buChar char="q"/>
            </a:pPr>
            <a:r>
              <a:rPr lang="en-US" dirty="0"/>
              <a:t> Definition of In-Out Games</a:t>
            </a:r>
          </a:p>
          <a:p>
            <a:pPr>
              <a:buFont typeface="Wingdings" panose="05000000000000000000" pitchFamily="2" charset="2"/>
              <a:buChar char="q"/>
            </a:pPr>
            <a:r>
              <a:rPr lang="en-US" dirty="0"/>
              <a:t> An example – “I Need a Buddy”</a:t>
            </a:r>
          </a:p>
          <a:p>
            <a:pPr>
              <a:buFont typeface="Wingdings" panose="05000000000000000000" pitchFamily="2" charset="2"/>
              <a:buChar char="q"/>
            </a:pPr>
            <a:r>
              <a:rPr lang="en-US" dirty="0"/>
              <a:t> Steps to Identifying Nash Equilibria in In-Out Games</a:t>
            </a:r>
          </a:p>
          <a:p>
            <a:pPr>
              <a:buFont typeface="Wingdings" panose="05000000000000000000" pitchFamily="2" charset="2"/>
              <a:buChar char="q"/>
            </a:pPr>
            <a:r>
              <a:rPr lang="en-US" dirty="0"/>
              <a:t> Practicing/Demonstrating the Steps – Substitutes vs. Complements</a:t>
            </a:r>
          </a:p>
        </p:txBody>
      </p:sp>
      <p:pic>
        <p:nvPicPr>
          <p:cNvPr id="5" name="Graphic 4" descr="Checkmark with solid fill">
            <a:extLst>
              <a:ext uri="{FF2B5EF4-FFF2-40B4-BE49-F238E27FC236}">
                <a16:creationId xmlns:a16="http://schemas.microsoft.com/office/drawing/2014/main" id="{9F34513C-1D24-30F8-BBC6-CF4E40D8F3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141" y="1300957"/>
            <a:ext cx="914400" cy="914400"/>
          </a:xfrm>
          <a:prstGeom prst="rect">
            <a:avLst/>
          </a:prstGeom>
        </p:spPr>
      </p:pic>
      <p:pic>
        <p:nvPicPr>
          <p:cNvPr id="4" name="Graphic 3" descr="Checkmark with solid fill">
            <a:extLst>
              <a:ext uri="{FF2B5EF4-FFF2-40B4-BE49-F238E27FC236}">
                <a16:creationId xmlns:a16="http://schemas.microsoft.com/office/drawing/2014/main" id="{7F910642-19B4-2DB9-15EC-7874B728D3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1223" y="1797481"/>
            <a:ext cx="914400" cy="914400"/>
          </a:xfrm>
          <a:prstGeom prst="rect">
            <a:avLst/>
          </a:prstGeom>
        </p:spPr>
      </p:pic>
      <p:pic>
        <p:nvPicPr>
          <p:cNvPr id="6" name="Graphic 5" descr="Checkmark with solid fill">
            <a:extLst>
              <a:ext uri="{FF2B5EF4-FFF2-40B4-BE49-F238E27FC236}">
                <a16:creationId xmlns:a16="http://schemas.microsoft.com/office/drawing/2014/main" id="{7CE237FA-1270-ECAC-668B-1CA7408636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141" y="2322150"/>
            <a:ext cx="914400" cy="914400"/>
          </a:xfrm>
          <a:prstGeom prst="rect">
            <a:avLst/>
          </a:prstGeom>
        </p:spPr>
      </p:pic>
    </p:spTree>
    <p:extLst>
      <p:ext uri="{BB962C8B-B14F-4D97-AF65-F5344CB8AC3E}">
        <p14:creationId xmlns:p14="http://schemas.microsoft.com/office/powerpoint/2010/main" val="13111915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4BEBDB-965F-3BD3-21C3-F0C59838356F}"/>
              </a:ext>
            </a:extLst>
          </p:cNvPr>
          <p:cNvSpPr txBox="1"/>
          <p:nvPr/>
        </p:nvSpPr>
        <p:spPr>
          <a:xfrm>
            <a:off x="2743200" y="1362075"/>
            <a:ext cx="6686550" cy="2062103"/>
          </a:xfrm>
          <a:prstGeom prst="rect">
            <a:avLst/>
          </a:prstGeom>
          <a:noFill/>
        </p:spPr>
        <p:txBody>
          <a:bodyPr wrap="square" rtlCol="0">
            <a:spAutoFit/>
          </a:bodyPr>
          <a:lstStyle/>
          <a:p>
            <a:pPr algn="ctr"/>
            <a:r>
              <a:rPr lang="en-US" sz="3200"/>
              <a:t>Application of in-out games:</a:t>
            </a:r>
          </a:p>
          <a:p>
            <a:pPr algn="ctr"/>
            <a:endParaRPr lang="en-US" sz="3200"/>
          </a:p>
          <a:p>
            <a:pPr algn="ctr"/>
            <a:r>
              <a:rPr lang="en-US" sz="3200"/>
              <a:t>Strategic Complements vs. </a:t>
            </a:r>
            <a:br>
              <a:rPr lang="en-US" sz="3200"/>
            </a:br>
            <a:r>
              <a:rPr lang="en-US" sz="3200"/>
              <a:t>Strategic Substitutes</a:t>
            </a:r>
          </a:p>
        </p:txBody>
      </p:sp>
    </p:spTree>
    <p:extLst>
      <p:ext uri="{BB962C8B-B14F-4D97-AF65-F5344CB8AC3E}">
        <p14:creationId xmlns:p14="http://schemas.microsoft.com/office/powerpoint/2010/main" val="1760846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EFBF1C-34BD-B418-7A32-A208615F3280}"/>
              </a:ext>
            </a:extLst>
          </p:cNvPr>
          <p:cNvSpPr txBox="1"/>
          <p:nvPr/>
        </p:nvSpPr>
        <p:spPr>
          <a:xfrm>
            <a:off x="476250" y="552450"/>
            <a:ext cx="3829050" cy="523220"/>
          </a:xfrm>
          <a:prstGeom prst="rect">
            <a:avLst/>
          </a:prstGeom>
          <a:noFill/>
        </p:spPr>
        <p:txBody>
          <a:bodyPr wrap="square" rtlCol="0">
            <a:spAutoFit/>
          </a:bodyPr>
          <a:lstStyle/>
          <a:p>
            <a:r>
              <a:rPr lang="en-US" sz="2800" b="1"/>
              <a:t>Strategic Complement</a:t>
            </a:r>
          </a:p>
        </p:txBody>
      </p:sp>
      <p:sp>
        <p:nvSpPr>
          <p:cNvPr id="3" name="TextBox 2">
            <a:extLst>
              <a:ext uri="{FF2B5EF4-FFF2-40B4-BE49-F238E27FC236}">
                <a16:creationId xmlns:a16="http://schemas.microsoft.com/office/drawing/2014/main" id="{4795B224-C3F6-D603-046E-13183BA0AD6B}"/>
              </a:ext>
            </a:extLst>
          </p:cNvPr>
          <p:cNvSpPr txBox="1"/>
          <p:nvPr/>
        </p:nvSpPr>
        <p:spPr>
          <a:xfrm>
            <a:off x="476250" y="3048000"/>
            <a:ext cx="3829050" cy="523220"/>
          </a:xfrm>
          <a:prstGeom prst="rect">
            <a:avLst/>
          </a:prstGeom>
          <a:noFill/>
        </p:spPr>
        <p:txBody>
          <a:bodyPr wrap="square" rtlCol="0">
            <a:spAutoFit/>
          </a:bodyPr>
          <a:lstStyle/>
          <a:p>
            <a:r>
              <a:rPr lang="en-US" sz="2800" b="1"/>
              <a:t>Strategic Substitute</a:t>
            </a:r>
          </a:p>
        </p:txBody>
      </p:sp>
      <p:sp>
        <p:nvSpPr>
          <p:cNvPr id="4" name="TextBox 3">
            <a:extLst>
              <a:ext uri="{FF2B5EF4-FFF2-40B4-BE49-F238E27FC236}">
                <a16:creationId xmlns:a16="http://schemas.microsoft.com/office/drawing/2014/main" id="{48C4D846-6716-68A1-21B8-73306A62701C}"/>
              </a:ext>
            </a:extLst>
          </p:cNvPr>
          <p:cNvSpPr txBox="1"/>
          <p:nvPr/>
        </p:nvSpPr>
        <p:spPr>
          <a:xfrm>
            <a:off x="1162050" y="1304925"/>
            <a:ext cx="3724275" cy="1477328"/>
          </a:xfrm>
          <a:prstGeom prst="rect">
            <a:avLst/>
          </a:prstGeom>
          <a:noFill/>
        </p:spPr>
        <p:txBody>
          <a:bodyPr wrap="square" rtlCol="0">
            <a:spAutoFit/>
          </a:bodyPr>
          <a:lstStyle/>
          <a:p>
            <a:r>
              <a:rPr lang="en-US"/>
              <a:t>An action X is a </a:t>
            </a:r>
            <a:r>
              <a:rPr lang="en-US" b="1"/>
              <a:t>strategic complement</a:t>
            </a:r>
            <a:r>
              <a:rPr lang="en-US"/>
              <a:t> to another action Y if a person’s incentive to do Y </a:t>
            </a:r>
            <a:r>
              <a:rPr lang="en-US" b="1"/>
              <a:t>increases</a:t>
            </a:r>
            <a:r>
              <a:rPr lang="en-US"/>
              <a:t> in the number of other persons she expects will do X.</a:t>
            </a:r>
          </a:p>
        </p:txBody>
      </p:sp>
      <p:sp>
        <p:nvSpPr>
          <p:cNvPr id="5" name="TextBox 4">
            <a:extLst>
              <a:ext uri="{FF2B5EF4-FFF2-40B4-BE49-F238E27FC236}">
                <a16:creationId xmlns:a16="http://schemas.microsoft.com/office/drawing/2014/main" id="{14C1619E-75D4-FC42-CA18-2810FD840AD7}"/>
              </a:ext>
            </a:extLst>
          </p:cNvPr>
          <p:cNvSpPr txBox="1"/>
          <p:nvPr/>
        </p:nvSpPr>
        <p:spPr>
          <a:xfrm>
            <a:off x="1162050" y="3836967"/>
            <a:ext cx="3514725" cy="1477328"/>
          </a:xfrm>
          <a:prstGeom prst="rect">
            <a:avLst/>
          </a:prstGeom>
          <a:noFill/>
        </p:spPr>
        <p:txBody>
          <a:bodyPr wrap="square" rtlCol="0">
            <a:spAutoFit/>
          </a:bodyPr>
          <a:lstStyle/>
          <a:p>
            <a:r>
              <a:rPr lang="en-US"/>
              <a:t>An action X is a </a:t>
            </a:r>
            <a:r>
              <a:rPr lang="en-US" b="1"/>
              <a:t>strategic substitute</a:t>
            </a:r>
            <a:r>
              <a:rPr lang="en-US"/>
              <a:t> to another action Y if a person’s incentive to do Y </a:t>
            </a:r>
            <a:r>
              <a:rPr lang="en-US" b="1"/>
              <a:t>decreases</a:t>
            </a:r>
            <a:r>
              <a:rPr lang="en-US"/>
              <a:t> in the number of other persons she expects will do X.</a:t>
            </a:r>
          </a:p>
        </p:txBody>
      </p:sp>
    </p:spTree>
    <p:extLst>
      <p:ext uri="{BB962C8B-B14F-4D97-AF65-F5344CB8AC3E}">
        <p14:creationId xmlns:p14="http://schemas.microsoft.com/office/powerpoint/2010/main" val="2367891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DC759-DCD8-58E7-1AA7-5C7D4AE192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EBB1C9-BA1A-3071-E039-50BA7E12697F}"/>
              </a:ext>
            </a:extLst>
          </p:cNvPr>
          <p:cNvSpPr txBox="1"/>
          <p:nvPr/>
        </p:nvSpPr>
        <p:spPr>
          <a:xfrm>
            <a:off x="476250" y="552450"/>
            <a:ext cx="3829050" cy="523220"/>
          </a:xfrm>
          <a:prstGeom prst="rect">
            <a:avLst/>
          </a:prstGeom>
          <a:noFill/>
        </p:spPr>
        <p:txBody>
          <a:bodyPr wrap="square" rtlCol="0">
            <a:spAutoFit/>
          </a:bodyPr>
          <a:lstStyle/>
          <a:p>
            <a:r>
              <a:rPr lang="en-US" sz="2800" b="1"/>
              <a:t>Strategic Complement</a:t>
            </a:r>
          </a:p>
        </p:txBody>
      </p:sp>
      <p:sp>
        <p:nvSpPr>
          <p:cNvPr id="3" name="TextBox 2">
            <a:extLst>
              <a:ext uri="{FF2B5EF4-FFF2-40B4-BE49-F238E27FC236}">
                <a16:creationId xmlns:a16="http://schemas.microsoft.com/office/drawing/2014/main" id="{48D6D962-0C1D-3A49-8601-91AC8AB16317}"/>
              </a:ext>
            </a:extLst>
          </p:cNvPr>
          <p:cNvSpPr txBox="1"/>
          <p:nvPr/>
        </p:nvSpPr>
        <p:spPr>
          <a:xfrm>
            <a:off x="476250" y="3048000"/>
            <a:ext cx="3829050" cy="523220"/>
          </a:xfrm>
          <a:prstGeom prst="rect">
            <a:avLst/>
          </a:prstGeom>
          <a:noFill/>
        </p:spPr>
        <p:txBody>
          <a:bodyPr wrap="square" rtlCol="0">
            <a:spAutoFit/>
          </a:bodyPr>
          <a:lstStyle/>
          <a:p>
            <a:r>
              <a:rPr lang="en-US" sz="2800" b="1"/>
              <a:t>Strategic Substitute</a:t>
            </a:r>
          </a:p>
        </p:txBody>
      </p:sp>
      <p:sp>
        <p:nvSpPr>
          <p:cNvPr id="4" name="TextBox 3">
            <a:extLst>
              <a:ext uri="{FF2B5EF4-FFF2-40B4-BE49-F238E27FC236}">
                <a16:creationId xmlns:a16="http://schemas.microsoft.com/office/drawing/2014/main" id="{DE6D91C7-859B-35B4-0FFA-BD22D8CDE695}"/>
              </a:ext>
            </a:extLst>
          </p:cNvPr>
          <p:cNvSpPr txBox="1"/>
          <p:nvPr/>
        </p:nvSpPr>
        <p:spPr>
          <a:xfrm>
            <a:off x="1162050" y="1304925"/>
            <a:ext cx="3724275" cy="1477328"/>
          </a:xfrm>
          <a:prstGeom prst="rect">
            <a:avLst/>
          </a:prstGeom>
          <a:noFill/>
        </p:spPr>
        <p:txBody>
          <a:bodyPr wrap="square" rtlCol="0">
            <a:spAutoFit/>
          </a:bodyPr>
          <a:lstStyle/>
          <a:p>
            <a:r>
              <a:rPr lang="en-US"/>
              <a:t>An action X is a </a:t>
            </a:r>
            <a:r>
              <a:rPr lang="en-US" b="1"/>
              <a:t>strategic complement</a:t>
            </a:r>
            <a:r>
              <a:rPr lang="en-US"/>
              <a:t> to another action Y if a person’s incentive to do Y </a:t>
            </a:r>
            <a:r>
              <a:rPr lang="en-US" b="1"/>
              <a:t>increases</a:t>
            </a:r>
            <a:r>
              <a:rPr lang="en-US"/>
              <a:t> in the number of other persons she expects will do X.</a:t>
            </a:r>
          </a:p>
        </p:txBody>
      </p:sp>
      <p:sp>
        <p:nvSpPr>
          <p:cNvPr id="5" name="TextBox 4">
            <a:extLst>
              <a:ext uri="{FF2B5EF4-FFF2-40B4-BE49-F238E27FC236}">
                <a16:creationId xmlns:a16="http://schemas.microsoft.com/office/drawing/2014/main" id="{75EBD623-3B12-B41B-6D2B-389C007AB197}"/>
              </a:ext>
            </a:extLst>
          </p:cNvPr>
          <p:cNvSpPr txBox="1"/>
          <p:nvPr/>
        </p:nvSpPr>
        <p:spPr>
          <a:xfrm>
            <a:off x="1162050" y="3836967"/>
            <a:ext cx="3514725" cy="1477328"/>
          </a:xfrm>
          <a:prstGeom prst="rect">
            <a:avLst/>
          </a:prstGeom>
          <a:noFill/>
        </p:spPr>
        <p:txBody>
          <a:bodyPr wrap="square" rtlCol="0">
            <a:spAutoFit/>
          </a:bodyPr>
          <a:lstStyle/>
          <a:p>
            <a:r>
              <a:rPr lang="en-US"/>
              <a:t>An action X is a </a:t>
            </a:r>
            <a:r>
              <a:rPr lang="en-US" b="1"/>
              <a:t>strategic substitute</a:t>
            </a:r>
            <a:r>
              <a:rPr lang="en-US"/>
              <a:t> to another action Y if a person’s incentive to do Y </a:t>
            </a:r>
            <a:r>
              <a:rPr lang="en-US" b="1"/>
              <a:t>decreases</a:t>
            </a:r>
            <a:r>
              <a:rPr lang="en-US"/>
              <a:t> in the number of other persons she expects will do X.</a:t>
            </a:r>
          </a:p>
        </p:txBody>
      </p:sp>
      <p:sp>
        <p:nvSpPr>
          <p:cNvPr id="6" name="TextBox 5">
            <a:extLst>
              <a:ext uri="{FF2B5EF4-FFF2-40B4-BE49-F238E27FC236}">
                <a16:creationId xmlns:a16="http://schemas.microsoft.com/office/drawing/2014/main" id="{ED05A00E-5451-5C8D-F139-3329D3EDE75C}"/>
              </a:ext>
            </a:extLst>
          </p:cNvPr>
          <p:cNvSpPr txBox="1"/>
          <p:nvPr/>
        </p:nvSpPr>
        <p:spPr>
          <a:xfrm>
            <a:off x="7943850" y="266700"/>
            <a:ext cx="2838450" cy="584775"/>
          </a:xfrm>
          <a:prstGeom prst="rect">
            <a:avLst/>
          </a:prstGeom>
          <a:noFill/>
        </p:spPr>
        <p:txBody>
          <a:bodyPr wrap="square" rtlCol="0">
            <a:spAutoFit/>
          </a:bodyPr>
          <a:lstStyle/>
          <a:p>
            <a:pPr algn="ctr"/>
            <a:r>
              <a:rPr lang="en-US" sz="3200" b="1" u="sng"/>
              <a:t>EXAMPLE</a:t>
            </a:r>
          </a:p>
        </p:txBody>
      </p:sp>
      <p:sp>
        <p:nvSpPr>
          <p:cNvPr id="8" name="TextBox 7">
            <a:extLst>
              <a:ext uri="{FF2B5EF4-FFF2-40B4-BE49-F238E27FC236}">
                <a16:creationId xmlns:a16="http://schemas.microsoft.com/office/drawing/2014/main" id="{CE72B292-6353-FC67-2126-724AAC0988D6}"/>
              </a:ext>
            </a:extLst>
          </p:cNvPr>
          <p:cNvSpPr txBox="1"/>
          <p:nvPr/>
        </p:nvSpPr>
        <p:spPr>
          <a:xfrm>
            <a:off x="6781799" y="1043879"/>
            <a:ext cx="5057775" cy="3416320"/>
          </a:xfrm>
          <a:prstGeom prst="rect">
            <a:avLst/>
          </a:prstGeom>
          <a:solidFill>
            <a:schemeClr val="accent4"/>
          </a:solidFill>
        </p:spPr>
        <p:txBody>
          <a:bodyPr wrap="square">
            <a:spAutoFit/>
          </a:bodyPr>
          <a:lstStyle/>
          <a:p>
            <a:r>
              <a:rPr lang="en-US" dirty="0"/>
              <a:t>“I was thinking about going to the permit hearing to express my opposition to that new apartment building.  But then I thought about how many flyers I saw posted all over the neighborhood opposing the apartment building, and I guessed a lot of people were going to show up and tell the city not to give the developer a permit.  So I figured my voice wouldn’t make much difference, given that there would be so many people who were going to show up and say what I was going to say.  So I decided to stay home and watch The Great British Baking Show.”</a:t>
            </a:r>
          </a:p>
        </p:txBody>
      </p:sp>
      <p:sp>
        <p:nvSpPr>
          <p:cNvPr id="9" name="TextBox 8">
            <a:extLst>
              <a:ext uri="{FF2B5EF4-FFF2-40B4-BE49-F238E27FC236}">
                <a16:creationId xmlns:a16="http://schemas.microsoft.com/office/drawing/2014/main" id="{5D6F2658-9392-E03F-AED8-70B56867F26B}"/>
              </a:ext>
            </a:extLst>
          </p:cNvPr>
          <p:cNvSpPr txBox="1"/>
          <p:nvPr/>
        </p:nvSpPr>
        <p:spPr>
          <a:xfrm>
            <a:off x="7311447" y="4612125"/>
            <a:ext cx="3789426" cy="1754326"/>
          </a:xfrm>
          <a:prstGeom prst="rect">
            <a:avLst/>
          </a:prstGeom>
          <a:noFill/>
        </p:spPr>
        <p:txBody>
          <a:bodyPr wrap="square" rtlCol="0">
            <a:spAutoFit/>
          </a:bodyPr>
          <a:lstStyle/>
          <a:p>
            <a:r>
              <a:rPr lang="en-US" i="1" dirty="0"/>
              <a:t>From this person’s point of view, is attendance at the hearing by other people who oppose the permit a </a:t>
            </a:r>
            <a:r>
              <a:rPr lang="en-US" b="1" i="1" dirty="0"/>
              <a:t>strategic complement to </a:t>
            </a:r>
            <a:r>
              <a:rPr lang="en-US" i="1" dirty="0"/>
              <a:t>or a </a:t>
            </a:r>
            <a:r>
              <a:rPr lang="en-US" b="1" i="1" dirty="0"/>
              <a:t>strategic substitute for</a:t>
            </a:r>
            <a:r>
              <a:rPr lang="en-US" i="1" dirty="0"/>
              <a:t> her own attendance?</a:t>
            </a:r>
          </a:p>
        </p:txBody>
      </p:sp>
    </p:spTree>
    <p:extLst>
      <p:ext uri="{BB962C8B-B14F-4D97-AF65-F5344CB8AC3E}">
        <p14:creationId xmlns:p14="http://schemas.microsoft.com/office/powerpoint/2010/main" val="2040121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19507-169C-54DF-E252-7FA2D7B1A1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919A44-A69F-2E21-FA62-C95C73D69F93}"/>
              </a:ext>
            </a:extLst>
          </p:cNvPr>
          <p:cNvSpPr txBox="1"/>
          <p:nvPr/>
        </p:nvSpPr>
        <p:spPr>
          <a:xfrm>
            <a:off x="476250" y="552450"/>
            <a:ext cx="3829050" cy="523220"/>
          </a:xfrm>
          <a:prstGeom prst="rect">
            <a:avLst/>
          </a:prstGeom>
          <a:noFill/>
        </p:spPr>
        <p:txBody>
          <a:bodyPr wrap="square" rtlCol="0">
            <a:spAutoFit/>
          </a:bodyPr>
          <a:lstStyle/>
          <a:p>
            <a:r>
              <a:rPr lang="en-US" sz="2800" b="1"/>
              <a:t>Strategic Complement</a:t>
            </a:r>
          </a:p>
        </p:txBody>
      </p:sp>
      <p:sp>
        <p:nvSpPr>
          <p:cNvPr id="3" name="TextBox 2">
            <a:extLst>
              <a:ext uri="{FF2B5EF4-FFF2-40B4-BE49-F238E27FC236}">
                <a16:creationId xmlns:a16="http://schemas.microsoft.com/office/drawing/2014/main" id="{2D09FC90-B6F5-D5F6-1E0F-9A3DDC41EB58}"/>
              </a:ext>
            </a:extLst>
          </p:cNvPr>
          <p:cNvSpPr txBox="1"/>
          <p:nvPr/>
        </p:nvSpPr>
        <p:spPr>
          <a:xfrm>
            <a:off x="476250" y="3048000"/>
            <a:ext cx="3829050" cy="523220"/>
          </a:xfrm>
          <a:prstGeom prst="rect">
            <a:avLst/>
          </a:prstGeom>
          <a:noFill/>
        </p:spPr>
        <p:txBody>
          <a:bodyPr wrap="square" rtlCol="0">
            <a:spAutoFit/>
          </a:bodyPr>
          <a:lstStyle/>
          <a:p>
            <a:r>
              <a:rPr lang="en-US" sz="2800" b="1"/>
              <a:t>Strategic Substitute</a:t>
            </a:r>
          </a:p>
        </p:txBody>
      </p:sp>
      <p:sp>
        <p:nvSpPr>
          <p:cNvPr id="4" name="TextBox 3">
            <a:extLst>
              <a:ext uri="{FF2B5EF4-FFF2-40B4-BE49-F238E27FC236}">
                <a16:creationId xmlns:a16="http://schemas.microsoft.com/office/drawing/2014/main" id="{31062402-B09B-9981-8D73-45715B0E42A9}"/>
              </a:ext>
            </a:extLst>
          </p:cNvPr>
          <p:cNvSpPr txBox="1"/>
          <p:nvPr/>
        </p:nvSpPr>
        <p:spPr>
          <a:xfrm>
            <a:off x="1162050" y="1304925"/>
            <a:ext cx="3724275" cy="1477328"/>
          </a:xfrm>
          <a:prstGeom prst="rect">
            <a:avLst/>
          </a:prstGeom>
          <a:noFill/>
        </p:spPr>
        <p:txBody>
          <a:bodyPr wrap="square" rtlCol="0">
            <a:spAutoFit/>
          </a:bodyPr>
          <a:lstStyle/>
          <a:p>
            <a:r>
              <a:rPr lang="en-US"/>
              <a:t>An action X is a </a:t>
            </a:r>
            <a:r>
              <a:rPr lang="en-US" b="1"/>
              <a:t>strategic complement</a:t>
            </a:r>
            <a:r>
              <a:rPr lang="en-US"/>
              <a:t> to another action Y if a person’s incentive to do Y </a:t>
            </a:r>
            <a:r>
              <a:rPr lang="en-US" b="1"/>
              <a:t>increases</a:t>
            </a:r>
            <a:r>
              <a:rPr lang="en-US"/>
              <a:t> in the number of other persons she expects will do X.</a:t>
            </a:r>
          </a:p>
        </p:txBody>
      </p:sp>
      <p:sp>
        <p:nvSpPr>
          <p:cNvPr id="5" name="TextBox 4">
            <a:extLst>
              <a:ext uri="{FF2B5EF4-FFF2-40B4-BE49-F238E27FC236}">
                <a16:creationId xmlns:a16="http://schemas.microsoft.com/office/drawing/2014/main" id="{B14128A6-7831-CE65-B973-0DD0012CB4B0}"/>
              </a:ext>
            </a:extLst>
          </p:cNvPr>
          <p:cNvSpPr txBox="1"/>
          <p:nvPr/>
        </p:nvSpPr>
        <p:spPr>
          <a:xfrm>
            <a:off x="1162050" y="3836967"/>
            <a:ext cx="3514725" cy="1477328"/>
          </a:xfrm>
          <a:prstGeom prst="rect">
            <a:avLst/>
          </a:prstGeom>
          <a:noFill/>
        </p:spPr>
        <p:txBody>
          <a:bodyPr wrap="square" rtlCol="0">
            <a:spAutoFit/>
          </a:bodyPr>
          <a:lstStyle/>
          <a:p>
            <a:r>
              <a:rPr lang="en-US"/>
              <a:t>An action X is a </a:t>
            </a:r>
            <a:r>
              <a:rPr lang="en-US" b="1"/>
              <a:t>strategic substitute</a:t>
            </a:r>
            <a:r>
              <a:rPr lang="en-US"/>
              <a:t> to another action Y if a person’s incentive to do Y </a:t>
            </a:r>
            <a:r>
              <a:rPr lang="en-US" b="1"/>
              <a:t>decreases</a:t>
            </a:r>
            <a:r>
              <a:rPr lang="en-US"/>
              <a:t> in the number of other persons she expects will do X.</a:t>
            </a:r>
          </a:p>
        </p:txBody>
      </p:sp>
      <p:sp>
        <p:nvSpPr>
          <p:cNvPr id="6" name="TextBox 5">
            <a:extLst>
              <a:ext uri="{FF2B5EF4-FFF2-40B4-BE49-F238E27FC236}">
                <a16:creationId xmlns:a16="http://schemas.microsoft.com/office/drawing/2014/main" id="{D11803A5-AAC8-E5CA-42F6-309320FFFCAD}"/>
              </a:ext>
            </a:extLst>
          </p:cNvPr>
          <p:cNvSpPr txBox="1"/>
          <p:nvPr/>
        </p:nvSpPr>
        <p:spPr>
          <a:xfrm>
            <a:off x="7943850" y="266700"/>
            <a:ext cx="2838450" cy="584775"/>
          </a:xfrm>
          <a:prstGeom prst="rect">
            <a:avLst/>
          </a:prstGeom>
          <a:noFill/>
        </p:spPr>
        <p:txBody>
          <a:bodyPr wrap="square" rtlCol="0">
            <a:spAutoFit/>
          </a:bodyPr>
          <a:lstStyle/>
          <a:p>
            <a:pPr algn="ctr"/>
            <a:r>
              <a:rPr lang="en-US" sz="3200" b="1" u="sng"/>
              <a:t>EXAMPLE</a:t>
            </a:r>
          </a:p>
        </p:txBody>
      </p:sp>
      <p:sp>
        <p:nvSpPr>
          <p:cNvPr id="8" name="TextBox 7">
            <a:extLst>
              <a:ext uri="{FF2B5EF4-FFF2-40B4-BE49-F238E27FC236}">
                <a16:creationId xmlns:a16="http://schemas.microsoft.com/office/drawing/2014/main" id="{85B2E9ED-1F41-416D-7E12-CCDC622B5FB5}"/>
              </a:ext>
            </a:extLst>
          </p:cNvPr>
          <p:cNvSpPr txBox="1"/>
          <p:nvPr/>
        </p:nvSpPr>
        <p:spPr>
          <a:xfrm>
            <a:off x="6781799" y="1043879"/>
            <a:ext cx="5057775" cy="2862322"/>
          </a:xfrm>
          <a:prstGeom prst="rect">
            <a:avLst/>
          </a:prstGeom>
          <a:solidFill>
            <a:schemeClr val="accent6"/>
          </a:solidFill>
        </p:spPr>
        <p:txBody>
          <a:bodyPr wrap="square">
            <a:spAutoFit/>
          </a:bodyPr>
          <a:lstStyle/>
          <a:p>
            <a:r>
              <a:rPr lang="en-US"/>
              <a:t>“I was thinking about going to the protest.  But then I thought about how tiny our movement is and how few people we’ve persuaded to get involved.  That got me thinking about how few people were going to show up at the protest.  And then I thought how humiliating it would be to stand out there and yell slogans with just a handful of other people.  If I’m going to show up for a protest, I want to be there with a LOT of people making a BIG noise.  So I stayed home and watched Real Housewives”</a:t>
            </a:r>
            <a:endParaRPr lang="en-US" dirty="0"/>
          </a:p>
        </p:txBody>
      </p:sp>
      <p:sp>
        <p:nvSpPr>
          <p:cNvPr id="9" name="TextBox 8">
            <a:extLst>
              <a:ext uri="{FF2B5EF4-FFF2-40B4-BE49-F238E27FC236}">
                <a16:creationId xmlns:a16="http://schemas.microsoft.com/office/drawing/2014/main" id="{DD069851-1D3A-0628-1325-4B1A55227F9F}"/>
              </a:ext>
            </a:extLst>
          </p:cNvPr>
          <p:cNvSpPr txBox="1"/>
          <p:nvPr/>
        </p:nvSpPr>
        <p:spPr>
          <a:xfrm>
            <a:off x="7311447" y="4612125"/>
            <a:ext cx="3789426" cy="1754326"/>
          </a:xfrm>
          <a:prstGeom prst="rect">
            <a:avLst/>
          </a:prstGeom>
          <a:noFill/>
        </p:spPr>
        <p:txBody>
          <a:bodyPr wrap="square" rtlCol="0">
            <a:spAutoFit/>
          </a:bodyPr>
          <a:lstStyle/>
          <a:p>
            <a:r>
              <a:rPr lang="en-US" i="1" dirty="0"/>
              <a:t>From this person’s point of view, is attendance at the hearing by other people who oppose the permit a </a:t>
            </a:r>
            <a:r>
              <a:rPr lang="en-US" b="1" i="1" dirty="0"/>
              <a:t>strategic complement to </a:t>
            </a:r>
            <a:r>
              <a:rPr lang="en-US" i="1" dirty="0"/>
              <a:t>or a </a:t>
            </a:r>
            <a:r>
              <a:rPr lang="en-US" b="1" i="1" dirty="0"/>
              <a:t>strategic substitute for</a:t>
            </a:r>
            <a:r>
              <a:rPr lang="en-US" i="1" dirty="0"/>
              <a:t> her own attendance?</a:t>
            </a:r>
          </a:p>
        </p:txBody>
      </p:sp>
    </p:spTree>
    <p:extLst>
      <p:ext uri="{BB962C8B-B14F-4D97-AF65-F5344CB8AC3E}">
        <p14:creationId xmlns:p14="http://schemas.microsoft.com/office/powerpoint/2010/main" val="42841906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F5FFA6-826A-2519-0A29-5D8295AE7B8E}"/>
              </a:ext>
            </a:extLst>
          </p:cNvPr>
          <p:cNvSpPr txBox="1"/>
          <p:nvPr/>
        </p:nvSpPr>
        <p:spPr>
          <a:xfrm>
            <a:off x="137465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a:t>
            </a:r>
            <a:r>
              <a:rPr lang="en-US" sz="2400" b="1"/>
              <a:t>substitutes for</a:t>
            </a:r>
            <a:r>
              <a:rPr lang="en-US" sz="2400" b="1" i="1"/>
              <a:t> in</a:t>
            </a:r>
          </a:p>
        </p:txBody>
      </p:sp>
      <p:sp>
        <p:nvSpPr>
          <p:cNvPr id="3" name="TextBox 2">
            <a:extLst>
              <a:ext uri="{FF2B5EF4-FFF2-40B4-BE49-F238E27FC236}">
                <a16:creationId xmlns:a16="http://schemas.microsoft.com/office/drawing/2014/main" id="{185D86A2-E6AE-BEFC-8FA7-81284E113CE1}"/>
              </a:ext>
            </a:extLst>
          </p:cNvPr>
          <p:cNvSpPr txBox="1"/>
          <p:nvPr/>
        </p:nvSpPr>
        <p:spPr>
          <a:xfrm>
            <a:off x="757379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complements in</a:t>
            </a:r>
          </a:p>
        </p:txBody>
      </p:sp>
    </p:spTree>
    <p:extLst>
      <p:ext uri="{BB962C8B-B14F-4D97-AF65-F5344CB8AC3E}">
        <p14:creationId xmlns:p14="http://schemas.microsoft.com/office/powerpoint/2010/main" val="40454110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EE04A-AEFD-40C1-565A-DA8B7CACA6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069DC4-3D3F-0CC2-F8D5-FA87F2648BFB}"/>
              </a:ext>
            </a:extLst>
          </p:cNvPr>
          <p:cNvSpPr txBox="1"/>
          <p:nvPr/>
        </p:nvSpPr>
        <p:spPr>
          <a:xfrm>
            <a:off x="137465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a:t>
            </a:r>
            <a:r>
              <a:rPr lang="en-US" sz="2400" b="1"/>
              <a:t>substitutes for</a:t>
            </a:r>
            <a:r>
              <a:rPr lang="en-US" sz="2400" b="1" i="1"/>
              <a:t> in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A876356-519B-C1F6-295B-A1649C8BCE91}"/>
                  </a:ext>
                </a:extLst>
              </p:cNvPr>
              <p:cNvSpPr txBox="1"/>
              <p:nvPr/>
            </p:nvSpPr>
            <p:spPr>
              <a:xfrm>
                <a:off x="161926"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𝑆</m:t>
                    </m:r>
                  </m:oMath>
                </a14:m>
                <a:r>
                  <a:rPr lang="en-US"/>
                  <a:t> such that each person’s payoff is given by:</a:t>
                </a:r>
              </a:p>
            </p:txBody>
          </p:sp>
        </mc:Choice>
        <mc:Fallback xmlns="">
          <p:sp>
            <p:nvSpPr>
              <p:cNvPr id="4" name="TextBox 3">
                <a:extLst>
                  <a:ext uri="{FF2B5EF4-FFF2-40B4-BE49-F238E27FC236}">
                    <a16:creationId xmlns:a16="http://schemas.microsoft.com/office/drawing/2014/main" id="{1A876356-519B-C1F6-295B-A1649C8BCE91}"/>
                  </a:ext>
                </a:extLst>
              </p:cNvPr>
              <p:cNvSpPr txBox="1">
                <a:spLocks noRot="1" noChangeAspect="1" noMove="1" noResize="1" noEditPoints="1" noAdjustHandles="1" noChangeArrowheads="1" noChangeShapeType="1" noTextEdit="1"/>
              </p:cNvSpPr>
              <p:nvPr/>
            </p:nvSpPr>
            <p:spPr>
              <a:xfrm>
                <a:off x="161926" y="1495425"/>
                <a:ext cx="5655014" cy="4800600"/>
              </a:xfrm>
              <a:prstGeom prst="rect">
                <a:avLst/>
              </a:prstGeom>
              <a:blipFill>
                <a:blip r:embed="rId2"/>
                <a:stretch>
                  <a:fillRect l="-536" t="-378"/>
                </a:stretch>
              </a:blipFill>
              <a:ln w="28575">
                <a:solidFill>
                  <a:schemeClr val="accent1"/>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666A6C20-0200-CF49-229E-273BE8DC36CC}"/>
              </a:ext>
            </a:extLst>
          </p:cNvPr>
          <p:cNvPicPr>
            <a:picLocks noChangeAspect="1"/>
          </p:cNvPicPr>
          <p:nvPr/>
        </p:nvPicPr>
        <p:blipFill>
          <a:blip r:embed="rId3"/>
          <a:stretch>
            <a:fillRect/>
          </a:stretch>
        </p:blipFill>
        <p:spPr>
          <a:xfrm>
            <a:off x="289998" y="2982441"/>
            <a:ext cx="5331166" cy="1637184"/>
          </a:xfrm>
          <a:prstGeom prst="rect">
            <a:avLst/>
          </a:prstGeom>
        </p:spPr>
      </p:pic>
      <p:sp>
        <p:nvSpPr>
          <p:cNvPr id="6" name="TextBox 5">
            <a:extLst>
              <a:ext uri="{FF2B5EF4-FFF2-40B4-BE49-F238E27FC236}">
                <a16:creationId xmlns:a16="http://schemas.microsoft.com/office/drawing/2014/main" id="{7987FD08-5A28-5358-256B-C41AD12201F4}"/>
              </a:ext>
            </a:extLst>
          </p:cNvPr>
          <p:cNvSpPr txBox="1"/>
          <p:nvPr/>
        </p:nvSpPr>
        <p:spPr>
          <a:xfrm>
            <a:off x="757379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complements in</a:t>
            </a:r>
          </a:p>
        </p:txBody>
      </p:sp>
    </p:spTree>
    <p:extLst>
      <p:ext uri="{BB962C8B-B14F-4D97-AF65-F5344CB8AC3E}">
        <p14:creationId xmlns:p14="http://schemas.microsoft.com/office/powerpoint/2010/main" val="2661211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5A7E7-B3F6-ADE2-0189-BB41DFE289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602366-0ED8-B980-73FD-814F195DE811}"/>
              </a:ext>
            </a:extLst>
          </p:cNvPr>
          <p:cNvSpPr txBox="1"/>
          <p:nvPr/>
        </p:nvSpPr>
        <p:spPr>
          <a:xfrm>
            <a:off x="137465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a:t>
            </a:r>
            <a:r>
              <a:rPr lang="en-US" sz="2400" b="1"/>
              <a:t>substitutes for</a:t>
            </a:r>
            <a:r>
              <a:rPr lang="en-US" sz="2400" b="1" i="1"/>
              <a:t> in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800698F-C5A3-A080-9A48-BAD4555321A2}"/>
                  </a:ext>
                </a:extLst>
              </p:cNvPr>
              <p:cNvSpPr txBox="1"/>
              <p:nvPr/>
            </p:nvSpPr>
            <p:spPr>
              <a:xfrm>
                <a:off x="161926"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𝑆</m:t>
                    </m:r>
                  </m:oMath>
                </a14:m>
                <a:r>
                  <a:rPr lang="en-US"/>
                  <a:t> such that each person’s payoff is given by:</a:t>
                </a:r>
              </a:p>
            </p:txBody>
          </p:sp>
        </mc:Choice>
        <mc:Fallback xmlns="">
          <p:sp>
            <p:nvSpPr>
              <p:cNvPr id="4" name="TextBox 3">
                <a:extLst>
                  <a:ext uri="{FF2B5EF4-FFF2-40B4-BE49-F238E27FC236}">
                    <a16:creationId xmlns:a16="http://schemas.microsoft.com/office/drawing/2014/main" id="{D800698F-C5A3-A080-9A48-BAD4555321A2}"/>
                  </a:ext>
                </a:extLst>
              </p:cNvPr>
              <p:cNvSpPr txBox="1">
                <a:spLocks noRot="1" noChangeAspect="1" noMove="1" noResize="1" noEditPoints="1" noAdjustHandles="1" noChangeArrowheads="1" noChangeShapeType="1" noTextEdit="1"/>
              </p:cNvSpPr>
              <p:nvPr/>
            </p:nvSpPr>
            <p:spPr>
              <a:xfrm>
                <a:off x="161926" y="1495425"/>
                <a:ext cx="5655014" cy="4800600"/>
              </a:xfrm>
              <a:prstGeom prst="rect">
                <a:avLst/>
              </a:prstGeom>
              <a:blipFill>
                <a:blip r:embed="rId2"/>
                <a:stretch>
                  <a:fillRect l="-536" t="-378"/>
                </a:stretch>
              </a:blipFill>
              <a:ln w="28575">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FB85D8F-96E1-910A-2B83-0C46CF3E8C29}"/>
                  </a:ext>
                </a:extLst>
              </p:cNvPr>
              <p:cNvSpPr txBox="1"/>
              <p:nvPr/>
            </p:nvSpPr>
            <p:spPr>
              <a:xfrm>
                <a:off x="6375062"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𝐶</m:t>
                    </m:r>
                  </m:oMath>
                </a14:m>
                <a:r>
                  <a:rPr lang="en-US"/>
                  <a:t> such that each person’s payoff is given by:</a:t>
                </a:r>
              </a:p>
            </p:txBody>
          </p:sp>
        </mc:Choice>
        <mc:Fallback xmlns="">
          <p:sp>
            <p:nvSpPr>
              <p:cNvPr id="7" name="TextBox 6">
                <a:extLst>
                  <a:ext uri="{FF2B5EF4-FFF2-40B4-BE49-F238E27FC236}">
                    <a16:creationId xmlns:a16="http://schemas.microsoft.com/office/drawing/2014/main" id="{9FB85D8F-96E1-910A-2B83-0C46CF3E8C29}"/>
                  </a:ext>
                </a:extLst>
              </p:cNvPr>
              <p:cNvSpPr txBox="1">
                <a:spLocks noRot="1" noChangeAspect="1" noMove="1" noResize="1" noEditPoints="1" noAdjustHandles="1" noChangeArrowheads="1" noChangeShapeType="1" noTextEdit="1"/>
              </p:cNvSpPr>
              <p:nvPr/>
            </p:nvSpPr>
            <p:spPr>
              <a:xfrm>
                <a:off x="6375062" y="1495425"/>
                <a:ext cx="5655014" cy="4800600"/>
              </a:xfrm>
              <a:prstGeom prst="rect">
                <a:avLst/>
              </a:prstGeom>
              <a:blipFill>
                <a:blip r:embed="rId3"/>
                <a:stretch>
                  <a:fillRect l="-536" t="-378"/>
                </a:stretch>
              </a:blipFill>
              <a:ln w="28575">
                <a:solidFill>
                  <a:schemeClr val="accent1"/>
                </a:solidFill>
              </a:ln>
            </p:spPr>
            <p:txBody>
              <a:bodyPr/>
              <a:lstStyle/>
              <a:p>
                <a:r>
                  <a:rPr lang="en-US">
                    <a:noFill/>
                  </a:rPr>
                  <a:t> </a:t>
                </a:r>
              </a:p>
            </p:txBody>
          </p:sp>
        </mc:Fallback>
      </mc:AlternateContent>
      <p:pic>
        <p:nvPicPr>
          <p:cNvPr id="9" name="Picture 8">
            <a:extLst>
              <a:ext uri="{FF2B5EF4-FFF2-40B4-BE49-F238E27FC236}">
                <a16:creationId xmlns:a16="http://schemas.microsoft.com/office/drawing/2014/main" id="{9E07CDCE-71FA-3191-49EF-DD2579A304F2}"/>
              </a:ext>
            </a:extLst>
          </p:cNvPr>
          <p:cNvPicPr>
            <a:picLocks noChangeAspect="1"/>
          </p:cNvPicPr>
          <p:nvPr/>
        </p:nvPicPr>
        <p:blipFill>
          <a:blip r:embed="rId4"/>
          <a:stretch>
            <a:fillRect/>
          </a:stretch>
        </p:blipFill>
        <p:spPr>
          <a:xfrm>
            <a:off x="6625789" y="3030612"/>
            <a:ext cx="5245893" cy="1465188"/>
          </a:xfrm>
          <a:prstGeom prst="rect">
            <a:avLst/>
          </a:prstGeom>
        </p:spPr>
      </p:pic>
      <p:pic>
        <p:nvPicPr>
          <p:cNvPr id="11" name="Picture 10">
            <a:extLst>
              <a:ext uri="{FF2B5EF4-FFF2-40B4-BE49-F238E27FC236}">
                <a16:creationId xmlns:a16="http://schemas.microsoft.com/office/drawing/2014/main" id="{54567394-74EF-D807-2B44-3E566B4E2628}"/>
              </a:ext>
            </a:extLst>
          </p:cNvPr>
          <p:cNvPicPr>
            <a:picLocks noChangeAspect="1"/>
          </p:cNvPicPr>
          <p:nvPr/>
        </p:nvPicPr>
        <p:blipFill>
          <a:blip r:embed="rId5"/>
          <a:stretch>
            <a:fillRect/>
          </a:stretch>
        </p:blipFill>
        <p:spPr>
          <a:xfrm>
            <a:off x="289998" y="2982441"/>
            <a:ext cx="5331166" cy="1637184"/>
          </a:xfrm>
          <a:prstGeom prst="rect">
            <a:avLst/>
          </a:prstGeom>
        </p:spPr>
      </p:pic>
      <p:sp>
        <p:nvSpPr>
          <p:cNvPr id="5" name="TextBox 4">
            <a:extLst>
              <a:ext uri="{FF2B5EF4-FFF2-40B4-BE49-F238E27FC236}">
                <a16:creationId xmlns:a16="http://schemas.microsoft.com/office/drawing/2014/main" id="{C13A5E4D-AA2C-7ED0-5373-8DFBCDD7E45D}"/>
              </a:ext>
            </a:extLst>
          </p:cNvPr>
          <p:cNvSpPr txBox="1"/>
          <p:nvPr/>
        </p:nvSpPr>
        <p:spPr>
          <a:xfrm>
            <a:off x="757379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complements in</a:t>
            </a:r>
          </a:p>
        </p:txBody>
      </p:sp>
    </p:spTree>
    <p:extLst>
      <p:ext uri="{BB962C8B-B14F-4D97-AF65-F5344CB8AC3E}">
        <p14:creationId xmlns:p14="http://schemas.microsoft.com/office/powerpoint/2010/main" val="30273620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47B72-CA23-93A1-8BCD-E9100039B5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57CC19-4366-BB06-EF0A-E8726388F107}"/>
              </a:ext>
            </a:extLst>
          </p:cNvPr>
          <p:cNvSpPr txBox="1"/>
          <p:nvPr/>
        </p:nvSpPr>
        <p:spPr>
          <a:xfrm>
            <a:off x="137465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a:t>
            </a:r>
            <a:r>
              <a:rPr lang="en-US" sz="2400" b="1"/>
              <a:t>substitutes for</a:t>
            </a:r>
            <a:r>
              <a:rPr lang="en-US" sz="2400" b="1" i="1"/>
              <a:t> in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2519216-0652-4C2E-3956-93F76570A4A3}"/>
                  </a:ext>
                </a:extLst>
              </p:cNvPr>
              <p:cNvSpPr txBox="1"/>
              <p:nvPr/>
            </p:nvSpPr>
            <p:spPr>
              <a:xfrm>
                <a:off x="161926"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𝑆</m:t>
                    </m:r>
                  </m:oMath>
                </a14:m>
                <a:r>
                  <a:rPr lang="en-US"/>
                  <a:t> such that each person’s payoff is given by:</a:t>
                </a:r>
              </a:p>
            </p:txBody>
          </p:sp>
        </mc:Choice>
        <mc:Fallback xmlns="">
          <p:sp>
            <p:nvSpPr>
              <p:cNvPr id="4" name="TextBox 3">
                <a:extLst>
                  <a:ext uri="{FF2B5EF4-FFF2-40B4-BE49-F238E27FC236}">
                    <a16:creationId xmlns:a16="http://schemas.microsoft.com/office/drawing/2014/main" id="{82519216-0652-4C2E-3956-93F76570A4A3}"/>
                  </a:ext>
                </a:extLst>
              </p:cNvPr>
              <p:cNvSpPr txBox="1">
                <a:spLocks noRot="1" noChangeAspect="1" noMove="1" noResize="1" noEditPoints="1" noAdjustHandles="1" noChangeArrowheads="1" noChangeShapeType="1" noTextEdit="1"/>
              </p:cNvSpPr>
              <p:nvPr/>
            </p:nvSpPr>
            <p:spPr>
              <a:xfrm>
                <a:off x="161926" y="1495425"/>
                <a:ext cx="5655014" cy="4800600"/>
              </a:xfrm>
              <a:prstGeom prst="rect">
                <a:avLst/>
              </a:prstGeom>
              <a:blipFill>
                <a:blip r:embed="rId2"/>
                <a:stretch>
                  <a:fillRect l="-536" t="-378"/>
                </a:stretch>
              </a:blipFill>
              <a:ln w="28575">
                <a:solidFill>
                  <a:schemeClr val="accent1"/>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A8F00DA1-FA2D-A4C6-B222-A296E19566AC}"/>
              </a:ext>
            </a:extLst>
          </p:cNvPr>
          <p:cNvPicPr>
            <a:picLocks noChangeAspect="1"/>
          </p:cNvPicPr>
          <p:nvPr/>
        </p:nvPicPr>
        <p:blipFill>
          <a:blip r:embed="rId3"/>
          <a:stretch>
            <a:fillRect/>
          </a:stretch>
        </p:blipFill>
        <p:spPr>
          <a:xfrm>
            <a:off x="289998" y="2982441"/>
            <a:ext cx="5331166" cy="163718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C36A9AB-6FA0-4930-EB76-C7389BC6BE74}"/>
                  </a:ext>
                </a:extLst>
              </p:cNvPr>
              <p:cNvSpPr txBox="1"/>
              <p:nvPr/>
            </p:nvSpPr>
            <p:spPr>
              <a:xfrm>
                <a:off x="6375062"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𝐶</m:t>
                    </m:r>
                  </m:oMath>
                </a14:m>
                <a:r>
                  <a:rPr lang="en-US"/>
                  <a:t> such that each person’s payoff is given by:</a:t>
                </a:r>
              </a:p>
            </p:txBody>
          </p:sp>
        </mc:Choice>
        <mc:Fallback xmlns="">
          <p:sp>
            <p:nvSpPr>
              <p:cNvPr id="6" name="TextBox 5">
                <a:extLst>
                  <a:ext uri="{FF2B5EF4-FFF2-40B4-BE49-F238E27FC236}">
                    <a16:creationId xmlns:a16="http://schemas.microsoft.com/office/drawing/2014/main" id="{6C36A9AB-6FA0-4930-EB76-C7389BC6BE74}"/>
                  </a:ext>
                </a:extLst>
              </p:cNvPr>
              <p:cNvSpPr txBox="1">
                <a:spLocks noRot="1" noChangeAspect="1" noMove="1" noResize="1" noEditPoints="1" noAdjustHandles="1" noChangeArrowheads="1" noChangeShapeType="1" noTextEdit="1"/>
              </p:cNvSpPr>
              <p:nvPr/>
            </p:nvSpPr>
            <p:spPr>
              <a:xfrm>
                <a:off x="6375062" y="1495425"/>
                <a:ext cx="5655014" cy="4800600"/>
              </a:xfrm>
              <a:prstGeom prst="rect">
                <a:avLst/>
              </a:prstGeom>
              <a:blipFill>
                <a:blip r:embed="rId4"/>
                <a:stretch>
                  <a:fillRect l="-536" t="-378"/>
                </a:stretch>
              </a:blipFill>
              <a:ln w="28575">
                <a:solidFill>
                  <a:schemeClr val="accent1"/>
                </a:solidFill>
              </a:ln>
            </p:spPr>
            <p:txBody>
              <a:bodyPr/>
              <a:lstStyle/>
              <a:p>
                <a:r>
                  <a:rPr lang="en-US">
                    <a:noFill/>
                  </a:rPr>
                  <a:t> </a:t>
                </a:r>
              </a:p>
            </p:txBody>
          </p:sp>
        </mc:Fallback>
      </mc:AlternateContent>
      <p:pic>
        <p:nvPicPr>
          <p:cNvPr id="7" name="Picture 6">
            <a:extLst>
              <a:ext uri="{FF2B5EF4-FFF2-40B4-BE49-F238E27FC236}">
                <a16:creationId xmlns:a16="http://schemas.microsoft.com/office/drawing/2014/main" id="{E962C450-5A04-C175-D4D7-869DB289CDB6}"/>
              </a:ext>
            </a:extLst>
          </p:cNvPr>
          <p:cNvPicPr>
            <a:picLocks noChangeAspect="1"/>
          </p:cNvPicPr>
          <p:nvPr/>
        </p:nvPicPr>
        <p:blipFill>
          <a:blip r:embed="rId5"/>
          <a:stretch>
            <a:fillRect/>
          </a:stretch>
        </p:blipFill>
        <p:spPr>
          <a:xfrm>
            <a:off x="6625789" y="3030612"/>
            <a:ext cx="5245893" cy="1465188"/>
          </a:xfrm>
          <a:prstGeom prst="rect">
            <a:avLst/>
          </a:prstGeom>
        </p:spPr>
      </p:pic>
      <p:sp>
        <p:nvSpPr>
          <p:cNvPr id="8" name="TextBox 7">
            <a:extLst>
              <a:ext uri="{FF2B5EF4-FFF2-40B4-BE49-F238E27FC236}">
                <a16:creationId xmlns:a16="http://schemas.microsoft.com/office/drawing/2014/main" id="{2A4C4E25-8B8E-FDC7-98D5-1BC20547E378}"/>
              </a:ext>
            </a:extLst>
          </p:cNvPr>
          <p:cNvSpPr txBox="1"/>
          <p:nvPr/>
        </p:nvSpPr>
        <p:spPr>
          <a:xfrm>
            <a:off x="381000" y="5074592"/>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9" name="TextBox 8">
            <a:extLst>
              <a:ext uri="{FF2B5EF4-FFF2-40B4-BE49-F238E27FC236}">
                <a16:creationId xmlns:a16="http://schemas.microsoft.com/office/drawing/2014/main" id="{88B76A50-6D97-2DB9-78DB-DB1FEBFE11CE}"/>
              </a:ext>
            </a:extLst>
          </p:cNvPr>
          <p:cNvSpPr txBox="1"/>
          <p:nvPr/>
        </p:nvSpPr>
        <p:spPr>
          <a:xfrm>
            <a:off x="6747232" y="5074592"/>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10" name="TextBox 9">
            <a:extLst>
              <a:ext uri="{FF2B5EF4-FFF2-40B4-BE49-F238E27FC236}">
                <a16:creationId xmlns:a16="http://schemas.microsoft.com/office/drawing/2014/main" id="{7B8E41D9-317F-BAB0-6370-A7A9058C04CE}"/>
              </a:ext>
            </a:extLst>
          </p:cNvPr>
          <p:cNvSpPr txBox="1"/>
          <p:nvPr/>
        </p:nvSpPr>
        <p:spPr>
          <a:xfrm>
            <a:off x="757379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complements in</a:t>
            </a:r>
          </a:p>
        </p:txBody>
      </p:sp>
    </p:spTree>
    <p:extLst>
      <p:ext uri="{BB962C8B-B14F-4D97-AF65-F5344CB8AC3E}">
        <p14:creationId xmlns:p14="http://schemas.microsoft.com/office/powerpoint/2010/main" val="9453995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CF6EE1-2FFA-3B69-4EE9-D563B747B278}"/>
              </a:ext>
            </a:extLst>
          </p:cNvPr>
          <p:cNvSpPr txBox="1"/>
          <p:nvPr/>
        </p:nvSpPr>
        <p:spPr>
          <a:xfrm>
            <a:off x="206188" y="188256"/>
            <a:ext cx="3290047" cy="1200329"/>
          </a:xfrm>
          <a:prstGeom prst="rect">
            <a:avLst/>
          </a:prstGeom>
          <a:no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Tree>
    <p:extLst>
      <p:ext uri="{BB962C8B-B14F-4D97-AF65-F5344CB8AC3E}">
        <p14:creationId xmlns:p14="http://schemas.microsoft.com/office/powerpoint/2010/main" val="10495505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DAC57-293D-8C37-1590-86D271E54AA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C23F746-BD48-312B-0EB9-7B4D36CB7661}"/>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7142CB7A-62F5-D6DD-E48A-0DE688E45788}"/>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Tree>
    <p:extLst>
      <p:ext uri="{BB962C8B-B14F-4D97-AF65-F5344CB8AC3E}">
        <p14:creationId xmlns:p14="http://schemas.microsoft.com/office/powerpoint/2010/main" val="5825265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6F031-60AC-2613-D531-6BE119CA18E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99FE486-6973-994C-DF60-8C928D84BE73}"/>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D9A05967-B383-C58B-8661-EC31BA4AB20E}"/>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9378B06C-0570-42C6-8F93-973888C295AE}"/>
              </a:ext>
            </a:extLst>
          </p:cNvPr>
          <p:cNvSpPr txBox="1"/>
          <p:nvPr/>
        </p:nvSpPr>
        <p:spPr>
          <a:xfrm>
            <a:off x="7593106" y="188256"/>
            <a:ext cx="3290047" cy="369332"/>
          </a:xfrm>
          <a:prstGeom prst="rect">
            <a:avLst/>
          </a:prstGeom>
          <a:noFill/>
        </p:spPr>
        <p:txBody>
          <a:bodyPr wrap="square" rtlCol="0">
            <a:spAutoFit/>
          </a:bodyPr>
          <a:lstStyle/>
          <a:p>
            <a:pPr algn="ctr"/>
            <a:r>
              <a:rPr lang="en-US" b="1" u="sng" dirty="0"/>
              <a:t>STEP 1: LIST ALL PROFILES</a:t>
            </a:r>
          </a:p>
        </p:txBody>
      </p:sp>
    </p:spTree>
    <p:extLst>
      <p:ext uri="{BB962C8B-B14F-4D97-AF65-F5344CB8AC3E}">
        <p14:creationId xmlns:p14="http://schemas.microsoft.com/office/powerpoint/2010/main" val="37590278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4FAEA-FEDC-EE52-1FA0-07381F029D1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8CA45C7-8BAC-7FD2-A0E4-7626176ADA93}"/>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2425A4B0-1CDA-8BE1-D233-F2C8CE76C3D3}"/>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E19FB048-6149-EED0-5CC5-0355DEBE4AEF}"/>
              </a:ext>
            </a:extLst>
          </p:cNvPr>
          <p:cNvSpPr txBox="1"/>
          <p:nvPr/>
        </p:nvSpPr>
        <p:spPr>
          <a:xfrm>
            <a:off x="7593106" y="188256"/>
            <a:ext cx="3290047" cy="369332"/>
          </a:xfrm>
          <a:prstGeom prst="rect">
            <a:avLst/>
          </a:prstGeom>
          <a:noFill/>
        </p:spPr>
        <p:txBody>
          <a:bodyPr wrap="square" rtlCol="0">
            <a:spAutoFit/>
          </a:bodyPr>
          <a:lstStyle/>
          <a:p>
            <a:pPr algn="ctr"/>
            <a:r>
              <a:rPr lang="en-US" b="1" u="sng" dirty="0"/>
              <a:t>STEP 1: LIST ALL PROFILES</a:t>
            </a:r>
          </a:p>
        </p:txBody>
      </p:sp>
      <p:sp>
        <p:nvSpPr>
          <p:cNvPr id="5" name="Oval 4">
            <a:extLst>
              <a:ext uri="{FF2B5EF4-FFF2-40B4-BE49-F238E27FC236}">
                <a16:creationId xmlns:a16="http://schemas.microsoft.com/office/drawing/2014/main" id="{A5E246A7-5079-FB83-B923-2A2FBDAF2AC5}"/>
              </a:ext>
            </a:extLst>
          </p:cNvPr>
          <p:cNvSpPr/>
          <p:nvPr/>
        </p:nvSpPr>
        <p:spPr>
          <a:xfrm>
            <a:off x="8453718"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44E8BDC-6719-1DDC-5B29-F06DBDC22D84}"/>
              </a:ext>
            </a:extLst>
          </p:cNvPr>
          <p:cNvSpPr/>
          <p:nvPr/>
        </p:nvSpPr>
        <p:spPr>
          <a:xfrm>
            <a:off x="8803342"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CD7A691-DE7B-266A-A292-7DB4E185407B}"/>
              </a:ext>
            </a:extLst>
          </p:cNvPr>
          <p:cNvSpPr/>
          <p:nvPr/>
        </p:nvSpPr>
        <p:spPr>
          <a:xfrm>
            <a:off x="9152966"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034458F-D2BD-1D6A-56C5-636D76CA38BA}"/>
              </a:ext>
            </a:extLst>
          </p:cNvPr>
          <p:cNvSpPr/>
          <p:nvPr/>
        </p:nvSpPr>
        <p:spPr>
          <a:xfrm>
            <a:off x="95025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729C7D9-DFD7-ABCD-877C-8B4549CCEE90}"/>
              </a:ext>
            </a:extLst>
          </p:cNvPr>
          <p:cNvSpPr/>
          <p:nvPr/>
        </p:nvSpPr>
        <p:spPr>
          <a:xfrm>
            <a:off x="1044836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D21669E-1BCC-297F-0009-E1FA5CBCF357}"/>
              </a:ext>
            </a:extLst>
          </p:cNvPr>
          <p:cNvSpPr/>
          <p:nvPr/>
        </p:nvSpPr>
        <p:spPr>
          <a:xfrm>
            <a:off x="1078454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88A09EB-7672-089A-510F-D2F5C079DEF0}"/>
              </a:ext>
            </a:extLst>
          </p:cNvPr>
          <p:cNvSpPr/>
          <p:nvPr/>
        </p:nvSpPr>
        <p:spPr>
          <a:xfrm>
            <a:off x="1112071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96A06AC-C7D5-B01C-7B2B-94152B662212}"/>
              </a:ext>
            </a:extLst>
          </p:cNvPr>
          <p:cNvSpPr/>
          <p:nvPr/>
        </p:nvSpPr>
        <p:spPr>
          <a:xfrm>
            <a:off x="114568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F2A5385-7C17-B036-DE7B-353D985B0FEC}"/>
              </a:ext>
            </a:extLst>
          </p:cNvPr>
          <p:cNvSpPr/>
          <p:nvPr/>
        </p:nvSpPr>
        <p:spPr>
          <a:xfrm>
            <a:off x="988807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7B659F5-5F32-D8B8-B8CA-626EDF96471A}"/>
              </a:ext>
            </a:extLst>
          </p:cNvPr>
          <p:cNvSpPr/>
          <p:nvPr/>
        </p:nvSpPr>
        <p:spPr>
          <a:xfrm>
            <a:off x="1006288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884154B-0D40-4A5F-B8C2-F769D40B9135}"/>
              </a:ext>
            </a:extLst>
          </p:cNvPr>
          <p:cNvSpPr/>
          <p:nvPr/>
        </p:nvSpPr>
        <p:spPr>
          <a:xfrm>
            <a:off x="1023769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8160E8-39A0-D9CA-8525-A1C9A838925D}"/>
                  </a:ext>
                </a:extLst>
              </p:cNvPr>
              <p:cNvSpPr txBox="1"/>
              <p:nvPr/>
            </p:nvSpPr>
            <p:spPr>
              <a:xfrm>
                <a:off x="7254688" y="750266"/>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out</a:t>
                </a:r>
                <a:endParaRPr lang="en-US" dirty="0"/>
              </a:p>
            </p:txBody>
          </p:sp>
        </mc:Choice>
        <mc:Fallback xmlns="">
          <p:sp>
            <p:nvSpPr>
              <p:cNvPr id="16" name="TextBox 15">
                <a:extLst>
                  <a:ext uri="{FF2B5EF4-FFF2-40B4-BE49-F238E27FC236}">
                    <a16:creationId xmlns:a16="http://schemas.microsoft.com/office/drawing/2014/main" id="{118160E8-39A0-D9CA-8525-A1C9A838925D}"/>
                  </a:ext>
                </a:extLst>
              </p:cNvPr>
              <p:cNvSpPr txBox="1">
                <a:spLocks noRot="1" noChangeAspect="1" noMove="1" noResize="1" noEditPoints="1" noAdjustHandles="1" noChangeArrowheads="1" noChangeShapeType="1" noTextEdit="1"/>
              </p:cNvSpPr>
              <p:nvPr/>
            </p:nvSpPr>
            <p:spPr>
              <a:xfrm>
                <a:off x="7254688" y="750266"/>
                <a:ext cx="1064558" cy="369332"/>
              </a:xfrm>
              <a:prstGeom prst="rect">
                <a:avLst/>
              </a:prstGeom>
              <a:blipFill>
                <a:blip r:embed="rId3"/>
                <a:stretch>
                  <a:fillRect t="-8197" r="-1143" b="-24590"/>
                </a:stretch>
              </a:blipFill>
            </p:spPr>
            <p:txBody>
              <a:bodyPr/>
              <a:lstStyle/>
              <a:p>
                <a:r>
                  <a:rPr lang="en-US">
                    <a:noFill/>
                  </a:rPr>
                  <a:t> </a:t>
                </a:r>
              </a:p>
            </p:txBody>
          </p:sp>
        </mc:Fallback>
      </mc:AlternateContent>
    </p:spTree>
    <p:extLst>
      <p:ext uri="{BB962C8B-B14F-4D97-AF65-F5344CB8AC3E}">
        <p14:creationId xmlns:p14="http://schemas.microsoft.com/office/powerpoint/2010/main" val="40460061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2B650-1957-30C9-DB8F-4DAF3C0B097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4720C66-6760-F673-0162-706721209F34}"/>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48BFED2F-3260-02FC-BBF4-2E4AF66EAE27}"/>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237CE991-7DBE-C978-7ABD-694BD6E4E9B1}"/>
              </a:ext>
            </a:extLst>
          </p:cNvPr>
          <p:cNvSpPr txBox="1"/>
          <p:nvPr/>
        </p:nvSpPr>
        <p:spPr>
          <a:xfrm>
            <a:off x="7593106" y="188256"/>
            <a:ext cx="3290047" cy="369332"/>
          </a:xfrm>
          <a:prstGeom prst="rect">
            <a:avLst/>
          </a:prstGeom>
          <a:noFill/>
        </p:spPr>
        <p:txBody>
          <a:bodyPr wrap="square" rtlCol="0">
            <a:spAutoFit/>
          </a:bodyPr>
          <a:lstStyle/>
          <a:p>
            <a:pPr algn="ctr"/>
            <a:r>
              <a:rPr lang="en-US" b="1" u="sng" dirty="0"/>
              <a:t>STEP 1: LIST ALL PROFILES</a:t>
            </a:r>
          </a:p>
        </p:txBody>
      </p:sp>
      <p:sp>
        <p:nvSpPr>
          <p:cNvPr id="5" name="Oval 4">
            <a:extLst>
              <a:ext uri="{FF2B5EF4-FFF2-40B4-BE49-F238E27FC236}">
                <a16:creationId xmlns:a16="http://schemas.microsoft.com/office/drawing/2014/main" id="{380BF4DA-44F2-531A-2971-DFF8A964A902}"/>
              </a:ext>
            </a:extLst>
          </p:cNvPr>
          <p:cNvSpPr/>
          <p:nvPr/>
        </p:nvSpPr>
        <p:spPr>
          <a:xfrm>
            <a:off x="8453718"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B80616F-7559-5BEF-38A2-D45D124793AA}"/>
              </a:ext>
            </a:extLst>
          </p:cNvPr>
          <p:cNvSpPr/>
          <p:nvPr/>
        </p:nvSpPr>
        <p:spPr>
          <a:xfrm>
            <a:off x="8803342"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17CE0DA-FE98-430B-12AC-C0670247EE49}"/>
              </a:ext>
            </a:extLst>
          </p:cNvPr>
          <p:cNvSpPr/>
          <p:nvPr/>
        </p:nvSpPr>
        <p:spPr>
          <a:xfrm>
            <a:off x="9152966"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8CEE2AD-D574-6042-5CA7-F637C5ABD5D2}"/>
              </a:ext>
            </a:extLst>
          </p:cNvPr>
          <p:cNvSpPr/>
          <p:nvPr/>
        </p:nvSpPr>
        <p:spPr>
          <a:xfrm>
            <a:off x="95025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E5E1098-F911-A6CA-B54D-F6177A1FA1D0}"/>
              </a:ext>
            </a:extLst>
          </p:cNvPr>
          <p:cNvSpPr/>
          <p:nvPr/>
        </p:nvSpPr>
        <p:spPr>
          <a:xfrm>
            <a:off x="1044836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B4695E-C4A9-27BE-EEE7-EA6438BA36DE}"/>
              </a:ext>
            </a:extLst>
          </p:cNvPr>
          <p:cNvSpPr/>
          <p:nvPr/>
        </p:nvSpPr>
        <p:spPr>
          <a:xfrm>
            <a:off x="1078454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F7C21B4-F012-F680-6046-CB502A663220}"/>
              </a:ext>
            </a:extLst>
          </p:cNvPr>
          <p:cNvSpPr/>
          <p:nvPr/>
        </p:nvSpPr>
        <p:spPr>
          <a:xfrm>
            <a:off x="1112071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B5FCA48-2212-1FDF-C89A-F235029EACAD}"/>
              </a:ext>
            </a:extLst>
          </p:cNvPr>
          <p:cNvSpPr/>
          <p:nvPr/>
        </p:nvSpPr>
        <p:spPr>
          <a:xfrm>
            <a:off x="114568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F62B096-C22E-24E1-CDA1-DF8A13358946}"/>
              </a:ext>
            </a:extLst>
          </p:cNvPr>
          <p:cNvSpPr/>
          <p:nvPr/>
        </p:nvSpPr>
        <p:spPr>
          <a:xfrm>
            <a:off x="988807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C57AD8A-C5E3-FFCB-C10F-B77CA9DE3064}"/>
              </a:ext>
            </a:extLst>
          </p:cNvPr>
          <p:cNvSpPr/>
          <p:nvPr/>
        </p:nvSpPr>
        <p:spPr>
          <a:xfrm>
            <a:off x="1006288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805F8C5-DB6D-0E86-C84D-8893A194DB56}"/>
              </a:ext>
            </a:extLst>
          </p:cNvPr>
          <p:cNvSpPr/>
          <p:nvPr/>
        </p:nvSpPr>
        <p:spPr>
          <a:xfrm>
            <a:off x="1023769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A47B555-B5A5-A6C3-0263-3238FE98EC31}"/>
                  </a:ext>
                </a:extLst>
              </p:cNvPr>
              <p:cNvSpPr txBox="1"/>
              <p:nvPr/>
            </p:nvSpPr>
            <p:spPr>
              <a:xfrm>
                <a:off x="7254688" y="750266"/>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out</a:t>
                </a:r>
                <a:endParaRPr lang="en-US" dirty="0"/>
              </a:p>
            </p:txBody>
          </p:sp>
        </mc:Choice>
        <mc:Fallback xmlns="">
          <p:sp>
            <p:nvSpPr>
              <p:cNvPr id="16" name="TextBox 15">
                <a:extLst>
                  <a:ext uri="{FF2B5EF4-FFF2-40B4-BE49-F238E27FC236}">
                    <a16:creationId xmlns:a16="http://schemas.microsoft.com/office/drawing/2014/main" id="{4A47B555-B5A5-A6C3-0263-3238FE98EC31}"/>
                  </a:ext>
                </a:extLst>
              </p:cNvPr>
              <p:cNvSpPr txBox="1">
                <a:spLocks noRot="1" noChangeAspect="1" noMove="1" noResize="1" noEditPoints="1" noAdjustHandles="1" noChangeArrowheads="1" noChangeShapeType="1" noTextEdit="1"/>
              </p:cNvSpPr>
              <p:nvPr/>
            </p:nvSpPr>
            <p:spPr>
              <a:xfrm>
                <a:off x="7254688" y="750266"/>
                <a:ext cx="1064558" cy="369332"/>
              </a:xfrm>
              <a:prstGeom prst="rect">
                <a:avLst/>
              </a:prstGeom>
              <a:blipFill>
                <a:blip r:embed="rId3"/>
                <a:stretch>
                  <a:fillRect t="-8197" r="-1143" b="-2459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0BEB2C3A-C60F-F407-C14C-4FDFA4DD164A}"/>
              </a:ext>
            </a:extLst>
          </p:cNvPr>
          <p:cNvSpPr/>
          <p:nvPr/>
        </p:nvSpPr>
        <p:spPr>
          <a:xfrm>
            <a:off x="8453718" y="119980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04B0847-C0BB-6399-31E1-3B2B03270E7C}"/>
              </a:ext>
            </a:extLst>
          </p:cNvPr>
          <p:cNvSpPr/>
          <p:nvPr/>
        </p:nvSpPr>
        <p:spPr>
          <a:xfrm>
            <a:off x="8803342"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A54EC3F-0FBC-11D6-EBD8-216771E32EBA}"/>
              </a:ext>
            </a:extLst>
          </p:cNvPr>
          <p:cNvSpPr/>
          <p:nvPr/>
        </p:nvSpPr>
        <p:spPr>
          <a:xfrm>
            <a:off x="9152966"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EAF7902-9987-C421-5E5B-1BF812A4CE38}"/>
              </a:ext>
            </a:extLst>
          </p:cNvPr>
          <p:cNvSpPr/>
          <p:nvPr/>
        </p:nvSpPr>
        <p:spPr>
          <a:xfrm>
            <a:off x="95025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950D855-8CD7-35BF-1D26-1516FFB923AE}"/>
              </a:ext>
            </a:extLst>
          </p:cNvPr>
          <p:cNvSpPr/>
          <p:nvPr/>
        </p:nvSpPr>
        <p:spPr>
          <a:xfrm>
            <a:off x="1044836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3F1AE9E-87B4-4A23-66CC-6DB01CEA1696}"/>
              </a:ext>
            </a:extLst>
          </p:cNvPr>
          <p:cNvSpPr/>
          <p:nvPr/>
        </p:nvSpPr>
        <p:spPr>
          <a:xfrm>
            <a:off x="1078454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12057BD-9C32-FAE4-D8BD-B9B9A6F59B56}"/>
              </a:ext>
            </a:extLst>
          </p:cNvPr>
          <p:cNvSpPr/>
          <p:nvPr/>
        </p:nvSpPr>
        <p:spPr>
          <a:xfrm>
            <a:off x="1112071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4F9CA0-28C9-3388-A389-6C36B413C538}"/>
              </a:ext>
            </a:extLst>
          </p:cNvPr>
          <p:cNvSpPr/>
          <p:nvPr/>
        </p:nvSpPr>
        <p:spPr>
          <a:xfrm>
            <a:off x="114568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EA84A4E-1D76-5E19-E5CF-72B9A2851429}"/>
              </a:ext>
            </a:extLst>
          </p:cNvPr>
          <p:cNvSpPr/>
          <p:nvPr/>
        </p:nvSpPr>
        <p:spPr>
          <a:xfrm>
            <a:off x="988807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6D209BA-930F-E071-8C1C-AD8D783D9367}"/>
              </a:ext>
            </a:extLst>
          </p:cNvPr>
          <p:cNvSpPr/>
          <p:nvPr/>
        </p:nvSpPr>
        <p:spPr>
          <a:xfrm>
            <a:off x="1006288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126ACC-19DF-6BF7-8622-1F6954AB145E}"/>
              </a:ext>
            </a:extLst>
          </p:cNvPr>
          <p:cNvSpPr/>
          <p:nvPr/>
        </p:nvSpPr>
        <p:spPr>
          <a:xfrm>
            <a:off x="1023769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68DE3BC-D333-085C-71B9-67852C2EB582}"/>
                  </a:ext>
                </a:extLst>
              </p:cNvPr>
              <p:cNvSpPr txBox="1"/>
              <p:nvPr/>
            </p:nvSpPr>
            <p:spPr>
              <a:xfrm>
                <a:off x="7254688" y="116165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1</m:t>
                    </m:r>
                  </m:oMath>
                </a14:m>
                <a:r>
                  <a:rPr lang="en-US" dirty="0"/>
                  <a:t> does </a:t>
                </a:r>
                <a:r>
                  <a:rPr lang="en-US" i="1" dirty="0"/>
                  <a:t>in</a:t>
                </a:r>
                <a:endParaRPr lang="en-US" dirty="0"/>
              </a:p>
            </p:txBody>
          </p:sp>
        </mc:Choice>
        <mc:Fallback xmlns="">
          <p:sp>
            <p:nvSpPr>
              <p:cNvPr id="28" name="TextBox 27">
                <a:extLst>
                  <a:ext uri="{FF2B5EF4-FFF2-40B4-BE49-F238E27FC236}">
                    <a16:creationId xmlns:a16="http://schemas.microsoft.com/office/drawing/2014/main" id="{668DE3BC-D333-085C-71B9-67852C2EB582}"/>
                  </a:ext>
                </a:extLst>
              </p:cNvPr>
              <p:cNvSpPr txBox="1">
                <a:spLocks noRot="1" noChangeAspect="1" noMove="1" noResize="1" noEditPoints="1" noAdjustHandles="1" noChangeArrowheads="1" noChangeShapeType="1" noTextEdit="1"/>
              </p:cNvSpPr>
              <p:nvPr/>
            </p:nvSpPr>
            <p:spPr>
              <a:xfrm>
                <a:off x="7254688" y="1161652"/>
                <a:ext cx="1064558" cy="369332"/>
              </a:xfrm>
              <a:prstGeom prst="rect">
                <a:avLst/>
              </a:prstGeom>
              <a:blipFill>
                <a:blip r:embed="rId4"/>
                <a:stretch>
                  <a:fillRect t="-10000" r="-2286" b="-26667"/>
                </a:stretch>
              </a:blipFill>
            </p:spPr>
            <p:txBody>
              <a:bodyPr/>
              <a:lstStyle/>
              <a:p>
                <a:r>
                  <a:rPr lang="en-US">
                    <a:noFill/>
                  </a:rPr>
                  <a:t> </a:t>
                </a:r>
              </a:p>
            </p:txBody>
          </p:sp>
        </mc:Fallback>
      </mc:AlternateContent>
    </p:spTree>
    <p:extLst>
      <p:ext uri="{BB962C8B-B14F-4D97-AF65-F5344CB8AC3E}">
        <p14:creationId xmlns:p14="http://schemas.microsoft.com/office/powerpoint/2010/main" val="37356896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9B89C-7CAD-6E4E-B1F5-39C9449F97F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5616BDF-50F1-432D-046C-3EEB86F5ACEB}"/>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47F3E91F-9E45-F89E-43D8-7E0A7090F210}"/>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DE3BD438-63F5-8784-4346-6A8BD1980641}"/>
              </a:ext>
            </a:extLst>
          </p:cNvPr>
          <p:cNvSpPr txBox="1"/>
          <p:nvPr/>
        </p:nvSpPr>
        <p:spPr>
          <a:xfrm>
            <a:off x="7593106" y="188256"/>
            <a:ext cx="3290047" cy="369332"/>
          </a:xfrm>
          <a:prstGeom prst="rect">
            <a:avLst/>
          </a:prstGeom>
          <a:noFill/>
        </p:spPr>
        <p:txBody>
          <a:bodyPr wrap="square" rtlCol="0">
            <a:spAutoFit/>
          </a:bodyPr>
          <a:lstStyle/>
          <a:p>
            <a:pPr algn="ctr"/>
            <a:r>
              <a:rPr lang="en-US" b="1" u="sng" dirty="0"/>
              <a:t>STEP 1: LIST ALL PROFILES</a:t>
            </a:r>
          </a:p>
        </p:txBody>
      </p:sp>
      <p:sp>
        <p:nvSpPr>
          <p:cNvPr id="5" name="Oval 4">
            <a:extLst>
              <a:ext uri="{FF2B5EF4-FFF2-40B4-BE49-F238E27FC236}">
                <a16:creationId xmlns:a16="http://schemas.microsoft.com/office/drawing/2014/main" id="{4BB952DA-F2D9-F840-1EEB-E9C100EA7666}"/>
              </a:ext>
            </a:extLst>
          </p:cNvPr>
          <p:cNvSpPr/>
          <p:nvPr/>
        </p:nvSpPr>
        <p:spPr>
          <a:xfrm>
            <a:off x="8453718"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D38BBBC-AC8A-3E3F-151E-CB1322E5A820}"/>
              </a:ext>
            </a:extLst>
          </p:cNvPr>
          <p:cNvSpPr/>
          <p:nvPr/>
        </p:nvSpPr>
        <p:spPr>
          <a:xfrm>
            <a:off x="8803342"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1D0A33D-7860-63CD-3FDF-C4919750F1DC}"/>
              </a:ext>
            </a:extLst>
          </p:cNvPr>
          <p:cNvSpPr/>
          <p:nvPr/>
        </p:nvSpPr>
        <p:spPr>
          <a:xfrm>
            <a:off x="9152966"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9F7820B-6A7F-FFC8-3DC9-E67F8C198EE0}"/>
              </a:ext>
            </a:extLst>
          </p:cNvPr>
          <p:cNvSpPr/>
          <p:nvPr/>
        </p:nvSpPr>
        <p:spPr>
          <a:xfrm>
            <a:off x="95025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D51156-C891-C924-E87D-1394BCB98741}"/>
              </a:ext>
            </a:extLst>
          </p:cNvPr>
          <p:cNvSpPr/>
          <p:nvPr/>
        </p:nvSpPr>
        <p:spPr>
          <a:xfrm>
            <a:off x="1044836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C2F8C13-ED77-9A9B-F179-1CC474264D89}"/>
              </a:ext>
            </a:extLst>
          </p:cNvPr>
          <p:cNvSpPr/>
          <p:nvPr/>
        </p:nvSpPr>
        <p:spPr>
          <a:xfrm>
            <a:off x="1078454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DBD82D4-BE69-42B5-328F-E7A40D6A9A05}"/>
              </a:ext>
            </a:extLst>
          </p:cNvPr>
          <p:cNvSpPr/>
          <p:nvPr/>
        </p:nvSpPr>
        <p:spPr>
          <a:xfrm>
            <a:off x="1112071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2985FDA-09D2-DBD3-1BD2-2C0EC275FC62}"/>
              </a:ext>
            </a:extLst>
          </p:cNvPr>
          <p:cNvSpPr/>
          <p:nvPr/>
        </p:nvSpPr>
        <p:spPr>
          <a:xfrm>
            <a:off x="114568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EE85AE5-F4C6-B9CB-8B93-865833E536B1}"/>
              </a:ext>
            </a:extLst>
          </p:cNvPr>
          <p:cNvSpPr/>
          <p:nvPr/>
        </p:nvSpPr>
        <p:spPr>
          <a:xfrm>
            <a:off x="988807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4B5E7F-1388-E0B5-20DF-1B623E92CABD}"/>
              </a:ext>
            </a:extLst>
          </p:cNvPr>
          <p:cNvSpPr/>
          <p:nvPr/>
        </p:nvSpPr>
        <p:spPr>
          <a:xfrm>
            <a:off x="1006288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5AC5387-F498-BD8B-91DE-9FEEF0B88D63}"/>
              </a:ext>
            </a:extLst>
          </p:cNvPr>
          <p:cNvSpPr/>
          <p:nvPr/>
        </p:nvSpPr>
        <p:spPr>
          <a:xfrm>
            <a:off x="1023769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67891C3-FB71-FB62-2A80-ABB872B0EFEB}"/>
                  </a:ext>
                </a:extLst>
              </p:cNvPr>
              <p:cNvSpPr txBox="1"/>
              <p:nvPr/>
            </p:nvSpPr>
            <p:spPr>
              <a:xfrm>
                <a:off x="7254688" y="750266"/>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out</a:t>
                </a:r>
                <a:endParaRPr lang="en-US" dirty="0"/>
              </a:p>
            </p:txBody>
          </p:sp>
        </mc:Choice>
        <mc:Fallback xmlns="">
          <p:sp>
            <p:nvSpPr>
              <p:cNvPr id="16" name="TextBox 15">
                <a:extLst>
                  <a:ext uri="{FF2B5EF4-FFF2-40B4-BE49-F238E27FC236}">
                    <a16:creationId xmlns:a16="http://schemas.microsoft.com/office/drawing/2014/main" id="{467891C3-FB71-FB62-2A80-ABB872B0EFEB}"/>
                  </a:ext>
                </a:extLst>
              </p:cNvPr>
              <p:cNvSpPr txBox="1">
                <a:spLocks noRot="1" noChangeAspect="1" noMove="1" noResize="1" noEditPoints="1" noAdjustHandles="1" noChangeArrowheads="1" noChangeShapeType="1" noTextEdit="1"/>
              </p:cNvSpPr>
              <p:nvPr/>
            </p:nvSpPr>
            <p:spPr>
              <a:xfrm>
                <a:off x="7254688" y="750266"/>
                <a:ext cx="1064558" cy="369332"/>
              </a:xfrm>
              <a:prstGeom prst="rect">
                <a:avLst/>
              </a:prstGeom>
              <a:blipFill>
                <a:blip r:embed="rId3"/>
                <a:stretch>
                  <a:fillRect t="-8197" r="-1143" b="-2459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88B27E99-92AA-E36A-59C0-E39C95E12720}"/>
              </a:ext>
            </a:extLst>
          </p:cNvPr>
          <p:cNvSpPr/>
          <p:nvPr/>
        </p:nvSpPr>
        <p:spPr>
          <a:xfrm>
            <a:off x="8453718" y="119980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A04DD82-D754-49EE-7007-9D25BBC54A26}"/>
              </a:ext>
            </a:extLst>
          </p:cNvPr>
          <p:cNvSpPr/>
          <p:nvPr/>
        </p:nvSpPr>
        <p:spPr>
          <a:xfrm>
            <a:off x="8803342"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6DA4674-1912-8704-6E04-AB51B527E81F}"/>
              </a:ext>
            </a:extLst>
          </p:cNvPr>
          <p:cNvSpPr/>
          <p:nvPr/>
        </p:nvSpPr>
        <p:spPr>
          <a:xfrm>
            <a:off x="9152966"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72897A7-B46C-F791-94BC-B1B3E96B2408}"/>
              </a:ext>
            </a:extLst>
          </p:cNvPr>
          <p:cNvSpPr/>
          <p:nvPr/>
        </p:nvSpPr>
        <p:spPr>
          <a:xfrm>
            <a:off x="95025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40AE801-B8B7-CAD6-DF4A-7A1A3E2D2AB7}"/>
              </a:ext>
            </a:extLst>
          </p:cNvPr>
          <p:cNvSpPr/>
          <p:nvPr/>
        </p:nvSpPr>
        <p:spPr>
          <a:xfrm>
            <a:off x="1044836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E4E93C6-0781-1D03-FE9A-C53B7B7350CE}"/>
              </a:ext>
            </a:extLst>
          </p:cNvPr>
          <p:cNvSpPr/>
          <p:nvPr/>
        </p:nvSpPr>
        <p:spPr>
          <a:xfrm>
            <a:off x="1078454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88FF8E2-296E-6025-F74E-236A0599AABF}"/>
              </a:ext>
            </a:extLst>
          </p:cNvPr>
          <p:cNvSpPr/>
          <p:nvPr/>
        </p:nvSpPr>
        <p:spPr>
          <a:xfrm>
            <a:off x="1112071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9CEE876-3FFF-941B-BE99-D4CA12A073C2}"/>
              </a:ext>
            </a:extLst>
          </p:cNvPr>
          <p:cNvSpPr/>
          <p:nvPr/>
        </p:nvSpPr>
        <p:spPr>
          <a:xfrm>
            <a:off x="114568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98711E4-AC18-CCB3-4096-17150E3C5C2E}"/>
              </a:ext>
            </a:extLst>
          </p:cNvPr>
          <p:cNvSpPr/>
          <p:nvPr/>
        </p:nvSpPr>
        <p:spPr>
          <a:xfrm>
            <a:off x="988807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602B294-A325-88B4-69D4-0B4D3F1A595F}"/>
              </a:ext>
            </a:extLst>
          </p:cNvPr>
          <p:cNvSpPr/>
          <p:nvPr/>
        </p:nvSpPr>
        <p:spPr>
          <a:xfrm>
            <a:off x="1006288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07F177FA-5DF0-1664-CDAF-EEFB3F6D05F2}"/>
              </a:ext>
            </a:extLst>
          </p:cNvPr>
          <p:cNvSpPr/>
          <p:nvPr/>
        </p:nvSpPr>
        <p:spPr>
          <a:xfrm>
            <a:off x="1023769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2C1225D-BACF-42EA-B23A-E9199EF20650}"/>
                  </a:ext>
                </a:extLst>
              </p:cNvPr>
              <p:cNvSpPr txBox="1"/>
              <p:nvPr/>
            </p:nvSpPr>
            <p:spPr>
              <a:xfrm>
                <a:off x="7254688" y="116165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1</m:t>
                    </m:r>
                  </m:oMath>
                </a14:m>
                <a:r>
                  <a:rPr lang="en-US" dirty="0"/>
                  <a:t> does </a:t>
                </a:r>
                <a:r>
                  <a:rPr lang="en-US" i="1" dirty="0"/>
                  <a:t>in</a:t>
                </a:r>
                <a:endParaRPr lang="en-US" dirty="0"/>
              </a:p>
            </p:txBody>
          </p:sp>
        </mc:Choice>
        <mc:Fallback xmlns="">
          <p:sp>
            <p:nvSpPr>
              <p:cNvPr id="28" name="TextBox 27">
                <a:extLst>
                  <a:ext uri="{FF2B5EF4-FFF2-40B4-BE49-F238E27FC236}">
                    <a16:creationId xmlns:a16="http://schemas.microsoft.com/office/drawing/2014/main" id="{D2C1225D-BACF-42EA-B23A-E9199EF20650}"/>
                  </a:ext>
                </a:extLst>
              </p:cNvPr>
              <p:cNvSpPr txBox="1">
                <a:spLocks noRot="1" noChangeAspect="1" noMove="1" noResize="1" noEditPoints="1" noAdjustHandles="1" noChangeArrowheads="1" noChangeShapeType="1" noTextEdit="1"/>
              </p:cNvSpPr>
              <p:nvPr/>
            </p:nvSpPr>
            <p:spPr>
              <a:xfrm>
                <a:off x="7254688" y="1161652"/>
                <a:ext cx="1064558" cy="369332"/>
              </a:xfrm>
              <a:prstGeom prst="rect">
                <a:avLst/>
              </a:prstGeom>
              <a:blipFill>
                <a:blip r:embed="rId4"/>
                <a:stretch>
                  <a:fillRect t="-10000" r="-2286" b="-26667"/>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8067CBDB-CC33-7CB8-C9D8-D06AB3286041}"/>
              </a:ext>
            </a:extLst>
          </p:cNvPr>
          <p:cNvSpPr/>
          <p:nvPr/>
        </p:nvSpPr>
        <p:spPr>
          <a:xfrm>
            <a:off x="8453718"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21083BF-1C70-6860-D088-290AC8F0A94B}"/>
              </a:ext>
            </a:extLst>
          </p:cNvPr>
          <p:cNvSpPr/>
          <p:nvPr/>
        </p:nvSpPr>
        <p:spPr>
          <a:xfrm>
            <a:off x="8803342"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42FB844D-1287-8ABA-E36D-38485931A2DD}"/>
              </a:ext>
            </a:extLst>
          </p:cNvPr>
          <p:cNvSpPr/>
          <p:nvPr/>
        </p:nvSpPr>
        <p:spPr>
          <a:xfrm>
            <a:off x="9152966"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FDBBB8E-2D4B-EE67-6C3B-3FDACE4ED300}"/>
              </a:ext>
            </a:extLst>
          </p:cNvPr>
          <p:cNvSpPr/>
          <p:nvPr/>
        </p:nvSpPr>
        <p:spPr>
          <a:xfrm>
            <a:off x="95025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ED33966-1AFB-A5B8-F851-FBE1AE67ADEC}"/>
              </a:ext>
            </a:extLst>
          </p:cNvPr>
          <p:cNvSpPr/>
          <p:nvPr/>
        </p:nvSpPr>
        <p:spPr>
          <a:xfrm>
            <a:off x="1044836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927EDCC0-D78D-969B-0452-0AB22C66E284}"/>
              </a:ext>
            </a:extLst>
          </p:cNvPr>
          <p:cNvSpPr/>
          <p:nvPr/>
        </p:nvSpPr>
        <p:spPr>
          <a:xfrm>
            <a:off x="1078454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BA6E90A-64D0-202E-60BC-0D5282F6FCD0}"/>
              </a:ext>
            </a:extLst>
          </p:cNvPr>
          <p:cNvSpPr/>
          <p:nvPr/>
        </p:nvSpPr>
        <p:spPr>
          <a:xfrm>
            <a:off x="1112071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E2A1753-E656-0005-70D9-1E9257830B3F}"/>
              </a:ext>
            </a:extLst>
          </p:cNvPr>
          <p:cNvSpPr/>
          <p:nvPr/>
        </p:nvSpPr>
        <p:spPr>
          <a:xfrm>
            <a:off x="114568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8621967-3268-5057-A7B5-2D67B3AB3749}"/>
              </a:ext>
            </a:extLst>
          </p:cNvPr>
          <p:cNvSpPr/>
          <p:nvPr/>
        </p:nvSpPr>
        <p:spPr>
          <a:xfrm>
            <a:off x="988807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AB3EE2B-4255-42E5-AF60-3C47C705615C}"/>
              </a:ext>
            </a:extLst>
          </p:cNvPr>
          <p:cNvSpPr/>
          <p:nvPr/>
        </p:nvSpPr>
        <p:spPr>
          <a:xfrm>
            <a:off x="1006288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1771191-14CE-F356-2D92-19879F9B98FD}"/>
              </a:ext>
            </a:extLst>
          </p:cNvPr>
          <p:cNvSpPr/>
          <p:nvPr/>
        </p:nvSpPr>
        <p:spPr>
          <a:xfrm>
            <a:off x="1023769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EEB74E4-792F-386A-F3C3-41B863F8F250}"/>
                  </a:ext>
                </a:extLst>
              </p:cNvPr>
              <p:cNvSpPr txBox="1"/>
              <p:nvPr/>
            </p:nvSpPr>
            <p:spPr>
              <a:xfrm>
                <a:off x="7254688" y="161119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40" name="TextBox 39">
                <a:extLst>
                  <a:ext uri="{FF2B5EF4-FFF2-40B4-BE49-F238E27FC236}">
                    <a16:creationId xmlns:a16="http://schemas.microsoft.com/office/drawing/2014/main" id="{2EEB74E4-792F-386A-F3C3-41B863F8F250}"/>
                  </a:ext>
                </a:extLst>
              </p:cNvPr>
              <p:cNvSpPr txBox="1">
                <a:spLocks noRot="1" noChangeAspect="1" noMove="1" noResize="1" noEditPoints="1" noAdjustHandles="1" noChangeArrowheads="1" noChangeShapeType="1" noTextEdit="1"/>
              </p:cNvSpPr>
              <p:nvPr/>
            </p:nvSpPr>
            <p:spPr>
              <a:xfrm>
                <a:off x="7254688" y="1611192"/>
                <a:ext cx="1064558" cy="369332"/>
              </a:xfrm>
              <a:prstGeom prst="rect">
                <a:avLst/>
              </a:prstGeom>
              <a:blipFill>
                <a:blip r:embed="rId5"/>
                <a:stretch>
                  <a:fillRect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4236094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3204C-21EC-5318-841C-A8AAEE18144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B7B1D85-A0BB-03BB-6743-320886CAB813}"/>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785E6B3A-B2EA-EC16-0536-90FB39403770}"/>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D7A6A363-4DA9-C6FB-B8AD-0464B8F7FE5F}"/>
              </a:ext>
            </a:extLst>
          </p:cNvPr>
          <p:cNvSpPr txBox="1"/>
          <p:nvPr/>
        </p:nvSpPr>
        <p:spPr>
          <a:xfrm>
            <a:off x="7593106" y="188256"/>
            <a:ext cx="3290047" cy="369332"/>
          </a:xfrm>
          <a:prstGeom prst="rect">
            <a:avLst/>
          </a:prstGeom>
          <a:noFill/>
        </p:spPr>
        <p:txBody>
          <a:bodyPr wrap="square" rtlCol="0">
            <a:spAutoFit/>
          </a:bodyPr>
          <a:lstStyle/>
          <a:p>
            <a:pPr algn="ctr"/>
            <a:r>
              <a:rPr lang="en-US" b="1" u="sng" dirty="0"/>
              <a:t>STEP 1: LIST ALL PROFILES</a:t>
            </a:r>
          </a:p>
        </p:txBody>
      </p:sp>
      <p:sp>
        <p:nvSpPr>
          <p:cNvPr id="5" name="Oval 4">
            <a:extLst>
              <a:ext uri="{FF2B5EF4-FFF2-40B4-BE49-F238E27FC236}">
                <a16:creationId xmlns:a16="http://schemas.microsoft.com/office/drawing/2014/main" id="{CB055206-D134-DE27-FAE9-7F5C32BA4C22}"/>
              </a:ext>
            </a:extLst>
          </p:cNvPr>
          <p:cNvSpPr/>
          <p:nvPr/>
        </p:nvSpPr>
        <p:spPr>
          <a:xfrm>
            <a:off x="8453718"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181C713-E019-05CD-1601-90DC7C3C51D6}"/>
              </a:ext>
            </a:extLst>
          </p:cNvPr>
          <p:cNvSpPr/>
          <p:nvPr/>
        </p:nvSpPr>
        <p:spPr>
          <a:xfrm>
            <a:off x="8803342"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372E36B-A4EB-2110-0688-7999421BA53C}"/>
              </a:ext>
            </a:extLst>
          </p:cNvPr>
          <p:cNvSpPr/>
          <p:nvPr/>
        </p:nvSpPr>
        <p:spPr>
          <a:xfrm>
            <a:off x="9152966"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E0BEE3D-28A8-4182-8ACB-54D9B0956561}"/>
              </a:ext>
            </a:extLst>
          </p:cNvPr>
          <p:cNvSpPr/>
          <p:nvPr/>
        </p:nvSpPr>
        <p:spPr>
          <a:xfrm>
            <a:off x="95025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86F7CD4-BBEC-6F1D-5309-547D202B67C7}"/>
              </a:ext>
            </a:extLst>
          </p:cNvPr>
          <p:cNvSpPr/>
          <p:nvPr/>
        </p:nvSpPr>
        <p:spPr>
          <a:xfrm>
            <a:off x="1044836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688930-287F-6CA0-BA12-D3F0DAFFCFAB}"/>
              </a:ext>
            </a:extLst>
          </p:cNvPr>
          <p:cNvSpPr/>
          <p:nvPr/>
        </p:nvSpPr>
        <p:spPr>
          <a:xfrm>
            <a:off x="1078454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99DE1D-84A5-D5F5-990F-030DDD6155F6}"/>
              </a:ext>
            </a:extLst>
          </p:cNvPr>
          <p:cNvSpPr/>
          <p:nvPr/>
        </p:nvSpPr>
        <p:spPr>
          <a:xfrm>
            <a:off x="1112071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119F37D-D75D-1BC3-5851-3A8182BDF646}"/>
              </a:ext>
            </a:extLst>
          </p:cNvPr>
          <p:cNvSpPr/>
          <p:nvPr/>
        </p:nvSpPr>
        <p:spPr>
          <a:xfrm>
            <a:off x="114568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CEAACBC-000F-1BA5-3762-42B1464222B4}"/>
              </a:ext>
            </a:extLst>
          </p:cNvPr>
          <p:cNvSpPr/>
          <p:nvPr/>
        </p:nvSpPr>
        <p:spPr>
          <a:xfrm>
            <a:off x="988807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46E6883-0D84-4B7D-1FE6-5CF60214F99B}"/>
              </a:ext>
            </a:extLst>
          </p:cNvPr>
          <p:cNvSpPr/>
          <p:nvPr/>
        </p:nvSpPr>
        <p:spPr>
          <a:xfrm>
            <a:off x="1006288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F93307C-848A-1F41-95A9-65F4F5A4B3BB}"/>
              </a:ext>
            </a:extLst>
          </p:cNvPr>
          <p:cNvSpPr/>
          <p:nvPr/>
        </p:nvSpPr>
        <p:spPr>
          <a:xfrm>
            <a:off x="1023769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7FB421-40B7-42C9-FEF5-98DAD944A3E4}"/>
                  </a:ext>
                </a:extLst>
              </p:cNvPr>
              <p:cNvSpPr txBox="1"/>
              <p:nvPr/>
            </p:nvSpPr>
            <p:spPr>
              <a:xfrm>
                <a:off x="7254688" y="750266"/>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out</a:t>
                </a:r>
                <a:endParaRPr lang="en-US" dirty="0"/>
              </a:p>
            </p:txBody>
          </p:sp>
        </mc:Choice>
        <mc:Fallback xmlns="">
          <p:sp>
            <p:nvSpPr>
              <p:cNvPr id="16" name="TextBox 15">
                <a:extLst>
                  <a:ext uri="{FF2B5EF4-FFF2-40B4-BE49-F238E27FC236}">
                    <a16:creationId xmlns:a16="http://schemas.microsoft.com/office/drawing/2014/main" id="{077FB421-40B7-42C9-FEF5-98DAD944A3E4}"/>
                  </a:ext>
                </a:extLst>
              </p:cNvPr>
              <p:cNvSpPr txBox="1">
                <a:spLocks noRot="1" noChangeAspect="1" noMove="1" noResize="1" noEditPoints="1" noAdjustHandles="1" noChangeArrowheads="1" noChangeShapeType="1" noTextEdit="1"/>
              </p:cNvSpPr>
              <p:nvPr/>
            </p:nvSpPr>
            <p:spPr>
              <a:xfrm>
                <a:off x="7254688" y="750266"/>
                <a:ext cx="1064558" cy="369332"/>
              </a:xfrm>
              <a:prstGeom prst="rect">
                <a:avLst/>
              </a:prstGeom>
              <a:blipFill>
                <a:blip r:embed="rId3"/>
                <a:stretch>
                  <a:fillRect t="-8197" r="-1143" b="-2459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0A25F43D-8CA1-FC87-8D78-EF701FDEF28C}"/>
              </a:ext>
            </a:extLst>
          </p:cNvPr>
          <p:cNvSpPr/>
          <p:nvPr/>
        </p:nvSpPr>
        <p:spPr>
          <a:xfrm>
            <a:off x="8453718" y="119980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7A7E8C3-2933-E5D6-5430-0EC845D7D8EA}"/>
              </a:ext>
            </a:extLst>
          </p:cNvPr>
          <p:cNvSpPr/>
          <p:nvPr/>
        </p:nvSpPr>
        <p:spPr>
          <a:xfrm>
            <a:off x="8803342"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87A1C03-228E-08B4-0009-D5EB2B17842A}"/>
              </a:ext>
            </a:extLst>
          </p:cNvPr>
          <p:cNvSpPr/>
          <p:nvPr/>
        </p:nvSpPr>
        <p:spPr>
          <a:xfrm>
            <a:off x="9152966"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9224AC6-CCE3-07C9-6C4A-E614F6633279}"/>
              </a:ext>
            </a:extLst>
          </p:cNvPr>
          <p:cNvSpPr/>
          <p:nvPr/>
        </p:nvSpPr>
        <p:spPr>
          <a:xfrm>
            <a:off x="95025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E14EA85-E40F-6211-EB40-AB6EB2C9C5B7}"/>
              </a:ext>
            </a:extLst>
          </p:cNvPr>
          <p:cNvSpPr/>
          <p:nvPr/>
        </p:nvSpPr>
        <p:spPr>
          <a:xfrm>
            <a:off x="1044836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4528159-3F4D-2E7E-A231-6A466AD1B209}"/>
              </a:ext>
            </a:extLst>
          </p:cNvPr>
          <p:cNvSpPr/>
          <p:nvPr/>
        </p:nvSpPr>
        <p:spPr>
          <a:xfrm>
            <a:off x="1078454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BDCD738-1CAC-3C34-1071-F3BD36BE8819}"/>
              </a:ext>
            </a:extLst>
          </p:cNvPr>
          <p:cNvSpPr/>
          <p:nvPr/>
        </p:nvSpPr>
        <p:spPr>
          <a:xfrm>
            <a:off x="1112071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7A81A15-53DE-F65C-D4A7-FFFEF331266A}"/>
              </a:ext>
            </a:extLst>
          </p:cNvPr>
          <p:cNvSpPr/>
          <p:nvPr/>
        </p:nvSpPr>
        <p:spPr>
          <a:xfrm>
            <a:off x="114568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3AF8990-320A-794D-F382-551F6FF6CA1E}"/>
              </a:ext>
            </a:extLst>
          </p:cNvPr>
          <p:cNvSpPr/>
          <p:nvPr/>
        </p:nvSpPr>
        <p:spPr>
          <a:xfrm>
            <a:off x="988807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6B98551-4A97-5B96-C4D1-7973673BD974}"/>
              </a:ext>
            </a:extLst>
          </p:cNvPr>
          <p:cNvSpPr/>
          <p:nvPr/>
        </p:nvSpPr>
        <p:spPr>
          <a:xfrm>
            <a:off x="1006288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4632764-4325-D1B9-B041-84BD97DE0E2A}"/>
              </a:ext>
            </a:extLst>
          </p:cNvPr>
          <p:cNvSpPr/>
          <p:nvPr/>
        </p:nvSpPr>
        <p:spPr>
          <a:xfrm>
            <a:off x="1023769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2570768-EFCF-A85D-CDA5-2C229DBBB0D5}"/>
                  </a:ext>
                </a:extLst>
              </p:cNvPr>
              <p:cNvSpPr txBox="1"/>
              <p:nvPr/>
            </p:nvSpPr>
            <p:spPr>
              <a:xfrm>
                <a:off x="7254688" y="116165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1</m:t>
                    </m:r>
                  </m:oMath>
                </a14:m>
                <a:r>
                  <a:rPr lang="en-US" dirty="0"/>
                  <a:t> does </a:t>
                </a:r>
                <a:r>
                  <a:rPr lang="en-US" i="1" dirty="0"/>
                  <a:t>in</a:t>
                </a:r>
                <a:endParaRPr lang="en-US" dirty="0"/>
              </a:p>
            </p:txBody>
          </p:sp>
        </mc:Choice>
        <mc:Fallback xmlns="">
          <p:sp>
            <p:nvSpPr>
              <p:cNvPr id="28" name="TextBox 27">
                <a:extLst>
                  <a:ext uri="{FF2B5EF4-FFF2-40B4-BE49-F238E27FC236}">
                    <a16:creationId xmlns:a16="http://schemas.microsoft.com/office/drawing/2014/main" id="{E2570768-EFCF-A85D-CDA5-2C229DBBB0D5}"/>
                  </a:ext>
                </a:extLst>
              </p:cNvPr>
              <p:cNvSpPr txBox="1">
                <a:spLocks noRot="1" noChangeAspect="1" noMove="1" noResize="1" noEditPoints="1" noAdjustHandles="1" noChangeArrowheads="1" noChangeShapeType="1" noTextEdit="1"/>
              </p:cNvSpPr>
              <p:nvPr/>
            </p:nvSpPr>
            <p:spPr>
              <a:xfrm>
                <a:off x="7254688" y="1161652"/>
                <a:ext cx="1064558" cy="369332"/>
              </a:xfrm>
              <a:prstGeom prst="rect">
                <a:avLst/>
              </a:prstGeom>
              <a:blipFill>
                <a:blip r:embed="rId4"/>
                <a:stretch>
                  <a:fillRect t="-10000" r="-2286" b="-26667"/>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33818AE9-5DBC-6A44-B806-4FDEE6C853D1}"/>
              </a:ext>
            </a:extLst>
          </p:cNvPr>
          <p:cNvSpPr/>
          <p:nvPr/>
        </p:nvSpPr>
        <p:spPr>
          <a:xfrm>
            <a:off x="8453718"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017EA67-7FFC-DC55-E513-23F7ADB7DFE1}"/>
              </a:ext>
            </a:extLst>
          </p:cNvPr>
          <p:cNvSpPr/>
          <p:nvPr/>
        </p:nvSpPr>
        <p:spPr>
          <a:xfrm>
            <a:off x="8803342"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1E75ECB7-12C7-3AD0-0480-5C8A7D565DFB}"/>
              </a:ext>
            </a:extLst>
          </p:cNvPr>
          <p:cNvSpPr/>
          <p:nvPr/>
        </p:nvSpPr>
        <p:spPr>
          <a:xfrm>
            <a:off x="9152966"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CF9A408-4A70-AEA6-F0D7-C60C1EEF0F43}"/>
              </a:ext>
            </a:extLst>
          </p:cNvPr>
          <p:cNvSpPr/>
          <p:nvPr/>
        </p:nvSpPr>
        <p:spPr>
          <a:xfrm>
            <a:off x="95025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E10C817-0B04-CAD5-0DF8-83F53433B237}"/>
              </a:ext>
            </a:extLst>
          </p:cNvPr>
          <p:cNvSpPr/>
          <p:nvPr/>
        </p:nvSpPr>
        <p:spPr>
          <a:xfrm>
            <a:off x="1044836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EF8F6F0-2372-B52E-CB58-FB9DEB2E5262}"/>
              </a:ext>
            </a:extLst>
          </p:cNvPr>
          <p:cNvSpPr/>
          <p:nvPr/>
        </p:nvSpPr>
        <p:spPr>
          <a:xfrm>
            <a:off x="1078454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505C35D-8DFA-DF8A-442F-DDBB303CDCE0}"/>
              </a:ext>
            </a:extLst>
          </p:cNvPr>
          <p:cNvSpPr/>
          <p:nvPr/>
        </p:nvSpPr>
        <p:spPr>
          <a:xfrm>
            <a:off x="1112071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35EB177-8326-BBE0-E169-1C3617860AF8}"/>
              </a:ext>
            </a:extLst>
          </p:cNvPr>
          <p:cNvSpPr/>
          <p:nvPr/>
        </p:nvSpPr>
        <p:spPr>
          <a:xfrm>
            <a:off x="114568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5B600A2-6CAB-EBB4-D059-9F66F42D65EB}"/>
              </a:ext>
            </a:extLst>
          </p:cNvPr>
          <p:cNvSpPr/>
          <p:nvPr/>
        </p:nvSpPr>
        <p:spPr>
          <a:xfrm>
            <a:off x="988807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25E7EB41-019A-B944-4C25-6FAA7D0B494B}"/>
              </a:ext>
            </a:extLst>
          </p:cNvPr>
          <p:cNvSpPr/>
          <p:nvPr/>
        </p:nvSpPr>
        <p:spPr>
          <a:xfrm>
            <a:off x="1006288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77035E5-D308-C9BC-71E8-60A86D75C411}"/>
              </a:ext>
            </a:extLst>
          </p:cNvPr>
          <p:cNvSpPr/>
          <p:nvPr/>
        </p:nvSpPr>
        <p:spPr>
          <a:xfrm>
            <a:off x="1023769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A3FCD7B-C09C-3594-2A29-E99FD1D1747F}"/>
                  </a:ext>
                </a:extLst>
              </p:cNvPr>
              <p:cNvSpPr txBox="1"/>
              <p:nvPr/>
            </p:nvSpPr>
            <p:spPr>
              <a:xfrm>
                <a:off x="7254688" y="161119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40" name="TextBox 39">
                <a:extLst>
                  <a:ext uri="{FF2B5EF4-FFF2-40B4-BE49-F238E27FC236}">
                    <a16:creationId xmlns:a16="http://schemas.microsoft.com/office/drawing/2014/main" id="{BA3FCD7B-C09C-3594-2A29-E99FD1D1747F}"/>
                  </a:ext>
                </a:extLst>
              </p:cNvPr>
              <p:cNvSpPr txBox="1">
                <a:spLocks noRot="1" noChangeAspect="1" noMove="1" noResize="1" noEditPoints="1" noAdjustHandles="1" noChangeArrowheads="1" noChangeShapeType="1" noTextEdit="1"/>
              </p:cNvSpPr>
              <p:nvPr/>
            </p:nvSpPr>
            <p:spPr>
              <a:xfrm>
                <a:off x="7254688" y="1611192"/>
                <a:ext cx="1064558" cy="369332"/>
              </a:xfrm>
              <a:prstGeom prst="rect">
                <a:avLst/>
              </a:prstGeom>
              <a:blipFill>
                <a:blip r:embed="rId5"/>
                <a:stretch>
                  <a:fillRect t="-8197" b="-24590"/>
                </a:stretch>
              </a:blipFill>
            </p:spPr>
            <p:txBody>
              <a:bodyPr/>
              <a:lstStyle/>
              <a:p>
                <a:r>
                  <a:rPr lang="en-US">
                    <a:noFill/>
                  </a:rPr>
                  <a:t> </a:t>
                </a:r>
              </a:p>
            </p:txBody>
          </p:sp>
        </mc:Fallback>
      </mc:AlternateContent>
      <p:sp>
        <p:nvSpPr>
          <p:cNvPr id="41" name="Oval 40">
            <a:extLst>
              <a:ext uri="{FF2B5EF4-FFF2-40B4-BE49-F238E27FC236}">
                <a16:creationId xmlns:a16="http://schemas.microsoft.com/office/drawing/2014/main" id="{F5E40E0B-83EA-8747-3D57-835CE89473A9}"/>
              </a:ext>
            </a:extLst>
          </p:cNvPr>
          <p:cNvSpPr/>
          <p:nvPr/>
        </p:nvSpPr>
        <p:spPr>
          <a:xfrm>
            <a:off x="9152966" y="225175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295BF86-0D72-4122-9DB1-1753AFF673E7}"/>
              </a:ext>
            </a:extLst>
          </p:cNvPr>
          <p:cNvSpPr/>
          <p:nvPr/>
        </p:nvSpPr>
        <p:spPr>
          <a:xfrm>
            <a:off x="9152966" y="25296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9CDA454A-F606-6B5A-1E96-4EB9EAF0CE16}"/>
              </a:ext>
            </a:extLst>
          </p:cNvPr>
          <p:cNvSpPr/>
          <p:nvPr/>
        </p:nvSpPr>
        <p:spPr>
          <a:xfrm>
            <a:off x="9139520" y="280756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9530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56515-609A-EF41-47E0-78987292ECD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1B56F6E-0888-F428-855F-62AE053DC855}"/>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95CA3607-5761-B6BD-3FC5-FB7E670E0F53}"/>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EA9E605B-C028-80C1-0536-1ED82D34CC18}"/>
              </a:ext>
            </a:extLst>
          </p:cNvPr>
          <p:cNvSpPr txBox="1"/>
          <p:nvPr/>
        </p:nvSpPr>
        <p:spPr>
          <a:xfrm>
            <a:off x="7593106" y="188256"/>
            <a:ext cx="3290047" cy="369332"/>
          </a:xfrm>
          <a:prstGeom prst="rect">
            <a:avLst/>
          </a:prstGeom>
          <a:noFill/>
        </p:spPr>
        <p:txBody>
          <a:bodyPr wrap="square" rtlCol="0">
            <a:spAutoFit/>
          </a:bodyPr>
          <a:lstStyle/>
          <a:p>
            <a:pPr algn="ctr"/>
            <a:r>
              <a:rPr lang="en-US" b="1" u="sng" dirty="0"/>
              <a:t>STEP 1: LIST ALL PROFILES</a:t>
            </a:r>
          </a:p>
        </p:txBody>
      </p:sp>
      <p:sp>
        <p:nvSpPr>
          <p:cNvPr id="5" name="Oval 4">
            <a:extLst>
              <a:ext uri="{FF2B5EF4-FFF2-40B4-BE49-F238E27FC236}">
                <a16:creationId xmlns:a16="http://schemas.microsoft.com/office/drawing/2014/main" id="{807F28CE-C1CD-243A-396D-DB00F3072E36}"/>
              </a:ext>
            </a:extLst>
          </p:cNvPr>
          <p:cNvSpPr/>
          <p:nvPr/>
        </p:nvSpPr>
        <p:spPr>
          <a:xfrm>
            <a:off x="8453718"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EA140A9-CFB4-70ED-E38B-BA354739048B}"/>
              </a:ext>
            </a:extLst>
          </p:cNvPr>
          <p:cNvSpPr/>
          <p:nvPr/>
        </p:nvSpPr>
        <p:spPr>
          <a:xfrm>
            <a:off x="8803342"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06C8350-0D99-FD51-E43F-84BE8EF0AB7E}"/>
              </a:ext>
            </a:extLst>
          </p:cNvPr>
          <p:cNvSpPr/>
          <p:nvPr/>
        </p:nvSpPr>
        <p:spPr>
          <a:xfrm>
            <a:off x="9152966"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908BEBB-7502-2E76-6A20-6FFFF0235E0B}"/>
              </a:ext>
            </a:extLst>
          </p:cNvPr>
          <p:cNvSpPr/>
          <p:nvPr/>
        </p:nvSpPr>
        <p:spPr>
          <a:xfrm>
            <a:off x="95025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65BD977-49B7-9C4D-CEB8-E042BADF42C4}"/>
              </a:ext>
            </a:extLst>
          </p:cNvPr>
          <p:cNvSpPr/>
          <p:nvPr/>
        </p:nvSpPr>
        <p:spPr>
          <a:xfrm>
            <a:off x="1044836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2F2C363-0E3C-C008-A282-78E822ECC770}"/>
              </a:ext>
            </a:extLst>
          </p:cNvPr>
          <p:cNvSpPr/>
          <p:nvPr/>
        </p:nvSpPr>
        <p:spPr>
          <a:xfrm>
            <a:off x="1078454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0916126-6557-F562-BB00-318DB41E5A55}"/>
              </a:ext>
            </a:extLst>
          </p:cNvPr>
          <p:cNvSpPr/>
          <p:nvPr/>
        </p:nvSpPr>
        <p:spPr>
          <a:xfrm>
            <a:off x="1112071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26815AD-A307-E0B6-7445-77B3386B0858}"/>
              </a:ext>
            </a:extLst>
          </p:cNvPr>
          <p:cNvSpPr/>
          <p:nvPr/>
        </p:nvSpPr>
        <p:spPr>
          <a:xfrm>
            <a:off x="114568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06917CF-02F6-3CD9-7190-CB4D5737A773}"/>
              </a:ext>
            </a:extLst>
          </p:cNvPr>
          <p:cNvSpPr/>
          <p:nvPr/>
        </p:nvSpPr>
        <p:spPr>
          <a:xfrm>
            <a:off x="988807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22063BD-214C-B7C2-081E-01BF1C6771DE}"/>
              </a:ext>
            </a:extLst>
          </p:cNvPr>
          <p:cNvSpPr/>
          <p:nvPr/>
        </p:nvSpPr>
        <p:spPr>
          <a:xfrm>
            <a:off x="1006288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1F18F29-A509-1257-41A4-2FDAACB0534D}"/>
              </a:ext>
            </a:extLst>
          </p:cNvPr>
          <p:cNvSpPr/>
          <p:nvPr/>
        </p:nvSpPr>
        <p:spPr>
          <a:xfrm>
            <a:off x="1023769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4E33A81-127C-683A-F248-26C9EA03A8C3}"/>
                  </a:ext>
                </a:extLst>
              </p:cNvPr>
              <p:cNvSpPr txBox="1"/>
              <p:nvPr/>
            </p:nvSpPr>
            <p:spPr>
              <a:xfrm>
                <a:off x="7254688" y="750266"/>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out</a:t>
                </a:r>
                <a:endParaRPr lang="en-US" dirty="0"/>
              </a:p>
            </p:txBody>
          </p:sp>
        </mc:Choice>
        <mc:Fallback xmlns="">
          <p:sp>
            <p:nvSpPr>
              <p:cNvPr id="16" name="TextBox 15">
                <a:extLst>
                  <a:ext uri="{FF2B5EF4-FFF2-40B4-BE49-F238E27FC236}">
                    <a16:creationId xmlns:a16="http://schemas.microsoft.com/office/drawing/2014/main" id="{F4E33A81-127C-683A-F248-26C9EA03A8C3}"/>
                  </a:ext>
                </a:extLst>
              </p:cNvPr>
              <p:cNvSpPr txBox="1">
                <a:spLocks noRot="1" noChangeAspect="1" noMove="1" noResize="1" noEditPoints="1" noAdjustHandles="1" noChangeArrowheads="1" noChangeShapeType="1" noTextEdit="1"/>
              </p:cNvSpPr>
              <p:nvPr/>
            </p:nvSpPr>
            <p:spPr>
              <a:xfrm>
                <a:off x="7254688" y="750266"/>
                <a:ext cx="1064558" cy="369332"/>
              </a:xfrm>
              <a:prstGeom prst="rect">
                <a:avLst/>
              </a:prstGeom>
              <a:blipFill>
                <a:blip r:embed="rId3"/>
                <a:stretch>
                  <a:fillRect t="-8197" r="-1143" b="-2459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C3A9FCF1-076D-C814-EFD8-4572053F1695}"/>
              </a:ext>
            </a:extLst>
          </p:cNvPr>
          <p:cNvSpPr/>
          <p:nvPr/>
        </p:nvSpPr>
        <p:spPr>
          <a:xfrm>
            <a:off x="8453718" y="119980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9012496-C9F9-9CB2-C0A2-23AC48934B64}"/>
              </a:ext>
            </a:extLst>
          </p:cNvPr>
          <p:cNvSpPr/>
          <p:nvPr/>
        </p:nvSpPr>
        <p:spPr>
          <a:xfrm>
            <a:off x="8803342"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068C7A3-29BF-9DA1-2A17-B782FA29F4B5}"/>
              </a:ext>
            </a:extLst>
          </p:cNvPr>
          <p:cNvSpPr/>
          <p:nvPr/>
        </p:nvSpPr>
        <p:spPr>
          <a:xfrm>
            <a:off x="9152966"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9909FA0-4E28-058A-4CEA-44A7195C5C3F}"/>
              </a:ext>
            </a:extLst>
          </p:cNvPr>
          <p:cNvSpPr/>
          <p:nvPr/>
        </p:nvSpPr>
        <p:spPr>
          <a:xfrm>
            <a:off x="95025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D103C77-CC92-3C1C-21C3-035A8A17A2FB}"/>
              </a:ext>
            </a:extLst>
          </p:cNvPr>
          <p:cNvSpPr/>
          <p:nvPr/>
        </p:nvSpPr>
        <p:spPr>
          <a:xfrm>
            <a:off x="1044836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289FA32-1158-70FC-94AC-D9A8FA58C79D}"/>
              </a:ext>
            </a:extLst>
          </p:cNvPr>
          <p:cNvSpPr/>
          <p:nvPr/>
        </p:nvSpPr>
        <p:spPr>
          <a:xfrm>
            <a:off x="1078454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B5BAA28-3D6E-5900-696F-A618A1B42B78}"/>
              </a:ext>
            </a:extLst>
          </p:cNvPr>
          <p:cNvSpPr/>
          <p:nvPr/>
        </p:nvSpPr>
        <p:spPr>
          <a:xfrm>
            <a:off x="1112071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5F02E2D-5763-4ACB-6DC2-99B6EC0DD3DF}"/>
              </a:ext>
            </a:extLst>
          </p:cNvPr>
          <p:cNvSpPr/>
          <p:nvPr/>
        </p:nvSpPr>
        <p:spPr>
          <a:xfrm>
            <a:off x="114568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E60868C-E790-CE8A-017B-50BC636386CD}"/>
              </a:ext>
            </a:extLst>
          </p:cNvPr>
          <p:cNvSpPr/>
          <p:nvPr/>
        </p:nvSpPr>
        <p:spPr>
          <a:xfrm>
            <a:off x="988807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0A00E35-4E68-2FCF-DBC6-782285BEE2C1}"/>
              </a:ext>
            </a:extLst>
          </p:cNvPr>
          <p:cNvSpPr/>
          <p:nvPr/>
        </p:nvSpPr>
        <p:spPr>
          <a:xfrm>
            <a:off x="1006288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7A0C5C8-8679-8883-AC5B-CB75AED91C80}"/>
              </a:ext>
            </a:extLst>
          </p:cNvPr>
          <p:cNvSpPr/>
          <p:nvPr/>
        </p:nvSpPr>
        <p:spPr>
          <a:xfrm>
            <a:off x="1023769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D7048B9-D547-CB0B-4DAF-258BFF3689B7}"/>
                  </a:ext>
                </a:extLst>
              </p:cNvPr>
              <p:cNvSpPr txBox="1"/>
              <p:nvPr/>
            </p:nvSpPr>
            <p:spPr>
              <a:xfrm>
                <a:off x="7254688" y="116165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1</m:t>
                    </m:r>
                  </m:oMath>
                </a14:m>
                <a:r>
                  <a:rPr lang="en-US" dirty="0"/>
                  <a:t> does </a:t>
                </a:r>
                <a:r>
                  <a:rPr lang="en-US" i="1" dirty="0"/>
                  <a:t>in</a:t>
                </a:r>
                <a:endParaRPr lang="en-US" dirty="0"/>
              </a:p>
            </p:txBody>
          </p:sp>
        </mc:Choice>
        <mc:Fallback xmlns="">
          <p:sp>
            <p:nvSpPr>
              <p:cNvPr id="28" name="TextBox 27">
                <a:extLst>
                  <a:ext uri="{FF2B5EF4-FFF2-40B4-BE49-F238E27FC236}">
                    <a16:creationId xmlns:a16="http://schemas.microsoft.com/office/drawing/2014/main" id="{9D7048B9-D547-CB0B-4DAF-258BFF3689B7}"/>
                  </a:ext>
                </a:extLst>
              </p:cNvPr>
              <p:cNvSpPr txBox="1">
                <a:spLocks noRot="1" noChangeAspect="1" noMove="1" noResize="1" noEditPoints="1" noAdjustHandles="1" noChangeArrowheads="1" noChangeShapeType="1" noTextEdit="1"/>
              </p:cNvSpPr>
              <p:nvPr/>
            </p:nvSpPr>
            <p:spPr>
              <a:xfrm>
                <a:off x="7254688" y="1161652"/>
                <a:ext cx="1064558" cy="369332"/>
              </a:xfrm>
              <a:prstGeom prst="rect">
                <a:avLst/>
              </a:prstGeom>
              <a:blipFill>
                <a:blip r:embed="rId4"/>
                <a:stretch>
                  <a:fillRect t="-10000" r="-2286" b="-26667"/>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765CCC9A-98DB-C20B-96E6-03FB9B67C4B2}"/>
              </a:ext>
            </a:extLst>
          </p:cNvPr>
          <p:cNvSpPr/>
          <p:nvPr/>
        </p:nvSpPr>
        <p:spPr>
          <a:xfrm>
            <a:off x="8453718"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15E89CA-3207-9153-24DF-FC58335CE0C9}"/>
              </a:ext>
            </a:extLst>
          </p:cNvPr>
          <p:cNvSpPr/>
          <p:nvPr/>
        </p:nvSpPr>
        <p:spPr>
          <a:xfrm>
            <a:off x="8803342"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1C95765-19DF-1293-ACE8-6C0DAF4B0AB6}"/>
              </a:ext>
            </a:extLst>
          </p:cNvPr>
          <p:cNvSpPr/>
          <p:nvPr/>
        </p:nvSpPr>
        <p:spPr>
          <a:xfrm>
            <a:off x="9152966"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CF6E5E0-BFDF-945E-4E15-34383B0A53B6}"/>
              </a:ext>
            </a:extLst>
          </p:cNvPr>
          <p:cNvSpPr/>
          <p:nvPr/>
        </p:nvSpPr>
        <p:spPr>
          <a:xfrm>
            <a:off x="95025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7627E9C-CE8F-011A-34B6-7CD276D52D49}"/>
              </a:ext>
            </a:extLst>
          </p:cNvPr>
          <p:cNvSpPr/>
          <p:nvPr/>
        </p:nvSpPr>
        <p:spPr>
          <a:xfrm>
            <a:off x="1044836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50EB1E3A-AFE1-19BE-08B3-1AB87E38EF44}"/>
              </a:ext>
            </a:extLst>
          </p:cNvPr>
          <p:cNvSpPr/>
          <p:nvPr/>
        </p:nvSpPr>
        <p:spPr>
          <a:xfrm>
            <a:off x="1078454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C392A41-33C9-8938-D9B4-58B922AC1917}"/>
              </a:ext>
            </a:extLst>
          </p:cNvPr>
          <p:cNvSpPr/>
          <p:nvPr/>
        </p:nvSpPr>
        <p:spPr>
          <a:xfrm>
            <a:off x="1112071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531D005-CE55-C4B8-7942-3ED06F33DD71}"/>
              </a:ext>
            </a:extLst>
          </p:cNvPr>
          <p:cNvSpPr/>
          <p:nvPr/>
        </p:nvSpPr>
        <p:spPr>
          <a:xfrm>
            <a:off x="114568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B8B0E91-F7E3-188D-98D5-D7DC4AE5058F}"/>
              </a:ext>
            </a:extLst>
          </p:cNvPr>
          <p:cNvSpPr/>
          <p:nvPr/>
        </p:nvSpPr>
        <p:spPr>
          <a:xfrm>
            <a:off x="988807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423C207-C51B-5C14-BD54-4FF384E87D68}"/>
              </a:ext>
            </a:extLst>
          </p:cNvPr>
          <p:cNvSpPr/>
          <p:nvPr/>
        </p:nvSpPr>
        <p:spPr>
          <a:xfrm>
            <a:off x="1006288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BD2F09C-0316-35A7-1A55-5DD151AFBF67}"/>
              </a:ext>
            </a:extLst>
          </p:cNvPr>
          <p:cNvSpPr/>
          <p:nvPr/>
        </p:nvSpPr>
        <p:spPr>
          <a:xfrm>
            <a:off x="1023769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7F55B2-6175-6EA6-76E1-19572A51F605}"/>
                  </a:ext>
                </a:extLst>
              </p:cNvPr>
              <p:cNvSpPr txBox="1"/>
              <p:nvPr/>
            </p:nvSpPr>
            <p:spPr>
              <a:xfrm>
                <a:off x="7254688" y="161119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40" name="TextBox 39">
                <a:extLst>
                  <a:ext uri="{FF2B5EF4-FFF2-40B4-BE49-F238E27FC236}">
                    <a16:creationId xmlns:a16="http://schemas.microsoft.com/office/drawing/2014/main" id="{C97F55B2-6175-6EA6-76E1-19572A51F605}"/>
                  </a:ext>
                </a:extLst>
              </p:cNvPr>
              <p:cNvSpPr txBox="1">
                <a:spLocks noRot="1" noChangeAspect="1" noMove="1" noResize="1" noEditPoints="1" noAdjustHandles="1" noChangeArrowheads="1" noChangeShapeType="1" noTextEdit="1"/>
              </p:cNvSpPr>
              <p:nvPr/>
            </p:nvSpPr>
            <p:spPr>
              <a:xfrm>
                <a:off x="7254688" y="1611192"/>
                <a:ext cx="1064558" cy="369332"/>
              </a:xfrm>
              <a:prstGeom prst="rect">
                <a:avLst/>
              </a:prstGeom>
              <a:blipFill>
                <a:blip r:embed="rId5"/>
                <a:stretch>
                  <a:fillRect t="-8197" b="-24590"/>
                </a:stretch>
              </a:blipFill>
            </p:spPr>
            <p:txBody>
              <a:bodyPr/>
              <a:lstStyle/>
              <a:p>
                <a:r>
                  <a:rPr lang="en-US">
                    <a:noFill/>
                  </a:rPr>
                  <a:t> </a:t>
                </a:r>
              </a:p>
            </p:txBody>
          </p:sp>
        </mc:Fallback>
      </mc:AlternateContent>
      <p:sp>
        <p:nvSpPr>
          <p:cNvPr id="41" name="Oval 40">
            <a:extLst>
              <a:ext uri="{FF2B5EF4-FFF2-40B4-BE49-F238E27FC236}">
                <a16:creationId xmlns:a16="http://schemas.microsoft.com/office/drawing/2014/main" id="{347A1C48-0E9C-3473-6D42-4F38FDC43C87}"/>
              </a:ext>
            </a:extLst>
          </p:cNvPr>
          <p:cNvSpPr/>
          <p:nvPr/>
        </p:nvSpPr>
        <p:spPr>
          <a:xfrm>
            <a:off x="9152966" y="225175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562B91E-7234-CE4E-73D0-E6D91E3162C2}"/>
              </a:ext>
            </a:extLst>
          </p:cNvPr>
          <p:cNvSpPr/>
          <p:nvPr/>
        </p:nvSpPr>
        <p:spPr>
          <a:xfrm>
            <a:off x="9152966" y="25296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B32FC90-5D15-A58D-EC7F-D06A0CBCDCAB}"/>
              </a:ext>
            </a:extLst>
          </p:cNvPr>
          <p:cNvSpPr/>
          <p:nvPr/>
        </p:nvSpPr>
        <p:spPr>
          <a:xfrm>
            <a:off x="9139520" y="280756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9674B967-04DF-5BDE-D03A-FB215D2D69F0}"/>
              </a:ext>
            </a:extLst>
          </p:cNvPr>
          <p:cNvSpPr/>
          <p:nvPr/>
        </p:nvSpPr>
        <p:spPr>
          <a:xfrm>
            <a:off x="8453718"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507FDE0-3DF6-2A4F-7CE6-43B53EED0504}"/>
              </a:ext>
            </a:extLst>
          </p:cNvPr>
          <p:cNvSpPr/>
          <p:nvPr/>
        </p:nvSpPr>
        <p:spPr>
          <a:xfrm>
            <a:off x="8803342"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2BDC1D66-56BF-9F07-A3AC-F42026A59895}"/>
              </a:ext>
            </a:extLst>
          </p:cNvPr>
          <p:cNvSpPr/>
          <p:nvPr/>
        </p:nvSpPr>
        <p:spPr>
          <a:xfrm>
            <a:off x="9152966"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E503C646-F2E7-093C-4F3B-728D5A5A9C83}"/>
              </a:ext>
            </a:extLst>
          </p:cNvPr>
          <p:cNvSpPr/>
          <p:nvPr/>
        </p:nvSpPr>
        <p:spPr>
          <a:xfrm>
            <a:off x="9502590"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C52193AD-8DA5-F535-E242-B443BCD17F54}"/>
              </a:ext>
            </a:extLst>
          </p:cNvPr>
          <p:cNvSpPr/>
          <p:nvPr/>
        </p:nvSpPr>
        <p:spPr>
          <a:xfrm>
            <a:off x="10448365"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643F87B9-8346-B399-6B1B-4541F5529ED1}"/>
              </a:ext>
            </a:extLst>
          </p:cNvPr>
          <p:cNvSpPr/>
          <p:nvPr/>
        </p:nvSpPr>
        <p:spPr>
          <a:xfrm>
            <a:off x="10784540"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84CFDB83-BD35-5937-2316-AB6ED3410488}"/>
              </a:ext>
            </a:extLst>
          </p:cNvPr>
          <p:cNvSpPr/>
          <p:nvPr/>
        </p:nvSpPr>
        <p:spPr>
          <a:xfrm>
            <a:off x="11120715"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20D5530-6B56-3A3C-41EE-9519BDBEBBD7}"/>
              </a:ext>
            </a:extLst>
          </p:cNvPr>
          <p:cNvSpPr/>
          <p:nvPr/>
        </p:nvSpPr>
        <p:spPr>
          <a:xfrm>
            <a:off x="11456890"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FF18904D-46AA-96C6-FCD1-83327152AC17}"/>
              </a:ext>
            </a:extLst>
          </p:cNvPr>
          <p:cNvSpPr/>
          <p:nvPr/>
        </p:nvSpPr>
        <p:spPr>
          <a:xfrm>
            <a:off x="988807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EF218028-4E7D-4B11-6BB9-54966BF3D274}"/>
              </a:ext>
            </a:extLst>
          </p:cNvPr>
          <p:cNvSpPr/>
          <p:nvPr/>
        </p:nvSpPr>
        <p:spPr>
          <a:xfrm>
            <a:off x="1006288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12FB1C59-C09C-E232-D5ED-7A57011534BB}"/>
              </a:ext>
            </a:extLst>
          </p:cNvPr>
          <p:cNvSpPr/>
          <p:nvPr/>
        </p:nvSpPr>
        <p:spPr>
          <a:xfrm>
            <a:off x="1023769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F06236F-0FC3-BCDF-831B-5D577014E5C3}"/>
                  </a:ext>
                </a:extLst>
              </p:cNvPr>
              <p:cNvSpPr txBox="1"/>
              <p:nvPr/>
            </p:nvSpPr>
            <p:spPr>
              <a:xfrm>
                <a:off x="7019365" y="3055293"/>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67" name="TextBox 66">
                <a:extLst>
                  <a:ext uri="{FF2B5EF4-FFF2-40B4-BE49-F238E27FC236}">
                    <a16:creationId xmlns:a16="http://schemas.microsoft.com/office/drawing/2014/main" id="{6F06236F-0FC3-BCDF-831B-5D577014E5C3}"/>
                  </a:ext>
                </a:extLst>
              </p:cNvPr>
              <p:cNvSpPr txBox="1">
                <a:spLocks noRot="1" noChangeAspect="1" noMove="1" noResize="1" noEditPoints="1" noAdjustHandles="1" noChangeArrowheads="1" noChangeShapeType="1" noTextEdit="1"/>
              </p:cNvSpPr>
              <p:nvPr/>
            </p:nvSpPr>
            <p:spPr>
              <a:xfrm>
                <a:off x="7019365" y="3055293"/>
                <a:ext cx="1299881" cy="369332"/>
              </a:xfrm>
              <a:prstGeom prst="rect">
                <a:avLst/>
              </a:prstGeom>
              <a:blipFill>
                <a:blip r:embed="rId6"/>
                <a:stretch>
                  <a:fillRect t="-8197" b="-24590"/>
                </a:stretch>
              </a:blipFill>
            </p:spPr>
            <p:txBody>
              <a:bodyPr/>
              <a:lstStyle/>
              <a:p>
                <a:r>
                  <a:rPr lang="en-US">
                    <a:noFill/>
                  </a:rPr>
                  <a:t> </a:t>
                </a:r>
              </a:p>
            </p:txBody>
          </p:sp>
        </mc:Fallback>
      </mc:AlternateContent>
      <p:sp>
        <p:nvSpPr>
          <p:cNvPr id="68" name="Oval 67">
            <a:extLst>
              <a:ext uri="{FF2B5EF4-FFF2-40B4-BE49-F238E27FC236}">
                <a16:creationId xmlns:a16="http://schemas.microsoft.com/office/drawing/2014/main" id="{63E8ECC0-91CB-B8AC-8C0D-96BEE25F705A}"/>
              </a:ext>
            </a:extLst>
          </p:cNvPr>
          <p:cNvSpPr/>
          <p:nvPr/>
        </p:nvSpPr>
        <p:spPr>
          <a:xfrm>
            <a:off x="8453718"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F695E0D-D626-214F-806D-5507B8B59D0A}"/>
              </a:ext>
            </a:extLst>
          </p:cNvPr>
          <p:cNvSpPr/>
          <p:nvPr/>
        </p:nvSpPr>
        <p:spPr>
          <a:xfrm>
            <a:off x="8803342"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248FB878-4697-E93B-75FA-D5EB8973E97B}"/>
              </a:ext>
            </a:extLst>
          </p:cNvPr>
          <p:cNvSpPr/>
          <p:nvPr/>
        </p:nvSpPr>
        <p:spPr>
          <a:xfrm>
            <a:off x="9152966"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CF295CB-1207-AED5-805F-5096D158CD9A}"/>
              </a:ext>
            </a:extLst>
          </p:cNvPr>
          <p:cNvSpPr/>
          <p:nvPr/>
        </p:nvSpPr>
        <p:spPr>
          <a:xfrm>
            <a:off x="9502590"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372F6919-6B19-1B8F-07A9-FEEC0E8A7A6D}"/>
              </a:ext>
            </a:extLst>
          </p:cNvPr>
          <p:cNvSpPr/>
          <p:nvPr/>
        </p:nvSpPr>
        <p:spPr>
          <a:xfrm>
            <a:off x="10448365"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678ED15E-9823-21BF-A09E-3FB45BF2C386}"/>
              </a:ext>
            </a:extLst>
          </p:cNvPr>
          <p:cNvSpPr/>
          <p:nvPr/>
        </p:nvSpPr>
        <p:spPr>
          <a:xfrm>
            <a:off x="10784540"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49E4F0E3-16BB-96BF-8216-5E8FF0AC1288}"/>
              </a:ext>
            </a:extLst>
          </p:cNvPr>
          <p:cNvSpPr/>
          <p:nvPr/>
        </p:nvSpPr>
        <p:spPr>
          <a:xfrm>
            <a:off x="11120715"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07927AC5-474F-46E9-DDC7-77AAE7395879}"/>
              </a:ext>
            </a:extLst>
          </p:cNvPr>
          <p:cNvSpPr/>
          <p:nvPr/>
        </p:nvSpPr>
        <p:spPr>
          <a:xfrm>
            <a:off x="11456890"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859EDBD-E929-D73E-9B9A-ADEB3E75E3B3}"/>
              </a:ext>
            </a:extLst>
          </p:cNvPr>
          <p:cNvSpPr/>
          <p:nvPr/>
        </p:nvSpPr>
        <p:spPr>
          <a:xfrm>
            <a:off x="988807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82BFAFC6-01C4-3242-C441-A12142F0735A}"/>
              </a:ext>
            </a:extLst>
          </p:cNvPr>
          <p:cNvSpPr/>
          <p:nvPr/>
        </p:nvSpPr>
        <p:spPr>
          <a:xfrm>
            <a:off x="1006288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AF66937A-3FEF-17E4-7BAB-F7F25324CF15}"/>
              </a:ext>
            </a:extLst>
          </p:cNvPr>
          <p:cNvSpPr/>
          <p:nvPr/>
        </p:nvSpPr>
        <p:spPr>
          <a:xfrm>
            <a:off x="1023769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070D5B3A-D939-C298-E3A2-A8206B325366}"/>
                  </a:ext>
                </a:extLst>
              </p:cNvPr>
              <p:cNvSpPr txBox="1"/>
              <p:nvPr/>
            </p:nvSpPr>
            <p:spPr>
              <a:xfrm>
                <a:off x="7019365" y="3519624"/>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79" name="TextBox 78">
                <a:extLst>
                  <a:ext uri="{FF2B5EF4-FFF2-40B4-BE49-F238E27FC236}">
                    <a16:creationId xmlns:a16="http://schemas.microsoft.com/office/drawing/2014/main" id="{070D5B3A-D939-C298-E3A2-A8206B325366}"/>
                  </a:ext>
                </a:extLst>
              </p:cNvPr>
              <p:cNvSpPr txBox="1">
                <a:spLocks noRot="1" noChangeAspect="1" noMove="1" noResize="1" noEditPoints="1" noAdjustHandles="1" noChangeArrowheads="1" noChangeShapeType="1" noTextEdit="1"/>
              </p:cNvSpPr>
              <p:nvPr/>
            </p:nvSpPr>
            <p:spPr>
              <a:xfrm>
                <a:off x="7019365" y="3519624"/>
                <a:ext cx="1299881" cy="369332"/>
              </a:xfrm>
              <a:prstGeom prst="rect">
                <a:avLst/>
              </a:prstGeom>
              <a:blipFill>
                <a:blip r:embed="rId7"/>
                <a:stretch>
                  <a:fillRect t="-8197" b="-24590"/>
                </a:stretch>
              </a:blipFill>
            </p:spPr>
            <p:txBody>
              <a:bodyPr/>
              <a:lstStyle/>
              <a:p>
                <a:r>
                  <a:rPr lang="en-US">
                    <a:noFill/>
                  </a:rPr>
                  <a:t> </a:t>
                </a:r>
              </a:p>
            </p:txBody>
          </p:sp>
        </mc:Fallback>
      </mc:AlternateContent>
      <p:sp>
        <p:nvSpPr>
          <p:cNvPr id="80" name="Oval 79">
            <a:extLst>
              <a:ext uri="{FF2B5EF4-FFF2-40B4-BE49-F238E27FC236}">
                <a16:creationId xmlns:a16="http://schemas.microsoft.com/office/drawing/2014/main" id="{63CC7F84-C632-4022-3293-BED4EA3DE730}"/>
              </a:ext>
            </a:extLst>
          </p:cNvPr>
          <p:cNvSpPr/>
          <p:nvPr/>
        </p:nvSpPr>
        <p:spPr>
          <a:xfrm>
            <a:off x="8453718"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A25724BD-09DF-0BDB-1B1D-9FAE3256378B}"/>
              </a:ext>
            </a:extLst>
          </p:cNvPr>
          <p:cNvSpPr/>
          <p:nvPr/>
        </p:nvSpPr>
        <p:spPr>
          <a:xfrm>
            <a:off x="8803342"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03FB9A13-4F43-287F-9361-E80B7DF021CD}"/>
              </a:ext>
            </a:extLst>
          </p:cNvPr>
          <p:cNvSpPr/>
          <p:nvPr/>
        </p:nvSpPr>
        <p:spPr>
          <a:xfrm>
            <a:off x="9152966"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BBAB7E7A-4619-CFAD-A719-68CE39238F20}"/>
              </a:ext>
            </a:extLst>
          </p:cNvPr>
          <p:cNvSpPr/>
          <p:nvPr/>
        </p:nvSpPr>
        <p:spPr>
          <a:xfrm>
            <a:off x="9502590"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03812F3-DF67-6A6F-9FF4-0B36F8365F0B}"/>
              </a:ext>
            </a:extLst>
          </p:cNvPr>
          <p:cNvSpPr/>
          <p:nvPr/>
        </p:nvSpPr>
        <p:spPr>
          <a:xfrm>
            <a:off x="10448365"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77ECCE87-373D-1031-3610-496605C09B1B}"/>
              </a:ext>
            </a:extLst>
          </p:cNvPr>
          <p:cNvSpPr/>
          <p:nvPr/>
        </p:nvSpPr>
        <p:spPr>
          <a:xfrm>
            <a:off x="10784540"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E5E5E84A-6663-CDB8-7A08-7EB9392513FD}"/>
              </a:ext>
            </a:extLst>
          </p:cNvPr>
          <p:cNvSpPr/>
          <p:nvPr/>
        </p:nvSpPr>
        <p:spPr>
          <a:xfrm>
            <a:off x="11120715"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ED5287FB-0F70-B8E1-7B4B-A37F683B594F}"/>
              </a:ext>
            </a:extLst>
          </p:cNvPr>
          <p:cNvSpPr/>
          <p:nvPr/>
        </p:nvSpPr>
        <p:spPr>
          <a:xfrm>
            <a:off x="11456890"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80C3F62B-7DC3-6FC6-A64C-61CE267301A6}"/>
              </a:ext>
            </a:extLst>
          </p:cNvPr>
          <p:cNvSpPr/>
          <p:nvPr/>
        </p:nvSpPr>
        <p:spPr>
          <a:xfrm>
            <a:off x="988807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43927354-6A3B-9B06-7BAD-0A98DDFF2716}"/>
              </a:ext>
            </a:extLst>
          </p:cNvPr>
          <p:cNvSpPr/>
          <p:nvPr/>
        </p:nvSpPr>
        <p:spPr>
          <a:xfrm>
            <a:off x="1006288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D9558841-C09E-B626-4804-16D6B1AECDB4}"/>
              </a:ext>
            </a:extLst>
          </p:cNvPr>
          <p:cNvSpPr/>
          <p:nvPr/>
        </p:nvSpPr>
        <p:spPr>
          <a:xfrm>
            <a:off x="1023769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51F44985-27AB-0542-F1A8-CFD9B6219366}"/>
                  </a:ext>
                </a:extLst>
              </p:cNvPr>
              <p:cNvSpPr txBox="1"/>
              <p:nvPr/>
            </p:nvSpPr>
            <p:spPr>
              <a:xfrm>
                <a:off x="7019365" y="3983955"/>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oMath>
                </a14:m>
                <a:r>
                  <a:rPr lang="en-US" dirty="0"/>
                  <a:t> do </a:t>
                </a:r>
                <a:r>
                  <a:rPr lang="en-US" i="1" dirty="0"/>
                  <a:t>in</a:t>
                </a:r>
                <a:endParaRPr lang="en-US" dirty="0"/>
              </a:p>
            </p:txBody>
          </p:sp>
        </mc:Choice>
        <mc:Fallback xmlns="">
          <p:sp>
            <p:nvSpPr>
              <p:cNvPr id="91" name="TextBox 90">
                <a:extLst>
                  <a:ext uri="{FF2B5EF4-FFF2-40B4-BE49-F238E27FC236}">
                    <a16:creationId xmlns:a16="http://schemas.microsoft.com/office/drawing/2014/main" id="{51F44985-27AB-0542-F1A8-CFD9B6219366}"/>
                  </a:ext>
                </a:extLst>
              </p:cNvPr>
              <p:cNvSpPr txBox="1">
                <a:spLocks noRot="1" noChangeAspect="1" noMove="1" noResize="1" noEditPoints="1" noAdjustHandles="1" noChangeArrowheads="1" noChangeShapeType="1" noTextEdit="1"/>
              </p:cNvSpPr>
              <p:nvPr/>
            </p:nvSpPr>
            <p:spPr>
              <a:xfrm>
                <a:off x="7019365" y="3983955"/>
                <a:ext cx="1299881" cy="369332"/>
              </a:xfrm>
              <a:prstGeom prst="rect">
                <a:avLst/>
              </a:prstGeom>
              <a:blipFill>
                <a:blip r:embed="rId8"/>
                <a:stretch>
                  <a:fillRect t="-10000" b="-26667"/>
                </a:stretch>
              </a:blipFill>
            </p:spPr>
            <p:txBody>
              <a:bodyPr/>
              <a:lstStyle/>
              <a:p>
                <a:r>
                  <a:rPr lang="en-US">
                    <a:noFill/>
                  </a:rPr>
                  <a:t> </a:t>
                </a:r>
              </a:p>
            </p:txBody>
          </p:sp>
        </mc:Fallback>
      </mc:AlternateContent>
      <p:sp>
        <p:nvSpPr>
          <p:cNvPr id="92" name="Oval 91">
            <a:extLst>
              <a:ext uri="{FF2B5EF4-FFF2-40B4-BE49-F238E27FC236}">
                <a16:creationId xmlns:a16="http://schemas.microsoft.com/office/drawing/2014/main" id="{6FD1A3A7-D3EF-E998-4D02-FD6B2B7728D9}"/>
              </a:ext>
            </a:extLst>
          </p:cNvPr>
          <p:cNvSpPr/>
          <p:nvPr/>
        </p:nvSpPr>
        <p:spPr>
          <a:xfrm>
            <a:off x="8453718"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71039AE0-1A88-C3A1-E982-C49E0B101287}"/>
              </a:ext>
            </a:extLst>
          </p:cNvPr>
          <p:cNvSpPr/>
          <p:nvPr/>
        </p:nvSpPr>
        <p:spPr>
          <a:xfrm>
            <a:off x="8803342"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DBAB3ADE-9584-00AF-F3F2-D16ECE1CE892}"/>
              </a:ext>
            </a:extLst>
          </p:cNvPr>
          <p:cNvSpPr/>
          <p:nvPr/>
        </p:nvSpPr>
        <p:spPr>
          <a:xfrm>
            <a:off x="9152966"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402958E-F7BE-C433-646F-DD25A2C775B8}"/>
              </a:ext>
            </a:extLst>
          </p:cNvPr>
          <p:cNvSpPr/>
          <p:nvPr/>
        </p:nvSpPr>
        <p:spPr>
          <a:xfrm>
            <a:off x="9502590"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F958E53D-2F95-592C-BAB9-8E7F4160AD54}"/>
              </a:ext>
            </a:extLst>
          </p:cNvPr>
          <p:cNvSpPr/>
          <p:nvPr/>
        </p:nvSpPr>
        <p:spPr>
          <a:xfrm>
            <a:off x="10448365"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C17E5F7B-243D-34BC-6BFC-913E8304E340}"/>
              </a:ext>
            </a:extLst>
          </p:cNvPr>
          <p:cNvSpPr/>
          <p:nvPr/>
        </p:nvSpPr>
        <p:spPr>
          <a:xfrm>
            <a:off x="10784540"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A0D52F66-B00A-B99C-1016-4FDB22A4D028}"/>
              </a:ext>
            </a:extLst>
          </p:cNvPr>
          <p:cNvSpPr/>
          <p:nvPr/>
        </p:nvSpPr>
        <p:spPr>
          <a:xfrm>
            <a:off x="11120715"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86F9FDC-BE8B-8E5E-411E-3003FD91E40D}"/>
              </a:ext>
            </a:extLst>
          </p:cNvPr>
          <p:cNvSpPr/>
          <p:nvPr/>
        </p:nvSpPr>
        <p:spPr>
          <a:xfrm>
            <a:off x="11456890"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49F9A1A0-41AA-05DA-1C38-E9C3F563C513}"/>
              </a:ext>
            </a:extLst>
          </p:cNvPr>
          <p:cNvSpPr/>
          <p:nvPr/>
        </p:nvSpPr>
        <p:spPr>
          <a:xfrm>
            <a:off x="988807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9C6CD7ED-6928-594F-EEA9-2C2C65915133}"/>
              </a:ext>
            </a:extLst>
          </p:cNvPr>
          <p:cNvSpPr/>
          <p:nvPr/>
        </p:nvSpPr>
        <p:spPr>
          <a:xfrm>
            <a:off x="1006288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5A147357-B327-0FDC-398D-68675340F03B}"/>
              </a:ext>
            </a:extLst>
          </p:cNvPr>
          <p:cNvSpPr/>
          <p:nvPr/>
        </p:nvSpPr>
        <p:spPr>
          <a:xfrm>
            <a:off x="1023769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AC887AB1-CC01-858C-8FD2-3AC871E3D6C0}"/>
                  </a:ext>
                </a:extLst>
              </p:cNvPr>
              <p:cNvSpPr txBox="1"/>
              <p:nvPr/>
            </p:nvSpPr>
            <p:spPr>
              <a:xfrm>
                <a:off x="7019365" y="4448286"/>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103" name="TextBox 102">
                <a:extLst>
                  <a:ext uri="{FF2B5EF4-FFF2-40B4-BE49-F238E27FC236}">
                    <a16:creationId xmlns:a16="http://schemas.microsoft.com/office/drawing/2014/main" id="{AC887AB1-CC01-858C-8FD2-3AC871E3D6C0}"/>
                  </a:ext>
                </a:extLst>
              </p:cNvPr>
              <p:cNvSpPr txBox="1">
                <a:spLocks noRot="1" noChangeAspect="1" noMove="1" noResize="1" noEditPoints="1" noAdjustHandles="1" noChangeArrowheads="1" noChangeShapeType="1" noTextEdit="1"/>
              </p:cNvSpPr>
              <p:nvPr/>
            </p:nvSpPr>
            <p:spPr>
              <a:xfrm>
                <a:off x="7019365" y="4448286"/>
                <a:ext cx="1299881" cy="369332"/>
              </a:xfrm>
              <a:prstGeom prst="rect">
                <a:avLst/>
              </a:prstGeom>
              <a:blipFill>
                <a:blip r:embed="rId9"/>
                <a:stretch>
                  <a:fillRect t="-10000" b="-26667"/>
                </a:stretch>
              </a:blipFill>
            </p:spPr>
            <p:txBody>
              <a:bodyPr/>
              <a:lstStyle/>
              <a:p>
                <a:r>
                  <a:rPr lang="en-US">
                    <a:noFill/>
                  </a:rPr>
                  <a:t> </a:t>
                </a:r>
              </a:p>
            </p:txBody>
          </p:sp>
        </mc:Fallback>
      </mc:AlternateContent>
      <p:sp>
        <p:nvSpPr>
          <p:cNvPr id="104" name="Oval 103">
            <a:extLst>
              <a:ext uri="{FF2B5EF4-FFF2-40B4-BE49-F238E27FC236}">
                <a16:creationId xmlns:a16="http://schemas.microsoft.com/office/drawing/2014/main" id="{843AFD38-3603-4CAF-C758-66006BD9AD5A}"/>
              </a:ext>
            </a:extLst>
          </p:cNvPr>
          <p:cNvSpPr/>
          <p:nvPr/>
        </p:nvSpPr>
        <p:spPr>
          <a:xfrm>
            <a:off x="8453718" y="495077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AD5E8C83-9DE0-D9E0-EDA4-1F45F409E2E2}"/>
              </a:ext>
            </a:extLst>
          </p:cNvPr>
          <p:cNvSpPr/>
          <p:nvPr/>
        </p:nvSpPr>
        <p:spPr>
          <a:xfrm>
            <a:off x="8803342" y="495077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F5EDE31D-086D-D68C-C98B-812879EC0006}"/>
              </a:ext>
            </a:extLst>
          </p:cNvPr>
          <p:cNvSpPr/>
          <p:nvPr/>
        </p:nvSpPr>
        <p:spPr>
          <a:xfrm>
            <a:off x="9152966" y="495077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7CCCA796-44FA-B3C7-0E7A-DADED44502D7}"/>
              </a:ext>
            </a:extLst>
          </p:cNvPr>
          <p:cNvSpPr/>
          <p:nvPr/>
        </p:nvSpPr>
        <p:spPr>
          <a:xfrm>
            <a:off x="9502590" y="495077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E96EFED9-F52D-86B8-7E65-793C6B6EF1A1}"/>
              </a:ext>
            </a:extLst>
          </p:cNvPr>
          <p:cNvSpPr/>
          <p:nvPr/>
        </p:nvSpPr>
        <p:spPr>
          <a:xfrm>
            <a:off x="10448365"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A0C285AE-011B-6A3D-20AF-2F634604D207}"/>
              </a:ext>
            </a:extLst>
          </p:cNvPr>
          <p:cNvSpPr/>
          <p:nvPr/>
        </p:nvSpPr>
        <p:spPr>
          <a:xfrm>
            <a:off x="10784540"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9924927C-B9A3-287D-6018-F56E3CC2C824}"/>
              </a:ext>
            </a:extLst>
          </p:cNvPr>
          <p:cNvSpPr/>
          <p:nvPr/>
        </p:nvSpPr>
        <p:spPr>
          <a:xfrm>
            <a:off x="11120715"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2F85E42D-A93B-6F4F-D086-1ABA10FAE3D8}"/>
              </a:ext>
            </a:extLst>
          </p:cNvPr>
          <p:cNvSpPr/>
          <p:nvPr/>
        </p:nvSpPr>
        <p:spPr>
          <a:xfrm>
            <a:off x="11456890"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EE034B72-4A64-A81F-A707-FF9199E448D8}"/>
              </a:ext>
            </a:extLst>
          </p:cNvPr>
          <p:cNvSpPr/>
          <p:nvPr/>
        </p:nvSpPr>
        <p:spPr>
          <a:xfrm>
            <a:off x="988807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E9931C19-BA52-8EB3-89D2-DFAC8DAABC9E}"/>
              </a:ext>
            </a:extLst>
          </p:cNvPr>
          <p:cNvSpPr/>
          <p:nvPr/>
        </p:nvSpPr>
        <p:spPr>
          <a:xfrm>
            <a:off x="1006288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B2E21D77-D740-9132-0EC5-3168FD634EB0}"/>
              </a:ext>
            </a:extLst>
          </p:cNvPr>
          <p:cNvSpPr/>
          <p:nvPr/>
        </p:nvSpPr>
        <p:spPr>
          <a:xfrm>
            <a:off x="1023769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BFBD816A-5362-A85C-F0E9-4C26B678177A}"/>
                  </a:ext>
                </a:extLst>
              </p:cNvPr>
              <p:cNvSpPr txBox="1"/>
              <p:nvPr/>
            </p:nvSpPr>
            <p:spPr>
              <a:xfrm>
                <a:off x="7019365" y="4912617"/>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115" name="TextBox 114">
                <a:extLst>
                  <a:ext uri="{FF2B5EF4-FFF2-40B4-BE49-F238E27FC236}">
                    <a16:creationId xmlns:a16="http://schemas.microsoft.com/office/drawing/2014/main" id="{BFBD816A-5362-A85C-F0E9-4C26B678177A}"/>
                  </a:ext>
                </a:extLst>
              </p:cNvPr>
              <p:cNvSpPr txBox="1">
                <a:spLocks noRot="1" noChangeAspect="1" noMove="1" noResize="1" noEditPoints="1" noAdjustHandles="1" noChangeArrowheads="1" noChangeShapeType="1" noTextEdit="1"/>
              </p:cNvSpPr>
              <p:nvPr/>
            </p:nvSpPr>
            <p:spPr>
              <a:xfrm>
                <a:off x="7019365" y="4912617"/>
                <a:ext cx="1299881" cy="369332"/>
              </a:xfrm>
              <a:prstGeom prst="rect">
                <a:avLst/>
              </a:prstGeom>
              <a:blipFill>
                <a:blip r:embed="rId10"/>
                <a:stretch>
                  <a:fillRect t="-10000" b="-26667"/>
                </a:stretch>
              </a:blipFill>
            </p:spPr>
            <p:txBody>
              <a:bodyPr/>
              <a:lstStyle/>
              <a:p>
                <a:r>
                  <a:rPr lang="en-US">
                    <a:noFill/>
                  </a:rPr>
                  <a:t> </a:t>
                </a:r>
              </a:p>
            </p:txBody>
          </p:sp>
        </mc:Fallback>
      </mc:AlternateContent>
      <p:sp>
        <p:nvSpPr>
          <p:cNvPr id="116" name="Oval 115">
            <a:extLst>
              <a:ext uri="{FF2B5EF4-FFF2-40B4-BE49-F238E27FC236}">
                <a16:creationId xmlns:a16="http://schemas.microsoft.com/office/drawing/2014/main" id="{DC9EB584-DAEF-3A57-A1A8-C24926CD2234}"/>
              </a:ext>
            </a:extLst>
          </p:cNvPr>
          <p:cNvSpPr/>
          <p:nvPr/>
        </p:nvSpPr>
        <p:spPr>
          <a:xfrm>
            <a:off x="9090213" y="535354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19F80953-A9A9-8986-2035-47DF68D0FD4F}"/>
              </a:ext>
            </a:extLst>
          </p:cNvPr>
          <p:cNvSpPr/>
          <p:nvPr/>
        </p:nvSpPr>
        <p:spPr>
          <a:xfrm>
            <a:off x="9076767" y="5631450"/>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130319DC-AD16-5616-B65C-E0A00E38EAFE}"/>
              </a:ext>
            </a:extLst>
          </p:cNvPr>
          <p:cNvSpPr/>
          <p:nvPr/>
        </p:nvSpPr>
        <p:spPr>
          <a:xfrm>
            <a:off x="9076767" y="58824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4780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95E69-45D6-1C37-3363-5FBD225395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21A56D-B2E0-15BC-8BC5-C814A15E585D}"/>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CC19F6DD-720B-D0C4-FD33-930513547D4C}"/>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1DF89250-AD05-FC40-6DF8-8AEE80A1DA1F}"/>
              </a:ext>
            </a:extLst>
          </p:cNvPr>
          <p:cNvSpPr txBox="1"/>
          <p:nvPr/>
        </p:nvSpPr>
        <p:spPr>
          <a:xfrm>
            <a:off x="7593106" y="188256"/>
            <a:ext cx="3290047" cy="369332"/>
          </a:xfrm>
          <a:prstGeom prst="rect">
            <a:avLst/>
          </a:prstGeom>
          <a:noFill/>
        </p:spPr>
        <p:txBody>
          <a:bodyPr wrap="square" rtlCol="0">
            <a:spAutoFit/>
          </a:bodyPr>
          <a:lstStyle/>
          <a:p>
            <a:pPr algn="ctr"/>
            <a:r>
              <a:rPr lang="en-US" b="1" u="sng" dirty="0"/>
              <a:t>STEP 1: LIST ALL PROFILES</a:t>
            </a:r>
          </a:p>
        </p:txBody>
      </p:sp>
      <p:sp>
        <p:nvSpPr>
          <p:cNvPr id="5" name="Oval 4">
            <a:extLst>
              <a:ext uri="{FF2B5EF4-FFF2-40B4-BE49-F238E27FC236}">
                <a16:creationId xmlns:a16="http://schemas.microsoft.com/office/drawing/2014/main" id="{BA3B847C-DB02-A5EB-06FF-115A7904655F}"/>
              </a:ext>
            </a:extLst>
          </p:cNvPr>
          <p:cNvSpPr/>
          <p:nvPr/>
        </p:nvSpPr>
        <p:spPr>
          <a:xfrm>
            <a:off x="8453718"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1B9CA49-196A-9511-49F9-4E35F42E317C}"/>
              </a:ext>
            </a:extLst>
          </p:cNvPr>
          <p:cNvSpPr/>
          <p:nvPr/>
        </p:nvSpPr>
        <p:spPr>
          <a:xfrm>
            <a:off x="8803342"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0A8F98A-E6A4-EAA2-4372-762422AB38C5}"/>
              </a:ext>
            </a:extLst>
          </p:cNvPr>
          <p:cNvSpPr/>
          <p:nvPr/>
        </p:nvSpPr>
        <p:spPr>
          <a:xfrm>
            <a:off x="9152966"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292DA28-2035-9767-504B-B15713D88EA4}"/>
              </a:ext>
            </a:extLst>
          </p:cNvPr>
          <p:cNvSpPr/>
          <p:nvPr/>
        </p:nvSpPr>
        <p:spPr>
          <a:xfrm>
            <a:off x="95025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B39AF4A-E552-562E-DDE5-089F0E68A66B}"/>
              </a:ext>
            </a:extLst>
          </p:cNvPr>
          <p:cNvSpPr/>
          <p:nvPr/>
        </p:nvSpPr>
        <p:spPr>
          <a:xfrm>
            <a:off x="1044836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72CD0E6-0375-EB7C-9586-ADFA2C096E0C}"/>
              </a:ext>
            </a:extLst>
          </p:cNvPr>
          <p:cNvSpPr/>
          <p:nvPr/>
        </p:nvSpPr>
        <p:spPr>
          <a:xfrm>
            <a:off x="1078454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745E825-C47C-A95D-6EDF-FCA37E7FB67D}"/>
              </a:ext>
            </a:extLst>
          </p:cNvPr>
          <p:cNvSpPr/>
          <p:nvPr/>
        </p:nvSpPr>
        <p:spPr>
          <a:xfrm>
            <a:off x="1112071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A371524-D2DC-4403-9FD4-A12273281857}"/>
              </a:ext>
            </a:extLst>
          </p:cNvPr>
          <p:cNvSpPr/>
          <p:nvPr/>
        </p:nvSpPr>
        <p:spPr>
          <a:xfrm>
            <a:off x="114568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F95B1D7-9C59-5E85-80C8-56FAFB70A760}"/>
              </a:ext>
            </a:extLst>
          </p:cNvPr>
          <p:cNvSpPr/>
          <p:nvPr/>
        </p:nvSpPr>
        <p:spPr>
          <a:xfrm>
            <a:off x="988807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A42C0F9-EA57-2E89-ED57-6EFB20E3DAE4}"/>
              </a:ext>
            </a:extLst>
          </p:cNvPr>
          <p:cNvSpPr/>
          <p:nvPr/>
        </p:nvSpPr>
        <p:spPr>
          <a:xfrm>
            <a:off x="1006288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6A6C300-6221-7A7A-484D-9F3FDB44C276}"/>
              </a:ext>
            </a:extLst>
          </p:cNvPr>
          <p:cNvSpPr/>
          <p:nvPr/>
        </p:nvSpPr>
        <p:spPr>
          <a:xfrm>
            <a:off x="1023769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B03D43D-9CD8-D6F6-A4BC-4CEFDA096281}"/>
                  </a:ext>
                </a:extLst>
              </p:cNvPr>
              <p:cNvSpPr txBox="1"/>
              <p:nvPr/>
            </p:nvSpPr>
            <p:spPr>
              <a:xfrm>
                <a:off x="7254688" y="750266"/>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out</a:t>
                </a:r>
                <a:endParaRPr lang="en-US" dirty="0"/>
              </a:p>
            </p:txBody>
          </p:sp>
        </mc:Choice>
        <mc:Fallback xmlns="">
          <p:sp>
            <p:nvSpPr>
              <p:cNvPr id="16" name="TextBox 15">
                <a:extLst>
                  <a:ext uri="{FF2B5EF4-FFF2-40B4-BE49-F238E27FC236}">
                    <a16:creationId xmlns:a16="http://schemas.microsoft.com/office/drawing/2014/main" id="{3B03D43D-9CD8-D6F6-A4BC-4CEFDA096281}"/>
                  </a:ext>
                </a:extLst>
              </p:cNvPr>
              <p:cNvSpPr txBox="1">
                <a:spLocks noRot="1" noChangeAspect="1" noMove="1" noResize="1" noEditPoints="1" noAdjustHandles="1" noChangeArrowheads="1" noChangeShapeType="1" noTextEdit="1"/>
              </p:cNvSpPr>
              <p:nvPr/>
            </p:nvSpPr>
            <p:spPr>
              <a:xfrm>
                <a:off x="7254688" y="750266"/>
                <a:ext cx="1064558" cy="369332"/>
              </a:xfrm>
              <a:prstGeom prst="rect">
                <a:avLst/>
              </a:prstGeom>
              <a:blipFill>
                <a:blip r:embed="rId3"/>
                <a:stretch>
                  <a:fillRect t="-8197" r="-1143" b="-2459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A3E4A30A-53D6-5B3E-4D0E-CBDBDE8D7F61}"/>
              </a:ext>
            </a:extLst>
          </p:cNvPr>
          <p:cNvSpPr/>
          <p:nvPr/>
        </p:nvSpPr>
        <p:spPr>
          <a:xfrm>
            <a:off x="8453718" y="119980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3F54FF2-3EF2-B690-D774-1E1ED38E20E6}"/>
              </a:ext>
            </a:extLst>
          </p:cNvPr>
          <p:cNvSpPr/>
          <p:nvPr/>
        </p:nvSpPr>
        <p:spPr>
          <a:xfrm>
            <a:off x="8803342"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2744B87-C622-3471-0421-5AB3C0681681}"/>
              </a:ext>
            </a:extLst>
          </p:cNvPr>
          <p:cNvSpPr/>
          <p:nvPr/>
        </p:nvSpPr>
        <p:spPr>
          <a:xfrm>
            <a:off x="9152966"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CC6A608-2F02-30E6-0449-39804AD2EA8B}"/>
              </a:ext>
            </a:extLst>
          </p:cNvPr>
          <p:cNvSpPr/>
          <p:nvPr/>
        </p:nvSpPr>
        <p:spPr>
          <a:xfrm>
            <a:off x="95025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7FF0995-CED3-58B6-2DE0-10752DF9033E}"/>
              </a:ext>
            </a:extLst>
          </p:cNvPr>
          <p:cNvSpPr/>
          <p:nvPr/>
        </p:nvSpPr>
        <p:spPr>
          <a:xfrm>
            <a:off x="1044836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BD91FBD-6740-8733-DD91-F5DE18BB26ED}"/>
              </a:ext>
            </a:extLst>
          </p:cNvPr>
          <p:cNvSpPr/>
          <p:nvPr/>
        </p:nvSpPr>
        <p:spPr>
          <a:xfrm>
            <a:off x="1078454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EAD42AE-F110-57A6-0E25-0504F35243AF}"/>
              </a:ext>
            </a:extLst>
          </p:cNvPr>
          <p:cNvSpPr/>
          <p:nvPr/>
        </p:nvSpPr>
        <p:spPr>
          <a:xfrm>
            <a:off x="1112071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8F75DDE-3D46-9F37-18DA-623EB72FE0AE}"/>
              </a:ext>
            </a:extLst>
          </p:cNvPr>
          <p:cNvSpPr/>
          <p:nvPr/>
        </p:nvSpPr>
        <p:spPr>
          <a:xfrm>
            <a:off x="114568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726EC15-9A17-9E0E-475D-4431BF02ACD0}"/>
              </a:ext>
            </a:extLst>
          </p:cNvPr>
          <p:cNvSpPr/>
          <p:nvPr/>
        </p:nvSpPr>
        <p:spPr>
          <a:xfrm>
            <a:off x="988807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C85D240-7A3E-CD1D-CD49-56BDF2F2BF3E}"/>
              </a:ext>
            </a:extLst>
          </p:cNvPr>
          <p:cNvSpPr/>
          <p:nvPr/>
        </p:nvSpPr>
        <p:spPr>
          <a:xfrm>
            <a:off x="1006288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D7B4849-2D8D-CAB3-91B1-CCA47A308709}"/>
              </a:ext>
            </a:extLst>
          </p:cNvPr>
          <p:cNvSpPr/>
          <p:nvPr/>
        </p:nvSpPr>
        <p:spPr>
          <a:xfrm>
            <a:off x="1023769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555EE46-0D91-274E-67C3-71A591AB3D47}"/>
                  </a:ext>
                </a:extLst>
              </p:cNvPr>
              <p:cNvSpPr txBox="1"/>
              <p:nvPr/>
            </p:nvSpPr>
            <p:spPr>
              <a:xfrm>
                <a:off x="7254688" y="116165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1</m:t>
                    </m:r>
                  </m:oMath>
                </a14:m>
                <a:r>
                  <a:rPr lang="en-US" dirty="0"/>
                  <a:t> does </a:t>
                </a:r>
                <a:r>
                  <a:rPr lang="en-US" i="1" dirty="0"/>
                  <a:t>in</a:t>
                </a:r>
                <a:endParaRPr lang="en-US" dirty="0"/>
              </a:p>
            </p:txBody>
          </p:sp>
        </mc:Choice>
        <mc:Fallback xmlns="">
          <p:sp>
            <p:nvSpPr>
              <p:cNvPr id="28" name="TextBox 27">
                <a:extLst>
                  <a:ext uri="{FF2B5EF4-FFF2-40B4-BE49-F238E27FC236}">
                    <a16:creationId xmlns:a16="http://schemas.microsoft.com/office/drawing/2014/main" id="{B555EE46-0D91-274E-67C3-71A591AB3D47}"/>
                  </a:ext>
                </a:extLst>
              </p:cNvPr>
              <p:cNvSpPr txBox="1">
                <a:spLocks noRot="1" noChangeAspect="1" noMove="1" noResize="1" noEditPoints="1" noAdjustHandles="1" noChangeArrowheads="1" noChangeShapeType="1" noTextEdit="1"/>
              </p:cNvSpPr>
              <p:nvPr/>
            </p:nvSpPr>
            <p:spPr>
              <a:xfrm>
                <a:off x="7254688" y="1161652"/>
                <a:ext cx="1064558" cy="369332"/>
              </a:xfrm>
              <a:prstGeom prst="rect">
                <a:avLst/>
              </a:prstGeom>
              <a:blipFill>
                <a:blip r:embed="rId4"/>
                <a:stretch>
                  <a:fillRect t="-10000" r="-2286" b="-26667"/>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8646B266-96C1-481A-7513-4D7E47EEA0E4}"/>
              </a:ext>
            </a:extLst>
          </p:cNvPr>
          <p:cNvSpPr/>
          <p:nvPr/>
        </p:nvSpPr>
        <p:spPr>
          <a:xfrm>
            <a:off x="8453718"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B86EA062-0FEE-48BF-F104-A7F40A654A35}"/>
              </a:ext>
            </a:extLst>
          </p:cNvPr>
          <p:cNvSpPr/>
          <p:nvPr/>
        </p:nvSpPr>
        <p:spPr>
          <a:xfrm>
            <a:off x="8803342"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A0BD0A0-0523-7F38-AD62-01F2F66E29E6}"/>
              </a:ext>
            </a:extLst>
          </p:cNvPr>
          <p:cNvSpPr/>
          <p:nvPr/>
        </p:nvSpPr>
        <p:spPr>
          <a:xfrm>
            <a:off x="9152966"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8195D9A-E2E8-FD2B-8273-F397730DFD66}"/>
              </a:ext>
            </a:extLst>
          </p:cNvPr>
          <p:cNvSpPr/>
          <p:nvPr/>
        </p:nvSpPr>
        <p:spPr>
          <a:xfrm>
            <a:off x="95025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479554C-A2F7-5522-BFC6-F76665AD1AE0}"/>
              </a:ext>
            </a:extLst>
          </p:cNvPr>
          <p:cNvSpPr/>
          <p:nvPr/>
        </p:nvSpPr>
        <p:spPr>
          <a:xfrm>
            <a:off x="1044836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2FD9D8F-F914-0F73-7C30-E9EBA7F22C64}"/>
              </a:ext>
            </a:extLst>
          </p:cNvPr>
          <p:cNvSpPr/>
          <p:nvPr/>
        </p:nvSpPr>
        <p:spPr>
          <a:xfrm>
            <a:off x="1078454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635BEF2-68D9-904E-1805-82B88A990A2C}"/>
              </a:ext>
            </a:extLst>
          </p:cNvPr>
          <p:cNvSpPr/>
          <p:nvPr/>
        </p:nvSpPr>
        <p:spPr>
          <a:xfrm>
            <a:off x="1112071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FF0AACF-1114-FE3C-5DCE-CBF2A978E13E}"/>
              </a:ext>
            </a:extLst>
          </p:cNvPr>
          <p:cNvSpPr/>
          <p:nvPr/>
        </p:nvSpPr>
        <p:spPr>
          <a:xfrm>
            <a:off x="114568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A101A1E-0221-8A38-71B8-F225B694CD80}"/>
              </a:ext>
            </a:extLst>
          </p:cNvPr>
          <p:cNvSpPr/>
          <p:nvPr/>
        </p:nvSpPr>
        <p:spPr>
          <a:xfrm>
            <a:off x="988807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45BD9E3-2B67-CB64-CE02-FB8EBEB87A93}"/>
              </a:ext>
            </a:extLst>
          </p:cNvPr>
          <p:cNvSpPr/>
          <p:nvPr/>
        </p:nvSpPr>
        <p:spPr>
          <a:xfrm>
            <a:off x="1006288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30C92CA3-DF3B-C49F-2453-EFBF18458EDE}"/>
              </a:ext>
            </a:extLst>
          </p:cNvPr>
          <p:cNvSpPr/>
          <p:nvPr/>
        </p:nvSpPr>
        <p:spPr>
          <a:xfrm>
            <a:off x="1023769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3772997-844F-A9C2-7346-32B3713D652A}"/>
                  </a:ext>
                </a:extLst>
              </p:cNvPr>
              <p:cNvSpPr txBox="1"/>
              <p:nvPr/>
            </p:nvSpPr>
            <p:spPr>
              <a:xfrm>
                <a:off x="7254688" y="161119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40" name="TextBox 39">
                <a:extLst>
                  <a:ext uri="{FF2B5EF4-FFF2-40B4-BE49-F238E27FC236}">
                    <a16:creationId xmlns:a16="http://schemas.microsoft.com/office/drawing/2014/main" id="{43772997-844F-A9C2-7346-32B3713D652A}"/>
                  </a:ext>
                </a:extLst>
              </p:cNvPr>
              <p:cNvSpPr txBox="1">
                <a:spLocks noRot="1" noChangeAspect="1" noMove="1" noResize="1" noEditPoints="1" noAdjustHandles="1" noChangeArrowheads="1" noChangeShapeType="1" noTextEdit="1"/>
              </p:cNvSpPr>
              <p:nvPr/>
            </p:nvSpPr>
            <p:spPr>
              <a:xfrm>
                <a:off x="7254688" y="1611192"/>
                <a:ext cx="1064558" cy="369332"/>
              </a:xfrm>
              <a:prstGeom prst="rect">
                <a:avLst/>
              </a:prstGeom>
              <a:blipFill>
                <a:blip r:embed="rId5"/>
                <a:stretch>
                  <a:fillRect t="-8197" b="-24590"/>
                </a:stretch>
              </a:blipFill>
            </p:spPr>
            <p:txBody>
              <a:bodyPr/>
              <a:lstStyle/>
              <a:p>
                <a:r>
                  <a:rPr lang="en-US">
                    <a:noFill/>
                  </a:rPr>
                  <a:t> </a:t>
                </a:r>
              </a:p>
            </p:txBody>
          </p:sp>
        </mc:Fallback>
      </mc:AlternateContent>
      <p:sp>
        <p:nvSpPr>
          <p:cNvPr id="41" name="Oval 40">
            <a:extLst>
              <a:ext uri="{FF2B5EF4-FFF2-40B4-BE49-F238E27FC236}">
                <a16:creationId xmlns:a16="http://schemas.microsoft.com/office/drawing/2014/main" id="{B2887B4C-D32A-8A23-3A45-AD4A06014118}"/>
              </a:ext>
            </a:extLst>
          </p:cNvPr>
          <p:cNvSpPr/>
          <p:nvPr/>
        </p:nvSpPr>
        <p:spPr>
          <a:xfrm>
            <a:off x="9152966" y="225175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83C8D187-72A0-4BC2-406B-40D97E3DBA39}"/>
              </a:ext>
            </a:extLst>
          </p:cNvPr>
          <p:cNvSpPr/>
          <p:nvPr/>
        </p:nvSpPr>
        <p:spPr>
          <a:xfrm>
            <a:off x="9152966" y="25296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C46F1E8-97C6-491E-6680-BA63F0C141AA}"/>
              </a:ext>
            </a:extLst>
          </p:cNvPr>
          <p:cNvSpPr/>
          <p:nvPr/>
        </p:nvSpPr>
        <p:spPr>
          <a:xfrm>
            <a:off x="9139520" y="280756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E317ABA7-D515-D09A-B2DE-0D5CC20209CA}"/>
              </a:ext>
            </a:extLst>
          </p:cNvPr>
          <p:cNvSpPr/>
          <p:nvPr/>
        </p:nvSpPr>
        <p:spPr>
          <a:xfrm>
            <a:off x="8453718"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50FEB68-5966-A2B0-43AD-0E4FFF27C172}"/>
              </a:ext>
            </a:extLst>
          </p:cNvPr>
          <p:cNvSpPr/>
          <p:nvPr/>
        </p:nvSpPr>
        <p:spPr>
          <a:xfrm>
            <a:off x="8803342"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04A77A0-97B5-F3AF-112A-C2BAD77499D1}"/>
              </a:ext>
            </a:extLst>
          </p:cNvPr>
          <p:cNvSpPr/>
          <p:nvPr/>
        </p:nvSpPr>
        <p:spPr>
          <a:xfrm>
            <a:off x="9152966"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35B58FB3-A73B-FFB4-B588-5211AF04733B}"/>
              </a:ext>
            </a:extLst>
          </p:cNvPr>
          <p:cNvSpPr/>
          <p:nvPr/>
        </p:nvSpPr>
        <p:spPr>
          <a:xfrm>
            <a:off x="9502590"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440757E-67A2-907B-0F81-8A0EE6FA02EC}"/>
              </a:ext>
            </a:extLst>
          </p:cNvPr>
          <p:cNvSpPr/>
          <p:nvPr/>
        </p:nvSpPr>
        <p:spPr>
          <a:xfrm>
            <a:off x="10448365"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81EBB264-3E48-99A9-4E3F-6CE8317F4331}"/>
              </a:ext>
            </a:extLst>
          </p:cNvPr>
          <p:cNvSpPr/>
          <p:nvPr/>
        </p:nvSpPr>
        <p:spPr>
          <a:xfrm>
            <a:off x="10784540"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90DC732D-2050-CADE-4204-5B0DF6981886}"/>
              </a:ext>
            </a:extLst>
          </p:cNvPr>
          <p:cNvSpPr/>
          <p:nvPr/>
        </p:nvSpPr>
        <p:spPr>
          <a:xfrm>
            <a:off x="11120715"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4D00BF75-8F19-616B-2669-93BC2A2245B2}"/>
              </a:ext>
            </a:extLst>
          </p:cNvPr>
          <p:cNvSpPr/>
          <p:nvPr/>
        </p:nvSpPr>
        <p:spPr>
          <a:xfrm>
            <a:off x="11456890"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086CC8A9-4CE3-4150-116F-BE0963C3E86B}"/>
              </a:ext>
            </a:extLst>
          </p:cNvPr>
          <p:cNvSpPr/>
          <p:nvPr/>
        </p:nvSpPr>
        <p:spPr>
          <a:xfrm>
            <a:off x="988807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DA960D77-A284-E9FE-A2DB-8D2C90FD4041}"/>
              </a:ext>
            </a:extLst>
          </p:cNvPr>
          <p:cNvSpPr/>
          <p:nvPr/>
        </p:nvSpPr>
        <p:spPr>
          <a:xfrm>
            <a:off x="1006288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0ACC465-816F-3E5B-06FF-27AF4E17D9A0}"/>
              </a:ext>
            </a:extLst>
          </p:cNvPr>
          <p:cNvSpPr/>
          <p:nvPr/>
        </p:nvSpPr>
        <p:spPr>
          <a:xfrm>
            <a:off x="1023769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C86EF529-F051-6061-90A2-83A79796FDEC}"/>
                  </a:ext>
                </a:extLst>
              </p:cNvPr>
              <p:cNvSpPr txBox="1"/>
              <p:nvPr/>
            </p:nvSpPr>
            <p:spPr>
              <a:xfrm>
                <a:off x="7019365" y="3055293"/>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67" name="TextBox 66">
                <a:extLst>
                  <a:ext uri="{FF2B5EF4-FFF2-40B4-BE49-F238E27FC236}">
                    <a16:creationId xmlns:a16="http://schemas.microsoft.com/office/drawing/2014/main" id="{C86EF529-F051-6061-90A2-83A79796FDEC}"/>
                  </a:ext>
                </a:extLst>
              </p:cNvPr>
              <p:cNvSpPr txBox="1">
                <a:spLocks noRot="1" noChangeAspect="1" noMove="1" noResize="1" noEditPoints="1" noAdjustHandles="1" noChangeArrowheads="1" noChangeShapeType="1" noTextEdit="1"/>
              </p:cNvSpPr>
              <p:nvPr/>
            </p:nvSpPr>
            <p:spPr>
              <a:xfrm>
                <a:off x="7019365" y="3055293"/>
                <a:ext cx="1299881" cy="369332"/>
              </a:xfrm>
              <a:prstGeom prst="rect">
                <a:avLst/>
              </a:prstGeom>
              <a:blipFill>
                <a:blip r:embed="rId6"/>
                <a:stretch>
                  <a:fillRect t="-8197" b="-24590"/>
                </a:stretch>
              </a:blipFill>
            </p:spPr>
            <p:txBody>
              <a:bodyPr/>
              <a:lstStyle/>
              <a:p>
                <a:r>
                  <a:rPr lang="en-US">
                    <a:noFill/>
                  </a:rPr>
                  <a:t> </a:t>
                </a:r>
              </a:p>
            </p:txBody>
          </p:sp>
        </mc:Fallback>
      </mc:AlternateContent>
      <p:sp>
        <p:nvSpPr>
          <p:cNvPr id="68" name="Oval 67">
            <a:extLst>
              <a:ext uri="{FF2B5EF4-FFF2-40B4-BE49-F238E27FC236}">
                <a16:creationId xmlns:a16="http://schemas.microsoft.com/office/drawing/2014/main" id="{9FBB7E2B-7F42-4FC9-8651-F3B5AF04A4BF}"/>
              </a:ext>
            </a:extLst>
          </p:cNvPr>
          <p:cNvSpPr/>
          <p:nvPr/>
        </p:nvSpPr>
        <p:spPr>
          <a:xfrm>
            <a:off x="8453718"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27433B91-3334-D6A8-76B7-7D5B354E702E}"/>
              </a:ext>
            </a:extLst>
          </p:cNvPr>
          <p:cNvSpPr/>
          <p:nvPr/>
        </p:nvSpPr>
        <p:spPr>
          <a:xfrm>
            <a:off x="8803342"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F61F476-02BB-4F85-7B74-48C0183D2602}"/>
              </a:ext>
            </a:extLst>
          </p:cNvPr>
          <p:cNvSpPr/>
          <p:nvPr/>
        </p:nvSpPr>
        <p:spPr>
          <a:xfrm>
            <a:off x="9152966"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D6AFB98-AE21-82DD-5090-F33A5D1619AB}"/>
              </a:ext>
            </a:extLst>
          </p:cNvPr>
          <p:cNvSpPr/>
          <p:nvPr/>
        </p:nvSpPr>
        <p:spPr>
          <a:xfrm>
            <a:off x="9502590"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0B2C823F-26ED-FD61-12C9-4F3369B13F48}"/>
              </a:ext>
            </a:extLst>
          </p:cNvPr>
          <p:cNvSpPr/>
          <p:nvPr/>
        </p:nvSpPr>
        <p:spPr>
          <a:xfrm>
            <a:off x="10448365"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E9B1D9D-2A7F-5171-F047-65BDC960137E}"/>
              </a:ext>
            </a:extLst>
          </p:cNvPr>
          <p:cNvSpPr/>
          <p:nvPr/>
        </p:nvSpPr>
        <p:spPr>
          <a:xfrm>
            <a:off x="10784540"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AF55B054-D259-4181-13C8-B34B98483935}"/>
              </a:ext>
            </a:extLst>
          </p:cNvPr>
          <p:cNvSpPr/>
          <p:nvPr/>
        </p:nvSpPr>
        <p:spPr>
          <a:xfrm>
            <a:off x="11120715"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812233E-952F-8252-FAF3-EBF5163B3157}"/>
              </a:ext>
            </a:extLst>
          </p:cNvPr>
          <p:cNvSpPr/>
          <p:nvPr/>
        </p:nvSpPr>
        <p:spPr>
          <a:xfrm>
            <a:off x="11456890"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29E82425-2942-5499-DB9C-6F5E7F830EE6}"/>
              </a:ext>
            </a:extLst>
          </p:cNvPr>
          <p:cNvSpPr/>
          <p:nvPr/>
        </p:nvSpPr>
        <p:spPr>
          <a:xfrm>
            <a:off x="988807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85DCB32C-5F84-B215-9B34-74A3DDCC74DA}"/>
              </a:ext>
            </a:extLst>
          </p:cNvPr>
          <p:cNvSpPr/>
          <p:nvPr/>
        </p:nvSpPr>
        <p:spPr>
          <a:xfrm>
            <a:off x="1006288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669F8A71-2DA6-CC68-0D06-8C2C255B61F7}"/>
              </a:ext>
            </a:extLst>
          </p:cNvPr>
          <p:cNvSpPr/>
          <p:nvPr/>
        </p:nvSpPr>
        <p:spPr>
          <a:xfrm>
            <a:off x="1023769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EA4B0438-8BDA-0C79-1E34-144E618186EF}"/>
                  </a:ext>
                </a:extLst>
              </p:cNvPr>
              <p:cNvSpPr txBox="1"/>
              <p:nvPr/>
            </p:nvSpPr>
            <p:spPr>
              <a:xfrm>
                <a:off x="7019365" y="3519624"/>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79" name="TextBox 78">
                <a:extLst>
                  <a:ext uri="{FF2B5EF4-FFF2-40B4-BE49-F238E27FC236}">
                    <a16:creationId xmlns:a16="http://schemas.microsoft.com/office/drawing/2014/main" id="{EA4B0438-8BDA-0C79-1E34-144E618186EF}"/>
                  </a:ext>
                </a:extLst>
              </p:cNvPr>
              <p:cNvSpPr txBox="1">
                <a:spLocks noRot="1" noChangeAspect="1" noMove="1" noResize="1" noEditPoints="1" noAdjustHandles="1" noChangeArrowheads="1" noChangeShapeType="1" noTextEdit="1"/>
              </p:cNvSpPr>
              <p:nvPr/>
            </p:nvSpPr>
            <p:spPr>
              <a:xfrm>
                <a:off x="7019365" y="3519624"/>
                <a:ext cx="1299881" cy="369332"/>
              </a:xfrm>
              <a:prstGeom prst="rect">
                <a:avLst/>
              </a:prstGeom>
              <a:blipFill>
                <a:blip r:embed="rId7"/>
                <a:stretch>
                  <a:fillRect t="-8197" b="-24590"/>
                </a:stretch>
              </a:blipFill>
            </p:spPr>
            <p:txBody>
              <a:bodyPr/>
              <a:lstStyle/>
              <a:p>
                <a:r>
                  <a:rPr lang="en-US">
                    <a:noFill/>
                  </a:rPr>
                  <a:t> </a:t>
                </a:r>
              </a:p>
            </p:txBody>
          </p:sp>
        </mc:Fallback>
      </mc:AlternateContent>
      <p:sp>
        <p:nvSpPr>
          <p:cNvPr id="80" name="Oval 79">
            <a:extLst>
              <a:ext uri="{FF2B5EF4-FFF2-40B4-BE49-F238E27FC236}">
                <a16:creationId xmlns:a16="http://schemas.microsoft.com/office/drawing/2014/main" id="{A32E52C4-4B39-CD47-E907-6AE942B7D1E6}"/>
              </a:ext>
            </a:extLst>
          </p:cNvPr>
          <p:cNvSpPr/>
          <p:nvPr/>
        </p:nvSpPr>
        <p:spPr>
          <a:xfrm>
            <a:off x="8453718"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B37D020B-E9B6-AA52-EF02-0F58805777B1}"/>
              </a:ext>
            </a:extLst>
          </p:cNvPr>
          <p:cNvSpPr/>
          <p:nvPr/>
        </p:nvSpPr>
        <p:spPr>
          <a:xfrm>
            <a:off x="8803342"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5BC53467-73FD-FD29-FC06-B0EE846A4D6A}"/>
              </a:ext>
            </a:extLst>
          </p:cNvPr>
          <p:cNvSpPr/>
          <p:nvPr/>
        </p:nvSpPr>
        <p:spPr>
          <a:xfrm>
            <a:off x="9152966"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7FC9AB80-CDB7-D649-4B5B-72B878D4F3EE}"/>
              </a:ext>
            </a:extLst>
          </p:cNvPr>
          <p:cNvSpPr/>
          <p:nvPr/>
        </p:nvSpPr>
        <p:spPr>
          <a:xfrm>
            <a:off x="9502590"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BA77592D-3647-B14E-7199-9C545ED580D1}"/>
              </a:ext>
            </a:extLst>
          </p:cNvPr>
          <p:cNvSpPr/>
          <p:nvPr/>
        </p:nvSpPr>
        <p:spPr>
          <a:xfrm>
            <a:off x="10448365"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ADE6B56D-BF6C-7013-7B02-FA7A940AEA09}"/>
              </a:ext>
            </a:extLst>
          </p:cNvPr>
          <p:cNvSpPr/>
          <p:nvPr/>
        </p:nvSpPr>
        <p:spPr>
          <a:xfrm>
            <a:off x="10784540"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8476A766-2869-E665-48C3-02A6AF0B2480}"/>
              </a:ext>
            </a:extLst>
          </p:cNvPr>
          <p:cNvSpPr/>
          <p:nvPr/>
        </p:nvSpPr>
        <p:spPr>
          <a:xfrm>
            <a:off x="11120715"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32120B09-0D11-06CD-2EA7-101FDEC032C9}"/>
              </a:ext>
            </a:extLst>
          </p:cNvPr>
          <p:cNvSpPr/>
          <p:nvPr/>
        </p:nvSpPr>
        <p:spPr>
          <a:xfrm>
            <a:off x="11456890"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7DCA19CA-FB8A-6C28-C1C0-1FA0FDDC86E7}"/>
              </a:ext>
            </a:extLst>
          </p:cNvPr>
          <p:cNvSpPr/>
          <p:nvPr/>
        </p:nvSpPr>
        <p:spPr>
          <a:xfrm>
            <a:off x="988807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E9C7178F-6707-C962-6A81-B29292A8AE22}"/>
              </a:ext>
            </a:extLst>
          </p:cNvPr>
          <p:cNvSpPr/>
          <p:nvPr/>
        </p:nvSpPr>
        <p:spPr>
          <a:xfrm>
            <a:off x="1006288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41EE20AD-0A6C-1410-3B9F-B23A4FAD542E}"/>
              </a:ext>
            </a:extLst>
          </p:cNvPr>
          <p:cNvSpPr/>
          <p:nvPr/>
        </p:nvSpPr>
        <p:spPr>
          <a:xfrm>
            <a:off x="1023769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3AE1CC5-772E-5B71-AE74-F36471EFB655}"/>
                  </a:ext>
                </a:extLst>
              </p:cNvPr>
              <p:cNvSpPr txBox="1"/>
              <p:nvPr/>
            </p:nvSpPr>
            <p:spPr>
              <a:xfrm>
                <a:off x="7019365" y="3983955"/>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oMath>
                </a14:m>
                <a:r>
                  <a:rPr lang="en-US" dirty="0"/>
                  <a:t> do </a:t>
                </a:r>
                <a:r>
                  <a:rPr lang="en-US" i="1" dirty="0"/>
                  <a:t>in</a:t>
                </a:r>
                <a:endParaRPr lang="en-US" dirty="0"/>
              </a:p>
            </p:txBody>
          </p:sp>
        </mc:Choice>
        <mc:Fallback xmlns="">
          <p:sp>
            <p:nvSpPr>
              <p:cNvPr id="91" name="TextBox 90">
                <a:extLst>
                  <a:ext uri="{FF2B5EF4-FFF2-40B4-BE49-F238E27FC236}">
                    <a16:creationId xmlns:a16="http://schemas.microsoft.com/office/drawing/2014/main" id="{A3AE1CC5-772E-5B71-AE74-F36471EFB655}"/>
                  </a:ext>
                </a:extLst>
              </p:cNvPr>
              <p:cNvSpPr txBox="1">
                <a:spLocks noRot="1" noChangeAspect="1" noMove="1" noResize="1" noEditPoints="1" noAdjustHandles="1" noChangeArrowheads="1" noChangeShapeType="1" noTextEdit="1"/>
              </p:cNvSpPr>
              <p:nvPr/>
            </p:nvSpPr>
            <p:spPr>
              <a:xfrm>
                <a:off x="7019365" y="3983955"/>
                <a:ext cx="1299881" cy="369332"/>
              </a:xfrm>
              <a:prstGeom prst="rect">
                <a:avLst/>
              </a:prstGeom>
              <a:blipFill>
                <a:blip r:embed="rId8"/>
                <a:stretch>
                  <a:fillRect t="-10000" b="-26667"/>
                </a:stretch>
              </a:blipFill>
            </p:spPr>
            <p:txBody>
              <a:bodyPr/>
              <a:lstStyle/>
              <a:p>
                <a:r>
                  <a:rPr lang="en-US">
                    <a:noFill/>
                  </a:rPr>
                  <a:t> </a:t>
                </a:r>
              </a:p>
            </p:txBody>
          </p:sp>
        </mc:Fallback>
      </mc:AlternateContent>
      <p:sp>
        <p:nvSpPr>
          <p:cNvPr id="92" name="Oval 91">
            <a:extLst>
              <a:ext uri="{FF2B5EF4-FFF2-40B4-BE49-F238E27FC236}">
                <a16:creationId xmlns:a16="http://schemas.microsoft.com/office/drawing/2014/main" id="{6A46910B-BAD8-E547-CF55-E3099200AAF1}"/>
              </a:ext>
            </a:extLst>
          </p:cNvPr>
          <p:cNvSpPr/>
          <p:nvPr/>
        </p:nvSpPr>
        <p:spPr>
          <a:xfrm>
            <a:off x="8453718"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03F3050A-4BF1-47DA-8533-93CCE5D41B9E}"/>
              </a:ext>
            </a:extLst>
          </p:cNvPr>
          <p:cNvSpPr/>
          <p:nvPr/>
        </p:nvSpPr>
        <p:spPr>
          <a:xfrm>
            <a:off x="8803342"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98A580D8-75BD-79B1-440F-1097180AC52C}"/>
              </a:ext>
            </a:extLst>
          </p:cNvPr>
          <p:cNvSpPr/>
          <p:nvPr/>
        </p:nvSpPr>
        <p:spPr>
          <a:xfrm>
            <a:off x="9152966"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D9ECAD90-73D7-656E-0A70-E0F8B0307DAD}"/>
              </a:ext>
            </a:extLst>
          </p:cNvPr>
          <p:cNvSpPr/>
          <p:nvPr/>
        </p:nvSpPr>
        <p:spPr>
          <a:xfrm>
            <a:off x="9502590"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DFDC3686-603E-315C-5E43-F62AC9CE99AE}"/>
              </a:ext>
            </a:extLst>
          </p:cNvPr>
          <p:cNvSpPr/>
          <p:nvPr/>
        </p:nvSpPr>
        <p:spPr>
          <a:xfrm>
            <a:off x="10448365"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3FF0F32-0469-CB1E-C1EE-CF7F1BDCED1B}"/>
              </a:ext>
            </a:extLst>
          </p:cNvPr>
          <p:cNvSpPr/>
          <p:nvPr/>
        </p:nvSpPr>
        <p:spPr>
          <a:xfrm>
            <a:off x="10784540"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B2521CB9-24BF-759C-999D-801457F2E6D6}"/>
              </a:ext>
            </a:extLst>
          </p:cNvPr>
          <p:cNvSpPr/>
          <p:nvPr/>
        </p:nvSpPr>
        <p:spPr>
          <a:xfrm>
            <a:off x="11120715"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A15E8ADF-EBB6-4568-BDE2-D574517EA422}"/>
              </a:ext>
            </a:extLst>
          </p:cNvPr>
          <p:cNvSpPr/>
          <p:nvPr/>
        </p:nvSpPr>
        <p:spPr>
          <a:xfrm>
            <a:off x="11456890"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48ACE908-DF32-F8F2-9A8E-FA32087873A0}"/>
              </a:ext>
            </a:extLst>
          </p:cNvPr>
          <p:cNvSpPr/>
          <p:nvPr/>
        </p:nvSpPr>
        <p:spPr>
          <a:xfrm>
            <a:off x="988807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4338CA46-8C44-8AA0-4E56-4C599AB44224}"/>
              </a:ext>
            </a:extLst>
          </p:cNvPr>
          <p:cNvSpPr/>
          <p:nvPr/>
        </p:nvSpPr>
        <p:spPr>
          <a:xfrm>
            <a:off x="1006288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6B34F9FF-3804-09F8-9A3E-31C9FC6C9082}"/>
              </a:ext>
            </a:extLst>
          </p:cNvPr>
          <p:cNvSpPr/>
          <p:nvPr/>
        </p:nvSpPr>
        <p:spPr>
          <a:xfrm>
            <a:off x="1023769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924E4E4-0C9E-346D-E46F-255291166760}"/>
                  </a:ext>
                </a:extLst>
              </p:cNvPr>
              <p:cNvSpPr txBox="1"/>
              <p:nvPr/>
            </p:nvSpPr>
            <p:spPr>
              <a:xfrm>
                <a:off x="7019365" y="4448286"/>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103" name="TextBox 102">
                <a:extLst>
                  <a:ext uri="{FF2B5EF4-FFF2-40B4-BE49-F238E27FC236}">
                    <a16:creationId xmlns:a16="http://schemas.microsoft.com/office/drawing/2014/main" id="{9924E4E4-0C9E-346D-E46F-255291166760}"/>
                  </a:ext>
                </a:extLst>
              </p:cNvPr>
              <p:cNvSpPr txBox="1">
                <a:spLocks noRot="1" noChangeAspect="1" noMove="1" noResize="1" noEditPoints="1" noAdjustHandles="1" noChangeArrowheads="1" noChangeShapeType="1" noTextEdit="1"/>
              </p:cNvSpPr>
              <p:nvPr/>
            </p:nvSpPr>
            <p:spPr>
              <a:xfrm>
                <a:off x="7019365" y="4448286"/>
                <a:ext cx="1299881" cy="369332"/>
              </a:xfrm>
              <a:prstGeom prst="rect">
                <a:avLst/>
              </a:prstGeom>
              <a:blipFill>
                <a:blip r:embed="rId9"/>
                <a:stretch>
                  <a:fillRect t="-10000" b="-26667"/>
                </a:stretch>
              </a:blipFill>
            </p:spPr>
            <p:txBody>
              <a:bodyPr/>
              <a:lstStyle/>
              <a:p>
                <a:r>
                  <a:rPr lang="en-US">
                    <a:noFill/>
                  </a:rPr>
                  <a:t> </a:t>
                </a:r>
              </a:p>
            </p:txBody>
          </p:sp>
        </mc:Fallback>
      </mc:AlternateContent>
      <p:sp>
        <p:nvSpPr>
          <p:cNvPr id="104" name="Oval 103">
            <a:extLst>
              <a:ext uri="{FF2B5EF4-FFF2-40B4-BE49-F238E27FC236}">
                <a16:creationId xmlns:a16="http://schemas.microsoft.com/office/drawing/2014/main" id="{D9C86C4C-33F7-9EE6-CCE0-B52425A40A44}"/>
              </a:ext>
            </a:extLst>
          </p:cNvPr>
          <p:cNvSpPr/>
          <p:nvPr/>
        </p:nvSpPr>
        <p:spPr>
          <a:xfrm>
            <a:off x="8453718" y="489915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9B416B97-BF14-3307-F395-919970915F59}"/>
              </a:ext>
            </a:extLst>
          </p:cNvPr>
          <p:cNvSpPr/>
          <p:nvPr/>
        </p:nvSpPr>
        <p:spPr>
          <a:xfrm>
            <a:off x="8803342" y="489915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F1152F11-1A82-E466-AF2F-12D4A5B764D3}"/>
              </a:ext>
            </a:extLst>
          </p:cNvPr>
          <p:cNvSpPr/>
          <p:nvPr/>
        </p:nvSpPr>
        <p:spPr>
          <a:xfrm>
            <a:off x="9152966" y="489228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E9A3E469-0F29-73E0-48E1-ADB7A76A3FD2}"/>
              </a:ext>
            </a:extLst>
          </p:cNvPr>
          <p:cNvSpPr/>
          <p:nvPr/>
        </p:nvSpPr>
        <p:spPr>
          <a:xfrm>
            <a:off x="9502590" y="489228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5E0A75F2-D18C-745A-8C41-B8261BF68337}"/>
              </a:ext>
            </a:extLst>
          </p:cNvPr>
          <p:cNvSpPr/>
          <p:nvPr/>
        </p:nvSpPr>
        <p:spPr>
          <a:xfrm>
            <a:off x="10448365"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3B7E0560-0503-6794-E20C-8AD11B520CEF}"/>
              </a:ext>
            </a:extLst>
          </p:cNvPr>
          <p:cNvSpPr/>
          <p:nvPr/>
        </p:nvSpPr>
        <p:spPr>
          <a:xfrm>
            <a:off x="10784540"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48F9C530-295B-1748-A8D7-3D382C9F81CD}"/>
              </a:ext>
            </a:extLst>
          </p:cNvPr>
          <p:cNvSpPr/>
          <p:nvPr/>
        </p:nvSpPr>
        <p:spPr>
          <a:xfrm>
            <a:off x="11120715"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75D795C-76CB-F4AA-879D-AD978956491D}"/>
              </a:ext>
            </a:extLst>
          </p:cNvPr>
          <p:cNvSpPr/>
          <p:nvPr/>
        </p:nvSpPr>
        <p:spPr>
          <a:xfrm>
            <a:off x="11456890"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299D3FCA-FF69-31D0-77BC-006FE8645A51}"/>
              </a:ext>
            </a:extLst>
          </p:cNvPr>
          <p:cNvSpPr/>
          <p:nvPr/>
        </p:nvSpPr>
        <p:spPr>
          <a:xfrm>
            <a:off x="988807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FE97AE59-EE2B-9FBB-40A9-DB1928822229}"/>
              </a:ext>
            </a:extLst>
          </p:cNvPr>
          <p:cNvSpPr/>
          <p:nvPr/>
        </p:nvSpPr>
        <p:spPr>
          <a:xfrm>
            <a:off x="1006288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37E45A2C-B028-2B8F-3298-85CA9BB6BF26}"/>
              </a:ext>
            </a:extLst>
          </p:cNvPr>
          <p:cNvSpPr/>
          <p:nvPr/>
        </p:nvSpPr>
        <p:spPr>
          <a:xfrm>
            <a:off x="1023769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0ECD9998-478F-59CB-6EBB-575816F09CDD}"/>
                  </a:ext>
                </a:extLst>
              </p:cNvPr>
              <p:cNvSpPr txBox="1"/>
              <p:nvPr/>
            </p:nvSpPr>
            <p:spPr>
              <a:xfrm>
                <a:off x="7019365" y="4861000"/>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115" name="TextBox 114">
                <a:extLst>
                  <a:ext uri="{FF2B5EF4-FFF2-40B4-BE49-F238E27FC236}">
                    <a16:creationId xmlns:a16="http://schemas.microsoft.com/office/drawing/2014/main" id="{0ECD9998-478F-59CB-6EBB-575816F09CDD}"/>
                  </a:ext>
                </a:extLst>
              </p:cNvPr>
              <p:cNvSpPr txBox="1">
                <a:spLocks noRot="1" noChangeAspect="1" noMove="1" noResize="1" noEditPoints="1" noAdjustHandles="1" noChangeArrowheads="1" noChangeShapeType="1" noTextEdit="1"/>
              </p:cNvSpPr>
              <p:nvPr/>
            </p:nvSpPr>
            <p:spPr>
              <a:xfrm>
                <a:off x="7019365" y="4861000"/>
                <a:ext cx="1299881" cy="369332"/>
              </a:xfrm>
              <a:prstGeom prst="rect">
                <a:avLst/>
              </a:prstGeom>
              <a:blipFill>
                <a:blip r:embed="rId10"/>
                <a:stretch>
                  <a:fillRect t="-8197" b="-24590"/>
                </a:stretch>
              </a:blipFill>
            </p:spPr>
            <p:txBody>
              <a:bodyPr/>
              <a:lstStyle/>
              <a:p>
                <a:r>
                  <a:rPr lang="en-US">
                    <a:noFill/>
                  </a:rPr>
                  <a:t> </a:t>
                </a:r>
              </a:p>
            </p:txBody>
          </p:sp>
        </mc:Fallback>
      </mc:AlternateContent>
      <p:sp>
        <p:nvSpPr>
          <p:cNvPr id="116" name="Oval 115">
            <a:extLst>
              <a:ext uri="{FF2B5EF4-FFF2-40B4-BE49-F238E27FC236}">
                <a16:creationId xmlns:a16="http://schemas.microsoft.com/office/drawing/2014/main" id="{140FC5A6-3FF6-D208-BB53-B07EA53A9B2E}"/>
              </a:ext>
            </a:extLst>
          </p:cNvPr>
          <p:cNvSpPr/>
          <p:nvPr/>
        </p:nvSpPr>
        <p:spPr>
          <a:xfrm>
            <a:off x="9090213" y="535354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A8DD156F-08C3-90A1-44BF-1B8D32A17848}"/>
              </a:ext>
            </a:extLst>
          </p:cNvPr>
          <p:cNvSpPr/>
          <p:nvPr/>
        </p:nvSpPr>
        <p:spPr>
          <a:xfrm>
            <a:off x="9076767" y="5631450"/>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CD4807AC-BD2B-2C32-989B-07C159A64DB3}"/>
              </a:ext>
            </a:extLst>
          </p:cNvPr>
          <p:cNvSpPr/>
          <p:nvPr/>
        </p:nvSpPr>
        <p:spPr>
          <a:xfrm>
            <a:off x="9076767" y="58824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42A544-1B63-20DF-F432-A61309A65214}"/>
              </a:ext>
            </a:extLst>
          </p:cNvPr>
          <p:cNvSpPr/>
          <p:nvPr/>
        </p:nvSpPr>
        <p:spPr>
          <a:xfrm>
            <a:off x="8328212" y="601110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015F4F4D-B2D2-ACE7-E0AD-3D87154FC7E7}"/>
              </a:ext>
            </a:extLst>
          </p:cNvPr>
          <p:cNvSpPr/>
          <p:nvPr/>
        </p:nvSpPr>
        <p:spPr>
          <a:xfrm>
            <a:off x="8677836" y="601110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3A965D1-09CD-5CE6-571E-912F15582FE9}"/>
              </a:ext>
            </a:extLst>
          </p:cNvPr>
          <p:cNvSpPr/>
          <p:nvPr/>
        </p:nvSpPr>
        <p:spPr>
          <a:xfrm>
            <a:off x="9027460" y="60042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5029FBE-C640-F90D-19F0-00D648CD2AD0}"/>
              </a:ext>
            </a:extLst>
          </p:cNvPr>
          <p:cNvSpPr/>
          <p:nvPr/>
        </p:nvSpPr>
        <p:spPr>
          <a:xfrm>
            <a:off x="9377084" y="60042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0A5DAB42-7C4E-D28F-FC32-282C5BA12954}"/>
              </a:ext>
            </a:extLst>
          </p:cNvPr>
          <p:cNvSpPr/>
          <p:nvPr/>
        </p:nvSpPr>
        <p:spPr>
          <a:xfrm>
            <a:off x="10322859"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DEC402F0-C78C-92DE-A7FC-0948379A5A6A}"/>
              </a:ext>
            </a:extLst>
          </p:cNvPr>
          <p:cNvSpPr/>
          <p:nvPr/>
        </p:nvSpPr>
        <p:spPr>
          <a:xfrm>
            <a:off x="10659034"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6E29F06E-3406-30E6-A44F-E4BA202146B3}"/>
              </a:ext>
            </a:extLst>
          </p:cNvPr>
          <p:cNvSpPr/>
          <p:nvPr/>
        </p:nvSpPr>
        <p:spPr>
          <a:xfrm>
            <a:off x="10995209"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5944CC5-E67C-0BD2-BF30-47EA651CDD11}"/>
              </a:ext>
            </a:extLst>
          </p:cNvPr>
          <p:cNvSpPr/>
          <p:nvPr/>
        </p:nvSpPr>
        <p:spPr>
          <a:xfrm>
            <a:off x="11331384" y="606272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25392FB2-3EDD-67B5-E7CD-B390F79FA447}"/>
              </a:ext>
            </a:extLst>
          </p:cNvPr>
          <p:cNvSpPr/>
          <p:nvPr/>
        </p:nvSpPr>
        <p:spPr>
          <a:xfrm>
            <a:off x="976256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87BA2B78-3385-370B-12AD-F433BB5135AF}"/>
              </a:ext>
            </a:extLst>
          </p:cNvPr>
          <p:cNvSpPr/>
          <p:nvPr/>
        </p:nvSpPr>
        <p:spPr>
          <a:xfrm>
            <a:off x="993737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1E701282-A503-F299-36EB-AE906D5D5E78}"/>
              </a:ext>
            </a:extLst>
          </p:cNvPr>
          <p:cNvSpPr/>
          <p:nvPr/>
        </p:nvSpPr>
        <p:spPr>
          <a:xfrm>
            <a:off x="1011218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70734B1-42E8-5FD7-A31F-CF5597521A80}"/>
                  </a:ext>
                </a:extLst>
              </p:cNvPr>
              <p:cNvSpPr txBox="1"/>
              <p:nvPr/>
            </p:nvSpPr>
            <p:spPr>
              <a:xfrm>
                <a:off x="6893859" y="5972953"/>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55" name="TextBox 54">
                <a:extLst>
                  <a:ext uri="{FF2B5EF4-FFF2-40B4-BE49-F238E27FC236}">
                    <a16:creationId xmlns:a16="http://schemas.microsoft.com/office/drawing/2014/main" id="{070734B1-42E8-5FD7-A31F-CF5597521A80}"/>
                  </a:ext>
                </a:extLst>
              </p:cNvPr>
              <p:cNvSpPr txBox="1">
                <a:spLocks noRot="1" noChangeAspect="1" noMove="1" noResize="1" noEditPoints="1" noAdjustHandles="1" noChangeArrowheads="1" noChangeShapeType="1" noTextEdit="1"/>
              </p:cNvSpPr>
              <p:nvPr/>
            </p:nvSpPr>
            <p:spPr>
              <a:xfrm>
                <a:off x="6893859" y="5972953"/>
                <a:ext cx="1299881" cy="369332"/>
              </a:xfrm>
              <a:prstGeom prst="rect">
                <a:avLst/>
              </a:prstGeom>
              <a:blipFill>
                <a:blip r:embed="rId11"/>
                <a:stretch>
                  <a:fillRect t="-10000" r="-2347" b="-26667"/>
                </a:stretch>
              </a:blipFill>
            </p:spPr>
            <p:txBody>
              <a:bodyPr/>
              <a:lstStyle/>
              <a:p>
                <a:r>
                  <a:rPr lang="en-US">
                    <a:noFill/>
                  </a:rPr>
                  <a:t> </a:t>
                </a:r>
              </a:p>
            </p:txBody>
          </p:sp>
        </mc:Fallback>
      </mc:AlternateContent>
      <p:sp>
        <p:nvSpPr>
          <p:cNvPr id="119" name="Oval 118">
            <a:extLst>
              <a:ext uri="{FF2B5EF4-FFF2-40B4-BE49-F238E27FC236}">
                <a16:creationId xmlns:a16="http://schemas.microsoft.com/office/drawing/2014/main" id="{0ED3B8A6-F719-E96D-E7CC-0ED42E172CA6}"/>
              </a:ext>
            </a:extLst>
          </p:cNvPr>
          <p:cNvSpPr/>
          <p:nvPr/>
        </p:nvSpPr>
        <p:spPr>
          <a:xfrm>
            <a:off x="8310284" y="642542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F2DB7AF6-9FA8-D1D9-D4C6-C0EA66A7B832}"/>
              </a:ext>
            </a:extLst>
          </p:cNvPr>
          <p:cNvSpPr/>
          <p:nvPr/>
        </p:nvSpPr>
        <p:spPr>
          <a:xfrm>
            <a:off x="8659908" y="642542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DF1F8F6E-F65B-FC26-72EF-9C339AB1AE38}"/>
              </a:ext>
            </a:extLst>
          </p:cNvPr>
          <p:cNvSpPr/>
          <p:nvPr/>
        </p:nvSpPr>
        <p:spPr>
          <a:xfrm>
            <a:off x="9009532" y="6418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B19BD948-67B2-7555-D4E4-2F2AC22EFC0A}"/>
              </a:ext>
            </a:extLst>
          </p:cNvPr>
          <p:cNvSpPr/>
          <p:nvPr/>
        </p:nvSpPr>
        <p:spPr>
          <a:xfrm>
            <a:off x="9359156" y="6418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6C76F8E1-09E0-7F54-9081-7094C3AA3BF0}"/>
              </a:ext>
            </a:extLst>
          </p:cNvPr>
          <p:cNvSpPr/>
          <p:nvPr/>
        </p:nvSpPr>
        <p:spPr>
          <a:xfrm>
            <a:off x="10304931"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64273431-EC6A-3D60-3D42-E0FDCD13B36F}"/>
              </a:ext>
            </a:extLst>
          </p:cNvPr>
          <p:cNvSpPr/>
          <p:nvPr/>
        </p:nvSpPr>
        <p:spPr>
          <a:xfrm>
            <a:off x="10641106"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2A5EAEF8-B540-255A-5ED4-BF328188BE0E}"/>
              </a:ext>
            </a:extLst>
          </p:cNvPr>
          <p:cNvSpPr/>
          <p:nvPr/>
        </p:nvSpPr>
        <p:spPr>
          <a:xfrm>
            <a:off x="10977281"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FC258941-6F28-662E-B16A-0CAF9BDA2FA3}"/>
              </a:ext>
            </a:extLst>
          </p:cNvPr>
          <p:cNvSpPr/>
          <p:nvPr/>
        </p:nvSpPr>
        <p:spPr>
          <a:xfrm>
            <a:off x="11313456"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A2513778-55BD-95C9-AE4E-5264BA9F61EF}"/>
              </a:ext>
            </a:extLst>
          </p:cNvPr>
          <p:cNvSpPr/>
          <p:nvPr/>
        </p:nvSpPr>
        <p:spPr>
          <a:xfrm>
            <a:off x="974463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175DA318-925F-40C4-72F2-8A85418BF95D}"/>
              </a:ext>
            </a:extLst>
          </p:cNvPr>
          <p:cNvSpPr/>
          <p:nvPr/>
        </p:nvSpPr>
        <p:spPr>
          <a:xfrm>
            <a:off x="991944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AD8D87A9-4B7E-9714-3EB1-30E1A3F97EB4}"/>
              </a:ext>
            </a:extLst>
          </p:cNvPr>
          <p:cNvSpPr/>
          <p:nvPr/>
        </p:nvSpPr>
        <p:spPr>
          <a:xfrm>
            <a:off x="1009425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EFF192D6-E41A-9798-605A-3CAAE54F11EC}"/>
                  </a:ext>
                </a:extLst>
              </p:cNvPr>
              <p:cNvSpPr txBox="1"/>
              <p:nvPr/>
            </p:nvSpPr>
            <p:spPr>
              <a:xfrm>
                <a:off x="6875931" y="6387269"/>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in</a:t>
                </a:r>
                <a:endParaRPr lang="en-US" dirty="0"/>
              </a:p>
            </p:txBody>
          </p:sp>
        </mc:Choice>
        <mc:Fallback xmlns="">
          <p:sp>
            <p:nvSpPr>
              <p:cNvPr id="130" name="TextBox 129">
                <a:extLst>
                  <a:ext uri="{FF2B5EF4-FFF2-40B4-BE49-F238E27FC236}">
                    <a16:creationId xmlns:a16="http://schemas.microsoft.com/office/drawing/2014/main" id="{EFF192D6-E41A-9798-605A-3CAAE54F11EC}"/>
                  </a:ext>
                </a:extLst>
              </p:cNvPr>
              <p:cNvSpPr txBox="1">
                <a:spLocks noRot="1" noChangeAspect="1" noMove="1" noResize="1" noEditPoints="1" noAdjustHandles="1" noChangeArrowheads="1" noChangeShapeType="1" noTextEdit="1"/>
              </p:cNvSpPr>
              <p:nvPr/>
            </p:nvSpPr>
            <p:spPr>
              <a:xfrm>
                <a:off x="6875931" y="6387269"/>
                <a:ext cx="1299881" cy="369332"/>
              </a:xfrm>
              <a:prstGeom prst="rect">
                <a:avLst/>
              </a:prstGeom>
              <a:blipFill>
                <a:blip r:embed="rId12"/>
                <a:stretch>
                  <a:fillRect t="-10000" b="-26667"/>
                </a:stretch>
              </a:blipFill>
            </p:spPr>
            <p:txBody>
              <a:bodyPr/>
              <a:lstStyle/>
              <a:p>
                <a:r>
                  <a:rPr lang="en-US">
                    <a:noFill/>
                  </a:rPr>
                  <a:t> </a:t>
                </a:r>
              </a:p>
            </p:txBody>
          </p:sp>
        </mc:Fallback>
      </mc:AlternateContent>
      <p:pic>
        <p:nvPicPr>
          <p:cNvPr id="132" name="Graphic 131" descr="Checkmark with solid fill">
            <a:extLst>
              <a:ext uri="{FF2B5EF4-FFF2-40B4-BE49-F238E27FC236}">
                <a16:creationId xmlns:a16="http://schemas.microsoft.com/office/drawing/2014/main" id="{DB275CEF-B4B8-B395-D6C7-6D538DA9E2D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7575" y="155697"/>
            <a:ext cx="632724" cy="632724"/>
          </a:xfrm>
          <a:prstGeom prst="rect">
            <a:avLst/>
          </a:prstGeom>
        </p:spPr>
      </p:pic>
    </p:spTree>
    <p:extLst>
      <p:ext uri="{BB962C8B-B14F-4D97-AF65-F5344CB8AC3E}">
        <p14:creationId xmlns:p14="http://schemas.microsoft.com/office/powerpoint/2010/main" val="9046665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987E4-575D-97D1-76EF-0E02388D611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FC50B87-95C0-B1BE-F48C-9463B2A2928B}"/>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4778D3E2-91B5-A9D4-B337-891053C30561}"/>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4E173484-A15B-65B3-4E47-0D27DEAB285F}"/>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2: BREAK PROFILES INTO GROUPS</a:t>
            </a:r>
          </a:p>
        </p:txBody>
      </p:sp>
      <p:sp>
        <p:nvSpPr>
          <p:cNvPr id="5" name="Oval 4">
            <a:extLst>
              <a:ext uri="{FF2B5EF4-FFF2-40B4-BE49-F238E27FC236}">
                <a16:creationId xmlns:a16="http://schemas.microsoft.com/office/drawing/2014/main" id="{A484847F-CE31-1C7E-E843-E1728990F344}"/>
              </a:ext>
            </a:extLst>
          </p:cNvPr>
          <p:cNvSpPr/>
          <p:nvPr/>
        </p:nvSpPr>
        <p:spPr>
          <a:xfrm>
            <a:off x="8453718"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E9C8449-6A7B-2E62-0312-F2570D918A0B}"/>
              </a:ext>
            </a:extLst>
          </p:cNvPr>
          <p:cNvSpPr/>
          <p:nvPr/>
        </p:nvSpPr>
        <p:spPr>
          <a:xfrm>
            <a:off x="8803342"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A9CA04C-3FA5-B147-DFDB-A8122FCE3FC0}"/>
              </a:ext>
            </a:extLst>
          </p:cNvPr>
          <p:cNvSpPr/>
          <p:nvPr/>
        </p:nvSpPr>
        <p:spPr>
          <a:xfrm>
            <a:off x="9152966"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56EC6BB-8B18-8C21-5E72-09229BB15816}"/>
              </a:ext>
            </a:extLst>
          </p:cNvPr>
          <p:cNvSpPr/>
          <p:nvPr/>
        </p:nvSpPr>
        <p:spPr>
          <a:xfrm>
            <a:off x="95025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B797513-2B6A-C440-8881-78DB5D547500}"/>
              </a:ext>
            </a:extLst>
          </p:cNvPr>
          <p:cNvSpPr/>
          <p:nvPr/>
        </p:nvSpPr>
        <p:spPr>
          <a:xfrm>
            <a:off x="1044836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5ED8D4A-1BD6-701F-7489-1937E5DE1193}"/>
              </a:ext>
            </a:extLst>
          </p:cNvPr>
          <p:cNvSpPr/>
          <p:nvPr/>
        </p:nvSpPr>
        <p:spPr>
          <a:xfrm>
            <a:off x="1078454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E5BDD7B-0EF9-D527-3A8D-DAEEBCC5B094}"/>
              </a:ext>
            </a:extLst>
          </p:cNvPr>
          <p:cNvSpPr/>
          <p:nvPr/>
        </p:nvSpPr>
        <p:spPr>
          <a:xfrm>
            <a:off x="1112071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2CE2B97-0AA9-043D-65C1-30CD0A159BD0}"/>
              </a:ext>
            </a:extLst>
          </p:cNvPr>
          <p:cNvSpPr/>
          <p:nvPr/>
        </p:nvSpPr>
        <p:spPr>
          <a:xfrm>
            <a:off x="114568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D57C9D6-B24B-828D-33BE-31120A8A1514}"/>
              </a:ext>
            </a:extLst>
          </p:cNvPr>
          <p:cNvSpPr/>
          <p:nvPr/>
        </p:nvSpPr>
        <p:spPr>
          <a:xfrm>
            <a:off x="988807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562C71F-425A-BE9A-E843-B661D06401A2}"/>
              </a:ext>
            </a:extLst>
          </p:cNvPr>
          <p:cNvSpPr/>
          <p:nvPr/>
        </p:nvSpPr>
        <p:spPr>
          <a:xfrm>
            <a:off x="1006288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0C758E9-D352-E0A0-6370-3AB354F6CEE7}"/>
              </a:ext>
            </a:extLst>
          </p:cNvPr>
          <p:cNvSpPr/>
          <p:nvPr/>
        </p:nvSpPr>
        <p:spPr>
          <a:xfrm>
            <a:off x="1023769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DC3B7E-2855-0A57-5577-F2D33D7366DC}"/>
                  </a:ext>
                </a:extLst>
              </p:cNvPr>
              <p:cNvSpPr txBox="1"/>
              <p:nvPr/>
            </p:nvSpPr>
            <p:spPr>
              <a:xfrm>
                <a:off x="7254688" y="750266"/>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out</a:t>
                </a:r>
                <a:endParaRPr lang="en-US" dirty="0"/>
              </a:p>
            </p:txBody>
          </p:sp>
        </mc:Choice>
        <mc:Fallback xmlns="">
          <p:sp>
            <p:nvSpPr>
              <p:cNvPr id="16" name="TextBox 15">
                <a:extLst>
                  <a:ext uri="{FF2B5EF4-FFF2-40B4-BE49-F238E27FC236}">
                    <a16:creationId xmlns:a16="http://schemas.microsoft.com/office/drawing/2014/main" id="{04DC3B7E-2855-0A57-5577-F2D33D7366DC}"/>
                  </a:ext>
                </a:extLst>
              </p:cNvPr>
              <p:cNvSpPr txBox="1">
                <a:spLocks noRot="1" noChangeAspect="1" noMove="1" noResize="1" noEditPoints="1" noAdjustHandles="1" noChangeArrowheads="1" noChangeShapeType="1" noTextEdit="1"/>
              </p:cNvSpPr>
              <p:nvPr/>
            </p:nvSpPr>
            <p:spPr>
              <a:xfrm>
                <a:off x="7254688" y="750266"/>
                <a:ext cx="1064558" cy="369332"/>
              </a:xfrm>
              <a:prstGeom prst="rect">
                <a:avLst/>
              </a:prstGeom>
              <a:blipFill>
                <a:blip r:embed="rId3"/>
                <a:stretch>
                  <a:fillRect t="-8197" r="-1143" b="-2459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919032FE-C836-B9C2-DBE3-2C664EC9480D}"/>
              </a:ext>
            </a:extLst>
          </p:cNvPr>
          <p:cNvSpPr/>
          <p:nvPr/>
        </p:nvSpPr>
        <p:spPr>
          <a:xfrm>
            <a:off x="8453718" y="119980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54EB2D7-1503-E26F-43A1-BF799C9F87D2}"/>
              </a:ext>
            </a:extLst>
          </p:cNvPr>
          <p:cNvSpPr/>
          <p:nvPr/>
        </p:nvSpPr>
        <p:spPr>
          <a:xfrm>
            <a:off x="8803342"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14EA513-89DB-28D7-7EEE-4D2EB95E5C45}"/>
              </a:ext>
            </a:extLst>
          </p:cNvPr>
          <p:cNvSpPr/>
          <p:nvPr/>
        </p:nvSpPr>
        <p:spPr>
          <a:xfrm>
            <a:off x="9152966"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3CA9B5E-FAC8-A734-B30F-6848BF55539C}"/>
              </a:ext>
            </a:extLst>
          </p:cNvPr>
          <p:cNvSpPr/>
          <p:nvPr/>
        </p:nvSpPr>
        <p:spPr>
          <a:xfrm>
            <a:off x="95025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8B08665-11A8-9A2D-6668-5566B547E7E3}"/>
              </a:ext>
            </a:extLst>
          </p:cNvPr>
          <p:cNvSpPr/>
          <p:nvPr/>
        </p:nvSpPr>
        <p:spPr>
          <a:xfrm>
            <a:off x="1044836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8305193-D9C5-B9A3-9111-3BC423398543}"/>
              </a:ext>
            </a:extLst>
          </p:cNvPr>
          <p:cNvSpPr/>
          <p:nvPr/>
        </p:nvSpPr>
        <p:spPr>
          <a:xfrm>
            <a:off x="1078454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AAD8DAF-F11E-8461-705A-6872791E9A30}"/>
              </a:ext>
            </a:extLst>
          </p:cNvPr>
          <p:cNvSpPr/>
          <p:nvPr/>
        </p:nvSpPr>
        <p:spPr>
          <a:xfrm>
            <a:off x="1112071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D32F923-CEAC-54B9-71CE-870EB49F0C70}"/>
              </a:ext>
            </a:extLst>
          </p:cNvPr>
          <p:cNvSpPr/>
          <p:nvPr/>
        </p:nvSpPr>
        <p:spPr>
          <a:xfrm>
            <a:off x="114568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EB1824A-983D-DF3A-7E51-BE0187204F55}"/>
              </a:ext>
            </a:extLst>
          </p:cNvPr>
          <p:cNvSpPr/>
          <p:nvPr/>
        </p:nvSpPr>
        <p:spPr>
          <a:xfrm>
            <a:off x="988807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BF9BDD4-1C74-D7C7-03F3-A59C368E0B7F}"/>
              </a:ext>
            </a:extLst>
          </p:cNvPr>
          <p:cNvSpPr/>
          <p:nvPr/>
        </p:nvSpPr>
        <p:spPr>
          <a:xfrm>
            <a:off x="1006288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1018507-ED93-9F7E-83AD-175C95E02615}"/>
              </a:ext>
            </a:extLst>
          </p:cNvPr>
          <p:cNvSpPr/>
          <p:nvPr/>
        </p:nvSpPr>
        <p:spPr>
          <a:xfrm>
            <a:off x="1023769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C98BDCF-13A3-F86B-17A7-A827EBC3621B}"/>
                  </a:ext>
                </a:extLst>
              </p:cNvPr>
              <p:cNvSpPr txBox="1"/>
              <p:nvPr/>
            </p:nvSpPr>
            <p:spPr>
              <a:xfrm>
                <a:off x="7254688" y="116165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1</m:t>
                    </m:r>
                  </m:oMath>
                </a14:m>
                <a:r>
                  <a:rPr lang="en-US" dirty="0"/>
                  <a:t> does </a:t>
                </a:r>
                <a:r>
                  <a:rPr lang="en-US" i="1" dirty="0"/>
                  <a:t>in</a:t>
                </a:r>
                <a:endParaRPr lang="en-US" dirty="0"/>
              </a:p>
            </p:txBody>
          </p:sp>
        </mc:Choice>
        <mc:Fallback xmlns="">
          <p:sp>
            <p:nvSpPr>
              <p:cNvPr id="28" name="TextBox 27">
                <a:extLst>
                  <a:ext uri="{FF2B5EF4-FFF2-40B4-BE49-F238E27FC236}">
                    <a16:creationId xmlns:a16="http://schemas.microsoft.com/office/drawing/2014/main" id="{BC98BDCF-13A3-F86B-17A7-A827EBC3621B}"/>
                  </a:ext>
                </a:extLst>
              </p:cNvPr>
              <p:cNvSpPr txBox="1">
                <a:spLocks noRot="1" noChangeAspect="1" noMove="1" noResize="1" noEditPoints="1" noAdjustHandles="1" noChangeArrowheads="1" noChangeShapeType="1" noTextEdit="1"/>
              </p:cNvSpPr>
              <p:nvPr/>
            </p:nvSpPr>
            <p:spPr>
              <a:xfrm>
                <a:off x="7254688" y="1161652"/>
                <a:ext cx="1064558" cy="369332"/>
              </a:xfrm>
              <a:prstGeom prst="rect">
                <a:avLst/>
              </a:prstGeom>
              <a:blipFill>
                <a:blip r:embed="rId4"/>
                <a:stretch>
                  <a:fillRect t="-10000" r="-2286" b="-26667"/>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1010A729-0DE4-BBA1-E2FF-C610DEDFB5B6}"/>
              </a:ext>
            </a:extLst>
          </p:cNvPr>
          <p:cNvSpPr/>
          <p:nvPr/>
        </p:nvSpPr>
        <p:spPr>
          <a:xfrm>
            <a:off x="8453718"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A4FAAE9-DEBF-668E-EA30-2A7DEAE53FC9}"/>
              </a:ext>
            </a:extLst>
          </p:cNvPr>
          <p:cNvSpPr/>
          <p:nvPr/>
        </p:nvSpPr>
        <p:spPr>
          <a:xfrm>
            <a:off x="8803342"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6A84A0B-76E1-87F6-EB48-EE9BEEE19639}"/>
              </a:ext>
            </a:extLst>
          </p:cNvPr>
          <p:cNvSpPr/>
          <p:nvPr/>
        </p:nvSpPr>
        <p:spPr>
          <a:xfrm>
            <a:off x="9152966"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42D06BC-E4DE-6975-6ED7-E41BDE63D294}"/>
              </a:ext>
            </a:extLst>
          </p:cNvPr>
          <p:cNvSpPr/>
          <p:nvPr/>
        </p:nvSpPr>
        <p:spPr>
          <a:xfrm>
            <a:off x="95025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787C085-7204-503C-8C14-D3296FF3ED3F}"/>
              </a:ext>
            </a:extLst>
          </p:cNvPr>
          <p:cNvSpPr/>
          <p:nvPr/>
        </p:nvSpPr>
        <p:spPr>
          <a:xfrm>
            <a:off x="1044836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ABCD214-90F1-526E-EBAB-8B62BF513DDD}"/>
              </a:ext>
            </a:extLst>
          </p:cNvPr>
          <p:cNvSpPr/>
          <p:nvPr/>
        </p:nvSpPr>
        <p:spPr>
          <a:xfrm>
            <a:off x="1078454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E0999F10-F332-F965-9A25-6729ED92701D}"/>
              </a:ext>
            </a:extLst>
          </p:cNvPr>
          <p:cNvSpPr/>
          <p:nvPr/>
        </p:nvSpPr>
        <p:spPr>
          <a:xfrm>
            <a:off x="1112071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8826374-2D27-C3D6-6817-B9F54003872B}"/>
              </a:ext>
            </a:extLst>
          </p:cNvPr>
          <p:cNvSpPr/>
          <p:nvPr/>
        </p:nvSpPr>
        <p:spPr>
          <a:xfrm>
            <a:off x="114568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7469D42-D997-261A-5522-7FDAC0DCFCEF}"/>
              </a:ext>
            </a:extLst>
          </p:cNvPr>
          <p:cNvSpPr/>
          <p:nvPr/>
        </p:nvSpPr>
        <p:spPr>
          <a:xfrm>
            <a:off x="988807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4D80816-F8E5-B8D3-6599-ED28A6E133C2}"/>
              </a:ext>
            </a:extLst>
          </p:cNvPr>
          <p:cNvSpPr/>
          <p:nvPr/>
        </p:nvSpPr>
        <p:spPr>
          <a:xfrm>
            <a:off x="1006288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CADFBF0-3943-4CC7-A929-1408B9504746}"/>
              </a:ext>
            </a:extLst>
          </p:cNvPr>
          <p:cNvSpPr/>
          <p:nvPr/>
        </p:nvSpPr>
        <p:spPr>
          <a:xfrm>
            <a:off x="1023769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A27BF2B-3707-EDFB-94DB-6E1DD4564BE4}"/>
                  </a:ext>
                </a:extLst>
              </p:cNvPr>
              <p:cNvSpPr txBox="1"/>
              <p:nvPr/>
            </p:nvSpPr>
            <p:spPr>
              <a:xfrm>
                <a:off x="7254688" y="161119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40" name="TextBox 39">
                <a:extLst>
                  <a:ext uri="{FF2B5EF4-FFF2-40B4-BE49-F238E27FC236}">
                    <a16:creationId xmlns:a16="http://schemas.microsoft.com/office/drawing/2014/main" id="{AA27BF2B-3707-EDFB-94DB-6E1DD4564BE4}"/>
                  </a:ext>
                </a:extLst>
              </p:cNvPr>
              <p:cNvSpPr txBox="1">
                <a:spLocks noRot="1" noChangeAspect="1" noMove="1" noResize="1" noEditPoints="1" noAdjustHandles="1" noChangeArrowheads="1" noChangeShapeType="1" noTextEdit="1"/>
              </p:cNvSpPr>
              <p:nvPr/>
            </p:nvSpPr>
            <p:spPr>
              <a:xfrm>
                <a:off x="7254688" y="1611192"/>
                <a:ext cx="1064558" cy="369332"/>
              </a:xfrm>
              <a:prstGeom prst="rect">
                <a:avLst/>
              </a:prstGeom>
              <a:blipFill>
                <a:blip r:embed="rId5"/>
                <a:stretch>
                  <a:fillRect t="-8197" b="-24590"/>
                </a:stretch>
              </a:blipFill>
            </p:spPr>
            <p:txBody>
              <a:bodyPr/>
              <a:lstStyle/>
              <a:p>
                <a:r>
                  <a:rPr lang="en-US">
                    <a:noFill/>
                  </a:rPr>
                  <a:t> </a:t>
                </a:r>
              </a:p>
            </p:txBody>
          </p:sp>
        </mc:Fallback>
      </mc:AlternateContent>
      <p:sp>
        <p:nvSpPr>
          <p:cNvPr id="41" name="Oval 40">
            <a:extLst>
              <a:ext uri="{FF2B5EF4-FFF2-40B4-BE49-F238E27FC236}">
                <a16:creationId xmlns:a16="http://schemas.microsoft.com/office/drawing/2014/main" id="{AC536B1D-8E9E-A8BC-F7AC-B4B64C56A550}"/>
              </a:ext>
            </a:extLst>
          </p:cNvPr>
          <p:cNvSpPr/>
          <p:nvPr/>
        </p:nvSpPr>
        <p:spPr>
          <a:xfrm>
            <a:off x="9152966" y="225175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ABB8977-837A-4E3C-18AD-CDD09DB93A10}"/>
              </a:ext>
            </a:extLst>
          </p:cNvPr>
          <p:cNvSpPr/>
          <p:nvPr/>
        </p:nvSpPr>
        <p:spPr>
          <a:xfrm>
            <a:off x="9152966" y="25296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03CF9EB-9A53-3896-5385-92F06E2E4E85}"/>
              </a:ext>
            </a:extLst>
          </p:cNvPr>
          <p:cNvSpPr/>
          <p:nvPr/>
        </p:nvSpPr>
        <p:spPr>
          <a:xfrm>
            <a:off x="9139520" y="280756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AAFEE388-9D50-358B-AB21-FE53602BD65C}"/>
              </a:ext>
            </a:extLst>
          </p:cNvPr>
          <p:cNvSpPr/>
          <p:nvPr/>
        </p:nvSpPr>
        <p:spPr>
          <a:xfrm>
            <a:off x="8453718"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E805FF5-0D4E-9EDD-C017-3EB1A71872D9}"/>
              </a:ext>
            </a:extLst>
          </p:cNvPr>
          <p:cNvSpPr/>
          <p:nvPr/>
        </p:nvSpPr>
        <p:spPr>
          <a:xfrm>
            <a:off x="8803342"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CF414D18-7C31-17A4-D432-8571D716B149}"/>
              </a:ext>
            </a:extLst>
          </p:cNvPr>
          <p:cNvSpPr/>
          <p:nvPr/>
        </p:nvSpPr>
        <p:spPr>
          <a:xfrm>
            <a:off x="9152966"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C3DEE981-19D8-ECD1-0C3B-6EFD3CD2548E}"/>
              </a:ext>
            </a:extLst>
          </p:cNvPr>
          <p:cNvSpPr/>
          <p:nvPr/>
        </p:nvSpPr>
        <p:spPr>
          <a:xfrm>
            <a:off x="9502590"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0797496-1B24-8901-8565-C3320E2C682D}"/>
              </a:ext>
            </a:extLst>
          </p:cNvPr>
          <p:cNvSpPr/>
          <p:nvPr/>
        </p:nvSpPr>
        <p:spPr>
          <a:xfrm>
            <a:off x="10448365"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57BA5AD3-3D8F-FCDC-730B-A37112B8DE04}"/>
              </a:ext>
            </a:extLst>
          </p:cNvPr>
          <p:cNvSpPr/>
          <p:nvPr/>
        </p:nvSpPr>
        <p:spPr>
          <a:xfrm>
            <a:off x="10784540"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720D196F-D05E-FBA5-5E70-282F47CDFE15}"/>
              </a:ext>
            </a:extLst>
          </p:cNvPr>
          <p:cNvSpPr/>
          <p:nvPr/>
        </p:nvSpPr>
        <p:spPr>
          <a:xfrm>
            <a:off x="11120715"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66D32CB2-0551-0757-2E6B-5A59DBDA44A6}"/>
              </a:ext>
            </a:extLst>
          </p:cNvPr>
          <p:cNvSpPr/>
          <p:nvPr/>
        </p:nvSpPr>
        <p:spPr>
          <a:xfrm>
            <a:off x="11456890"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50C7E0CA-1DB3-23D4-8384-6E57F485E9D7}"/>
              </a:ext>
            </a:extLst>
          </p:cNvPr>
          <p:cNvSpPr/>
          <p:nvPr/>
        </p:nvSpPr>
        <p:spPr>
          <a:xfrm>
            <a:off x="988807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7A0D2351-ACB8-045F-34C0-48DC6A62B51A}"/>
              </a:ext>
            </a:extLst>
          </p:cNvPr>
          <p:cNvSpPr/>
          <p:nvPr/>
        </p:nvSpPr>
        <p:spPr>
          <a:xfrm>
            <a:off x="1006288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303052AD-B2E7-DF00-EB98-809D02E74B9A}"/>
              </a:ext>
            </a:extLst>
          </p:cNvPr>
          <p:cNvSpPr/>
          <p:nvPr/>
        </p:nvSpPr>
        <p:spPr>
          <a:xfrm>
            <a:off x="1023769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0B8B2EB-D49B-9DF1-237A-6DEA4B5423D5}"/>
                  </a:ext>
                </a:extLst>
              </p:cNvPr>
              <p:cNvSpPr txBox="1"/>
              <p:nvPr/>
            </p:nvSpPr>
            <p:spPr>
              <a:xfrm>
                <a:off x="7019365" y="3055293"/>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67" name="TextBox 66">
                <a:extLst>
                  <a:ext uri="{FF2B5EF4-FFF2-40B4-BE49-F238E27FC236}">
                    <a16:creationId xmlns:a16="http://schemas.microsoft.com/office/drawing/2014/main" id="{80B8B2EB-D49B-9DF1-237A-6DEA4B5423D5}"/>
                  </a:ext>
                </a:extLst>
              </p:cNvPr>
              <p:cNvSpPr txBox="1">
                <a:spLocks noRot="1" noChangeAspect="1" noMove="1" noResize="1" noEditPoints="1" noAdjustHandles="1" noChangeArrowheads="1" noChangeShapeType="1" noTextEdit="1"/>
              </p:cNvSpPr>
              <p:nvPr/>
            </p:nvSpPr>
            <p:spPr>
              <a:xfrm>
                <a:off x="7019365" y="3055293"/>
                <a:ext cx="1299881" cy="369332"/>
              </a:xfrm>
              <a:prstGeom prst="rect">
                <a:avLst/>
              </a:prstGeom>
              <a:blipFill>
                <a:blip r:embed="rId6"/>
                <a:stretch>
                  <a:fillRect t="-8197" b="-24590"/>
                </a:stretch>
              </a:blipFill>
            </p:spPr>
            <p:txBody>
              <a:bodyPr/>
              <a:lstStyle/>
              <a:p>
                <a:r>
                  <a:rPr lang="en-US">
                    <a:noFill/>
                  </a:rPr>
                  <a:t> </a:t>
                </a:r>
              </a:p>
            </p:txBody>
          </p:sp>
        </mc:Fallback>
      </mc:AlternateContent>
      <p:sp>
        <p:nvSpPr>
          <p:cNvPr id="68" name="Oval 67">
            <a:extLst>
              <a:ext uri="{FF2B5EF4-FFF2-40B4-BE49-F238E27FC236}">
                <a16:creationId xmlns:a16="http://schemas.microsoft.com/office/drawing/2014/main" id="{28BC516A-A32A-439F-565B-FBB8734692D8}"/>
              </a:ext>
            </a:extLst>
          </p:cNvPr>
          <p:cNvSpPr/>
          <p:nvPr/>
        </p:nvSpPr>
        <p:spPr>
          <a:xfrm>
            <a:off x="8453718"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CE5AEE7-2BF5-1F95-7E9A-5BB97FC3B7EB}"/>
              </a:ext>
            </a:extLst>
          </p:cNvPr>
          <p:cNvSpPr/>
          <p:nvPr/>
        </p:nvSpPr>
        <p:spPr>
          <a:xfrm>
            <a:off x="8803342"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0AECBA60-49D6-4529-1F41-7B047436E1A9}"/>
              </a:ext>
            </a:extLst>
          </p:cNvPr>
          <p:cNvSpPr/>
          <p:nvPr/>
        </p:nvSpPr>
        <p:spPr>
          <a:xfrm>
            <a:off x="9152966"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E9D38036-C763-C992-E13B-979BB26394DE}"/>
              </a:ext>
            </a:extLst>
          </p:cNvPr>
          <p:cNvSpPr/>
          <p:nvPr/>
        </p:nvSpPr>
        <p:spPr>
          <a:xfrm>
            <a:off x="9502590"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2AF93377-40A5-F4F6-69EF-B5EC24212CE5}"/>
              </a:ext>
            </a:extLst>
          </p:cNvPr>
          <p:cNvSpPr/>
          <p:nvPr/>
        </p:nvSpPr>
        <p:spPr>
          <a:xfrm>
            <a:off x="10448365"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19F48A9-9822-41DE-7A6D-6E924BBA4DB4}"/>
              </a:ext>
            </a:extLst>
          </p:cNvPr>
          <p:cNvSpPr/>
          <p:nvPr/>
        </p:nvSpPr>
        <p:spPr>
          <a:xfrm>
            <a:off x="10784540"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410BCDB6-9C09-06BF-FF51-7D14BD286B63}"/>
              </a:ext>
            </a:extLst>
          </p:cNvPr>
          <p:cNvSpPr/>
          <p:nvPr/>
        </p:nvSpPr>
        <p:spPr>
          <a:xfrm>
            <a:off x="11120715"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A11E4379-5AB2-CDBC-00A8-11DDCCD76B7C}"/>
              </a:ext>
            </a:extLst>
          </p:cNvPr>
          <p:cNvSpPr/>
          <p:nvPr/>
        </p:nvSpPr>
        <p:spPr>
          <a:xfrm>
            <a:off x="11456890"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8A85545B-8CCA-C78C-328B-8BFFF4C14A5C}"/>
              </a:ext>
            </a:extLst>
          </p:cNvPr>
          <p:cNvSpPr/>
          <p:nvPr/>
        </p:nvSpPr>
        <p:spPr>
          <a:xfrm>
            <a:off x="988807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C854994C-66C2-64C5-01F7-0F2750C60D73}"/>
              </a:ext>
            </a:extLst>
          </p:cNvPr>
          <p:cNvSpPr/>
          <p:nvPr/>
        </p:nvSpPr>
        <p:spPr>
          <a:xfrm>
            <a:off x="1006288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C34BF4B2-26B3-0B0F-8525-739AB4140368}"/>
              </a:ext>
            </a:extLst>
          </p:cNvPr>
          <p:cNvSpPr/>
          <p:nvPr/>
        </p:nvSpPr>
        <p:spPr>
          <a:xfrm>
            <a:off x="1023769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D34702D5-3D6C-FBFB-C7E5-7B02E502E732}"/>
                  </a:ext>
                </a:extLst>
              </p:cNvPr>
              <p:cNvSpPr txBox="1"/>
              <p:nvPr/>
            </p:nvSpPr>
            <p:spPr>
              <a:xfrm>
                <a:off x="7019365" y="3519624"/>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79" name="TextBox 78">
                <a:extLst>
                  <a:ext uri="{FF2B5EF4-FFF2-40B4-BE49-F238E27FC236}">
                    <a16:creationId xmlns:a16="http://schemas.microsoft.com/office/drawing/2014/main" id="{D34702D5-3D6C-FBFB-C7E5-7B02E502E732}"/>
                  </a:ext>
                </a:extLst>
              </p:cNvPr>
              <p:cNvSpPr txBox="1">
                <a:spLocks noRot="1" noChangeAspect="1" noMove="1" noResize="1" noEditPoints="1" noAdjustHandles="1" noChangeArrowheads="1" noChangeShapeType="1" noTextEdit="1"/>
              </p:cNvSpPr>
              <p:nvPr/>
            </p:nvSpPr>
            <p:spPr>
              <a:xfrm>
                <a:off x="7019365" y="3519624"/>
                <a:ext cx="1299881" cy="369332"/>
              </a:xfrm>
              <a:prstGeom prst="rect">
                <a:avLst/>
              </a:prstGeom>
              <a:blipFill>
                <a:blip r:embed="rId7"/>
                <a:stretch>
                  <a:fillRect t="-8197" b="-24590"/>
                </a:stretch>
              </a:blipFill>
            </p:spPr>
            <p:txBody>
              <a:bodyPr/>
              <a:lstStyle/>
              <a:p>
                <a:r>
                  <a:rPr lang="en-US">
                    <a:noFill/>
                  </a:rPr>
                  <a:t> </a:t>
                </a:r>
              </a:p>
            </p:txBody>
          </p:sp>
        </mc:Fallback>
      </mc:AlternateContent>
      <p:sp>
        <p:nvSpPr>
          <p:cNvPr id="80" name="Oval 79">
            <a:extLst>
              <a:ext uri="{FF2B5EF4-FFF2-40B4-BE49-F238E27FC236}">
                <a16:creationId xmlns:a16="http://schemas.microsoft.com/office/drawing/2014/main" id="{AFCF8719-2396-A324-A744-314A0D202696}"/>
              </a:ext>
            </a:extLst>
          </p:cNvPr>
          <p:cNvSpPr/>
          <p:nvPr/>
        </p:nvSpPr>
        <p:spPr>
          <a:xfrm>
            <a:off x="8453718"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97C23399-5FF9-63C6-F924-7F139C13BB9A}"/>
              </a:ext>
            </a:extLst>
          </p:cNvPr>
          <p:cNvSpPr/>
          <p:nvPr/>
        </p:nvSpPr>
        <p:spPr>
          <a:xfrm>
            <a:off x="8803342"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891FB097-CC5A-BA8C-B553-8C46584FBCB1}"/>
              </a:ext>
            </a:extLst>
          </p:cNvPr>
          <p:cNvSpPr/>
          <p:nvPr/>
        </p:nvSpPr>
        <p:spPr>
          <a:xfrm>
            <a:off x="9152966"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91B5BC93-C716-12A6-3EB6-3A15F1F2CEE6}"/>
              </a:ext>
            </a:extLst>
          </p:cNvPr>
          <p:cNvSpPr/>
          <p:nvPr/>
        </p:nvSpPr>
        <p:spPr>
          <a:xfrm>
            <a:off x="9502590"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DFC550C7-CCB2-DC3D-3703-EB2B86C9E549}"/>
              </a:ext>
            </a:extLst>
          </p:cNvPr>
          <p:cNvSpPr/>
          <p:nvPr/>
        </p:nvSpPr>
        <p:spPr>
          <a:xfrm>
            <a:off x="10448365"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EB6D3B9-1B2A-2374-A57F-3DEA8507543C}"/>
              </a:ext>
            </a:extLst>
          </p:cNvPr>
          <p:cNvSpPr/>
          <p:nvPr/>
        </p:nvSpPr>
        <p:spPr>
          <a:xfrm>
            <a:off x="10784540"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DAF6CA1E-FED9-D993-3C14-26BCFB7841E2}"/>
              </a:ext>
            </a:extLst>
          </p:cNvPr>
          <p:cNvSpPr/>
          <p:nvPr/>
        </p:nvSpPr>
        <p:spPr>
          <a:xfrm>
            <a:off x="11120715"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ECD798B2-0395-52BA-5161-8508EAFD4811}"/>
              </a:ext>
            </a:extLst>
          </p:cNvPr>
          <p:cNvSpPr/>
          <p:nvPr/>
        </p:nvSpPr>
        <p:spPr>
          <a:xfrm>
            <a:off x="11456890"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317D601-4891-AE3C-DC20-258A8A36DB1B}"/>
              </a:ext>
            </a:extLst>
          </p:cNvPr>
          <p:cNvSpPr/>
          <p:nvPr/>
        </p:nvSpPr>
        <p:spPr>
          <a:xfrm>
            <a:off x="988807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ACFA4C47-5AD3-1955-3871-63792BA93723}"/>
              </a:ext>
            </a:extLst>
          </p:cNvPr>
          <p:cNvSpPr/>
          <p:nvPr/>
        </p:nvSpPr>
        <p:spPr>
          <a:xfrm>
            <a:off x="1006288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2CEF9C91-E565-2D61-1653-0FDFE472104A}"/>
              </a:ext>
            </a:extLst>
          </p:cNvPr>
          <p:cNvSpPr/>
          <p:nvPr/>
        </p:nvSpPr>
        <p:spPr>
          <a:xfrm>
            <a:off x="1023769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FB9466CC-2876-DA79-1450-90077090C76F}"/>
                  </a:ext>
                </a:extLst>
              </p:cNvPr>
              <p:cNvSpPr txBox="1"/>
              <p:nvPr/>
            </p:nvSpPr>
            <p:spPr>
              <a:xfrm>
                <a:off x="7019365" y="3983955"/>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oMath>
                </a14:m>
                <a:r>
                  <a:rPr lang="en-US" dirty="0"/>
                  <a:t> do </a:t>
                </a:r>
                <a:r>
                  <a:rPr lang="en-US" i="1" dirty="0"/>
                  <a:t>in</a:t>
                </a:r>
                <a:endParaRPr lang="en-US" dirty="0"/>
              </a:p>
            </p:txBody>
          </p:sp>
        </mc:Choice>
        <mc:Fallback xmlns="">
          <p:sp>
            <p:nvSpPr>
              <p:cNvPr id="91" name="TextBox 90">
                <a:extLst>
                  <a:ext uri="{FF2B5EF4-FFF2-40B4-BE49-F238E27FC236}">
                    <a16:creationId xmlns:a16="http://schemas.microsoft.com/office/drawing/2014/main" id="{FB9466CC-2876-DA79-1450-90077090C76F}"/>
                  </a:ext>
                </a:extLst>
              </p:cNvPr>
              <p:cNvSpPr txBox="1">
                <a:spLocks noRot="1" noChangeAspect="1" noMove="1" noResize="1" noEditPoints="1" noAdjustHandles="1" noChangeArrowheads="1" noChangeShapeType="1" noTextEdit="1"/>
              </p:cNvSpPr>
              <p:nvPr/>
            </p:nvSpPr>
            <p:spPr>
              <a:xfrm>
                <a:off x="7019365" y="3983955"/>
                <a:ext cx="1299881" cy="369332"/>
              </a:xfrm>
              <a:prstGeom prst="rect">
                <a:avLst/>
              </a:prstGeom>
              <a:blipFill>
                <a:blip r:embed="rId8"/>
                <a:stretch>
                  <a:fillRect t="-10000" b="-26667"/>
                </a:stretch>
              </a:blipFill>
            </p:spPr>
            <p:txBody>
              <a:bodyPr/>
              <a:lstStyle/>
              <a:p>
                <a:r>
                  <a:rPr lang="en-US">
                    <a:noFill/>
                  </a:rPr>
                  <a:t> </a:t>
                </a:r>
              </a:p>
            </p:txBody>
          </p:sp>
        </mc:Fallback>
      </mc:AlternateContent>
      <p:sp>
        <p:nvSpPr>
          <p:cNvPr id="92" name="Oval 91">
            <a:extLst>
              <a:ext uri="{FF2B5EF4-FFF2-40B4-BE49-F238E27FC236}">
                <a16:creationId xmlns:a16="http://schemas.microsoft.com/office/drawing/2014/main" id="{655B34E9-5239-77E0-59CF-DCFB7EC785CD}"/>
              </a:ext>
            </a:extLst>
          </p:cNvPr>
          <p:cNvSpPr/>
          <p:nvPr/>
        </p:nvSpPr>
        <p:spPr>
          <a:xfrm>
            <a:off x="8453718"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0A87DBE3-2DFA-A3E4-A6E2-7D671F5227B7}"/>
              </a:ext>
            </a:extLst>
          </p:cNvPr>
          <p:cNvSpPr/>
          <p:nvPr/>
        </p:nvSpPr>
        <p:spPr>
          <a:xfrm>
            <a:off x="8803342"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F8AC648-9FF8-1F10-2F4C-D160FFACAAB9}"/>
              </a:ext>
            </a:extLst>
          </p:cNvPr>
          <p:cNvSpPr/>
          <p:nvPr/>
        </p:nvSpPr>
        <p:spPr>
          <a:xfrm>
            <a:off x="9152966"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1415729D-1283-BEE8-61AE-E47B152306F4}"/>
              </a:ext>
            </a:extLst>
          </p:cNvPr>
          <p:cNvSpPr/>
          <p:nvPr/>
        </p:nvSpPr>
        <p:spPr>
          <a:xfrm>
            <a:off x="9502590"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993D9416-362E-2921-2732-01D79DEB119E}"/>
              </a:ext>
            </a:extLst>
          </p:cNvPr>
          <p:cNvSpPr/>
          <p:nvPr/>
        </p:nvSpPr>
        <p:spPr>
          <a:xfrm>
            <a:off x="10448365"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F2BAD4BF-77D8-FD6F-F80D-22D8BDD7478B}"/>
              </a:ext>
            </a:extLst>
          </p:cNvPr>
          <p:cNvSpPr/>
          <p:nvPr/>
        </p:nvSpPr>
        <p:spPr>
          <a:xfrm>
            <a:off x="10784540"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3C2991F1-8CE1-716B-F261-5457D7390A56}"/>
              </a:ext>
            </a:extLst>
          </p:cNvPr>
          <p:cNvSpPr/>
          <p:nvPr/>
        </p:nvSpPr>
        <p:spPr>
          <a:xfrm>
            <a:off x="11120715"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6E9A21D-2BF5-1348-FB53-986AD3B14D76}"/>
              </a:ext>
            </a:extLst>
          </p:cNvPr>
          <p:cNvSpPr/>
          <p:nvPr/>
        </p:nvSpPr>
        <p:spPr>
          <a:xfrm>
            <a:off x="11456890"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4FCD5A89-F789-082D-36D4-BFC89B7F6835}"/>
              </a:ext>
            </a:extLst>
          </p:cNvPr>
          <p:cNvSpPr/>
          <p:nvPr/>
        </p:nvSpPr>
        <p:spPr>
          <a:xfrm>
            <a:off x="988807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86359251-9A1D-7EDC-23E5-1861251DFAB6}"/>
              </a:ext>
            </a:extLst>
          </p:cNvPr>
          <p:cNvSpPr/>
          <p:nvPr/>
        </p:nvSpPr>
        <p:spPr>
          <a:xfrm>
            <a:off x="1006288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E73BF34E-9684-92D8-E708-0ACFF0FCE13A}"/>
              </a:ext>
            </a:extLst>
          </p:cNvPr>
          <p:cNvSpPr/>
          <p:nvPr/>
        </p:nvSpPr>
        <p:spPr>
          <a:xfrm>
            <a:off x="1023769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0F568984-34ED-2967-AB24-2D48EFC88978}"/>
                  </a:ext>
                </a:extLst>
              </p:cNvPr>
              <p:cNvSpPr txBox="1"/>
              <p:nvPr/>
            </p:nvSpPr>
            <p:spPr>
              <a:xfrm>
                <a:off x="7019365" y="4448286"/>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103" name="TextBox 102">
                <a:extLst>
                  <a:ext uri="{FF2B5EF4-FFF2-40B4-BE49-F238E27FC236}">
                    <a16:creationId xmlns:a16="http://schemas.microsoft.com/office/drawing/2014/main" id="{0F568984-34ED-2967-AB24-2D48EFC88978}"/>
                  </a:ext>
                </a:extLst>
              </p:cNvPr>
              <p:cNvSpPr txBox="1">
                <a:spLocks noRot="1" noChangeAspect="1" noMove="1" noResize="1" noEditPoints="1" noAdjustHandles="1" noChangeArrowheads="1" noChangeShapeType="1" noTextEdit="1"/>
              </p:cNvSpPr>
              <p:nvPr/>
            </p:nvSpPr>
            <p:spPr>
              <a:xfrm>
                <a:off x="7019365" y="4448286"/>
                <a:ext cx="1299881" cy="369332"/>
              </a:xfrm>
              <a:prstGeom prst="rect">
                <a:avLst/>
              </a:prstGeom>
              <a:blipFill>
                <a:blip r:embed="rId9"/>
                <a:stretch>
                  <a:fillRect t="-10000" b="-26667"/>
                </a:stretch>
              </a:blipFill>
            </p:spPr>
            <p:txBody>
              <a:bodyPr/>
              <a:lstStyle/>
              <a:p>
                <a:r>
                  <a:rPr lang="en-US">
                    <a:noFill/>
                  </a:rPr>
                  <a:t> </a:t>
                </a:r>
              </a:p>
            </p:txBody>
          </p:sp>
        </mc:Fallback>
      </mc:AlternateContent>
      <p:sp>
        <p:nvSpPr>
          <p:cNvPr id="104" name="Oval 103">
            <a:extLst>
              <a:ext uri="{FF2B5EF4-FFF2-40B4-BE49-F238E27FC236}">
                <a16:creationId xmlns:a16="http://schemas.microsoft.com/office/drawing/2014/main" id="{FE45ED0E-CDF6-AA44-AD08-836CF6810585}"/>
              </a:ext>
            </a:extLst>
          </p:cNvPr>
          <p:cNvSpPr/>
          <p:nvPr/>
        </p:nvSpPr>
        <p:spPr>
          <a:xfrm>
            <a:off x="8453718" y="489915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4DF2800C-6C65-4864-F3B9-1B901D9A506B}"/>
              </a:ext>
            </a:extLst>
          </p:cNvPr>
          <p:cNvSpPr/>
          <p:nvPr/>
        </p:nvSpPr>
        <p:spPr>
          <a:xfrm>
            <a:off x="8803342" y="489915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AFA71DC3-C11C-FD78-C614-017C03113196}"/>
              </a:ext>
            </a:extLst>
          </p:cNvPr>
          <p:cNvSpPr/>
          <p:nvPr/>
        </p:nvSpPr>
        <p:spPr>
          <a:xfrm>
            <a:off x="9152966" y="489228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EC301C69-E089-18DB-399F-33E7B7677283}"/>
              </a:ext>
            </a:extLst>
          </p:cNvPr>
          <p:cNvSpPr/>
          <p:nvPr/>
        </p:nvSpPr>
        <p:spPr>
          <a:xfrm>
            <a:off x="9502590" y="489228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E7DB6E77-510E-25FD-08F9-523E9B9B6E8E}"/>
              </a:ext>
            </a:extLst>
          </p:cNvPr>
          <p:cNvSpPr/>
          <p:nvPr/>
        </p:nvSpPr>
        <p:spPr>
          <a:xfrm>
            <a:off x="10448365"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7832FC94-5FCB-36A5-58B8-629AFD777022}"/>
              </a:ext>
            </a:extLst>
          </p:cNvPr>
          <p:cNvSpPr/>
          <p:nvPr/>
        </p:nvSpPr>
        <p:spPr>
          <a:xfrm>
            <a:off x="10784540"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4EB069EE-57EE-7252-7DC1-0758281DA6CB}"/>
              </a:ext>
            </a:extLst>
          </p:cNvPr>
          <p:cNvSpPr/>
          <p:nvPr/>
        </p:nvSpPr>
        <p:spPr>
          <a:xfrm>
            <a:off x="11120715"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40D7D9E3-E728-228A-595F-92CFC937069D}"/>
              </a:ext>
            </a:extLst>
          </p:cNvPr>
          <p:cNvSpPr/>
          <p:nvPr/>
        </p:nvSpPr>
        <p:spPr>
          <a:xfrm>
            <a:off x="11456890"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8D16F3D9-B6FA-339E-EB8B-6BEB81E0D677}"/>
              </a:ext>
            </a:extLst>
          </p:cNvPr>
          <p:cNvSpPr/>
          <p:nvPr/>
        </p:nvSpPr>
        <p:spPr>
          <a:xfrm>
            <a:off x="988807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E812D1AB-D99D-912B-766F-EE1414928A6F}"/>
              </a:ext>
            </a:extLst>
          </p:cNvPr>
          <p:cNvSpPr/>
          <p:nvPr/>
        </p:nvSpPr>
        <p:spPr>
          <a:xfrm>
            <a:off x="1006288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F44E8B28-C7B1-9D69-D69E-F6FE958F46FB}"/>
              </a:ext>
            </a:extLst>
          </p:cNvPr>
          <p:cNvSpPr/>
          <p:nvPr/>
        </p:nvSpPr>
        <p:spPr>
          <a:xfrm>
            <a:off x="1023769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2B7C343A-8913-639A-B235-F2866917EBBB}"/>
                  </a:ext>
                </a:extLst>
              </p:cNvPr>
              <p:cNvSpPr txBox="1"/>
              <p:nvPr/>
            </p:nvSpPr>
            <p:spPr>
              <a:xfrm>
                <a:off x="7019365" y="4861000"/>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115" name="TextBox 114">
                <a:extLst>
                  <a:ext uri="{FF2B5EF4-FFF2-40B4-BE49-F238E27FC236}">
                    <a16:creationId xmlns:a16="http://schemas.microsoft.com/office/drawing/2014/main" id="{2B7C343A-8913-639A-B235-F2866917EBBB}"/>
                  </a:ext>
                </a:extLst>
              </p:cNvPr>
              <p:cNvSpPr txBox="1">
                <a:spLocks noRot="1" noChangeAspect="1" noMove="1" noResize="1" noEditPoints="1" noAdjustHandles="1" noChangeArrowheads="1" noChangeShapeType="1" noTextEdit="1"/>
              </p:cNvSpPr>
              <p:nvPr/>
            </p:nvSpPr>
            <p:spPr>
              <a:xfrm>
                <a:off x="7019365" y="4861000"/>
                <a:ext cx="1299881" cy="369332"/>
              </a:xfrm>
              <a:prstGeom prst="rect">
                <a:avLst/>
              </a:prstGeom>
              <a:blipFill>
                <a:blip r:embed="rId10"/>
                <a:stretch>
                  <a:fillRect t="-8197" b="-24590"/>
                </a:stretch>
              </a:blipFill>
            </p:spPr>
            <p:txBody>
              <a:bodyPr/>
              <a:lstStyle/>
              <a:p>
                <a:r>
                  <a:rPr lang="en-US">
                    <a:noFill/>
                  </a:rPr>
                  <a:t> </a:t>
                </a:r>
              </a:p>
            </p:txBody>
          </p:sp>
        </mc:Fallback>
      </mc:AlternateContent>
      <p:sp>
        <p:nvSpPr>
          <p:cNvPr id="116" name="Oval 115">
            <a:extLst>
              <a:ext uri="{FF2B5EF4-FFF2-40B4-BE49-F238E27FC236}">
                <a16:creationId xmlns:a16="http://schemas.microsoft.com/office/drawing/2014/main" id="{4B92800B-9B0F-95CF-4EED-A8F349619E16}"/>
              </a:ext>
            </a:extLst>
          </p:cNvPr>
          <p:cNvSpPr/>
          <p:nvPr/>
        </p:nvSpPr>
        <p:spPr>
          <a:xfrm>
            <a:off x="9090213" y="535354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04DC6989-0468-BB8F-875F-2DD1C803B5E7}"/>
              </a:ext>
            </a:extLst>
          </p:cNvPr>
          <p:cNvSpPr/>
          <p:nvPr/>
        </p:nvSpPr>
        <p:spPr>
          <a:xfrm>
            <a:off x="9076767" y="5631450"/>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CADF356B-65AD-BC7D-5CD7-42A6BBA0878C}"/>
              </a:ext>
            </a:extLst>
          </p:cNvPr>
          <p:cNvSpPr/>
          <p:nvPr/>
        </p:nvSpPr>
        <p:spPr>
          <a:xfrm>
            <a:off x="9076767" y="58824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BE87D37B-5F3A-8414-4327-9BCFB8A19CDD}"/>
              </a:ext>
            </a:extLst>
          </p:cNvPr>
          <p:cNvSpPr/>
          <p:nvPr/>
        </p:nvSpPr>
        <p:spPr>
          <a:xfrm>
            <a:off x="8328212" y="601110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876B782C-9F1A-FFBB-63D4-55A7BA864C23}"/>
              </a:ext>
            </a:extLst>
          </p:cNvPr>
          <p:cNvSpPr/>
          <p:nvPr/>
        </p:nvSpPr>
        <p:spPr>
          <a:xfrm>
            <a:off x="8677836" y="601110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5A5A1B6D-DC16-9A85-9E43-8A94B63046BD}"/>
              </a:ext>
            </a:extLst>
          </p:cNvPr>
          <p:cNvSpPr/>
          <p:nvPr/>
        </p:nvSpPr>
        <p:spPr>
          <a:xfrm>
            <a:off x="9027460" y="60042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5D94A7F-979A-B611-1BC6-D193DD435D27}"/>
              </a:ext>
            </a:extLst>
          </p:cNvPr>
          <p:cNvSpPr/>
          <p:nvPr/>
        </p:nvSpPr>
        <p:spPr>
          <a:xfrm>
            <a:off x="9377084" y="60042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47EA874-DDEB-4DAA-9B26-FADC82CD2F9A}"/>
              </a:ext>
            </a:extLst>
          </p:cNvPr>
          <p:cNvSpPr/>
          <p:nvPr/>
        </p:nvSpPr>
        <p:spPr>
          <a:xfrm>
            <a:off x="10322859"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B39CB1DC-D341-F81F-426E-E38BBA0F6840}"/>
              </a:ext>
            </a:extLst>
          </p:cNvPr>
          <p:cNvSpPr/>
          <p:nvPr/>
        </p:nvSpPr>
        <p:spPr>
          <a:xfrm>
            <a:off x="10659034"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6C75D735-11E1-B061-87AD-54CD6C67491A}"/>
              </a:ext>
            </a:extLst>
          </p:cNvPr>
          <p:cNvSpPr/>
          <p:nvPr/>
        </p:nvSpPr>
        <p:spPr>
          <a:xfrm>
            <a:off x="10995209"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ADEA3FC-4122-7821-88C3-3145FAFB99BD}"/>
              </a:ext>
            </a:extLst>
          </p:cNvPr>
          <p:cNvSpPr/>
          <p:nvPr/>
        </p:nvSpPr>
        <p:spPr>
          <a:xfrm>
            <a:off x="11331384" y="606272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9B1D254A-08CC-19E2-2494-C1D1617C4A7D}"/>
              </a:ext>
            </a:extLst>
          </p:cNvPr>
          <p:cNvSpPr/>
          <p:nvPr/>
        </p:nvSpPr>
        <p:spPr>
          <a:xfrm>
            <a:off x="976256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1BE9B40-1338-A6FC-F1A6-701D3D28A707}"/>
              </a:ext>
            </a:extLst>
          </p:cNvPr>
          <p:cNvSpPr/>
          <p:nvPr/>
        </p:nvSpPr>
        <p:spPr>
          <a:xfrm>
            <a:off x="993737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D14F9896-CA14-C3EA-B6E8-32115E5C26A5}"/>
              </a:ext>
            </a:extLst>
          </p:cNvPr>
          <p:cNvSpPr/>
          <p:nvPr/>
        </p:nvSpPr>
        <p:spPr>
          <a:xfrm>
            <a:off x="1011218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E67C4FA-E7F5-1CAA-ED85-8E3004BD1774}"/>
                  </a:ext>
                </a:extLst>
              </p:cNvPr>
              <p:cNvSpPr txBox="1"/>
              <p:nvPr/>
            </p:nvSpPr>
            <p:spPr>
              <a:xfrm>
                <a:off x="6893859" y="5972953"/>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55" name="TextBox 54">
                <a:extLst>
                  <a:ext uri="{FF2B5EF4-FFF2-40B4-BE49-F238E27FC236}">
                    <a16:creationId xmlns:a16="http://schemas.microsoft.com/office/drawing/2014/main" id="{0E67C4FA-E7F5-1CAA-ED85-8E3004BD1774}"/>
                  </a:ext>
                </a:extLst>
              </p:cNvPr>
              <p:cNvSpPr txBox="1">
                <a:spLocks noRot="1" noChangeAspect="1" noMove="1" noResize="1" noEditPoints="1" noAdjustHandles="1" noChangeArrowheads="1" noChangeShapeType="1" noTextEdit="1"/>
              </p:cNvSpPr>
              <p:nvPr/>
            </p:nvSpPr>
            <p:spPr>
              <a:xfrm>
                <a:off x="6893859" y="5972953"/>
                <a:ext cx="1299881" cy="369332"/>
              </a:xfrm>
              <a:prstGeom prst="rect">
                <a:avLst/>
              </a:prstGeom>
              <a:blipFill>
                <a:blip r:embed="rId11"/>
                <a:stretch>
                  <a:fillRect t="-10000" r="-2347" b="-26667"/>
                </a:stretch>
              </a:blipFill>
            </p:spPr>
            <p:txBody>
              <a:bodyPr/>
              <a:lstStyle/>
              <a:p>
                <a:r>
                  <a:rPr lang="en-US">
                    <a:noFill/>
                  </a:rPr>
                  <a:t> </a:t>
                </a:r>
              </a:p>
            </p:txBody>
          </p:sp>
        </mc:Fallback>
      </mc:AlternateContent>
      <p:sp>
        <p:nvSpPr>
          <p:cNvPr id="119" name="Oval 118">
            <a:extLst>
              <a:ext uri="{FF2B5EF4-FFF2-40B4-BE49-F238E27FC236}">
                <a16:creationId xmlns:a16="http://schemas.microsoft.com/office/drawing/2014/main" id="{9566058E-DBD1-4AAF-904B-1F61E7185F34}"/>
              </a:ext>
            </a:extLst>
          </p:cNvPr>
          <p:cNvSpPr/>
          <p:nvPr/>
        </p:nvSpPr>
        <p:spPr>
          <a:xfrm>
            <a:off x="8310284" y="642542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910A5CD4-7054-9447-B0DB-50AE8A113DB9}"/>
              </a:ext>
            </a:extLst>
          </p:cNvPr>
          <p:cNvSpPr/>
          <p:nvPr/>
        </p:nvSpPr>
        <p:spPr>
          <a:xfrm>
            <a:off x="8659908" y="642542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BDD8DCA7-2399-F60F-26DC-AD535204380C}"/>
              </a:ext>
            </a:extLst>
          </p:cNvPr>
          <p:cNvSpPr/>
          <p:nvPr/>
        </p:nvSpPr>
        <p:spPr>
          <a:xfrm>
            <a:off x="9009532" y="6418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911E6110-9D9B-BA0E-9BB3-A4AFBD0D5DD2}"/>
              </a:ext>
            </a:extLst>
          </p:cNvPr>
          <p:cNvSpPr/>
          <p:nvPr/>
        </p:nvSpPr>
        <p:spPr>
          <a:xfrm>
            <a:off x="9359156" y="6418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467B7664-7B20-7D07-46A3-C09F44F53F65}"/>
              </a:ext>
            </a:extLst>
          </p:cNvPr>
          <p:cNvSpPr/>
          <p:nvPr/>
        </p:nvSpPr>
        <p:spPr>
          <a:xfrm>
            <a:off x="10304931"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50D7738A-DD35-842C-3C04-C440976EF4B8}"/>
              </a:ext>
            </a:extLst>
          </p:cNvPr>
          <p:cNvSpPr/>
          <p:nvPr/>
        </p:nvSpPr>
        <p:spPr>
          <a:xfrm>
            <a:off x="10641106"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0EA9A97B-B418-9A57-B41F-4C75F25218DD}"/>
              </a:ext>
            </a:extLst>
          </p:cNvPr>
          <p:cNvSpPr/>
          <p:nvPr/>
        </p:nvSpPr>
        <p:spPr>
          <a:xfrm>
            <a:off x="10977281"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93778B3E-3A7E-F2B9-B7B3-1344BE2534A9}"/>
              </a:ext>
            </a:extLst>
          </p:cNvPr>
          <p:cNvSpPr/>
          <p:nvPr/>
        </p:nvSpPr>
        <p:spPr>
          <a:xfrm>
            <a:off x="11313456"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8E14FEFD-4C45-15DC-26B5-6B1D955A595E}"/>
              </a:ext>
            </a:extLst>
          </p:cNvPr>
          <p:cNvSpPr/>
          <p:nvPr/>
        </p:nvSpPr>
        <p:spPr>
          <a:xfrm>
            <a:off x="974463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B8850B77-2003-8F44-BB7B-EA5BFC41B698}"/>
              </a:ext>
            </a:extLst>
          </p:cNvPr>
          <p:cNvSpPr/>
          <p:nvPr/>
        </p:nvSpPr>
        <p:spPr>
          <a:xfrm>
            <a:off x="991944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582BC5B1-3950-C350-5701-DFE3970D0B56}"/>
              </a:ext>
            </a:extLst>
          </p:cNvPr>
          <p:cNvSpPr/>
          <p:nvPr/>
        </p:nvSpPr>
        <p:spPr>
          <a:xfrm>
            <a:off x="1009425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5E4829B5-E59E-634F-B379-F3FACF0B81B0}"/>
                  </a:ext>
                </a:extLst>
              </p:cNvPr>
              <p:cNvSpPr txBox="1"/>
              <p:nvPr/>
            </p:nvSpPr>
            <p:spPr>
              <a:xfrm>
                <a:off x="6875931" y="6387269"/>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in</a:t>
                </a:r>
                <a:endParaRPr lang="en-US" dirty="0"/>
              </a:p>
            </p:txBody>
          </p:sp>
        </mc:Choice>
        <mc:Fallback xmlns="">
          <p:sp>
            <p:nvSpPr>
              <p:cNvPr id="130" name="TextBox 129">
                <a:extLst>
                  <a:ext uri="{FF2B5EF4-FFF2-40B4-BE49-F238E27FC236}">
                    <a16:creationId xmlns:a16="http://schemas.microsoft.com/office/drawing/2014/main" id="{5E4829B5-E59E-634F-B379-F3FACF0B81B0}"/>
                  </a:ext>
                </a:extLst>
              </p:cNvPr>
              <p:cNvSpPr txBox="1">
                <a:spLocks noRot="1" noChangeAspect="1" noMove="1" noResize="1" noEditPoints="1" noAdjustHandles="1" noChangeArrowheads="1" noChangeShapeType="1" noTextEdit="1"/>
              </p:cNvSpPr>
              <p:nvPr/>
            </p:nvSpPr>
            <p:spPr>
              <a:xfrm>
                <a:off x="6875931" y="6387269"/>
                <a:ext cx="1299881" cy="369332"/>
              </a:xfrm>
              <a:prstGeom prst="rect">
                <a:avLst/>
              </a:prstGeom>
              <a:blipFill>
                <a:blip r:embed="rId12"/>
                <a:stretch>
                  <a:fillRect t="-10000" b="-26667"/>
                </a:stretch>
              </a:blipFill>
            </p:spPr>
            <p:txBody>
              <a:bodyPr/>
              <a:lstStyle/>
              <a:p>
                <a:r>
                  <a:rPr lang="en-US">
                    <a:noFill/>
                  </a:rPr>
                  <a:t> </a:t>
                </a:r>
              </a:p>
            </p:txBody>
          </p:sp>
        </mc:Fallback>
      </mc:AlternateContent>
      <p:pic>
        <p:nvPicPr>
          <p:cNvPr id="132" name="Graphic 131" descr="Checkmark with solid fill">
            <a:extLst>
              <a:ext uri="{FF2B5EF4-FFF2-40B4-BE49-F238E27FC236}">
                <a16:creationId xmlns:a16="http://schemas.microsoft.com/office/drawing/2014/main" id="{15BB8371-A76C-4146-CB5B-8737EDD81F3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7575" y="155697"/>
            <a:ext cx="632724" cy="632724"/>
          </a:xfrm>
          <a:prstGeom prst="rect">
            <a:avLst/>
          </a:prstGeom>
        </p:spPr>
      </p:pic>
    </p:spTree>
    <p:extLst>
      <p:ext uri="{BB962C8B-B14F-4D97-AF65-F5344CB8AC3E}">
        <p14:creationId xmlns:p14="http://schemas.microsoft.com/office/powerpoint/2010/main" val="29246721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DD46E-E283-E517-F25B-7732B449502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BDB73CF-940D-5A51-A7A8-6A1283963A5D}"/>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A133160B-6166-B972-8120-461FB20F1AB5}"/>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147581F4-DF52-A0C0-87D9-EED706D3DA9F}"/>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2: BREAK PROFILES INTO GROUPS</a:t>
            </a:r>
          </a:p>
        </p:txBody>
      </p:sp>
      <p:sp>
        <p:nvSpPr>
          <p:cNvPr id="5" name="Oval 4">
            <a:extLst>
              <a:ext uri="{FF2B5EF4-FFF2-40B4-BE49-F238E27FC236}">
                <a16:creationId xmlns:a16="http://schemas.microsoft.com/office/drawing/2014/main" id="{59CB5DFB-AFA5-7858-6444-8641501AE4E7}"/>
              </a:ext>
            </a:extLst>
          </p:cNvPr>
          <p:cNvSpPr/>
          <p:nvPr/>
        </p:nvSpPr>
        <p:spPr>
          <a:xfrm>
            <a:off x="8453718"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823C4E9-FDF3-4ADC-E012-48EC65E2C26A}"/>
              </a:ext>
            </a:extLst>
          </p:cNvPr>
          <p:cNvSpPr/>
          <p:nvPr/>
        </p:nvSpPr>
        <p:spPr>
          <a:xfrm>
            <a:off x="8803342"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6209785-D271-2756-F594-AF15327D8C2C}"/>
              </a:ext>
            </a:extLst>
          </p:cNvPr>
          <p:cNvSpPr/>
          <p:nvPr/>
        </p:nvSpPr>
        <p:spPr>
          <a:xfrm>
            <a:off x="9152966"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C22D528-99A1-FD8E-ACCE-B241D1A6BE39}"/>
              </a:ext>
            </a:extLst>
          </p:cNvPr>
          <p:cNvSpPr/>
          <p:nvPr/>
        </p:nvSpPr>
        <p:spPr>
          <a:xfrm>
            <a:off x="95025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58F384C-7645-5295-3E38-8E47C1B328C1}"/>
              </a:ext>
            </a:extLst>
          </p:cNvPr>
          <p:cNvSpPr/>
          <p:nvPr/>
        </p:nvSpPr>
        <p:spPr>
          <a:xfrm>
            <a:off x="1044836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DADF91A-80B1-1C9E-2541-889E3E0D30CE}"/>
              </a:ext>
            </a:extLst>
          </p:cNvPr>
          <p:cNvSpPr/>
          <p:nvPr/>
        </p:nvSpPr>
        <p:spPr>
          <a:xfrm>
            <a:off x="1078454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8C5336B-72FE-16A7-A584-BBB7EA79862E}"/>
              </a:ext>
            </a:extLst>
          </p:cNvPr>
          <p:cNvSpPr/>
          <p:nvPr/>
        </p:nvSpPr>
        <p:spPr>
          <a:xfrm>
            <a:off x="11120715"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4B559CA-DE66-3A1F-26B8-992556B86590}"/>
              </a:ext>
            </a:extLst>
          </p:cNvPr>
          <p:cNvSpPr/>
          <p:nvPr/>
        </p:nvSpPr>
        <p:spPr>
          <a:xfrm>
            <a:off x="11456890" y="7884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F307EC3-A71D-5A6E-B0D7-BB4E721228EF}"/>
              </a:ext>
            </a:extLst>
          </p:cNvPr>
          <p:cNvSpPr/>
          <p:nvPr/>
        </p:nvSpPr>
        <p:spPr>
          <a:xfrm>
            <a:off x="988807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9EC326B-78EF-2072-14A7-3FCB7874D8F6}"/>
              </a:ext>
            </a:extLst>
          </p:cNvPr>
          <p:cNvSpPr/>
          <p:nvPr/>
        </p:nvSpPr>
        <p:spPr>
          <a:xfrm>
            <a:off x="1006288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DD560C9-6299-D58C-B97C-C8935A39EE74}"/>
              </a:ext>
            </a:extLst>
          </p:cNvPr>
          <p:cNvSpPr/>
          <p:nvPr/>
        </p:nvSpPr>
        <p:spPr>
          <a:xfrm>
            <a:off x="10237693" y="88880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89F628-489D-27FA-81F7-3732B2C28BE6}"/>
                  </a:ext>
                </a:extLst>
              </p:cNvPr>
              <p:cNvSpPr txBox="1"/>
              <p:nvPr/>
            </p:nvSpPr>
            <p:spPr>
              <a:xfrm>
                <a:off x="7254688" y="750266"/>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out</a:t>
                </a:r>
                <a:endParaRPr lang="en-US" dirty="0"/>
              </a:p>
            </p:txBody>
          </p:sp>
        </mc:Choice>
        <mc:Fallback xmlns="">
          <p:sp>
            <p:nvSpPr>
              <p:cNvPr id="16" name="TextBox 15">
                <a:extLst>
                  <a:ext uri="{FF2B5EF4-FFF2-40B4-BE49-F238E27FC236}">
                    <a16:creationId xmlns:a16="http://schemas.microsoft.com/office/drawing/2014/main" id="{1189F628-489D-27FA-81F7-3732B2C28BE6}"/>
                  </a:ext>
                </a:extLst>
              </p:cNvPr>
              <p:cNvSpPr txBox="1">
                <a:spLocks noRot="1" noChangeAspect="1" noMove="1" noResize="1" noEditPoints="1" noAdjustHandles="1" noChangeArrowheads="1" noChangeShapeType="1" noTextEdit="1"/>
              </p:cNvSpPr>
              <p:nvPr/>
            </p:nvSpPr>
            <p:spPr>
              <a:xfrm>
                <a:off x="7254688" y="750266"/>
                <a:ext cx="1064558" cy="369332"/>
              </a:xfrm>
              <a:prstGeom prst="rect">
                <a:avLst/>
              </a:prstGeom>
              <a:blipFill>
                <a:blip r:embed="rId3"/>
                <a:stretch>
                  <a:fillRect t="-8197" r="-1143" b="-2459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BCB9F989-79E8-6ECC-B134-B57934E0E9DA}"/>
              </a:ext>
            </a:extLst>
          </p:cNvPr>
          <p:cNvSpPr/>
          <p:nvPr/>
        </p:nvSpPr>
        <p:spPr>
          <a:xfrm>
            <a:off x="8453718" y="119980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6DC3B69-9720-CEC2-9900-4FD54979CD35}"/>
              </a:ext>
            </a:extLst>
          </p:cNvPr>
          <p:cNvSpPr/>
          <p:nvPr/>
        </p:nvSpPr>
        <p:spPr>
          <a:xfrm>
            <a:off x="8803342"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AA2E5C4-38CC-F28F-20BA-3D3ECE6A28DA}"/>
              </a:ext>
            </a:extLst>
          </p:cNvPr>
          <p:cNvSpPr/>
          <p:nvPr/>
        </p:nvSpPr>
        <p:spPr>
          <a:xfrm>
            <a:off x="9152966"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F069176-95B4-7F33-4DD2-2A2EF9D888FA}"/>
              </a:ext>
            </a:extLst>
          </p:cNvPr>
          <p:cNvSpPr/>
          <p:nvPr/>
        </p:nvSpPr>
        <p:spPr>
          <a:xfrm>
            <a:off x="95025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0FCE414-7BF0-D81E-5A85-1B9976125D4C}"/>
              </a:ext>
            </a:extLst>
          </p:cNvPr>
          <p:cNvSpPr/>
          <p:nvPr/>
        </p:nvSpPr>
        <p:spPr>
          <a:xfrm>
            <a:off x="1044836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50E691-8F19-598C-40DE-B494D3F7DA4F}"/>
              </a:ext>
            </a:extLst>
          </p:cNvPr>
          <p:cNvSpPr/>
          <p:nvPr/>
        </p:nvSpPr>
        <p:spPr>
          <a:xfrm>
            <a:off x="1078454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9E8ED69-E00F-335A-0083-DCF5A8053F03}"/>
              </a:ext>
            </a:extLst>
          </p:cNvPr>
          <p:cNvSpPr/>
          <p:nvPr/>
        </p:nvSpPr>
        <p:spPr>
          <a:xfrm>
            <a:off x="11120715"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7CF7B2C-1C98-9E8B-670D-3BF30B587358}"/>
              </a:ext>
            </a:extLst>
          </p:cNvPr>
          <p:cNvSpPr/>
          <p:nvPr/>
        </p:nvSpPr>
        <p:spPr>
          <a:xfrm>
            <a:off x="11456890" y="11998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1005C57-5A87-2784-9C99-9ABA6E18870B}"/>
              </a:ext>
            </a:extLst>
          </p:cNvPr>
          <p:cNvSpPr/>
          <p:nvPr/>
        </p:nvSpPr>
        <p:spPr>
          <a:xfrm>
            <a:off x="988807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A7D3940-6FA9-50EE-C346-D49A575B5224}"/>
              </a:ext>
            </a:extLst>
          </p:cNvPr>
          <p:cNvSpPr/>
          <p:nvPr/>
        </p:nvSpPr>
        <p:spPr>
          <a:xfrm>
            <a:off x="1006288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0563EF0-C93C-2BCB-504F-3274B7F00543}"/>
              </a:ext>
            </a:extLst>
          </p:cNvPr>
          <p:cNvSpPr/>
          <p:nvPr/>
        </p:nvSpPr>
        <p:spPr>
          <a:xfrm>
            <a:off x="10237693" y="130019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0A461FA-1D2A-2E0E-F775-C86217A50E1F}"/>
                  </a:ext>
                </a:extLst>
              </p:cNvPr>
              <p:cNvSpPr txBox="1"/>
              <p:nvPr/>
            </p:nvSpPr>
            <p:spPr>
              <a:xfrm>
                <a:off x="7254688" y="116165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1</m:t>
                    </m:r>
                  </m:oMath>
                </a14:m>
                <a:r>
                  <a:rPr lang="en-US" dirty="0"/>
                  <a:t> does </a:t>
                </a:r>
                <a:r>
                  <a:rPr lang="en-US" i="1" dirty="0"/>
                  <a:t>in</a:t>
                </a:r>
                <a:endParaRPr lang="en-US" dirty="0"/>
              </a:p>
            </p:txBody>
          </p:sp>
        </mc:Choice>
        <mc:Fallback xmlns="">
          <p:sp>
            <p:nvSpPr>
              <p:cNvPr id="28" name="TextBox 27">
                <a:extLst>
                  <a:ext uri="{FF2B5EF4-FFF2-40B4-BE49-F238E27FC236}">
                    <a16:creationId xmlns:a16="http://schemas.microsoft.com/office/drawing/2014/main" id="{30A461FA-1D2A-2E0E-F775-C86217A50E1F}"/>
                  </a:ext>
                </a:extLst>
              </p:cNvPr>
              <p:cNvSpPr txBox="1">
                <a:spLocks noRot="1" noChangeAspect="1" noMove="1" noResize="1" noEditPoints="1" noAdjustHandles="1" noChangeArrowheads="1" noChangeShapeType="1" noTextEdit="1"/>
              </p:cNvSpPr>
              <p:nvPr/>
            </p:nvSpPr>
            <p:spPr>
              <a:xfrm>
                <a:off x="7254688" y="1161652"/>
                <a:ext cx="1064558" cy="369332"/>
              </a:xfrm>
              <a:prstGeom prst="rect">
                <a:avLst/>
              </a:prstGeom>
              <a:blipFill>
                <a:blip r:embed="rId4"/>
                <a:stretch>
                  <a:fillRect t="-10000" r="-2286" b="-26667"/>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1ECAEDBB-80D3-B8A1-4498-5B9EFA39F9F2}"/>
              </a:ext>
            </a:extLst>
          </p:cNvPr>
          <p:cNvSpPr/>
          <p:nvPr/>
        </p:nvSpPr>
        <p:spPr>
          <a:xfrm>
            <a:off x="8453718"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E4A759E-8079-2E6E-1A78-DC5A08500D0A}"/>
              </a:ext>
            </a:extLst>
          </p:cNvPr>
          <p:cNvSpPr/>
          <p:nvPr/>
        </p:nvSpPr>
        <p:spPr>
          <a:xfrm>
            <a:off x="8803342" y="164934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1D36895-D11C-65AC-8DC6-A8B5892DB230}"/>
              </a:ext>
            </a:extLst>
          </p:cNvPr>
          <p:cNvSpPr/>
          <p:nvPr/>
        </p:nvSpPr>
        <p:spPr>
          <a:xfrm>
            <a:off x="9152966"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868D565-769D-B31E-9402-CB90E44E5598}"/>
              </a:ext>
            </a:extLst>
          </p:cNvPr>
          <p:cNvSpPr/>
          <p:nvPr/>
        </p:nvSpPr>
        <p:spPr>
          <a:xfrm>
            <a:off x="95025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7189FEE-D61A-F0CB-C4F1-527FED01DCAF}"/>
              </a:ext>
            </a:extLst>
          </p:cNvPr>
          <p:cNvSpPr/>
          <p:nvPr/>
        </p:nvSpPr>
        <p:spPr>
          <a:xfrm>
            <a:off x="1044836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D4F479F-95EC-383F-7E52-71D8775F49E8}"/>
              </a:ext>
            </a:extLst>
          </p:cNvPr>
          <p:cNvSpPr/>
          <p:nvPr/>
        </p:nvSpPr>
        <p:spPr>
          <a:xfrm>
            <a:off x="1078454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055FA6C-44DD-E0FF-17F4-6F109043DE0E}"/>
              </a:ext>
            </a:extLst>
          </p:cNvPr>
          <p:cNvSpPr/>
          <p:nvPr/>
        </p:nvSpPr>
        <p:spPr>
          <a:xfrm>
            <a:off x="11120715"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2FEF428-B393-0AB7-A32D-FA9864FE801F}"/>
              </a:ext>
            </a:extLst>
          </p:cNvPr>
          <p:cNvSpPr/>
          <p:nvPr/>
        </p:nvSpPr>
        <p:spPr>
          <a:xfrm>
            <a:off x="11456890" y="164934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45FD0F2-C04A-DFF4-371D-286131AA653D}"/>
              </a:ext>
            </a:extLst>
          </p:cNvPr>
          <p:cNvSpPr/>
          <p:nvPr/>
        </p:nvSpPr>
        <p:spPr>
          <a:xfrm>
            <a:off x="988807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94EB562-43D6-A166-E652-E915E8963A12}"/>
              </a:ext>
            </a:extLst>
          </p:cNvPr>
          <p:cNvSpPr/>
          <p:nvPr/>
        </p:nvSpPr>
        <p:spPr>
          <a:xfrm>
            <a:off x="1006288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1209378-4420-38C2-602F-D624EC1EF8D5}"/>
              </a:ext>
            </a:extLst>
          </p:cNvPr>
          <p:cNvSpPr/>
          <p:nvPr/>
        </p:nvSpPr>
        <p:spPr>
          <a:xfrm>
            <a:off x="10237693" y="1749733"/>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14A212E-C9B0-0BE8-B0F6-9C86D058B27B}"/>
                  </a:ext>
                </a:extLst>
              </p:cNvPr>
              <p:cNvSpPr txBox="1"/>
              <p:nvPr/>
            </p:nvSpPr>
            <p:spPr>
              <a:xfrm>
                <a:off x="7254688" y="1611192"/>
                <a:ext cx="106455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40" name="TextBox 39">
                <a:extLst>
                  <a:ext uri="{FF2B5EF4-FFF2-40B4-BE49-F238E27FC236}">
                    <a16:creationId xmlns:a16="http://schemas.microsoft.com/office/drawing/2014/main" id="{114A212E-C9B0-0BE8-B0F6-9C86D058B27B}"/>
                  </a:ext>
                </a:extLst>
              </p:cNvPr>
              <p:cNvSpPr txBox="1">
                <a:spLocks noRot="1" noChangeAspect="1" noMove="1" noResize="1" noEditPoints="1" noAdjustHandles="1" noChangeArrowheads="1" noChangeShapeType="1" noTextEdit="1"/>
              </p:cNvSpPr>
              <p:nvPr/>
            </p:nvSpPr>
            <p:spPr>
              <a:xfrm>
                <a:off x="7254688" y="1611192"/>
                <a:ext cx="1064558" cy="369332"/>
              </a:xfrm>
              <a:prstGeom prst="rect">
                <a:avLst/>
              </a:prstGeom>
              <a:blipFill>
                <a:blip r:embed="rId5"/>
                <a:stretch>
                  <a:fillRect t="-8197" b="-24590"/>
                </a:stretch>
              </a:blipFill>
            </p:spPr>
            <p:txBody>
              <a:bodyPr/>
              <a:lstStyle/>
              <a:p>
                <a:r>
                  <a:rPr lang="en-US">
                    <a:noFill/>
                  </a:rPr>
                  <a:t> </a:t>
                </a:r>
              </a:p>
            </p:txBody>
          </p:sp>
        </mc:Fallback>
      </mc:AlternateContent>
      <p:sp>
        <p:nvSpPr>
          <p:cNvPr id="41" name="Oval 40">
            <a:extLst>
              <a:ext uri="{FF2B5EF4-FFF2-40B4-BE49-F238E27FC236}">
                <a16:creationId xmlns:a16="http://schemas.microsoft.com/office/drawing/2014/main" id="{C5980667-FEB7-4235-6520-812B18C054C3}"/>
              </a:ext>
            </a:extLst>
          </p:cNvPr>
          <p:cNvSpPr/>
          <p:nvPr/>
        </p:nvSpPr>
        <p:spPr>
          <a:xfrm>
            <a:off x="9152966" y="225175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8AE47C17-5C43-40E7-A489-896FF7B2CE79}"/>
              </a:ext>
            </a:extLst>
          </p:cNvPr>
          <p:cNvSpPr/>
          <p:nvPr/>
        </p:nvSpPr>
        <p:spPr>
          <a:xfrm>
            <a:off x="9152966" y="25296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DDE00701-2815-5D4A-EED9-AFF5A1D72CEB}"/>
              </a:ext>
            </a:extLst>
          </p:cNvPr>
          <p:cNvSpPr/>
          <p:nvPr/>
        </p:nvSpPr>
        <p:spPr>
          <a:xfrm>
            <a:off x="9139520" y="280756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CFD66B4E-C3FE-E692-76AD-E21D61FEDF97}"/>
              </a:ext>
            </a:extLst>
          </p:cNvPr>
          <p:cNvSpPr/>
          <p:nvPr/>
        </p:nvSpPr>
        <p:spPr>
          <a:xfrm>
            <a:off x="8453718"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B4E6D2B-467C-7BC1-9616-286B6354526D}"/>
              </a:ext>
            </a:extLst>
          </p:cNvPr>
          <p:cNvSpPr/>
          <p:nvPr/>
        </p:nvSpPr>
        <p:spPr>
          <a:xfrm>
            <a:off x="8803342"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A95A9C58-EC5D-1457-1CC2-B160694B5412}"/>
              </a:ext>
            </a:extLst>
          </p:cNvPr>
          <p:cNvSpPr/>
          <p:nvPr/>
        </p:nvSpPr>
        <p:spPr>
          <a:xfrm>
            <a:off x="9152966"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0CC35272-853E-0016-236D-00197DA959D3}"/>
              </a:ext>
            </a:extLst>
          </p:cNvPr>
          <p:cNvSpPr/>
          <p:nvPr/>
        </p:nvSpPr>
        <p:spPr>
          <a:xfrm>
            <a:off x="9502590" y="309344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E0D71CFC-1240-5EBA-5121-F2EC4DB327CF}"/>
              </a:ext>
            </a:extLst>
          </p:cNvPr>
          <p:cNvSpPr/>
          <p:nvPr/>
        </p:nvSpPr>
        <p:spPr>
          <a:xfrm>
            <a:off x="10448365"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93452F6D-9ADC-9AE8-74D0-68380980A0EC}"/>
              </a:ext>
            </a:extLst>
          </p:cNvPr>
          <p:cNvSpPr/>
          <p:nvPr/>
        </p:nvSpPr>
        <p:spPr>
          <a:xfrm>
            <a:off x="10784540"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A9A2B1F9-35EB-D467-7979-926EC28C1359}"/>
              </a:ext>
            </a:extLst>
          </p:cNvPr>
          <p:cNvSpPr/>
          <p:nvPr/>
        </p:nvSpPr>
        <p:spPr>
          <a:xfrm>
            <a:off x="11120715"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76C61E1E-B059-4691-B021-BCBC5C2DF5CA}"/>
              </a:ext>
            </a:extLst>
          </p:cNvPr>
          <p:cNvSpPr/>
          <p:nvPr/>
        </p:nvSpPr>
        <p:spPr>
          <a:xfrm>
            <a:off x="11456890" y="3093447"/>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3F0C4D8A-91AF-8F12-321E-14F7E1811081}"/>
              </a:ext>
            </a:extLst>
          </p:cNvPr>
          <p:cNvSpPr/>
          <p:nvPr/>
        </p:nvSpPr>
        <p:spPr>
          <a:xfrm>
            <a:off x="988807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4D6854DE-F55B-8FDE-C0A8-9C0464DDF7F5}"/>
              </a:ext>
            </a:extLst>
          </p:cNvPr>
          <p:cNvSpPr/>
          <p:nvPr/>
        </p:nvSpPr>
        <p:spPr>
          <a:xfrm>
            <a:off x="1006288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05D4D620-A59C-CE50-FEF4-D152A8D24D87}"/>
              </a:ext>
            </a:extLst>
          </p:cNvPr>
          <p:cNvSpPr/>
          <p:nvPr/>
        </p:nvSpPr>
        <p:spPr>
          <a:xfrm>
            <a:off x="10237693" y="3193834"/>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2253649-B7BC-FCE7-F3BE-0863850AE88D}"/>
                  </a:ext>
                </a:extLst>
              </p:cNvPr>
              <p:cNvSpPr txBox="1"/>
              <p:nvPr/>
            </p:nvSpPr>
            <p:spPr>
              <a:xfrm>
                <a:off x="7019365" y="3055293"/>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67" name="TextBox 66">
                <a:extLst>
                  <a:ext uri="{FF2B5EF4-FFF2-40B4-BE49-F238E27FC236}">
                    <a16:creationId xmlns:a16="http://schemas.microsoft.com/office/drawing/2014/main" id="{B2253649-B7BC-FCE7-F3BE-0863850AE88D}"/>
                  </a:ext>
                </a:extLst>
              </p:cNvPr>
              <p:cNvSpPr txBox="1">
                <a:spLocks noRot="1" noChangeAspect="1" noMove="1" noResize="1" noEditPoints="1" noAdjustHandles="1" noChangeArrowheads="1" noChangeShapeType="1" noTextEdit="1"/>
              </p:cNvSpPr>
              <p:nvPr/>
            </p:nvSpPr>
            <p:spPr>
              <a:xfrm>
                <a:off x="7019365" y="3055293"/>
                <a:ext cx="1299881" cy="369332"/>
              </a:xfrm>
              <a:prstGeom prst="rect">
                <a:avLst/>
              </a:prstGeom>
              <a:blipFill>
                <a:blip r:embed="rId6"/>
                <a:stretch>
                  <a:fillRect t="-8197" b="-24590"/>
                </a:stretch>
              </a:blipFill>
            </p:spPr>
            <p:txBody>
              <a:bodyPr/>
              <a:lstStyle/>
              <a:p>
                <a:r>
                  <a:rPr lang="en-US">
                    <a:noFill/>
                  </a:rPr>
                  <a:t> </a:t>
                </a:r>
              </a:p>
            </p:txBody>
          </p:sp>
        </mc:Fallback>
      </mc:AlternateContent>
      <p:sp>
        <p:nvSpPr>
          <p:cNvPr id="68" name="Oval 67">
            <a:extLst>
              <a:ext uri="{FF2B5EF4-FFF2-40B4-BE49-F238E27FC236}">
                <a16:creationId xmlns:a16="http://schemas.microsoft.com/office/drawing/2014/main" id="{F5CCC7AE-18AA-FD99-EEBD-D230FED8FE7A}"/>
              </a:ext>
            </a:extLst>
          </p:cNvPr>
          <p:cNvSpPr/>
          <p:nvPr/>
        </p:nvSpPr>
        <p:spPr>
          <a:xfrm>
            <a:off x="8453718"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077EC638-87CC-4AD7-E969-8A671FF0FBCD}"/>
              </a:ext>
            </a:extLst>
          </p:cNvPr>
          <p:cNvSpPr/>
          <p:nvPr/>
        </p:nvSpPr>
        <p:spPr>
          <a:xfrm>
            <a:off x="8803342"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ECFD9607-7E72-80D1-7358-3453AB3A625E}"/>
              </a:ext>
            </a:extLst>
          </p:cNvPr>
          <p:cNvSpPr/>
          <p:nvPr/>
        </p:nvSpPr>
        <p:spPr>
          <a:xfrm>
            <a:off x="9152966"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47801CD-B536-AFD7-395F-78DD6508904E}"/>
              </a:ext>
            </a:extLst>
          </p:cNvPr>
          <p:cNvSpPr/>
          <p:nvPr/>
        </p:nvSpPr>
        <p:spPr>
          <a:xfrm>
            <a:off x="9502590" y="355777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33D70A5B-F4C7-DB2E-283F-92106B9A958A}"/>
              </a:ext>
            </a:extLst>
          </p:cNvPr>
          <p:cNvSpPr/>
          <p:nvPr/>
        </p:nvSpPr>
        <p:spPr>
          <a:xfrm>
            <a:off x="10448365"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DC84349-2A4A-9FCC-5C47-73DACB8B4D3A}"/>
              </a:ext>
            </a:extLst>
          </p:cNvPr>
          <p:cNvSpPr/>
          <p:nvPr/>
        </p:nvSpPr>
        <p:spPr>
          <a:xfrm>
            <a:off x="10784540"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044914C9-E9A0-B486-B960-A56567973A92}"/>
              </a:ext>
            </a:extLst>
          </p:cNvPr>
          <p:cNvSpPr/>
          <p:nvPr/>
        </p:nvSpPr>
        <p:spPr>
          <a:xfrm>
            <a:off x="11120715"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D63B022D-23C7-5AA4-98CB-007D3E97D23E}"/>
              </a:ext>
            </a:extLst>
          </p:cNvPr>
          <p:cNvSpPr/>
          <p:nvPr/>
        </p:nvSpPr>
        <p:spPr>
          <a:xfrm>
            <a:off x="11456890" y="355777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9EC89DF-58E8-CF61-6AF4-7D1B58583D3A}"/>
              </a:ext>
            </a:extLst>
          </p:cNvPr>
          <p:cNvSpPr/>
          <p:nvPr/>
        </p:nvSpPr>
        <p:spPr>
          <a:xfrm>
            <a:off x="988807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02C8362A-0877-1BDA-B22F-F4D3F7ED95ED}"/>
              </a:ext>
            </a:extLst>
          </p:cNvPr>
          <p:cNvSpPr/>
          <p:nvPr/>
        </p:nvSpPr>
        <p:spPr>
          <a:xfrm>
            <a:off x="1006288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6231229B-8FA8-8F45-9D25-D715EB729C0A}"/>
              </a:ext>
            </a:extLst>
          </p:cNvPr>
          <p:cNvSpPr/>
          <p:nvPr/>
        </p:nvSpPr>
        <p:spPr>
          <a:xfrm>
            <a:off x="10237693" y="365816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EC2F45C3-4427-451C-E585-FC98C56D209F}"/>
                  </a:ext>
                </a:extLst>
              </p:cNvPr>
              <p:cNvSpPr txBox="1"/>
              <p:nvPr/>
            </p:nvSpPr>
            <p:spPr>
              <a:xfrm>
                <a:off x="7019365" y="3519624"/>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79" name="TextBox 78">
                <a:extLst>
                  <a:ext uri="{FF2B5EF4-FFF2-40B4-BE49-F238E27FC236}">
                    <a16:creationId xmlns:a16="http://schemas.microsoft.com/office/drawing/2014/main" id="{EC2F45C3-4427-451C-E585-FC98C56D209F}"/>
                  </a:ext>
                </a:extLst>
              </p:cNvPr>
              <p:cNvSpPr txBox="1">
                <a:spLocks noRot="1" noChangeAspect="1" noMove="1" noResize="1" noEditPoints="1" noAdjustHandles="1" noChangeArrowheads="1" noChangeShapeType="1" noTextEdit="1"/>
              </p:cNvSpPr>
              <p:nvPr/>
            </p:nvSpPr>
            <p:spPr>
              <a:xfrm>
                <a:off x="7019365" y="3519624"/>
                <a:ext cx="1299881" cy="369332"/>
              </a:xfrm>
              <a:prstGeom prst="rect">
                <a:avLst/>
              </a:prstGeom>
              <a:blipFill>
                <a:blip r:embed="rId7"/>
                <a:stretch>
                  <a:fillRect t="-8197" b="-24590"/>
                </a:stretch>
              </a:blipFill>
            </p:spPr>
            <p:txBody>
              <a:bodyPr/>
              <a:lstStyle/>
              <a:p>
                <a:r>
                  <a:rPr lang="en-US">
                    <a:noFill/>
                  </a:rPr>
                  <a:t> </a:t>
                </a:r>
              </a:p>
            </p:txBody>
          </p:sp>
        </mc:Fallback>
      </mc:AlternateContent>
      <p:sp>
        <p:nvSpPr>
          <p:cNvPr id="80" name="Oval 79">
            <a:extLst>
              <a:ext uri="{FF2B5EF4-FFF2-40B4-BE49-F238E27FC236}">
                <a16:creationId xmlns:a16="http://schemas.microsoft.com/office/drawing/2014/main" id="{E526E085-82AE-6931-BBC9-0A4D65F2CAA3}"/>
              </a:ext>
            </a:extLst>
          </p:cNvPr>
          <p:cNvSpPr/>
          <p:nvPr/>
        </p:nvSpPr>
        <p:spPr>
          <a:xfrm>
            <a:off x="8453718"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7DF1251C-B437-E2CD-C928-04611B2224CB}"/>
              </a:ext>
            </a:extLst>
          </p:cNvPr>
          <p:cNvSpPr/>
          <p:nvPr/>
        </p:nvSpPr>
        <p:spPr>
          <a:xfrm>
            <a:off x="8803342"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F289D5FC-B442-D9F5-718A-9EA994785DB0}"/>
              </a:ext>
            </a:extLst>
          </p:cNvPr>
          <p:cNvSpPr/>
          <p:nvPr/>
        </p:nvSpPr>
        <p:spPr>
          <a:xfrm>
            <a:off x="9152966"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777AB850-69A0-AA91-1B14-6E7054B5AE0C}"/>
              </a:ext>
            </a:extLst>
          </p:cNvPr>
          <p:cNvSpPr/>
          <p:nvPr/>
        </p:nvSpPr>
        <p:spPr>
          <a:xfrm>
            <a:off x="9502590" y="40221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089A7269-B0FC-A046-B59A-95C8E16A0EDC}"/>
              </a:ext>
            </a:extLst>
          </p:cNvPr>
          <p:cNvSpPr/>
          <p:nvPr/>
        </p:nvSpPr>
        <p:spPr>
          <a:xfrm>
            <a:off x="10448365"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9A895739-01F1-D93D-BBF1-F772399EEC8D}"/>
              </a:ext>
            </a:extLst>
          </p:cNvPr>
          <p:cNvSpPr/>
          <p:nvPr/>
        </p:nvSpPr>
        <p:spPr>
          <a:xfrm>
            <a:off x="10784540"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A99F418-98B2-3F18-EB11-3B64461279DA}"/>
              </a:ext>
            </a:extLst>
          </p:cNvPr>
          <p:cNvSpPr/>
          <p:nvPr/>
        </p:nvSpPr>
        <p:spPr>
          <a:xfrm>
            <a:off x="11120715"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440B5EAF-FF34-911C-710B-BFF5BADE2E92}"/>
              </a:ext>
            </a:extLst>
          </p:cNvPr>
          <p:cNvSpPr/>
          <p:nvPr/>
        </p:nvSpPr>
        <p:spPr>
          <a:xfrm>
            <a:off x="11456890" y="40221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FC80BCAE-D613-DE52-3E42-AF1AA55D5564}"/>
              </a:ext>
            </a:extLst>
          </p:cNvPr>
          <p:cNvSpPr/>
          <p:nvPr/>
        </p:nvSpPr>
        <p:spPr>
          <a:xfrm>
            <a:off x="988807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38E3EF56-750C-05B0-532E-98F51290F88A}"/>
              </a:ext>
            </a:extLst>
          </p:cNvPr>
          <p:cNvSpPr/>
          <p:nvPr/>
        </p:nvSpPr>
        <p:spPr>
          <a:xfrm>
            <a:off x="1006288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630F097D-0C87-CB58-5464-99C07DB65A85}"/>
              </a:ext>
            </a:extLst>
          </p:cNvPr>
          <p:cNvSpPr/>
          <p:nvPr/>
        </p:nvSpPr>
        <p:spPr>
          <a:xfrm>
            <a:off x="10237693" y="4122496"/>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B91F82D0-6E28-2B84-C608-5B0B79AA5865}"/>
                  </a:ext>
                </a:extLst>
              </p:cNvPr>
              <p:cNvSpPr txBox="1"/>
              <p:nvPr/>
            </p:nvSpPr>
            <p:spPr>
              <a:xfrm>
                <a:off x="7019365" y="3983955"/>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oMath>
                </a14:m>
                <a:r>
                  <a:rPr lang="en-US" dirty="0"/>
                  <a:t> do </a:t>
                </a:r>
                <a:r>
                  <a:rPr lang="en-US" i="1" dirty="0"/>
                  <a:t>in</a:t>
                </a:r>
                <a:endParaRPr lang="en-US" dirty="0"/>
              </a:p>
            </p:txBody>
          </p:sp>
        </mc:Choice>
        <mc:Fallback xmlns="">
          <p:sp>
            <p:nvSpPr>
              <p:cNvPr id="91" name="TextBox 90">
                <a:extLst>
                  <a:ext uri="{FF2B5EF4-FFF2-40B4-BE49-F238E27FC236}">
                    <a16:creationId xmlns:a16="http://schemas.microsoft.com/office/drawing/2014/main" id="{B91F82D0-6E28-2B84-C608-5B0B79AA5865}"/>
                  </a:ext>
                </a:extLst>
              </p:cNvPr>
              <p:cNvSpPr txBox="1">
                <a:spLocks noRot="1" noChangeAspect="1" noMove="1" noResize="1" noEditPoints="1" noAdjustHandles="1" noChangeArrowheads="1" noChangeShapeType="1" noTextEdit="1"/>
              </p:cNvSpPr>
              <p:nvPr/>
            </p:nvSpPr>
            <p:spPr>
              <a:xfrm>
                <a:off x="7019365" y="3983955"/>
                <a:ext cx="1299881" cy="369332"/>
              </a:xfrm>
              <a:prstGeom prst="rect">
                <a:avLst/>
              </a:prstGeom>
              <a:blipFill>
                <a:blip r:embed="rId8"/>
                <a:stretch>
                  <a:fillRect t="-10000" b="-26667"/>
                </a:stretch>
              </a:blipFill>
            </p:spPr>
            <p:txBody>
              <a:bodyPr/>
              <a:lstStyle/>
              <a:p>
                <a:r>
                  <a:rPr lang="en-US">
                    <a:noFill/>
                  </a:rPr>
                  <a:t> </a:t>
                </a:r>
              </a:p>
            </p:txBody>
          </p:sp>
        </mc:Fallback>
      </mc:AlternateContent>
      <p:sp>
        <p:nvSpPr>
          <p:cNvPr id="92" name="Oval 91">
            <a:extLst>
              <a:ext uri="{FF2B5EF4-FFF2-40B4-BE49-F238E27FC236}">
                <a16:creationId xmlns:a16="http://schemas.microsoft.com/office/drawing/2014/main" id="{9A99378F-07C6-8DCD-E69E-A201CE0A09AE}"/>
              </a:ext>
            </a:extLst>
          </p:cNvPr>
          <p:cNvSpPr/>
          <p:nvPr/>
        </p:nvSpPr>
        <p:spPr>
          <a:xfrm>
            <a:off x="8453718"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CEE430A-94A0-451D-C56B-09CB5CB76D3D}"/>
              </a:ext>
            </a:extLst>
          </p:cNvPr>
          <p:cNvSpPr/>
          <p:nvPr/>
        </p:nvSpPr>
        <p:spPr>
          <a:xfrm>
            <a:off x="8803342"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72D1873F-111F-C28E-1734-0F9F4C2E7EE5}"/>
              </a:ext>
            </a:extLst>
          </p:cNvPr>
          <p:cNvSpPr/>
          <p:nvPr/>
        </p:nvSpPr>
        <p:spPr>
          <a:xfrm>
            <a:off x="9152966"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3B54B342-C446-1BB8-0575-A88418774A5D}"/>
              </a:ext>
            </a:extLst>
          </p:cNvPr>
          <p:cNvSpPr/>
          <p:nvPr/>
        </p:nvSpPr>
        <p:spPr>
          <a:xfrm>
            <a:off x="9502590" y="44864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F4B65451-71AB-6AEC-5035-04146862B2DA}"/>
              </a:ext>
            </a:extLst>
          </p:cNvPr>
          <p:cNvSpPr/>
          <p:nvPr/>
        </p:nvSpPr>
        <p:spPr>
          <a:xfrm>
            <a:off x="10448365"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ED12B72F-F3F4-6439-F964-F3176D63C4E8}"/>
              </a:ext>
            </a:extLst>
          </p:cNvPr>
          <p:cNvSpPr/>
          <p:nvPr/>
        </p:nvSpPr>
        <p:spPr>
          <a:xfrm>
            <a:off x="10784540"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D347D9C5-C293-4355-F89C-3118087EEFC5}"/>
              </a:ext>
            </a:extLst>
          </p:cNvPr>
          <p:cNvSpPr/>
          <p:nvPr/>
        </p:nvSpPr>
        <p:spPr>
          <a:xfrm>
            <a:off x="11120715"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A6147B47-C951-6BE3-28C1-2BDE1BF4EE17}"/>
              </a:ext>
            </a:extLst>
          </p:cNvPr>
          <p:cNvSpPr/>
          <p:nvPr/>
        </p:nvSpPr>
        <p:spPr>
          <a:xfrm>
            <a:off x="11456890" y="448644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EF833B3-9F75-1567-4FF8-9CDAFC0C94C7}"/>
              </a:ext>
            </a:extLst>
          </p:cNvPr>
          <p:cNvSpPr/>
          <p:nvPr/>
        </p:nvSpPr>
        <p:spPr>
          <a:xfrm>
            <a:off x="988807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93B63A1D-E503-4AA9-437C-51368C6068AE}"/>
              </a:ext>
            </a:extLst>
          </p:cNvPr>
          <p:cNvSpPr/>
          <p:nvPr/>
        </p:nvSpPr>
        <p:spPr>
          <a:xfrm>
            <a:off x="1006288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F78F086D-0F52-D819-F443-316F60346C4D}"/>
              </a:ext>
            </a:extLst>
          </p:cNvPr>
          <p:cNvSpPr/>
          <p:nvPr/>
        </p:nvSpPr>
        <p:spPr>
          <a:xfrm>
            <a:off x="10237693" y="45868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5F495B1-E845-7A78-6443-848675457D80}"/>
                  </a:ext>
                </a:extLst>
              </p:cNvPr>
              <p:cNvSpPr txBox="1"/>
              <p:nvPr/>
            </p:nvSpPr>
            <p:spPr>
              <a:xfrm>
                <a:off x="7019365" y="4448286"/>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103" name="TextBox 102">
                <a:extLst>
                  <a:ext uri="{FF2B5EF4-FFF2-40B4-BE49-F238E27FC236}">
                    <a16:creationId xmlns:a16="http://schemas.microsoft.com/office/drawing/2014/main" id="{65F495B1-E845-7A78-6443-848675457D80}"/>
                  </a:ext>
                </a:extLst>
              </p:cNvPr>
              <p:cNvSpPr txBox="1">
                <a:spLocks noRot="1" noChangeAspect="1" noMove="1" noResize="1" noEditPoints="1" noAdjustHandles="1" noChangeArrowheads="1" noChangeShapeType="1" noTextEdit="1"/>
              </p:cNvSpPr>
              <p:nvPr/>
            </p:nvSpPr>
            <p:spPr>
              <a:xfrm>
                <a:off x="7019365" y="4448286"/>
                <a:ext cx="1299881" cy="369332"/>
              </a:xfrm>
              <a:prstGeom prst="rect">
                <a:avLst/>
              </a:prstGeom>
              <a:blipFill>
                <a:blip r:embed="rId9"/>
                <a:stretch>
                  <a:fillRect t="-10000" b="-26667"/>
                </a:stretch>
              </a:blipFill>
            </p:spPr>
            <p:txBody>
              <a:bodyPr/>
              <a:lstStyle/>
              <a:p>
                <a:r>
                  <a:rPr lang="en-US">
                    <a:noFill/>
                  </a:rPr>
                  <a:t> </a:t>
                </a:r>
              </a:p>
            </p:txBody>
          </p:sp>
        </mc:Fallback>
      </mc:AlternateContent>
      <p:sp>
        <p:nvSpPr>
          <p:cNvPr id="104" name="Oval 103">
            <a:extLst>
              <a:ext uri="{FF2B5EF4-FFF2-40B4-BE49-F238E27FC236}">
                <a16:creationId xmlns:a16="http://schemas.microsoft.com/office/drawing/2014/main" id="{CDBE9549-6A36-94BE-438B-6BCA22E39777}"/>
              </a:ext>
            </a:extLst>
          </p:cNvPr>
          <p:cNvSpPr/>
          <p:nvPr/>
        </p:nvSpPr>
        <p:spPr>
          <a:xfrm>
            <a:off x="8453718" y="489915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B783CA10-1779-DDCA-795A-CCE28AC9F641}"/>
              </a:ext>
            </a:extLst>
          </p:cNvPr>
          <p:cNvSpPr/>
          <p:nvPr/>
        </p:nvSpPr>
        <p:spPr>
          <a:xfrm>
            <a:off x="8803342" y="489915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E608A435-8311-FCDE-4F06-8BE47FD84D77}"/>
              </a:ext>
            </a:extLst>
          </p:cNvPr>
          <p:cNvSpPr/>
          <p:nvPr/>
        </p:nvSpPr>
        <p:spPr>
          <a:xfrm>
            <a:off x="9152966" y="489228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0E986316-2D90-68EB-2F47-D2630731AF9D}"/>
              </a:ext>
            </a:extLst>
          </p:cNvPr>
          <p:cNvSpPr/>
          <p:nvPr/>
        </p:nvSpPr>
        <p:spPr>
          <a:xfrm>
            <a:off x="9502590" y="4892281"/>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2AFA9416-ED31-057D-53F2-047B92C0E79C}"/>
              </a:ext>
            </a:extLst>
          </p:cNvPr>
          <p:cNvSpPr/>
          <p:nvPr/>
        </p:nvSpPr>
        <p:spPr>
          <a:xfrm>
            <a:off x="10448365"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6CAAC111-FEFC-3A1C-4478-A631A831EBD1}"/>
              </a:ext>
            </a:extLst>
          </p:cNvPr>
          <p:cNvSpPr/>
          <p:nvPr/>
        </p:nvSpPr>
        <p:spPr>
          <a:xfrm>
            <a:off x="10784540"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A8841A85-B972-57B3-7B47-C9D9FE975D22}"/>
              </a:ext>
            </a:extLst>
          </p:cNvPr>
          <p:cNvSpPr/>
          <p:nvPr/>
        </p:nvSpPr>
        <p:spPr>
          <a:xfrm>
            <a:off x="11120715"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2D4FEAA2-79AB-C758-F7F2-B366BF4A36F3}"/>
              </a:ext>
            </a:extLst>
          </p:cNvPr>
          <p:cNvSpPr/>
          <p:nvPr/>
        </p:nvSpPr>
        <p:spPr>
          <a:xfrm>
            <a:off x="11456890" y="495077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481EDD0-7945-95B0-DA4B-C888B037F7A9}"/>
              </a:ext>
            </a:extLst>
          </p:cNvPr>
          <p:cNvSpPr/>
          <p:nvPr/>
        </p:nvSpPr>
        <p:spPr>
          <a:xfrm>
            <a:off x="988807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43517475-F87A-F827-2A45-97CF46644DE7}"/>
              </a:ext>
            </a:extLst>
          </p:cNvPr>
          <p:cNvSpPr/>
          <p:nvPr/>
        </p:nvSpPr>
        <p:spPr>
          <a:xfrm>
            <a:off x="1006288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3E68121D-C0C1-DFDF-AF07-9437E7A3A883}"/>
              </a:ext>
            </a:extLst>
          </p:cNvPr>
          <p:cNvSpPr/>
          <p:nvPr/>
        </p:nvSpPr>
        <p:spPr>
          <a:xfrm>
            <a:off x="10237693" y="5051158"/>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B9DBFB94-9F23-FE69-C38C-48FC20B1F7F1}"/>
                  </a:ext>
                </a:extLst>
              </p:cNvPr>
              <p:cNvSpPr txBox="1"/>
              <p:nvPr/>
            </p:nvSpPr>
            <p:spPr>
              <a:xfrm>
                <a:off x="7019365" y="4861000"/>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t> do </a:t>
                </a:r>
                <a:r>
                  <a:rPr lang="en-US" i="1" dirty="0"/>
                  <a:t>in</a:t>
                </a:r>
                <a:endParaRPr lang="en-US" dirty="0"/>
              </a:p>
            </p:txBody>
          </p:sp>
        </mc:Choice>
        <mc:Fallback xmlns="">
          <p:sp>
            <p:nvSpPr>
              <p:cNvPr id="115" name="TextBox 114">
                <a:extLst>
                  <a:ext uri="{FF2B5EF4-FFF2-40B4-BE49-F238E27FC236}">
                    <a16:creationId xmlns:a16="http://schemas.microsoft.com/office/drawing/2014/main" id="{B9DBFB94-9F23-FE69-C38C-48FC20B1F7F1}"/>
                  </a:ext>
                </a:extLst>
              </p:cNvPr>
              <p:cNvSpPr txBox="1">
                <a:spLocks noRot="1" noChangeAspect="1" noMove="1" noResize="1" noEditPoints="1" noAdjustHandles="1" noChangeArrowheads="1" noChangeShapeType="1" noTextEdit="1"/>
              </p:cNvSpPr>
              <p:nvPr/>
            </p:nvSpPr>
            <p:spPr>
              <a:xfrm>
                <a:off x="7019365" y="4861000"/>
                <a:ext cx="1299881" cy="369332"/>
              </a:xfrm>
              <a:prstGeom prst="rect">
                <a:avLst/>
              </a:prstGeom>
              <a:blipFill>
                <a:blip r:embed="rId10"/>
                <a:stretch>
                  <a:fillRect t="-8197" b="-24590"/>
                </a:stretch>
              </a:blipFill>
            </p:spPr>
            <p:txBody>
              <a:bodyPr/>
              <a:lstStyle/>
              <a:p>
                <a:r>
                  <a:rPr lang="en-US">
                    <a:noFill/>
                  </a:rPr>
                  <a:t> </a:t>
                </a:r>
              </a:p>
            </p:txBody>
          </p:sp>
        </mc:Fallback>
      </mc:AlternateContent>
      <p:sp>
        <p:nvSpPr>
          <p:cNvPr id="116" name="Oval 115">
            <a:extLst>
              <a:ext uri="{FF2B5EF4-FFF2-40B4-BE49-F238E27FC236}">
                <a16:creationId xmlns:a16="http://schemas.microsoft.com/office/drawing/2014/main" id="{32A214D8-AC11-2B2B-E024-E706625E4498}"/>
              </a:ext>
            </a:extLst>
          </p:cNvPr>
          <p:cNvSpPr/>
          <p:nvPr/>
        </p:nvSpPr>
        <p:spPr>
          <a:xfrm>
            <a:off x="9090213" y="5353545"/>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0E671394-F40B-D751-C10C-CF30D759AC6A}"/>
              </a:ext>
            </a:extLst>
          </p:cNvPr>
          <p:cNvSpPr/>
          <p:nvPr/>
        </p:nvSpPr>
        <p:spPr>
          <a:xfrm>
            <a:off x="9076767" y="5631450"/>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C48FAD47-23FB-D30F-72D6-00826B332F8C}"/>
              </a:ext>
            </a:extLst>
          </p:cNvPr>
          <p:cNvSpPr/>
          <p:nvPr/>
        </p:nvSpPr>
        <p:spPr>
          <a:xfrm>
            <a:off x="9076767" y="5882462"/>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2B4D700B-3652-D84D-ECBA-DC9C281EBF2C}"/>
              </a:ext>
            </a:extLst>
          </p:cNvPr>
          <p:cNvSpPr/>
          <p:nvPr/>
        </p:nvSpPr>
        <p:spPr>
          <a:xfrm>
            <a:off x="8328212" y="601110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7828118E-3B73-B58C-2B8B-D986F0484AA3}"/>
              </a:ext>
            </a:extLst>
          </p:cNvPr>
          <p:cNvSpPr/>
          <p:nvPr/>
        </p:nvSpPr>
        <p:spPr>
          <a:xfrm>
            <a:off x="8677836" y="601110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3F2B28F-4485-C3BC-159F-924595073DCE}"/>
              </a:ext>
            </a:extLst>
          </p:cNvPr>
          <p:cNvSpPr/>
          <p:nvPr/>
        </p:nvSpPr>
        <p:spPr>
          <a:xfrm>
            <a:off x="9027460" y="60042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E1C25B89-20BC-1EDC-28F8-590859FA2D50}"/>
              </a:ext>
            </a:extLst>
          </p:cNvPr>
          <p:cNvSpPr/>
          <p:nvPr/>
        </p:nvSpPr>
        <p:spPr>
          <a:xfrm>
            <a:off x="9377084" y="60042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2E7EF0A4-08FB-40B2-D083-873A2A20F544}"/>
              </a:ext>
            </a:extLst>
          </p:cNvPr>
          <p:cNvSpPr/>
          <p:nvPr/>
        </p:nvSpPr>
        <p:spPr>
          <a:xfrm>
            <a:off x="10322859"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66F7592-136D-B39C-CAA7-72603F9123A9}"/>
              </a:ext>
            </a:extLst>
          </p:cNvPr>
          <p:cNvSpPr/>
          <p:nvPr/>
        </p:nvSpPr>
        <p:spPr>
          <a:xfrm>
            <a:off x="10659034"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E6E4BDC-7255-D64E-41C5-D9040F9B34B2}"/>
              </a:ext>
            </a:extLst>
          </p:cNvPr>
          <p:cNvSpPr/>
          <p:nvPr/>
        </p:nvSpPr>
        <p:spPr>
          <a:xfrm>
            <a:off x="10995209" y="606958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D7D5F40-DBF1-3906-A217-5DD37ED16CBE}"/>
              </a:ext>
            </a:extLst>
          </p:cNvPr>
          <p:cNvSpPr/>
          <p:nvPr/>
        </p:nvSpPr>
        <p:spPr>
          <a:xfrm>
            <a:off x="11331384" y="606272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A298024-08E2-B2AB-EFA9-6D09D1238B08}"/>
              </a:ext>
            </a:extLst>
          </p:cNvPr>
          <p:cNvSpPr/>
          <p:nvPr/>
        </p:nvSpPr>
        <p:spPr>
          <a:xfrm>
            <a:off x="976256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A5E1D1B-A268-F381-4F04-D031484F61E5}"/>
              </a:ext>
            </a:extLst>
          </p:cNvPr>
          <p:cNvSpPr/>
          <p:nvPr/>
        </p:nvSpPr>
        <p:spPr>
          <a:xfrm>
            <a:off x="993737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8207D84-C864-BD71-45E3-9145359878C6}"/>
              </a:ext>
            </a:extLst>
          </p:cNvPr>
          <p:cNvSpPr/>
          <p:nvPr/>
        </p:nvSpPr>
        <p:spPr>
          <a:xfrm>
            <a:off x="10112187" y="6163111"/>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266829B-68FB-B456-91F8-BFA3E3D5C99E}"/>
                  </a:ext>
                </a:extLst>
              </p:cNvPr>
              <p:cNvSpPr txBox="1"/>
              <p:nvPr/>
            </p:nvSpPr>
            <p:spPr>
              <a:xfrm>
                <a:off x="6893859" y="5972953"/>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−1</m:t>
                    </m:r>
                  </m:oMath>
                </a14:m>
                <a:r>
                  <a:rPr lang="en-US" dirty="0"/>
                  <a:t> do </a:t>
                </a:r>
                <a:r>
                  <a:rPr lang="en-US" i="1" dirty="0"/>
                  <a:t>in</a:t>
                </a:r>
                <a:endParaRPr lang="en-US" dirty="0"/>
              </a:p>
            </p:txBody>
          </p:sp>
        </mc:Choice>
        <mc:Fallback xmlns="">
          <p:sp>
            <p:nvSpPr>
              <p:cNvPr id="55" name="TextBox 54">
                <a:extLst>
                  <a:ext uri="{FF2B5EF4-FFF2-40B4-BE49-F238E27FC236}">
                    <a16:creationId xmlns:a16="http://schemas.microsoft.com/office/drawing/2014/main" id="{0266829B-68FB-B456-91F8-BFA3E3D5C99E}"/>
                  </a:ext>
                </a:extLst>
              </p:cNvPr>
              <p:cNvSpPr txBox="1">
                <a:spLocks noRot="1" noChangeAspect="1" noMove="1" noResize="1" noEditPoints="1" noAdjustHandles="1" noChangeArrowheads="1" noChangeShapeType="1" noTextEdit="1"/>
              </p:cNvSpPr>
              <p:nvPr/>
            </p:nvSpPr>
            <p:spPr>
              <a:xfrm>
                <a:off x="6893859" y="5972953"/>
                <a:ext cx="1299881" cy="369332"/>
              </a:xfrm>
              <a:prstGeom prst="rect">
                <a:avLst/>
              </a:prstGeom>
              <a:blipFill>
                <a:blip r:embed="rId11"/>
                <a:stretch>
                  <a:fillRect t="-10000" r="-2347" b="-26667"/>
                </a:stretch>
              </a:blipFill>
            </p:spPr>
            <p:txBody>
              <a:bodyPr/>
              <a:lstStyle/>
              <a:p>
                <a:r>
                  <a:rPr lang="en-US">
                    <a:noFill/>
                  </a:rPr>
                  <a:t> </a:t>
                </a:r>
              </a:p>
            </p:txBody>
          </p:sp>
        </mc:Fallback>
      </mc:AlternateContent>
      <p:sp>
        <p:nvSpPr>
          <p:cNvPr id="119" name="Oval 118">
            <a:extLst>
              <a:ext uri="{FF2B5EF4-FFF2-40B4-BE49-F238E27FC236}">
                <a16:creationId xmlns:a16="http://schemas.microsoft.com/office/drawing/2014/main" id="{07972051-B916-D736-A726-ADE3BBD816DC}"/>
              </a:ext>
            </a:extLst>
          </p:cNvPr>
          <p:cNvSpPr/>
          <p:nvPr/>
        </p:nvSpPr>
        <p:spPr>
          <a:xfrm>
            <a:off x="8310284" y="642542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86D069DB-000B-8EE9-F271-E4F2194932C9}"/>
              </a:ext>
            </a:extLst>
          </p:cNvPr>
          <p:cNvSpPr/>
          <p:nvPr/>
        </p:nvSpPr>
        <p:spPr>
          <a:xfrm>
            <a:off x="8659908" y="642542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0F4E913E-383D-6EC3-DFBB-F75C5BCE8CBB}"/>
              </a:ext>
            </a:extLst>
          </p:cNvPr>
          <p:cNvSpPr/>
          <p:nvPr/>
        </p:nvSpPr>
        <p:spPr>
          <a:xfrm>
            <a:off x="9009532" y="6418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52EB2F6B-CF2E-FC14-4446-8790FC46E2B7}"/>
              </a:ext>
            </a:extLst>
          </p:cNvPr>
          <p:cNvSpPr/>
          <p:nvPr/>
        </p:nvSpPr>
        <p:spPr>
          <a:xfrm>
            <a:off x="9359156" y="6418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4DCCB7DE-2A9D-C387-76E5-540498755BD8}"/>
              </a:ext>
            </a:extLst>
          </p:cNvPr>
          <p:cNvSpPr/>
          <p:nvPr/>
        </p:nvSpPr>
        <p:spPr>
          <a:xfrm>
            <a:off x="10304931"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75A90A19-3570-80ED-FB50-EA417639278D}"/>
              </a:ext>
            </a:extLst>
          </p:cNvPr>
          <p:cNvSpPr/>
          <p:nvPr/>
        </p:nvSpPr>
        <p:spPr>
          <a:xfrm>
            <a:off x="10641106"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C943487A-0D9D-BD70-28CC-846595B29AB2}"/>
              </a:ext>
            </a:extLst>
          </p:cNvPr>
          <p:cNvSpPr/>
          <p:nvPr/>
        </p:nvSpPr>
        <p:spPr>
          <a:xfrm>
            <a:off x="10977281"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20016A7C-AA52-E613-D04A-E9453B9475B2}"/>
              </a:ext>
            </a:extLst>
          </p:cNvPr>
          <p:cNvSpPr/>
          <p:nvPr/>
        </p:nvSpPr>
        <p:spPr>
          <a:xfrm>
            <a:off x="11313456" y="647704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3AE6CB4B-0F2C-14AB-B236-A354FC3F6760}"/>
              </a:ext>
            </a:extLst>
          </p:cNvPr>
          <p:cNvSpPr/>
          <p:nvPr/>
        </p:nvSpPr>
        <p:spPr>
          <a:xfrm>
            <a:off x="974463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7068E42C-B0D3-A072-B24F-C89DD2AC1403}"/>
              </a:ext>
            </a:extLst>
          </p:cNvPr>
          <p:cNvSpPr/>
          <p:nvPr/>
        </p:nvSpPr>
        <p:spPr>
          <a:xfrm>
            <a:off x="991944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A9A66C2D-DAF0-3CB7-4968-86D9758D7EFC}"/>
              </a:ext>
            </a:extLst>
          </p:cNvPr>
          <p:cNvSpPr/>
          <p:nvPr/>
        </p:nvSpPr>
        <p:spPr>
          <a:xfrm>
            <a:off x="10094259" y="6577427"/>
            <a:ext cx="62753" cy="6275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EC8CDAAA-E708-3F64-3F45-363A6BFE92CA}"/>
                  </a:ext>
                </a:extLst>
              </p:cNvPr>
              <p:cNvSpPr txBox="1"/>
              <p:nvPr/>
            </p:nvSpPr>
            <p:spPr>
              <a:xfrm>
                <a:off x="6875931" y="6387269"/>
                <a:ext cx="129988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𝑁</m:t>
                    </m:r>
                  </m:oMath>
                </a14:m>
                <a:r>
                  <a:rPr lang="en-US" dirty="0"/>
                  <a:t> do </a:t>
                </a:r>
                <a:r>
                  <a:rPr lang="en-US" i="1" dirty="0"/>
                  <a:t>in</a:t>
                </a:r>
                <a:endParaRPr lang="en-US" dirty="0"/>
              </a:p>
            </p:txBody>
          </p:sp>
        </mc:Choice>
        <mc:Fallback xmlns="">
          <p:sp>
            <p:nvSpPr>
              <p:cNvPr id="130" name="TextBox 129">
                <a:extLst>
                  <a:ext uri="{FF2B5EF4-FFF2-40B4-BE49-F238E27FC236}">
                    <a16:creationId xmlns:a16="http://schemas.microsoft.com/office/drawing/2014/main" id="{EC8CDAAA-E708-3F64-3F45-363A6BFE92CA}"/>
                  </a:ext>
                </a:extLst>
              </p:cNvPr>
              <p:cNvSpPr txBox="1">
                <a:spLocks noRot="1" noChangeAspect="1" noMove="1" noResize="1" noEditPoints="1" noAdjustHandles="1" noChangeArrowheads="1" noChangeShapeType="1" noTextEdit="1"/>
              </p:cNvSpPr>
              <p:nvPr/>
            </p:nvSpPr>
            <p:spPr>
              <a:xfrm>
                <a:off x="6875931" y="6387269"/>
                <a:ext cx="1299881" cy="369332"/>
              </a:xfrm>
              <a:prstGeom prst="rect">
                <a:avLst/>
              </a:prstGeom>
              <a:blipFill>
                <a:blip r:embed="rId12"/>
                <a:stretch>
                  <a:fillRect t="-10000" b="-26667"/>
                </a:stretch>
              </a:blipFill>
            </p:spPr>
            <p:txBody>
              <a:bodyPr/>
              <a:lstStyle/>
              <a:p>
                <a:r>
                  <a:rPr lang="en-US">
                    <a:noFill/>
                  </a:rPr>
                  <a:t> </a:t>
                </a:r>
              </a:p>
            </p:txBody>
          </p:sp>
        </mc:Fallback>
      </mc:AlternateContent>
      <p:pic>
        <p:nvPicPr>
          <p:cNvPr id="132" name="Graphic 131" descr="Checkmark with solid fill">
            <a:extLst>
              <a:ext uri="{FF2B5EF4-FFF2-40B4-BE49-F238E27FC236}">
                <a16:creationId xmlns:a16="http://schemas.microsoft.com/office/drawing/2014/main" id="{64E8EE2D-C588-472F-073A-2BFB977712E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68E2C2D9-5B7B-A4C9-1B13-E6A5ABAD6882}"/>
              </a:ext>
            </a:extLst>
          </p:cNvPr>
          <p:cNvSpPr/>
          <p:nvPr/>
        </p:nvSpPr>
        <p:spPr>
          <a:xfrm>
            <a:off x="6403041" y="795618"/>
            <a:ext cx="833720" cy="303778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542CFF94-720D-C62E-7938-834093C21F7F}"/>
              </a:ext>
            </a:extLst>
          </p:cNvPr>
          <p:cNvSpPr/>
          <p:nvPr/>
        </p:nvSpPr>
        <p:spPr>
          <a:xfrm>
            <a:off x="6420968" y="3916219"/>
            <a:ext cx="833720" cy="458557"/>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ABBAF850-E842-F764-0114-E77F9A879CEE}"/>
              </a:ext>
            </a:extLst>
          </p:cNvPr>
          <p:cNvSpPr/>
          <p:nvPr/>
        </p:nvSpPr>
        <p:spPr>
          <a:xfrm>
            <a:off x="6400798" y="4428565"/>
            <a:ext cx="833720" cy="226722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357E2696-455E-7CE0-8AF1-29744344CEF5}"/>
                  </a:ext>
                </a:extLst>
              </p:cNvPr>
              <p:cNvSpPr txBox="1"/>
              <p:nvPr/>
            </p:nvSpPr>
            <p:spPr>
              <a:xfrm rot="20086457">
                <a:off x="4660350" y="2209500"/>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357E2696-455E-7CE0-8AF1-29744344CEF5}"/>
                  </a:ext>
                </a:extLst>
              </p:cNvPr>
              <p:cNvSpPr txBox="1">
                <a:spLocks noRot="1" noChangeAspect="1" noMove="1" noResize="1" noEditPoints="1" noAdjustHandles="1" noChangeArrowheads="1" noChangeShapeType="1" noTextEdit="1"/>
              </p:cNvSpPr>
              <p:nvPr/>
            </p:nvSpPr>
            <p:spPr>
              <a:xfrm rot="20086457">
                <a:off x="4660350" y="2209500"/>
                <a:ext cx="2023782" cy="369332"/>
              </a:xfrm>
              <a:prstGeom prst="rect">
                <a:avLst/>
              </a:prstGeom>
              <a:blipFill>
                <a:blip r:embed="rId15"/>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71DDEF20-8343-674A-A4DF-1669B7C53936}"/>
                  </a:ext>
                </a:extLst>
              </p:cNvPr>
              <p:cNvSpPr txBox="1"/>
              <p:nvPr/>
            </p:nvSpPr>
            <p:spPr>
              <a:xfrm rot="20086457">
                <a:off x="4699435" y="4035947"/>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71DDEF20-8343-674A-A4DF-1669B7C53936}"/>
                  </a:ext>
                </a:extLst>
              </p:cNvPr>
              <p:cNvSpPr txBox="1">
                <a:spLocks noRot="1" noChangeAspect="1" noMove="1" noResize="1" noEditPoints="1" noAdjustHandles="1" noChangeArrowheads="1" noChangeShapeType="1" noTextEdit="1"/>
              </p:cNvSpPr>
              <p:nvPr/>
            </p:nvSpPr>
            <p:spPr>
              <a:xfrm rot="20086457">
                <a:off x="4699435" y="4035947"/>
                <a:ext cx="2023782" cy="369332"/>
              </a:xfrm>
              <a:prstGeom prst="rect">
                <a:avLst/>
              </a:prstGeom>
              <a:blipFill>
                <a:blip r:embed="rId1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63CBF82-6D7F-D807-A594-C9517271A998}"/>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663CBF82-6D7F-D807-A594-C9517271A998}"/>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17"/>
                <a:stretch>
                  <a:fillRect l="-2752" b="-8629"/>
                </a:stretch>
              </a:blipFill>
            </p:spPr>
            <p:txBody>
              <a:bodyPr/>
              <a:lstStyle/>
              <a:p>
                <a:r>
                  <a:rPr lang="en-US">
                    <a:noFill/>
                  </a:rPr>
                  <a:t> </a:t>
                </a:r>
              </a:p>
            </p:txBody>
          </p:sp>
        </mc:Fallback>
      </mc:AlternateContent>
    </p:spTree>
    <p:extLst>
      <p:ext uri="{BB962C8B-B14F-4D97-AF65-F5344CB8AC3E}">
        <p14:creationId xmlns:p14="http://schemas.microsoft.com/office/powerpoint/2010/main" val="39233648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883A-9DD8-66D5-C410-9E17C807C65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A2D6CEC-B94C-C0FF-1491-EB7C9639AC42}"/>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B271D659-04D4-E595-F4EA-5385EA998290}"/>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415497B5-C9AF-8214-627A-912C60228300}"/>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2: BREAK PROFILES INTO GROUPS</a:t>
            </a:r>
          </a:p>
        </p:txBody>
      </p:sp>
      <p:pic>
        <p:nvPicPr>
          <p:cNvPr id="132" name="Graphic 131" descr="Checkmark with solid fill">
            <a:extLst>
              <a:ext uri="{FF2B5EF4-FFF2-40B4-BE49-F238E27FC236}">
                <a16:creationId xmlns:a16="http://schemas.microsoft.com/office/drawing/2014/main" id="{21F41391-B6CD-968E-4C61-7E5396B5BF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F67AA287-5D8F-D2AC-983A-C8EA3EB79816}"/>
              </a:ext>
            </a:extLst>
          </p:cNvPr>
          <p:cNvSpPr/>
          <p:nvPr/>
        </p:nvSpPr>
        <p:spPr>
          <a:xfrm>
            <a:off x="6403041" y="795618"/>
            <a:ext cx="833720" cy="303778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1BC2352E-7265-1F4B-ABB5-F9B53F913F59}"/>
              </a:ext>
            </a:extLst>
          </p:cNvPr>
          <p:cNvSpPr/>
          <p:nvPr/>
        </p:nvSpPr>
        <p:spPr>
          <a:xfrm>
            <a:off x="6420968" y="3916219"/>
            <a:ext cx="833720" cy="458557"/>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449DCC7F-F92D-AAF5-F799-FFE80852430A}"/>
              </a:ext>
            </a:extLst>
          </p:cNvPr>
          <p:cNvSpPr/>
          <p:nvPr/>
        </p:nvSpPr>
        <p:spPr>
          <a:xfrm>
            <a:off x="6400798" y="4428565"/>
            <a:ext cx="833720" cy="226722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86F55C6C-D93B-2769-7CDE-DD4B59D80FA9}"/>
                  </a:ext>
                </a:extLst>
              </p:cNvPr>
              <p:cNvSpPr txBox="1"/>
              <p:nvPr/>
            </p:nvSpPr>
            <p:spPr>
              <a:xfrm rot="20086457">
                <a:off x="4660350" y="2209500"/>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86F55C6C-D93B-2769-7CDE-DD4B59D80FA9}"/>
                  </a:ext>
                </a:extLst>
              </p:cNvPr>
              <p:cNvSpPr txBox="1">
                <a:spLocks noRot="1" noChangeAspect="1" noMove="1" noResize="1" noEditPoints="1" noAdjustHandles="1" noChangeArrowheads="1" noChangeShapeType="1" noTextEdit="1"/>
              </p:cNvSpPr>
              <p:nvPr/>
            </p:nvSpPr>
            <p:spPr>
              <a:xfrm rot="20086457">
                <a:off x="4660350" y="2209500"/>
                <a:ext cx="2023782" cy="369332"/>
              </a:xfrm>
              <a:prstGeom prst="rect">
                <a:avLst/>
              </a:prstGeom>
              <a:blipFill>
                <a:blip r:embed="rId5"/>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6AA6EB6E-C680-E7FF-3507-EB65027A8410}"/>
                  </a:ext>
                </a:extLst>
              </p:cNvPr>
              <p:cNvSpPr txBox="1"/>
              <p:nvPr/>
            </p:nvSpPr>
            <p:spPr>
              <a:xfrm rot="20086457">
                <a:off x="4699435" y="4035947"/>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6AA6EB6E-C680-E7FF-3507-EB65027A8410}"/>
                  </a:ext>
                </a:extLst>
              </p:cNvPr>
              <p:cNvSpPr txBox="1">
                <a:spLocks noRot="1" noChangeAspect="1" noMove="1" noResize="1" noEditPoints="1" noAdjustHandles="1" noChangeArrowheads="1" noChangeShapeType="1" noTextEdit="1"/>
              </p:cNvSpPr>
              <p:nvPr/>
            </p:nvSpPr>
            <p:spPr>
              <a:xfrm rot="20086457">
                <a:off x="4699435" y="4035947"/>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E81DA3E0-F2F2-D321-4EFD-128FE508CD45}"/>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E81DA3E0-F2F2-D321-4EFD-128FE508CD45}"/>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Tree>
    <p:extLst>
      <p:ext uri="{BB962C8B-B14F-4D97-AF65-F5344CB8AC3E}">
        <p14:creationId xmlns:p14="http://schemas.microsoft.com/office/powerpoint/2010/main" val="9107317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6647-93CA-70E2-5918-7167D14FB54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30BF2C1-B916-7046-381E-65D98BAC8723}"/>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EF9FAAD1-B43C-D483-8A75-E70CB9B80E4D}"/>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5AB06AF9-BF07-92B3-1287-F5A076565CE8}"/>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2: BREAK PROFILES INTO GROUPS</a:t>
            </a:r>
          </a:p>
        </p:txBody>
      </p:sp>
      <p:pic>
        <p:nvPicPr>
          <p:cNvPr id="132" name="Graphic 131" descr="Checkmark with solid fill">
            <a:extLst>
              <a:ext uri="{FF2B5EF4-FFF2-40B4-BE49-F238E27FC236}">
                <a16:creationId xmlns:a16="http://schemas.microsoft.com/office/drawing/2014/main" id="{F255DBB4-45FB-2641-8C65-6D4B81A1F0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BEB26516-F290-52DF-B8A3-9EC590253EB8}"/>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5DC13D9E-EB09-2082-0A16-6B9AD53514EF}"/>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21936794-0FC8-DAC8-ECC9-8CC5ECE07CF5}"/>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CEAF6CAB-3667-DF15-0ED5-18A8FB84AE8C}"/>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CEAF6CAB-3667-DF15-0ED5-18A8FB84AE8C}"/>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506E344D-4893-8905-9BF9-AA73F9BC6B26}"/>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506E344D-4893-8905-9BF9-AA73F9BC6B26}"/>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A152CA87-F6CC-7C8A-3702-77084AFD5141}"/>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A152CA87-F6CC-7C8A-3702-77084AFD5141}"/>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51CE2EB5-52C4-7A95-6CEC-97A929C2A747}"/>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0060C55D-5992-0227-A448-C35419C7BEE3}"/>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F287D84C-10F8-77B1-49C4-CE48C01D5F41}"/>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DD1D0E8F-876E-83AC-8C83-D0E669DCE335}"/>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78929FD6-325B-B879-5352-53A3D1F1D6DF}"/>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AB82AAE6-B5AF-DD14-E1EF-2DA504EBAD01}"/>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DEFEEF30-ECB7-638D-1DAD-57FE03796609}"/>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33811692-885F-47C0-A56E-5AD7525EE0FC}"/>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682B496C-F73A-5664-A873-4F50DC1591D5}"/>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85BD928-D11F-F75F-FB92-B86A7DAA733E}"/>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D71B1C2-1C76-333E-C0DB-37B65D79DA9A}"/>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DD71B1C2-1C76-333E-C0DB-37B65D79DA9A}"/>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5F032D9-D225-2D1C-2567-DF5A089F9D9A}"/>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65F032D9-D225-2D1C-2567-DF5A089F9D9A}"/>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31458961-576F-C5A1-7898-5B4F46820D70}"/>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14E5FC0-7080-77BB-16E2-659CCF992F46}"/>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FB22E60-638C-16B7-CA71-60FB91BDB543}"/>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FFE4C70-D759-D9FA-ABD6-74F470F4F3F6}"/>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169FF34-7DC7-FB69-BF07-1CAC4026345A}"/>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753D2C6-00DE-EBED-FB0F-9B3AFA532648}"/>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8489FD1-7048-8454-3CE0-68611359D096}"/>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F852E5B-83C7-9EF8-9F77-F40F128E962A}"/>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AE688E9-54E8-A195-5BBF-05D40BBD5A8E}"/>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4827EE3-5BBB-965C-2747-6141056E7751}"/>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1080A33-C7CA-8F87-63E5-EC033858EC5D}"/>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B1080A33-C7CA-8F87-63E5-EC033858EC5D}"/>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67DFA16-DD98-8F63-BE11-46CECC4BAFBF}"/>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A67DFA16-DD98-8F63-BE11-46CECC4BAFBF}"/>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9E7A923E-0BC5-E418-B2BD-67E2FE3B6792}"/>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510752B-4850-4468-97E8-780A8C42564A}"/>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13D9611-84EC-FD72-F4E1-6BABCFA613E7}"/>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1D817EC-D019-FEAB-352B-4600F715CCC4}"/>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B75D0E3-B772-787C-9613-1EF1A9E0C29E}"/>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5AACA1D-4FAF-A45C-4BC6-12BAD3E92613}"/>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978F864-589F-58ED-DE7A-1102427A1E79}"/>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673DF5E-7DA2-9E7F-5E19-EDCD9422BC36}"/>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9174DAFA-0CD0-1055-7CEA-915405010851}"/>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24D4C78-8762-7BCB-841C-60F049973320}"/>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F30F6D1-18B9-EDCA-43DD-81024975788E}"/>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EF30F6D1-18B9-EDCA-43DD-81024975788E}"/>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6915B0A-70F8-AEFE-F0FD-9F42AAA756B5}"/>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A6915B0A-70F8-AEFE-F0FD-9F42AAA756B5}"/>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spTree>
    <p:extLst>
      <p:ext uri="{BB962C8B-B14F-4D97-AF65-F5344CB8AC3E}">
        <p14:creationId xmlns:p14="http://schemas.microsoft.com/office/powerpoint/2010/main" val="29876516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38C41-3343-25A6-4AE1-A57658CE2D3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167E078-F402-C9B6-F3D6-78987BA9736E}"/>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54F39618-A93D-E20F-AE0F-B1E6E21933FB}"/>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F24643C1-6D81-84CB-FD22-101845359DC1}"/>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CC0850F5-AD26-C458-26DC-B1E6B1EAF2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63AC751C-DE56-153A-AF09-FD0E17241F14}"/>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B607D69D-5082-3FE9-870E-730B1A556F63}"/>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529F857C-28ED-BAEA-3BC1-1FF61A757B00}"/>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FC678550-FD84-96F0-A14D-6846313BF107}"/>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FC678550-FD84-96F0-A14D-6846313BF107}"/>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3657B038-82B5-6F6D-DE16-4671BDBE6995}"/>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3657B038-82B5-6F6D-DE16-4671BDBE6995}"/>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D0F87A8C-D6A5-3523-6330-7F73EF964D6A}"/>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D0F87A8C-D6A5-3523-6330-7F73EF964D6A}"/>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6019DB1C-BD1A-63E0-3BFB-B03D5B871B3D}"/>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6FDDE499-66E2-EBF4-1C73-0AF07CB5045D}"/>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FD687633-B36B-77A6-531E-F1DB276F4EA5}"/>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D935C20C-6893-06B0-AF60-2D3F5CB2A190}"/>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82AFD8-4BB9-D09D-E3A2-BB980B266D6E}"/>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95E1E6EC-18A7-7C0E-9250-7E811B094348}"/>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FB2CAF8D-396D-2217-77C4-05EB270E9AC9}"/>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8C522A07-F7DF-791E-B42D-936DA891BBC3}"/>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498D94F6-F54B-9170-0FE5-CA07BAE8064B}"/>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9AE36AC-39C3-C4C2-CAF3-3B4AB8D22FC0}"/>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52357A9-3306-D9B9-6510-CBF8E3EEC722}"/>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152357A9-3306-D9B9-6510-CBF8E3EEC722}"/>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BA78E07-9914-A2C9-8F9E-8B0F2302C10F}"/>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CBA78E07-9914-A2C9-8F9E-8B0F2302C10F}"/>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DB52D851-A435-E0CE-A574-D99D1160A9A3}"/>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AED1DFA-BCD4-3F63-356C-E379DDEF50B3}"/>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6E2966F-414E-C4B5-AAF5-ADB1155BC513}"/>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1154A1E-591F-7F5A-21B9-127BC0CB0D13}"/>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427678B-9049-CDBF-7F2F-82DDFC3A643D}"/>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9B7D520-8EE6-2A19-C9CB-B5461D35A603}"/>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8E193AC-A475-FF6C-6539-75FDBC27578F}"/>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7F50F86-595C-4EA4-95D4-B1EA0CF96DD5}"/>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D8E00F5-835D-425E-1D6A-7D34B7B6C565}"/>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11A86E6-15D9-DCB1-70F4-E34BADDCD210}"/>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1F6ADEF-CC58-9744-35CC-670EEE1D07B0}"/>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21F6ADEF-CC58-9744-35CC-670EEE1D07B0}"/>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D617971-4D36-140B-834B-E64854B2DB0E}"/>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0D617971-4D36-140B-834B-E64854B2DB0E}"/>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4FBE51E8-4C82-ED1B-EFDD-974051FD46B4}"/>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18D3A76-AE38-6137-C30A-235D13038435}"/>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1CBA5FC-FA3D-06FB-ED80-30E2C09C113E}"/>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1BA0EB4-3A66-797B-28DB-EBC6FEABDC45}"/>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1ECFD65-4036-2770-DFB6-0054C20428C4}"/>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DE7981E-7B2B-3329-FDCE-019AE53343F0}"/>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09D5A31-A8C1-E36A-CFC3-A78370CD26D9}"/>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F22B6E2-709E-F8F5-D176-9CD67EAF8165}"/>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D2439DE-4623-DDA7-6F04-EC506E4DB0FD}"/>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33ECEA9-12B8-AA7F-4DB4-3BF708861E14}"/>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B886A29-9F74-4AEF-0B95-5EE82A1E2E78}"/>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CB886A29-9F74-4AEF-0B95-5EE82A1E2E78}"/>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A266C5A-0D7E-10EC-37C1-FDAFA2AD38BD}"/>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FA266C5A-0D7E-10EC-37C1-FDAFA2AD38BD}"/>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3564A52E-2A44-3732-CCF3-2E615CE391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spTree>
    <p:extLst>
      <p:ext uri="{BB962C8B-B14F-4D97-AF65-F5344CB8AC3E}">
        <p14:creationId xmlns:p14="http://schemas.microsoft.com/office/powerpoint/2010/main" val="35193588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16543-F428-C305-7BAE-A7E576AB532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B2562E0-80BC-525C-7752-D5314052CC2E}"/>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0B376D00-34F8-5D19-ACBD-BCC67DBC1397}"/>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D77EC64A-2B27-94A8-FA2D-554A536C9A57}"/>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2E6C3573-4D15-CBF1-06CE-7FDBD4D391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9012F6BE-1FDF-BE7E-E007-54943992FEA2}"/>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66E8E96E-67AD-BEE2-ED70-C3D50B3D4C7D}"/>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0CECA071-1062-D978-0B17-3954F2D2C7AA}"/>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333DCD2D-130D-E209-2459-C3E9A560D81B}"/>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333DCD2D-130D-E209-2459-C3E9A560D81B}"/>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460B6CC7-E0C4-AEDF-D66A-AF5AA2DA7C65}"/>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460B6CC7-E0C4-AEDF-D66A-AF5AA2DA7C65}"/>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94644AC7-5DC9-5128-2370-DCC990971028}"/>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94644AC7-5DC9-5128-2370-DCC990971028}"/>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EBBF0978-402C-9522-23FF-F71E08925131}"/>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68271643-3881-99A0-F79B-8BED7A60EBA8}"/>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93B56163-862C-815C-D849-98FEDDEDF7FC}"/>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9C18B918-E8B4-5738-5B82-3B96BB9B83C8}"/>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582B92B4-6059-C4C4-8826-51E130E2C97A}"/>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17B27DBF-10C9-FAB8-1271-83270F9EDD63}"/>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7529C15B-56D8-2204-E2A5-406DC2727F6C}"/>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42BF0C5F-5B5A-9653-B9D7-4506D49C31A4}"/>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86F905A7-A820-FC12-6B9F-41A67A11FA29}"/>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11C8D9E-4542-343A-5EE6-6A707F0B0DFE}"/>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4BD3F6D-F1A6-F38A-AF6C-DBAF8BA58FDF}"/>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14BD3F6D-F1A6-F38A-AF6C-DBAF8BA58FDF}"/>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ADA82D-E6A9-96CA-B63C-E7A5F3886A91}"/>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D0ADA82D-E6A9-96CA-B63C-E7A5F3886A91}"/>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5A63A5DD-F5A3-0F85-299E-3719967F7EAA}"/>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C5732AC-0C53-5039-28FA-DEB78151656C}"/>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0DB2011-1515-ABC3-1616-FE63C37A6901}"/>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5DC6F99-9A68-1A62-96E0-5BB1750608CA}"/>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3946A2F-1520-5AE1-CBBD-0C5D0937B6F2}"/>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2FD38AB-98A0-3556-2392-E4196236E35B}"/>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5EEEA34-9CD1-2D8B-64E5-549AE4F783F1}"/>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5C5FBE0-91D7-9EB7-29E1-7ACA8C909719}"/>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5251891-8F39-1A6A-B57D-CF3129AD859E}"/>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893C215-F0B7-0E75-A3B9-F06D773F2588}"/>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D4ECCBE-F647-20D1-1346-53AAA5357823}"/>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8D4ECCBE-F647-20D1-1346-53AAA5357823}"/>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8C6A110-3580-2580-EDA1-26B6BF35DC4E}"/>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B8C6A110-3580-2580-EDA1-26B6BF35DC4E}"/>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D4E0999F-40FC-D540-DC7F-7BDCC01F49C1}"/>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C15F01-3B45-14AA-4041-B0E073F945ED}"/>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6F8AC9A-A759-E9D6-117A-C4B69D24CFA4}"/>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22136A3-8B99-4C70-C87A-E2EDBF42F23E}"/>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A40F009-BF8B-8F46-E017-ED3E58995D04}"/>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E2C87F5-057D-ACE2-5B8A-ACEB22F01765}"/>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3ADEEC1-6E99-DC11-A693-CECC83BABF35}"/>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A5EA67E-B6F4-7084-C7A0-F6C405716A87}"/>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93333F3-E4E7-FE8B-DE0D-65CBAD3C4A13}"/>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61E15D9-CA5A-D840-0D6F-DC89A6264D0C}"/>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7AF709F-5BF3-A19A-F648-74D868A45C74}"/>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57AF709F-5BF3-A19A-F648-74D868A45C74}"/>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E5EBE52-9C4F-14F8-418C-5228A6D95ED7}"/>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1E5EBE52-9C4F-14F8-418C-5228A6D95ED7}"/>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CD94E51A-EB75-BC66-CE3D-D701AEB8B5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sp>
        <p:nvSpPr>
          <p:cNvPr id="34" name="Rectangle 33">
            <a:extLst>
              <a:ext uri="{FF2B5EF4-FFF2-40B4-BE49-F238E27FC236}">
                <a16:creationId xmlns:a16="http://schemas.microsoft.com/office/drawing/2014/main" id="{F46041A6-1117-F544-9ACE-ABDCAE1B4303}"/>
              </a:ext>
            </a:extLst>
          </p:cNvPr>
          <p:cNvSpPr/>
          <p:nvPr/>
        </p:nvSpPr>
        <p:spPr>
          <a:xfrm>
            <a:off x="5655659" y="549477"/>
            <a:ext cx="6428766" cy="620712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CEE39F9-3496-14E1-AFB4-97397C838403}"/>
              </a:ext>
            </a:extLst>
          </p:cNvPr>
          <p:cNvSpPr/>
          <p:nvPr/>
        </p:nvSpPr>
        <p:spPr>
          <a:xfrm>
            <a:off x="6886954" y="11385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4CFC21C-752D-A25E-32D4-84D2550D697F}"/>
              </a:ext>
            </a:extLst>
          </p:cNvPr>
          <p:cNvSpPr/>
          <p:nvPr/>
        </p:nvSpPr>
        <p:spPr>
          <a:xfrm>
            <a:off x="7465266" y="13269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D3C6204-DB3E-159D-ED2A-1CB8A82E7C96}"/>
              </a:ext>
            </a:extLst>
          </p:cNvPr>
          <p:cNvSpPr/>
          <p:nvPr/>
        </p:nvSpPr>
        <p:spPr>
          <a:xfrm>
            <a:off x="7366566" y="18687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2EA9E2E-39BE-0EBD-783C-FF180DB422E6}"/>
              </a:ext>
            </a:extLst>
          </p:cNvPr>
          <p:cNvSpPr/>
          <p:nvPr/>
        </p:nvSpPr>
        <p:spPr>
          <a:xfrm>
            <a:off x="7998668" y="14524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2E82509-4004-7775-7ADE-9BFDD505FA72}"/>
              </a:ext>
            </a:extLst>
          </p:cNvPr>
          <p:cNvSpPr/>
          <p:nvPr/>
        </p:nvSpPr>
        <p:spPr>
          <a:xfrm>
            <a:off x="7057463" y="14513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D5368B9-8259-A7F1-E751-C270B50F55F5}"/>
              </a:ext>
            </a:extLst>
          </p:cNvPr>
          <p:cNvSpPr/>
          <p:nvPr/>
        </p:nvSpPr>
        <p:spPr>
          <a:xfrm>
            <a:off x="9934958" y="13142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8B898308-F78A-BD1B-F88B-33DD1F68C634}"/>
              </a:ext>
            </a:extLst>
          </p:cNvPr>
          <p:cNvSpPr/>
          <p:nvPr/>
        </p:nvSpPr>
        <p:spPr>
          <a:xfrm>
            <a:off x="10184442" y="18227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A90449E-67DD-4000-DE5B-DB3EA0A167D6}"/>
              </a:ext>
            </a:extLst>
          </p:cNvPr>
          <p:cNvSpPr/>
          <p:nvPr/>
        </p:nvSpPr>
        <p:spPr>
          <a:xfrm>
            <a:off x="9435259" y="15652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CB5DD880-C252-81CF-497A-4E0C0E5FED7E}"/>
              </a:ext>
            </a:extLst>
          </p:cNvPr>
          <p:cNvSpPr/>
          <p:nvPr/>
        </p:nvSpPr>
        <p:spPr>
          <a:xfrm>
            <a:off x="9395010" y="11385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16DF9A3-CA75-216D-8F9F-924A1A4B7AEF}"/>
              </a:ext>
            </a:extLst>
          </p:cNvPr>
          <p:cNvSpPr/>
          <p:nvPr/>
        </p:nvSpPr>
        <p:spPr>
          <a:xfrm>
            <a:off x="9128130" y="11286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2BE8AB1-FC5A-579C-EE3A-48B31A8B2782}"/>
                  </a:ext>
                </a:extLst>
              </p:cNvPr>
              <p:cNvSpPr txBox="1"/>
              <p:nvPr/>
            </p:nvSpPr>
            <p:spPr>
              <a:xfrm>
                <a:off x="6834197" y="23168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45" name="TextBox 44">
                <a:extLst>
                  <a:ext uri="{FF2B5EF4-FFF2-40B4-BE49-F238E27FC236}">
                    <a16:creationId xmlns:a16="http://schemas.microsoft.com/office/drawing/2014/main" id="{E2BE8AB1-FC5A-579C-EE3A-48B31A8B2782}"/>
                  </a:ext>
                </a:extLst>
              </p:cNvPr>
              <p:cNvSpPr txBox="1">
                <a:spLocks noRot="1" noChangeAspect="1" noMove="1" noResize="1" noEditPoints="1" noAdjustHandles="1" noChangeArrowheads="1" noChangeShapeType="1" noTextEdit="1"/>
              </p:cNvSpPr>
              <p:nvPr/>
            </p:nvSpPr>
            <p:spPr>
              <a:xfrm>
                <a:off x="6834197" y="2316871"/>
                <a:ext cx="1566760" cy="646331"/>
              </a:xfrm>
              <a:prstGeom prst="rect">
                <a:avLst/>
              </a:prstGeom>
              <a:blipFill>
                <a:blip r:embed="rId14"/>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2E5DC58-989B-7D3B-DF92-D11314489CB8}"/>
                  </a:ext>
                </a:extLst>
              </p:cNvPr>
              <p:cNvSpPr txBox="1"/>
              <p:nvPr/>
            </p:nvSpPr>
            <p:spPr>
              <a:xfrm>
                <a:off x="8829880" y="23433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46" name="TextBox 45">
                <a:extLst>
                  <a:ext uri="{FF2B5EF4-FFF2-40B4-BE49-F238E27FC236}">
                    <a16:creationId xmlns:a16="http://schemas.microsoft.com/office/drawing/2014/main" id="{52E5DC58-989B-7D3B-DF92-D11314489CB8}"/>
                  </a:ext>
                </a:extLst>
              </p:cNvPr>
              <p:cNvSpPr txBox="1">
                <a:spLocks noRot="1" noChangeAspect="1" noMove="1" noResize="1" noEditPoints="1" noAdjustHandles="1" noChangeArrowheads="1" noChangeShapeType="1" noTextEdit="1"/>
              </p:cNvSpPr>
              <p:nvPr/>
            </p:nvSpPr>
            <p:spPr>
              <a:xfrm>
                <a:off x="8829880" y="2343399"/>
                <a:ext cx="1914321" cy="646331"/>
              </a:xfrm>
              <a:prstGeom prst="rect">
                <a:avLst/>
              </a:prstGeom>
              <a:blipFill>
                <a:blip r:embed="rId15"/>
                <a:stretch>
                  <a:fillRect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C56F882-001F-816E-E155-A1979B5CAF70}"/>
                  </a:ext>
                </a:extLst>
              </p:cNvPr>
              <p:cNvSpPr txBox="1"/>
              <p:nvPr/>
            </p:nvSpPr>
            <p:spPr>
              <a:xfrm>
                <a:off x="7709471" y="628988"/>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7" name="TextBox 46">
                <a:extLst>
                  <a:ext uri="{FF2B5EF4-FFF2-40B4-BE49-F238E27FC236}">
                    <a16:creationId xmlns:a16="http://schemas.microsoft.com/office/drawing/2014/main" id="{BC56F882-001F-816E-E155-A1979B5CAF70}"/>
                  </a:ext>
                </a:extLst>
              </p:cNvPr>
              <p:cNvSpPr txBox="1">
                <a:spLocks noRot="1" noChangeAspect="1" noMove="1" noResize="1" noEditPoints="1" noAdjustHandles="1" noChangeArrowheads="1" noChangeShapeType="1" noTextEdit="1"/>
              </p:cNvSpPr>
              <p:nvPr/>
            </p:nvSpPr>
            <p:spPr>
              <a:xfrm>
                <a:off x="7709471" y="628988"/>
                <a:ext cx="2023782" cy="369332"/>
              </a:xfrm>
              <a:prstGeom prst="rect">
                <a:avLst/>
              </a:prstGeom>
              <a:blipFill>
                <a:blip r:embed="rId16"/>
                <a:stretch>
                  <a:fillRect l="-2711"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27365367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9F45-BA31-283C-B4E3-A84822C552B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1A212BF-71CB-DBF5-04B5-D322DD1434EA}"/>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15C62C5F-3AE3-C859-5333-78F4E5C9C86E}"/>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E93E94DA-8595-36A0-540C-B9473AF37784}"/>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B8D3AF12-2FEA-BCE4-00EE-A4D9F968EE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5847098C-978C-21BE-7E2D-C0BCFA979101}"/>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7C4C2889-EA91-FFB1-6811-D5BBCFDC339B}"/>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4760F1E2-37C5-75F0-5108-AD8C43B620EA}"/>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24FC9E84-DBD4-4D8B-5052-48CB0E94E20B}"/>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24FC9E84-DBD4-4D8B-5052-48CB0E94E20B}"/>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763FFEC7-078E-6F79-C8C0-7A73B2EEF8D5}"/>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763FFEC7-078E-6F79-C8C0-7A73B2EEF8D5}"/>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5E0DD00B-7516-1D2E-142C-C5F8E505147D}"/>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5E0DD00B-7516-1D2E-142C-C5F8E505147D}"/>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B66613DB-53E8-98AE-4DEE-03179EF0EA3C}"/>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79FB2706-2358-1929-1690-CAEAC306CF0A}"/>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4B14697A-F652-E234-F3DB-F30556C9D1D5}"/>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73D61791-56CB-773E-CA52-09B0B573AD02}"/>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889E7E06-7633-E7DF-6A83-24CD3C63AE40}"/>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6F958A87-420C-B1FA-8E08-843FF9B8D562}"/>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E781175-ECF2-7B4F-F8C1-0836426F2139}"/>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14E12464-162B-B0BA-9F0C-8CA7AF0AAE98}"/>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6BCCBC73-5BA5-926A-A77C-8C10815CD63A}"/>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EFE4743-8139-33E5-A640-D13B0F0FD656}"/>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9B1EED2-362D-049A-AA46-94A159A823EB}"/>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E9B1EED2-362D-049A-AA46-94A159A823EB}"/>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DDBB31A-C63A-2913-DF46-33507EB80468}"/>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FDDBB31A-C63A-2913-DF46-33507EB80468}"/>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474658DB-25CC-D119-BAB6-D1910C282902}"/>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AC381C8-8C17-CD8B-4E15-F3310075AEB5}"/>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9C8F235-F4EC-4520-5EE2-D96AB47C6E1A}"/>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95A8144-5941-19DD-7586-F18E83DF3072}"/>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EBACAE3-FAF1-92DE-E7E7-C1605345FBF0}"/>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3AB6CC8-9C59-F3A0-4A0C-50671022B0A8}"/>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0085446-7CE3-7427-B3CC-55E414D9F5C2}"/>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0AC3B0C-5739-226A-7F2A-A435457B1F0B}"/>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E1F6807-ECC7-1BBA-BD85-F6BD869731C0}"/>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3E0079E-B877-481D-4F0E-267CF4DF6D25}"/>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4C0AE17-73B1-5D41-5C2E-DF24271EEFDC}"/>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E4C0AE17-73B1-5D41-5C2E-DF24271EEFDC}"/>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469D85C-DA64-6AE1-15CB-306995E5688F}"/>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5469D85C-DA64-6AE1-15CB-306995E5688F}"/>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1E032238-CAEC-B7CA-5BF4-3105DD17A5F6}"/>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F6C8B75-1AF4-9DC5-6821-1CE79CC8455E}"/>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1B5A141-3FB5-6528-C580-F601F8E3287E}"/>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E0757CF-E6AD-241B-DEFD-A6DBD744A33D}"/>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B182D37-1ED3-509A-9D9E-F7946CB16F75}"/>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D342D17-C4B7-CF9B-24B9-DD6A4A07C8A9}"/>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E95A2DE-CB8C-43DC-77F4-9082CFAE641B}"/>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F49310F-250B-E26D-6433-95D26D115323}"/>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9E49C57-2DD8-47B6-4D11-068772950F5F}"/>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B3DC51-BA91-FFB9-8F0C-2258FD466CCC}"/>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A925D17-3EAC-AED9-50E6-EF1D5E8E9FA6}"/>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0A925D17-3EAC-AED9-50E6-EF1D5E8E9FA6}"/>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30C8C76-6BDA-A72E-E152-2DA58B2B8AC3}"/>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830C8C76-6BDA-A72E-E152-2DA58B2B8AC3}"/>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AC545B57-CDFA-EFA6-E8C4-4BD5B3D1B5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sp>
        <p:nvSpPr>
          <p:cNvPr id="34" name="Rectangle 33">
            <a:extLst>
              <a:ext uri="{FF2B5EF4-FFF2-40B4-BE49-F238E27FC236}">
                <a16:creationId xmlns:a16="http://schemas.microsoft.com/office/drawing/2014/main" id="{653D251E-C24A-1E3E-D2E7-045BBF636E3A}"/>
              </a:ext>
            </a:extLst>
          </p:cNvPr>
          <p:cNvSpPr/>
          <p:nvPr/>
        </p:nvSpPr>
        <p:spPr>
          <a:xfrm>
            <a:off x="5655659" y="549477"/>
            <a:ext cx="6428766" cy="620712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FC4BC34-11F2-CE50-3E6F-C64A450C7D9E}"/>
              </a:ext>
            </a:extLst>
          </p:cNvPr>
          <p:cNvSpPr/>
          <p:nvPr/>
        </p:nvSpPr>
        <p:spPr>
          <a:xfrm>
            <a:off x="6886954" y="11385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F1275F8-A4CE-AD3C-4D56-BE556AC3E34F}"/>
              </a:ext>
            </a:extLst>
          </p:cNvPr>
          <p:cNvSpPr/>
          <p:nvPr/>
        </p:nvSpPr>
        <p:spPr>
          <a:xfrm>
            <a:off x="7465266" y="13269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FF64832E-E1AB-5B56-48F9-C5FA857B4E9B}"/>
              </a:ext>
            </a:extLst>
          </p:cNvPr>
          <p:cNvSpPr/>
          <p:nvPr/>
        </p:nvSpPr>
        <p:spPr>
          <a:xfrm>
            <a:off x="7366566" y="18687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00A48F9-9925-6216-5296-E028CE2D751E}"/>
              </a:ext>
            </a:extLst>
          </p:cNvPr>
          <p:cNvSpPr/>
          <p:nvPr/>
        </p:nvSpPr>
        <p:spPr>
          <a:xfrm>
            <a:off x="7998668" y="14524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0B875F1-E7A9-9CE2-4445-F82CD4946BF9}"/>
              </a:ext>
            </a:extLst>
          </p:cNvPr>
          <p:cNvSpPr/>
          <p:nvPr/>
        </p:nvSpPr>
        <p:spPr>
          <a:xfrm>
            <a:off x="7057463" y="14513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7AD087A-3E5B-A930-3D45-0B76CC1F9B41}"/>
              </a:ext>
            </a:extLst>
          </p:cNvPr>
          <p:cNvSpPr/>
          <p:nvPr/>
        </p:nvSpPr>
        <p:spPr>
          <a:xfrm>
            <a:off x="9934958" y="13142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FFB53C8-3411-C423-5B3F-68203DE49F7C}"/>
              </a:ext>
            </a:extLst>
          </p:cNvPr>
          <p:cNvSpPr/>
          <p:nvPr/>
        </p:nvSpPr>
        <p:spPr>
          <a:xfrm>
            <a:off x="10184442" y="1822751"/>
            <a:ext cx="251011" cy="251011"/>
          </a:xfrm>
          <a:prstGeom prst="ellipse">
            <a:avLst/>
          </a:prstGeom>
          <a:solidFill>
            <a:srgbClr val="FF0000"/>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008257F-AB1B-4EBF-C4BF-B60A1F0A74FB}"/>
              </a:ext>
            </a:extLst>
          </p:cNvPr>
          <p:cNvSpPr/>
          <p:nvPr/>
        </p:nvSpPr>
        <p:spPr>
          <a:xfrm>
            <a:off x="9435259" y="15652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585824F1-48F1-A775-72C9-FB0FC8F99723}"/>
              </a:ext>
            </a:extLst>
          </p:cNvPr>
          <p:cNvSpPr/>
          <p:nvPr/>
        </p:nvSpPr>
        <p:spPr>
          <a:xfrm>
            <a:off x="9395010" y="11385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0B97FDE-884D-C245-84C4-DFA462343D54}"/>
              </a:ext>
            </a:extLst>
          </p:cNvPr>
          <p:cNvSpPr/>
          <p:nvPr/>
        </p:nvSpPr>
        <p:spPr>
          <a:xfrm>
            <a:off x="9128130" y="11286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50BA705-3E5B-622F-79FD-471F62ABEE20}"/>
                  </a:ext>
                </a:extLst>
              </p:cNvPr>
              <p:cNvSpPr txBox="1"/>
              <p:nvPr/>
            </p:nvSpPr>
            <p:spPr>
              <a:xfrm>
                <a:off x="6834197" y="23168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45" name="TextBox 44">
                <a:extLst>
                  <a:ext uri="{FF2B5EF4-FFF2-40B4-BE49-F238E27FC236}">
                    <a16:creationId xmlns:a16="http://schemas.microsoft.com/office/drawing/2014/main" id="{E50BA705-3E5B-622F-79FD-471F62ABEE20}"/>
                  </a:ext>
                </a:extLst>
              </p:cNvPr>
              <p:cNvSpPr txBox="1">
                <a:spLocks noRot="1" noChangeAspect="1" noMove="1" noResize="1" noEditPoints="1" noAdjustHandles="1" noChangeArrowheads="1" noChangeShapeType="1" noTextEdit="1"/>
              </p:cNvSpPr>
              <p:nvPr/>
            </p:nvSpPr>
            <p:spPr>
              <a:xfrm>
                <a:off x="6834197" y="2316871"/>
                <a:ext cx="1566760" cy="646331"/>
              </a:xfrm>
              <a:prstGeom prst="rect">
                <a:avLst/>
              </a:prstGeom>
              <a:blipFill>
                <a:blip r:embed="rId14"/>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F0C67EF-39FF-0BDE-7AC9-0EACF395B6F2}"/>
                  </a:ext>
                </a:extLst>
              </p:cNvPr>
              <p:cNvSpPr txBox="1"/>
              <p:nvPr/>
            </p:nvSpPr>
            <p:spPr>
              <a:xfrm>
                <a:off x="8829880" y="23433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46" name="TextBox 45">
                <a:extLst>
                  <a:ext uri="{FF2B5EF4-FFF2-40B4-BE49-F238E27FC236}">
                    <a16:creationId xmlns:a16="http://schemas.microsoft.com/office/drawing/2014/main" id="{CF0C67EF-39FF-0BDE-7AC9-0EACF395B6F2}"/>
                  </a:ext>
                </a:extLst>
              </p:cNvPr>
              <p:cNvSpPr txBox="1">
                <a:spLocks noRot="1" noChangeAspect="1" noMove="1" noResize="1" noEditPoints="1" noAdjustHandles="1" noChangeArrowheads="1" noChangeShapeType="1" noTextEdit="1"/>
              </p:cNvSpPr>
              <p:nvPr/>
            </p:nvSpPr>
            <p:spPr>
              <a:xfrm>
                <a:off x="8829880" y="2343399"/>
                <a:ext cx="1914321" cy="646331"/>
              </a:xfrm>
              <a:prstGeom prst="rect">
                <a:avLst/>
              </a:prstGeom>
              <a:blipFill>
                <a:blip r:embed="rId15"/>
                <a:stretch>
                  <a:fillRect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E2B2842-B479-4069-B2FC-BAAD728F9EAF}"/>
                  </a:ext>
                </a:extLst>
              </p:cNvPr>
              <p:cNvSpPr txBox="1"/>
              <p:nvPr/>
            </p:nvSpPr>
            <p:spPr>
              <a:xfrm>
                <a:off x="7709471" y="628988"/>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7" name="TextBox 46">
                <a:extLst>
                  <a:ext uri="{FF2B5EF4-FFF2-40B4-BE49-F238E27FC236}">
                    <a16:creationId xmlns:a16="http://schemas.microsoft.com/office/drawing/2014/main" id="{2E2B2842-B479-4069-B2FC-BAAD728F9EAF}"/>
                  </a:ext>
                </a:extLst>
              </p:cNvPr>
              <p:cNvSpPr txBox="1">
                <a:spLocks noRot="1" noChangeAspect="1" noMove="1" noResize="1" noEditPoints="1" noAdjustHandles="1" noChangeArrowheads="1" noChangeShapeType="1" noTextEdit="1"/>
              </p:cNvSpPr>
              <p:nvPr/>
            </p:nvSpPr>
            <p:spPr>
              <a:xfrm>
                <a:off x="7709471" y="628988"/>
                <a:ext cx="2023782" cy="369332"/>
              </a:xfrm>
              <a:prstGeom prst="rect">
                <a:avLst/>
              </a:prstGeom>
              <a:blipFill>
                <a:blip r:embed="rId16"/>
                <a:stretch>
                  <a:fillRect l="-2711" t="-8197"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979FC6AB-CF03-016C-3637-BEE5F11A2C77}"/>
              </a:ext>
            </a:extLst>
          </p:cNvPr>
          <p:cNvSpPr txBox="1"/>
          <p:nvPr/>
        </p:nvSpPr>
        <p:spPr>
          <a:xfrm>
            <a:off x="6096000" y="3343800"/>
            <a:ext cx="5638800" cy="646331"/>
          </a:xfrm>
          <a:prstGeom prst="rect">
            <a:avLst/>
          </a:prstGeom>
          <a:noFill/>
        </p:spPr>
        <p:txBody>
          <a:bodyPr wrap="square" rtlCol="0">
            <a:spAutoFit/>
          </a:bodyPr>
          <a:lstStyle/>
          <a:p>
            <a:r>
              <a:rPr lang="en-US" dirty="0"/>
              <a:t>If any profile in this group is a Nash Equilibrium, it must be that for any one person that does out...</a:t>
            </a:r>
          </a:p>
        </p:txBody>
      </p:sp>
      <p:sp>
        <p:nvSpPr>
          <p:cNvPr id="49" name="Rectangle 48">
            <a:extLst>
              <a:ext uri="{FF2B5EF4-FFF2-40B4-BE49-F238E27FC236}">
                <a16:creationId xmlns:a16="http://schemas.microsoft.com/office/drawing/2014/main" id="{CFA6C38F-D56B-1B4F-DAEF-F7025851750C}"/>
              </a:ext>
            </a:extLst>
          </p:cNvPr>
          <p:cNvSpPr/>
          <p:nvPr/>
        </p:nvSpPr>
        <p:spPr>
          <a:xfrm>
            <a:off x="6910262" y="3675637"/>
            <a:ext cx="2971937" cy="24190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52538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50373-CFAB-228B-5315-681F653C6F6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BA33311-DB4E-BB7D-7386-C7DA40392ABB}"/>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01DF0581-C2E6-2AE9-7096-6AB2AADE3CB9}"/>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EE7B3014-9577-7BF6-FBD6-EB719C33347B}"/>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31E7E0C6-3040-CE2E-28B2-EEAD8B52CB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4CFE3805-0E6E-5D8D-3DD8-55DFBE3651AB}"/>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A9666ABD-4929-3A2F-2108-604ECE2BEFF0}"/>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C663293D-9A61-4D5F-34A9-28270D9ABBB1}"/>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52BDFDF1-F72C-588B-AADA-B7FA72B169A7}"/>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52BDFDF1-F72C-588B-AADA-B7FA72B169A7}"/>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80CD2CA8-6914-7508-9C49-22CDAE69853B}"/>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80CD2CA8-6914-7508-9C49-22CDAE69853B}"/>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A8D94891-B9E2-2B17-4E8C-19F7E9C3C6C1}"/>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A8D94891-B9E2-2B17-4E8C-19F7E9C3C6C1}"/>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9725CA6F-5C15-4943-09C9-1A8F81E0BD43}"/>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3ECAC1AF-C471-8A52-7AE1-B22286FFE053}"/>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54471A56-835A-95D2-51F1-A6B26947E57E}"/>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B12AB985-76C0-B23E-4EB6-CD33F4E6661F}"/>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FD574937-DDE4-6E53-A67E-68173C4AC8F7}"/>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3B2DAD21-E702-F05D-4C6B-9ACFFE7A06CF}"/>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98C24F10-CC78-F488-DB00-6342A730663A}"/>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86BB6067-9B80-1B64-E9F6-926FA5168F4B}"/>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8927DA11-8E92-D2B1-FF71-751569DCA6DF}"/>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E8ADCAD-E67A-BAC3-636E-A970314D2E60}"/>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BC0D912-C412-5209-AE50-21C9F7422042}"/>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1BC0D912-C412-5209-AE50-21C9F7422042}"/>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34D26C1-BAB2-5AB1-AB47-99D0BA1C1EA4}"/>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834D26C1-BAB2-5AB1-AB47-99D0BA1C1EA4}"/>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756D3BFA-D7E7-0629-1A1D-491E91E127D5}"/>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C52B4E5-E39F-14F1-0EEB-C84A4C1070E0}"/>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DA3D89E-BCB6-9127-36D6-EDF7175B5CDF}"/>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2076630-3115-BDB0-226D-8AFDDECD887A}"/>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C6D190C-C517-FA47-588E-5CA1CDF237F1}"/>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75991DF-7FA2-9C1C-1CB9-493228D67249}"/>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AB6F64E-2409-6EB9-E4FD-ED8DF1676030}"/>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9431124-B7DD-4121-B561-EC8E9DC96FA5}"/>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91C46B7-757C-BB57-8445-74A91812CF7B}"/>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63110F9-E291-9F43-2D64-BD6CBDE96B64}"/>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D7D20B5-D26A-9097-42BF-631374D71BAB}"/>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FD7D20B5-D26A-9097-42BF-631374D71BAB}"/>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DC3C835-A835-05CB-F53E-EDECAB907CCF}"/>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ADC3C835-A835-05CB-F53E-EDECAB907CCF}"/>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5C8DC6B0-56EE-9F4B-0F9E-579E3C956D93}"/>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D2CA3E6-3195-3EA2-1298-B366AC16A88F}"/>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DB13E68-0D65-AE0B-5030-2ECE08AD8CAA}"/>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F752D86-C515-CD3A-D9B1-483CAFA73788}"/>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C21F8C6-D164-E9EF-E179-47AA78ACE802}"/>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F2E41C2-28BC-9C66-556A-84C4E65D7F5E}"/>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4457389-4B75-B20E-5B84-C9D1BA1398A4}"/>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2D813AC-3DEC-DB49-01AE-FAFEDC1CA08D}"/>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276BAA0-1F74-28CD-A9B5-51D297B0411F}"/>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1A3CCE9-0F2E-6C7C-3356-CEF3390FBFD1}"/>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449B2B9-E144-D6F0-E20B-CD84A35D917F}"/>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E449B2B9-E144-D6F0-E20B-CD84A35D917F}"/>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D287A96-881E-364C-E14D-18EC83F25064}"/>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8D287A96-881E-364C-E14D-18EC83F25064}"/>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97313F56-A85E-D1BE-C60E-79AA710E1F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sp>
        <p:nvSpPr>
          <p:cNvPr id="34" name="Rectangle 33">
            <a:extLst>
              <a:ext uri="{FF2B5EF4-FFF2-40B4-BE49-F238E27FC236}">
                <a16:creationId xmlns:a16="http://schemas.microsoft.com/office/drawing/2014/main" id="{545A30E9-399E-8B45-8DCD-07FAAB5EB8A8}"/>
              </a:ext>
            </a:extLst>
          </p:cNvPr>
          <p:cNvSpPr/>
          <p:nvPr/>
        </p:nvSpPr>
        <p:spPr>
          <a:xfrm>
            <a:off x="5655659" y="549477"/>
            <a:ext cx="6428766" cy="620712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C085973-2657-6616-A02A-39365B2A3895}"/>
              </a:ext>
            </a:extLst>
          </p:cNvPr>
          <p:cNvSpPr/>
          <p:nvPr/>
        </p:nvSpPr>
        <p:spPr>
          <a:xfrm>
            <a:off x="6886954" y="11385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D6EF323-3F78-9B24-5F2A-979A64B0B582}"/>
              </a:ext>
            </a:extLst>
          </p:cNvPr>
          <p:cNvSpPr/>
          <p:nvPr/>
        </p:nvSpPr>
        <p:spPr>
          <a:xfrm>
            <a:off x="7465266" y="13269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52C4C8AA-F7B3-BC68-0C74-4C551B33CC9B}"/>
              </a:ext>
            </a:extLst>
          </p:cNvPr>
          <p:cNvSpPr/>
          <p:nvPr/>
        </p:nvSpPr>
        <p:spPr>
          <a:xfrm>
            <a:off x="7366566" y="18687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20BD4890-1248-031F-9769-AC3C314EC3CC}"/>
              </a:ext>
            </a:extLst>
          </p:cNvPr>
          <p:cNvSpPr/>
          <p:nvPr/>
        </p:nvSpPr>
        <p:spPr>
          <a:xfrm>
            <a:off x="7998668" y="14524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84DBE751-6769-E0FB-C8AC-E0A621D23C64}"/>
              </a:ext>
            </a:extLst>
          </p:cNvPr>
          <p:cNvSpPr/>
          <p:nvPr/>
        </p:nvSpPr>
        <p:spPr>
          <a:xfrm>
            <a:off x="7057463" y="14513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FA27897-0B91-7934-D87C-C1F823C1DECA}"/>
              </a:ext>
            </a:extLst>
          </p:cNvPr>
          <p:cNvSpPr/>
          <p:nvPr/>
        </p:nvSpPr>
        <p:spPr>
          <a:xfrm>
            <a:off x="9934958" y="13142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9DD21F6-CAB2-6A92-8972-8918E3B558CB}"/>
              </a:ext>
            </a:extLst>
          </p:cNvPr>
          <p:cNvSpPr/>
          <p:nvPr/>
        </p:nvSpPr>
        <p:spPr>
          <a:xfrm>
            <a:off x="10184442" y="1822751"/>
            <a:ext cx="251011" cy="251011"/>
          </a:xfrm>
          <a:prstGeom prst="ellipse">
            <a:avLst/>
          </a:prstGeom>
          <a:solidFill>
            <a:srgbClr val="FF0000"/>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F782497-DDC9-5BB1-F0A6-B422E9A949B4}"/>
              </a:ext>
            </a:extLst>
          </p:cNvPr>
          <p:cNvSpPr/>
          <p:nvPr/>
        </p:nvSpPr>
        <p:spPr>
          <a:xfrm>
            <a:off x="9435259" y="15652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20A59692-C2CE-1A1F-18E7-C155D6A4F0CA}"/>
              </a:ext>
            </a:extLst>
          </p:cNvPr>
          <p:cNvSpPr/>
          <p:nvPr/>
        </p:nvSpPr>
        <p:spPr>
          <a:xfrm>
            <a:off x="9395010" y="11385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628DE8D-C993-C5CB-F944-6669706F6CEE}"/>
              </a:ext>
            </a:extLst>
          </p:cNvPr>
          <p:cNvSpPr/>
          <p:nvPr/>
        </p:nvSpPr>
        <p:spPr>
          <a:xfrm>
            <a:off x="9128130" y="11286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1FA74CD-6D0D-FC31-7201-EC5683251A2C}"/>
                  </a:ext>
                </a:extLst>
              </p:cNvPr>
              <p:cNvSpPr txBox="1"/>
              <p:nvPr/>
            </p:nvSpPr>
            <p:spPr>
              <a:xfrm>
                <a:off x="6834197" y="23168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45" name="TextBox 44">
                <a:extLst>
                  <a:ext uri="{FF2B5EF4-FFF2-40B4-BE49-F238E27FC236}">
                    <a16:creationId xmlns:a16="http://schemas.microsoft.com/office/drawing/2014/main" id="{51FA74CD-6D0D-FC31-7201-EC5683251A2C}"/>
                  </a:ext>
                </a:extLst>
              </p:cNvPr>
              <p:cNvSpPr txBox="1">
                <a:spLocks noRot="1" noChangeAspect="1" noMove="1" noResize="1" noEditPoints="1" noAdjustHandles="1" noChangeArrowheads="1" noChangeShapeType="1" noTextEdit="1"/>
              </p:cNvSpPr>
              <p:nvPr/>
            </p:nvSpPr>
            <p:spPr>
              <a:xfrm>
                <a:off x="6834197" y="2316871"/>
                <a:ext cx="1566760" cy="646331"/>
              </a:xfrm>
              <a:prstGeom prst="rect">
                <a:avLst/>
              </a:prstGeom>
              <a:blipFill>
                <a:blip r:embed="rId14"/>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8E24DFB-070D-C073-723D-F477B760AA88}"/>
                  </a:ext>
                </a:extLst>
              </p:cNvPr>
              <p:cNvSpPr txBox="1"/>
              <p:nvPr/>
            </p:nvSpPr>
            <p:spPr>
              <a:xfrm>
                <a:off x="8829880" y="23433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46" name="TextBox 45">
                <a:extLst>
                  <a:ext uri="{FF2B5EF4-FFF2-40B4-BE49-F238E27FC236}">
                    <a16:creationId xmlns:a16="http://schemas.microsoft.com/office/drawing/2014/main" id="{A8E24DFB-070D-C073-723D-F477B760AA88}"/>
                  </a:ext>
                </a:extLst>
              </p:cNvPr>
              <p:cNvSpPr txBox="1">
                <a:spLocks noRot="1" noChangeAspect="1" noMove="1" noResize="1" noEditPoints="1" noAdjustHandles="1" noChangeArrowheads="1" noChangeShapeType="1" noTextEdit="1"/>
              </p:cNvSpPr>
              <p:nvPr/>
            </p:nvSpPr>
            <p:spPr>
              <a:xfrm>
                <a:off x="8829880" y="2343399"/>
                <a:ext cx="1914321" cy="646331"/>
              </a:xfrm>
              <a:prstGeom prst="rect">
                <a:avLst/>
              </a:prstGeom>
              <a:blipFill>
                <a:blip r:embed="rId15"/>
                <a:stretch>
                  <a:fillRect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C347CE4-3B54-27FD-3296-613CD7B8423F}"/>
                  </a:ext>
                </a:extLst>
              </p:cNvPr>
              <p:cNvSpPr txBox="1"/>
              <p:nvPr/>
            </p:nvSpPr>
            <p:spPr>
              <a:xfrm>
                <a:off x="7709471" y="628988"/>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7" name="TextBox 46">
                <a:extLst>
                  <a:ext uri="{FF2B5EF4-FFF2-40B4-BE49-F238E27FC236}">
                    <a16:creationId xmlns:a16="http://schemas.microsoft.com/office/drawing/2014/main" id="{7C347CE4-3B54-27FD-3296-613CD7B8423F}"/>
                  </a:ext>
                </a:extLst>
              </p:cNvPr>
              <p:cNvSpPr txBox="1">
                <a:spLocks noRot="1" noChangeAspect="1" noMove="1" noResize="1" noEditPoints="1" noAdjustHandles="1" noChangeArrowheads="1" noChangeShapeType="1" noTextEdit="1"/>
              </p:cNvSpPr>
              <p:nvPr/>
            </p:nvSpPr>
            <p:spPr>
              <a:xfrm>
                <a:off x="7709471" y="628988"/>
                <a:ext cx="2023782" cy="369332"/>
              </a:xfrm>
              <a:prstGeom prst="rect">
                <a:avLst/>
              </a:prstGeom>
              <a:blipFill>
                <a:blip r:embed="rId16"/>
                <a:stretch>
                  <a:fillRect l="-2711"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5009A33-DDF3-6DE5-AF9B-6CE785C46258}"/>
                  </a:ext>
                </a:extLst>
              </p:cNvPr>
              <p:cNvSpPr txBox="1"/>
              <p:nvPr/>
            </p:nvSpPr>
            <p:spPr>
              <a:xfrm>
                <a:off x="6096000" y="3343800"/>
                <a:ext cx="5638800" cy="1200329"/>
              </a:xfrm>
              <a:prstGeom prst="rect">
                <a:avLst/>
              </a:prstGeom>
              <a:noFill/>
            </p:spPr>
            <p:txBody>
              <a:bodyPr wrap="square" rtlCol="0">
                <a:spAutoFit/>
              </a:bodyPr>
              <a:lstStyle/>
              <a:p>
                <a:r>
                  <a:rPr lang="en-US" dirty="0"/>
                  <a:t>If any profile in this group is a Nash Equilibrium, it must be that for any one person that does </a:t>
                </a:r>
                <a:r>
                  <a:rPr lang="en-US" i="1" dirty="0"/>
                  <a:t>out</a:t>
                </a:r>
                <a:r>
                  <a:rPr lang="en-US" dirty="0"/>
                  <a:t>... doing </a:t>
                </a:r>
                <a:r>
                  <a:rPr lang="en-US" i="1" dirty="0"/>
                  <a:t>out </a:t>
                </a:r>
                <a:r>
                  <a:rPr lang="en-US" dirty="0"/>
                  <a:t>is a best response to the expectation that some number </a:t>
                </a:r>
                <a14:m>
                  <m:oMath xmlns:m="http://schemas.openxmlformats.org/officeDocument/2006/math">
                    <m:r>
                      <a:rPr lang="en-US" b="0" i="1" smtClean="0">
                        <a:latin typeface="Cambria Math" panose="02040503050406030204" pitchFamily="18" charset="0"/>
                      </a:rPr>
                      <m:t>𝐾</m:t>
                    </m:r>
                  </m:oMath>
                </a14:m>
                <a:r>
                  <a:rPr lang="en-US" dirty="0"/>
                  <a:t> of the other persons do </a:t>
                </a:r>
                <a:r>
                  <a:rPr lang="en-US" i="1" dirty="0"/>
                  <a:t>in</a:t>
                </a:r>
                <a:r>
                  <a:rPr lang="en-US" dirty="0"/>
                  <a:t>, where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&lt;</m:t>
                    </m:r>
                    <m:r>
                      <a:rPr lang="en-US" b="0" i="1" smtClean="0">
                        <a:latin typeface="Cambria Math" panose="02040503050406030204" pitchFamily="18" charset="0"/>
                      </a:rPr>
                      <m:t>𝑆</m:t>
                    </m:r>
                  </m:oMath>
                </a14:m>
                <a:r>
                  <a:rPr lang="en-US" dirty="0"/>
                  <a:t>.</a:t>
                </a:r>
              </a:p>
            </p:txBody>
          </p:sp>
        </mc:Choice>
        <mc:Fallback xmlns="">
          <p:sp>
            <p:nvSpPr>
              <p:cNvPr id="48" name="TextBox 47">
                <a:extLst>
                  <a:ext uri="{FF2B5EF4-FFF2-40B4-BE49-F238E27FC236}">
                    <a16:creationId xmlns:a16="http://schemas.microsoft.com/office/drawing/2014/main" id="{35009A33-DDF3-6DE5-AF9B-6CE785C46258}"/>
                  </a:ext>
                </a:extLst>
              </p:cNvPr>
              <p:cNvSpPr txBox="1">
                <a:spLocks noRot="1" noChangeAspect="1" noMove="1" noResize="1" noEditPoints="1" noAdjustHandles="1" noChangeArrowheads="1" noChangeShapeType="1" noTextEdit="1"/>
              </p:cNvSpPr>
              <p:nvPr/>
            </p:nvSpPr>
            <p:spPr>
              <a:xfrm>
                <a:off x="6096000" y="3343800"/>
                <a:ext cx="5638800" cy="1200329"/>
              </a:xfrm>
              <a:prstGeom prst="rect">
                <a:avLst/>
              </a:prstGeom>
              <a:blipFill>
                <a:blip r:embed="rId17"/>
                <a:stretch>
                  <a:fillRect l="-865" t="-3061" r="-1081" b="-7653"/>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0F03A2FA-486F-1586-5043-5816B9BD4275}"/>
              </a:ext>
            </a:extLst>
          </p:cNvPr>
          <p:cNvSpPr/>
          <p:nvPr/>
        </p:nvSpPr>
        <p:spPr>
          <a:xfrm>
            <a:off x="6910262" y="3675637"/>
            <a:ext cx="2971937" cy="24190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30877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14E98-25CA-9B48-BF37-925FABC15C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CE39386-5F41-4BCA-01E8-0DDC68AFE369}"/>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FDF09577-A1AF-D9D9-DABC-7E4294C17EDD}"/>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843B7AC2-5136-8527-BB14-E312FC27884E}"/>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B164BC6F-6B98-7DD2-C546-6F943943025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A229313C-E30E-A1AD-C928-2D4377C342C3}"/>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84D8ED4F-C5DC-1BC3-A6D4-EE332D8C44F1}"/>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30284864-382C-81FA-B851-213EBDD3F7C8}"/>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66ACB6E5-4E5C-3680-AB9A-FE6C185395CE}"/>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66ACB6E5-4E5C-3680-AB9A-FE6C185395CE}"/>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CF763167-A1A6-676D-2E52-FBBE18D53946}"/>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CF763167-A1A6-676D-2E52-FBBE18D53946}"/>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7AC2CDC3-FD01-F2FC-DA1B-9C696D770394}"/>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7AC2CDC3-FD01-F2FC-DA1B-9C696D770394}"/>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E945BA95-E9CB-660D-F5BD-712029CC8633}"/>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510435FA-3B3D-D80F-BABB-3675360C295E}"/>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F889B2D6-DC6E-E664-6514-C4EBE4166124}"/>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7A912D-8912-8DD7-23EB-2022C5A982FE}"/>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54A54E3E-763E-D450-4852-064172CC0E27}"/>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20E2734F-2515-CF81-522A-20BF67C44886}"/>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FDB382F-CFA7-0AAE-8052-B98C8C8A0D5F}"/>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A6CD0C1C-3DA0-4842-5214-92E8CAF93645}"/>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75C4A7F4-7A67-E051-B120-9F55663205C9}"/>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70E02AC-8DE6-5827-3AF1-0535F342D553}"/>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8762C4-33FD-F9F9-80F8-3BDFBCAC7F61}"/>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D18762C4-33FD-F9F9-80F8-3BDFBCAC7F61}"/>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46C38F9-ACAE-DFEF-62C8-2A7C839909D5}"/>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046C38F9-ACAE-DFEF-62C8-2A7C839909D5}"/>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B3852CC1-50E0-2C26-C36A-0693F3E6A96E}"/>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7B1599-A972-DD39-F377-F05DDAC7C3FC}"/>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7000186-35A1-4571-A655-0B8282C1FC8B}"/>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CC7790A-2998-227F-9A48-488EEDBBE04D}"/>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10415F0-CD60-9AE6-8042-1214E0AFE21F}"/>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5800C1D-8218-AB7C-C493-8969B4C33A0D}"/>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35809BB-0FD1-D968-9DEC-D475BD5233EB}"/>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8C87D54-7E81-ADD7-896A-B9E8EB0B44DD}"/>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C3E9EF8-C393-F402-D499-742AFE8841A7}"/>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9904774-B82D-DE9C-42B1-9B32D162FBAF}"/>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AFF0E70-1153-8FD7-8C9A-BA51B17BABA8}"/>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4AFF0E70-1153-8FD7-8C9A-BA51B17BABA8}"/>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96171C9-98B8-88D8-5D0A-BBDB709D9F3A}"/>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896171C9-98B8-88D8-5D0A-BBDB709D9F3A}"/>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13B7EDC4-B5A9-3E69-386B-B3757FE9B39A}"/>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819FB24-6102-39C9-00F9-3B820FA4C22B}"/>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2CCEF07-154B-236A-98AC-B5EA187418D1}"/>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070CB67-D441-5FBF-4867-5F0219DC0264}"/>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4A1901E-8A80-6745-B0FC-7D5F978917AC}"/>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071C5A86-71C5-CBF4-BD5E-5DDD30B97A68}"/>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D51F581-580A-9ECD-36EF-4A44B4FB5A23}"/>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15E1F56-72E6-D6A0-2860-85C1207F0DF8}"/>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95FAFE9-7BF7-482D-72CF-12FEDDD7891E}"/>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E703749-99E3-3ECA-9C02-65159FA40F0A}"/>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A194160-9C7B-9BBE-F970-435090C1A6B6}"/>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1A194160-9C7B-9BBE-F970-435090C1A6B6}"/>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DB96961-97D1-68BC-4D04-FCF1D7E55667}"/>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CDB96961-97D1-68BC-4D04-FCF1D7E55667}"/>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4E7D3351-BC62-A6C3-CC3D-FB3683D5C1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sp>
        <p:nvSpPr>
          <p:cNvPr id="34" name="Rectangle 33">
            <a:extLst>
              <a:ext uri="{FF2B5EF4-FFF2-40B4-BE49-F238E27FC236}">
                <a16:creationId xmlns:a16="http://schemas.microsoft.com/office/drawing/2014/main" id="{D74AF063-9C56-4344-65D7-BE0780545C8C}"/>
              </a:ext>
            </a:extLst>
          </p:cNvPr>
          <p:cNvSpPr/>
          <p:nvPr/>
        </p:nvSpPr>
        <p:spPr>
          <a:xfrm>
            <a:off x="5655659" y="549477"/>
            <a:ext cx="6428766" cy="620712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A7D4171-5556-F10B-1DF3-0D61491E6D68}"/>
              </a:ext>
            </a:extLst>
          </p:cNvPr>
          <p:cNvSpPr/>
          <p:nvPr/>
        </p:nvSpPr>
        <p:spPr>
          <a:xfrm>
            <a:off x="6886954" y="11385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E3E06CB-E07F-2CAC-E3E3-9ED4C4E6848E}"/>
              </a:ext>
            </a:extLst>
          </p:cNvPr>
          <p:cNvSpPr/>
          <p:nvPr/>
        </p:nvSpPr>
        <p:spPr>
          <a:xfrm>
            <a:off x="7465266" y="13269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0CD4A955-1311-6C17-91B6-F7386F00E237}"/>
              </a:ext>
            </a:extLst>
          </p:cNvPr>
          <p:cNvSpPr/>
          <p:nvPr/>
        </p:nvSpPr>
        <p:spPr>
          <a:xfrm>
            <a:off x="7366566" y="18687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84E74C1-045E-1320-01E1-B96AB033DFF0}"/>
              </a:ext>
            </a:extLst>
          </p:cNvPr>
          <p:cNvSpPr/>
          <p:nvPr/>
        </p:nvSpPr>
        <p:spPr>
          <a:xfrm>
            <a:off x="7998668" y="14524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CCB7FAB-5991-079A-78B3-360CFF76932C}"/>
              </a:ext>
            </a:extLst>
          </p:cNvPr>
          <p:cNvSpPr/>
          <p:nvPr/>
        </p:nvSpPr>
        <p:spPr>
          <a:xfrm>
            <a:off x="7057463" y="14513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124F6A1-87EC-817E-2047-59465DC55C6E}"/>
              </a:ext>
            </a:extLst>
          </p:cNvPr>
          <p:cNvSpPr/>
          <p:nvPr/>
        </p:nvSpPr>
        <p:spPr>
          <a:xfrm>
            <a:off x="9934958" y="13142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D35757D-4A5E-8290-05F8-8B1B6C78F50D}"/>
              </a:ext>
            </a:extLst>
          </p:cNvPr>
          <p:cNvSpPr/>
          <p:nvPr/>
        </p:nvSpPr>
        <p:spPr>
          <a:xfrm>
            <a:off x="10184442" y="1822751"/>
            <a:ext cx="251011" cy="251011"/>
          </a:xfrm>
          <a:prstGeom prst="ellipse">
            <a:avLst/>
          </a:prstGeom>
          <a:solidFill>
            <a:srgbClr val="FF0000"/>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C35D578-F497-384E-36B0-DB9F408306F9}"/>
              </a:ext>
            </a:extLst>
          </p:cNvPr>
          <p:cNvSpPr/>
          <p:nvPr/>
        </p:nvSpPr>
        <p:spPr>
          <a:xfrm>
            <a:off x="9435259" y="15652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845F270-0E28-260A-B526-EFE605C6AEDF}"/>
              </a:ext>
            </a:extLst>
          </p:cNvPr>
          <p:cNvSpPr/>
          <p:nvPr/>
        </p:nvSpPr>
        <p:spPr>
          <a:xfrm>
            <a:off x="9395010" y="11385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C8989CC-5429-3E9D-A045-7C564A40F205}"/>
              </a:ext>
            </a:extLst>
          </p:cNvPr>
          <p:cNvSpPr/>
          <p:nvPr/>
        </p:nvSpPr>
        <p:spPr>
          <a:xfrm>
            <a:off x="9128130" y="11286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0CFE47E-EEF9-1A6A-81A0-CA9DDF134CC6}"/>
                  </a:ext>
                </a:extLst>
              </p:cNvPr>
              <p:cNvSpPr txBox="1"/>
              <p:nvPr/>
            </p:nvSpPr>
            <p:spPr>
              <a:xfrm>
                <a:off x="6834197" y="23168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45" name="TextBox 44">
                <a:extLst>
                  <a:ext uri="{FF2B5EF4-FFF2-40B4-BE49-F238E27FC236}">
                    <a16:creationId xmlns:a16="http://schemas.microsoft.com/office/drawing/2014/main" id="{50CFE47E-EEF9-1A6A-81A0-CA9DDF134CC6}"/>
                  </a:ext>
                </a:extLst>
              </p:cNvPr>
              <p:cNvSpPr txBox="1">
                <a:spLocks noRot="1" noChangeAspect="1" noMove="1" noResize="1" noEditPoints="1" noAdjustHandles="1" noChangeArrowheads="1" noChangeShapeType="1" noTextEdit="1"/>
              </p:cNvSpPr>
              <p:nvPr/>
            </p:nvSpPr>
            <p:spPr>
              <a:xfrm>
                <a:off x="6834197" y="2316871"/>
                <a:ext cx="1566760" cy="646331"/>
              </a:xfrm>
              <a:prstGeom prst="rect">
                <a:avLst/>
              </a:prstGeom>
              <a:blipFill>
                <a:blip r:embed="rId14"/>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4BDFDC3-63A7-52E5-48D3-E6EE89997D4B}"/>
                  </a:ext>
                </a:extLst>
              </p:cNvPr>
              <p:cNvSpPr txBox="1"/>
              <p:nvPr/>
            </p:nvSpPr>
            <p:spPr>
              <a:xfrm>
                <a:off x="8829880" y="23433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46" name="TextBox 45">
                <a:extLst>
                  <a:ext uri="{FF2B5EF4-FFF2-40B4-BE49-F238E27FC236}">
                    <a16:creationId xmlns:a16="http://schemas.microsoft.com/office/drawing/2014/main" id="{E4BDFDC3-63A7-52E5-48D3-E6EE89997D4B}"/>
                  </a:ext>
                </a:extLst>
              </p:cNvPr>
              <p:cNvSpPr txBox="1">
                <a:spLocks noRot="1" noChangeAspect="1" noMove="1" noResize="1" noEditPoints="1" noAdjustHandles="1" noChangeArrowheads="1" noChangeShapeType="1" noTextEdit="1"/>
              </p:cNvSpPr>
              <p:nvPr/>
            </p:nvSpPr>
            <p:spPr>
              <a:xfrm>
                <a:off x="8829880" y="2343399"/>
                <a:ext cx="1914321" cy="646331"/>
              </a:xfrm>
              <a:prstGeom prst="rect">
                <a:avLst/>
              </a:prstGeom>
              <a:blipFill>
                <a:blip r:embed="rId15"/>
                <a:stretch>
                  <a:fillRect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D5D5657-EF6F-7921-1ABC-2DF8666A1F6B}"/>
                  </a:ext>
                </a:extLst>
              </p:cNvPr>
              <p:cNvSpPr txBox="1"/>
              <p:nvPr/>
            </p:nvSpPr>
            <p:spPr>
              <a:xfrm>
                <a:off x="7709471" y="628988"/>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7" name="TextBox 46">
                <a:extLst>
                  <a:ext uri="{FF2B5EF4-FFF2-40B4-BE49-F238E27FC236}">
                    <a16:creationId xmlns:a16="http://schemas.microsoft.com/office/drawing/2014/main" id="{ED5D5657-EF6F-7921-1ABC-2DF8666A1F6B}"/>
                  </a:ext>
                </a:extLst>
              </p:cNvPr>
              <p:cNvSpPr txBox="1">
                <a:spLocks noRot="1" noChangeAspect="1" noMove="1" noResize="1" noEditPoints="1" noAdjustHandles="1" noChangeArrowheads="1" noChangeShapeType="1" noTextEdit="1"/>
              </p:cNvSpPr>
              <p:nvPr/>
            </p:nvSpPr>
            <p:spPr>
              <a:xfrm>
                <a:off x="7709471" y="628988"/>
                <a:ext cx="2023782" cy="369332"/>
              </a:xfrm>
              <a:prstGeom prst="rect">
                <a:avLst/>
              </a:prstGeom>
              <a:blipFill>
                <a:blip r:embed="rId16"/>
                <a:stretch>
                  <a:fillRect l="-2711"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5ACFF5D-89EE-A629-86A6-58C999B09BCA}"/>
                  </a:ext>
                </a:extLst>
              </p:cNvPr>
              <p:cNvSpPr txBox="1"/>
              <p:nvPr/>
            </p:nvSpPr>
            <p:spPr>
              <a:xfrm>
                <a:off x="6096000" y="3343800"/>
                <a:ext cx="5638800" cy="2585323"/>
              </a:xfrm>
              <a:prstGeom prst="rect">
                <a:avLst/>
              </a:prstGeom>
              <a:noFill/>
            </p:spPr>
            <p:txBody>
              <a:bodyPr wrap="square" rtlCol="0">
                <a:spAutoFit/>
              </a:bodyPr>
              <a:lstStyle/>
              <a:p>
                <a:r>
                  <a:rPr lang="en-US" dirty="0"/>
                  <a:t>If any profile in this group is a Nash Equilibrium, it must be that for any one person that does </a:t>
                </a:r>
                <a:r>
                  <a:rPr lang="en-US" i="1" dirty="0"/>
                  <a:t>out</a:t>
                </a:r>
                <a:r>
                  <a:rPr lang="en-US" dirty="0"/>
                  <a:t>... doing </a:t>
                </a:r>
                <a:r>
                  <a:rPr lang="en-US" i="1" dirty="0"/>
                  <a:t>out </a:t>
                </a:r>
                <a:r>
                  <a:rPr lang="en-US" dirty="0"/>
                  <a:t>is a best response to the expectation that some number </a:t>
                </a:r>
                <a14:m>
                  <m:oMath xmlns:m="http://schemas.openxmlformats.org/officeDocument/2006/math">
                    <m:r>
                      <a:rPr lang="en-US" b="0" i="1" smtClean="0">
                        <a:latin typeface="Cambria Math" panose="02040503050406030204" pitchFamily="18" charset="0"/>
                      </a:rPr>
                      <m:t>𝐾</m:t>
                    </m:r>
                  </m:oMath>
                </a14:m>
                <a:r>
                  <a:rPr lang="en-US" dirty="0"/>
                  <a:t> of the other persons do </a:t>
                </a:r>
                <a:r>
                  <a:rPr lang="en-US" i="1" dirty="0"/>
                  <a:t>in</a:t>
                </a:r>
                <a:r>
                  <a:rPr lang="en-US" dirty="0"/>
                  <a:t>, where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&lt;</m:t>
                    </m:r>
                    <m:r>
                      <a:rPr lang="en-US" b="0" i="1" smtClean="0">
                        <a:latin typeface="Cambria Math" panose="02040503050406030204" pitchFamily="18" charset="0"/>
                      </a:rPr>
                      <m:t>𝑆</m:t>
                    </m:r>
                  </m:oMath>
                </a14:m>
                <a:r>
                  <a:rPr lang="en-US" dirty="0"/>
                  <a:t>.</a:t>
                </a:r>
              </a:p>
              <a:p>
                <a:endParaRPr lang="en-US" dirty="0"/>
              </a:p>
              <a:p>
                <a:r>
                  <a:rPr lang="en-US" dirty="0"/>
                  <a:t>Since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&lt;</m:t>
                    </m:r>
                    <m:r>
                      <a:rPr lang="en-US" b="0" i="1" smtClean="0">
                        <a:latin typeface="Cambria Math" panose="02040503050406030204" pitchFamily="18" charset="0"/>
                      </a:rPr>
                      <m:t>𝑆</m:t>
                    </m:r>
                  </m:oMath>
                </a14:m>
                <a:r>
                  <a:rPr lang="en-US" dirty="0"/>
                  <a:t>, her utility level from doing </a:t>
                </a:r>
                <a:r>
                  <a:rPr lang="en-US" i="1" dirty="0"/>
                  <a:t>in</a:t>
                </a:r>
                <a:r>
                  <a:rPr lang="en-US" dirty="0"/>
                  <a:t> is 1.  Thus, since her utility level from doing </a:t>
                </a:r>
                <a:r>
                  <a:rPr lang="en-US" i="1" dirty="0"/>
                  <a:t>out</a:t>
                </a:r>
                <a:r>
                  <a:rPr lang="en-US" dirty="0"/>
                  <a:t> is 0, doing out is </a:t>
                </a:r>
                <a:r>
                  <a:rPr lang="en-US" b="1" dirty="0"/>
                  <a:t>NOT</a:t>
                </a:r>
                <a:r>
                  <a:rPr lang="en-US" dirty="0"/>
                  <a:t> a best response to the expectation that </a:t>
                </a:r>
                <a14:m>
                  <m:oMath xmlns:m="http://schemas.openxmlformats.org/officeDocument/2006/math">
                    <m:r>
                      <a:rPr lang="en-US" b="0" i="1" smtClean="0">
                        <a:latin typeface="Cambria Math" panose="02040503050406030204" pitchFamily="18" charset="0"/>
                      </a:rPr>
                      <m:t>𝐾</m:t>
                    </m:r>
                  </m:oMath>
                </a14:m>
                <a:r>
                  <a:rPr lang="en-US" dirty="0"/>
                  <a:t> of the other persons do </a:t>
                </a:r>
                <a:r>
                  <a:rPr lang="en-US" i="1" dirty="0"/>
                  <a:t>in</a:t>
                </a:r>
                <a:r>
                  <a:rPr lang="en-US" dirty="0"/>
                  <a:t>.</a:t>
                </a:r>
              </a:p>
            </p:txBody>
          </p:sp>
        </mc:Choice>
        <mc:Fallback xmlns="">
          <p:sp>
            <p:nvSpPr>
              <p:cNvPr id="48" name="TextBox 47">
                <a:extLst>
                  <a:ext uri="{FF2B5EF4-FFF2-40B4-BE49-F238E27FC236}">
                    <a16:creationId xmlns:a16="http://schemas.microsoft.com/office/drawing/2014/main" id="{85ACFF5D-89EE-A629-86A6-58C999B09BCA}"/>
                  </a:ext>
                </a:extLst>
              </p:cNvPr>
              <p:cNvSpPr txBox="1">
                <a:spLocks noRot="1" noChangeAspect="1" noMove="1" noResize="1" noEditPoints="1" noAdjustHandles="1" noChangeArrowheads="1" noChangeShapeType="1" noTextEdit="1"/>
              </p:cNvSpPr>
              <p:nvPr/>
            </p:nvSpPr>
            <p:spPr>
              <a:xfrm>
                <a:off x="6096000" y="3343800"/>
                <a:ext cx="5638800" cy="2585323"/>
              </a:xfrm>
              <a:prstGeom prst="rect">
                <a:avLst/>
              </a:prstGeom>
              <a:blipFill>
                <a:blip r:embed="rId17"/>
                <a:stretch>
                  <a:fillRect l="-865" t="-1415" r="-1081" b="-2830"/>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DBDFCBCB-6171-4C50-2E0B-6C33EC23945C}"/>
              </a:ext>
            </a:extLst>
          </p:cNvPr>
          <p:cNvSpPr/>
          <p:nvPr/>
        </p:nvSpPr>
        <p:spPr>
          <a:xfrm>
            <a:off x="6910262" y="3675637"/>
            <a:ext cx="2971937" cy="24190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8705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749D4-162F-BB16-D6AB-82DB04EC02D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BC7253F-817F-56A1-B531-CC16B8E929BF}"/>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3E251738-864B-7948-6B9B-10C7CDBB6360}"/>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6527508D-5750-990A-AC4B-4008DF462620}"/>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8D87529B-4F40-D6AC-122A-6814C74F80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62374C9B-74BE-A21D-B25A-C9610A27F661}"/>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921E9B2F-AAAC-3808-60AF-AA635CBB1689}"/>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CFE11935-F2FF-59F9-855C-18FE9C158840}"/>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7380CDB5-E488-D0A3-13A3-CB99B9D55767}"/>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7380CDB5-E488-D0A3-13A3-CB99B9D55767}"/>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83E7D60C-FA9B-A522-A9DC-04EAE0786C98}"/>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83E7D60C-FA9B-A522-A9DC-04EAE0786C98}"/>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8BF0FC1E-5539-BB0F-95F5-931ABC9FA394}"/>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8BF0FC1E-5539-BB0F-95F5-931ABC9FA394}"/>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C4415405-958E-82CC-2251-C0FD15FAF8A1}"/>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3B01E1FB-EBC9-73EE-E112-9123D60C95F7}"/>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1034FD24-436A-2F51-7358-901C37FACC58}"/>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358518CA-CBA0-3EBC-803D-77EC7B1E202D}"/>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DFA8E86C-769A-60D7-1020-4769E5EFEA85}"/>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672BB6BC-2857-9965-CD9B-66C4C906FC6F}"/>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53E4A503-95D1-A017-66A8-3DCBFA52EBEA}"/>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4951E32B-7546-A456-A80D-96A9A8ABCE71}"/>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21983A90-673C-261D-7418-2DBB24891D9E}"/>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9E9E27-261D-7930-CC33-AF65FD35CED3}"/>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3941A6E-DF2D-4B59-7175-2F5FB213CACF}"/>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93941A6E-DF2D-4B59-7175-2F5FB213CACF}"/>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3D61432-0EFE-779B-54BA-93F7CEC1F1F3}"/>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E3D61432-0EFE-779B-54BA-93F7CEC1F1F3}"/>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4B5C1B60-39A3-5A34-4F5D-67DE05964523}"/>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1D7400C-4D05-5F94-0259-64990CF28B35}"/>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BC2BB05-9454-3EFE-02A8-9D61DEF9FCF3}"/>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8BAB665-7154-E457-0AAE-5CFA067EE3AF}"/>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D899B4D-1298-E7C9-CFE1-35B05336BB34}"/>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C8E4A96-1DAA-F4AF-93E2-68F07C4B91E5}"/>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EED53ED-8BB7-6AB4-58B8-138D32D2B4FD}"/>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33ABD31-8C07-5782-2670-508988CF222A}"/>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3EDE63B-F535-B87B-DBAF-93DFA18994F7}"/>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013518-407A-CC27-0FDB-12F1D0E0FA26}"/>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35DE0D4-251D-5F7F-1F22-815E85B25701}"/>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235DE0D4-251D-5F7F-1F22-815E85B25701}"/>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D93C4CA-AB71-68B7-F469-3AE95274322F}"/>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4D93C4CA-AB71-68B7-F469-3AE95274322F}"/>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68359963-B503-99E5-5373-8EBF514CF9A5}"/>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14572EE-6148-CD99-1CEF-87025C9F3F17}"/>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012D573-9649-FFA6-0C8B-CB2B59DAFB8F}"/>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6E93ED0-6770-C0BB-2F28-691ED7328ACA}"/>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8AE8C2B-B88E-CC23-0D6E-D92A9F04C67A}"/>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34187B8-DDB6-B66F-4BAE-1B3099A947BC}"/>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DFDFE9C-39EA-41EF-6E1A-81815099574C}"/>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EACE203-C2BF-B797-77DF-28CE354558AA}"/>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4C20DBA-6356-C1C9-0295-89FB8D5FFAAD}"/>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2EDC64F-E4BA-ED45-F72B-B842F56BC8B4}"/>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3B59B89-1EF6-6EED-6980-EEE1F02A1892}"/>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43B59B89-1EF6-6EED-6980-EEE1F02A1892}"/>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34B6695-E077-53EE-9937-9BBACB577EF5}"/>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034B6695-E077-53EE-9937-9BBACB577EF5}"/>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F51E34F8-BF0A-BCA5-7408-2403C471B6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sp>
        <p:nvSpPr>
          <p:cNvPr id="34" name="Rectangle 33">
            <a:extLst>
              <a:ext uri="{FF2B5EF4-FFF2-40B4-BE49-F238E27FC236}">
                <a16:creationId xmlns:a16="http://schemas.microsoft.com/office/drawing/2014/main" id="{01C88272-C5F5-0C5E-73B5-92BB15368CC7}"/>
              </a:ext>
            </a:extLst>
          </p:cNvPr>
          <p:cNvSpPr/>
          <p:nvPr/>
        </p:nvSpPr>
        <p:spPr>
          <a:xfrm>
            <a:off x="5655659" y="549477"/>
            <a:ext cx="6428766" cy="620712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85241EB-F6EE-AF83-FC40-33D5B22F44FF}"/>
              </a:ext>
            </a:extLst>
          </p:cNvPr>
          <p:cNvSpPr/>
          <p:nvPr/>
        </p:nvSpPr>
        <p:spPr>
          <a:xfrm>
            <a:off x="6886954" y="11385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EB2F2E42-8FD8-3AD9-2465-731837C95475}"/>
              </a:ext>
            </a:extLst>
          </p:cNvPr>
          <p:cNvSpPr/>
          <p:nvPr/>
        </p:nvSpPr>
        <p:spPr>
          <a:xfrm>
            <a:off x="7465266" y="13269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525391DC-1DD3-0EAE-113E-2C05B96C2BC2}"/>
              </a:ext>
            </a:extLst>
          </p:cNvPr>
          <p:cNvSpPr/>
          <p:nvPr/>
        </p:nvSpPr>
        <p:spPr>
          <a:xfrm>
            <a:off x="7366566" y="18687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7A481BE-A1F8-452E-0902-4CDBB4E2CD59}"/>
              </a:ext>
            </a:extLst>
          </p:cNvPr>
          <p:cNvSpPr/>
          <p:nvPr/>
        </p:nvSpPr>
        <p:spPr>
          <a:xfrm>
            <a:off x="7998668" y="14524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8C44821-2781-5383-1A79-70A839FE84B2}"/>
              </a:ext>
            </a:extLst>
          </p:cNvPr>
          <p:cNvSpPr/>
          <p:nvPr/>
        </p:nvSpPr>
        <p:spPr>
          <a:xfrm>
            <a:off x="7057463" y="14513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5214AF90-0E8B-5F5A-7E60-665A0C5C8644}"/>
              </a:ext>
            </a:extLst>
          </p:cNvPr>
          <p:cNvSpPr/>
          <p:nvPr/>
        </p:nvSpPr>
        <p:spPr>
          <a:xfrm>
            <a:off x="9934958" y="13142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59483B7-E424-46AE-3DA3-D1F4DABCEBB6}"/>
              </a:ext>
            </a:extLst>
          </p:cNvPr>
          <p:cNvSpPr/>
          <p:nvPr/>
        </p:nvSpPr>
        <p:spPr>
          <a:xfrm>
            <a:off x="10184442" y="1822751"/>
            <a:ext cx="251011" cy="251011"/>
          </a:xfrm>
          <a:prstGeom prst="ellipse">
            <a:avLst/>
          </a:prstGeom>
          <a:solidFill>
            <a:srgbClr val="FF0000"/>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C14C5BE-C513-92BF-8CD9-A8CD696C5161}"/>
              </a:ext>
            </a:extLst>
          </p:cNvPr>
          <p:cNvSpPr/>
          <p:nvPr/>
        </p:nvSpPr>
        <p:spPr>
          <a:xfrm>
            <a:off x="9435259" y="15652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7B17F36-BF3E-2974-9B32-3270376E86E0}"/>
              </a:ext>
            </a:extLst>
          </p:cNvPr>
          <p:cNvSpPr/>
          <p:nvPr/>
        </p:nvSpPr>
        <p:spPr>
          <a:xfrm>
            <a:off x="9395010" y="11385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766D86A-8F10-9920-87FD-CEEAC36146C2}"/>
              </a:ext>
            </a:extLst>
          </p:cNvPr>
          <p:cNvSpPr/>
          <p:nvPr/>
        </p:nvSpPr>
        <p:spPr>
          <a:xfrm>
            <a:off x="9128130" y="11286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65C0D12-3475-501C-5F0B-A5F5337EE588}"/>
                  </a:ext>
                </a:extLst>
              </p:cNvPr>
              <p:cNvSpPr txBox="1"/>
              <p:nvPr/>
            </p:nvSpPr>
            <p:spPr>
              <a:xfrm>
                <a:off x="6834197" y="23168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45" name="TextBox 44">
                <a:extLst>
                  <a:ext uri="{FF2B5EF4-FFF2-40B4-BE49-F238E27FC236}">
                    <a16:creationId xmlns:a16="http://schemas.microsoft.com/office/drawing/2014/main" id="{365C0D12-3475-501C-5F0B-A5F5337EE588}"/>
                  </a:ext>
                </a:extLst>
              </p:cNvPr>
              <p:cNvSpPr txBox="1">
                <a:spLocks noRot="1" noChangeAspect="1" noMove="1" noResize="1" noEditPoints="1" noAdjustHandles="1" noChangeArrowheads="1" noChangeShapeType="1" noTextEdit="1"/>
              </p:cNvSpPr>
              <p:nvPr/>
            </p:nvSpPr>
            <p:spPr>
              <a:xfrm>
                <a:off x="6834197" y="2316871"/>
                <a:ext cx="1566760" cy="646331"/>
              </a:xfrm>
              <a:prstGeom prst="rect">
                <a:avLst/>
              </a:prstGeom>
              <a:blipFill>
                <a:blip r:embed="rId14"/>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D546AB4-BE7E-5D8C-5642-462A8EE47116}"/>
                  </a:ext>
                </a:extLst>
              </p:cNvPr>
              <p:cNvSpPr txBox="1"/>
              <p:nvPr/>
            </p:nvSpPr>
            <p:spPr>
              <a:xfrm>
                <a:off x="8829880" y="23433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46" name="TextBox 45">
                <a:extLst>
                  <a:ext uri="{FF2B5EF4-FFF2-40B4-BE49-F238E27FC236}">
                    <a16:creationId xmlns:a16="http://schemas.microsoft.com/office/drawing/2014/main" id="{CD546AB4-BE7E-5D8C-5642-462A8EE47116}"/>
                  </a:ext>
                </a:extLst>
              </p:cNvPr>
              <p:cNvSpPr txBox="1">
                <a:spLocks noRot="1" noChangeAspect="1" noMove="1" noResize="1" noEditPoints="1" noAdjustHandles="1" noChangeArrowheads="1" noChangeShapeType="1" noTextEdit="1"/>
              </p:cNvSpPr>
              <p:nvPr/>
            </p:nvSpPr>
            <p:spPr>
              <a:xfrm>
                <a:off x="8829880" y="2343399"/>
                <a:ext cx="1914321" cy="646331"/>
              </a:xfrm>
              <a:prstGeom prst="rect">
                <a:avLst/>
              </a:prstGeom>
              <a:blipFill>
                <a:blip r:embed="rId15"/>
                <a:stretch>
                  <a:fillRect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3AF9DD5-FE17-2ABB-0FD9-8A2208DFE581}"/>
                  </a:ext>
                </a:extLst>
              </p:cNvPr>
              <p:cNvSpPr txBox="1"/>
              <p:nvPr/>
            </p:nvSpPr>
            <p:spPr>
              <a:xfrm>
                <a:off x="7709471" y="628988"/>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7" name="TextBox 46">
                <a:extLst>
                  <a:ext uri="{FF2B5EF4-FFF2-40B4-BE49-F238E27FC236}">
                    <a16:creationId xmlns:a16="http://schemas.microsoft.com/office/drawing/2014/main" id="{43AF9DD5-FE17-2ABB-0FD9-8A2208DFE581}"/>
                  </a:ext>
                </a:extLst>
              </p:cNvPr>
              <p:cNvSpPr txBox="1">
                <a:spLocks noRot="1" noChangeAspect="1" noMove="1" noResize="1" noEditPoints="1" noAdjustHandles="1" noChangeArrowheads="1" noChangeShapeType="1" noTextEdit="1"/>
              </p:cNvSpPr>
              <p:nvPr/>
            </p:nvSpPr>
            <p:spPr>
              <a:xfrm>
                <a:off x="7709471" y="628988"/>
                <a:ext cx="2023782" cy="369332"/>
              </a:xfrm>
              <a:prstGeom prst="rect">
                <a:avLst/>
              </a:prstGeom>
              <a:blipFill>
                <a:blip r:embed="rId16"/>
                <a:stretch>
                  <a:fillRect l="-2711"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53A9B56-8A17-CEBA-C17E-6E1F62D66CE4}"/>
                  </a:ext>
                </a:extLst>
              </p:cNvPr>
              <p:cNvSpPr txBox="1"/>
              <p:nvPr/>
            </p:nvSpPr>
            <p:spPr>
              <a:xfrm>
                <a:off x="6096000" y="3343800"/>
                <a:ext cx="5638800" cy="3139321"/>
              </a:xfrm>
              <a:prstGeom prst="rect">
                <a:avLst/>
              </a:prstGeom>
              <a:noFill/>
            </p:spPr>
            <p:txBody>
              <a:bodyPr wrap="square" rtlCol="0">
                <a:spAutoFit/>
              </a:bodyPr>
              <a:lstStyle/>
              <a:p>
                <a:r>
                  <a:rPr lang="en-US" dirty="0"/>
                  <a:t>If any profile in this group is a Nash Equilibrium, it must be that for any one person that does </a:t>
                </a:r>
                <a:r>
                  <a:rPr lang="en-US" i="1" dirty="0"/>
                  <a:t>out</a:t>
                </a:r>
                <a:r>
                  <a:rPr lang="en-US" dirty="0"/>
                  <a:t>... doing </a:t>
                </a:r>
                <a:r>
                  <a:rPr lang="en-US" i="1" dirty="0"/>
                  <a:t>out </a:t>
                </a:r>
                <a:r>
                  <a:rPr lang="en-US" dirty="0"/>
                  <a:t>is a best response to the expectation that some number </a:t>
                </a:r>
                <a14:m>
                  <m:oMath xmlns:m="http://schemas.openxmlformats.org/officeDocument/2006/math">
                    <m:r>
                      <a:rPr lang="en-US" b="0" i="1" smtClean="0">
                        <a:latin typeface="Cambria Math" panose="02040503050406030204" pitchFamily="18" charset="0"/>
                      </a:rPr>
                      <m:t>𝐾</m:t>
                    </m:r>
                  </m:oMath>
                </a14:m>
                <a:r>
                  <a:rPr lang="en-US" dirty="0"/>
                  <a:t> of the other persons do </a:t>
                </a:r>
                <a:r>
                  <a:rPr lang="en-US" i="1" dirty="0"/>
                  <a:t>in</a:t>
                </a:r>
                <a:r>
                  <a:rPr lang="en-US" dirty="0"/>
                  <a:t>, where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&lt;</m:t>
                    </m:r>
                    <m:r>
                      <a:rPr lang="en-US" b="0" i="1" smtClean="0">
                        <a:latin typeface="Cambria Math" panose="02040503050406030204" pitchFamily="18" charset="0"/>
                      </a:rPr>
                      <m:t>𝑆</m:t>
                    </m:r>
                  </m:oMath>
                </a14:m>
                <a:r>
                  <a:rPr lang="en-US" dirty="0"/>
                  <a:t>.</a:t>
                </a:r>
              </a:p>
              <a:p>
                <a:endParaRPr lang="en-US" dirty="0"/>
              </a:p>
              <a:p>
                <a:r>
                  <a:rPr lang="en-US" dirty="0"/>
                  <a:t>Since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&lt;</m:t>
                    </m:r>
                    <m:r>
                      <a:rPr lang="en-US" b="0" i="1" smtClean="0">
                        <a:latin typeface="Cambria Math" panose="02040503050406030204" pitchFamily="18" charset="0"/>
                      </a:rPr>
                      <m:t>𝑆</m:t>
                    </m:r>
                  </m:oMath>
                </a14:m>
                <a:r>
                  <a:rPr lang="en-US" dirty="0"/>
                  <a:t>, her utility level from doing </a:t>
                </a:r>
                <a:r>
                  <a:rPr lang="en-US" i="1" dirty="0"/>
                  <a:t>in</a:t>
                </a:r>
                <a:r>
                  <a:rPr lang="en-US" dirty="0"/>
                  <a:t> is 1.  Thus, since her utility level from doing </a:t>
                </a:r>
                <a:r>
                  <a:rPr lang="en-US" i="1" dirty="0"/>
                  <a:t>out</a:t>
                </a:r>
                <a:r>
                  <a:rPr lang="en-US" dirty="0"/>
                  <a:t> is 0, doing out is </a:t>
                </a:r>
                <a:r>
                  <a:rPr lang="en-US" b="1" dirty="0"/>
                  <a:t>NOT</a:t>
                </a:r>
                <a:r>
                  <a:rPr lang="en-US" dirty="0"/>
                  <a:t> a best response to the expectation that </a:t>
                </a:r>
                <a14:m>
                  <m:oMath xmlns:m="http://schemas.openxmlformats.org/officeDocument/2006/math">
                    <m:r>
                      <a:rPr lang="en-US" b="0" i="1" smtClean="0">
                        <a:latin typeface="Cambria Math" panose="02040503050406030204" pitchFamily="18" charset="0"/>
                      </a:rPr>
                      <m:t>𝐾</m:t>
                    </m:r>
                  </m:oMath>
                </a14:m>
                <a:r>
                  <a:rPr lang="en-US" dirty="0"/>
                  <a:t> of the other persons do </a:t>
                </a:r>
                <a:r>
                  <a:rPr lang="en-US" i="1" dirty="0"/>
                  <a:t>in</a:t>
                </a:r>
                <a:r>
                  <a:rPr lang="en-US" dirty="0"/>
                  <a:t>.</a:t>
                </a:r>
              </a:p>
              <a:p>
                <a:endParaRPr lang="en-US" dirty="0"/>
              </a:p>
              <a:p>
                <a:r>
                  <a:rPr lang="en-US" dirty="0"/>
                  <a:t>So no profile in this group is a Nash Equilibrium!</a:t>
                </a:r>
              </a:p>
            </p:txBody>
          </p:sp>
        </mc:Choice>
        <mc:Fallback xmlns="">
          <p:sp>
            <p:nvSpPr>
              <p:cNvPr id="48" name="TextBox 47">
                <a:extLst>
                  <a:ext uri="{FF2B5EF4-FFF2-40B4-BE49-F238E27FC236}">
                    <a16:creationId xmlns:a16="http://schemas.microsoft.com/office/drawing/2014/main" id="{953A9B56-8A17-CEBA-C17E-6E1F62D66CE4}"/>
                  </a:ext>
                </a:extLst>
              </p:cNvPr>
              <p:cNvSpPr txBox="1">
                <a:spLocks noRot="1" noChangeAspect="1" noMove="1" noResize="1" noEditPoints="1" noAdjustHandles="1" noChangeArrowheads="1" noChangeShapeType="1" noTextEdit="1"/>
              </p:cNvSpPr>
              <p:nvPr/>
            </p:nvSpPr>
            <p:spPr>
              <a:xfrm>
                <a:off x="6096000" y="3343800"/>
                <a:ext cx="5638800" cy="3139321"/>
              </a:xfrm>
              <a:prstGeom prst="rect">
                <a:avLst/>
              </a:prstGeom>
              <a:blipFill>
                <a:blip r:embed="rId17"/>
                <a:stretch>
                  <a:fillRect l="-865" t="-1165" r="-1081" b="-2136"/>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5532E6CF-B13F-C49A-39B9-C9F30D21EBEC}"/>
              </a:ext>
            </a:extLst>
          </p:cNvPr>
          <p:cNvSpPr/>
          <p:nvPr/>
        </p:nvSpPr>
        <p:spPr>
          <a:xfrm>
            <a:off x="6910262" y="3675637"/>
            <a:ext cx="2971937" cy="24190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51214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BFB35-BFE7-5DFC-23CF-2033F7A8135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10051D1-7E57-1B0F-C0F4-6C66BE14E381}"/>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9A870A8F-15A1-1D9C-F8C7-390222782218}"/>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B3CE00BC-E8CC-3B56-12BE-7D7F2DB90422}"/>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86A96CC4-0AC5-ACBB-4943-B35BB27C3C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3E7DD81F-D35D-3B24-DB46-D33DE86F55F4}"/>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710C1B7F-C269-4BE1-813D-D221C0DCDC7D}"/>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C063910D-6849-A373-714E-F1E78978B86A}"/>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D988DCC5-DA2C-43A4-1C7F-5C725BDE7FA4}"/>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D988DCC5-DA2C-43A4-1C7F-5C725BDE7FA4}"/>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96447D92-BA8F-5C84-0BA4-1EB09216FE89}"/>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96447D92-BA8F-5C84-0BA4-1EB09216FE89}"/>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13EEE752-8B69-7A3B-8901-3FF258BE0F92}"/>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13EEE752-8B69-7A3B-8901-3FF258BE0F92}"/>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23CBDD63-B11D-0FE4-0D47-968CF8E938B7}"/>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31112497-E66B-D36F-0EEE-7A9E89C1166C}"/>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81028553-7E38-E475-538F-65B1195EEEF4}"/>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3BF618DA-2B86-E104-F459-5601CAE26F18}"/>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5477E86C-F527-7DAA-F098-2257EEAB1D08}"/>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27B17D37-426E-1F0A-4D49-F779035A6B83}"/>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AB691C6A-6217-175D-2A92-C072A077D995}"/>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603B3D7F-005F-0D4B-E6D1-931D99B0B24D}"/>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60170459-11BD-64A5-2DCE-F4808B4F4EC2}"/>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5C97061-FFAD-342F-F057-1403C4ACE400}"/>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60EEF9D-A0FB-6808-61D5-61D72943CC97}"/>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760EEF9D-A0FB-6808-61D5-61D72943CC97}"/>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937BFA1-5F4B-3959-B5C1-59F9898B61C0}"/>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F937BFA1-5F4B-3959-B5C1-59F9898B61C0}"/>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A446E4EA-C023-49AC-FE35-926D2185BC9F}"/>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F073625-4A5A-FA94-3F0D-A8C7DCC51B1D}"/>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101B9C5-5DC4-B707-E1C7-384E38037C3C}"/>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DB77A28-CF10-A2C1-217B-128442EDE38E}"/>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0599F3B-0D71-08A0-ACD1-7AF5FD5C2438}"/>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B753BFF-D785-829B-B00E-BB6C30E4598F}"/>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E52A753-502F-1013-E57D-6E54A109EE4A}"/>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3091B9-F628-DC11-0DAC-DE9F29A9D9C1}"/>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0939015-953F-5D43-8BD3-909B8BA8B8B1}"/>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4D1153E-F5E2-7A71-9079-40E49DA06CB4}"/>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F2D5EC3-B63F-25EB-509A-4866BFED87B7}"/>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1F2D5EC3-B63F-25EB-509A-4866BFED87B7}"/>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3D08F93-7BBD-A277-43E0-2C57A86C29C0}"/>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A3D08F93-7BBD-A277-43E0-2C57A86C29C0}"/>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C2B667C0-C1D5-5A71-12DE-04E4E0E2F544}"/>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C97B2E5-5EE9-8D3B-80FB-50C72CA28900}"/>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D7BD213-E70A-4F4C-486D-72CFCF3DB3C2}"/>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58B0E72-F189-FA16-9174-5F35EFD72D9D}"/>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8E7B1B9-BA10-E21B-B756-AF1CB86590B7}"/>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5868A06-F650-1A66-235E-8814F1F3089F}"/>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5E8EC38-5234-EF4D-C30B-EA2A876C6E9E}"/>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F1A275C7-BB4F-12E0-BDE2-7C5662FBB30F}"/>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DC8D511-BF99-A4DA-754D-41407CE41EAF}"/>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7005A6D-FB61-9957-9CA9-C34361B5AB62}"/>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9195358-C102-78F2-2132-CC00CC6B2167}"/>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F9195358-C102-78F2-2132-CC00CC6B2167}"/>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02E8F9C-2AEB-9124-9E76-B7C575D44D9E}"/>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702E8F9C-2AEB-9124-9E76-B7C575D44D9E}"/>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2713856B-629F-5575-FD92-F68FA1FE24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1E5333EF-D04C-C8A6-7686-83CD1BF71999}"/>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30F7D8D-8FC8-04AC-05F0-63ED7854E678}"/>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1381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533C2-521F-CA2F-2972-D57FCF5AE1B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8FAA35F-9326-1DC3-FD3B-DBE80D2C89E2}"/>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80E94185-3225-154A-E3F0-E89118232054}"/>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B08797BC-6135-08EF-E4F5-5671859D0468}"/>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27709BC2-F381-66CE-3B1F-AA14B58D12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555537DF-9F5C-19D9-CE00-D570E335DF29}"/>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469A7D63-ED40-FD21-9A48-844603BF4C58}"/>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7FEAC63B-4997-E999-8B31-324E5019FE6E}"/>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4590A37C-2093-D41D-9494-97373C889B86}"/>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4590A37C-2093-D41D-9494-97373C889B86}"/>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898A2EF0-6C47-486C-AE67-61244DBFBA8E}"/>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898A2EF0-6C47-486C-AE67-61244DBFBA8E}"/>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3F68CFB-D0EA-4E39-17BF-3E35C0EB0750}"/>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63F68CFB-D0EA-4E39-17BF-3E35C0EB0750}"/>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9C144386-E3EB-A195-CDCE-AD909D7DEA97}"/>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5113E827-EFD0-26DA-4EF7-843ECA349C75}"/>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9C70295B-2DE1-07FD-5BC5-FC48FA08D2E4}"/>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ABAB4E6C-2009-B589-128E-4D0B6C268750}"/>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CA795A7-34FB-ED88-48F4-AEE0506375B7}"/>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F9100119-0ED9-6026-7D2E-AA0BD561CDF8}"/>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F74B7511-85FB-520E-A8C5-9FF04E167936}"/>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217F7977-2E36-65C4-2C4D-1E85CEC4A442}"/>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83C577A-439A-9061-389B-C970B54BD6B7}"/>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89E8073-D521-A467-FC49-954757763C0E}"/>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4E81B82-5F70-0E4A-15C1-DD0CD0ECB32C}"/>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C4E81B82-5F70-0E4A-15C1-DD0CD0ECB32C}"/>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784980-377A-802B-5C02-6F65436B2E90}"/>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42784980-377A-802B-5C02-6F65436B2E90}"/>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46E7E311-35AD-1A44-F42F-066758290A16}"/>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2348339-4958-F631-8502-A90C79ABE5D7}"/>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1A90FF7-DDDD-0622-5EA6-6DAA62DCBF5E}"/>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826E16D-D33E-D59F-C0A5-E36EFE48D107}"/>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4A3AA26-9236-C6B8-6292-F1F92173EE8D}"/>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54DC5DB-37CD-26A4-3282-5239C95D851F}"/>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212E709-7359-0C91-11C9-6A9AF381542D}"/>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20D66A1-692D-F699-DC33-270C3864ED90}"/>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0304E92-C259-04DB-A8BF-B50A363E528E}"/>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16BFCEE-28E3-25E2-D8F2-4DD7C7EC968A}"/>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0F5E5BE-6348-6155-6868-0508BB3009C0}"/>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A0F5E5BE-6348-6155-6868-0508BB3009C0}"/>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F071463-E1F1-CB0E-D3B5-13B5DAA4D648}"/>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BF071463-E1F1-CB0E-D3B5-13B5DAA4D648}"/>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A7004EC5-1C79-B537-8D30-A112ABECFFFD}"/>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F15728E-9686-0378-81CD-F34B4E33693A}"/>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5C27163-D7B2-EE2C-C9DB-50A0974DEE99}"/>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94DA1B40-9652-35EE-02E0-57FBD8360377}"/>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7F5A0ED-CBA1-67AF-8455-1054DD0AEAE7}"/>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3EF8C8B-AC88-4295-35B3-737959B4A5F9}"/>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1A90C6A-5AD2-1F2B-4BAA-F0A8ADFD6089}"/>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3DC70CD-A803-12D5-B6FB-E978610D8845}"/>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8F55FCB-B8B1-7FD1-4C6F-BDFCE6118DCD}"/>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D83464C-56F1-16A7-03D9-019B7F4CD126}"/>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71E0AA5-1927-A02E-39DF-B378E95CF466}"/>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F71E0AA5-1927-A02E-39DF-B378E95CF466}"/>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3FF1FCC-3A55-B6FC-65FB-4C696FA5A0A9}"/>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43FF1FCC-3A55-B6FC-65FB-4C696FA5A0A9}"/>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5052B6B8-BDDE-42B0-3FE8-83894B9784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9E265311-4597-AD3D-5EE5-B0D1665422E3}"/>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CBDF575-BBF5-5795-7903-2DCC38C73126}"/>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E603425B-4D36-D2D1-E7FB-E1378C954013}"/>
              </a:ext>
            </a:extLst>
          </p:cNvPr>
          <p:cNvSpPr/>
          <p:nvPr/>
        </p:nvSpPr>
        <p:spPr>
          <a:xfrm>
            <a:off x="5862918" y="760982"/>
            <a:ext cx="6221507" cy="5995619"/>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09541EA-3158-425B-A9FE-6DC869884943}"/>
              </a:ext>
            </a:extLst>
          </p:cNvPr>
          <p:cNvSpPr/>
          <p:nvPr/>
        </p:nvSpPr>
        <p:spPr>
          <a:xfrm>
            <a:off x="7217619" y="12178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CD8721C-6BB1-6075-C96D-3068439FE06D}"/>
              </a:ext>
            </a:extLst>
          </p:cNvPr>
          <p:cNvSpPr/>
          <p:nvPr/>
        </p:nvSpPr>
        <p:spPr>
          <a:xfrm>
            <a:off x="7795931" y="140621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111A84A-E73B-E853-3900-C438F0E05842}"/>
              </a:ext>
            </a:extLst>
          </p:cNvPr>
          <p:cNvSpPr/>
          <p:nvPr/>
        </p:nvSpPr>
        <p:spPr>
          <a:xfrm>
            <a:off x="8329333" y="15317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0DEDF51B-1897-D473-4B18-23958D4D6AC6}"/>
              </a:ext>
            </a:extLst>
          </p:cNvPr>
          <p:cNvSpPr/>
          <p:nvPr/>
        </p:nvSpPr>
        <p:spPr>
          <a:xfrm>
            <a:off x="7388128" y="153063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44CA001-8E72-FD0D-C851-663DD320588D}"/>
              </a:ext>
            </a:extLst>
          </p:cNvPr>
          <p:cNvSpPr/>
          <p:nvPr/>
        </p:nvSpPr>
        <p:spPr>
          <a:xfrm>
            <a:off x="10337335" y="139353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CC07FC7-4024-BE68-C2D9-1FE05C1BC1CF}"/>
              </a:ext>
            </a:extLst>
          </p:cNvPr>
          <p:cNvSpPr/>
          <p:nvPr/>
        </p:nvSpPr>
        <p:spPr>
          <a:xfrm>
            <a:off x="10515107" y="1902045"/>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7B1B11B5-B5E9-7240-A9DE-51B8424E6D72}"/>
              </a:ext>
            </a:extLst>
          </p:cNvPr>
          <p:cNvSpPr/>
          <p:nvPr/>
        </p:nvSpPr>
        <p:spPr>
          <a:xfrm>
            <a:off x="9765924" y="164454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303D6706-F49B-D737-D5D8-2B55E66A8C25}"/>
              </a:ext>
            </a:extLst>
          </p:cNvPr>
          <p:cNvSpPr/>
          <p:nvPr/>
        </p:nvSpPr>
        <p:spPr>
          <a:xfrm>
            <a:off x="9797387" y="121781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6BF49AA-1210-6DBE-169D-D889E5426FD2}"/>
              </a:ext>
            </a:extLst>
          </p:cNvPr>
          <p:cNvSpPr/>
          <p:nvPr/>
        </p:nvSpPr>
        <p:spPr>
          <a:xfrm>
            <a:off x="9458795" y="120790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24C5825-DFDB-3B98-5407-872AAC0B0F5B}"/>
                  </a:ext>
                </a:extLst>
              </p:cNvPr>
              <p:cNvSpPr txBox="1"/>
              <p:nvPr/>
            </p:nvSpPr>
            <p:spPr>
              <a:xfrm>
                <a:off x="7164862" y="2396165"/>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6" name="TextBox 45">
                <a:extLst>
                  <a:ext uri="{FF2B5EF4-FFF2-40B4-BE49-F238E27FC236}">
                    <a16:creationId xmlns:a16="http://schemas.microsoft.com/office/drawing/2014/main" id="{024C5825-DFDB-3B98-5407-872AAC0B0F5B}"/>
                  </a:ext>
                </a:extLst>
              </p:cNvPr>
              <p:cNvSpPr txBox="1">
                <a:spLocks noRot="1" noChangeAspect="1" noMove="1" noResize="1" noEditPoints="1" noAdjustHandles="1" noChangeArrowheads="1" noChangeShapeType="1" noTextEdit="1"/>
              </p:cNvSpPr>
              <p:nvPr/>
            </p:nvSpPr>
            <p:spPr>
              <a:xfrm>
                <a:off x="7164862" y="2396165"/>
                <a:ext cx="1566760" cy="369332"/>
              </a:xfrm>
              <a:prstGeom prst="rect">
                <a:avLst/>
              </a:prstGeom>
              <a:blipFill>
                <a:blip r:embed="rId1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5C80508-9700-C052-9799-DD2B9B93F109}"/>
                  </a:ext>
                </a:extLst>
              </p:cNvPr>
              <p:cNvSpPr txBox="1"/>
              <p:nvPr/>
            </p:nvSpPr>
            <p:spPr>
              <a:xfrm>
                <a:off x="9432936" y="2405031"/>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47" name="TextBox 46">
                <a:extLst>
                  <a:ext uri="{FF2B5EF4-FFF2-40B4-BE49-F238E27FC236}">
                    <a16:creationId xmlns:a16="http://schemas.microsoft.com/office/drawing/2014/main" id="{45C80508-9700-C052-9799-DD2B9B93F109}"/>
                  </a:ext>
                </a:extLst>
              </p:cNvPr>
              <p:cNvSpPr txBox="1">
                <a:spLocks noRot="1" noChangeAspect="1" noMove="1" noResize="1" noEditPoints="1" noAdjustHandles="1" noChangeArrowheads="1" noChangeShapeType="1" noTextEdit="1"/>
              </p:cNvSpPr>
              <p:nvPr/>
            </p:nvSpPr>
            <p:spPr>
              <a:xfrm>
                <a:off x="9432936" y="2405031"/>
                <a:ext cx="1566760" cy="369332"/>
              </a:xfrm>
              <a:prstGeom prst="rect">
                <a:avLst/>
              </a:prstGeom>
              <a:blipFill>
                <a:blip r:embed="rId1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F970913-C31A-4D94-7C4C-C1DDA7A9F43F}"/>
                  </a:ext>
                </a:extLst>
              </p:cNvPr>
              <p:cNvSpPr txBox="1"/>
              <p:nvPr/>
            </p:nvSpPr>
            <p:spPr>
              <a:xfrm>
                <a:off x="8004984" y="787285"/>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9" name="TextBox 48">
                <a:extLst>
                  <a:ext uri="{FF2B5EF4-FFF2-40B4-BE49-F238E27FC236}">
                    <a16:creationId xmlns:a16="http://schemas.microsoft.com/office/drawing/2014/main" id="{DF970913-C31A-4D94-7C4C-C1DDA7A9F43F}"/>
                  </a:ext>
                </a:extLst>
              </p:cNvPr>
              <p:cNvSpPr txBox="1">
                <a:spLocks noRot="1" noChangeAspect="1" noMove="1" noResize="1" noEditPoints="1" noAdjustHandles="1" noChangeArrowheads="1" noChangeShapeType="1" noTextEdit="1"/>
              </p:cNvSpPr>
              <p:nvPr/>
            </p:nvSpPr>
            <p:spPr>
              <a:xfrm>
                <a:off x="8004984" y="787285"/>
                <a:ext cx="2023782" cy="369332"/>
              </a:xfrm>
              <a:prstGeom prst="rect">
                <a:avLst/>
              </a:prstGeom>
              <a:blipFill>
                <a:blip r:embed="rId16"/>
                <a:stretch>
                  <a:fillRect l="-2410"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4898946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1A27-FD81-0F1F-B889-50F11CE201B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2227FC1-BB05-AC8D-C3FB-8C6EEA74B86A}"/>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0C76FE49-6E5A-DEA4-B177-CDF631C153E6}"/>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D246DCD4-3BF7-4DD1-CACB-074BCA49D329}"/>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589D4978-A8FA-EC27-D982-D9A3FFD8FD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9DBA994B-6BC4-FFBA-3AB8-CD2128B0386C}"/>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FCB50E7B-1B20-AD8F-6BBD-0DA821FFFF75}"/>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0865B26A-3990-4997-2AE2-F978F903E1F4}"/>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92571427-5A35-94E1-FF4B-104F79AAAD9F}"/>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92571427-5A35-94E1-FF4B-104F79AAAD9F}"/>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3C4DF82A-ACBC-1EB5-6324-368A6FF7FE11}"/>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3C4DF82A-ACBC-1EB5-6324-368A6FF7FE11}"/>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5E92AB38-BB88-1D82-3E64-61DB244D06C3}"/>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5E92AB38-BB88-1D82-3E64-61DB244D06C3}"/>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C25FD719-B062-F6F4-E332-D751AD41E32B}"/>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BFE335F3-FFBB-AF1F-CBEE-AB0D1D48D877}"/>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B23CCE97-887A-8432-0B37-8EFD5BDEDC94}"/>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0E90DF12-8116-BBED-7211-4D15132085FA}"/>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91AF578C-5D07-E74D-FCCE-5902457BB6DE}"/>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32B3C339-AC95-4088-6335-6A9933FED252}"/>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9CB1EE21-3FB4-9DB2-DE4C-4E9EAAE1528C}"/>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88D12399-2600-FA54-187B-8E90D6BE22A6}"/>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C68A4993-3882-CAAB-CA4E-25789C69AE79}"/>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5D1971-03BD-8912-39E2-A70227C7B828}"/>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06B47F3-96F8-E386-E16B-DA294757F09C}"/>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606B47F3-96F8-E386-E16B-DA294757F09C}"/>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4F08F9-1469-2B89-1C76-4B9A789102F7}"/>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054F08F9-1469-2B89-1C76-4B9A789102F7}"/>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77740AA2-831F-5F68-F571-DC6915475EF0}"/>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4D79CDB-734A-CB15-9921-D5DFC76C1DBC}"/>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66E3969-8717-520D-7ABA-6E4BC144B4BC}"/>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05394AA-5DFD-10EC-7ACD-974810A18227}"/>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FEF30DF-794B-0B41-700E-CCE00DF59269}"/>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183FBE6-AA23-A46B-29FD-4E03CE27BD23}"/>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07744FA-EA54-00A9-1915-A0630FC92ACA}"/>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76D1409-C3C9-D4FA-CB91-6E652BF98485}"/>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7A4EE47-6426-00ED-4D39-B2F7B4149B2B}"/>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3D873F2-9B18-18D6-EE7D-413E0576BC4E}"/>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89462B3-8D8C-5999-DC6F-2960DB21290C}"/>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A89462B3-8D8C-5999-DC6F-2960DB21290C}"/>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69B94D2-6A93-7E1D-8592-AD1FDAC1E667}"/>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069B94D2-6A93-7E1D-8592-AD1FDAC1E667}"/>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F0BA585C-76C4-5D3F-CDFA-09ADFB932399}"/>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729666C-FA41-72DB-6D16-B1AF823AFEAC}"/>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A6A8DD3-11E7-A1FC-7DB5-A49D9038A673}"/>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46D787C-6B12-7A5B-42AF-7051169B1BEF}"/>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99733F22-64D8-0C7F-9F91-2DC9FF559970}"/>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97C3560-BC72-293C-9301-47978A5F620F}"/>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6F884A4-EE9E-88D0-C8A6-505829F8AB08}"/>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97B357B-113F-1481-2AC0-64080F4D229F}"/>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936E550-09D2-0EFD-1A83-8A87EC645D75}"/>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E941710-1FD8-BABA-6D6C-AB3C9FD65101}"/>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E2E8FEB-5F43-AE93-7424-0701E8436E43}"/>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BE2E8FEB-5F43-AE93-7424-0701E8436E43}"/>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F960E29-465C-8C66-8DE0-F1B92887B05A}"/>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FF960E29-465C-8C66-8DE0-F1B92887B05A}"/>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FE080604-A962-1CF4-697E-9F824BC976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AD4CA71B-6998-3EEE-AD01-A3B37A309395}"/>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E98DE9C-0ACC-1DD1-CBEF-C2F6B8C9144F}"/>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7AE5B78-AB9E-D6A1-84E4-BEDA44C1C835}"/>
              </a:ext>
            </a:extLst>
          </p:cNvPr>
          <p:cNvSpPr/>
          <p:nvPr/>
        </p:nvSpPr>
        <p:spPr>
          <a:xfrm>
            <a:off x="5862918" y="760982"/>
            <a:ext cx="6221507" cy="5995619"/>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15AF8A5A-DB31-52D6-EAF8-D96F216F687E}"/>
              </a:ext>
            </a:extLst>
          </p:cNvPr>
          <p:cNvSpPr/>
          <p:nvPr/>
        </p:nvSpPr>
        <p:spPr>
          <a:xfrm>
            <a:off x="7217619" y="12178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150FA22-8B21-DA9D-0AEB-CB9F990BC92C}"/>
              </a:ext>
            </a:extLst>
          </p:cNvPr>
          <p:cNvSpPr/>
          <p:nvPr/>
        </p:nvSpPr>
        <p:spPr>
          <a:xfrm>
            <a:off x="7795931" y="1406210"/>
            <a:ext cx="251011" cy="251011"/>
          </a:xfrm>
          <a:prstGeom prst="ellipse">
            <a:avLst/>
          </a:prstGeom>
          <a:solidFill>
            <a:schemeClr val="accent6"/>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0EF4C7DA-9C1E-5AE4-26CB-C9B4ABA30391}"/>
              </a:ext>
            </a:extLst>
          </p:cNvPr>
          <p:cNvSpPr/>
          <p:nvPr/>
        </p:nvSpPr>
        <p:spPr>
          <a:xfrm>
            <a:off x="8329333" y="15317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C5AED23-9F73-5B00-8F62-22CF000F6662}"/>
              </a:ext>
            </a:extLst>
          </p:cNvPr>
          <p:cNvSpPr/>
          <p:nvPr/>
        </p:nvSpPr>
        <p:spPr>
          <a:xfrm>
            <a:off x="7388128" y="153063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F996D09-2DC2-48F5-D364-FF5D4C1F7CDE}"/>
              </a:ext>
            </a:extLst>
          </p:cNvPr>
          <p:cNvSpPr/>
          <p:nvPr/>
        </p:nvSpPr>
        <p:spPr>
          <a:xfrm>
            <a:off x="10337335" y="139353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88D43602-269C-C430-43F2-E1A092A8540E}"/>
              </a:ext>
            </a:extLst>
          </p:cNvPr>
          <p:cNvSpPr/>
          <p:nvPr/>
        </p:nvSpPr>
        <p:spPr>
          <a:xfrm>
            <a:off x="10515107" y="1902045"/>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4DA383E1-56CF-0573-259F-5C4792CA64D5}"/>
              </a:ext>
            </a:extLst>
          </p:cNvPr>
          <p:cNvSpPr/>
          <p:nvPr/>
        </p:nvSpPr>
        <p:spPr>
          <a:xfrm>
            <a:off x="9765924" y="164454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AD389695-5A36-C4A7-D92F-550CF7574FB7}"/>
              </a:ext>
            </a:extLst>
          </p:cNvPr>
          <p:cNvSpPr/>
          <p:nvPr/>
        </p:nvSpPr>
        <p:spPr>
          <a:xfrm>
            <a:off x="9797387" y="121781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9A2955E-5189-9097-385F-A1C1CF90F4C4}"/>
              </a:ext>
            </a:extLst>
          </p:cNvPr>
          <p:cNvSpPr/>
          <p:nvPr/>
        </p:nvSpPr>
        <p:spPr>
          <a:xfrm>
            <a:off x="9458795" y="120790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702D65F-7F3A-B9D9-0AEC-B8560F050A3F}"/>
                  </a:ext>
                </a:extLst>
              </p:cNvPr>
              <p:cNvSpPr txBox="1"/>
              <p:nvPr/>
            </p:nvSpPr>
            <p:spPr>
              <a:xfrm>
                <a:off x="7164862" y="2396165"/>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6" name="TextBox 45">
                <a:extLst>
                  <a:ext uri="{FF2B5EF4-FFF2-40B4-BE49-F238E27FC236}">
                    <a16:creationId xmlns:a16="http://schemas.microsoft.com/office/drawing/2014/main" id="{E702D65F-7F3A-B9D9-0AEC-B8560F050A3F}"/>
                  </a:ext>
                </a:extLst>
              </p:cNvPr>
              <p:cNvSpPr txBox="1">
                <a:spLocks noRot="1" noChangeAspect="1" noMove="1" noResize="1" noEditPoints="1" noAdjustHandles="1" noChangeArrowheads="1" noChangeShapeType="1" noTextEdit="1"/>
              </p:cNvSpPr>
              <p:nvPr/>
            </p:nvSpPr>
            <p:spPr>
              <a:xfrm>
                <a:off x="7164862" y="2396165"/>
                <a:ext cx="1566760" cy="369332"/>
              </a:xfrm>
              <a:prstGeom prst="rect">
                <a:avLst/>
              </a:prstGeom>
              <a:blipFill>
                <a:blip r:embed="rId1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A721520-A51B-9B5D-688B-368EF7A279AB}"/>
                  </a:ext>
                </a:extLst>
              </p:cNvPr>
              <p:cNvSpPr txBox="1"/>
              <p:nvPr/>
            </p:nvSpPr>
            <p:spPr>
              <a:xfrm>
                <a:off x="9432936" y="2405031"/>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47" name="TextBox 46">
                <a:extLst>
                  <a:ext uri="{FF2B5EF4-FFF2-40B4-BE49-F238E27FC236}">
                    <a16:creationId xmlns:a16="http://schemas.microsoft.com/office/drawing/2014/main" id="{9A721520-A51B-9B5D-688B-368EF7A279AB}"/>
                  </a:ext>
                </a:extLst>
              </p:cNvPr>
              <p:cNvSpPr txBox="1">
                <a:spLocks noRot="1" noChangeAspect="1" noMove="1" noResize="1" noEditPoints="1" noAdjustHandles="1" noChangeArrowheads="1" noChangeShapeType="1" noTextEdit="1"/>
              </p:cNvSpPr>
              <p:nvPr/>
            </p:nvSpPr>
            <p:spPr>
              <a:xfrm>
                <a:off x="9432936" y="2405031"/>
                <a:ext cx="1566760" cy="369332"/>
              </a:xfrm>
              <a:prstGeom prst="rect">
                <a:avLst/>
              </a:prstGeom>
              <a:blipFill>
                <a:blip r:embed="rId1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7A4CAB2-DA1F-1123-D0CD-487183D5CFA5}"/>
                  </a:ext>
                </a:extLst>
              </p:cNvPr>
              <p:cNvSpPr txBox="1"/>
              <p:nvPr/>
            </p:nvSpPr>
            <p:spPr>
              <a:xfrm>
                <a:off x="8004984" y="787285"/>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9" name="TextBox 48">
                <a:extLst>
                  <a:ext uri="{FF2B5EF4-FFF2-40B4-BE49-F238E27FC236}">
                    <a16:creationId xmlns:a16="http://schemas.microsoft.com/office/drawing/2014/main" id="{57A4CAB2-DA1F-1123-D0CD-487183D5CFA5}"/>
                  </a:ext>
                </a:extLst>
              </p:cNvPr>
              <p:cNvSpPr txBox="1">
                <a:spLocks noRot="1" noChangeAspect="1" noMove="1" noResize="1" noEditPoints="1" noAdjustHandles="1" noChangeArrowheads="1" noChangeShapeType="1" noTextEdit="1"/>
              </p:cNvSpPr>
              <p:nvPr/>
            </p:nvSpPr>
            <p:spPr>
              <a:xfrm>
                <a:off x="8004984" y="787285"/>
                <a:ext cx="2023782" cy="369332"/>
              </a:xfrm>
              <a:prstGeom prst="rect">
                <a:avLst/>
              </a:prstGeom>
              <a:blipFill>
                <a:blip r:embed="rId16"/>
                <a:stretch>
                  <a:fillRect l="-2410" t="-8197"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7D07DB08-1758-1E21-355B-471D3F0DC9DD}"/>
              </a:ext>
            </a:extLst>
          </p:cNvPr>
          <p:cNvSpPr txBox="1"/>
          <p:nvPr/>
        </p:nvSpPr>
        <p:spPr>
          <a:xfrm>
            <a:off x="6320118" y="2933238"/>
            <a:ext cx="5459506" cy="369332"/>
          </a:xfrm>
          <a:prstGeom prst="rect">
            <a:avLst/>
          </a:prstGeom>
          <a:noFill/>
        </p:spPr>
        <p:txBody>
          <a:bodyPr wrap="square" rtlCol="0">
            <a:spAutoFit/>
          </a:bodyPr>
          <a:lstStyle/>
          <a:p>
            <a:r>
              <a:rPr lang="en-US" dirty="0"/>
              <a:t>If any such profile is a Nash Equilibrium it must be that...</a:t>
            </a:r>
          </a:p>
        </p:txBody>
      </p:sp>
    </p:spTree>
    <p:extLst>
      <p:ext uri="{BB962C8B-B14F-4D97-AF65-F5344CB8AC3E}">
        <p14:creationId xmlns:p14="http://schemas.microsoft.com/office/powerpoint/2010/main" val="2070813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661E2-74E5-35D7-D3BC-7D7CEEBD99D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3706732-7B20-6E0C-A1E0-51F5BD6D8C55}"/>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3F1E11DD-8546-C6BF-BC8B-BE616DCE6925}"/>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76EF5F11-2940-972F-CA4E-7EE010626E75}"/>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2101297F-53F6-6EEC-9B06-3E44AD480A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A9E2485C-9E8F-2317-1038-987563F92508}"/>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AD4037BA-7E4A-68FD-9686-90D3AACED3C1}"/>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40C93BF7-5275-7981-E92D-AE4E98DE200C}"/>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FFDED75D-8163-5576-7E66-355654A5D020}"/>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FFDED75D-8163-5576-7E66-355654A5D020}"/>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87528D79-4906-DCD1-2791-E0AAC82C9009}"/>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87528D79-4906-DCD1-2791-E0AAC82C9009}"/>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A26A533E-7E1B-C185-E7A2-1E70B3257746}"/>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A26A533E-7E1B-C185-E7A2-1E70B3257746}"/>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49A9E84D-B7F1-6004-A116-B032B917B570}"/>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9C67498D-6C3E-9577-5AD8-D28DDAC400F3}"/>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61FE48B8-6E58-DFB3-FD3A-E568B9B47522}"/>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E56A4295-EFDE-A5BC-EF0B-058CFCE07206}"/>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2704318C-F0D3-CE98-765F-26F0A11BB19C}"/>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9F294196-F93D-E7F1-A2D0-74FCCC6E405F}"/>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3DEE4123-A7A5-3E88-0513-938001CADE8A}"/>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0E28223C-4FB7-B7D4-E67D-F559BDC355EB}"/>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E909D0E4-755F-6DD4-B5C8-30140B7C06D9}"/>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28FF728-8AC5-824B-BD06-F905280463B8}"/>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1C19CF6-C6CB-05F1-39C5-7A84D6BD8D81}"/>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B1C19CF6-C6CB-05F1-39C5-7A84D6BD8D81}"/>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EC46876-B14C-4F34-77B7-A735424081A9}"/>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2EC46876-B14C-4F34-77B7-A735424081A9}"/>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693A68C3-6603-3016-ACA1-20ADB027CA6C}"/>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F5D23C1-F2ED-D4A6-F01B-7DE184BBFF6E}"/>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CFBC9D1-E4C8-C92F-2EB4-DDA9112A4D87}"/>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5FEA44B-0DF6-4868-CE89-68D6327C4B48}"/>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6A51733-0A70-0BDD-19E2-CA94F0642165}"/>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9325539-90D0-CE7C-0A8C-573178BF540D}"/>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B300259-5FD7-10DA-FA4B-2C0845CF56ED}"/>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FF3737F-F91F-D60B-368A-7EDB184D4218}"/>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E377A32-D5A9-878A-A349-115112B9D891}"/>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BC2AE26-E7AA-A1F3-E750-571B775F2274}"/>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43513A9-60CD-1D1F-944B-5C4BF54EB9E2}"/>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543513A9-60CD-1D1F-944B-5C4BF54EB9E2}"/>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CEA34C6-9BD5-46C3-C2A7-8956DF5984C1}"/>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ACEA34C6-9BD5-46C3-C2A7-8956DF5984C1}"/>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849F28EC-038E-496A-9321-74251A826826}"/>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04A52E8-A9D6-23FF-7A64-8270A3E4A157}"/>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1EB6D98-A9DA-5AD2-2500-782078F8E047}"/>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FE9FD35-4EE4-FD74-C565-BEFBE5ADE7D7}"/>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8851D5D-7D79-F512-B2EF-31B6963F8039}"/>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E1CE60A-616D-3BF5-3777-2E56A22EB8A3}"/>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FD9644D-B34A-832C-ACF3-C061D873CFAB}"/>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00C3E1AE-E46D-A654-A21E-FCDFAE17D1F3}"/>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5109325-56AE-38DE-0CC8-4B86EC59E45C}"/>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F4019F0-3058-96EE-3B0F-A663B752E59B}"/>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EA7E34F-BE8A-2E7B-6DB2-5D4CCFF6101E}"/>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7EA7E34F-BE8A-2E7B-6DB2-5D4CCFF6101E}"/>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1E9BA21-62A6-FC88-1879-D1772B4C21EE}"/>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F1E9BA21-62A6-FC88-1879-D1772B4C21EE}"/>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F8D3CEE4-D95E-9C4E-0D37-380AC782E5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F3739E1E-DE2E-25CB-6131-A69637999789}"/>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A992048-BEDC-7298-135D-66FDEB02171B}"/>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A2194D81-57AF-F1D9-DD48-9C1402442F34}"/>
              </a:ext>
            </a:extLst>
          </p:cNvPr>
          <p:cNvSpPr/>
          <p:nvPr/>
        </p:nvSpPr>
        <p:spPr>
          <a:xfrm>
            <a:off x="5862918" y="760982"/>
            <a:ext cx="6221507" cy="5995619"/>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D34A6DCF-FEE8-AD30-C32B-8F619D27E697}"/>
              </a:ext>
            </a:extLst>
          </p:cNvPr>
          <p:cNvSpPr/>
          <p:nvPr/>
        </p:nvSpPr>
        <p:spPr>
          <a:xfrm>
            <a:off x="7217619" y="12178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34EBB09A-8BA9-33E3-7354-8E1C6502169F}"/>
              </a:ext>
            </a:extLst>
          </p:cNvPr>
          <p:cNvSpPr/>
          <p:nvPr/>
        </p:nvSpPr>
        <p:spPr>
          <a:xfrm>
            <a:off x="7795931" y="1406210"/>
            <a:ext cx="251011" cy="251011"/>
          </a:xfrm>
          <a:prstGeom prst="ellipse">
            <a:avLst/>
          </a:prstGeom>
          <a:solidFill>
            <a:schemeClr val="accent6"/>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58CBED18-D09E-9D5C-F227-7C8EE97EF3F7}"/>
              </a:ext>
            </a:extLst>
          </p:cNvPr>
          <p:cNvSpPr/>
          <p:nvPr/>
        </p:nvSpPr>
        <p:spPr>
          <a:xfrm>
            <a:off x="8329333" y="15317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29F3B33-389D-1DD1-CEF6-3C645DCFFE20}"/>
              </a:ext>
            </a:extLst>
          </p:cNvPr>
          <p:cNvSpPr/>
          <p:nvPr/>
        </p:nvSpPr>
        <p:spPr>
          <a:xfrm>
            <a:off x="7388128" y="153063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070256E3-0C6D-E34D-4730-89193F83DCC6}"/>
              </a:ext>
            </a:extLst>
          </p:cNvPr>
          <p:cNvSpPr/>
          <p:nvPr/>
        </p:nvSpPr>
        <p:spPr>
          <a:xfrm>
            <a:off x="10337335" y="139353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58C0D4BF-BDAA-FA17-EE42-499163F546F2}"/>
              </a:ext>
            </a:extLst>
          </p:cNvPr>
          <p:cNvSpPr/>
          <p:nvPr/>
        </p:nvSpPr>
        <p:spPr>
          <a:xfrm>
            <a:off x="10515107" y="1902045"/>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AD575C61-139E-8AE2-8CC3-ACD573A2607D}"/>
              </a:ext>
            </a:extLst>
          </p:cNvPr>
          <p:cNvSpPr/>
          <p:nvPr/>
        </p:nvSpPr>
        <p:spPr>
          <a:xfrm>
            <a:off x="9765924" y="164454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1FD0CFF-2A6A-0146-ED52-4847D0D699D6}"/>
              </a:ext>
            </a:extLst>
          </p:cNvPr>
          <p:cNvSpPr/>
          <p:nvPr/>
        </p:nvSpPr>
        <p:spPr>
          <a:xfrm>
            <a:off x="9797387" y="121781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EB10419-090D-6700-7DBE-A12F51312F3B}"/>
              </a:ext>
            </a:extLst>
          </p:cNvPr>
          <p:cNvSpPr/>
          <p:nvPr/>
        </p:nvSpPr>
        <p:spPr>
          <a:xfrm>
            <a:off x="9458795" y="120790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4BF87DE-5404-54EE-66AE-A1F84C7AE7D1}"/>
                  </a:ext>
                </a:extLst>
              </p:cNvPr>
              <p:cNvSpPr txBox="1"/>
              <p:nvPr/>
            </p:nvSpPr>
            <p:spPr>
              <a:xfrm>
                <a:off x="7164862" y="2396165"/>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6" name="TextBox 45">
                <a:extLst>
                  <a:ext uri="{FF2B5EF4-FFF2-40B4-BE49-F238E27FC236}">
                    <a16:creationId xmlns:a16="http://schemas.microsoft.com/office/drawing/2014/main" id="{B4BF87DE-5404-54EE-66AE-A1F84C7AE7D1}"/>
                  </a:ext>
                </a:extLst>
              </p:cNvPr>
              <p:cNvSpPr txBox="1">
                <a:spLocks noRot="1" noChangeAspect="1" noMove="1" noResize="1" noEditPoints="1" noAdjustHandles="1" noChangeArrowheads="1" noChangeShapeType="1" noTextEdit="1"/>
              </p:cNvSpPr>
              <p:nvPr/>
            </p:nvSpPr>
            <p:spPr>
              <a:xfrm>
                <a:off x="7164862" y="2396165"/>
                <a:ext cx="1566760" cy="369332"/>
              </a:xfrm>
              <a:prstGeom prst="rect">
                <a:avLst/>
              </a:prstGeom>
              <a:blipFill>
                <a:blip r:embed="rId1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177A1E9-C692-1B61-8612-44E66FBA8CD1}"/>
                  </a:ext>
                </a:extLst>
              </p:cNvPr>
              <p:cNvSpPr txBox="1"/>
              <p:nvPr/>
            </p:nvSpPr>
            <p:spPr>
              <a:xfrm>
                <a:off x="9432936" y="2405031"/>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47" name="TextBox 46">
                <a:extLst>
                  <a:ext uri="{FF2B5EF4-FFF2-40B4-BE49-F238E27FC236}">
                    <a16:creationId xmlns:a16="http://schemas.microsoft.com/office/drawing/2014/main" id="{C177A1E9-C692-1B61-8612-44E66FBA8CD1}"/>
                  </a:ext>
                </a:extLst>
              </p:cNvPr>
              <p:cNvSpPr txBox="1">
                <a:spLocks noRot="1" noChangeAspect="1" noMove="1" noResize="1" noEditPoints="1" noAdjustHandles="1" noChangeArrowheads="1" noChangeShapeType="1" noTextEdit="1"/>
              </p:cNvSpPr>
              <p:nvPr/>
            </p:nvSpPr>
            <p:spPr>
              <a:xfrm>
                <a:off x="9432936" y="2405031"/>
                <a:ext cx="1566760" cy="369332"/>
              </a:xfrm>
              <a:prstGeom prst="rect">
                <a:avLst/>
              </a:prstGeom>
              <a:blipFill>
                <a:blip r:embed="rId1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74971DB-C3FA-DBBB-6648-F3728EBDB490}"/>
                  </a:ext>
                </a:extLst>
              </p:cNvPr>
              <p:cNvSpPr txBox="1"/>
              <p:nvPr/>
            </p:nvSpPr>
            <p:spPr>
              <a:xfrm>
                <a:off x="8004984" y="787285"/>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9" name="TextBox 48">
                <a:extLst>
                  <a:ext uri="{FF2B5EF4-FFF2-40B4-BE49-F238E27FC236}">
                    <a16:creationId xmlns:a16="http://schemas.microsoft.com/office/drawing/2014/main" id="{D74971DB-C3FA-DBBB-6648-F3728EBDB490}"/>
                  </a:ext>
                </a:extLst>
              </p:cNvPr>
              <p:cNvSpPr txBox="1">
                <a:spLocks noRot="1" noChangeAspect="1" noMove="1" noResize="1" noEditPoints="1" noAdjustHandles="1" noChangeArrowheads="1" noChangeShapeType="1" noTextEdit="1"/>
              </p:cNvSpPr>
              <p:nvPr/>
            </p:nvSpPr>
            <p:spPr>
              <a:xfrm>
                <a:off x="8004984" y="787285"/>
                <a:ext cx="2023782" cy="369332"/>
              </a:xfrm>
              <a:prstGeom prst="rect">
                <a:avLst/>
              </a:prstGeom>
              <a:blipFill>
                <a:blip r:embed="rId16"/>
                <a:stretch>
                  <a:fillRect l="-2410" t="-8197"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C17CCB35-E378-E119-D73E-9021DC6E8E20}"/>
              </a:ext>
            </a:extLst>
          </p:cNvPr>
          <p:cNvSpPr txBox="1"/>
          <p:nvPr/>
        </p:nvSpPr>
        <p:spPr>
          <a:xfrm>
            <a:off x="6320118" y="2933238"/>
            <a:ext cx="5459506" cy="369332"/>
          </a:xfrm>
          <a:prstGeom prst="rect">
            <a:avLst/>
          </a:prstGeom>
          <a:noFill/>
        </p:spPr>
        <p:txBody>
          <a:bodyPr wrap="square" rtlCol="0">
            <a:spAutoFit/>
          </a:bodyPr>
          <a:lstStyle/>
          <a:p>
            <a:r>
              <a:rPr lang="en-US" dirty="0"/>
              <a:t>If any such profile is a Nash Equilibrium it must be that...</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785EB695-3E20-25C6-F2E3-D2C3C0A6C391}"/>
                  </a:ext>
                </a:extLst>
              </p:cNvPr>
              <p:cNvSpPr txBox="1"/>
              <p:nvPr/>
            </p:nvSpPr>
            <p:spPr>
              <a:xfrm>
                <a:off x="6340195" y="3425954"/>
                <a:ext cx="5378824" cy="923330"/>
              </a:xfrm>
              <a:prstGeom prst="rect">
                <a:avLst/>
              </a:prstGeom>
              <a:noFill/>
              <a:ln w="38100">
                <a:solidFill>
                  <a:srgbClr val="FFFF00"/>
                </a:solidFill>
              </a:ln>
            </p:spPr>
            <p:txBody>
              <a:bodyPr wrap="square" rtlCol="0">
                <a:spAutoFit/>
              </a:bodyPr>
              <a:lstStyle/>
              <a:p>
                <a:r>
                  <a:rPr lang="en-US" dirty="0"/>
                  <a:t>For any given person that does </a:t>
                </a:r>
                <a:r>
                  <a:rPr lang="en-US" i="1" dirty="0"/>
                  <a:t>in,</a:t>
                </a:r>
                <a:r>
                  <a:rPr lang="en-US" dirty="0"/>
                  <a:t> doing </a:t>
                </a:r>
                <a:r>
                  <a:rPr lang="en-US" i="1" dirty="0"/>
                  <a:t>in</a:t>
                </a:r>
                <a:r>
                  <a:rPr lang="en-US" dirty="0"/>
                  <a:t> is a BR to the expectation that exactly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of the other persons do </a:t>
                </a:r>
                <a:r>
                  <a:rPr lang="en-US" i="1" dirty="0"/>
                  <a:t>in</a:t>
                </a:r>
                <a:r>
                  <a:rPr lang="en-US" dirty="0"/>
                  <a:t>.</a:t>
                </a:r>
              </a:p>
            </p:txBody>
          </p:sp>
        </mc:Choice>
        <mc:Fallback xmlns="">
          <p:sp>
            <p:nvSpPr>
              <p:cNvPr id="50" name="TextBox 49">
                <a:extLst>
                  <a:ext uri="{FF2B5EF4-FFF2-40B4-BE49-F238E27FC236}">
                    <a16:creationId xmlns:a16="http://schemas.microsoft.com/office/drawing/2014/main" id="{785EB695-3E20-25C6-F2E3-D2C3C0A6C391}"/>
                  </a:ext>
                </a:extLst>
              </p:cNvPr>
              <p:cNvSpPr txBox="1">
                <a:spLocks noRot="1" noChangeAspect="1" noMove="1" noResize="1" noEditPoints="1" noAdjustHandles="1" noChangeArrowheads="1" noChangeShapeType="1" noTextEdit="1"/>
              </p:cNvSpPr>
              <p:nvPr/>
            </p:nvSpPr>
            <p:spPr>
              <a:xfrm>
                <a:off x="6340195" y="3425954"/>
                <a:ext cx="5378824" cy="923330"/>
              </a:xfrm>
              <a:prstGeom prst="rect">
                <a:avLst/>
              </a:prstGeom>
              <a:blipFill>
                <a:blip r:embed="rId17"/>
                <a:stretch>
                  <a:fillRect l="-563" t="-1274" r="-113" b="-7643"/>
                </a:stretch>
              </a:blipFill>
              <a:ln w="38100">
                <a:solidFill>
                  <a:srgbClr val="FFFF00"/>
                </a:solidFill>
              </a:ln>
            </p:spPr>
            <p:txBody>
              <a:bodyPr/>
              <a:lstStyle/>
              <a:p>
                <a:r>
                  <a:rPr lang="en-US">
                    <a:noFill/>
                  </a:rPr>
                  <a:t> </a:t>
                </a:r>
              </a:p>
            </p:txBody>
          </p:sp>
        </mc:Fallback>
      </mc:AlternateContent>
    </p:spTree>
    <p:extLst>
      <p:ext uri="{BB962C8B-B14F-4D97-AF65-F5344CB8AC3E}">
        <p14:creationId xmlns:p14="http://schemas.microsoft.com/office/powerpoint/2010/main" val="13819663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A4BC5-5CAB-0C26-1016-B54CEB98596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70B867C-0EB5-ED74-CAB2-19079B9352B7}"/>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32BD5487-A0F8-AB82-1723-B65CBD7C69CB}"/>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14EFD7A2-4120-87A1-054F-B825C1019B08}"/>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913EF524-D2E5-2B95-04B9-5462660B96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256F4AD6-431F-B24C-19B9-EDFA79AF7DA6}"/>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0347CD62-B85F-398C-9ACA-017C15FBCC92}"/>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B1CCD10A-4391-1A15-C12C-2A7E635F5460}"/>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9B665162-BA0E-8A23-E70E-2153A865E8ED}"/>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9B665162-BA0E-8A23-E70E-2153A865E8ED}"/>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0F740F28-DE6D-05C7-8A88-F53BC4385CD5}"/>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0F740F28-DE6D-05C7-8A88-F53BC4385CD5}"/>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944F8D49-9F29-CAB6-0E09-E230037C7DC5}"/>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944F8D49-9F29-CAB6-0E09-E230037C7DC5}"/>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91495C91-9E59-A7FA-1E0D-B7DEA124E2CD}"/>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6F2AEB6B-C81E-9DD4-1A42-022E237C47D2}"/>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2183A4A2-8DA7-7446-9160-D99D1248D85E}"/>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A9A5B712-AD17-A89F-88BE-4B4F680D7124}"/>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B8BCC9BD-5EF5-64F2-4467-35AD6581AB17}"/>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61D184E6-07FD-1460-70F1-10BBD09307AD}"/>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0F69FDCA-E5AE-9A1D-D319-60772F13EA7B}"/>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CDDB1E00-97E7-399F-1205-55E9A65AD141}"/>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851D6AE8-E854-ED4F-7C80-11AD7867C86E}"/>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94DC29B-DE52-468E-BC3F-608517201FD5}"/>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AB6FE6F-57A9-15A6-298B-59A472B1BCEC}"/>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5AB6FE6F-57A9-15A6-298B-59A472B1BCEC}"/>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5D30A64-8117-3CD5-C833-12A7CAC51E7C}"/>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D5D30A64-8117-3CD5-C833-12A7CAC51E7C}"/>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BA012A4E-C234-5177-9B90-2272C3E7EDC3}"/>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78CB6D3-7ADC-201D-D661-BD16D0A4CE3E}"/>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7F35225-0F8C-D712-138E-309C1709D9DC}"/>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D2BD7A3-D4B7-8F0F-0DCF-B0A766F3ADB2}"/>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A05B459-43AB-0EB8-CC1C-D767AEEAD36F}"/>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C1A361C-A863-8AE3-D55F-94B4C4ECB11E}"/>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D09C344-D464-C580-21A7-AAC5551CF1CD}"/>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E5EC535-8B9F-4383-3C08-6C9BCD25F31C}"/>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B7CECA9-90F9-E82D-30FF-0F68F498B740}"/>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BC0D085-8F72-39B7-2E10-5B3407711FA3}"/>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7FF61BB-9EFE-A156-59C9-779EA570FD39}"/>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87FF61BB-9EFE-A156-59C9-779EA570FD39}"/>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BEE8A73-4CEC-7607-3646-EF675C97C7EE}"/>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CBEE8A73-4CEC-7607-3646-EF675C97C7EE}"/>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C2C615BD-E670-09C9-8D73-8832A9C640A0}"/>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AFA91EB-D5EA-0876-8E6F-0DED458AD06F}"/>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889E464-E118-E010-F3B4-7CFC7617F442}"/>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9B243E8-5001-C13C-7B26-D47E07E3D98E}"/>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CC6DD96-EE97-2C43-6F48-79484AEE7CE7}"/>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5CF5AA9-C65A-D063-CB9D-3E4197B03831}"/>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5489BB6-5A11-3535-4ABB-F9631FAF7F44}"/>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BE79D77-1649-7730-7131-D3616A38F39E}"/>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BBBE62B-83B5-EDAD-3789-25480B318422}"/>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DDBF402-9009-B980-7F04-E1302BA04718}"/>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111E856-6B89-E7DF-CAE2-CA303EB42E10}"/>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2111E856-6B89-E7DF-CAE2-CA303EB42E10}"/>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95B4F3F-FD0F-3F9F-72DD-05527BBEAAE4}"/>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C95B4F3F-FD0F-3F9F-72DD-05527BBEAAE4}"/>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28C2DF23-BAE8-7BC9-5907-1356280331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9EC291BE-0CBA-FB5F-D642-6785FA47613E}"/>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B512D1D-AD83-531F-C4B5-01051F6D2D19}"/>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ECAD4CD-0918-77E5-E743-9B98410F78C0}"/>
              </a:ext>
            </a:extLst>
          </p:cNvPr>
          <p:cNvSpPr/>
          <p:nvPr/>
        </p:nvSpPr>
        <p:spPr>
          <a:xfrm>
            <a:off x="5862918" y="760982"/>
            <a:ext cx="6221507" cy="5995619"/>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7004AFC8-3A4A-A58F-0565-24E24E6FD0A5}"/>
              </a:ext>
            </a:extLst>
          </p:cNvPr>
          <p:cNvSpPr/>
          <p:nvPr/>
        </p:nvSpPr>
        <p:spPr>
          <a:xfrm>
            <a:off x="7217619" y="12178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FEA6FB9-6321-EAB7-804B-F16603B556BC}"/>
              </a:ext>
            </a:extLst>
          </p:cNvPr>
          <p:cNvSpPr/>
          <p:nvPr/>
        </p:nvSpPr>
        <p:spPr>
          <a:xfrm>
            <a:off x="7795931" y="1406210"/>
            <a:ext cx="251011" cy="251011"/>
          </a:xfrm>
          <a:prstGeom prst="ellipse">
            <a:avLst/>
          </a:prstGeom>
          <a:solidFill>
            <a:schemeClr val="accent6"/>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EB52982D-C4C9-39CF-7523-2D0061826429}"/>
              </a:ext>
            </a:extLst>
          </p:cNvPr>
          <p:cNvSpPr/>
          <p:nvPr/>
        </p:nvSpPr>
        <p:spPr>
          <a:xfrm>
            <a:off x="8329333" y="15317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346275AD-9063-89A9-BD3B-C77E6C868EB4}"/>
              </a:ext>
            </a:extLst>
          </p:cNvPr>
          <p:cNvSpPr/>
          <p:nvPr/>
        </p:nvSpPr>
        <p:spPr>
          <a:xfrm>
            <a:off x="7388128" y="153063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B26AD85-0206-6539-AA87-58BEDF249FE4}"/>
              </a:ext>
            </a:extLst>
          </p:cNvPr>
          <p:cNvSpPr/>
          <p:nvPr/>
        </p:nvSpPr>
        <p:spPr>
          <a:xfrm>
            <a:off x="10337335" y="139353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170AF98-DD93-5D3D-E885-EA922B45CD17}"/>
              </a:ext>
            </a:extLst>
          </p:cNvPr>
          <p:cNvSpPr/>
          <p:nvPr/>
        </p:nvSpPr>
        <p:spPr>
          <a:xfrm>
            <a:off x="10515107" y="1902045"/>
            <a:ext cx="251011" cy="251011"/>
          </a:xfrm>
          <a:prstGeom prst="ellipse">
            <a:avLst/>
          </a:prstGeom>
          <a:solidFill>
            <a:srgbClr val="FF0000"/>
          </a:solid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AAA5A977-DA8E-699D-13B0-5721620A67D6}"/>
              </a:ext>
            </a:extLst>
          </p:cNvPr>
          <p:cNvSpPr/>
          <p:nvPr/>
        </p:nvSpPr>
        <p:spPr>
          <a:xfrm>
            <a:off x="9765924" y="164454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37C0D70-7FBA-084B-F9F1-FF8425780D61}"/>
              </a:ext>
            </a:extLst>
          </p:cNvPr>
          <p:cNvSpPr/>
          <p:nvPr/>
        </p:nvSpPr>
        <p:spPr>
          <a:xfrm>
            <a:off x="9797387" y="121781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07853ED-886E-EECF-295C-0FEB73C8A852}"/>
              </a:ext>
            </a:extLst>
          </p:cNvPr>
          <p:cNvSpPr/>
          <p:nvPr/>
        </p:nvSpPr>
        <p:spPr>
          <a:xfrm>
            <a:off x="9458795" y="120790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C49AEE5-E341-368D-DDB2-F7D0A1F2F318}"/>
                  </a:ext>
                </a:extLst>
              </p:cNvPr>
              <p:cNvSpPr txBox="1"/>
              <p:nvPr/>
            </p:nvSpPr>
            <p:spPr>
              <a:xfrm>
                <a:off x="7164862" y="2396165"/>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6" name="TextBox 45">
                <a:extLst>
                  <a:ext uri="{FF2B5EF4-FFF2-40B4-BE49-F238E27FC236}">
                    <a16:creationId xmlns:a16="http://schemas.microsoft.com/office/drawing/2014/main" id="{4C49AEE5-E341-368D-DDB2-F7D0A1F2F318}"/>
                  </a:ext>
                </a:extLst>
              </p:cNvPr>
              <p:cNvSpPr txBox="1">
                <a:spLocks noRot="1" noChangeAspect="1" noMove="1" noResize="1" noEditPoints="1" noAdjustHandles="1" noChangeArrowheads="1" noChangeShapeType="1" noTextEdit="1"/>
              </p:cNvSpPr>
              <p:nvPr/>
            </p:nvSpPr>
            <p:spPr>
              <a:xfrm>
                <a:off x="7164862" y="2396165"/>
                <a:ext cx="1566760" cy="369332"/>
              </a:xfrm>
              <a:prstGeom prst="rect">
                <a:avLst/>
              </a:prstGeom>
              <a:blipFill>
                <a:blip r:embed="rId1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7782C97-FE8A-33B1-B31D-60EE5FFA0448}"/>
                  </a:ext>
                </a:extLst>
              </p:cNvPr>
              <p:cNvSpPr txBox="1"/>
              <p:nvPr/>
            </p:nvSpPr>
            <p:spPr>
              <a:xfrm>
                <a:off x="9432936" y="2405031"/>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47" name="TextBox 46">
                <a:extLst>
                  <a:ext uri="{FF2B5EF4-FFF2-40B4-BE49-F238E27FC236}">
                    <a16:creationId xmlns:a16="http://schemas.microsoft.com/office/drawing/2014/main" id="{37782C97-FE8A-33B1-B31D-60EE5FFA0448}"/>
                  </a:ext>
                </a:extLst>
              </p:cNvPr>
              <p:cNvSpPr txBox="1">
                <a:spLocks noRot="1" noChangeAspect="1" noMove="1" noResize="1" noEditPoints="1" noAdjustHandles="1" noChangeArrowheads="1" noChangeShapeType="1" noTextEdit="1"/>
              </p:cNvSpPr>
              <p:nvPr/>
            </p:nvSpPr>
            <p:spPr>
              <a:xfrm>
                <a:off x="9432936" y="2405031"/>
                <a:ext cx="1566760" cy="369332"/>
              </a:xfrm>
              <a:prstGeom prst="rect">
                <a:avLst/>
              </a:prstGeom>
              <a:blipFill>
                <a:blip r:embed="rId1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9EFBB07-4E6E-3699-4F73-7B7337E1E627}"/>
                  </a:ext>
                </a:extLst>
              </p:cNvPr>
              <p:cNvSpPr txBox="1"/>
              <p:nvPr/>
            </p:nvSpPr>
            <p:spPr>
              <a:xfrm>
                <a:off x="8004984" y="787285"/>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9" name="TextBox 48">
                <a:extLst>
                  <a:ext uri="{FF2B5EF4-FFF2-40B4-BE49-F238E27FC236}">
                    <a16:creationId xmlns:a16="http://schemas.microsoft.com/office/drawing/2014/main" id="{B9EFBB07-4E6E-3699-4F73-7B7337E1E627}"/>
                  </a:ext>
                </a:extLst>
              </p:cNvPr>
              <p:cNvSpPr txBox="1">
                <a:spLocks noRot="1" noChangeAspect="1" noMove="1" noResize="1" noEditPoints="1" noAdjustHandles="1" noChangeArrowheads="1" noChangeShapeType="1" noTextEdit="1"/>
              </p:cNvSpPr>
              <p:nvPr/>
            </p:nvSpPr>
            <p:spPr>
              <a:xfrm>
                <a:off x="8004984" y="787285"/>
                <a:ext cx="2023782" cy="369332"/>
              </a:xfrm>
              <a:prstGeom prst="rect">
                <a:avLst/>
              </a:prstGeom>
              <a:blipFill>
                <a:blip r:embed="rId16"/>
                <a:stretch>
                  <a:fillRect l="-2410" t="-8197"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EBF19AB8-ADFF-41F1-3E18-3570B2500766}"/>
              </a:ext>
            </a:extLst>
          </p:cNvPr>
          <p:cNvSpPr txBox="1"/>
          <p:nvPr/>
        </p:nvSpPr>
        <p:spPr>
          <a:xfrm>
            <a:off x="6320118" y="2933238"/>
            <a:ext cx="5459506" cy="369332"/>
          </a:xfrm>
          <a:prstGeom prst="rect">
            <a:avLst/>
          </a:prstGeom>
          <a:noFill/>
        </p:spPr>
        <p:txBody>
          <a:bodyPr wrap="square" rtlCol="0">
            <a:spAutoFit/>
          </a:bodyPr>
          <a:lstStyle/>
          <a:p>
            <a:r>
              <a:rPr lang="en-US" dirty="0"/>
              <a:t>If any such profile is a Nash Equilibrium it must be that...</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67C061ED-20ED-E688-7103-DA8EC9C4A7E3}"/>
                  </a:ext>
                </a:extLst>
              </p:cNvPr>
              <p:cNvSpPr txBox="1"/>
              <p:nvPr/>
            </p:nvSpPr>
            <p:spPr>
              <a:xfrm>
                <a:off x="6340195" y="3425954"/>
                <a:ext cx="5378824" cy="923330"/>
              </a:xfrm>
              <a:prstGeom prst="rect">
                <a:avLst/>
              </a:prstGeom>
              <a:noFill/>
              <a:ln w="38100">
                <a:solidFill>
                  <a:srgbClr val="FFFF00"/>
                </a:solidFill>
              </a:ln>
            </p:spPr>
            <p:txBody>
              <a:bodyPr wrap="square" rtlCol="0">
                <a:spAutoFit/>
              </a:bodyPr>
              <a:lstStyle/>
              <a:p>
                <a:r>
                  <a:rPr lang="en-US" dirty="0"/>
                  <a:t>For any given person that does </a:t>
                </a:r>
                <a:r>
                  <a:rPr lang="en-US" i="1" dirty="0"/>
                  <a:t>in,</a:t>
                </a:r>
                <a:r>
                  <a:rPr lang="en-US" dirty="0"/>
                  <a:t> doing </a:t>
                </a:r>
                <a:r>
                  <a:rPr lang="en-US" i="1" dirty="0"/>
                  <a:t>in</a:t>
                </a:r>
                <a:r>
                  <a:rPr lang="en-US" dirty="0"/>
                  <a:t> is a BR to the expectation that exactly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of the other persons do </a:t>
                </a:r>
                <a:r>
                  <a:rPr lang="en-US" i="1" dirty="0"/>
                  <a:t>in</a:t>
                </a:r>
                <a:r>
                  <a:rPr lang="en-US" dirty="0"/>
                  <a:t>.</a:t>
                </a:r>
              </a:p>
            </p:txBody>
          </p:sp>
        </mc:Choice>
        <mc:Fallback xmlns="">
          <p:sp>
            <p:nvSpPr>
              <p:cNvPr id="50" name="TextBox 49">
                <a:extLst>
                  <a:ext uri="{FF2B5EF4-FFF2-40B4-BE49-F238E27FC236}">
                    <a16:creationId xmlns:a16="http://schemas.microsoft.com/office/drawing/2014/main" id="{67C061ED-20ED-E688-7103-DA8EC9C4A7E3}"/>
                  </a:ext>
                </a:extLst>
              </p:cNvPr>
              <p:cNvSpPr txBox="1">
                <a:spLocks noRot="1" noChangeAspect="1" noMove="1" noResize="1" noEditPoints="1" noAdjustHandles="1" noChangeArrowheads="1" noChangeShapeType="1" noTextEdit="1"/>
              </p:cNvSpPr>
              <p:nvPr/>
            </p:nvSpPr>
            <p:spPr>
              <a:xfrm>
                <a:off x="6340195" y="3425954"/>
                <a:ext cx="5378824" cy="923330"/>
              </a:xfrm>
              <a:prstGeom prst="rect">
                <a:avLst/>
              </a:prstGeom>
              <a:blipFill>
                <a:blip r:embed="rId17"/>
                <a:stretch>
                  <a:fillRect l="-563" t="-1274" r="-113" b="-7643"/>
                </a:stretch>
              </a:blipFill>
              <a:ln w="38100">
                <a:solidFill>
                  <a:srgbClr val="FFFF00"/>
                </a:solidFill>
              </a:ln>
            </p:spPr>
            <p:txBody>
              <a:bodyPr/>
              <a:lstStyle/>
              <a:p>
                <a:r>
                  <a:rPr lang="en-US">
                    <a:noFill/>
                  </a:rPr>
                  <a:t> </a:t>
                </a:r>
              </a:p>
            </p:txBody>
          </p:sp>
        </mc:Fallback>
      </mc:AlternateContent>
      <p:sp>
        <p:nvSpPr>
          <p:cNvPr id="51" name="TextBox 50">
            <a:extLst>
              <a:ext uri="{FF2B5EF4-FFF2-40B4-BE49-F238E27FC236}">
                <a16:creationId xmlns:a16="http://schemas.microsoft.com/office/drawing/2014/main" id="{021237CE-EE98-236A-77D8-DBD8FDBF2EC6}"/>
              </a:ext>
            </a:extLst>
          </p:cNvPr>
          <p:cNvSpPr txBox="1"/>
          <p:nvPr/>
        </p:nvSpPr>
        <p:spPr>
          <a:xfrm>
            <a:off x="8245194" y="4992591"/>
            <a:ext cx="1053444" cy="369332"/>
          </a:xfrm>
          <a:prstGeom prst="rect">
            <a:avLst/>
          </a:prstGeom>
          <a:noFill/>
        </p:spPr>
        <p:txBody>
          <a:bodyPr wrap="square" rtlCol="0">
            <a:spAutoFit/>
          </a:bodyPr>
          <a:lstStyle/>
          <a:p>
            <a:pPr algn="ctr"/>
            <a:r>
              <a:rPr lang="en-US" dirty="0"/>
              <a:t>AND</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D7C5CEC-6939-F77B-0A6C-4D30A9E15FE7}"/>
                  </a:ext>
                </a:extLst>
              </p:cNvPr>
              <p:cNvSpPr txBox="1"/>
              <p:nvPr/>
            </p:nvSpPr>
            <p:spPr>
              <a:xfrm>
                <a:off x="6340195" y="5370833"/>
                <a:ext cx="5378824" cy="923330"/>
              </a:xfrm>
              <a:prstGeom prst="rect">
                <a:avLst/>
              </a:prstGeom>
              <a:noFill/>
              <a:ln w="38100">
                <a:solidFill>
                  <a:srgbClr val="7030A0"/>
                </a:solidFill>
              </a:ln>
            </p:spPr>
            <p:txBody>
              <a:bodyPr wrap="square" rtlCol="0">
                <a:spAutoFit/>
              </a:bodyPr>
              <a:lstStyle/>
              <a:p>
                <a:r>
                  <a:rPr lang="en-US" dirty="0"/>
                  <a:t>For any given person that does </a:t>
                </a:r>
                <a:r>
                  <a:rPr lang="en-US" i="1" dirty="0"/>
                  <a:t>out,</a:t>
                </a:r>
                <a:r>
                  <a:rPr lang="en-US" dirty="0"/>
                  <a:t> doing </a:t>
                </a:r>
                <a:r>
                  <a:rPr lang="en-US" i="1" dirty="0"/>
                  <a:t>out</a:t>
                </a:r>
                <a:r>
                  <a:rPr lang="en-US" dirty="0"/>
                  <a:t> is a BR to the expectation that exactly </a:t>
                </a:r>
                <a14:m>
                  <m:oMath xmlns:m="http://schemas.openxmlformats.org/officeDocument/2006/math">
                    <m:r>
                      <a:rPr lang="en-US" b="0" i="1" smtClean="0">
                        <a:latin typeface="Cambria Math" panose="02040503050406030204" pitchFamily="18" charset="0"/>
                      </a:rPr>
                      <m:t>𝑆</m:t>
                    </m:r>
                  </m:oMath>
                </a14:m>
                <a:r>
                  <a:rPr lang="en-US" dirty="0"/>
                  <a:t> of the other persons do </a:t>
                </a:r>
                <a:r>
                  <a:rPr lang="en-US" i="1" dirty="0"/>
                  <a:t>in</a:t>
                </a:r>
                <a:r>
                  <a:rPr lang="en-US" dirty="0"/>
                  <a:t>.</a:t>
                </a:r>
              </a:p>
            </p:txBody>
          </p:sp>
        </mc:Choice>
        <mc:Fallback xmlns="">
          <p:sp>
            <p:nvSpPr>
              <p:cNvPr id="53" name="TextBox 52">
                <a:extLst>
                  <a:ext uri="{FF2B5EF4-FFF2-40B4-BE49-F238E27FC236}">
                    <a16:creationId xmlns:a16="http://schemas.microsoft.com/office/drawing/2014/main" id="{0D7C5CEC-6939-F77B-0A6C-4D30A9E15FE7}"/>
                  </a:ext>
                </a:extLst>
              </p:cNvPr>
              <p:cNvSpPr txBox="1">
                <a:spLocks noRot="1" noChangeAspect="1" noMove="1" noResize="1" noEditPoints="1" noAdjustHandles="1" noChangeArrowheads="1" noChangeShapeType="1" noTextEdit="1"/>
              </p:cNvSpPr>
              <p:nvPr/>
            </p:nvSpPr>
            <p:spPr>
              <a:xfrm>
                <a:off x="6340195" y="5370833"/>
                <a:ext cx="5378824" cy="923330"/>
              </a:xfrm>
              <a:prstGeom prst="rect">
                <a:avLst/>
              </a:prstGeom>
              <a:blipFill>
                <a:blip r:embed="rId18"/>
                <a:stretch>
                  <a:fillRect l="-563" t="-1266" r="-225" b="-6962"/>
                </a:stretch>
              </a:blipFill>
              <a:ln w="38100">
                <a:solidFill>
                  <a:srgbClr val="7030A0"/>
                </a:solidFill>
              </a:ln>
            </p:spPr>
            <p:txBody>
              <a:bodyPr/>
              <a:lstStyle/>
              <a:p>
                <a:r>
                  <a:rPr lang="en-US">
                    <a:noFill/>
                  </a:rPr>
                  <a:t> </a:t>
                </a:r>
              </a:p>
            </p:txBody>
          </p:sp>
        </mc:Fallback>
      </mc:AlternateContent>
    </p:spTree>
    <p:extLst>
      <p:ext uri="{BB962C8B-B14F-4D97-AF65-F5344CB8AC3E}">
        <p14:creationId xmlns:p14="http://schemas.microsoft.com/office/powerpoint/2010/main" val="5216083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4E7CF-D797-A49B-2245-89896E36221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FD2625-64E2-1B24-1C53-0EDE90C51B18}"/>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45158CB7-5917-990D-EF31-23E27B297CC4}"/>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144CEB46-D292-151A-64D3-E297DB326A6D}"/>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140861E7-90EF-FD78-3842-D184C67B82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4B02984B-D64E-DCED-E617-A7A66974A470}"/>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31D53DD1-0DEE-BA03-41F6-1728CDB2DB48}"/>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8F66E466-97ED-44FB-2652-780DBFFBD946}"/>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75304977-6538-BB5A-0E36-ECCF25BA9F1F}"/>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75304977-6538-BB5A-0E36-ECCF25BA9F1F}"/>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AF80E831-38DD-F21F-321D-06404E32262A}"/>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AF80E831-38DD-F21F-321D-06404E32262A}"/>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13F0939D-D3F5-A1A8-0A20-D3EAE69330A9}"/>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13F0939D-D3F5-A1A8-0A20-D3EAE69330A9}"/>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CE57BB5D-AD34-2A60-9C3B-992E0724C542}"/>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144C0591-6FCC-215A-6B75-1CA44C928E37}"/>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48B6ACEB-BED7-809B-CBA9-018810B8EFAD}"/>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05FE63CC-8301-A7A4-B0E6-9DEB20BB450F}"/>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07B2A387-52FC-C65E-5957-1CE68C3F25BE}"/>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3ECF3AC1-A310-C1A6-5142-E63FE8B065CF}"/>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56AC772-73A5-1BE9-3A14-89BDF1B62F69}"/>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AF89E76D-7D56-BB5B-B19C-26DC8A7A56D5}"/>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A45A9FA9-B16C-6DF7-8D85-9AB84AA66760}"/>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0C92ECF-AC68-65DE-DD42-C3E3154B61DD}"/>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90A445-AD4D-4542-7BEB-970A1AC07A16}"/>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BD90A445-AD4D-4542-7BEB-970A1AC07A16}"/>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264F5E6-EDF0-EB28-7DB0-E165F366803E}"/>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3264F5E6-EDF0-EB28-7DB0-E165F366803E}"/>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A3AB43DB-427B-92AE-BF5B-2466CFEA74E3}"/>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8D3819F-C2F0-37CF-512A-BFA3E85D7871}"/>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262241C-1A70-8A81-57FD-52EF2153FE04}"/>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6D34AED-3883-61BF-321A-8E9DF944DD91}"/>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564A823-5CD9-91C6-79F6-26A93DEBA59F}"/>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92CA972-BAD6-D0D3-45B0-EF26EB82CE41}"/>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B491452-041B-4F61-CE56-79AEC0FB4177}"/>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AE92399-9F1B-52DD-8524-77842303A17E}"/>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1916A34-E2B0-533D-649A-C11884D43EEA}"/>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703B7B2-F55A-A2B4-4CF4-5905BEA276BC}"/>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BCC4FC0-C665-73BA-A36D-30684C9DB5B7}"/>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EBCC4FC0-C665-73BA-A36D-30684C9DB5B7}"/>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757313E-8C31-1080-7848-9FA44AF508F1}"/>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1757313E-8C31-1080-7848-9FA44AF508F1}"/>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6E5F87CB-B986-F936-EF73-E12FC189F91B}"/>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1A4E41E-B775-F313-1F9D-2775D09052E7}"/>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5E9A9A0-DCE0-10DC-1D70-1D474547F889}"/>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EF95915-EF85-0AEA-2EFB-63963AF73613}"/>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54D83AF-345E-D10B-6F4F-DCD114410E30}"/>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F63A78A-9E51-AD68-C8DA-12090CA29ECF}"/>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88D5AF0-7DD9-DBBF-B66A-DB22D7C38A2F}"/>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F5E6F39-EFC0-84A3-9E0B-F709E139BAEC}"/>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93FDBA1-B873-B46D-3F05-F162DD9A9876}"/>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A5A51F1-C5F5-666D-BF0E-4C6D4ADDF228}"/>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1CC5962-F904-A541-D0F0-A24243E9B05E}"/>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C1CC5962-F904-A541-D0F0-A24243E9B05E}"/>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45BCFA-FE8A-CE4D-3433-CEAC526D6F79}"/>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3B45BCFA-FE8A-CE4D-3433-CEAC526D6F79}"/>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6A497072-DE84-B46B-A91B-BA4753E81B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C2C7970A-1A3D-1F06-FA8F-4DA464CCBE64}"/>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8E44409-1363-93F7-95F1-2C50323BFB59}"/>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89095056-1427-2697-CBB5-725FCC6519EA}"/>
              </a:ext>
            </a:extLst>
          </p:cNvPr>
          <p:cNvSpPr/>
          <p:nvPr/>
        </p:nvSpPr>
        <p:spPr>
          <a:xfrm>
            <a:off x="5862918" y="760982"/>
            <a:ext cx="6221507" cy="5995619"/>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F6C86642-FD40-1FD9-5A06-E16353DF9C18}"/>
              </a:ext>
            </a:extLst>
          </p:cNvPr>
          <p:cNvSpPr/>
          <p:nvPr/>
        </p:nvSpPr>
        <p:spPr>
          <a:xfrm>
            <a:off x="7217619" y="12178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3DC69029-5FBC-3E16-B346-2A9CD50501B1}"/>
              </a:ext>
            </a:extLst>
          </p:cNvPr>
          <p:cNvSpPr/>
          <p:nvPr/>
        </p:nvSpPr>
        <p:spPr>
          <a:xfrm>
            <a:off x="7795931" y="1406210"/>
            <a:ext cx="251011" cy="251011"/>
          </a:xfrm>
          <a:prstGeom prst="ellipse">
            <a:avLst/>
          </a:prstGeom>
          <a:solidFill>
            <a:schemeClr val="accent6"/>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C003A6-B38E-6090-0673-CA7508AEAE92}"/>
              </a:ext>
            </a:extLst>
          </p:cNvPr>
          <p:cNvSpPr/>
          <p:nvPr/>
        </p:nvSpPr>
        <p:spPr>
          <a:xfrm>
            <a:off x="8329333" y="15317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271FE24-8B91-CE63-C3B8-9806B0B22FB9}"/>
              </a:ext>
            </a:extLst>
          </p:cNvPr>
          <p:cNvSpPr/>
          <p:nvPr/>
        </p:nvSpPr>
        <p:spPr>
          <a:xfrm>
            <a:off x="7388128" y="153063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01F060E-9219-4F30-E743-77613AB66DE5}"/>
              </a:ext>
            </a:extLst>
          </p:cNvPr>
          <p:cNvSpPr/>
          <p:nvPr/>
        </p:nvSpPr>
        <p:spPr>
          <a:xfrm>
            <a:off x="10337335" y="139353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FCD0BDC-9F8D-E0CF-0DF9-2A18CB7BC799}"/>
              </a:ext>
            </a:extLst>
          </p:cNvPr>
          <p:cNvSpPr/>
          <p:nvPr/>
        </p:nvSpPr>
        <p:spPr>
          <a:xfrm>
            <a:off x="10515107" y="1902045"/>
            <a:ext cx="251011" cy="251011"/>
          </a:xfrm>
          <a:prstGeom prst="ellipse">
            <a:avLst/>
          </a:prstGeom>
          <a:solidFill>
            <a:srgbClr val="FF0000"/>
          </a:solid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AEDE97CA-646C-0927-56AB-AC31FB25FE8A}"/>
              </a:ext>
            </a:extLst>
          </p:cNvPr>
          <p:cNvSpPr/>
          <p:nvPr/>
        </p:nvSpPr>
        <p:spPr>
          <a:xfrm>
            <a:off x="9765924" y="164454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56D9E2D-C90A-F27B-2A74-820B50E052C9}"/>
              </a:ext>
            </a:extLst>
          </p:cNvPr>
          <p:cNvSpPr/>
          <p:nvPr/>
        </p:nvSpPr>
        <p:spPr>
          <a:xfrm>
            <a:off x="9797387" y="121781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0A38C9B-FA6A-1DAC-BB62-027448243396}"/>
              </a:ext>
            </a:extLst>
          </p:cNvPr>
          <p:cNvSpPr/>
          <p:nvPr/>
        </p:nvSpPr>
        <p:spPr>
          <a:xfrm>
            <a:off x="9458795" y="120790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AF7FAB5-948D-CC8B-4AEB-3F9D2F7395F6}"/>
                  </a:ext>
                </a:extLst>
              </p:cNvPr>
              <p:cNvSpPr txBox="1"/>
              <p:nvPr/>
            </p:nvSpPr>
            <p:spPr>
              <a:xfrm>
                <a:off x="7164862" y="2396165"/>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6" name="TextBox 45">
                <a:extLst>
                  <a:ext uri="{FF2B5EF4-FFF2-40B4-BE49-F238E27FC236}">
                    <a16:creationId xmlns:a16="http://schemas.microsoft.com/office/drawing/2014/main" id="{CAF7FAB5-948D-CC8B-4AEB-3F9D2F7395F6}"/>
                  </a:ext>
                </a:extLst>
              </p:cNvPr>
              <p:cNvSpPr txBox="1">
                <a:spLocks noRot="1" noChangeAspect="1" noMove="1" noResize="1" noEditPoints="1" noAdjustHandles="1" noChangeArrowheads="1" noChangeShapeType="1" noTextEdit="1"/>
              </p:cNvSpPr>
              <p:nvPr/>
            </p:nvSpPr>
            <p:spPr>
              <a:xfrm>
                <a:off x="7164862" y="2396165"/>
                <a:ext cx="1566760" cy="369332"/>
              </a:xfrm>
              <a:prstGeom prst="rect">
                <a:avLst/>
              </a:prstGeom>
              <a:blipFill>
                <a:blip r:embed="rId1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02A243B-7B56-2AF6-D0FB-209F1EC99E9C}"/>
                  </a:ext>
                </a:extLst>
              </p:cNvPr>
              <p:cNvSpPr txBox="1"/>
              <p:nvPr/>
            </p:nvSpPr>
            <p:spPr>
              <a:xfrm>
                <a:off x="9432936" y="2405031"/>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47" name="TextBox 46">
                <a:extLst>
                  <a:ext uri="{FF2B5EF4-FFF2-40B4-BE49-F238E27FC236}">
                    <a16:creationId xmlns:a16="http://schemas.microsoft.com/office/drawing/2014/main" id="{802A243B-7B56-2AF6-D0FB-209F1EC99E9C}"/>
                  </a:ext>
                </a:extLst>
              </p:cNvPr>
              <p:cNvSpPr txBox="1">
                <a:spLocks noRot="1" noChangeAspect="1" noMove="1" noResize="1" noEditPoints="1" noAdjustHandles="1" noChangeArrowheads="1" noChangeShapeType="1" noTextEdit="1"/>
              </p:cNvSpPr>
              <p:nvPr/>
            </p:nvSpPr>
            <p:spPr>
              <a:xfrm>
                <a:off x="9432936" y="2405031"/>
                <a:ext cx="1566760" cy="369332"/>
              </a:xfrm>
              <a:prstGeom prst="rect">
                <a:avLst/>
              </a:prstGeom>
              <a:blipFill>
                <a:blip r:embed="rId1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2F70527-DE4D-DAB7-F8E3-46F5236304A8}"/>
                  </a:ext>
                </a:extLst>
              </p:cNvPr>
              <p:cNvSpPr txBox="1"/>
              <p:nvPr/>
            </p:nvSpPr>
            <p:spPr>
              <a:xfrm>
                <a:off x="8004984" y="787285"/>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9" name="TextBox 48">
                <a:extLst>
                  <a:ext uri="{FF2B5EF4-FFF2-40B4-BE49-F238E27FC236}">
                    <a16:creationId xmlns:a16="http://schemas.microsoft.com/office/drawing/2014/main" id="{E2F70527-DE4D-DAB7-F8E3-46F5236304A8}"/>
                  </a:ext>
                </a:extLst>
              </p:cNvPr>
              <p:cNvSpPr txBox="1">
                <a:spLocks noRot="1" noChangeAspect="1" noMove="1" noResize="1" noEditPoints="1" noAdjustHandles="1" noChangeArrowheads="1" noChangeShapeType="1" noTextEdit="1"/>
              </p:cNvSpPr>
              <p:nvPr/>
            </p:nvSpPr>
            <p:spPr>
              <a:xfrm>
                <a:off x="8004984" y="787285"/>
                <a:ext cx="2023782" cy="369332"/>
              </a:xfrm>
              <a:prstGeom prst="rect">
                <a:avLst/>
              </a:prstGeom>
              <a:blipFill>
                <a:blip r:embed="rId16"/>
                <a:stretch>
                  <a:fillRect l="-2410" t="-8197"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1C32B89E-974D-CC82-A781-0C358266812A}"/>
              </a:ext>
            </a:extLst>
          </p:cNvPr>
          <p:cNvSpPr txBox="1"/>
          <p:nvPr/>
        </p:nvSpPr>
        <p:spPr>
          <a:xfrm>
            <a:off x="6320118" y="2933238"/>
            <a:ext cx="5459506" cy="369332"/>
          </a:xfrm>
          <a:prstGeom prst="rect">
            <a:avLst/>
          </a:prstGeom>
          <a:noFill/>
        </p:spPr>
        <p:txBody>
          <a:bodyPr wrap="square" rtlCol="0">
            <a:spAutoFit/>
          </a:bodyPr>
          <a:lstStyle/>
          <a:p>
            <a:r>
              <a:rPr lang="en-US" dirty="0"/>
              <a:t>If any such profile is a Nash Equilibrium it must be that...</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A1B29CD-7A65-1D51-F9BC-1509550DBBF4}"/>
                  </a:ext>
                </a:extLst>
              </p:cNvPr>
              <p:cNvSpPr txBox="1"/>
              <p:nvPr/>
            </p:nvSpPr>
            <p:spPr>
              <a:xfrm>
                <a:off x="6340195" y="3425954"/>
                <a:ext cx="5378824" cy="1200329"/>
              </a:xfrm>
              <a:prstGeom prst="rect">
                <a:avLst/>
              </a:prstGeom>
              <a:noFill/>
              <a:ln w="38100">
                <a:solidFill>
                  <a:srgbClr val="FFFF00"/>
                </a:solidFill>
              </a:ln>
            </p:spPr>
            <p:txBody>
              <a:bodyPr wrap="square" rtlCol="0">
                <a:spAutoFit/>
              </a:bodyPr>
              <a:lstStyle/>
              <a:p>
                <a:r>
                  <a:rPr lang="en-US" dirty="0"/>
                  <a:t>For any given person that does </a:t>
                </a:r>
                <a:r>
                  <a:rPr lang="en-US" i="1" dirty="0"/>
                  <a:t>in,</a:t>
                </a:r>
                <a:r>
                  <a:rPr lang="en-US" dirty="0"/>
                  <a:t> doing </a:t>
                </a:r>
                <a:r>
                  <a:rPr lang="en-US" i="1" dirty="0"/>
                  <a:t>in</a:t>
                </a:r>
                <a:r>
                  <a:rPr lang="en-US" dirty="0"/>
                  <a:t> is a BR to the expectation that exactly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of the other persons do </a:t>
                </a:r>
                <a:r>
                  <a:rPr lang="en-US" i="1" dirty="0"/>
                  <a:t>in</a:t>
                </a:r>
                <a:r>
                  <a:rPr lang="en-US" dirty="0"/>
                  <a:t>.  In that case, her utility from doing </a:t>
                </a:r>
                <a:r>
                  <a:rPr lang="en-US" i="1" dirty="0"/>
                  <a:t>in</a:t>
                </a:r>
                <a:r>
                  <a:rPr lang="en-US" dirty="0"/>
                  <a:t> is 1, so since her utility from doing </a:t>
                </a:r>
                <a:r>
                  <a:rPr lang="en-US" i="1" dirty="0"/>
                  <a:t>out</a:t>
                </a:r>
                <a:r>
                  <a:rPr lang="en-US" dirty="0"/>
                  <a:t> is 0, </a:t>
                </a:r>
                <a:r>
                  <a:rPr lang="en-US" b="1" dirty="0"/>
                  <a:t>doing </a:t>
                </a:r>
                <a:r>
                  <a:rPr lang="en-US" b="1" i="1" dirty="0"/>
                  <a:t>in</a:t>
                </a:r>
                <a:r>
                  <a:rPr lang="en-US" b="1" dirty="0"/>
                  <a:t> is a BR</a:t>
                </a:r>
                <a:r>
                  <a:rPr lang="en-US" dirty="0"/>
                  <a:t>!</a:t>
                </a:r>
              </a:p>
            </p:txBody>
          </p:sp>
        </mc:Choice>
        <mc:Fallback xmlns="">
          <p:sp>
            <p:nvSpPr>
              <p:cNvPr id="50" name="TextBox 49">
                <a:extLst>
                  <a:ext uri="{FF2B5EF4-FFF2-40B4-BE49-F238E27FC236}">
                    <a16:creationId xmlns:a16="http://schemas.microsoft.com/office/drawing/2014/main" id="{FA1B29CD-7A65-1D51-F9BC-1509550DBBF4}"/>
                  </a:ext>
                </a:extLst>
              </p:cNvPr>
              <p:cNvSpPr txBox="1">
                <a:spLocks noRot="1" noChangeAspect="1" noMove="1" noResize="1" noEditPoints="1" noAdjustHandles="1" noChangeArrowheads="1" noChangeShapeType="1" noTextEdit="1"/>
              </p:cNvSpPr>
              <p:nvPr/>
            </p:nvSpPr>
            <p:spPr>
              <a:xfrm>
                <a:off x="6340195" y="3425954"/>
                <a:ext cx="5378824" cy="1200329"/>
              </a:xfrm>
              <a:prstGeom prst="rect">
                <a:avLst/>
              </a:prstGeom>
              <a:blipFill>
                <a:blip r:embed="rId17"/>
                <a:stretch>
                  <a:fillRect l="-563" t="-985" r="-113" b="-5419"/>
                </a:stretch>
              </a:blipFill>
              <a:ln w="38100">
                <a:solidFill>
                  <a:srgbClr val="FFFF00"/>
                </a:solidFill>
              </a:ln>
            </p:spPr>
            <p:txBody>
              <a:bodyPr/>
              <a:lstStyle/>
              <a:p>
                <a:r>
                  <a:rPr lang="en-US">
                    <a:noFill/>
                  </a:rPr>
                  <a:t> </a:t>
                </a:r>
              </a:p>
            </p:txBody>
          </p:sp>
        </mc:Fallback>
      </mc:AlternateContent>
      <p:sp>
        <p:nvSpPr>
          <p:cNvPr id="51" name="TextBox 50">
            <a:extLst>
              <a:ext uri="{FF2B5EF4-FFF2-40B4-BE49-F238E27FC236}">
                <a16:creationId xmlns:a16="http://schemas.microsoft.com/office/drawing/2014/main" id="{796A964C-3735-750C-7330-06154B3F6D38}"/>
              </a:ext>
            </a:extLst>
          </p:cNvPr>
          <p:cNvSpPr txBox="1"/>
          <p:nvPr/>
        </p:nvSpPr>
        <p:spPr>
          <a:xfrm>
            <a:off x="8245194" y="4992591"/>
            <a:ext cx="1053444" cy="369332"/>
          </a:xfrm>
          <a:prstGeom prst="rect">
            <a:avLst/>
          </a:prstGeom>
          <a:noFill/>
        </p:spPr>
        <p:txBody>
          <a:bodyPr wrap="square" rtlCol="0">
            <a:spAutoFit/>
          </a:bodyPr>
          <a:lstStyle/>
          <a:p>
            <a:pPr algn="ctr"/>
            <a:r>
              <a:rPr lang="en-US" dirty="0"/>
              <a:t>AND</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DD478C0C-4821-E6D9-9994-3361F1EF25E0}"/>
                  </a:ext>
                </a:extLst>
              </p:cNvPr>
              <p:cNvSpPr txBox="1"/>
              <p:nvPr/>
            </p:nvSpPr>
            <p:spPr>
              <a:xfrm>
                <a:off x="6340195" y="5370833"/>
                <a:ext cx="5378824" cy="923330"/>
              </a:xfrm>
              <a:prstGeom prst="rect">
                <a:avLst/>
              </a:prstGeom>
              <a:noFill/>
              <a:ln w="38100">
                <a:solidFill>
                  <a:srgbClr val="7030A0"/>
                </a:solidFill>
              </a:ln>
            </p:spPr>
            <p:txBody>
              <a:bodyPr wrap="square" rtlCol="0">
                <a:spAutoFit/>
              </a:bodyPr>
              <a:lstStyle/>
              <a:p>
                <a:r>
                  <a:rPr lang="en-US" dirty="0"/>
                  <a:t>For any given person that does </a:t>
                </a:r>
                <a:r>
                  <a:rPr lang="en-US" i="1" dirty="0"/>
                  <a:t>out,</a:t>
                </a:r>
                <a:r>
                  <a:rPr lang="en-US" dirty="0"/>
                  <a:t> doing </a:t>
                </a:r>
                <a:r>
                  <a:rPr lang="en-US" i="1" dirty="0"/>
                  <a:t>out</a:t>
                </a:r>
                <a:r>
                  <a:rPr lang="en-US" dirty="0"/>
                  <a:t> is a BR to the expectation that exactly </a:t>
                </a:r>
                <a14:m>
                  <m:oMath xmlns:m="http://schemas.openxmlformats.org/officeDocument/2006/math">
                    <m:r>
                      <a:rPr lang="en-US" b="0" i="1" smtClean="0">
                        <a:latin typeface="Cambria Math" panose="02040503050406030204" pitchFamily="18" charset="0"/>
                      </a:rPr>
                      <m:t>𝑆</m:t>
                    </m:r>
                  </m:oMath>
                </a14:m>
                <a:r>
                  <a:rPr lang="en-US" dirty="0"/>
                  <a:t> of the other persons do </a:t>
                </a:r>
                <a:r>
                  <a:rPr lang="en-US" i="1" dirty="0"/>
                  <a:t>in</a:t>
                </a:r>
                <a:r>
                  <a:rPr lang="en-US" dirty="0"/>
                  <a:t>.</a:t>
                </a:r>
              </a:p>
            </p:txBody>
          </p:sp>
        </mc:Choice>
        <mc:Fallback xmlns="">
          <p:sp>
            <p:nvSpPr>
              <p:cNvPr id="53" name="TextBox 52">
                <a:extLst>
                  <a:ext uri="{FF2B5EF4-FFF2-40B4-BE49-F238E27FC236}">
                    <a16:creationId xmlns:a16="http://schemas.microsoft.com/office/drawing/2014/main" id="{DD478C0C-4821-E6D9-9994-3361F1EF25E0}"/>
                  </a:ext>
                </a:extLst>
              </p:cNvPr>
              <p:cNvSpPr txBox="1">
                <a:spLocks noRot="1" noChangeAspect="1" noMove="1" noResize="1" noEditPoints="1" noAdjustHandles="1" noChangeArrowheads="1" noChangeShapeType="1" noTextEdit="1"/>
              </p:cNvSpPr>
              <p:nvPr/>
            </p:nvSpPr>
            <p:spPr>
              <a:xfrm>
                <a:off x="6340195" y="5370833"/>
                <a:ext cx="5378824" cy="923330"/>
              </a:xfrm>
              <a:prstGeom prst="rect">
                <a:avLst/>
              </a:prstGeom>
              <a:blipFill>
                <a:blip r:embed="rId18"/>
                <a:stretch>
                  <a:fillRect l="-563" t="-1266" r="-225" b="-6962"/>
                </a:stretch>
              </a:blipFill>
              <a:ln w="38100">
                <a:solidFill>
                  <a:srgbClr val="7030A0"/>
                </a:solidFill>
              </a:ln>
            </p:spPr>
            <p:txBody>
              <a:bodyPr/>
              <a:lstStyle/>
              <a:p>
                <a:r>
                  <a:rPr lang="en-US">
                    <a:noFill/>
                  </a:rPr>
                  <a:t> </a:t>
                </a:r>
              </a:p>
            </p:txBody>
          </p:sp>
        </mc:Fallback>
      </mc:AlternateContent>
    </p:spTree>
    <p:extLst>
      <p:ext uri="{BB962C8B-B14F-4D97-AF65-F5344CB8AC3E}">
        <p14:creationId xmlns:p14="http://schemas.microsoft.com/office/powerpoint/2010/main" val="38826888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7422B-C0AA-32DB-16B5-C924D3D0F46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2F883F5-0C83-56A8-0D00-AA8D17DE5B23}"/>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572125A8-AE69-415B-0620-713275436759}"/>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B5D884DE-9DB3-D9F3-FA63-9928AA812F8D}"/>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F510FA9F-0CF3-64A5-C3A0-0E2A10A0A4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670F94FD-F04D-EBDC-3516-6DEF101CF490}"/>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EC17BE86-53FC-5893-B263-F52BEE672FFD}"/>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BBC71F07-AA5B-A635-7261-73335C7B67EE}"/>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9A3A1BE1-B5FC-F087-EAC8-C641F6F35F89}"/>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9A3A1BE1-B5FC-F087-EAC8-C641F6F35F89}"/>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CBDC6056-BB9F-0D6F-A64E-6EA71B96F1A4}"/>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CBDC6056-BB9F-0D6F-A64E-6EA71B96F1A4}"/>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72C3C31F-3286-F008-79A3-DB9605BEAF3C}"/>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72C3C31F-3286-F008-79A3-DB9605BEAF3C}"/>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B3041347-52F9-0B07-4C68-270914451E10}"/>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6F0F8316-47BE-BF03-180C-6EA13ACBCC7B}"/>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313DBFD8-ADBF-E421-E226-5BB13F24BA01}"/>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13FCC15A-6DDC-4B1B-52DC-699CF96500CE}"/>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D4318401-42C8-7808-940E-5619A092A8AE}"/>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48296738-2D85-24F4-FA29-5FC3902A6817}"/>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3C78FCEA-FDEA-B75E-887E-231C1D6C11CC}"/>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891AA4CD-7CC6-A8F2-EC70-C2ED0CE485B0}"/>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5D5E544C-A48E-DE70-CB3A-9C2263CD0C02}"/>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880F60-1416-A8E0-994F-F929C1B65691}"/>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488A2CC-4169-DB66-B9EB-C719EBD93F5E}"/>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F488A2CC-4169-DB66-B9EB-C719EBD93F5E}"/>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7565F0-BF08-6A31-7CBA-6D3A8A812221}"/>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1C7565F0-BF08-6A31-7CBA-6D3A8A812221}"/>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A2FB5903-6E6F-6620-265A-D0E1849F5F7F}"/>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AC880B3-BCDD-C198-71D3-6C975B009792}"/>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3A43F69-CA27-FA07-6EB4-C00DC72D33DA}"/>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B408CFE-2BFA-FD1B-A6B7-BE8492901FC7}"/>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F368AAA-1182-B0C4-DC68-84C2BBE275E6}"/>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48E8056-3BF5-425C-006D-4005145A6DAE}"/>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4AE4CEE-7FBA-2144-5DC7-EC01417BD85D}"/>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CD35683-9753-1FF1-9FFF-F310133E4B10}"/>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AC20C7B-52D6-8C80-26DC-70145CDB251C}"/>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524D9DA-E864-B3EF-5163-34C615D34B77}"/>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4B1E93D-B0E6-5445-86B3-3E150F899C11}"/>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C4B1E93D-B0E6-5445-86B3-3E150F899C11}"/>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3EF0995-1782-FD5C-CF1D-C25565B6AC19}"/>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C3EF0995-1782-FD5C-CF1D-C25565B6AC19}"/>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2754142C-2D2C-3816-465F-A884C6F17F33}"/>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0001619-EEA6-D46E-F893-6AE21B2939F5}"/>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B17AC22-A579-0329-7523-A9511120DB4D}"/>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2A271D2-B095-B047-0360-DE436A5DAC01}"/>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10AE7E3-9458-EDD2-609A-7B5A55B2A3E9}"/>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00F348E-7C41-5EAF-1593-F2016608920F}"/>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4C7CC25-DDF5-6E29-D957-77928910E4FF}"/>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48042C6-FB64-AABE-6B70-24DBF4DA662B}"/>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AD01AA3-163A-14BF-3D81-7BDB68519F7D}"/>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773308B-02FB-409D-C0C6-B02E5A88F639}"/>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DDE5422-9F8A-574C-7FCD-A7744ABBE56F}"/>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BDDE5422-9F8A-574C-7FCD-A7744ABBE56F}"/>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E923590-BF26-4784-D65C-31685563FE80}"/>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4E923590-BF26-4784-D65C-31685563FE80}"/>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2F9A16E2-8530-BF38-E396-F09A2DBBF2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14815B3E-89A8-CD8E-DDAD-EAC9B8D2B7AD}"/>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CF618E2-EC96-7B27-E056-0B5EEE58C43F}"/>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87E33C09-F380-514A-DCC6-4F29C2CBB90A}"/>
              </a:ext>
            </a:extLst>
          </p:cNvPr>
          <p:cNvSpPr/>
          <p:nvPr/>
        </p:nvSpPr>
        <p:spPr>
          <a:xfrm>
            <a:off x="5862918" y="760982"/>
            <a:ext cx="6221507" cy="5995619"/>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F13B3460-A8CC-CB76-E7CF-E470BA617F1F}"/>
              </a:ext>
            </a:extLst>
          </p:cNvPr>
          <p:cNvSpPr/>
          <p:nvPr/>
        </p:nvSpPr>
        <p:spPr>
          <a:xfrm>
            <a:off x="7217619" y="12178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7925E64-3A92-D46C-EBFE-4B4CF2845F4E}"/>
              </a:ext>
            </a:extLst>
          </p:cNvPr>
          <p:cNvSpPr/>
          <p:nvPr/>
        </p:nvSpPr>
        <p:spPr>
          <a:xfrm>
            <a:off x="7795931" y="1406210"/>
            <a:ext cx="251011" cy="251011"/>
          </a:xfrm>
          <a:prstGeom prst="ellipse">
            <a:avLst/>
          </a:prstGeom>
          <a:solidFill>
            <a:schemeClr val="accent6"/>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5002EBE-1468-4062-F874-1D28ED97BB77}"/>
              </a:ext>
            </a:extLst>
          </p:cNvPr>
          <p:cNvSpPr/>
          <p:nvPr/>
        </p:nvSpPr>
        <p:spPr>
          <a:xfrm>
            <a:off x="8329333" y="15317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88BA31F-90CE-6C21-3390-A5B8E0A62ABE}"/>
              </a:ext>
            </a:extLst>
          </p:cNvPr>
          <p:cNvSpPr/>
          <p:nvPr/>
        </p:nvSpPr>
        <p:spPr>
          <a:xfrm>
            <a:off x="7388128" y="153063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0959F4A-8323-8C31-2BF6-4DB07D790510}"/>
              </a:ext>
            </a:extLst>
          </p:cNvPr>
          <p:cNvSpPr/>
          <p:nvPr/>
        </p:nvSpPr>
        <p:spPr>
          <a:xfrm>
            <a:off x="10337335" y="139353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C83C6789-1FFF-D9F7-81CC-AEF553ECF49E}"/>
              </a:ext>
            </a:extLst>
          </p:cNvPr>
          <p:cNvSpPr/>
          <p:nvPr/>
        </p:nvSpPr>
        <p:spPr>
          <a:xfrm>
            <a:off x="10515107" y="1902045"/>
            <a:ext cx="251011" cy="251011"/>
          </a:xfrm>
          <a:prstGeom prst="ellipse">
            <a:avLst/>
          </a:prstGeom>
          <a:solidFill>
            <a:srgbClr val="FF0000"/>
          </a:solid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86BBF9D-B78D-DC31-8C4E-CFAC1D335E99}"/>
              </a:ext>
            </a:extLst>
          </p:cNvPr>
          <p:cNvSpPr/>
          <p:nvPr/>
        </p:nvSpPr>
        <p:spPr>
          <a:xfrm>
            <a:off x="9765924" y="164454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DC25610-2A03-0574-2B57-86701DC49462}"/>
              </a:ext>
            </a:extLst>
          </p:cNvPr>
          <p:cNvSpPr/>
          <p:nvPr/>
        </p:nvSpPr>
        <p:spPr>
          <a:xfrm>
            <a:off x="9797387" y="121781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7DBDA92-BF21-A9FD-2384-D0E8B22791AC}"/>
              </a:ext>
            </a:extLst>
          </p:cNvPr>
          <p:cNvSpPr/>
          <p:nvPr/>
        </p:nvSpPr>
        <p:spPr>
          <a:xfrm>
            <a:off x="9458795" y="120790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3F90C0E-5D5D-515C-1221-9B4733E3E022}"/>
                  </a:ext>
                </a:extLst>
              </p:cNvPr>
              <p:cNvSpPr txBox="1"/>
              <p:nvPr/>
            </p:nvSpPr>
            <p:spPr>
              <a:xfrm>
                <a:off x="7164862" y="2396165"/>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6" name="TextBox 45">
                <a:extLst>
                  <a:ext uri="{FF2B5EF4-FFF2-40B4-BE49-F238E27FC236}">
                    <a16:creationId xmlns:a16="http://schemas.microsoft.com/office/drawing/2014/main" id="{E3F90C0E-5D5D-515C-1221-9B4733E3E022}"/>
                  </a:ext>
                </a:extLst>
              </p:cNvPr>
              <p:cNvSpPr txBox="1">
                <a:spLocks noRot="1" noChangeAspect="1" noMove="1" noResize="1" noEditPoints="1" noAdjustHandles="1" noChangeArrowheads="1" noChangeShapeType="1" noTextEdit="1"/>
              </p:cNvSpPr>
              <p:nvPr/>
            </p:nvSpPr>
            <p:spPr>
              <a:xfrm>
                <a:off x="7164862" y="2396165"/>
                <a:ext cx="1566760" cy="369332"/>
              </a:xfrm>
              <a:prstGeom prst="rect">
                <a:avLst/>
              </a:prstGeom>
              <a:blipFill>
                <a:blip r:embed="rId1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AFE5070-DF5A-F845-C331-5117D6BBFC85}"/>
                  </a:ext>
                </a:extLst>
              </p:cNvPr>
              <p:cNvSpPr txBox="1"/>
              <p:nvPr/>
            </p:nvSpPr>
            <p:spPr>
              <a:xfrm>
                <a:off x="9432936" y="2405031"/>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47" name="TextBox 46">
                <a:extLst>
                  <a:ext uri="{FF2B5EF4-FFF2-40B4-BE49-F238E27FC236}">
                    <a16:creationId xmlns:a16="http://schemas.microsoft.com/office/drawing/2014/main" id="{3AFE5070-DF5A-F845-C331-5117D6BBFC85}"/>
                  </a:ext>
                </a:extLst>
              </p:cNvPr>
              <p:cNvSpPr txBox="1">
                <a:spLocks noRot="1" noChangeAspect="1" noMove="1" noResize="1" noEditPoints="1" noAdjustHandles="1" noChangeArrowheads="1" noChangeShapeType="1" noTextEdit="1"/>
              </p:cNvSpPr>
              <p:nvPr/>
            </p:nvSpPr>
            <p:spPr>
              <a:xfrm>
                <a:off x="9432936" y="2405031"/>
                <a:ext cx="1566760" cy="369332"/>
              </a:xfrm>
              <a:prstGeom prst="rect">
                <a:avLst/>
              </a:prstGeom>
              <a:blipFill>
                <a:blip r:embed="rId1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50AAED8-1B87-90CF-2AFB-AE5CDD086DB3}"/>
                  </a:ext>
                </a:extLst>
              </p:cNvPr>
              <p:cNvSpPr txBox="1"/>
              <p:nvPr/>
            </p:nvSpPr>
            <p:spPr>
              <a:xfrm>
                <a:off x="8004984" y="787285"/>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9" name="TextBox 48">
                <a:extLst>
                  <a:ext uri="{FF2B5EF4-FFF2-40B4-BE49-F238E27FC236}">
                    <a16:creationId xmlns:a16="http://schemas.microsoft.com/office/drawing/2014/main" id="{950AAED8-1B87-90CF-2AFB-AE5CDD086DB3}"/>
                  </a:ext>
                </a:extLst>
              </p:cNvPr>
              <p:cNvSpPr txBox="1">
                <a:spLocks noRot="1" noChangeAspect="1" noMove="1" noResize="1" noEditPoints="1" noAdjustHandles="1" noChangeArrowheads="1" noChangeShapeType="1" noTextEdit="1"/>
              </p:cNvSpPr>
              <p:nvPr/>
            </p:nvSpPr>
            <p:spPr>
              <a:xfrm>
                <a:off x="8004984" y="787285"/>
                <a:ext cx="2023782" cy="369332"/>
              </a:xfrm>
              <a:prstGeom prst="rect">
                <a:avLst/>
              </a:prstGeom>
              <a:blipFill>
                <a:blip r:embed="rId16"/>
                <a:stretch>
                  <a:fillRect l="-2410" t="-8197"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9A631DC1-2AFD-BEF2-8300-390E22368B46}"/>
              </a:ext>
            </a:extLst>
          </p:cNvPr>
          <p:cNvSpPr txBox="1"/>
          <p:nvPr/>
        </p:nvSpPr>
        <p:spPr>
          <a:xfrm>
            <a:off x="6320118" y="2933238"/>
            <a:ext cx="5459506" cy="369332"/>
          </a:xfrm>
          <a:prstGeom prst="rect">
            <a:avLst/>
          </a:prstGeom>
          <a:noFill/>
        </p:spPr>
        <p:txBody>
          <a:bodyPr wrap="square" rtlCol="0">
            <a:spAutoFit/>
          </a:bodyPr>
          <a:lstStyle/>
          <a:p>
            <a:r>
              <a:rPr lang="en-US" dirty="0"/>
              <a:t>If any such profile is a Nash Equilibrium it must be that...</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2B7CA20F-C561-D18E-27D9-39DE06032262}"/>
                  </a:ext>
                </a:extLst>
              </p:cNvPr>
              <p:cNvSpPr txBox="1"/>
              <p:nvPr/>
            </p:nvSpPr>
            <p:spPr>
              <a:xfrm>
                <a:off x="6340195" y="3425954"/>
                <a:ext cx="5378824" cy="1200329"/>
              </a:xfrm>
              <a:prstGeom prst="rect">
                <a:avLst/>
              </a:prstGeom>
              <a:noFill/>
              <a:ln w="38100">
                <a:solidFill>
                  <a:srgbClr val="FFFF00"/>
                </a:solidFill>
              </a:ln>
            </p:spPr>
            <p:txBody>
              <a:bodyPr wrap="square" rtlCol="0">
                <a:spAutoFit/>
              </a:bodyPr>
              <a:lstStyle/>
              <a:p>
                <a:r>
                  <a:rPr lang="en-US" dirty="0"/>
                  <a:t>For any given person that does </a:t>
                </a:r>
                <a:r>
                  <a:rPr lang="en-US" i="1" dirty="0"/>
                  <a:t>in,</a:t>
                </a:r>
                <a:r>
                  <a:rPr lang="en-US" dirty="0"/>
                  <a:t> doing </a:t>
                </a:r>
                <a:r>
                  <a:rPr lang="en-US" i="1" dirty="0"/>
                  <a:t>in</a:t>
                </a:r>
                <a:r>
                  <a:rPr lang="en-US" dirty="0"/>
                  <a:t> is a BR to the expectation that exactly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of the other persons do </a:t>
                </a:r>
                <a:r>
                  <a:rPr lang="en-US" i="1" dirty="0"/>
                  <a:t>in</a:t>
                </a:r>
                <a:r>
                  <a:rPr lang="en-US" dirty="0"/>
                  <a:t>.  In that case, her utility from doing </a:t>
                </a:r>
                <a:r>
                  <a:rPr lang="en-US" i="1" dirty="0"/>
                  <a:t>in</a:t>
                </a:r>
                <a:r>
                  <a:rPr lang="en-US" dirty="0"/>
                  <a:t> is 1, so since her utility from doing </a:t>
                </a:r>
                <a:r>
                  <a:rPr lang="en-US" i="1" dirty="0"/>
                  <a:t>out</a:t>
                </a:r>
                <a:r>
                  <a:rPr lang="en-US" dirty="0"/>
                  <a:t> is 0, </a:t>
                </a:r>
                <a:r>
                  <a:rPr lang="en-US" b="1" dirty="0"/>
                  <a:t>doing </a:t>
                </a:r>
                <a:r>
                  <a:rPr lang="en-US" b="1" i="1" dirty="0"/>
                  <a:t>in</a:t>
                </a:r>
                <a:r>
                  <a:rPr lang="en-US" b="1" dirty="0"/>
                  <a:t> is a BR</a:t>
                </a:r>
                <a:r>
                  <a:rPr lang="en-US" dirty="0"/>
                  <a:t>!</a:t>
                </a:r>
              </a:p>
            </p:txBody>
          </p:sp>
        </mc:Choice>
        <mc:Fallback xmlns="">
          <p:sp>
            <p:nvSpPr>
              <p:cNvPr id="50" name="TextBox 49">
                <a:extLst>
                  <a:ext uri="{FF2B5EF4-FFF2-40B4-BE49-F238E27FC236}">
                    <a16:creationId xmlns:a16="http://schemas.microsoft.com/office/drawing/2014/main" id="{2B7CA20F-C561-D18E-27D9-39DE06032262}"/>
                  </a:ext>
                </a:extLst>
              </p:cNvPr>
              <p:cNvSpPr txBox="1">
                <a:spLocks noRot="1" noChangeAspect="1" noMove="1" noResize="1" noEditPoints="1" noAdjustHandles="1" noChangeArrowheads="1" noChangeShapeType="1" noTextEdit="1"/>
              </p:cNvSpPr>
              <p:nvPr/>
            </p:nvSpPr>
            <p:spPr>
              <a:xfrm>
                <a:off x="6340195" y="3425954"/>
                <a:ext cx="5378824" cy="1200329"/>
              </a:xfrm>
              <a:prstGeom prst="rect">
                <a:avLst/>
              </a:prstGeom>
              <a:blipFill>
                <a:blip r:embed="rId17"/>
                <a:stretch>
                  <a:fillRect l="-563" t="-985" r="-113" b="-5419"/>
                </a:stretch>
              </a:blipFill>
              <a:ln w="38100">
                <a:solidFill>
                  <a:srgbClr val="FFFF00"/>
                </a:solidFill>
              </a:ln>
            </p:spPr>
            <p:txBody>
              <a:bodyPr/>
              <a:lstStyle/>
              <a:p>
                <a:r>
                  <a:rPr lang="en-US">
                    <a:noFill/>
                  </a:rPr>
                  <a:t> </a:t>
                </a:r>
              </a:p>
            </p:txBody>
          </p:sp>
        </mc:Fallback>
      </mc:AlternateContent>
      <p:sp>
        <p:nvSpPr>
          <p:cNvPr id="51" name="TextBox 50">
            <a:extLst>
              <a:ext uri="{FF2B5EF4-FFF2-40B4-BE49-F238E27FC236}">
                <a16:creationId xmlns:a16="http://schemas.microsoft.com/office/drawing/2014/main" id="{9AD09955-DB46-7838-764C-5B0B1D8AE5E4}"/>
              </a:ext>
            </a:extLst>
          </p:cNvPr>
          <p:cNvSpPr txBox="1"/>
          <p:nvPr/>
        </p:nvSpPr>
        <p:spPr>
          <a:xfrm>
            <a:off x="8245194" y="4992591"/>
            <a:ext cx="1053444" cy="369332"/>
          </a:xfrm>
          <a:prstGeom prst="rect">
            <a:avLst/>
          </a:prstGeom>
          <a:noFill/>
        </p:spPr>
        <p:txBody>
          <a:bodyPr wrap="square" rtlCol="0">
            <a:spAutoFit/>
          </a:bodyPr>
          <a:lstStyle/>
          <a:p>
            <a:pPr algn="ctr"/>
            <a:r>
              <a:rPr lang="en-US" dirty="0"/>
              <a:t>AND</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F49FD799-260A-D893-2138-E782C9F6CAF5}"/>
                  </a:ext>
                </a:extLst>
              </p:cNvPr>
              <p:cNvSpPr txBox="1"/>
              <p:nvPr/>
            </p:nvSpPr>
            <p:spPr>
              <a:xfrm>
                <a:off x="6340195" y="5370833"/>
                <a:ext cx="5378824" cy="1200329"/>
              </a:xfrm>
              <a:prstGeom prst="rect">
                <a:avLst/>
              </a:prstGeom>
              <a:noFill/>
              <a:ln w="38100">
                <a:solidFill>
                  <a:srgbClr val="7030A0"/>
                </a:solidFill>
              </a:ln>
            </p:spPr>
            <p:txBody>
              <a:bodyPr wrap="square" rtlCol="0">
                <a:spAutoFit/>
              </a:bodyPr>
              <a:lstStyle/>
              <a:p>
                <a:r>
                  <a:rPr lang="en-US" dirty="0"/>
                  <a:t>For any given person that does </a:t>
                </a:r>
                <a:r>
                  <a:rPr lang="en-US" i="1" dirty="0"/>
                  <a:t>out,</a:t>
                </a:r>
                <a:r>
                  <a:rPr lang="en-US" dirty="0"/>
                  <a:t> doing </a:t>
                </a:r>
                <a:r>
                  <a:rPr lang="en-US" i="1" dirty="0"/>
                  <a:t>out</a:t>
                </a:r>
                <a:r>
                  <a:rPr lang="en-US" dirty="0"/>
                  <a:t> is a BR to the expectation that exactly </a:t>
                </a:r>
                <a14:m>
                  <m:oMath xmlns:m="http://schemas.openxmlformats.org/officeDocument/2006/math">
                    <m:r>
                      <a:rPr lang="en-US" b="0" i="1" smtClean="0">
                        <a:latin typeface="Cambria Math" panose="02040503050406030204" pitchFamily="18" charset="0"/>
                      </a:rPr>
                      <m:t>𝑆</m:t>
                    </m:r>
                  </m:oMath>
                </a14:m>
                <a:r>
                  <a:rPr lang="en-US" dirty="0"/>
                  <a:t> of the other persons do </a:t>
                </a:r>
                <a:r>
                  <a:rPr lang="en-US" i="1" dirty="0"/>
                  <a:t>in</a:t>
                </a:r>
                <a:r>
                  <a:rPr lang="en-US" dirty="0"/>
                  <a:t>.  In that case, her utility from doing </a:t>
                </a:r>
                <a:r>
                  <a:rPr lang="en-US" i="1" dirty="0"/>
                  <a:t>in</a:t>
                </a:r>
                <a:r>
                  <a:rPr lang="en-US" dirty="0"/>
                  <a:t> is -1, so since her utility from doing </a:t>
                </a:r>
                <a:r>
                  <a:rPr lang="en-US" i="1" dirty="0"/>
                  <a:t>out</a:t>
                </a:r>
                <a:r>
                  <a:rPr lang="en-US" dirty="0"/>
                  <a:t> is 0, </a:t>
                </a:r>
                <a:r>
                  <a:rPr lang="en-US" b="1" dirty="0"/>
                  <a:t>doing </a:t>
                </a:r>
                <a:r>
                  <a:rPr lang="en-US" b="1" i="1" dirty="0"/>
                  <a:t>out</a:t>
                </a:r>
                <a:r>
                  <a:rPr lang="en-US" b="1" dirty="0"/>
                  <a:t> is a BR!</a:t>
                </a:r>
                <a:endParaRPr lang="en-US" dirty="0"/>
              </a:p>
            </p:txBody>
          </p:sp>
        </mc:Choice>
        <mc:Fallback xmlns="">
          <p:sp>
            <p:nvSpPr>
              <p:cNvPr id="53" name="TextBox 52">
                <a:extLst>
                  <a:ext uri="{FF2B5EF4-FFF2-40B4-BE49-F238E27FC236}">
                    <a16:creationId xmlns:a16="http://schemas.microsoft.com/office/drawing/2014/main" id="{F49FD799-260A-D893-2138-E782C9F6CAF5}"/>
                  </a:ext>
                </a:extLst>
              </p:cNvPr>
              <p:cNvSpPr txBox="1">
                <a:spLocks noRot="1" noChangeAspect="1" noMove="1" noResize="1" noEditPoints="1" noAdjustHandles="1" noChangeArrowheads="1" noChangeShapeType="1" noTextEdit="1"/>
              </p:cNvSpPr>
              <p:nvPr/>
            </p:nvSpPr>
            <p:spPr>
              <a:xfrm>
                <a:off x="6340195" y="5370833"/>
                <a:ext cx="5378824" cy="1200329"/>
              </a:xfrm>
              <a:prstGeom prst="rect">
                <a:avLst/>
              </a:prstGeom>
              <a:blipFill>
                <a:blip r:embed="rId18"/>
                <a:stretch>
                  <a:fillRect l="-563" t="-985" r="-225" b="-5419"/>
                </a:stretch>
              </a:blipFill>
              <a:ln w="38100">
                <a:solidFill>
                  <a:srgbClr val="7030A0"/>
                </a:solidFill>
              </a:ln>
            </p:spPr>
            <p:txBody>
              <a:bodyPr/>
              <a:lstStyle/>
              <a:p>
                <a:r>
                  <a:rPr lang="en-US">
                    <a:noFill/>
                  </a:rPr>
                  <a:t> </a:t>
                </a:r>
              </a:p>
            </p:txBody>
          </p:sp>
        </mc:Fallback>
      </mc:AlternateContent>
    </p:spTree>
    <p:extLst>
      <p:ext uri="{BB962C8B-B14F-4D97-AF65-F5344CB8AC3E}">
        <p14:creationId xmlns:p14="http://schemas.microsoft.com/office/powerpoint/2010/main" val="14859204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C187C-FA51-06F8-ED5E-3951B9947EC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9C47F93-3671-026F-43E9-70A5D1E3E715}"/>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B7AFFF70-13B6-90E9-C757-461B50ACC669}"/>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F8A6FFAA-87E7-7E76-DA28-04A2281CBCA6}"/>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DE77A734-393F-49C7-C189-1C35D2CA54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93134A63-4559-7AFD-CEBD-4819942969BC}"/>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76B3B021-0DEE-5760-48C7-07BABE41E4C3}"/>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AB5F55B8-DC18-E6C2-90D8-9739C643D059}"/>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B5FECC67-20E9-A297-BE9C-CC11026A3C0A}"/>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B5FECC67-20E9-A297-BE9C-CC11026A3C0A}"/>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F7544C8A-5F89-1EE8-7111-72736041466D}"/>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F7544C8A-5F89-1EE8-7111-72736041466D}"/>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FE808E6A-8218-3BBD-B795-B73A5BB850AB}"/>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FE808E6A-8218-3BBD-B795-B73A5BB850AB}"/>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DE98F2E0-B9DB-F7E1-5BBD-EC8B19333B35}"/>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DC278449-3543-5286-54DC-C8C3FC8B0BC3}"/>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FD9626EE-4381-E1BB-2063-9294AF364514}"/>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EFF9B0C4-46D9-1F96-2CAA-C9CC3A5DDF6F}"/>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02B3C103-7945-D615-C6C2-B99AE0EE4856}"/>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42082460-4CC2-5C10-F470-639181FBABDB}"/>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461CA75A-AC76-ABA0-1AB4-59CEAEAB4DF5}"/>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8EFD4240-B74A-44A7-FC5C-FC0747C0CFAE}"/>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A8B02298-00AF-2283-BAE2-CFDED549B0A1}"/>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0CBDF72-9624-1A6B-9305-12AE139669DD}"/>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110F4E0-8BFD-3F12-C2E5-77BE49135353}"/>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E110F4E0-8BFD-3F12-C2E5-77BE49135353}"/>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D8C4B62-DDF1-AB3F-D7AE-EE8B3BC9FCC3}"/>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0D8C4B62-DDF1-AB3F-D7AE-EE8B3BC9FCC3}"/>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346FEAB5-4592-0982-4365-3BD914325237}"/>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9061A0D-19FB-9DED-8E02-6755772B0E10}"/>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FD677C1-1F59-593F-F35C-024D89369AA9}"/>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EAED61-28DB-BD7A-FD93-9C8BE83A604A}"/>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ED794AD-3B4B-35E4-EB42-6E5BD620AE39}"/>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DC06D50-917E-ACE7-87D0-9C6DF5C1B333}"/>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1B7DC6A-4A27-4308-6767-6FA27DD73977}"/>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BB5B67E-CEBA-3D70-2D09-8BCF4BBB3B55}"/>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4364B80-2C20-D08A-CFEF-88661EAD1E70}"/>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9236045-23F3-8C29-92B4-67FF199E9158}"/>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2E37B92-0624-7899-66C5-4C2DC34384DF}"/>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42E37B92-0624-7899-66C5-4C2DC34384DF}"/>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E297F77-4728-A8E9-0FAF-8C4521A3B991}"/>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0E297F77-4728-A8E9-0FAF-8C4521A3B991}"/>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A234B2BF-6ADF-7847-E766-A041B289CC86}"/>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3B00E2F-0DED-C967-0F06-CC6B662A7BE3}"/>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3EF934F-6595-51F8-D326-1A37955B0F40}"/>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A53E81B-11EC-BC55-8B80-D9C8E7CA619B}"/>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E2238B2-2540-5075-E04D-10BF35A1B57C}"/>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5CDDDF4-F5E0-7080-5EF7-E1291EFF6E38}"/>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4E0236D-99DF-96A8-833C-7703526C0D3C}"/>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87BC3E1-FB52-6E2C-4E7A-67A8A3A0D1BC}"/>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5D0A8D04-A165-5F0A-4D2A-0E811C1DC13C}"/>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1858BAF-F75B-FA0C-659F-87AB4EC661D9}"/>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870B24D-FC4B-0979-6834-057D938D1ED4}"/>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9870B24D-FC4B-0979-6834-057D938D1ED4}"/>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35055D6-9352-45A9-CDC9-19645CCA7E6D}"/>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935055D6-9352-45A9-CDC9-19645CCA7E6D}"/>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0E89BDB4-978F-C38A-95DA-3A314150FF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686CEE0A-4BB6-E4E3-EAC3-CE4C56AEFDCF}"/>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7D136D6-34E6-19F0-490D-7C4252CC925C}"/>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8C7791F-939F-8B29-E409-03FA3CF898BA}"/>
              </a:ext>
            </a:extLst>
          </p:cNvPr>
          <p:cNvSpPr/>
          <p:nvPr/>
        </p:nvSpPr>
        <p:spPr>
          <a:xfrm>
            <a:off x="5862918" y="760982"/>
            <a:ext cx="6221507" cy="5995619"/>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07A37EF-9072-D961-0276-481F81CFD726}"/>
              </a:ext>
            </a:extLst>
          </p:cNvPr>
          <p:cNvSpPr/>
          <p:nvPr/>
        </p:nvSpPr>
        <p:spPr>
          <a:xfrm>
            <a:off x="7217619" y="12178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269DE00A-25A6-788E-2050-809D2397025E}"/>
              </a:ext>
            </a:extLst>
          </p:cNvPr>
          <p:cNvSpPr/>
          <p:nvPr/>
        </p:nvSpPr>
        <p:spPr>
          <a:xfrm>
            <a:off x="7795931" y="1406210"/>
            <a:ext cx="251011" cy="251011"/>
          </a:xfrm>
          <a:prstGeom prst="ellipse">
            <a:avLst/>
          </a:prstGeom>
          <a:solidFill>
            <a:schemeClr val="accent6"/>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09AB62D-7FAC-7308-28ED-71B8006601BC}"/>
              </a:ext>
            </a:extLst>
          </p:cNvPr>
          <p:cNvSpPr/>
          <p:nvPr/>
        </p:nvSpPr>
        <p:spPr>
          <a:xfrm>
            <a:off x="8329333" y="15317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5C8B6EB8-575B-BE68-231D-01291B053BF3}"/>
              </a:ext>
            </a:extLst>
          </p:cNvPr>
          <p:cNvSpPr/>
          <p:nvPr/>
        </p:nvSpPr>
        <p:spPr>
          <a:xfrm>
            <a:off x="7388128" y="153063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CCE2513-9777-28BB-528D-D02619739187}"/>
              </a:ext>
            </a:extLst>
          </p:cNvPr>
          <p:cNvSpPr/>
          <p:nvPr/>
        </p:nvSpPr>
        <p:spPr>
          <a:xfrm>
            <a:off x="10337335" y="139353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66A65F5-0DD6-87E4-368D-82DDB65617B0}"/>
              </a:ext>
            </a:extLst>
          </p:cNvPr>
          <p:cNvSpPr/>
          <p:nvPr/>
        </p:nvSpPr>
        <p:spPr>
          <a:xfrm>
            <a:off x="10515107" y="1902045"/>
            <a:ext cx="251011" cy="251011"/>
          </a:xfrm>
          <a:prstGeom prst="ellipse">
            <a:avLst/>
          </a:prstGeom>
          <a:solidFill>
            <a:srgbClr val="FF0000"/>
          </a:solid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5ED52C2E-71E6-78D3-6B1D-EE6EDF6764F5}"/>
              </a:ext>
            </a:extLst>
          </p:cNvPr>
          <p:cNvSpPr/>
          <p:nvPr/>
        </p:nvSpPr>
        <p:spPr>
          <a:xfrm>
            <a:off x="9765924" y="164454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24085523-0113-BD15-ADAB-0929A217B494}"/>
              </a:ext>
            </a:extLst>
          </p:cNvPr>
          <p:cNvSpPr/>
          <p:nvPr/>
        </p:nvSpPr>
        <p:spPr>
          <a:xfrm>
            <a:off x="9797387" y="121781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657C450-6E1D-3EAA-E40D-0CE179F3F191}"/>
              </a:ext>
            </a:extLst>
          </p:cNvPr>
          <p:cNvSpPr/>
          <p:nvPr/>
        </p:nvSpPr>
        <p:spPr>
          <a:xfrm>
            <a:off x="9458795" y="120790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42ECFDF-80F3-FC66-E42A-D75DD2908704}"/>
                  </a:ext>
                </a:extLst>
              </p:cNvPr>
              <p:cNvSpPr txBox="1"/>
              <p:nvPr/>
            </p:nvSpPr>
            <p:spPr>
              <a:xfrm>
                <a:off x="7164862" y="2396165"/>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6" name="TextBox 45">
                <a:extLst>
                  <a:ext uri="{FF2B5EF4-FFF2-40B4-BE49-F238E27FC236}">
                    <a16:creationId xmlns:a16="http://schemas.microsoft.com/office/drawing/2014/main" id="{942ECFDF-80F3-FC66-E42A-D75DD2908704}"/>
                  </a:ext>
                </a:extLst>
              </p:cNvPr>
              <p:cNvSpPr txBox="1">
                <a:spLocks noRot="1" noChangeAspect="1" noMove="1" noResize="1" noEditPoints="1" noAdjustHandles="1" noChangeArrowheads="1" noChangeShapeType="1" noTextEdit="1"/>
              </p:cNvSpPr>
              <p:nvPr/>
            </p:nvSpPr>
            <p:spPr>
              <a:xfrm>
                <a:off x="7164862" y="2396165"/>
                <a:ext cx="1566760" cy="369332"/>
              </a:xfrm>
              <a:prstGeom prst="rect">
                <a:avLst/>
              </a:prstGeom>
              <a:blipFill>
                <a:blip r:embed="rId1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1833785-83D4-11EF-9115-2CBF8A6CD706}"/>
                  </a:ext>
                </a:extLst>
              </p:cNvPr>
              <p:cNvSpPr txBox="1"/>
              <p:nvPr/>
            </p:nvSpPr>
            <p:spPr>
              <a:xfrm>
                <a:off x="9432936" y="2405031"/>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47" name="TextBox 46">
                <a:extLst>
                  <a:ext uri="{FF2B5EF4-FFF2-40B4-BE49-F238E27FC236}">
                    <a16:creationId xmlns:a16="http://schemas.microsoft.com/office/drawing/2014/main" id="{51833785-83D4-11EF-9115-2CBF8A6CD706}"/>
                  </a:ext>
                </a:extLst>
              </p:cNvPr>
              <p:cNvSpPr txBox="1">
                <a:spLocks noRot="1" noChangeAspect="1" noMove="1" noResize="1" noEditPoints="1" noAdjustHandles="1" noChangeArrowheads="1" noChangeShapeType="1" noTextEdit="1"/>
              </p:cNvSpPr>
              <p:nvPr/>
            </p:nvSpPr>
            <p:spPr>
              <a:xfrm>
                <a:off x="9432936" y="2405031"/>
                <a:ext cx="1566760" cy="369332"/>
              </a:xfrm>
              <a:prstGeom prst="rect">
                <a:avLst/>
              </a:prstGeom>
              <a:blipFill>
                <a:blip r:embed="rId1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7DDBBE6-1DF2-864E-98D1-F778D911A393}"/>
                  </a:ext>
                </a:extLst>
              </p:cNvPr>
              <p:cNvSpPr txBox="1"/>
              <p:nvPr/>
            </p:nvSpPr>
            <p:spPr>
              <a:xfrm>
                <a:off x="8004984" y="787285"/>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49" name="TextBox 48">
                <a:extLst>
                  <a:ext uri="{FF2B5EF4-FFF2-40B4-BE49-F238E27FC236}">
                    <a16:creationId xmlns:a16="http://schemas.microsoft.com/office/drawing/2014/main" id="{97DDBBE6-1DF2-864E-98D1-F778D911A393}"/>
                  </a:ext>
                </a:extLst>
              </p:cNvPr>
              <p:cNvSpPr txBox="1">
                <a:spLocks noRot="1" noChangeAspect="1" noMove="1" noResize="1" noEditPoints="1" noAdjustHandles="1" noChangeArrowheads="1" noChangeShapeType="1" noTextEdit="1"/>
              </p:cNvSpPr>
              <p:nvPr/>
            </p:nvSpPr>
            <p:spPr>
              <a:xfrm>
                <a:off x="8004984" y="787285"/>
                <a:ext cx="2023782" cy="369332"/>
              </a:xfrm>
              <a:prstGeom prst="rect">
                <a:avLst/>
              </a:prstGeom>
              <a:blipFill>
                <a:blip r:embed="rId16"/>
                <a:stretch>
                  <a:fillRect l="-2410" t="-8197"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332B8AA0-3809-73F2-2B67-13C11D092FC9}"/>
              </a:ext>
            </a:extLst>
          </p:cNvPr>
          <p:cNvSpPr txBox="1"/>
          <p:nvPr/>
        </p:nvSpPr>
        <p:spPr>
          <a:xfrm>
            <a:off x="6320118" y="2933238"/>
            <a:ext cx="5459506" cy="369332"/>
          </a:xfrm>
          <a:prstGeom prst="rect">
            <a:avLst/>
          </a:prstGeom>
          <a:noFill/>
        </p:spPr>
        <p:txBody>
          <a:bodyPr wrap="square" rtlCol="0">
            <a:spAutoFit/>
          </a:bodyPr>
          <a:lstStyle/>
          <a:p>
            <a:r>
              <a:rPr lang="en-US" dirty="0"/>
              <a:t>If any such profile is a Nash Equilibrium it must be that...</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450ACBE-3934-E430-DEDD-AACB3899ECEE}"/>
                  </a:ext>
                </a:extLst>
              </p:cNvPr>
              <p:cNvSpPr txBox="1"/>
              <p:nvPr/>
            </p:nvSpPr>
            <p:spPr>
              <a:xfrm>
                <a:off x="6340195" y="3425954"/>
                <a:ext cx="5378824" cy="1200329"/>
              </a:xfrm>
              <a:prstGeom prst="rect">
                <a:avLst/>
              </a:prstGeom>
              <a:noFill/>
              <a:ln w="38100">
                <a:solidFill>
                  <a:srgbClr val="FFFF00"/>
                </a:solidFill>
              </a:ln>
            </p:spPr>
            <p:txBody>
              <a:bodyPr wrap="square" rtlCol="0">
                <a:spAutoFit/>
              </a:bodyPr>
              <a:lstStyle/>
              <a:p>
                <a:r>
                  <a:rPr lang="en-US" dirty="0"/>
                  <a:t>For any given person that does </a:t>
                </a:r>
                <a:r>
                  <a:rPr lang="en-US" i="1" dirty="0"/>
                  <a:t>in,</a:t>
                </a:r>
                <a:r>
                  <a:rPr lang="en-US" dirty="0"/>
                  <a:t> doing </a:t>
                </a:r>
                <a:r>
                  <a:rPr lang="en-US" i="1" dirty="0"/>
                  <a:t>in</a:t>
                </a:r>
                <a:r>
                  <a:rPr lang="en-US" dirty="0"/>
                  <a:t> is a BR to the expectation that exactly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of the other persons do </a:t>
                </a:r>
                <a:r>
                  <a:rPr lang="en-US" i="1" dirty="0"/>
                  <a:t>in</a:t>
                </a:r>
                <a:r>
                  <a:rPr lang="en-US" dirty="0"/>
                  <a:t>.  In that case, her utility from doing </a:t>
                </a:r>
                <a:r>
                  <a:rPr lang="en-US" i="1" dirty="0"/>
                  <a:t>in</a:t>
                </a:r>
                <a:r>
                  <a:rPr lang="en-US" dirty="0"/>
                  <a:t> is 1, so since her utility from doing </a:t>
                </a:r>
                <a:r>
                  <a:rPr lang="en-US" i="1" dirty="0"/>
                  <a:t>out</a:t>
                </a:r>
                <a:r>
                  <a:rPr lang="en-US" dirty="0"/>
                  <a:t> is 0, </a:t>
                </a:r>
                <a:r>
                  <a:rPr lang="en-US" b="1" dirty="0"/>
                  <a:t>doing </a:t>
                </a:r>
                <a:r>
                  <a:rPr lang="en-US" b="1" i="1" dirty="0"/>
                  <a:t>in</a:t>
                </a:r>
                <a:r>
                  <a:rPr lang="en-US" b="1" dirty="0"/>
                  <a:t> is a BR</a:t>
                </a:r>
                <a:r>
                  <a:rPr lang="en-US" dirty="0"/>
                  <a:t>!</a:t>
                </a:r>
              </a:p>
            </p:txBody>
          </p:sp>
        </mc:Choice>
        <mc:Fallback xmlns="">
          <p:sp>
            <p:nvSpPr>
              <p:cNvPr id="50" name="TextBox 49">
                <a:extLst>
                  <a:ext uri="{FF2B5EF4-FFF2-40B4-BE49-F238E27FC236}">
                    <a16:creationId xmlns:a16="http://schemas.microsoft.com/office/drawing/2014/main" id="{9450ACBE-3934-E430-DEDD-AACB3899ECEE}"/>
                  </a:ext>
                </a:extLst>
              </p:cNvPr>
              <p:cNvSpPr txBox="1">
                <a:spLocks noRot="1" noChangeAspect="1" noMove="1" noResize="1" noEditPoints="1" noAdjustHandles="1" noChangeArrowheads="1" noChangeShapeType="1" noTextEdit="1"/>
              </p:cNvSpPr>
              <p:nvPr/>
            </p:nvSpPr>
            <p:spPr>
              <a:xfrm>
                <a:off x="6340195" y="3425954"/>
                <a:ext cx="5378824" cy="1200329"/>
              </a:xfrm>
              <a:prstGeom prst="rect">
                <a:avLst/>
              </a:prstGeom>
              <a:blipFill>
                <a:blip r:embed="rId17"/>
                <a:stretch>
                  <a:fillRect l="-563" t="-985" r="-113" b="-5419"/>
                </a:stretch>
              </a:blipFill>
              <a:ln w="38100">
                <a:solidFill>
                  <a:srgbClr val="FFFF00"/>
                </a:solidFill>
              </a:ln>
            </p:spPr>
            <p:txBody>
              <a:bodyPr/>
              <a:lstStyle/>
              <a:p>
                <a:r>
                  <a:rPr lang="en-US">
                    <a:noFill/>
                  </a:rPr>
                  <a:t> </a:t>
                </a:r>
              </a:p>
            </p:txBody>
          </p:sp>
        </mc:Fallback>
      </mc:AlternateContent>
      <p:sp>
        <p:nvSpPr>
          <p:cNvPr id="51" name="TextBox 50">
            <a:extLst>
              <a:ext uri="{FF2B5EF4-FFF2-40B4-BE49-F238E27FC236}">
                <a16:creationId xmlns:a16="http://schemas.microsoft.com/office/drawing/2014/main" id="{88F5FDFE-5142-5C4F-3FCA-76A241C038A3}"/>
              </a:ext>
            </a:extLst>
          </p:cNvPr>
          <p:cNvSpPr txBox="1"/>
          <p:nvPr/>
        </p:nvSpPr>
        <p:spPr>
          <a:xfrm>
            <a:off x="8245194" y="4992591"/>
            <a:ext cx="1053444" cy="369332"/>
          </a:xfrm>
          <a:prstGeom prst="rect">
            <a:avLst/>
          </a:prstGeom>
          <a:noFill/>
        </p:spPr>
        <p:txBody>
          <a:bodyPr wrap="square" rtlCol="0">
            <a:spAutoFit/>
          </a:bodyPr>
          <a:lstStyle/>
          <a:p>
            <a:pPr algn="ctr"/>
            <a:r>
              <a:rPr lang="en-US" dirty="0"/>
              <a:t>AND</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FFE6EF7-CE94-1C3F-5F34-7C626B9B9291}"/>
                  </a:ext>
                </a:extLst>
              </p:cNvPr>
              <p:cNvSpPr txBox="1"/>
              <p:nvPr/>
            </p:nvSpPr>
            <p:spPr>
              <a:xfrm>
                <a:off x="6340195" y="5370833"/>
                <a:ext cx="5378824" cy="1200329"/>
              </a:xfrm>
              <a:prstGeom prst="rect">
                <a:avLst/>
              </a:prstGeom>
              <a:noFill/>
              <a:ln w="38100">
                <a:solidFill>
                  <a:srgbClr val="7030A0"/>
                </a:solidFill>
              </a:ln>
            </p:spPr>
            <p:txBody>
              <a:bodyPr wrap="square" rtlCol="0">
                <a:spAutoFit/>
              </a:bodyPr>
              <a:lstStyle/>
              <a:p>
                <a:r>
                  <a:rPr lang="en-US" dirty="0"/>
                  <a:t>For any given person that does </a:t>
                </a:r>
                <a:r>
                  <a:rPr lang="en-US" i="1" dirty="0"/>
                  <a:t>out,</a:t>
                </a:r>
                <a:r>
                  <a:rPr lang="en-US" dirty="0"/>
                  <a:t> doing </a:t>
                </a:r>
                <a:r>
                  <a:rPr lang="en-US" i="1" dirty="0"/>
                  <a:t>out</a:t>
                </a:r>
                <a:r>
                  <a:rPr lang="en-US" dirty="0"/>
                  <a:t> is a BR to the expectation that exactly </a:t>
                </a:r>
                <a14:m>
                  <m:oMath xmlns:m="http://schemas.openxmlformats.org/officeDocument/2006/math">
                    <m:r>
                      <a:rPr lang="en-US" b="0" i="1" smtClean="0">
                        <a:latin typeface="Cambria Math" panose="02040503050406030204" pitchFamily="18" charset="0"/>
                      </a:rPr>
                      <m:t>𝑆</m:t>
                    </m:r>
                  </m:oMath>
                </a14:m>
                <a:r>
                  <a:rPr lang="en-US" dirty="0"/>
                  <a:t> of the other persons do </a:t>
                </a:r>
                <a:r>
                  <a:rPr lang="en-US" i="1" dirty="0"/>
                  <a:t>in</a:t>
                </a:r>
                <a:r>
                  <a:rPr lang="en-US" dirty="0"/>
                  <a:t>.  In that case, her utility from doing </a:t>
                </a:r>
                <a:r>
                  <a:rPr lang="en-US" i="1" dirty="0"/>
                  <a:t>in</a:t>
                </a:r>
                <a:r>
                  <a:rPr lang="en-US" dirty="0"/>
                  <a:t> is -1, so since her utility from doing </a:t>
                </a:r>
                <a:r>
                  <a:rPr lang="en-US" i="1" dirty="0"/>
                  <a:t>out</a:t>
                </a:r>
                <a:r>
                  <a:rPr lang="en-US" dirty="0"/>
                  <a:t> is 0, </a:t>
                </a:r>
                <a:r>
                  <a:rPr lang="en-US" b="1" dirty="0"/>
                  <a:t>doing </a:t>
                </a:r>
                <a:r>
                  <a:rPr lang="en-US" b="1" i="1" dirty="0"/>
                  <a:t>out</a:t>
                </a:r>
                <a:r>
                  <a:rPr lang="en-US" b="1" dirty="0"/>
                  <a:t> is a BR!</a:t>
                </a:r>
                <a:endParaRPr lang="en-US" dirty="0"/>
              </a:p>
            </p:txBody>
          </p:sp>
        </mc:Choice>
        <mc:Fallback xmlns="">
          <p:sp>
            <p:nvSpPr>
              <p:cNvPr id="53" name="TextBox 52">
                <a:extLst>
                  <a:ext uri="{FF2B5EF4-FFF2-40B4-BE49-F238E27FC236}">
                    <a16:creationId xmlns:a16="http://schemas.microsoft.com/office/drawing/2014/main" id="{9FFE6EF7-CE94-1C3F-5F34-7C626B9B9291}"/>
                  </a:ext>
                </a:extLst>
              </p:cNvPr>
              <p:cNvSpPr txBox="1">
                <a:spLocks noRot="1" noChangeAspect="1" noMove="1" noResize="1" noEditPoints="1" noAdjustHandles="1" noChangeArrowheads="1" noChangeShapeType="1" noTextEdit="1"/>
              </p:cNvSpPr>
              <p:nvPr/>
            </p:nvSpPr>
            <p:spPr>
              <a:xfrm>
                <a:off x="6340195" y="5370833"/>
                <a:ext cx="5378824" cy="1200329"/>
              </a:xfrm>
              <a:prstGeom prst="rect">
                <a:avLst/>
              </a:prstGeom>
              <a:blipFill>
                <a:blip r:embed="rId18"/>
                <a:stretch>
                  <a:fillRect l="-563" t="-985" r="-225" b="-5419"/>
                </a:stretch>
              </a:blipFill>
              <a:ln w="38100">
                <a:solidFill>
                  <a:srgbClr val="7030A0"/>
                </a:solidFill>
              </a:ln>
            </p:spPr>
            <p:txBody>
              <a:bodyPr/>
              <a:lstStyle/>
              <a:p>
                <a:r>
                  <a:rPr lang="en-US">
                    <a:noFill/>
                  </a:rPr>
                  <a:t> </a:t>
                </a:r>
              </a:p>
            </p:txBody>
          </p:sp>
        </mc:Fallback>
      </mc:AlternateContent>
      <p:pic>
        <p:nvPicPr>
          <p:cNvPr id="52" name="Graphic 51" descr="Checkmark with solid fill">
            <a:extLst>
              <a:ext uri="{FF2B5EF4-FFF2-40B4-BE49-F238E27FC236}">
                <a16:creationId xmlns:a16="http://schemas.microsoft.com/office/drawing/2014/main" id="{5DFDE7F6-C6BB-B6B8-91C6-BDFB632AEA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33826" y="2986208"/>
            <a:ext cx="632724" cy="632724"/>
          </a:xfrm>
          <a:prstGeom prst="rect">
            <a:avLst/>
          </a:prstGeom>
        </p:spPr>
      </p:pic>
      <p:pic>
        <p:nvPicPr>
          <p:cNvPr id="54" name="Graphic 53" descr="Checkmark with solid fill">
            <a:extLst>
              <a:ext uri="{FF2B5EF4-FFF2-40B4-BE49-F238E27FC236}">
                <a16:creationId xmlns:a16="http://schemas.microsoft.com/office/drawing/2014/main" id="{EF7CC5A3-DA2D-F8D9-A94C-AD38D56A40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03751" y="4907514"/>
            <a:ext cx="632724" cy="632724"/>
          </a:xfrm>
          <a:prstGeom prst="rect">
            <a:avLst/>
          </a:prstGeom>
        </p:spPr>
      </p:pic>
    </p:spTree>
    <p:extLst>
      <p:ext uri="{BB962C8B-B14F-4D97-AF65-F5344CB8AC3E}">
        <p14:creationId xmlns:p14="http://schemas.microsoft.com/office/powerpoint/2010/main" val="20242798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F91EB-F939-03CF-EBCD-E55793EB383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6FAFCBA-2CFD-5139-1304-5AFE0B1788A5}"/>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5F892288-9F3A-A178-61B6-5E695C6769B8}"/>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EE369CC2-A61B-CDB6-0C07-3CFF4135F113}"/>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D052D013-3D04-51A3-9501-CFAA2E74F5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55881989-D24C-3B03-9117-2470C377D4D1}"/>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AFEC0605-76C8-4A49-2FCF-7F6D39E66C69}"/>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EDB1C3D6-A746-7763-2019-530F788E9AE2}"/>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B7244DF6-168F-8DC7-A831-9C5AB95A3BA9}"/>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B7244DF6-168F-8DC7-A831-9C5AB95A3BA9}"/>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7FAA374A-9C96-2341-46FE-D49A8D263F6F}"/>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7FAA374A-9C96-2341-46FE-D49A8D263F6F}"/>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DA9ECC5B-1938-DEA8-F130-0A916B529EA1}"/>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DA9ECC5B-1938-DEA8-F130-0A916B529EA1}"/>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239D1ACD-A4A9-BFDE-AA45-0A756FAD9388}"/>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1A694D05-0200-8843-7902-3C3A7C0ACD06}"/>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C76EEFBA-2F5F-D427-B578-3393BCA8E244}"/>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1249F538-D7C3-784F-22E6-20B1562FD9A8}"/>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38A02DAE-6EA7-20D4-3953-9FDF2799A9D7}"/>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784EE627-40D3-57F0-8E2E-90C75C67E94A}"/>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F5DC5016-4BE7-6B13-838B-805C0F2C7F51}"/>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55F5367B-91B9-70D5-E38F-231C2040E296}"/>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60DD4801-2E05-D50A-7E35-EA8BEBF30A5A}"/>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0817C5A-E5DA-79C8-6DC7-AC5CD7054426}"/>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6121C00-404E-301F-3565-D788EC7A9335}"/>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66121C00-404E-301F-3565-D788EC7A9335}"/>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54922F3-53DD-3C28-4026-B87B0C593363}"/>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354922F3-53DD-3C28-4026-B87B0C593363}"/>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1B00F9C1-A25D-96DB-826A-8D1F9F8C7B73}"/>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6667C36-A206-661A-A769-3F65862CA388}"/>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B0E23F-5A7D-B9CD-6E1E-2B803A4E0001}"/>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13E630E-AA09-DE02-5041-A09808A0DDAA}"/>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AA3F570-9C64-C5AF-8A8E-A17813099BB8}"/>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B436986-8622-ACD9-2ABA-9236885D6F19}"/>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B11C042-66A4-2D5A-0490-E3EADA7853CD}"/>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271EFEA-87B2-9595-6CBD-1C27D7A44242}"/>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082D9CE-4C19-4F90-E342-54CFB136E64F}"/>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17506DF-B409-122E-4AF6-E4E178CBCC2F}"/>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333B171-839B-A1E6-8D25-7FF23436C66B}"/>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D333B171-839B-A1E6-8D25-7FF23436C66B}"/>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711DEA8-DDF6-B7D4-FD6C-EE32C57739D5}"/>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1711DEA8-DDF6-B7D4-FD6C-EE32C57739D5}"/>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D75BB765-3235-6A4A-90A9-CDECCFA0C456}"/>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42BBC2F-61D9-AC9F-E8B9-7D6B4FF02FA6}"/>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E20487B-161E-8BAC-24D7-C23805DD5023}"/>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6A2D839-EEA6-DC3B-DE20-05F7759522CA}"/>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66BE8E5-C5FE-73A6-9EE8-080304C3585F}"/>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347F8A5-B07F-2880-0C55-B8E09EDA4DE3}"/>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D74E53C-573C-A87C-BC4A-0A9891981C18}"/>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9CBD503-8D9E-48AE-F1DE-8CD0DD30B986}"/>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849BF02-FB6A-50AB-FB73-66345546A288}"/>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8A7681C-8D55-1D4A-5BC7-061B2D75F74B}"/>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6620704-9FE5-33DB-4695-D793EE54B462}"/>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06620704-9FE5-33DB-4695-D793EE54B462}"/>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8FC9C1A-00FB-B43B-D5C9-EFD2774AF22C}"/>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A8FC9C1A-00FB-B43B-D5C9-EFD2774AF22C}"/>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DFE88143-0623-421C-7B64-CC7F635E1F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679D2BB5-922D-9711-8EC9-215FC8C96B87}"/>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83C63B9-6F0C-D150-57C2-A4664B62511C}"/>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pic>
        <p:nvPicPr>
          <p:cNvPr id="34" name="Graphic 33" descr="Checkmark with solid fill">
            <a:extLst>
              <a:ext uri="{FF2B5EF4-FFF2-40B4-BE49-F238E27FC236}">
                <a16:creationId xmlns:a16="http://schemas.microsoft.com/office/drawing/2014/main" id="{FE8FDB1B-5797-2044-70B7-B0D14F3335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8233" y="2586858"/>
            <a:ext cx="1768017" cy="1768017"/>
          </a:xfrm>
          <a:prstGeom prst="rect">
            <a:avLst/>
          </a:prstGeom>
        </p:spPr>
      </p:pic>
    </p:spTree>
    <p:extLst>
      <p:ext uri="{BB962C8B-B14F-4D97-AF65-F5344CB8AC3E}">
        <p14:creationId xmlns:p14="http://schemas.microsoft.com/office/powerpoint/2010/main" val="29505057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BF0E-595D-D738-D705-3C89394A07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02B74EC-297B-EAB7-65D1-5ECB97A865E3}"/>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77D656BC-8B2C-2DED-D086-59C7CD1391A0}"/>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8501DC55-D1A5-E71E-A524-450EA9A346A0}"/>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163FAD93-4A41-1548-4E6E-9F0573990D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A0289EB6-EF95-0F4B-84F4-200FD5B059A9}"/>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F66467A5-D297-5949-B3D6-960EEC0F0D4C}"/>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A1E950C9-50AD-A5CB-37BA-F36CC3C88ACC}"/>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1B184B2F-BF12-14E0-0935-807DC91FAD87}"/>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1B184B2F-BF12-14E0-0935-807DC91FAD87}"/>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03859FD1-9017-7C4C-B5F2-EB2576BE457D}"/>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03859FD1-9017-7C4C-B5F2-EB2576BE457D}"/>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FF575A6C-001F-160D-7C5F-00E548403A37}"/>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FF575A6C-001F-160D-7C5F-00E548403A37}"/>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C5CFB0E8-F044-2BD4-36DD-6B71030DC518}"/>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584DD211-C584-D679-96FF-74D31B5433AB}"/>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48232687-4D50-E628-5EDD-6169AA307558}"/>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D0DE9369-0062-2D75-8588-C4B7FF6A5B38}"/>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C1F82144-721D-5C00-5BF3-52D9C99B2117}"/>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A7DC4999-04B2-4CE5-8090-1F6978DBC878}"/>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6CA4BF15-A034-5E37-0D10-6AA90F37AE3F}"/>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60298C51-9A8B-07A2-D358-B3B905204DE4}"/>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78E1217E-D481-BAD4-EA1E-92C72EBD0229}"/>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5B4BB7A-21CA-DFBF-6555-F5D901211A3F}"/>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550E16-8111-0179-CDA4-2BDCEB385669}"/>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52550E16-8111-0179-CDA4-2BDCEB385669}"/>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6DCDE12-CA6A-5B00-8838-DA312F5B4F3F}"/>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16DCDE12-CA6A-5B00-8838-DA312F5B4F3F}"/>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6F4FA610-740A-0913-376A-7F50437BF347}"/>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E9F260-0051-3602-68D2-F77779CBF697}"/>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F079225-33DE-92CD-4B3E-2C67ECDE1AF3}"/>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7147679-0225-2347-6295-747BF11B2DAF}"/>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6FF88A1-BEFB-5AE8-FF81-D9B0336E1180}"/>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3A354C6-B6C3-B401-687B-1AA90E4A77B5}"/>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3F41F00-D65A-1D90-EF22-083CCC1DC0B0}"/>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6212254-4C08-7FA3-E606-8BE6DD02AF03}"/>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AF494B3-D9A3-13E3-C4CC-78FA5DC5121F}"/>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662DBAB-0F6E-7F98-46FD-3212844393EE}"/>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3DC0257-9C09-6367-C7AF-45DD44DBF5EF}"/>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13DC0257-9C09-6367-C7AF-45DD44DBF5EF}"/>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3765C54-9D17-2A99-EAC2-F9F8CC0311EA}"/>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83765C54-9D17-2A99-EAC2-F9F8CC0311EA}"/>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4207E7EC-2E7F-7B20-B9DA-FE8F022FED3A}"/>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5416C38-D934-C0A6-1DD2-4386445FF5B2}"/>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8933BBE-B4B8-B1DA-E04F-4D5AB556ED41}"/>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96166E3-63E5-3439-D7D7-47F16382C5B3}"/>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8E2C473-8000-72DC-79C5-E297BBE915F9}"/>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04A5F73-894E-DB3C-E122-94DFBEB361DE}"/>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6B368BB-15E6-0AC9-32E2-D7F942B860E8}"/>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6EC153F-40E2-0633-B951-7CFFC8F9FF78}"/>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9B6BBEC-AB72-59A8-B992-9D2C9F0D56D0}"/>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E86BFC3-F0A3-185B-2DA2-57A2A5C53CA4}"/>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F1CE88E-D22F-A080-12DD-D3F38B15A88C}"/>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9F1CE88E-D22F-A080-12DD-D3F38B15A88C}"/>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F17849B-D957-6A24-D00C-3B26025F96F0}"/>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4F17849B-D957-6A24-D00C-3B26025F96F0}"/>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07A84B30-3B84-3E22-2BDD-F581D54B11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E5825E21-4C3B-6A61-6D3C-9AE725486469}"/>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970B795-A49A-94EE-53C9-5E01793FD436}"/>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pic>
        <p:nvPicPr>
          <p:cNvPr id="34" name="Graphic 33" descr="Checkmark with solid fill">
            <a:extLst>
              <a:ext uri="{FF2B5EF4-FFF2-40B4-BE49-F238E27FC236}">
                <a16:creationId xmlns:a16="http://schemas.microsoft.com/office/drawing/2014/main" id="{D5C7ABE9-DC83-8664-E437-E4472CDCE5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8233" y="2586858"/>
            <a:ext cx="1768017" cy="1768017"/>
          </a:xfrm>
          <a:prstGeom prst="rect">
            <a:avLst/>
          </a:prstGeom>
        </p:spPr>
      </p:pic>
      <p:sp>
        <p:nvSpPr>
          <p:cNvPr id="37" name="Rectangle 36">
            <a:extLst>
              <a:ext uri="{FF2B5EF4-FFF2-40B4-BE49-F238E27FC236}">
                <a16:creationId xmlns:a16="http://schemas.microsoft.com/office/drawing/2014/main" id="{76E85F45-D6E6-2F90-4352-1D4E17010469}"/>
              </a:ext>
            </a:extLst>
          </p:cNvPr>
          <p:cNvSpPr/>
          <p:nvPr/>
        </p:nvSpPr>
        <p:spPr>
          <a:xfrm>
            <a:off x="6275294" y="672353"/>
            <a:ext cx="5809131" cy="6084248"/>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7965E3C-F277-67FB-0302-62C178735BFE}"/>
              </a:ext>
            </a:extLst>
          </p:cNvPr>
          <p:cNvSpPr/>
          <p:nvPr/>
        </p:nvSpPr>
        <p:spPr>
          <a:xfrm>
            <a:off x="7384677" y="10563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4C7B530-F6E3-E1E2-3003-C042FDA61039}"/>
              </a:ext>
            </a:extLst>
          </p:cNvPr>
          <p:cNvSpPr/>
          <p:nvPr/>
        </p:nvSpPr>
        <p:spPr>
          <a:xfrm>
            <a:off x="7962989" y="124477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35AEB8F-AEB9-A68A-985B-7166B9AE1C79}"/>
              </a:ext>
            </a:extLst>
          </p:cNvPr>
          <p:cNvSpPr/>
          <p:nvPr/>
        </p:nvSpPr>
        <p:spPr>
          <a:xfrm>
            <a:off x="7864289" y="178659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83E09199-FBD1-98E3-07DF-46006CCF51C8}"/>
              </a:ext>
            </a:extLst>
          </p:cNvPr>
          <p:cNvSpPr/>
          <p:nvPr/>
        </p:nvSpPr>
        <p:spPr>
          <a:xfrm>
            <a:off x="8496391" y="137028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C112E0C6-30CB-E44F-CDF2-F31F30BAD7D7}"/>
              </a:ext>
            </a:extLst>
          </p:cNvPr>
          <p:cNvSpPr/>
          <p:nvPr/>
        </p:nvSpPr>
        <p:spPr>
          <a:xfrm>
            <a:off x="7555186" y="136919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41E2EC9-3D28-3A5C-84C8-98D8427B47C0}"/>
              </a:ext>
            </a:extLst>
          </p:cNvPr>
          <p:cNvSpPr/>
          <p:nvPr/>
        </p:nvSpPr>
        <p:spPr>
          <a:xfrm>
            <a:off x="10504393" y="125004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14B30B1-DAF0-F74E-6E1D-14A22AA91276}"/>
              </a:ext>
            </a:extLst>
          </p:cNvPr>
          <p:cNvSpPr/>
          <p:nvPr/>
        </p:nvSpPr>
        <p:spPr>
          <a:xfrm>
            <a:off x="10682165" y="1758555"/>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905BE6AB-8E66-5E24-E7D3-EEBE0BD81717}"/>
              </a:ext>
            </a:extLst>
          </p:cNvPr>
          <p:cNvSpPr/>
          <p:nvPr/>
        </p:nvSpPr>
        <p:spPr>
          <a:xfrm>
            <a:off x="9932982" y="150105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220B906-17F6-A3BB-78CC-88F1E13704C2}"/>
              </a:ext>
            </a:extLst>
          </p:cNvPr>
          <p:cNvSpPr/>
          <p:nvPr/>
        </p:nvSpPr>
        <p:spPr>
          <a:xfrm>
            <a:off x="9964445" y="10743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D5B0443-D81C-724A-2619-F4AA1BAD0F4A}"/>
              </a:ext>
            </a:extLst>
          </p:cNvPr>
          <p:cNvSpPr/>
          <p:nvPr/>
        </p:nvSpPr>
        <p:spPr>
          <a:xfrm>
            <a:off x="9625853" y="10644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CF38B13-A712-2A0D-231A-9F0DCA2CB5A5}"/>
                  </a:ext>
                </a:extLst>
              </p:cNvPr>
              <p:cNvSpPr txBox="1"/>
              <p:nvPr/>
            </p:nvSpPr>
            <p:spPr>
              <a:xfrm>
                <a:off x="7331920" y="2234732"/>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8" name="TextBox 47">
                <a:extLst>
                  <a:ext uri="{FF2B5EF4-FFF2-40B4-BE49-F238E27FC236}">
                    <a16:creationId xmlns:a16="http://schemas.microsoft.com/office/drawing/2014/main" id="{4CF38B13-A712-2A0D-231A-9F0DCA2CB5A5}"/>
                  </a:ext>
                </a:extLst>
              </p:cNvPr>
              <p:cNvSpPr txBox="1">
                <a:spLocks noRot="1" noChangeAspect="1" noMove="1" noResize="1" noEditPoints="1" noAdjustHandles="1" noChangeArrowheads="1" noChangeShapeType="1" noTextEdit="1"/>
              </p:cNvSpPr>
              <p:nvPr/>
            </p:nvSpPr>
            <p:spPr>
              <a:xfrm>
                <a:off x="7331920" y="2234732"/>
                <a:ext cx="1566760" cy="369332"/>
              </a:xfrm>
              <a:prstGeom prst="rect">
                <a:avLst/>
              </a:prstGeom>
              <a:blipFill>
                <a:blip r:embed="rId14"/>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8813F31-CEFA-D3BD-5DA7-F8260BFF1FC1}"/>
                  </a:ext>
                </a:extLst>
              </p:cNvPr>
              <p:cNvSpPr txBox="1"/>
              <p:nvPr/>
            </p:nvSpPr>
            <p:spPr>
              <a:xfrm>
                <a:off x="9366019" y="2244149"/>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49" name="TextBox 48">
                <a:extLst>
                  <a:ext uri="{FF2B5EF4-FFF2-40B4-BE49-F238E27FC236}">
                    <a16:creationId xmlns:a16="http://schemas.microsoft.com/office/drawing/2014/main" id="{28813F31-CEFA-D3BD-5DA7-F8260BFF1FC1}"/>
                  </a:ext>
                </a:extLst>
              </p:cNvPr>
              <p:cNvSpPr txBox="1">
                <a:spLocks noRot="1" noChangeAspect="1" noMove="1" noResize="1" noEditPoints="1" noAdjustHandles="1" noChangeArrowheads="1" noChangeShapeType="1" noTextEdit="1"/>
              </p:cNvSpPr>
              <p:nvPr/>
            </p:nvSpPr>
            <p:spPr>
              <a:xfrm>
                <a:off x="9366019" y="2244149"/>
                <a:ext cx="1965553" cy="646331"/>
              </a:xfrm>
              <a:prstGeom prst="rect">
                <a:avLst/>
              </a:prstGeom>
              <a:blipFill>
                <a:blip r:embed="rId15"/>
                <a:stretch>
                  <a:fillRect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07BC3F7-8F6E-6E32-88CE-C3506562D6BC}"/>
                  </a:ext>
                </a:extLst>
              </p:cNvPr>
              <p:cNvSpPr txBox="1"/>
              <p:nvPr/>
            </p:nvSpPr>
            <p:spPr>
              <a:xfrm>
                <a:off x="8262497" y="630090"/>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50" name="TextBox 49">
                <a:extLst>
                  <a:ext uri="{FF2B5EF4-FFF2-40B4-BE49-F238E27FC236}">
                    <a16:creationId xmlns:a16="http://schemas.microsoft.com/office/drawing/2014/main" id="{C07BC3F7-8F6E-6E32-88CE-C3506562D6BC}"/>
                  </a:ext>
                </a:extLst>
              </p:cNvPr>
              <p:cNvSpPr txBox="1">
                <a:spLocks noRot="1" noChangeAspect="1" noMove="1" noResize="1" noEditPoints="1" noAdjustHandles="1" noChangeArrowheads="1" noChangeShapeType="1" noTextEdit="1"/>
              </p:cNvSpPr>
              <p:nvPr/>
            </p:nvSpPr>
            <p:spPr>
              <a:xfrm>
                <a:off x="8262497" y="630090"/>
                <a:ext cx="2023782" cy="369332"/>
              </a:xfrm>
              <a:prstGeom prst="rect">
                <a:avLst/>
              </a:prstGeom>
              <a:blipFill>
                <a:blip r:embed="rId16"/>
                <a:stretch>
                  <a:fillRect l="-2410"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27780765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FA37-AD0E-9983-47D6-01F867223A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6639B38-7945-D167-D684-CE3C9314BC59}"/>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2013C070-66CE-DFCF-B02C-CF78E9F65049}"/>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5D34A1F4-876A-69B9-5244-1756CD0205B0}"/>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AC018118-C527-B421-2F37-BB2473FE5C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FCB92093-8667-4F53-582C-0F3393668FE4}"/>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BEDCAA4E-DAC9-33C1-1F35-D25A14F5EFBF}"/>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CFC0F25D-89B7-1EB8-D180-D80547C5AF1F}"/>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D0AE5D05-010F-A868-550E-BCCE89DCC57E}"/>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D0AE5D05-010F-A868-550E-BCCE89DCC57E}"/>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177C2FE4-F1D9-2F7A-2D3B-7FF3E587F3B7}"/>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177C2FE4-F1D9-2F7A-2D3B-7FF3E587F3B7}"/>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916847CE-3821-8CA8-23D7-478F17396855}"/>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916847CE-3821-8CA8-23D7-478F17396855}"/>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DD3B8645-7426-5349-FF15-D9C77D4C31AF}"/>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55DF88A1-091C-6505-71FA-24259D73B8CF}"/>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B59AA90-D37A-35CF-48BF-8DCE2EB1C5D1}"/>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71117AF-9EBE-9123-9B42-A9E01A6BF682}"/>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FE5A1EFD-CB8D-F7E3-622E-58B34FF45F92}"/>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CDDF4636-8EF8-1572-D346-4A4BB7D5AAFE}"/>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9C59B438-E472-7D73-6FB6-D863E32AC58D}"/>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338CC21F-7C6D-1095-5AB5-551AF1A37A93}"/>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6367F26-5D5B-2266-9258-D4513EE09D2E}"/>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59598E-47D3-7819-090C-FEBFB8D629F2}"/>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EB3659C-EA94-1A99-15A6-033A4B8C4D9C}"/>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AEB3659C-EA94-1A99-15A6-033A4B8C4D9C}"/>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1E969F-51F1-905C-8D7F-82445074FC2C}"/>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E51E969F-51F1-905C-8D7F-82445074FC2C}"/>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2F09A06D-D393-88A7-E2F4-1867D0C5F21B}"/>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8384B36-21D9-A4D5-0BAC-B0A076C62DC2}"/>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DDCF562-ACD3-3865-591C-A7218F9DE964}"/>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6750BC8-11F7-098F-021A-958B3DE4EE21}"/>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DDCE40-0384-21BE-BC18-B7DFD8173595}"/>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7662DC2-4961-F8D1-5247-80438D15FACA}"/>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5A92DEC-08A2-4DDF-04CC-093F8CA20B15}"/>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FAB965C-A2FE-FD73-BB88-5F8BC1F6CC94}"/>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E97A1F3-8427-8F1C-1E2C-2CFCED7F4611}"/>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C7930F-2DEE-7F6D-990C-5A32236D4431}"/>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92AE034-042D-3247-49BF-873081D76642}"/>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292AE034-042D-3247-49BF-873081D76642}"/>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D102EA0-F3A2-B394-5FC5-4607077C9A75}"/>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AD102EA0-F3A2-B394-5FC5-4607077C9A75}"/>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A1308474-61CF-623C-195C-36A2543D4B8D}"/>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34C77F-4E1B-79C0-3A56-DFFA0E332081}"/>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0A746BF-C9F7-6EC8-E4E5-20664CD84F35}"/>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6CA3A0D-37C4-0C4D-57FA-7F5F585A9966}"/>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D918878-FC9B-EFED-02A8-DAAFF101AD9E}"/>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D64CBB9-3AA7-FB81-E558-80713A798050}"/>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03E6623-566A-7195-3014-F19993FF9032}"/>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AB152DA-3B59-71C6-5312-F5BD6F59741F}"/>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5952B9AE-381D-BCB4-6F1C-ECB3D4B8DFBC}"/>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097DF8B-D063-54E0-B139-0330EF4AD6A3}"/>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53A33EA-0EB2-57A7-790A-11B7948EE851}"/>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853A33EA-0EB2-57A7-790A-11B7948EE851}"/>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F83D5E9-B384-8D7C-DAC3-60D2789D3848}"/>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2F83D5E9-B384-8D7C-DAC3-60D2789D3848}"/>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04A952F0-2FDB-4945-A4D5-E340D1BB71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1B9A07B8-63CE-B176-C0F2-3E69F1D3A453}"/>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6D48B8C-CF1E-E86F-4D88-5C016F668825}"/>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pic>
        <p:nvPicPr>
          <p:cNvPr id="34" name="Graphic 33" descr="Checkmark with solid fill">
            <a:extLst>
              <a:ext uri="{FF2B5EF4-FFF2-40B4-BE49-F238E27FC236}">
                <a16:creationId xmlns:a16="http://schemas.microsoft.com/office/drawing/2014/main" id="{42A0C822-939E-11C2-F819-99F6D25841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8233" y="2586858"/>
            <a:ext cx="1768017" cy="1768017"/>
          </a:xfrm>
          <a:prstGeom prst="rect">
            <a:avLst/>
          </a:prstGeom>
        </p:spPr>
      </p:pic>
      <p:sp>
        <p:nvSpPr>
          <p:cNvPr id="37" name="Rectangle 36">
            <a:extLst>
              <a:ext uri="{FF2B5EF4-FFF2-40B4-BE49-F238E27FC236}">
                <a16:creationId xmlns:a16="http://schemas.microsoft.com/office/drawing/2014/main" id="{8FFDA7A2-8CC7-6432-5DF9-242F38D6A255}"/>
              </a:ext>
            </a:extLst>
          </p:cNvPr>
          <p:cNvSpPr/>
          <p:nvPr/>
        </p:nvSpPr>
        <p:spPr>
          <a:xfrm>
            <a:off x="6275294" y="672353"/>
            <a:ext cx="5809131" cy="6084248"/>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EC5DAFD-FB62-4785-795E-DEE2241177A5}"/>
              </a:ext>
            </a:extLst>
          </p:cNvPr>
          <p:cNvSpPr/>
          <p:nvPr/>
        </p:nvSpPr>
        <p:spPr>
          <a:xfrm>
            <a:off x="7384677" y="10563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90D786E-5C24-1001-2161-0E41598FB4B0}"/>
              </a:ext>
            </a:extLst>
          </p:cNvPr>
          <p:cNvSpPr/>
          <p:nvPr/>
        </p:nvSpPr>
        <p:spPr>
          <a:xfrm>
            <a:off x="7962989" y="124477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476AE1E-2F9F-61E4-3504-C6C7D4617BE0}"/>
              </a:ext>
            </a:extLst>
          </p:cNvPr>
          <p:cNvSpPr/>
          <p:nvPr/>
        </p:nvSpPr>
        <p:spPr>
          <a:xfrm>
            <a:off x="7864289" y="1786598"/>
            <a:ext cx="251011" cy="251011"/>
          </a:xfrm>
          <a:prstGeom prst="ellipse">
            <a:avLst/>
          </a:prstGeom>
          <a:solidFill>
            <a:schemeClr val="accent6"/>
          </a:solid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590A3B3-5BF3-E895-BAD1-F48E16D6512F}"/>
              </a:ext>
            </a:extLst>
          </p:cNvPr>
          <p:cNvSpPr/>
          <p:nvPr/>
        </p:nvSpPr>
        <p:spPr>
          <a:xfrm>
            <a:off x="8496391" y="137028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5DD434C2-FF53-0528-EC2F-DEDEE77B054B}"/>
              </a:ext>
            </a:extLst>
          </p:cNvPr>
          <p:cNvSpPr/>
          <p:nvPr/>
        </p:nvSpPr>
        <p:spPr>
          <a:xfrm>
            <a:off x="7555186" y="136919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F368E8-FE66-ED2D-6B15-E66DD1DD83B7}"/>
              </a:ext>
            </a:extLst>
          </p:cNvPr>
          <p:cNvSpPr/>
          <p:nvPr/>
        </p:nvSpPr>
        <p:spPr>
          <a:xfrm>
            <a:off x="10504393" y="125004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10458FB1-6050-7770-68BE-53D4E34E0E09}"/>
              </a:ext>
            </a:extLst>
          </p:cNvPr>
          <p:cNvSpPr/>
          <p:nvPr/>
        </p:nvSpPr>
        <p:spPr>
          <a:xfrm>
            <a:off x="10682165" y="1758555"/>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A119A4B-D4DC-5F49-4E26-C6963F686467}"/>
              </a:ext>
            </a:extLst>
          </p:cNvPr>
          <p:cNvSpPr/>
          <p:nvPr/>
        </p:nvSpPr>
        <p:spPr>
          <a:xfrm>
            <a:off x="9932982" y="150105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A8675384-975E-A33D-6AEB-681535CC7477}"/>
              </a:ext>
            </a:extLst>
          </p:cNvPr>
          <p:cNvSpPr/>
          <p:nvPr/>
        </p:nvSpPr>
        <p:spPr>
          <a:xfrm>
            <a:off x="9964445" y="10743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310847F-CE53-C3D3-5C23-D6675C8BDD78}"/>
              </a:ext>
            </a:extLst>
          </p:cNvPr>
          <p:cNvSpPr/>
          <p:nvPr/>
        </p:nvSpPr>
        <p:spPr>
          <a:xfrm>
            <a:off x="9625853" y="10644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BB06F55-ADFE-8FF6-3F25-F5C8D10B98D3}"/>
                  </a:ext>
                </a:extLst>
              </p:cNvPr>
              <p:cNvSpPr txBox="1"/>
              <p:nvPr/>
            </p:nvSpPr>
            <p:spPr>
              <a:xfrm>
                <a:off x="7331920" y="2234732"/>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8" name="TextBox 47">
                <a:extLst>
                  <a:ext uri="{FF2B5EF4-FFF2-40B4-BE49-F238E27FC236}">
                    <a16:creationId xmlns:a16="http://schemas.microsoft.com/office/drawing/2014/main" id="{0BB06F55-ADFE-8FF6-3F25-F5C8D10B98D3}"/>
                  </a:ext>
                </a:extLst>
              </p:cNvPr>
              <p:cNvSpPr txBox="1">
                <a:spLocks noRot="1" noChangeAspect="1" noMove="1" noResize="1" noEditPoints="1" noAdjustHandles="1" noChangeArrowheads="1" noChangeShapeType="1" noTextEdit="1"/>
              </p:cNvSpPr>
              <p:nvPr/>
            </p:nvSpPr>
            <p:spPr>
              <a:xfrm>
                <a:off x="7331920" y="2234732"/>
                <a:ext cx="1566760" cy="369332"/>
              </a:xfrm>
              <a:prstGeom prst="rect">
                <a:avLst/>
              </a:prstGeom>
              <a:blipFill>
                <a:blip r:embed="rId14"/>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6EDDDA9-274E-F43E-8F7F-B8D5A6C196D0}"/>
                  </a:ext>
                </a:extLst>
              </p:cNvPr>
              <p:cNvSpPr txBox="1"/>
              <p:nvPr/>
            </p:nvSpPr>
            <p:spPr>
              <a:xfrm>
                <a:off x="9366019" y="2244149"/>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49" name="TextBox 48">
                <a:extLst>
                  <a:ext uri="{FF2B5EF4-FFF2-40B4-BE49-F238E27FC236}">
                    <a16:creationId xmlns:a16="http://schemas.microsoft.com/office/drawing/2014/main" id="{A6EDDDA9-274E-F43E-8F7F-B8D5A6C196D0}"/>
                  </a:ext>
                </a:extLst>
              </p:cNvPr>
              <p:cNvSpPr txBox="1">
                <a:spLocks noRot="1" noChangeAspect="1" noMove="1" noResize="1" noEditPoints="1" noAdjustHandles="1" noChangeArrowheads="1" noChangeShapeType="1" noTextEdit="1"/>
              </p:cNvSpPr>
              <p:nvPr/>
            </p:nvSpPr>
            <p:spPr>
              <a:xfrm>
                <a:off x="9366019" y="2244149"/>
                <a:ext cx="1965553" cy="646331"/>
              </a:xfrm>
              <a:prstGeom prst="rect">
                <a:avLst/>
              </a:prstGeom>
              <a:blipFill>
                <a:blip r:embed="rId15"/>
                <a:stretch>
                  <a:fillRect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671A352-4294-3650-609D-1BA95458C44D}"/>
                  </a:ext>
                </a:extLst>
              </p:cNvPr>
              <p:cNvSpPr txBox="1"/>
              <p:nvPr/>
            </p:nvSpPr>
            <p:spPr>
              <a:xfrm>
                <a:off x="8262497" y="630090"/>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50" name="TextBox 49">
                <a:extLst>
                  <a:ext uri="{FF2B5EF4-FFF2-40B4-BE49-F238E27FC236}">
                    <a16:creationId xmlns:a16="http://schemas.microsoft.com/office/drawing/2014/main" id="{F671A352-4294-3650-609D-1BA95458C44D}"/>
                  </a:ext>
                </a:extLst>
              </p:cNvPr>
              <p:cNvSpPr txBox="1">
                <a:spLocks noRot="1" noChangeAspect="1" noMove="1" noResize="1" noEditPoints="1" noAdjustHandles="1" noChangeArrowheads="1" noChangeShapeType="1" noTextEdit="1"/>
              </p:cNvSpPr>
              <p:nvPr/>
            </p:nvSpPr>
            <p:spPr>
              <a:xfrm>
                <a:off x="8262497" y="630090"/>
                <a:ext cx="2023782" cy="369332"/>
              </a:xfrm>
              <a:prstGeom prst="rect">
                <a:avLst/>
              </a:prstGeom>
              <a:blipFill>
                <a:blip r:embed="rId16"/>
                <a:stretch>
                  <a:fillRect l="-241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86169B8-5572-02C5-B66C-81ED04947572}"/>
                  </a:ext>
                </a:extLst>
              </p:cNvPr>
              <p:cNvSpPr txBox="1"/>
              <p:nvPr/>
            </p:nvSpPr>
            <p:spPr>
              <a:xfrm>
                <a:off x="6683007" y="3182471"/>
                <a:ext cx="5042828" cy="1477328"/>
              </a:xfrm>
              <a:prstGeom prst="rect">
                <a:avLst/>
              </a:prstGeom>
              <a:noFill/>
            </p:spPr>
            <p:txBody>
              <a:bodyPr wrap="square" rtlCol="0">
                <a:spAutoFit/>
              </a:bodyPr>
              <a:lstStyle/>
              <a:p>
                <a:r>
                  <a:rPr lang="en-US" dirty="0"/>
                  <a:t>If any such profile is a Nash Equilibrium, then for any given person who does </a:t>
                </a:r>
                <a:r>
                  <a:rPr lang="en-US" i="1" dirty="0"/>
                  <a:t>in</a:t>
                </a:r>
                <a:r>
                  <a:rPr lang="en-US" dirty="0"/>
                  <a:t> in that profile, doing </a:t>
                </a:r>
                <a:r>
                  <a:rPr lang="en-US" i="1" dirty="0"/>
                  <a:t>in</a:t>
                </a:r>
                <a:r>
                  <a:rPr lang="en-US" dirty="0"/>
                  <a:t> must be a best response to the expectation that a number </a:t>
                </a:r>
                <a14:m>
                  <m:oMath xmlns:m="http://schemas.openxmlformats.org/officeDocument/2006/math">
                    <m:r>
                      <a:rPr lang="en-US" b="0" i="1" smtClean="0">
                        <a:latin typeface="Cambria Math" panose="02040503050406030204" pitchFamily="18" charset="0"/>
                      </a:rPr>
                      <m:t>𝐾</m:t>
                    </m:r>
                  </m:oMath>
                </a14:m>
                <a:r>
                  <a:rPr lang="en-US" dirty="0"/>
                  <a:t> of the other persons do </a:t>
                </a:r>
                <a:r>
                  <a:rPr lang="en-US" i="1" dirty="0"/>
                  <a:t>in</a:t>
                </a:r>
                <a:r>
                  <a:rPr lang="en-US" dirty="0"/>
                  <a:t>, where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&gt;</m:t>
                    </m:r>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a:t>
                </a:r>
              </a:p>
            </p:txBody>
          </p:sp>
        </mc:Choice>
        <mc:Fallback xmlns="">
          <p:sp>
            <p:nvSpPr>
              <p:cNvPr id="51" name="TextBox 50">
                <a:extLst>
                  <a:ext uri="{FF2B5EF4-FFF2-40B4-BE49-F238E27FC236}">
                    <a16:creationId xmlns:a16="http://schemas.microsoft.com/office/drawing/2014/main" id="{486169B8-5572-02C5-B66C-81ED04947572}"/>
                  </a:ext>
                </a:extLst>
              </p:cNvPr>
              <p:cNvSpPr txBox="1">
                <a:spLocks noRot="1" noChangeAspect="1" noMove="1" noResize="1" noEditPoints="1" noAdjustHandles="1" noChangeArrowheads="1" noChangeShapeType="1" noTextEdit="1"/>
              </p:cNvSpPr>
              <p:nvPr/>
            </p:nvSpPr>
            <p:spPr>
              <a:xfrm>
                <a:off x="6683007" y="3182471"/>
                <a:ext cx="5042828" cy="1477328"/>
              </a:xfrm>
              <a:prstGeom prst="rect">
                <a:avLst/>
              </a:prstGeom>
              <a:blipFill>
                <a:blip r:embed="rId17"/>
                <a:stretch>
                  <a:fillRect l="-966" t="-2066" r="-1570" b="-5785"/>
                </a:stretch>
              </a:blipFill>
            </p:spPr>
            <p:txBody>
              <a:bodyPr/>
              <a:lstStyle/>
              <a:p>
                <a:r>
                  <a:rPr lang="en-US">
                    <a:noFill/>
                  </a:rPr>
                  <a:t> </a:t>
                </a:r>
              </a:p>
            </p:txBody>
          </p:sp>
        </mc:Fallback>
      </mc:AlternateContent>
      <p:sp>
        <p:nvSpPr>
          <p:cNvPr id="52" name="Rectangle 51">
            <a:extLst>
              <a:ext uri="{FF2B5EF4-FFF2-40B4-BE49-F238E27FC236}">
                <a16:creationId xmlns:a16="http://schemas.microsoft.com/office/drawing/2014/main" id="{7EB17F44-DCDE-DA00-D568-D0C1FA7EDE79}"/>
              </a:ext>
            </a:extLst>
          </p:cNvPr>
          <p:cNvSpPr/>
          <p:nvPr/>
        </p:nvSpPr>
        <p:spPr>
          <a:xfrm>
            <a:off x="6718871" y="3511359"/>
            <a:ext cx="2830597" cy="265663"/>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18000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32EF9-6893-ED87-22DD-D2CDDBE3003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4A827D4-C4E5-2DA7-A496-8E78D7C22C9C}"/>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D8312DEB-629F-8771-E7C4-4092ABF6A10A}"/>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D79D8E8F-CF0E-FAAC-DB6A-55CB8D33EF26}"/>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27960307-91DB-ED3F-585E-E1D4CEC2FA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979C2F77-D868-E9B7-C10B-41D9D3626981}"/>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FE635936-71E9-E121-CD58-EDA0C268ADD7}"/>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380CB013-E72B-A5F4-E2E1-376D593EA71D}"/>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12B591B0-39BA-666C-82F2-9D39B0DD73D0}"/>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12B591B0-39BA-666C-82F2-9D39B0DD73D0}"/>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38C65008-F4BF-8580-A59C-846522D216EB}"/>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38C65008-F4BF-8580-A59C-846522D216EB}"/>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26336155-5B3F-597D-778F-9E06015F0016}"/>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26336155-5B3F-597D-778F-9E06015F0016}"/>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7C861A24-1123-A976-0C46-97F6D61383BC}"/>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EFDBCB6D-14E4-5655-8F00-7752A81803E4}"/>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C245160-E02F-9F34-A3EC-0D5BF1BD589C}"/>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7CE6B6AB-D5D9-81B7-D2D0-BDC9CB809997}"/>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B8614E1E-5541-23B8-CEF5-624513BFD5B4}"/>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64421147-F0AA-52D1-8B33-CA5A6F4B2C6F}"/>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A89F931C-C1F1-CEA1-E9F0-13B324855D79}"/>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C84BC6E0-2E4A-BF6D-63B0-93CABCCA9891}"/>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67B96BD8-CC83-DBB5-B0A9-3020F1466B49}"/>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ED9CB3C-9C98-BA97-E55F-21FCF03A937E}"/>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F36E587-8EE3-65D1-A7C3-3B0C00FE993B}"/>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8F36E587-8EE3-65D1-A7C3-3B0C00FE993B}"/>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8ED5A22-859B-1403-C575-7BDAF5286F6F}"/>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88ED5A22-859B-1403-C575-7BDAF5286F6F}"/>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A7EF2311-0FD1-0E56-BC76-F862D34DA1DD}"/>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965BB74-1116-4548-0B58-A173E3845F12}"/>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DC303FB-FC63-DEA9-A6DF-CBCAAA6F571D}"/>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30DCC62-7A1D-DBA6-2514-0DA0E9341EB6}"/>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3CF95F3-1CD8-0EDC-FCD2-B3EB29FBE4C9}"/>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73E4D19-B8A5-2205-0E8E-7A3B04C1F253}"/>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816B4FD-314C-F32E-49CE-4BEC64B354C0}"/>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C3BCE40-D11F-CCFA-B819-8C29316458BC}"/>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1A57100-4EC7-A08F-F234-283C7A03B6B2}"/>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E9FBD92-DF65-D54D-F1B5-10E7C209431D}"/>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4486B2D-3E1C-328A-7E0B-7B3D52D24A5E}"/>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04486B2D-3E1C-328A-7E0B-7B3D52D24A5E}"/>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215EA7C-F077-1951-49EF-3E9277942C45}"/>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3215EA7C-F077-1951-49EF-3E9277942C45}"/>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DC9EB734-7D1A-36B9-2414-EC76BD0C6B60}"/>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0C511CC-4586-FD6E-B738-8BD6EBDD6E62}"/>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12B63BD-B9E1-5F98-43E1-474985677750}"/>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82CC3A2-E6DD-02DF-C80C-8095C161360B}"/>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28F99FC-8DFE-EE73-DB7F-3FE813E68B4F}"/>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08060E6-8236-6037-53F5-98D36187D162}"/>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388685E-9190-7F8E-4081-26847FE2DDDF}"/>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DBA55DD-C703-C1DE-1915-E47711FD8A69}"/>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9A4A0D3-068E-2CF4-CEAD-7CE4BB77FD50}"/>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F636B52-D89B-F85D-C5D8-804E086C88C9}"/>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2439036-39AA-4B9B-3E2C-DF862BF9A20B}"/>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C2439036-39AA-4B9B-3E2C-DF862BF9A20B}"/>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25A3487-E94D-2A04-D8E2-FEBCACA23A0C}"/>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325A3487-E94D-2A04-D8E2-FEBCACA23A0C}"/>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6BB5C058-6FD9-66C9-C3B6-1A782D52D0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6A8B007F-37DC-2B48-76E8-5601B5A45F64}"/>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5940F0C-8E26-BF5C-3BF1-0D582204F025}"/>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pic>
        <p:nvPicPr>
          <p:cNvPr id="34" name="Graphic 33" descr="Checkmark with solid fill">
            <a:extLst>
              <a:ext uri="{FF2B5EF4-FFF2-40B4-BE49-F238E27FC236}">
                <a16:creationId xmlns:a16="http://schemas.microsoft.com/office/drawing/2014/main" id="{463A28B8-0E46-7A71-01DE-9B122E94CC6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8233" y="2586858"/>
            <a:ext cx="1768017" cy="1768017"/>
          </a:xfrm>
          <a:prstGeom prst="rect">
            <a:avLst/>
          </a:prstGeom>
        </p:spPr>
      </p:pic>
      <p:sp>
        <p:nvSpPr>
          <p:cNvPr id="37" name="Rectangle 36">
            <a:extLst>
              <a:ext uri="{FF2B5EF4-FFF2-40B4-BE49-F238E27FC236}">
                <a16:creationId xmlns:a16="http://schemas.microsoft.com/office/drawing/2014/main" id="{64FA1C06-57FA-5C90-6C75-A7B8101C3335}"/>
              </a:ext>
            </a:extLst>
          </p:cNvPr>
          <p:cNvSpPr/>
          <p:nvPr/>
        </p:nvSpPr>
        <p:spPr>
          <a:xfrm>
            <a:off x="6275294" y="672353"/>
            <a:ext cx="5809131" cy="6084248"/>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C29460C-0F9E-3A14-7B9A-2EB427CE62AB}"/>
              </a:ext>
            </a:extLst>
          </p:cNvPr>
          <p:cNvSpPr/>
          <p:nvPr/>
        </p:nvSpPr>
        <p:spPr>
          <a:xfrm>
            <a:off x="7384677" y="10563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E71C4CEC-2152-D58C-0C58-81FBF4BC27B3}"/>
              </a:ext>
            </a:extLst>
          </p:cNvPr>
          <p:cNvSpPr/>
          <p:nvPr/>
        </p:nvSpPr>
        <p:spPr>
          <a:xfrm>
            <a:off x="7962989" y="124477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F5504FE-68BD-3D78-99E2-71A6412BB5D9}"/>
              </a:ext>
            </a:extLst>
          </p:cNvPr>
          <p:cNvSpPr/>
          <p:nvPr/>
        </p:nvSpPr>
        <p:spPr>
          <a:xfrm>
            <a:off x="7864289" y="1786598"/>
            <a:ext cx="251011" cy="251011"/>
          </a:xfrm>
          <a:prstGeom prst="ellipse">
            <a:avLst/>
          </a:prstGeom>
          <a:solidFill>
            <a:schemeClr val="accent6"/>
          </a:solid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60F5F62-CF38-2634-38F4-C47276DDD046}"/>
              </a:ext>
            </a:extLst>
          </p:cNvPr>
          <p:cNvSpPr/>
          <p:nvPr/>
        </p:nvSpPr>
        <p:spPr>
          <a:xfrm>
            <a:off x="8496391" y="137028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58880977-6D11-6691-A66D-CFCCC21E3ED6}"/>
              </a:ext>
            </a:extLst>
          </p:cNvPr>
          <p:cNvSpPr/>
          <p:nvPr/>
        </p:nvSpPr>
        <p:spPr>
          <a:xfrm>
            <a:off x="7555186" y="136919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0D037C1-0FF8-0FF6-FA97-1A38B276CDEF}"/>
              </a:ext>
            </a:extLst>
          </p:cNvPr>
          <p:cNvSpPr/>
          <p:nvPr/>
        </p:nvSpPr>
        <p:spPr>
          <a:xfrm>
            <a:off x="10504393" y="125004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D1AB7AA-F62F-8AFC-6738-D3C21FFBB65C}"/>
              </a:ext>
            </a:extLst>
          </p:cNvPr>
          <p:cNvSpPr/>
          <p:nvPr/>
        </p:nvSpPr>
        <p:spPr>
          <a:xfrm>
            <a:off x="10682165" y="1758555"/>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00E0AD87-0971-1B38-F3FF-264CF23C6A81}"/>
              </a:ext>
            </a:extLst>
          </p:cNvPr>
          <p:cNvSpPr/>
          <p:nvPr/>
        </p:nvSpPr>
        <p:spPr>
          <a:xfrm>
            <a:off x="9932982" y="150105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960D4E4-A89D-CCCA-7543-1A126876E933}"/>
              </a:ext>
            </a:extLst>
          </p:cNvPr>
          <p:cNvSpPr/>
          <p:nvPr/>
        </p:nvSpPr>
        <p:spPr>
          <a:xfrm>
            <a:off x="9964445" y="10743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C327D1A-27A4-95F3-FCA5-32CEE0324470}"/>
              </a:ext>
            </a:extLst>
          </p:cNvPr>
          <p:cNvSpPr/>
          <p:nvPr/>
        </p:nvSpPr>
        <p:spPr>
          <a:xfrm>
            <a:off x="9625853" y="1064412"/>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63FECEC-AE3B-7D69-EB47-580BA7B1AF97}"/>
                  </a:ext>
                </a:extLst>
              </p:cNvPr>
              <p:cNvSpPr txBox="1"/>
              <p:nvPr/>
            </p:nvSpPr>
            <p:spPr>
              <a:xfrm>
                <a:off x="7331920" y="2234732"/>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48" name="TextBox 47">
                <a:extLst>
                  <a:ext uri="{FF2B5EF4-FFF2-40B4-BE49-F238E27FC236}">
                    <a16:creationId xmlns:a16="http://schemas.microsoft.com/office/drawing/2014/main" id="{E63FECEC-AE3B-7D69-EB47-580BA7B1AF97}"/>
                  </a:ext>
                </a:extLst>
              </p:cNvPr>
              <p:cNvSpPr txBox="1">
                <a:spLocks noRot="1" noChangeAspect="1" noMove="1" noResize="1" noEditPoints="1" noAdjustHandles="1" noChangeArrowheads="1" noChangeShapeType="1" noTextEdit="1"/>
              </p:cNvSpPr>
              <p:nvPr/>
            </p:nvSpPr>
            <p:spPr>
              <a:xfrm>
                <a:off x="7331920" y="2234732"/>
                <a:ext cx="1566760" cy="369332"/>
              </a:xfrm>
              <a:prstGeom prst="rect">
                <a:avLst/>
              </a:prstGeom>
              <a:blipFill>
                <a:blip r:embed="rId14"/>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2745A86-9075-6783-2C93-CD3C27E394E9}"/>
                  </a:ext>
                </a:extLst>
              </p:cNvPr>
              <p:cNvSpPr txBox="1"/>
              <p:nvPr/>
            </p:nvSpPr>
            <p:spPr>
              <a:xfrm>
                <a:off x="9366019" y="2244149"/>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49" name="TextBox 48">
                <a:extLst>
                  <a:ext uri="{FF2B5EF4-FFF2-40B4-BE49-F238E27FC236}">
                    <a16:creationId xmlns:a16="http://schemas.microsoft.com/office/drawing/2014/main" id="{E2745A86-9075-6783-2C93-CD3C27E394E9}"/>
                  </a:ext>
                </a:extLst>
              </p:cNvPr>
              <p:cNvSpPr txBox="1">
                <a:spLocks noRot="1" noChangeAspect="1" noMove="1" noResize="1" noEditPoints="1" noAdjustHandles="1" noChangeArrowheads="1" noChangeShapeType="1" noTextEdit="1"/>
              </p:cNvSpPr>
              <p:nvPr/>
            </p:nvSpPr>
            <p:spPr>
              <a:xfrm>
                <a:off x="9366019" y="2244149"/>
                <a:ext cx="1965553" cy="646331"/>
              </a:xfrm>
              <a:prstGeom prst="rect">
                <a:avLst/>
              </a:prstGeom>
              <a:blipFill>
                <a:blip r:embed="rId15"/>
                <a:stretch>
                  <a:fillRect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74F45CC4-C80A-C244-4C80-9517C69560D6}"/>
                  </a:ext>
                </a:extLst>
              </p:cNvPr>
              <p:cNvSpPr txBox="1"/>
              <p:nvPr/>
            </p:nvSpPr>
            <p:spPr>
              <a:xfrm>
                <a:off x="8262497" y="630090"/>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50" name="TextBox 49">
                <a:extLst>
                  <a:ext uri="{FF2B5EF4-FFF2-40B4-BE49-F238E27FC236}">
                    <a16:creationId xmlns:a16="http://schemas.microsoft.com/office/drawing/2014/main" id="{74F45CC4-C80A-C244-4C80-9517C69560D6}"/>
                  </a:ext>
                </a:extLst>
              </p:cNvPr>
              <p:cNvSpPr txBox="1">
                <a:spLocks noRot="1" noChangeAspect="1" noMove="1" noResize="1" noEditPoints="1" noAdjustHandles="1" noChangeArrowheads="1" noChangeShapeType="1" noTextEdit="1"/>
              </p:cNvSpPr>
              <p:nvPr/>
            </p:nvSpPr>
            <p:spPr>
              <a:xfrm>
                <a:off x="8262497" y="630090"/>
                <a:ext cx="2023782" cy="369332"/>
              </a:xfrm>
              <a:prstGeom prst="rect">
                <a:avLst/>
              </a:prstGeom>
              <a:blipFill>
                <a:blip r:embed="rId16"/>
                <a:stretch>
                  <a:fillRect l="-241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53AB4D1-2B2E-9825-E745-0954A43C73FF}"/>
                  </a:ext>
                </a:extLst>
              </p:cNvPr>
              <p:cNvSpPr txBox="1"/>
              <p:nvPr/>
            </p:nvSpPr>
            <p:spPr>
              <a:xfrm>
                <a:off x="6683007" y="3182471"/>
                <a:ext cx="5042828" cy="2585323"/>
              </a:xfrm>
              <a:prstGeom prst="rect">
                <a:avLst/>
              </a:prstGeom>
              <a:noFill/>
            </p:spPr>
            <p:txBody>
              <a:bodyPr wrap="square" rtlCol="0">
                <a:spAutoFit/>
              </a:bodyPr>
              <a:lstStyle/>
              <a:p>
                <a:r>
                  <a:rPr lang="en-US" dirty="0"/>
                  <a:t>If any such profile is a Nash Equilibrium, then for any given person who does </a:t>
                </a:r>
                <a:r>
                  <a:rPr lang="en-US" i="1" dirty="0"/>
                  <a:t>in</a:t>
                </a:r>
                <a:r>
                  <a:rPr lang="en-US" dirty="0"/>
                  <a:t> in that profile, doing </a:t>
                </a:r>
                <a:r>
                  <a:rPr lang="en-US" i="1" dirty="0"/>
                  <a:t>in</a:t>
                </a:r>
                <a:r>
                  <a:rPr lang="en-US" dirty="0"/>
                  <a:t> must be a best response to the expectation that a number </a:t>
                </a:r>
                <a14:m>
                  <m:oMath xmlns:m="http://schemas.openxmlformats.org/officeDocument/2006/math">
                    <m:r>
                      <a:rPr lang="en-US" b="0" i="1" smtClean="0">
                        <a:latin typeface="Cambria Math" panose="02040503050406030204" pitchFamily="18" charset="0"/>
                      </a:rPr>
                      <m:t>𝐾</m:t>
                    </m:r>
                  </m:oMath>
                </a14:m>
                <a:r>
                  <a:rPr lang="en-US" dirty="0"/>
                  <a:t> of the other persons do </a:t>
                </a:r>
                <a:r>
                  <a:rPr lang="en-US" i="1" dirty="0"/>
                  <a:t>in</a:t>
                </a:r>
                <a:r>
                  <a:rPr lang="en-US" dirty="0"/>
                  <a:t>, where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&gt;</m:t>
                    </m:r>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a:t>
                </a:r>
              </a:p>
              <a:p>
                <a:r>
                  <a:rPr lang="en-US" dirty="0"/>
                  <a:t>Since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&gt;</m:t>
                    </m:r>
                    <m:r>
                      <a:rPr lang="en-US" b="0" i="1" smtClean="0">
                        <a:latin typeface="Cambria Math" panose="02040503050406030204" pitchFamily="18" charset="0"/>
                      </a:rPr>
                      <m:t>𝑆</m:t>
                    </m:r>
                    <m:r>
                      <a:rPr lang="en-US" b="0" i="1" smtClean="0">
                        <a:latin typeface="Cambria Math" panose="02040503050406030204" pitchFamily="18" charset="0"/>
                      </a:rPr>
                      <m:t>−1</m:t>
                    </m:r>
                  </m:oMath>
                </a14:m>
                <a:r>
                  <a:rPr lang="en-US" dirty="0"/>
                  <a:t>, </a:t>
                </a:r>
                <a14:m>
                  <m:oMath xmlns:m="http://schemas.openxmlformats.org/officeDocument/2006/math">
                    <m:r>
                      <a:rPr lang="en-US" b="0" i="1" smtClean="0">
                        <a:latin typeface="Cambria Math" panose="02040503050406030204" pitchFamily="18" charset="0"/>
                      </a:rPr>
                      <m:t>𝐾</m:t>
                    </m:r>
                  </m:oMath>
                </a14:m>
                <a:r>
                  <a:rPr lang="en-US" dirty="0"/>
                  <a:t> is not less than </a:t>
                </a:r>
                <a14:m>
                  <m:oMath xmlns:m="http://schemas.openxmlformats.org/officeDocument/2006/math">
                    <m:r>
                      <a:rPr lang="en-US" b="0" i="1" smtClean="0">
                        <a:latin typeface="Cambria Math" panose="02040503050406030204" pitchFamily="18" charset="0"/>
                      </a:rPr>
                      <m:t>𝑆</m:t>
                    </m:r>
                  </m:oMath>
                </a14:m>
                <a:r>
                  <a:rPr lang="en-US" dirty="0"/>
                  <a:t>.  Thus, given this expectation, this person’s utility from </a:t>
                </a:r>
                <a:r>
                  <a:rPr lang="en-US" i="1" dirty="0"/>
                  <a:t>in </a:t>
                </a:r>
                <a:r>
                  <a:rPr lang="en-US" dirty="0"/>
                  <a:t>is -1.  So, since her utility from </a:t>
                </a:r>
                <a:r>
                  <a:rPr lang="en-US" i="1" dirty="0"/>
                  <a:t>out</a:t>
                </a:r>
                <a:r>
                  <a:rPr lang="en-US" dirty="0"/>
                  <a:t> is 0, </a:t>
                </a:r>
                <a:r>
                  <a:rPr lang="en-US" i="1" dirty="0"/>
                  <a:t>in</a:t>
                </a:r>
                <a:r>
                  <a:rPr lang="en-US" dirty="0"/>
                  <a:t> is NOT a BR to this expectation!</a:t>
                </a:r>
              </a:p>
            </p:txBody>
          </p:sp>
        </mc:Choice>
        <mc:Fallback xmlns="">
          <p:sp>
            <p:nvSpPr>
              <p:cNvPr id="51" name="TextBox 50">
                <a:extLst>
                  <a:ext uri="{FF2B5EF4-FFF2-40B4-BE49-F238E27FC236}">
                    <a16:creationId xmlns:a16="http://schemas.microsoft.com/office/drawing/2014/main" id="{D53AB4D1-2B2E-9825-E745-0954A43C73FF}"/>
                  </a:ext>
                </a:extLst>
              </p:cNvPr>
              <p:cNvSpPr txBox="1">
                <a:spLocks noRot="1" noChangeAspect="1" noMove="1" noResize="1" noEditPoints="1" noAdjustHandles="1" noChangeArrowheads="1" noChangeShapeType="1" noTextEdit="1"/>
              </p:cNvSpPr>
              <p:nvPr/>
            </p:nvSpPr>
            <p:spPr>
              <a:xfrm>
                <a:off x="6683007" y="3182471"/>
                <a:ext cx="5042828" cy="2585323"/>
              </a:xfrm>
              <a:prstGeom prst="rect">
                <a:avLst/>
              </a:prstGeom>
              <a:blipFill>
                <a:blip r:embed="rId17"/>
                <a:stretch>
                  <a:fillRect l="-966" t="-1179" r="-1570" b="-2830"/>
                </a:stretch>
              </a:blipFill>
            </p:spPr>
            <p:txBody>
              <a:bodyPr/>
              <a:lstStyle/>
              <a:p>
                <a:r>
                  <a:rPr lang="en-US">
                    <a:noFill/>
                  </a:rPr>
                  <a:t> </a:t>
                </a:r>
              </a:p>
            </p:txBody>
          </p:sp>
        </mc:Fallback>
      </mc:AlternateContent>
      <p:sp>
        <p:nvSpPr>
          <p:cNvPr id="52" name="Rectangle 51">
            <a:extLst>
              <a:ext uri="{FF2B5EF4-FFF2-40B4-BE49-F238E27FC236}">
                <a16:creationId xmlns:a16="http://schemas.microsoft.com/office/drawing/2014/main" id="{97AD13E4-AAC8-406C-B138-6CB83471A33E}"/>
              </a:ext>
            </a:extLst>
          </p:cNvPr>
          <p:cNvSpPr/>
          <p:nvPr/>
        </p:nvSpPr>
        <p:spPr>
          <a:xfrm>
            <a:off x="6718871" y="3511359"/>
            <a:ext cx="2830597" cy="265663"/>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02150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8A793-C2DA-1FA0-108F-48B81607314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F07EDE3-953D-DA0D-B08A-6457263E5162}"/>
              </a:ext>
            </a:extLst>
          </p:cNvPr>
          <p:cNvPicPr>
            <a:picLocks noChangeAspect="1"/>
          </p:cNvPicPr>
          <p:nvPr/>
        </p:nvPicPr>
        <p:blipFill>
          <a:blip r:embed="rId2"/>
          <a:stretch>
            <a:fillRect/>
          </a:stretch>
        </p:blipFill>
        <p:spPr>
          <a:xfrm>
            <a:off x="344248" y="1388585"/>
            <a:ext cx="5173351" cy="5368016"/>
          </a:xfrm>
          <a:prstGeom prst="rect">
            <a:avLst/>
          </a:prstGeom>
        </p:spPr>
      </p:pic>
      <p:sp>
        <p:nvSpPr>
          <p:cNvPr id="2" name="TextBox 1">
            <a:extLst>
              <a:ext uri="{FF2B5EF4-FFF2-40B4-BE49-F238E27FC236}">
                <a16:creationId xmlns:a16="http://schemas.microsoft.com/office/drawing/2014/main" id="{5136D22E-5839-239C-3241-3AB3EA5BBFD6}"/>
              </a:ext>
            </a:extLst>
          </p:cNvPr>
          <p:cNvSpPr txBox="1"/>
          <p:nvPr/>
        </p:nvSpPr>
        <p:spPr>
          <a:xfrm>
            <a:off x="206188" y="188256"/>
            <a:ext cx="3290047" cy="1200329"/>
          </a:xfrm>
          <a:prstGeom prst="rect">
            <a:avLst/>
          </a:prstGeom>
          <a:solidFill>
            <a:schemeClr val="bg1"/>
          </a:solidFill>
          <a:ln>
            <a:solidFill>
              <a:schemeClr val="tx1"/>
            </a:solidFill>
          </a:ln>
        </p:spPr>
        <p:txBody>
          <a:bodyPr wrap="square" rtlCol="0">
            <a:spAutoFit/>
          </a:bodyPr>
          <a:lstStyle/>
          <a:p>
            <a:r>
              <a:rPr lang="en-US" dirty="0"/>
              <a:t>Steps in Identifying NE</a:t>
            </a:r>
          </a:p>
          <a:p>
            <a:pPr marL="342900" indent="-342900">
              <a:buAutoNum type="arabicPeriod"/>
            </a:pPr>
            <a:r>
              <a:rPr lang="en-US" dirty="0"/>
              <a:t>List all profiles.</a:t>
            </a:r>
          </a:p>
          <a:p>
            <a:pPr marL="342900" indent="-342900">
              <a:buAutoNum type="arabicPeriod"/>
            </a:pPr>
            <a:r>
              <a:rPr lang="en-US" dirty="0"/>
              <a:t>Break them up into groups.</a:t>
            </a:r>
          </a:p>
          <a:p>
            <a:pPr marL="342900" indent="-342900">
              <a:buAutoNum type="arabicPeriod"/>
            </a:pPr>
            <a:r>
              <a:rPr lang="en-US" dirty="0"/>
              <a:t>Check  each group</a:t>
            </a:r>
          </a:p>
        </p:txBody>
      </p:sp>
      <p:sp>
        <p:nvSpPr>
          <p:cNvPr id="3" name="TextBox 2">
            <a:extLst>
              <a:ext uri="{FF2B5EF4-FFF2-40B4-BE49-F238E27FC236}">
                <a16:creationId xmlns:a16="http://schemas.microsoft.com/office/drawing/2014/main" id="{88EA1D23-8487-D49C-3339-52E3F128129D}"/>
              </a:ext>
            </a:extLst>
          </p:cNvPr>
          <p:cNvSpPr txBox="1"/>
          <p:nvPr/>
        </p:nvSpPr>
        <p:spPr>
          <a:xfrm>
            <a:off x="7476566" y="180145"/>
            <a:ext cx="4052047" cy="369332"/>
          </a:xfrm>
          <a:prstGeom prst="rect">
            <a:avLst/>
          </a:prstGeom>
          <a:noFill/>
        </p:spPr>
        <p:txBody>
          <a:bodyPr wrap="square" rtlCol="0">
            <a:spAutoFit/>
          </a:bodyPr>
          <a:lstStyle/>
          <a:p>
            <a:pPr algn="ctr"/>
            <a:r>
              <a:rPr lang="en-US" b="1" u="sng" dirty="0"/>
              <a:t>STEP 3: CHECK EACH GROUP</a:t>
            </a:r>
          </a:p>
        </p:txBody>
      </p:sp>
      <p:pic>
        <p:nvPicPr>
          <p:cNvPr id="132" name="Graphic 131" descr="Checkmark with solid fill">
            <a:extLst>
              <a:ext uri="{FF2B5EF4-FFF2-40B4-BE49-F238E27FC236}">
                <a16:creationId xmlns:a16="http://schemas.microsoft.com/office/drawing/2014/main" id="{AE45E0AE-C381-69BA-884A-C5EEB7BCF9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155697"/>
            <a:ext cx="632724" cy="632724"/>
          </a:xfrm>
          <a:prstGeom prst="rect">
            <a:avLst/>
          </a:prstGeom>
        </p:spPr>
      </p:pic>
      <p:sp>
        <p:nvSpPr>
          <p:cNvPr id="131" name="Left Brace 130">
            <a:extLst>
              <a:ext uri="{FF2B5EF4-FFF2-40B4-BE49-F238E27FC236}">
                <a16:creationId xmlns:a16="http://schemas.microsoft.com/office/drawing/2014/main" id="{028E1DA4-B029-69D8-7B9D-828559D52761}"/>
              </a:ext>
            </a:extLst>
          </p:cNvPr>
          <p:cNvSpPr/>
          <p:nvPr/>
        </p:nvSpPr>
        <p:spPr>
          <a:xfrm>
            <a:off x="6683007" y="760982"/>
            <a:ext cx="1268686" cy="204982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3" name="Left Brace 132">
            <a:extLst>
              <a:ext uri="{FF2B5EF4-FFF2-40B4-BE49-F238E27FC236}">
                <a16:creationId xmlns:a16="http://schemas.microsoft.com/office/drawing/2014/main" id="{7541D39B-B8EC-D201-8E99-981999C3BA86}"/>
              </a:ext>
            </a:extLst>
          </p:cNvPr>
          <p:cNvSpPr/>
          <p:nvPr/>
        </p:nvSpPr>
        <p:spPr>
          <a:xfrm>
            <a:off x="6625808" y="2970274"/>
            <a:ext cx="1366761" cy="1670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Left Brace 133">
            <a:extLst>
              <a:ext uri="{FF2B5EF4-FFF2-40B4-BE49-F238E27FC236}">
                <a16:creationId xmlns:a16="http://schemas.microsoft.com/office/drawing/2014/main" id="{3110F4E0-69FD-DC5A-DEE8-15AA22B5601F}"/>
              </a:ext>
            </a:extLst>
          </p:cNvPr>
          <p:cNvSpPr/>
          <p:nvPr/>
        </p:nvSpPr>
        <p:spPr>
          <a:xfrm>
            <a:off x="6651809" y="4712671"/>
            <a:ext cx="1340760" cy="185474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F6431C25-3DF9-C87A-35F6-FB0DA5D028EA}"/>
                  </a:ext>
                </a:extLst>
              </p:cNvPr>
              <p:cNvSpPr txBox="1"/>
              <p:nvPr/>
            </p:nvSpPr>
            <p:spPr>
              <a:xfrm rot="20086457">
                <a:off x="4840993" y="1525265"/>
                <a:ext cx="2023782" cy="369332"/>
              </a:xfrm>
              <a:prstGeom prst="rect">
                <a:avLst/>
              </a:prstGeom>
              <a:solidFill>
                <a:schemeClr val="tx1"/>
              </a:solidFill>
            </p:spPr>
            <p:txBody>
              <a:bodyPr wrap="square" rtlCol="0">
                <a:spAutoFit/>
              </a:bodyPr>
              <a:lstStyle/>
              <a:p>
                <a:r>
                  <a:rPr lang="en-US" dirty="0">
                    <a:solidFill>
                      <a:schemeClr val="bg1"/>
                    </a:solidFill>
                  </a:rPr>
                  <a:t>fewer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5" name="TextBox 134">
                <a:extLst>
                  <a:ext uri="{FF2B5EF4-FFF2-40B4-BE49-F238E27FC236}">
                    <a16:creationId xmlns:a16="http://schemas.microsoft.com/office/drawing/2014/main" id="{F6431C25-3DF9-C87A-35F6-FB0DA5D028EA}"/>
                  </a:ext>
                </a:extLst>
              </p:cNvPr>
              <p:cNvSpPr txBox="1">
                <a:spLocks noRot="1" noChangeAspect="1" noMove="1" noResize="1" noEditPoints="1" noAdjustHandles="1" noChangeArrowheads="1" noChangeShapeType="1" noTextEdit="1"/>
              </p:cNvSpPr>
              <p:nvPr/>
            </p:nvSpPr>
            <p:spPr>
              <a:xfrm rot="20086457">
                <a:off x="4840993" y="1525265"/>
                <a:ext cx="2023782" cy="369332"/>
              </a:xfrm>
              <a:prstGeom prst="rect">
                <a:avLst/>
              </a:prstGeom>
              <a:blipFill>
                <a:blip r:embed="rId5"/>
                <a:stretch>
                  <a:fillRect l="-3058"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F73CC1BF-A53A-929E-86F2-A953D9030650}"/>
                  </a:ext>
                </a:extLst>
              </p:cNvPr>
              <p:cNvSpPr txBox="1"/>
              <p:nvPr/>
            </p:nvSpPr>
            <p:spPr>
              <a:xfrm rot="20086457">
                <a:off x="4904276" y="3512471"/>
                <a:ext cx="2023782" cy="369332"/>
              </a:xfrm>
              <a:prstGeom prst="rect">
                <a:avLst/>
              </a:prstGeom>
              <a:solidFill>
                <a:schemeClr val="tx1"/>
              </a:solidFill>
            </p:spPr>
            <p:txBody>
              <a:bodyPr wrap="square" rtlCol="0">
                <a:spAutoFit/>
              </a:bodyPr>
              <a:lstStyle/>
              <a:p>
                <a:r>
                  <a:rPr lang="en-US" b="0" dirty="0">
                    <a:solidFill>
                      <a:schemeClr val="bg1"/>
                    </a:solidFill>
                  </a:rPr>
                  <a:t>exactly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6" name="TextBox 135">
                <a:extLst>
                  <a:ext uri="{FF2B5EF4-FFF2-40B4-BE49-F238E27FC236}">
                    <a16:creationId xmlns:a16="http://schemas.microsoft.com/office/drawing/2014/main" id="{F73CC1BF-A53A-929E-86F2-A953D9030650}"/>
                  </a:ext>
                </a:extLst>
              </p:cNvPr>
              <p:cNvSpPr txBox="1">
                <a:spLocks noRot="1" noChangeAspect="1" noMove="1" noResize="1" noEditPoints="1" noAdjustHandles="1" noChangeArrowheads="1" noChangeShapeType="1" noTextEdit="1"/>
              </p:cNvSpPr>
              <p:nvPr/>
            </p:nvSpPr>
            <p:spPr>
              <a:xfrm rot="20086457">
                <a:off x="4904276" y="3512471"/>
                <a:ext cx="2023782" cy="369332"/>
              </a:xfrm>
              <a:prstGeom prst="rect">
                <a:avLst/>
              </a:prstGeom>
              <a:blipFill>
                <a:blip r:embed="rId6"/>
                <a:stretch>
                  <a:fillRect l="-2752" b="-8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371F1735-80E8-3E15-62DF-D4945B25E32B}"/>
                  </a:ext>
                </a:extLst>
              </p:cNvPr>
              <p:cNvSpPr txBox="1"/>
              <p:nvPr/>
            </p:nvSpPr>
            <p:spPr>
              <a:xfrm rot="20086457">
                <a:off x="4668417" y="5407545"/>
                <a:ext cx="2023782" cy="369332"/>
              </a:xfrm>
              <a:prstGeom prst="rect">
                <a:avLst/>
              </a:prstGeom>
              <a:solidFill>
                <a:schemeClr val="tx1"/>
              </a:solidFill>
            </p:spPr>
            <p:txBody>
              <a:bodyPr wrap="square" rtlCol="0">
                <a:spAutoFit/>
              </a:bodyPr>
              <a:lstStyle/>
              <a:p>
                <a:r>
                  <a:rPr lang="en-US" b="0" dirty="0">
                    <a:solidFill>
                      <a:schemeClr val="bg1"/>
                    </a:solidFill>
                  </a:rPr>
                  <a:t>more than </a:t>
                </a:r>
                <a14:m>
                  <m:oMath xmlns:m="http://schemas.openxmlformats.org/officeDocument/2006/math">
                    <m:r>
                      <a:rPr lang="en-US" b="0" i="1" smtClean="0">
                        <a:solidFill>
                          <a:schemeClr val="bg1"/>
                        </a:solidFill>
                        <a:latin typeface="Cambria Math" panose="02040503050406030204" pitchFamily="18" charset="0"/>
                      </a:rPr>
                      <m:t>𝑆</m:t>
                    </m:r>
                  </m:oMath>
                </a14:m>
                <a:r>
                  <a:rPr lang="en-US" dirty="0">
                    <a:solidFill>
                      <a:schemeClr val="bg1"/>
                    </a:solidFill>
                  </a:rPr>
                  <a:t> do </a:t>
                </a:r>
                <a:r>
                  <a:rPr lang="en-US" i="1" dirty="0">
                    <a:solidFill>
                      <a:schemeClr val="bg1"/>
                    </a:solidFill>
                  </a:rPr>
                  <a:t>in</a:t>
                </a:r>
                <a:endParaRPr lang="en-US" dirty="0">
                  <a:solidFill>
                    <a:schemeClr val="bg1"/>
                  </a:solidFill>
                </a:endParaRPr>
              </a:p>
            </p:txBody>
          </p:sp>
        </mc:Choice>
        <mc:Fallback xmlns="">
          <p:sp>
            <p:nvSpPr>
              <p:cNvPr id="137" name="TextBox 136">
                <a:extLst>
                  <a:ext uri="{FF2B5EF4-FFF2-40B4-BE49-F238E27FC236}">
                    <a16:creationId xmlns:a16="http://schemas.microsoft.com/office/drawing/2014/main" id="{371F1735-80E8-3E15-62DF-D4945B25E32B}"/>
                  </a:ext>
                </a:extLst>
              </p:cNvPr>
              <p:cNvSpPr txBox="1">
                <a:spLocks noRot="1" noChangeAspect="1" noMove="1" noResize="1" noEditPoints="1" noAdjustHandles="1" noChangeArrowheads="1" noChangeShapeType="1" noTextEdit="1"/>
              </p:cNvSpPr>
              <p:nvPr/>
            </p:nvSpPr>
            <p:spPr>
              <a:xfrm rot="20086457">
                <a:off x="4668417" y="5407545"/>
                <a:ext cx="2023782" cy="369332"/>
              </a:xfrm>
              <a:prstGeom prst="rect">
                <a:avLst/>
              </a:prstGeom>
              <a:blipFill>
                <a:blip r:embed="rId7"/>
                <a:stretch>
                  <a:fillRect l="-2752" b="-86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1E792FD1-263C-42AF-9958-A3FCF6DEE3FB}"/>
              </a:ext>
            </a:extLst>
          </p:cNvPr>
          <p:cNvSpPr/>
          <p:nvPr/>
        </p:nvSpPr>
        <p:spPr>
          <a:xfrm>
            <a:off x="7693781" y="98611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E6F3BC83-2626-702B-83F9-E851DEABFF5F}"/>
              </a:ext>
            </a:extLst>
          </p:cNvPr>
          <p:cNvSpPr/>
          <p:nvPr/>
        </p:nvSpPr>
        <p:spPr>
          <a:xfrm>
            <a:off x="8272093" y="1174516"/>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9002B6D2-E410-2900-FE01-C2C578FD8DF0}"/>
              </a:ext>
            </a:extLst>
          </p:cNvPr>
          <p:cNvSpPr/>
          <p:nvPr/>
        </p:nvSpPr>
        <p:spPr>
          <a:xfrm>
            <a:off x="8173393" y="171633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DF9003E9-7980-8C8D-A899-AB9BE0570DE1}"/>
              </a:ext>
            </a:extLst>
          </p:cNvPr>
          <p:cNvSpPr/>
          <p:nvPr/>
        </p:nvSpPr>
        <p:spPr>
          <a:xfrm>
            <a:off x="8805495" y="1300022"/>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437EB72-BA8A-DA95-2883-ED81E6CF12E8}"/>
              </a:ext>
            </a:extLst>
          </p:cNvPr>
          <p:cNvSpPr/>
          <p:nvPr/>
        </p:nvSpPr>
        <p:spPr>
          <a:xfrm>
            <a:off x="7864290" y="129893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30FAEAE4-64F7-52BE-746C-85DBD3A1ABFA}"/>
              </a:ext>
            </a:extLst>
          </p:cNvPr>
          <p:cNvSpPr/>
          <p:nvPr/>
        </p:nvSpPr>
        <p:spPr>
          <a:xfrm>
            <a:off x="10813497" y="116183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21FDDCC2-8894-13EA-2379-0229EA08436A}"/>
              </a:ext>
            </a:extLst>
          </p:cNvPr>
          <p:cNvSpPr/>
          <p:nvPr/>
        </p:nvSpPr>
        <p:spPr>
          <a:xfrm>
            <a:off x="10991269" y="1670351"/>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33EE21A9-7129-3318-DCC8-B65BA0DB743A}"/>
              </a:ext>
            </a:extLst>
          </p:cNvPr>
          <p:cNvSpPr/>
          <p:nvPr/>
        </p:nvSpPr>
        <p:spPr>
          <a:xfrm>
            <a:off x="10242086" y="141284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56AB37BD-88B7-3A40-4CC8-8195D8F60437}"/>
              </a:ext>
            </a:extLst>
          </p:cNvPr>
          <p:cNvSpPr/>
          <p:nvPr/>
        </p:nvSpPr>
        <p:spPr>
          <a:xfrm>
            <a:off x="10273549" y="986118"/>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9F2607E-486C-FA8C-C6E0-F5E5923686F1}"/>
              </a:ext>
            </a:extLst>
          </p:cNvPr>
          <p:cNvSpPr/>
          <p:nvPr/>
        </p:nvSpPr>
        <p:spPr>
          <a:xfrm>
            <a:off x="9934957" y="976208"/>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69753DC-CCA1-E929-77D9-8677A51EA834}"/>
                  </a:ext>
                </a:extLst>
              </p:cNvPr>
              <p:cNvSpPr txBox="1"/>
              <p:nvPr/>
            </p:nvSpPr>
            <p:spPr>
              <a:xfrm>
                <a:off x="7641024" y="2164471"/>
                <a:ext cx="1566760" cy="646331"/>
              </a:xfrm>
              <a:prstGeom prst="rect">
                <a:avLst/>
              </a:prstGeom>
              <a:noFill/>
            </p:spPr>
            <p:txBody>
              <a:bodyPr wrap="square" rtlCol="0">
                <a:spAutoFit/>
              </a:bodyPr>
              <a:lstStyle/>
              <a:p>
                <a:pPr algn="ctr"/>
                <a:r>
                  <a:rPr lang="en-US" dirty="0"/>
                  <a:t>fewer than </a:t>
                </a:r>
                <a14:m>
                  <m:oMath xmlns:m="http://schemas.openxmlformats.org/officeDocument/2006/math">
                    <m:r>
                      <a:rPr lang="en-US" b="0" i="1" smtClean="0">
                        <a:latin typeface="Cambria Math" panose="02040503050406030204" pitchFamily="18" charset="0"/>
                      </a:rPr>
                      <m:t>𝑆</m:t>
                    </m:r>
                  </m:oMath>
                </a14:m>
                <a:br>
                  <a:rPr lang="en-US" dirty="0"/>
                </a:br>
                <a:r>
                  <a:rPr lang="en-US" dirty="0"/>
                  <a:t>(possibly zero)</a:t>
                </a:r>
              </a:p>
            </p:txBody>
          </p:sp>
        </mc:Choice>
        <mc:Fallback xmlns="">
          <p:sp>
            <p:nvSpPr>
              <p:cNvPr id="7" name="TextBox 6">
                <a:extLst>
                  <a:ext uri="{FF2B5EF4-FFF2-40B4-BE49-F238E27FC236}">
                    <a16:creationId xmlns:a16="http://schemas.microsoft.com/office/drawing/2014/main" id="{669753DC-CCA1-E929-77D9-8677A51EA834}"/>
                  </a:ext>
                </a:extLst>
              </p:cNvPr>
              <p:cNvSpPr txBox="1">
                <a:spLocks noRot="1" noChangeAspect="1" noMove="1" noResize="1" noEditPoints="1" noAdjustHandles="1" noChangeArrowheads="1" noChangeShapeType="1" noTextEdit="1"/>
              </p:cNvSpPr>
              <p:nvPr/>
            </p:nvSpPr>
            <p:spPr>
              <a:xfrm>
                <a:off x="7641024" y="2164471"/>
                <a:ext cx="1566760" cy="646331"/>
              </a:xfrm>
              <a:prstGeom prst="rect">
                <a:avLst/>
              </a:prstGeom>
              <a:blipFill>
                <a:blip r:embed="rId8"/>
                <a:stretch>
                  <a:fillRect l="-1946" t="-4717" r="-1946"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6755A7-3CE6-2BAF-A7E5-02976C807360}"/>
                  </a:ext>
                </a:extLst>
              </p:cNvPr>
              <p:cNvSpPr txBox="1"/>
              <p:nvPr/>
            </p:nvSpPr>
            <p:spPr>
              <a:xfrm>
                <a:off x="9708419" y="2190999"/>
                <a:ext cx="1914321" cy="646331"/>
              </a:xfrm>
              <a:prstGeom prst="rect">
                <a:avLst/>
              </a:prstGeom>
              <a:noFill/>
            </p:spPr>
            <p:txBody>
              <a:bodyPr wrap="square" rtlCol="0">
                <a:spAutoFit/>
              </a:bodyPr>
              <a:lstStyle/>
              <a:p>
                <a:pPr algn="ctr"/>
                <a:r>
                  <a:rPr lang="en-US" dirty="0"/>
                  <a:t>more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(at least 1)</a:t>
                </a:r>
              </a:p>
            </p:txBody>
          </p:sp>
        </mc:Choice>
        <mc:Fallback xmlns="">
          <p:sp>
            <p:nvSpPr>
              <p:cNvPr id="8" name="TextBox 7">
                <a:extLst>
                  <a:ext uri="{FF2B5EF4-FFF2-40B4-BE49-F238E27FC236}">
                    <a16:creationId xmlns:a16="http://schemas.microsoft.com/office/drawing/2014/main" id="{D66755A7-3CE6-2BAF-A7E5-02976C807360}"/>
                  </a:ext>
                </a:extLst>
              </p:cNvPr>
              <p:cNvSpPr txBox="1">
                <a:spLocks noRot="1" noChangeAspect="1" noMove="1" noResize="1" noEditPoints="1" noAdjustHandles="1" noChangeArrowheads="1" noChangeShapeType="1" noTextEdit="1"/>
              </p:cNvSpPr>
              <p:nvPr/>
            </p:nvSpPr>
            <p:spPr>
              <a:xfrm>
                <a:off x="9708419" y="2190999"/>
                <a:ext cx="1914321" cy="646331"/>
              </a:xfrm>
              <a:prstGeom prst="rect">
                <a:avLst/>
              </a:prstGeom>
              <a:blipFill>
                <a:blip r:embed="rId9"/>
                <a:stretch>
                  <a:fillRect t="-4717" b="-14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1510D551-615F-2BE8-D726-23B08F2AB61C}"/>
              </a:ext>
            </a:extLst>
          </p:cNvPr>
          <p:cNvSpPr/>
          <p:nvPr/>
        </p:nvSpPr>
        <p:spPr>
          <a:xfrm>
            <a:off x="7666882" y="309278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F08EA9C-7448-8372-1790-5F0114F7C42C}"/>
              </a:ext>
            </a:extLst>
          </p:cNvPr>
          <p:cNvSpPr/>
          <p:nvPr/>
        </p:nvSpPr>
        <p:spPr>
          <a:xfrm>
            <a:off x="8245194" y="3281187"/>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C7BF2F4-FDCD-3FFE-4229-8FF45E02A6E8}"/>
              </a:ext>
            </a:extLst>
          </p:cNvPr>
          <p:cNvSpPr/>
          <p:nvPr/>
        </p:nvSpPr>
        <p:spPr>
          <a:xfrm>
            <a:off x="8146494" y="382300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0ACA5E7-D2F5-6D00-3F57-5F8C09419FD3}"/>
              </a:ext>
            </a:extLst>
          </p:cNvPr>
          <p:cNvSpPr/>
          <p:nvPr/>
        </p:nvSpPr>
        <p:spPr>
          <a:xfrm>
            <a:off x="8778596" y="3406693"/>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F3E36C1-A335-1BFB-59D7-697C87333598}"/>
              </a:ext>
            </a:extLst>
          </p:cNvPr>
          <p:cNvSpPr/>
          <p:nvPr/>
        </p:nvSpPr>
        <p:spPr>
          <a:xfrm>
            <a:off x="7837391" y="340560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32954CE-2C03-5D32-93B0-1846E7B441C3}"/>
              </a:ext>
            </a:extLst>
          </p:cNvPr>
          <p:cNvSpPr/>
          <p:nvPr/>
        </p:nvSpPr>
        <p:spPr>
          <a:xfrm>
            <a:off x="10786598" y="326850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FF30216-3709-4C12-AD67-E84E1A4E467E}"/>
              </a:ext>
            </a:extLst>
          </p:cNvPr>
          <p:cNvSpPr/>
          <p:nvPr/>
        </p:nvSpPr>
        <p:spPr>
          <a:xfrm>
            <a:off x="10964370" y="3777022"/>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F74E0AA-297A-5518-B329-720E429E0EDF}"/>
              </a:ext>
            </a:extLst>
          </p:cNvPr>
          <p:cNvSpPr/>
          <p:nvPr/>
        </p:nvSpPr>
        <p:spPr>
          <a:xfrm>
            <a:off x="10215187" y="3519520"/>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0B386D1-1367-9140-5CCC-9A2C94909115}"/>
              </a:ext>
            </a:extLst>
          </p:cNvPr>
          <p:cNvSpPr/>
          <p:nvPr/>
        </p:nvSpPr>
        <p:spPr>
          <a:xfrm>
            <a:off x="10246650" y="3092789"/>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4A27FC-7D1C-7771-884E-03A52804E0CF}"/>
              </a:ext>
            </a:extLst>
          </p:cNvPr>
          <p:cNvSpPr/>
          <p:nvPr/>
        </p:nvSpPr>
        <p:spPr>
          <a:xfrm>
            <a:off x="9908058" y="3082879"/>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13FF653-D368-AA11-F827-5D326968C64E}"/>
                  </a:ext>
                </a:extLst>
              </p:cNvPr>
              <p:cNvSpPr txBox="1"/>
              <p:nvPr/>
            </p:nvSpPr>
            <p:spPr>
              <a:xfrm>
                <a:off x="7614125" y="4271142"/>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19" name="TextBox 18">
                <a:extLst>
                  <a:ext uri="{FF2B5EF4-FFF2-40B4-BE49-F238E27FC236}">
                    <a16:creationId xmlns:a16="http://schemas.microsoft.com/office/drawing/2014/main" id="{813FF653-D368-AA11-F827-5D326968C64E}"/>
                  </a:ext>
                </a:extLst>
              </p:cNvPr>
              <p:cNvSpPr txBox="1">
                <a:spLocks noRot="1" noChangeAspect="1" noMove="1" noResize="1" noEditPoints="1" noAdjustHandles="1" noChangeArrowheads="1" noChangeShapeType="1" noTextEdit="1"/>
              </p:cNvSpPr>
              <p:nvPr/>
            </p:nvSpPr>
            <p:spPr>
              <a:xfrm>
                <a:off x="7614125" y="4271142"/>
                <a:ext cx="1566760" cy="369332"/>
              </a:xfrm>
              <a:prstGeom prst="rect">
                <a:avLst/>
              </a:prstGeom>
              <a:blipFill>
                <a:blip r:embed="rId10"/>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FF70D2A-6122-660E-1BB6-DEA0C41C5AA0}"/>
                  </a:ext>
                </a:extLst>
              </p:cNvPr>
              <p:cNvSpPr txBox="1"/>
              <p:nvPr/>
            </p:nvSpPr>
            <p:spPr>
              <a:xfrm>
                <a:off x="9882199" y="4280008"/>
                <a:ext cx="1566760" cy="369332"/>
              </a:xfrm>
              <a:prstGeom prst="rect">
                <a:avLst/>
              </a:prstGeom>
              <a:noFill/>
            </p:spPr>
            <p:txBody>
              <a:bodyPr wrap="square" rtlCol="0">
                <a:spAutoFit/>
              </a:bodyPr>
              <a:lstStyle/>
              <a:p>
                <a:pPr algn="ctr"/>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p:txBody>
          </p:sp>
        </mc:Choice>
        <mc:Fallback xmlns="">
          <p:sp>
            <p:nvSpPr>
              <p:cNvPr id="21" name="TextBox 20">
                <a:extLst>
                  <a:ext uri="{FF2B5EF4-FFF2-40B4-BE49-F238E27FC236}">
                    <a16:creationId xmlns:a16="http://schemas.microsoft.com/office/drawing/2014/main" id="{4FF70D2A-6122-660E-1BB6-DEA0C41C5AA0}"/>
                  </a:ext>
                </a:extLst>
              </p:cNvPr>
              <p:cNvSpPr txBox="1">
                <a:spLocks noRot="1" noChangeAspect="1" noMove="1" noResize="1" noEditPoints="1" noAdjustHandles="1" noChangeArrowheads="1" noChangeShapeType="1" noTextEdit="1"/>
              </p:cNvSpPr>
              <p:nvPr/>
            </p:nvSpPr>
            <p:spPr>
              <a:xfrm>
                <a:off x="9882199" y="4280008"/>
                <a:ext cx="1566760" cy="369332"/>
              </a:xfrm>
              <a:prstGeom prst="rect">
                <a:avLst/>
              </a:prstGeom>
              <a:blipFill>
                <a:blip r:embed="rId11"/>
                <a:stretch>
                  <a:fillRect t="-8197" b="-2459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6D121F81-9683-5256-A692-4A368F5396C5}"/>
              </a:ext>
            </a:extLst>
          </p:cNvPr>
          <p:cNvSpPr/>
          <p:nvPr/>
        </p:nvSpPr>
        <p:spPr>
          <a:xfrm>
            <a:off x="7666882" y="5019730"/>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10E2FC1-57A9-4861-C593-8A9558944AC9}"/>
              </a:ext>
            </a:extLst>
          </p:cNvPr>
          <p:cNvSpPr/>
          <p:nvPr/>
        </p:nvSpPr>
        <p:spPr>
          <a:xfrm>
            <a:off x="8245194" y="5208128"/>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D96DCE7-63C8-C512-19E2-171CF3368C42}"/>
              </a:ext>
            </a:extLst>
          </p:cNvPr>
          <p:cNvSpPr/>
          <p:nvPr/>
        </p:nvSpPr>
        <p:spPr>
          <a:xfrm>
            <a:off x="8146494" y="5749949"/>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134D5FC-D79B-D53C-5AD6-04EDD8B9B145}"/>
              </a:ext>
            </a:extLst>
          </p:cNvPr>
          <p:cNvSpPr/>
          <p:nvPr/>
        </p:nvSpPr>
        <p:spPr>
          <a:xfrm>
            <a:off x="8778596" y="5333634"/>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04DBE2C-F7F1-AD56-AD97-0D7FF02B5622}"/>
              </a:ext>
            </a:extLst>
          </p:cNvPr>
          <p:cNvSpPr/>
          <p:nvPr/>
        </p:nvSpPr>
        <p:spPr>
          <a:xfrm>
            <a:off x="7837391" y="5332550"/>
            <a:ext cx="251011" cy="25101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CAF230F-C432-A9DA-F104-719ABAC93D32}"/>
              </a:ext>
            </a:extLst>
          </p:cNvPr>
          <p:cNvSpPr/>
          <p:nvPr/>
        </p:nvSpPr>
        <p:spPr>
          <a:xfrm>
            <a:off x="10786598" y="521339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067601C-62CF-9B39-E9D5-C025A2EE0EF8}"/>
              </a:ext>
            </a:extLst>
          </p:cNvPr>
          <p:cNvSpPr/>
          <p:nvPr/>
        </p:nvSpPr>
        <p:spPr>
          <a:xfrm>
            <a:off x="10964370" y="5721906"/>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956BF31-A454-95CE-796E-68E65BDF1CD9}"/>
              </a:ext>
            </a:extLst>
          </p:cNvPr>
          <p:cNvSpPr/>
          <p:nvPr/>
        </p:nvSpPr>
        <p:spPr>
          <a:xfrm>
            <a:off x="10215187" y="5464404"/>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5B40CB2-0293-5946-6AD1-F7E545944F34}"/>
              </a:ext>
            </a:extLst>
          </p:cNvPr>
          <p:cNvSpPr/>
          <p:nvPr/>
        </p:nvSpPr>
        <p:spPr>
          <a:xfrm>
            <a:off x="10246650" y="5037673"/>
            <a:ext cx="251011" cy="25101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51B6D49-8A8C-3045-45BF-CDC685F08AE3}"/>
              </a:ext>
            </a:extLst>
          </p:cNvPr>
          <p:cNvSpPr/>
          <p:nvPr/>
        </p:nvSpPr>
        <p:spPr>
          <a:xfrm>
            <a:off x="9908058" y="5027763"/>
            <a:ext cx="1461247" cy="1147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3053DB6-D3FC-B616-F78C-315015236075}"/>
                  </a:ext>
                </a:extLst>
              </p:cNvPr>
              <p:cNvSpPr txBox="1"/>
              <p:nvPr/>
            </p:nvSpPr>
            <p:spPr>
              <a:xfrm>
                <a:off x="7614125" y="6198083"/>
                <a:ext cx="1566760" cy="369332"/>
              </a:xfrm>
              <a:prstGeom prst="rect">
                <a:avLst/>
              </a:prstGeom>
              <a:noFill/>
            </p:spPr>
            <p:txBody>
              <a:bodyPr wrap="square" rtlCol="0">
                <a:spAutoFit/>
              </a:bodyPr>
              <a:lstStyle/>
              <a:p>
                <a:pPr algn="ctr"/>
                <a:r>
                  <a:rPr lang="en-US" b="0" dirty="0"/>
                  <a:t>more than </a:t>
                </a:r>
                <a14:m>
                  <m:oMath xmlns:m="http://schemas.openxmlformats.org/officeDocument/2006/math">
                    <m:r>
                      <a:rPr lang="en-US" b="0" i="1" smtClean="0">
                        <a:latin typeface="Cambria Math" panose="02040503050406030204" pitchFamily="18" charset="0"/>
                      </a:rPr>
                      <m:t>𝑆</m:t>
                    </m:r>
                  </m:oMath>
                </a14:m>
                <a:endParaRPr lang="en-US" dirty="0"/>
              </a:p>
            </p:txBody>
          </p:sp>
        </mc:Choice>
        <mc:Fallback xmlns="">
          <p:sp>
            <p:nvSpPr>
              <p:cNvPr id="32" name="TextBox 31">
                <a:extLst>
                  <a:ext uri="{FF2B5EF4-FFF2-40B4-BE49-F238E27FC236}">
                    <a16:creationId xmlns:a16="http://schemas.microsoft.com/office/drawing/2014/main" id="{33053DB6-D3FC-B616-F78C-315015236075}"/>
                  </a:ext>
                </a:extLst>
              </p:cNvPr>
              <p:cNvSpPr txBox="1">
                <a:spLocks noRot="1" noChangeAspect="1" noMove="1" noResize="1" noEditPoints="1" noAdjustHandles="1" noChangeArrowheads="1" noChangeShapeType="1" noTextEdit="1"/>
              </p:cNvSpPr>
              <p:nvPr/>
            </p:nvSpPr>
            <p:spPr>
              <a:xfrm>
                <a:off x="7614125" y="6198083"/>
                <a:ext cx="1566760" cy="369332"/>
              </a:xfrm>
              <a:prstGeom prst="rect">
                <a:avLst/>
              </a:prstGeom>
              <a:blipFill>
                <a:blip r:embed="rId1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C4BFE64-1FD6-9B50-8AC3-79FEFD72CD9C}"/>
                  </a:ext>
                </a:extLst>
              </p:cNvPr>
              <p:cNvSpPr txBox="1"/>
              <p:nvPr/>
            </p:nvSpPr>
            <p:spPr>
              <a:xfrm>
                <a:off x="9648224" y="6207500"/>
                <a:ext cx="1965553" cy="646331"/>
              </a:xfrm>
              <a:prstGeom prst="rect">
                <a:avLst/>
              </a:prstGeom>
              <a:noFill/>
            </p:spPr>
            <p:txBody>
              <a:bodyPr wrap="square" rtlCol="0">
                <a:spAutoFit/>
              </a:bodyPr>
              <a:lstStyle/>
              <a:p>
                <a:pPr algn="ctr"/>
                <a:r>
                  <a:rPr lang="en-US" dirty="0"/>
                  <a:t> less than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br>
                  <a:rPr lang="en-US" dirty="0"/>
                </a:br>
                <a:r>
                  <a:rPr lang="en-US" dirty="0"/>
                  <a:t>(possibly zero)</a:t>
                </a:r>
              </a:p>
            </p:txBody>
          </p:sp>
        </mc:Choice>
        <mc:Fallback xmlns="">
          <p:sp>
            <p:nvSpPr>
              <p:cNvPr id="33" name="TextBox 32">
                <a:extLst>
                  <a:ext uri="{FF2B5EF4-FFF2-40B4-BE49-F238E27FC236}">
                    <a16:creationId xmlns:a16="http://schemas.microsoft.com/office/drawing/2014/main" id="{CC4BFE64-1FD6-9B50-8AC3-79FEFD72CD9C}"/>
                  </a:ext>
                </a:extLst>
              </p:cNvPr>
              <p:cNvSpPr txBox="1">
                <a:spLocks noRot="1" noChangeAspect="1" noMove="1" noResize="1" noEditPoints="1" noAdjustHandles="1" noChangeArrowheads="1" noChangeShapeType="1" noTextEdit="1"/>
              </p:cNvSpPr>
              <p:nvPr/>
            </p:nvSpPr>
            <p:spPr>
              <a:xfrm>
                <a:off x="9648224" y="6207500"/>
                <a:ext cx="1965553" cy="646331"/>
              </a:xfrm>
              <a:prstGeom prst="rect">
                <a:avLst/>
              </a:prstGeom>
              <a:blipFill>
                <a:blip r:embed="rId13"/>
                <a:stretch>
                  <a:fillRect t="-4717" b="-14151"/>
                </a:stretch>
              </a:blipFill>
            </p:spPr>
            <p:txBody>
              <a:bodyPr/>
              <a:lstStyle/>
              <a:p>
                <a:r>
                  <a:rPr lang="en-US">
                    <a:noFill/>
                  </a:rPr>
                  <a:t> </a:t>
                </a:r>
              </a:p>
            </p:txBody>
          </p:sp>
        </mc:Fallback>
      </mc:AlternateContent>
      <p:pic>
        <p:nvPicPr>
          <p:cNvPr id="20" name="Graphic 19" descr="Checkmark with solid fill">
            <a:extLst>
              <a:ext uri="{FF2B5EF4-FFF2-40B4-BE49-F238E27FC236}">
                <a16:creationId xmlns:a16="http://schemas.microsoft.com/office/drawing/2014/main" id="{74F45FCB-9C10-2F36-F992-F30A5DA694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575" y="455779"/>
            <a:ext cx="632724" cy="632724"/>
          </a:xfrm>
          <a:prstGeom prst="rect">
            <a:avLst/>
          </a:prstGeom>
        </p:spPr>
      </p:pic>
      <p:cxnSp>
        <p:nvCxnSpPr>
          <p:cNvPr id="35" name="Straight Connector 34">
            <a:extLst>
              <a:ext uri="{FF2B5EF4-FFF2-40B4-BE49-F238E27FC236}">
                <a16:creationId xmlns:a16="http://schemas.microsoft.com/office/drawing/2014/main" id="{1910E3A2-680B-122C-FA14-D49B747471C7}"/>
              </a:ext>
            </a:extLst>
          </p:cNvPr>
          <p:cNvCxnSpPr/>
          <p:nvPr/>
        </p:nvCxnSpPr>
        <p:spPr>
          <a:xfrm>
            <a:off x="7476566" y="549477"/>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6F81070-7A7F-4670-E3B4-9F3C110DB4A2}"/>
              </a:ext>
            </a:extLst>
          </p:cNvPr>
          <p:cNvCxnSpPr>
            <a:cxnSpLocks/>
            <a:endCxn id="7" idx="1"/>
          </p:cNvCxnSpPr>
          <p:nvPr/>
        </p:nvCxnSpPr>
        <p:spPr>
          <a:xfrm flipH="1">
            <a:off x="7641024" y="549477"/>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pic>
        <p:nvPicPr>
          <p:cNvPr id="34" name="Graphic 33" descr="Checkmark with solid fill">
            <a:extLst>
              <a:ext uri="{FF2B5EF4-FFF2-40B4-BE49-F238E27FC236}">
                <a16:creationId xmlns:a16="http://schemas.microsoft.com/office/drawing/2014/main" id="{B281F912-B59C-B4E7-0C3E-385711E4C0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8233" y="2586858"/>
            <a:ext cx="1768017" cy="1768017"/>
          </a:xfrm>
          <a:prstGeom prst="rect">
            <a:avLst/>
          </a:prstGeom>
        </p:spPr>
      </p:pic>
      <p:cxnSp>
        <p:nvCxnSpPr>
          <p:cNvPr id="37" name="Straight Connector 36">
            <a:extLst>
              <a:ext uri="{FF2B5EF4-FFF2-40B4-BE49-F238E27FC236}">
                <a16:creationId xmlns:a16="http://schemas.microsoft.com/office/drawing/2014/main" id="{19EB48E9-58E4-BB63-A8FC-A7C942851E3A}"/>
              </a:ext>
            </a:extLst>
          </p:cNvPr>
          <p:cNvCxnSpPr/>
          <p:nvPr/>
        </p:nvCxnSpPr>
        <p:spPr>
          <a:xfrm>
            <a:off x="7556220" y="4767429"/>
            <a:ext cx="3972393" cy="201442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735B1BE-6CC4-A2A8-93FA-12A7DB70B155}"/>
              </a:ext>
            </a:extLst>
          </p:cNvPr>
          <p:cNvCxnSpPr>
            <a:cxnSpLocks/>
          </p:cNvCxnSpPr>
          <p:nvPr/>
        </p:nvCxnSpPr>
        <p:spPr>
          <a:xfrm flipH="1">
            <a:off x="7720678" y="4767429"/>
            <a:ext cx="3601256" cy="193816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69793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681F-520F-13BA-8F0C-98BAE0D90F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7A49562-5102-E69D-7B76-AAE8E728CEC4}"/>
              </a:ext>
            </a:extLst>
          </p:cNvPr>
          <p:cNvSpPr txBox="1"/>
          <p:nvPr/>
        </p:nvSpPr>
        <p:spPr>
          <a:xfrm>
            <a:off x="137465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a:t>
            </a:r>
            <a:r>
              <a:rPr lang="en-US" sz="2400" b="1"/>
              <a:t>substitutes for</a:t>
            </a:r>
            <a:r>
              <a:rPr lang="en-US" sz="2400" b="1" i="1"/>
              <a:t> in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92764E3-14D8-24B7-29A7-080364394FC7}"/>
                  </a:ext>
                </a:extLst>
              </p:cNvPr>
              <p:cNvSpPr txBox="1"/>
              <p:nvPr/>
            </p:nvSpPr>
            <p:spPr>
              <a:xfrm>
                <a:off x="161926"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𝑆</m:t>
                    </m:r>
                  </m:oMath>
                </a14:m>
                <a:r>
                  <a:rPr lang="en-US"/>
                  <a:t> such that each person’s payoff is given by:</a:t>
                </a:r>
              </a:p>
            </p:txBody>
          </p:sp>
        </mc:Choice>
        <mc:Fallback xmlns="">
          <p:sp>
            <p:nvSpPr>
              <p:cNvPr id="4" name="TextBox 3">
                <a:extLst>
                  <a:ext uri="{FF2B5EF4-FFF2-40B4-BE49-F238E27FC236}">
                    <a16:creationId xmlns:a16="http://schemas.microsoft.com/office/drawing/2014/main" id="{D92764E3-14D8-24B7-29A7-080364394FC7}"/>
                  </a:ext>
                </a:extLst>
              </p:cNvPr>
              <p:cNvSpPr txBox="1">
                <a:spLocks noRot="1" noChangeAspect="1" noMove="1" noResize="1" noEditPoints="1" noAdjustHandles="1" noChangeArrowheads="1" noChangeShapeType="1" noTextEdit="1"/>
              </p:cNvSpPr>
              <p:nvPr/>
            </p:nvSpPr>
            <p:spPr>
              <a:xfrm>
                <a:off x="161926" y="1495425"/>
                <a:ext cx="5655014" cy="4800600"/>
              </a:xfrm>
              <a:prstGeom prst="rect">
                <a:avLst/>
              </a:prstGeom>
              <a:blipFill>
                <a:blip r:embed="rId2"/>
                <a:stretch>
                  <a:fillRect l="-536" t="-378"/>
                </a:stretch>
              </a:blipFill>
              <a:ln w="28575">
                <a:solidFill>
                  <a:schemeClr val="accent1"/>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00460F09-9DC5-2084-DAD2-8EC2371098E5}"/>
              </a:ext>
            </a:extLst>
          </p:cNvPr>
          <p:cNvPicPr>
            <a:picLocks noChangeAspect="1"/>
          </p:cNvPicPr>
          <p:nvPr/>
        </p:nvPicPr>
        <p:blipFill>
          <a:blip r:embed="rId3"/>
          <a:stretch>
            <a:fillRect/>
          </a:stretch>
        </p:blipFill>
        <p:spPr>
          <a:xfrm>
            <a:off x="289998" y="2982441"/>
            <a:ext cx="5331166" cy="163718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D1E908C-34DD-E5DF-E43F-8E9F9A16A15B}"/>
                  </a:ext>
                </a:extLst>
              </p:cNvPr>
              <p:cNvSpPr txBox="1"/>
              <p:nvPr/>
            </p:nvSpPr>
            <p:spPr>
              <a:xfrm>
                <a:off x="6375062"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𝐶</m:t>
                    </m:r>
                  </m:oMath>
                </a14:m>
                <a:r>
                  <a:rPr lang="en-US"/>
                  <a:t> such that each person’s payoff is given by:</a:t>
                </a:r>
              </a:p>
            </p:txBody>
          </p:sp>
        </mc:Choice>
        <mc:Fallback xmlns="">
          <p:sp>
            <p:nvSpPr>
              <p:cNvPr id="6" name="TextBox 5">
                <a:extLst>
                  <a:ext uri="{FF2B5EF4-FFF2-40B4-BE49-F238E27FC236}">
                    <a16:creationId xmlns:a16="http://schemas.microsoft.com/office/drawing/2014/main" id="{AD1E908C-34DD-E5DF-E43F-8E9F9A16A15B}"/>
                  </a:ext>
                </a:extLst>
              </p:cNvPr>
              <p:cNvSpPr txBox="1">
                <a:spLocks noRot="1" noChangeAspect="1" noMove="1" noResize="1" noEditPoints="1" noAdjustHandles="1" noChangeArrowheads="1" noChangeShapeType="1" noTextEdit="1"/>
              </p:cNvSpPr>
              <p:nvPr/>
            </p:nvSpPr>
            <p:spPr>
              <a:xfrm>
                <a:off x="6375062" y="1495425"/>
                <a:ext cx="5655014" cy="4800600"/>
              </a:xfrm>
              <a:prstGeom prst="rect">
                <a:avLst/>
              </a:prstGeom>
              <a:blipFill>
                <a:blip r:embed="rId4"/>
                <a:stretch>
                  <a:fillRect l="-536" t="-378"/>
                </a:stretch>
              </a:blipFill>
              <a:ln w="28575">
                <a:solidFill>
                  <a:schemeClr val="accent1"/>
                </a:solidFill>
              </a:ln>
            </p:spPr>
            <p:txBody>
              <a:bodyPr/>
              <a:lstStyle/>
              <a:p>
                <a:r>
                  <a:rPr lang="en-US">
                    <a:noFill/>
                  </a:rPr>
                  <a:t> </a:t>
                </a:r>
              </a:p>
            </p:txBody>
          </p:sp>
        </mc:Fallback>
      </mc:AlternateContent>
      <p:pic>
        <p:nvPicPr>
          <p:cNvPr id="7" name="Picture 6">
            <a:extLst>
              <a:ext uri="{FF2B5EF4-FFF2-40B4-BE49-F238E27FC236}">
                <a16:creationId xmlns:a16="http://schemas.microsoft.com/office/drawing/2014/main" id="{36EF2A87-F039-DB37-E69D-7A67993103AB}"/>
              </a:ext>
            </a:extLst>
          </p:cNvPr>
          <p:cNvPicPr>
            <a:picLocks noChangeAspect="1"/>
          </p:cNvPicPr>
          <p:nvPr/>
        </p:nvPicPr>
        <p:blipFill>
          <a:blip r:embed="rId5"/>
          <a:stretch>
            <a:fillRect/>
          </a:stretch>
        </p:blipFill>
        <p:spPr>
          <a:xfrm>
            <a:off x="6625789" y="3030612"/>
            <a:ext cx="5245893" cy="1465188"/>
          </a:xfrm>
          <a:prstGeom prst="rect">
            <a:avLst/>
          </a:prstGeom>
        </p:spPr>
      </p:pic>
      <p:sp>
        <p:nvSpPr>
          <p:cNvPr id="8" name="TextBox 7">
            <a:extLst>
              <a:ext uri="{FF2B5EF4-FFF2-40B4-BE49-F238E27FC236}">
                <a16:creationId xmlns:a16="http://schemas.microsoft.com/office/drawing/2014/main" id="{883329ED-8601-5402-D3B5-8FD0D16CB74C}"/>
              </a:ext>
            </a:extLst>
          </p:cNvPr>
          <p:cNvSpPr txBox="1"/>
          <p:nvPr/>
        </p:nvSpPr>
        <p:spPr>
          <a:xfrm>
            <a:off x="381000" y="5074592"/>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9" name="TextBox 8">
            <a:extLst>
              <a:ext uri="{FF2B5EF4-FFF2-40B4-BE49-F238E27FC236}">
                <a16:creationId xmlns:a16="http://schemas.microsoft.com/office/drawing/2014/main" id="{4E3FAAEC-2ABB-E3D0-A553-9BACB0AA1709}"/>
              </a:ext>
            </a:extLst>
          </p:cNvPr>
          <p:cNvSpPr txBox="1"/>
          <p:nvPr/>
        </p:nvSpPr>
        <p:spPr>
          <a:xfrm>
            <a:off x="6747232" y="5074592"/>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10" name="TextBox 9">
            <a:extLst>
              <a:ext uri="{FF2B5EF4-FFF2-40B4-BE49-F238E27FC236}">
                <a16:creationId xmlns:a16="http://schemas.microsoft.com/office/drawing/2014/main" id="{71491A8E-9948-A4A1-B1D0-DE1973C5D8AA}"/>
              </a:ext>
            </a:extLst>
          </p:cNvPr>
          <p:cNvSpPr txBox="1"/>
          <p:nvPr/>
        </p:nvSpPr>
        <p:spPr>
          <a:xfrm>
            <a:off x="757379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complements in</a:t>
            </a:r>
          </a:p>
        </p:txBody>
      </p:sp>
    </p:spTree>
    <p:extLst>
      <p:ext uri="{BB962C8B-B14F-4D97-AF65-F5344CB8AC3E}">
        <p14:creationId xmlns:p14="http://schemas.microsoft.com/office/powerpoint/2010/main" val="28689118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75D09-F429-BF2B-4EA8-CAFC2BD705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184F24-89EC-28D4-89CD-1047F980BEAA}"/>
              </a:ext>
            </a:extLst>
          </p:cNvPr>
          <p:cNvSpPr txBox="1"/>
          <p:nvPr/>
        </p:nvSpPr>
        <p:spPr>
          <a:xfrm>
            <a:off x="137465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a:t>
            </a:r>
            <a:r>
              <a:rPr lang="en-US" sz="2400" b="1"/>
              <a:t>substitutes for</a:t>
            </a:r>
            <a:r>
              <a:rPr lang="en-US" sz="2400" b="1" i="1"/>
              <a:t> in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2B8FCE1-6400-883F-061C-EE6A8947BA8F}"/>
                  </a:ext>
                </a:extLst>
              </p:cNvPr>
              <p:cNvSpPr txBox="1"/>
              <p:nvPr/>
            </p:nvSpPr>
            <p:spPr>
              <a:xfrm>
                <a:off x="161926"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𝑆</m:t>
                    </m:r>
                  </m:oMath>
                </a14:m>
                <a:r>
                  <a:rPr lang="en-US"/>
                  <a:t> such that each person’s payoff is given by:</a:t>
                </a:r>
              </a:p>
            </p:txBody>
          </p:sp>
        </mc:Choice>
        <mc:Fallback xmlns="">
          <p:sp>
            <p:nvSpPr>
              <p:cNvPr id="4" name="TextBox 3">
                <a:extLst>
                  <a:ext uri="{FF2B5EF4-FFF2-40B4-BE49-F238E27FC236}">
                    <a16:creationId xmlns:a16="http://schemas.microsoft.com/office/drawing/2014/main" id="{B2B8FCE1-6400-883F-061C-EE6A8947BA8F}"/>
                  </a:ext>
                </a:extLst>
              </p:cNvPr>
              <p:cNvSpPr txBox="1">
                <a:spLocks noRot="1" noChangeAspect="1" noMove="1" noResize="1" noEditPoints="1" noAdjustHandles="1" noChangeArrowheads="1" noChangeShapeType="1" noTextEdit="1"/>
              </p:cNvSpPr>
              <p:nvPr/>
            </p:nvSpPr>
            <p:spPr>
              <a:xfrm>
                <a:off x="161926" y="1495425"/>
                <a:ext cx="5655014" cy="4800600"/>
              </a:xfrm>
              <a:prstGeom prst="rect">
                <a:avLst/>
              </a:prstGeom>
              <a:blipFill>
                <a:blip r:embed="rId2"/>
                <a:stretch>
                  <a:fillRect l="-536" t="-378"/>
                </a:stretch>
              </a:blipFill>
              <a:ln w="28575">
                <a:solidFill>
                  <a:schemeClr val="accent1"/>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680898D7-0986-2E73-6311-6D8127A31C4E}"/>
              </a:ext>
            </a:extLst>
          </p:cNvPr>
          <p:cNvPicPr>
            <a:picLocks noChangeAspect="1"/>
          </p:cNvPicPr>
          <p:nvPr/>
        </p:nvPicPr>
        <p:blipFill>
          <a:blip r:embed="rId3"/>
          <a:stretch>
            <a:fillRect/>
          </a:stretch>
        </p:blipFill>
        <p:spPr>
          <a:xfrm>
            <a:off x="289998" y="2982441"/>
            <a:ext cx="5331166" cy="163718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01EA142-5C81-2B56-F5AB-7B0F2FA8D57B}"/>
                  </a:ext>
                </a:extLst>
              </p:cNvPr>
              <p:cNvSpPr txBox="1"/>
              <p:nvPr/>
            </p:nvSpPr>
            <p:spPr>
              <a:xfrm>
                <a:off x="6375062" y="1495425"/>
                <a:ext cx="5655014" cy="4800600"/>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𝐶</m:t>
                    </m:r>
                  </m:oMath>
                </a14:m>
                <a:r>
                  <a:rPr lang="en-US"/>
                  <a:t> such that each person’s payoff is given by:</a:t>
                </a:r>
              </a:p>
            </p:txBody>
          </p:sp>
        </mc:Choice>
        <mc:Fallback xmlns="">
          <p:sp>
            <p:nvSpPr>
              <p:cNvPr id="6" name="TextBox 5">
                <a:extLst>
                  <a:ext uri="{FF2B5EF4-FFF2-40B4-BE49-F238E27FC236}">
                    <a16:creationId xmlns:a16="http://schemas.microsoft.com/office/drawing/2014/main" id="{401EA142-5C81-2B56-F5AB-7B0F2FA8D57B}"/>
                  </a:ext>
                </a:extLst>
              </p:cNvPr>
              <p:cNvSpPr txBox="1">
                <a:spLocks noRot="1" noChangeAspect="1" noMove="1" noResize="1" noEditPoints="1" noAdjustHandles="1" noChangeArrowheads="1" noChangeShapeType="1" noTextEdit="1"/>
              </p:cNvSpPr>
              <p:nvPr/>
            </p:nvSpPr>
            <p:spPr>
              <a:xfrm>
                <a:off x="6375062" y="1495425"/>
                <a:ext cx="5655014" cy="4800600"/>
              </a:xfrm>
              <a:prstGeom prst="rect">
                <a:avLst/>
              </a:prstGeom>
              <a:blipFill>
                <a:blip r:embed="rId4"/>
                <a:stretch>
                  <a:fillRect l="-536" t="-378"/>
                </a:stretch>
              </a:blipFill>
              <a:ln w="28575">
                <a:solidFill>
                  <a:schemeClr val="accent1"/>
                </a:solidFill>
              </a:ln>
            </p:spPr>
            <p:txBody>
              <a:bodyPr/>
              <a:lstStyle/>
              <a:p>
                <a:r>
                  <a:rPr lang="en-US">
                    <a:noFill/>
                  </a:rPr>
                  <a:t> </a:t>
                </a:r>
              </a:p>
            </p:txBody>
          </p:sp>
        </mc:Fallback>
      </mc:AlternateContent>
      <p:pic>
        <p:nvPicPr>
          <p:cNvPr id="7" name="Picture 6">
            <a:extLst>
              <a:ext uri="{FF2B5EF4-FFF2-40B4-BE49-F238E27FC236}">
                <a16:creationId xmlns:a16="http://schemas.microsoft.com/office/drawing/2014/main" id="{3310C23E-5C83-78FA-09BC-C82FCF32C984}"/>
              </a:ext>
            </a:extLst>
          </p:cNvPr>
          <p:cNvPicPr>
            <a:picLocks noChangeAspect="1"/>
          </p:cNvPicPr>
          <p:nvPr/>
        </p:nvPicPr>
        <p:blipFill>
          <a:blip r:embed="rId5"/>
          <a:stretch>
            <a:fillRect/>
          </a:stretch>
        </p:blipFill>
        <p:spPr>
          <a:xfrm>
            <a:off x="6625789" y="3030612"/>
            <a:ext cx="5245893" cy="1465188"/>
          </a:xfrm>
          <a:prstGeom prst="rect">
            <a:avLst/>
          </a:prstGeom>
        </p:spPr>
      </p:pic>
      <p:sp>
        <p:nvSpPr>
          <p:cNvPr id="8" name="TextBox 7">
            <a:extLst>
              <a:ext uri="{FF2B5EF4-FFF2-40B4-BE49-F238E27FC236}">
                <a16:creationId xmlns:a16="http://schemas.microsoft.com/office/drawing/2014/main" id="{697733C3-F289-2B9D-199E-EE8012975BD5}"/>
              </a:ext>
            </a:extLst>
          </p:cNvPr>
          <p:cNvSpPr txBox="1"/>
          <p:nvPr/>
        </p:nvSpPr>
        <p:spPr>
          <a:xfrm>
            <a:off x="441204" y="4552860"/>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9" name="TextBox 8">
            <a:extLst>
              <a:ext uri="{FF2B5EF4-FFF2-40B4-BE49-F238E27FC236}">
                <a16:creationId xmlns:a16="http://schemas.microsoft.com/office/drawing/2014/main" id="{6E47CC72-7EC9-DE1A-1546-6B2AEB490643}"/>
              </a:ext>
            </a:extLst>
          </p:cNvPr>
          <p:cNvSpPr txBox="1"/>
          <p:nvPr/>
        </p:nvSpPr>
        <p:spPr>
          <a:xfrm>
            <a:off x="6747232" y="5074592"/>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10" name="TextBox 9">
            <a:extLst>
              <a:ext uri="{FF2B5EF4-FFF2-40B4-BE49-F238E27FC236}">
                <a16:creationId xmlns:a16="http://schemas.microsoft.com/office/drawing/2014/main" id="{1BA1AEB8-1396-CB40-ACA2-0FBB4F5D006D}"/>
              </a:ext>
            </a:extLst>
          </p:cNvPr>
          <p:cNvSpPr txBox="1"/>
          <p:nvPr/>
        </p:nvSpPr>
        <p:spPr>
          <a:xfrm>
            <a:off x="757379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complements in</a:t>
            </a:r>
          </a:p>
        </p:txBody>
      </p:sp>
      <p:sp>
        <p:nvSpPr>
          <p:cNvPr id="3" name="TextBox 2">
            <a:extLst>
              <a:ext uri="{FF2B5EF4-FFF2-40B4-BE49-F238E27FC236}">
                <a16:creationId xmlns:a16="http://schemas.microsoft.com/office/drawing/2014/main" id="{A2345BA3-4758-6830-D196-F93DD60AAB5F}"/>
              </a:ext>
            </a:extLst>
          </p:cNvPr>
          <p:cNvSpPr txBox="1"/>
          <p:nvPr/>
        </p:nvSpPr>
        <p:spPr>
          <a:xfrm>
            <a:off x="320318" y="4894862"/>
            <a:ext cx="5091953" cy="369332"/>
          </a:xfrm>
          <a:prstGeom prst="rect">
            <a:avLst/>
          </a:prstGeom>
          <a:noFill/>
        </p:spPr>
        <p:txBody>
          <a:bodyPr wrap="square" rtlCol="0">
            <a:spAutoFit/>
          </a:bodyPr>
          <a:lstStyle/>
          <a:p>
            <a:r>
              <a:rPr lang="en-US" dirty="0"/>
              <a:t>Every profile like this:</a:t>
            </a:r>
          </a:p>
        </p:txBody>
      </p:sp>
      <p:sp>
        <p:nvSpPr>
          <p:cNvPr id="11" name="Oval 10">
            <a:extLst>
              <a:ext uri="{FF2B5EF4-FFF2-40B4-BE49-F238E27FC236}">
                <a16:creationId xmlns:a16="http://schemas.microsoft.com/office/drawing/2014/main" id="{D3F6566B-27BD-4C60-689F-A9A249788F55}"/>
              </a:ext>
            </a:extLst>
          </p:cNvPr>
          <p:cNvSpPr/>
          <p:nvPr/>
        </p:nvSpPr>
        <p:spPr>
          <a:xfrm>
            <a:off x="6115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50A2388-E46E-D418-777B-5AA1F431135E}"/>
              </a:ext>
            </a:extLst>
          </p:cNvPr>
          <p:cNvSpPr/>
          <p:nvPr/>
        </p:nvSpPr>
        <p:spPr>
          <a:xfrm>
            <a:off x="9163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50E898F-9AFD-4DA9-34CA-BCD39288FF0C}"/>
              </a:ext>
            </a:extLst>
          </p:cNvPr>
          <p:cNvSpPr/>
          <p:nvPr/>
        </p:nvSpPr>
        <p:spPr>
          <a:xfrm>
            <a:off x="12211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2AFC575-5A3B-9959-C261-DEFAFB9B75A4}"/>
              </a:ext>
            </a:extLst>
          </p:cNvPr>
          <p:cNvSpPr/>
          <p:nvPr/>
        </p:nvSpPr>
        <p:spPr>
          <a:xfrm>
            <a:off x="1890347"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22C325F-292F-D567-F6CD-3D9A71BA69B3}"/>
              </a:ext>
            </a:extLst>
          </p:cNvPr>
          <p:cNvSpPr/>
          <p:nvPr/>
        </p:nvSpPr>
        <p:spPr>
          <a:xfrm>
            <a:off x="2559561"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F35B34F-788B-A64D-209A-00D0C2D331C4}"/>
              </a:ext>
            </a:extLst>
          </p:cNvPr>
          <p:cNvSpPr/>
          <p:nvPr/>
        </p:nvSpPr>
        <p:spPr>
          <a:xfrm>
            <a:off x="2214295"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3F7BD0C-66D3-5153-E5ED-633BFB01FE08}"/>
              </a:ext>
            </a:extLst>
          </p:cNvPr>
          <p:cNvSpPr/>
          <p:nvPr/>
        </p:nvSpPr>
        <p:spPr>
          <a:xfrm>
            <a:off x="2883509"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16ED3D4-992B-C217-2A5B-DEE6D32A6F24}"/>
              </a:ext>
            </a:extLst>
          </p:cNvPr>
          <p:cNvSpPr/>
          <p:nvPr/>
        </p:nvSpPr>
        <p:spPr>
          <a:xfrm>
            <a:off x="3204708"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43AEB32-90BC-717A-DEA7-E7859451B8B3}"/>
              </a:ext>
            </a:extLst>
          </p:cNvPr>
          <p:cNvSpPr/>
          <p:nvPr/>
        </p:nvSpPr>
        <p:spPr>
          <a:xfrm>
            <a:off x="3525907"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171AFD2-699A-7FAC-C6BE-D2B92E9D5B33}"/>
              </a:ext>
            </a:extLst>
          </p:cNvPr>
          <p:cNvSpPr/>
          <p:nvPr/>
        </p:nvSpPr>
        <p:spPr>
          <a:xfrm>
            <a:off x="4186879"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FEC353A-A46F-F499-242A-F6B8A7C4894D}"/>
              </a:ext>
            </a:extLst>
          </p:cNvPr>
          <p:cNvSpPr/>
          <p:nvPr/>
        </p:nvSpPr>
        <p:spPr>
          <a:xfrm>
            <a:off x="4465940"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46EC3D9-44F4-F947-147C-FFD92B526062}"/>
              </a:ext>
            </a:extLst>
          </p:cNvPr>
          <p:cNvSpPr/>
          <p:nvPr/>
        </p:nvSpPr>
        <p:spPr>
          <a:xfrm>
            <a:off x="4745001"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688B684-F829-13F4-C7E6-2CBB385474DF}"/>
              </a:ext>
            </a:extLst>
          </p:cNvPr>
          <p:cNvSpPr/>
          <p:nvPr/>
        </p:nvSpPr>
        <p:spPr>
          <a:xfrm>
            <a:off x="1497385"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649A61E-76DC-8028-A668-41F51079709A}"/>
              </a:ext>
            </a:extLst>
          </p:cNvPr>
          <p:cNvSpPr/>
          <p:nvPr/>
        </p:nvSpPr>
        <p:spPr>
          <a:xfrm>
            <a:off x="1650396"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5901941-883C-4AE1-8C6B-EBF101F909D0}"/>
              </a:ext>
            </a:extLst>
          </p:cNvPr>
          <p:cNvSpPr/>
          <p:nvPr/>
        </p:nvSpPr>
        <p:spPr>
          <a:xfrm>
            <a:off x="1803407"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4EEBE40-736B-C6E0-FDD7-A30A599E8C19}"/>
              </a:ext>
            </a:extLst>
          </p:cNvPr>
          <p:cNvSpPr/>
          <p:nvPr/>
        </p:nvSpPr>
        <p:spPr>
          <a:xfrm>
            <a:off x="3800622"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22B4FA6-933C-8FF1-EAD5-AE908A534F1D}"/>
              </a:ext>
            </a:extLst>
          </p:cNvPr>
          <p:cNvSpPr/>
          <p:nvPr/>
        </p:nvSpPr>
        <p:spPr>
          <a:xfrm>
            <a:off x="3930805"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90273B4-5176-EA2C-F6A5-F3101F59B7E7}"/>
              </a:ext>
            </a:extLst>
          </p:cNvPr>
          <p:cNvSpPr/>
          <p:nvPr/>
        </p:nvSpPr>
        <p:spPr>
          <a:xfrm>
            <a:off x="4060988"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29EB9D5-0D02-DD00-7676-7C589F505FB3}"/>
                  </a:ext>
                </a:extLst>
              </p:cNvPr>
              <p:cNvSpPr txBox="1"/>
              <p:nvPr/>
            </p:nvSpPr>
            <p:spPr>
              <a:xfrm>
                <a:off x="944582" y="5647326"/>
                <a:ext cx="1786663" cy="369332"/>
              </a:xfrm>
              <a:prstGeom prst="rect">
                <a:avLst/>
              </a:prstGeom>
              <a:noFill/>
            </p:spPr>
            <p:txBody>
              <a:bodyPr wrap="square" rtlCol="0">
                <a:spAutoFit/>
              </a:bodyPr>
              <a:lstStyle/>
              <a:p>
                <a:r>
                  <a:rPr lang="en-US" dirty="0"/>
                  <a:t>Exactly </a:t>
                </a:r>
                <a14:m>
                  <m:oMath xmlns:m="http://schemas.openxmlformats.org/officeDocument/2006/math">
                    <m:r>
                      <a:rPr lang="en-US" b="0" i="1" smtClean="0">
                        <a:latin typeface="Cambria Math" panose="02040503050406030204" pitchFamily="18" charset="0"/>
                      </a:rPr>
                      <m:t>𝑆</m:t>
                    </m:r>
                  </m:oMath>
                </a14:m>
                <a:r>
                  <a:rPr lang="en-US" dirty="0"/>
                  <a:t> do </a:t>
                </a:r>
                <a:r>
                  <a:rPr lang="en-US" i="1" dirty="0"/>
                  <a:t>in</a:t>
                </a:r>
                <a:endParaRPr lang="en-US" dirty="0"/>
              </a:p>
            </p:txBody>
          </p:sp>
        </mc:Choice>
        <mc:Fallback xmlns="">
          <p:sp>
            <p:nvSpPr>
              <p:cNvPr id="29" name="TextBox 28">
                <a:extLst>
                  <a:ext uri="{FF2B5EF4-FFF2-40B4-BE49-F238E27FC236}">
                    <a16:creationId xmlns:a16="http://schemas.microsoft.com/office/drawing/2014/main" id="{229EB9D5-0D02-DD00-7676-7C589F505FB3}"/>
                  </a:ext>
                </a:extLst>
              </p:cNvPr>
              <p:cNvSpPr txBox="1">
                <a:spLocks noRot="1" noChangeAspect="1" noMove="1" noResize="1" noEditPoints="1" noAdjustHandles="1" noChangeArrowheads="1" noChangeShapeType="1" noTextEdit="1"/>
              </p:cNvSpPr>
              <p:nvPr/>
            </p:nvSpPr>
            <p:spPr>
              <a:xfrm>
                <a:off x="944582" y="5647326"/>
                <a:ext cx="1786663" cy="369332"/>
              </a:xfrm>
              <a:prstGeom prst="rect">
                <a:avLst/>
              </a:prstGeom>
              <a:blipFill>
                <a:blip r:embed="rId6"/>
                <a:stretch>
                  <a:fillRect l="-3072" t="-8197" b="-24590"/>
                </a:stretch>
              </a:blipFill>
            </p:spPr>
            <p:txBody>
              <a:bodyPr/>
              <a:lstStyle/>
              <a:p>
                <a:r>
                  <a:rPr lang="en-US">
                    <a:noFill/>
                  </a:rPr>
                  <a:t> </a:t>
                </a:r>
              </a:p>
            </p:txBody>
          </p:sp>
        </mc:Fallback>
      </mc:AlternateContent>
      <p:sp>
        <p:nvSpPr>
          <p:cNvPr id="30" name="Left Brace 29">
            <a:extLst>
              <a:ext uri="{FF2B5EF4-FFF2-40B4-BE49-F238E27FC236}">
                <a16:creationId xmlns:a16="http://schemas.microsoft.com/office/drawing/2014/main" id="{7D290B19-7F9A-8045-8AAF-31CFC2DCF673}"/>
              </a:ext>
            </a:extLst>
          </p:cNvPr>
          <p:cNvSpPr/>
          <p:nvPr/>
        </p:nvSpPr>
        <p:spPr>
          <a:xfrm rot="16200000">
            <a:off x="1547974" y="4480320"/>
            <a:ext cx="251285" cy="2216256"/>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EFCF60A-56BD-F78C-C071-33339EDC1198}"/>
                  </a:ext>
                </a:extLst>
              </p:cNvPr>
              <p:cNvSpPr txBox="1"/>
              <p:nvPr/>
            </p:nvSpPr>
            <p:spPr>
              <a:xfrm>
                <a:off x="2892996" y="5649472"/>
                <a:ext cx="2216256" cy="369332"/>
              </a:xfrm>
              <a:prstGeom prst="rect">
                <a:avLst/>
              </a:prstGeom>
              <a:noFill/>
            </p:spPr>
            <p:txBody>
              <a:bodyPr wrap="square" rtlCol="0">
                <a:spAutoFit/>
              </a:bodyPr>
              <a:lstStyle/>
              <a:p>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do </a:t>
                </a:r>
                <a:r>
                  <a:rPr lang="en-US" i="1" dirty="0"/>
                  <a:t>out</a:t>
                </a:r>
                <a:endParaRPr lang="en-US" dirty="0"/>
              </a:p>
            </p:txBody>
          </p:sp>
        </mc:Choice>
        <mc:Fallback xmlns="">
          <p:sp>
            <p:nvSpPr>
              <p:cNvPr id="31" name="TextBox 30">
                <a:extLst>
                  <a:ext uri="{FF2B5EF4-FFF2-40B4-BE49-F238E27FC236}">
                    <a16:creationId xmlns:a16="http://schemas.microsoft.com/office/drawing/2014/main" id="{BEFCF60A-56BD-F78C-C071-33339EDC1198}"/>
                  </a:ext>
                </a:extLst>
              </p:cNvPr>
              <p:cNvSpPr txBox="1">
                <a:spLocks noRot="1" noChangeAspect="1" noMove="1" noResize="1" noEditPoints="1" noAdjustHandles="1" noChangeArrowheads="1" noChangeShapeType="1" noTextEdit="1"/>
              </p:cNvSpPr>
              <p:nvPr/>
            </p:nvSpPr>
            <p:spPr>
              <a:xfrm>
                <a:off x="2892996" y="5649472"/>
                <a:ext cx="2216256" cy="369332"/>
              </a:xfrm>
              <a:prstGeom prst="rect">
                <a:avLst/>
              </a:prstGeom>
              <a:blipFill>
                <a:blip r:embed="rId7"/>
                <a:stretch>
                  <a:fillRect l="-2479" t="-10000" b="-26667"/>
                </a:stretch>
              </a:blipFill>
            </p:spPr>
            <p:txBody>
              <a:bodyPr/>
              <a:lstStyle/>
              <a:p>
                <a:r>
                  <a:rPr lang="en-US">
                    <a:noFill/>
                  </a:rPr>
                  <a:t> </a:t>
                </a:r>
              </a:p>
            </p:txBody>
          </p:sp>
        </mc:Fallback>
      </mc:AlternateContent>
      <p:sp>
        <p:nvSpPr>
          <p:cNvPr id="32" name="Left Brace 31">
            <a:extLst>
              <a:ext uri="{FF2B5EF4-FFF2-40B4-BE49-F238E27FC236}">
                <a16:creationId xmlns:a16="http://schemas.microsoft.com/office/drawing/2014/main" id="{27114015-56C2-3787-DF19-5037816AF2FC}"/>
              </a:ext>
            </a:extLst>
          </p:cNvPr>
          <p:cNvSpPr/>
          <p:nvPr/>
        </p:nvSpPr>
        <p:spPr>
          <a:xfrm rot="16200000">
            <a:off x="3819856" y="4507813"/>
            <a:ext cx="251285" cy="2216256"/>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281009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6D879-679F-6541-DE08-3E0FB76510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D1E2C8-EA6A-0728-3E8C-B64BA1E159F8}"/>
              </a:ext>
            </a:extLst>
          </p:cNvPr>
          <p:cNvSpPr txBox="1"/>
          <p:nvPr/>
        </p:nvSpPr>
        <p:spPr>
          <a:xfrm>
            <a:off x="137465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a:t>
            </a:r>
            <a:r>
              <a:rPr lang="en-US" sz="2400" b="1"/>
              <a:t>substitutes for</a:t>
            </a:r>
            <a:r>
              <a:rPr lang="en-US" sz="2400" b="1" i="1"/>
              <a:t> in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515506-46FD-34A8-8ED1-F00DC667BD6F}"/>
                  </a:ext>
                </a:extLst>
              </p:cNvPr>
              <p:cNvSpPr txBox="1"/>
              <p:nvPr/>
            </p:nvSpPr>
            <p:spPr>
              <a:xfrm>
                <a:off x="161926" y="1495425"/>
                <a:ext cx="5655014" cy="5362574"/>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𝑆</m:t>
                    </m:r>
                  </m:oMath>
                </a14:m>
                <a:r>
                  <a:rPr lang="en-US"/>
                  <a:t> such that each person’s payoff is given by:</a:t>
                </a:r>
              </a:p>
            </p:txBody>
          </p:sp>
        </mc:Choice>
        <mc:Fallback xmlns="">
          <p:sp>
            <p:nvSpPr>
              <p:cNvPr id="4" name="TextBox 3">
                <a:extLst>
                  <a:ext uri="{FF2B5EF4-FFF2-40B4-BE49-F238E27FC236}">
                    <a16:creationId xmlns:a16="http://schemas.microsoft.com/office/drawing/2014/main" id="{C9515506-46FD-34A8-8ED1-F00DC667BD6F}"/>
                  </a:ext>
                </a:extLst>
              </p:cNvPr>
              <p:cNvSpPr txBox="1">
                <a:spLocks noRot="1" noChangeAspect="1" noMove="1" noResize="1" noEditPoints="1" noAdjustHandles="1" noChangeArrowheads="1" noChangeShapeType="1" noTextEdit="1"/>
              </p:cNvSpPr>
              <p:nvPr/>
            </p:nvSpPr>
            <p:spPr>
              <a:xfrm>
                <a:off x="161926" y="1495425"/>
                <a:ext cx="5655014" cy="5362574"/>
              </a:xfrm>
              <a:prstGeom prst="rect">
                <a:avLst/>
              </a:prstGeom>
              <a:blipFill>
                <a:blip r:embed="rId2"/>
                <a:stretch>
                  <a:fillRect l="-536" t="-339"/>
                </a:stretch>
              </a:blipFill>
              <a:ln w="28575">
                <a:solidFill>
                  <a:schemeClr val="accent1"/>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C541025A-B387-6347-0BC9-BDBF9110C3D8}"/>
              </a:ext>
            </a:extLst>
          </p:cNvPr>
          <p:cNvPicPr>
            <a:picLocks noChangeAspect="1"/>
          </p:cNvPicPr>
          <p:nvPr/>
        </p:nvPicPr>
        <p:blipFill>
          <a:blip r:embed="rId3"/>
          <a:stretch>
            <a:fillRect/>
          </a:stretch>
        </p:blipFill>
        <p:spPr>
          <a:xfrm>
            <a:off x="289998" y="2982441"/>
            <a:ext cx="5331166" cy="163718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6A4BDE6-EBA4-5682-4B69-7D90D109A77C}"/>
                  </a:ext>
                </a:extLst>
              </p:cNvPr>
              <p:cNvSpPr txBox="1"/>
              <p:nvPr/>
            </p:nvSpPr>
            <p:spPr>
              <a:xfrm>
                <a:off x="6375062" y="1495424"/>
                <a:ext cx="5655012" cy="5362575"/>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𝐶</m:t>
                    </m:r>
                  </m:oMath>
                </a14:m>
                <a:r>
                  <a:rPr lang="en-US"/>
                  <a:t> such that each person’s payoff is given by:</a:t>
                </a:r>
              </a:p>
            </p:txBody>
          </p:sp>
        </mc:Choice>
        <mc:Fallback xmlns="">
          <p:sp>
            <p:nvSpPr>
              <p:cNvPr id="6" name="TextBox 5">
                <a:extLst>
                  <a:ext uri="{FF2B5EF4-FFF2-40B4-BE49-F238E27FC236}">
                    <a16:creationId xmlns:a16="http://schemas.microsoft.com/office/drawing/2014/main" id="{46A4BDE6-EBA4-5682-4B69-7D90D109A77C}"/>
                  </a:ext>
                </a:extLst>
              </p:cNvPr>
              <p:cNvSpPr txBox="1">
                <a:spLocks noRot="1" noChangeAspect="1" noMove="1" noResize="1" noEditPoints="1" noAdjustHandles="1" noChangeArrowheads="1" noChangeShapeType="1" noTextEdit="1"/>
              </p:cNvSpPr>
              <p:nvPr/>
            </p:nvSpPr>
            <p:spPr>
              <a:xfrm>
                <a:off x="6375062" y="1495424"/>
                <a:ext cx="5655012" cy="5362575"/>
              </a:xfrm>
              <a:prstGeom prst="rect">
                <a:avLst/>
              </a:prstGeom>
              <a:blipFill>
                <a:blip r:embed="rId4"/>
                <a:stretch>
                  <a:fillRect l="-536" t="-339"/>
                </a:stretch>
              </a:blipFill>
              <a:ln w="28575">
                <a:solidFill>
                  <a:schemeClr val="accent1"/>
                </a:solidFill>
              </a:ln>
            </p:spPr>
            <p:txBody>
              <a:bodyPr/>
              <a:lstStyle/>
              <a:p>
                <a:r>
                  <a:rPr lang="en-US">
                    <a:noFill/>
                  </a:rPr>
                  <a:t> </a:t>
                </a:r>
              </a:p>
            </p:txBody>
          </p:sp>
        </mc:Fallback>
      </mc:AlternateContent>
      <p:pic>
        <p:nvPicPr>
          <p:cNvPr id="7" name="Picture 6">
            <a:extLst>
              <a:ext uri="{FF2B5EF4-FFF2-40B4-BE49-F238E27FC236}">
                <a16:creationId xmlns:a16="http://schemas.microsoft.com/office/drawing/2014/main" id="{85184BC2-C2CF-9BAA-28BE-46DAE5EF5019}"/>
              </a:ext>
            </a:extLst>
          </p:cNvPr>
          <p:cNvPicPr>
            <a:picLocks noChangeAspect="1"/>
          </p:cNvPicPr>
          <p:nvPr/>
        </p:nvPicPr>
        <p:blipFill>
          <a:blip r:embed="rId5"/>
          <a:stretch>
            <a:fillRect/>
          </a:stretch>
        </p:blipFill>
        <p:spPr>
          <a:xfrm>
            <a:off x="6625789" y="3030612"/>
            <a:ext cx="5245893" cy="1465188"/>
          </a:xfrm>
          <a:prstGeom prst="rect">
            <a:avLst/>
          </a:prstGeom>
        </p:spPr>
      </p:pic>
      <p:sp>
        <p:nvSpPr>
          <p:cNvPr id="8" name="TextBox 7">
            <a:extLst>
              <a:ext uri="{FF2B5EF4-FFF2-40B4-BE49-F238E27FC236}">
                <a16:creationId xmlns:a16="http://schemas.microsoft.com/office/drawing/2014/main" id="{F8B2B6AF-8DEE-9482-5D7B-D26DC7B36846}"/>
              </a:ext>
            </a:extLst>
          </p:cNvPr>
          <p:cNvSpPr txBox="1"/>
          <p:nvPr/>
        </p:nvSpPr>
        <p:spPr>
          <a:xfrm>
            <a:off x="441204" y="4552860"/>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9" name="TextBox 8">
            <a:extLst>
              <a:ext uri="{FF2B5EF4-FFF2-40B4-BE49-F238E27FC236}">
                <a16:creationId xmlns:a16="http://schemas.microsoft.com/office/drawing/2014/main" id="{D64E8D2E-53E0-9E7C-8371-5C9D50FCF5F1}"/>
              </a:ext>
            </a:extLst>
          </p:cNvPr>
          <p:cNvSpPr txBox="1"/>
          <p:nvPr/>
        </p:nvSpPr>
        <p:spPr>
          <a:xfrm>
            <a:off x="6640344" y="4552860"/>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10" name="TextBox 9">
            <a:extLst>
              <a:ext uri="{FF2B5EF4-FFF2-40B4-BE49-F238E27FC236}">
                <a16:creationId xmlns:a16="http://schemas.microsoft.com/office/drawing/2014/main" id="{AE568504-7094-30C1-56C3-799B19F79985}"/>
              </a:ext>
            </a:extLst>
          </p:cNvPr>
          <p:cNvSpPr txBox="1"/>
          <p:nvPr/>
        </p:nvSpPr>
        <p:spPr>
          <a:xfrm>
            <a:off x="757379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complements in</a:t>
            </a:r>
          </a:p>
        </p:txBody>
      </p:sp>
      <p:sp>
        <p:nvSpPr>
          <p:cNvPr id="3" name="TextBox 2">
            <a:extLst>
              <a:ext uri="{FF2B5EF4-FFF2-40B4-BE49-F238E27FC236}">
                <a16:creationId xmlns:a16="http://schemas.microsoft.com/office/drawing/2014/main" id="{5B26C44C-21DD-207B-6958-FE3547F159E6}"/>
              </a:ext>
            </a:extLst>
          </p:cNvPr>
          <p:cNvSpPr txBox="1"/>
          <p:nvPr/>
        </p:nvSpPr>
        <p:spPr>
          <a:xfrm>
            <a:off x="320318" y="4894862"/>
            <a:ext cx="5091953" cy="369332"/>
          </a:xfrm>
          <a:prstGeom prst="rect">
            <a:avLst/>
          </a:prstGeom>
          <a:noFill/>
        </p:spPr>
        <p:txBody>
          <a:bodyPr wrap="square" rtlCol="0">
            <a:spAutoFit/>
          </a:bodyPr>
          <a:lstStyle/>
          <a:p>
            <a:r>
              <a:rPr lang="en-US" dirty="0"/>
              <a:t>Every profile like this:</a:t>
            </a:r>
          </a:p>
        </p:txBody>
      </p:sp>
      <p:sp>
        <p:nvSpPr>
          <p:cNvPr id="11" name="Oval 10">
            <a:extLst>
              <a:ext uri="{FF2B5EF4-FFF2-40B4-BE49-F238E27FC236}">
                <a16:creationId xmlns:a16="http://schemas.microsoft.com/office/drawing/2014/main" id="{A73DCD17-B618-FCAD-1030-45664295397B}"/>
              </a:ext>
            </a:extLst>
          </p:cNvPr>
          <p:cNvSpPr/>
          <p:nvPr/>
        </p:nvSpPr>
        <p:spPr>
          <a:xfrm>
            <a:off x="6115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C214D6C-E9DA-5F5A-5B5E-30C94D80154B}"/>
              </a:ext>
            </a:extLst>
          </p:cNvPr>
          <p:cNvSpPr/>
          <p:nvPr/>
        </p:nvSpPr>
        <p:spPr>
          <a:xfrm>
            <a:off x="9163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39A9D8E-212B-9554-98C6-68BE4DF34E78}"/>
              </a:ext>
            </a:extLst>
          </p:cNvPr>
          <p:cNvSpPr/>
          <p:nvPr/>
        </p:nvSpPr>
        <p:spPr>
          <a:xfrm>
            <a:off x="12211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6EA1B5E-83D3-9BA2-A0EE-B7D44048E048}"/>
              </a:ext>
            </a:extLst>
          </p:cNvPr>
          <p:cNvSpPr/>
          <p:nvPr/>
        </p:nvSpPr>
        <p:spPr>
          <a:xfrm>
            <a:off x="1890347"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721C036-3361-AFCD-6041-CB71514B6718}"/>
              </a:ext>
            </a:extLst>
          </p:cNvPr>
          <p:cNvSpPr/>
          <p:nvPr/>
        </p:nvSpPr>
        <p:spPr>
          <a:xfrm>
            <a:off x="2559561"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EC20A93-B921-2ECD-3920-EB01E78917B9}"/>
              </a:ext>
            </a:extLst>
          </p:cNvPr>
          <p:cNvSpPr/>
          <p:nvPr/>
        </p:nvSpPr>
        <p:spPr>
          <a:xfrm>
            <a:off x="2214295"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2C763DD-351D-E0E3-FFA8-DF448F80AAAB}"/>
              </a:ext>
            </a:extLst>
          </p:cNvPr>
          <p:cNvSpPr/>
          <p:nvPr/>
        </p:nvSpPr>
        <p:spPr>
          <a:xfrm>
            <a:off x="2883509"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9B0C358-2FE8-E83D-F8C6-22F89110CD27}"/>
              </a:ext>
            </a:extLst>
          </p:cNvPr>
          <p:cNvSpPr/>
          <p:nvPr/>
        </p:nvSpPr>
        <p:spPr>
          <a:xfrm>
            <a:off x="3204708"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A6BCE3B-3F6E-8EB4-C262-69CF8BAB983D}"/>
              </a:ext>
            </a:extLst>
          </p:cNvPr>
          <p:cNvSpPr/>
          <p:nvPr/>
        </p:nvSpPr>
        <p:spPr>
          <a:xfrm>
            <a:off x="3525907"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64E743B-1373-461E-12BB-484A8F7D88AD}"/>
              </a:ext>
            </a:extLst>
          </p:cNvPr>
          <p:cNvSpPr/>
          <p:nvPr/>
        </p:nvSpPr>
        <p:spPr>
          <a:xfrm>
            <a:off x="4186879"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990E2EF-53E3-42D2-6121-A2F69004A062}"/>
              </a:ext>
            </a:extLst>
          </p:cNvPr>
          <p:cNvSpPr/>
          <p:nvPr/>
        </p:nvSpPr>
        <p:spPr>
          <a:xfrm>
            <a:off x="4465940"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F52A91A-0E97-2368-CF26-14934837222B}"/>
              </a:ext>
            </a:extLst>
          </p:cNvPr>
          <p:cNvSpPr/>
          <p:nvPr/>
        </p:nvSpPr>
        <p:spPr>
          <a:xfrm>
            <a:off x="4745001"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E1F8D2D-31ED-0250-5D57-C06CAD106947}"/>
              </a:ext>
            </a:extLst>
          </p:cNvPr>
          <p:cNvSpPr/>
          <p:nvPr/>
        </p:nvSpPr>
        <p:spPr>
          <a:xfrm>
            <a:off x="1497385"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8F1A612-D150-5F08-044E-5A7046C25BF4}"/>
              </a:ext>
            </a:extLst>
          </p:cNvPr>
          <p:cNvSpPr/>
          <p:nvPr/>
        </p:nvSpPr>
        <p:spPr>
          <a:xfrm>
            <a:off x="1650396"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D777AF7-AF67-B8EE-5E21-48F43D20C07F}"/>
              </a:ext>
            </a:extLst>
          </p:cNvPr>
          <p:cNvSpPr/>
          <p:nvPr/>
        </p:nvSpPr>
        <p:spPr>
          <a:xfrm>
            <a:off x="1803407"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CF93EF7-0495-3339-51F1-98313BEAA312}"/>
              </a:ext>
            </a:extLst>
          </p:cNvPr>
          <p:cNvSpPr/>
          <p:nvPr/>
        </p:nvSpPr>
        <p:spPr>
          <a:xfrm>
            <a:off x="3800622"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7DCCC43-DA18-E975-CE28-E13AF4DE5AFA}"/>
              </a:ext>
            </a:extLst>
          </p:cNvPr>
          <p:cNvSpPr/>
          <p:nvPr/>
        </p:nvSpPr>
        <p:spPr>
          <a:xfrm>
            <a:off x="3930805"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B58060E-2337-B969-200E-4E790803AE68}"/>
              </a:ext>
            </a:extLst>
          </p:cNvPr>
          <p:cNvSpPr/>
          <p:nvPr/>
        </p:nvSpPr>
        <p:spPr>
          <a:xfrm>
            <a:off x="4060988"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3478698-92F5-6EA5-02A9-BCC3A9342C70}"/>
                  </a:ext>
                </a:extLst>
              </p:cNvPr>
              <p:cNvSpPr txBox="1"/>
              <p:nvPr/>
            </p:nvSpPr>
            <p:spPr>
              <a:xfrm>
                <a:off x="944582" y="5647326"/>
                <a:ext cx="1786663" cy="369332"/>
              </a:xfrm>
              <a:prstGeom prst="rect">
                <a:avLst/>
              </a:prstGeom>
              <a:noFill/>
            </p:spPr>
            <p:txBody>
              <a:bodyPr wrap="square" rtlCol="0">
                <a:spAutoFit/>
              </a:bodyPr>
              <a:lstStyle/>
              <a:p>
                <a:r>
                  <a:rPr lang="en-US" dirty="0"/>
                  <a:t>Exactly </a:t>
                </a:r>
                <a14:m>
                  <m:oMath xmlns:m="http://schemas.openxmlformats.org/officeDocument/2006/math">
                    <m:r>
                      <a:rPr lang="en-US" b="0" i="1" smtClean="0">
                        <a:latin typeface="Cambria Math" panose="02040503050406030204" pitchFamily="18" charset="0"/>
                      </a:rPr>
                      <m:t>𝑆</m:t>
                    </m:r>
                  </m:oMath>
                </a14:m>
                <a:r>
                  <a:rPr lang="en-US" dirty="0"/>
                  <a:t> do </a:t>
                </a:r>
                <a:r>
                  <a:rPr lang="en-US" i="1" dirty="0"/>
                  <a:t>in</a:t>
                </a:r>
                <a:endParaRPr lang="en-US" dirty="0"/>
              </a:p>
            </p:txBody>
          </p:sp>
        </mc:Choice>
        <mc:Fallback xmlns="">
          <p:sp>
            <p:nvSpPr>
              <p:cNvPr id="29" name="TextBox 28">
                <a:extLst>
                  <a:ext uri="{FF2B5EF4-FFF2-40B4-BE49-F238E27FC236}">
                    <a16:creationId xmlns:a16="http://schemas.microsoft.com/office/drawing/2014/main" id="{E3478698-92F5-6EA5-02A9-BCC3A9342C70}"/>
                  </a:ext>
                </a:extLst>
              </p:cNvPr>
              <p:cNvSpPr txBox="1">
                <a:spLocks noRot="1" noChangeAspect="1" noMove="1" noResize="1" noEditPoints="1" noAdjustHandles="1" noChangeArrowheads="1" noChangeShapeType="1" noTextEdit="1"/>
              </p:cNvSpPr>
              <p:nvPr/>
            </p:nvSpPr>
            <p:spPr>
              <a:xfrm>
                <a:off x="944582" y="5647326"/>
                <a:ext cx="1786663" cy="369332"/>
              </a:xfrm>
              <a:prstGeom prst="rect">
                <a:avLst/>
              </a:prstGeom>
              <a:blipFill>
                <a:blip r:embed="rId6"/>
                <a:stretch>
                  <a:fillRect l="-3072" t="-8197" b="-24590"/>
                </a:stretch>
              </a:blipFill>
            </p:spPr>
            <p:txBody>
              <a:bodyPr/>
              <a:lstStyle/>
              <a:p>
                <a:r>
                  <a:rPr lang="en-US">
                    <a:noFill/>
                  </a:rPr>
                  <a:t> </a:t>
                </a:r>
              </a:p>
            </p:txBody>
          </p:sp>
        </mc:Fallback>
      </mc:AlternateContent>
      <p:sp>
        <p:nvSpPr>
          <p:cNvPr id="30" name="Left Brace 29">
            <a:extLst>
              <a:ext uri="{FF2B5EF4-FFF2-40B4-BE49-F238E27FC236}">
                <a16:creationId xmlns:a16="http://schemas.microsoft.com/office/drawing/2014/main" id="{B97BDC5B-DBD2-DDAD-25E3-53B056575741}"/>
              </a:ext>
            </a:extLst>
          </p:cNvPr>
          <p:cNvSpPr/>
          <p:nvPr/>
        </p:nvSpPr>
        <p:spPr>
          <a:xfrm rot="16200000">
            <a:off x="1547974" y="4480320"/>
            <a:ext cx="251285" cy="2216256"/>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9774E43-4889-95FF-6B6B-2D14CC6573A3}"/>
                  </a:ext>
                </a:extLst>
              </p:cNvPr>
              <p:cNvSpPr txBox="1"/>
              <p:nvPr/>
            </p:nvSpPr>
            <p:spPr>
              <a:xfrm>
                <a:off x="2892996" y="5649472"/>
                <a:ext cx="2216256" cy="369332"/>
              </a:xfrm>
              <a:prstGeom prst="rect">
                <a:avLst/>
              </a:prstGeom>
              <a:noFill/>
            </p:spPr>
            <p:txBody>
              <a:bodyPr wrap="square" rtlCol="0">
                <a:spAutoFit/>
              </a:bodyPr>
              <a:lstStyle/>
              <a:p>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do </a:t>
                </a:r>
                <a:r>
                  <a:rPr lang="en-US" i="1" dirty="0"/>
                  <a:t>out</a:t>
                </a:r>
                <a:endParaRPr lang="en-US" dirty="0"/>
              </a:p>
            </p:txBody>
          </p:sp>
        </mc:Choice>
        <mc:Fallback xmlns="">
          <p:sp>
            <p:nvSpPr>
              <p:cNvPr id="31" name="TextBox 30">
                <a:extLst>
                  <a:ext uri="{FF2B5EF4-FFF2-40B4-BE49-F238E27FC236}">
                    <a16:creationId xmlns:a16="http://schemas.microsoft.com/office/drawing/2014/main" id="{29774E43-4889-95FF-6B6B-2D14CC6573A3}"/>
                  </a:ext>
                </a:extLst>
              </p:cNvPr>
              <p:cNvSpPr txBox="1">
                <a:spLocks noRot="1" noChangeAspect="1" noMove="1" noResize="1" noEditPoints="1" noAdjustHandles="1" noChangeArrowheads="1" noChangeShapeType="1" noTextEdit="1"/>
              </p:cNvSpPr>
              <p:nvPr/>
            </p:nvSpPr>
            <p:spPr>
              <a:xfrm>
                <a:off x="2892996" y="5649472"/>
                <a:ext cx="2216256" cy="369332"/>
              </a:xfrm>
              <a:prstGeom prst="rect">
                <a:avLst/>
              </a:prstGeom>
              <a:blipFill>
                <a:blip r:embed="rId7"/>
                <a:stretch>
                  <a:fillRect l="-2479" t="-10000" b="-26667"/>
                </a:stretch>
              </a:blipFill>
            </p:spPr>
            <p:txBody>
              <a:bodyPr/>
              <a:lstStyle/>
              <a:p>
                <a:r>
                  <a:rPr lang="en-US">
                    <a:noFill/>
                  </a:rPr>
                  <a:t> </a:t>
                </a:r>
              </a:p>
            </p:txBody>
          </p:sp>
        </mc:Fallback>
      </mc:AlternateContent>
      <p:sp>
        <p:nvSpPr>
          <p:cNvPr id="32" name="Left Brace 31">
            <a:extLst>
              <a:ext uri="{FF2B5EF4-FFF2-40B4-BE49-F238E27FC236}">
                <a16:creationId xmlns:a16="http://schemas.microsoft.com/office/drawing/2014/main" id="{B40DD5B9-CE6D-CF1E-8F22-777F7D5CD231}"/>
              </a:ext>
            </a:extLst>
          </p:cNvPr>
          <p:cNvSpPr/>
          <p:nvPr/>
        </p:nvSpPr>
        <p:spPr>
          <a:xfrm rot="16200000">
            <a:off x="3819856" y="4507813"/>
            <a:ext cx="251285" cy="2216256"/>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EBA5B295-415F-E333-67DA-3CE3AD71F99A}"/>
              </a:ext>
            </a:extLst>
          </p:cNvPr>
          <p:cNvSpPr txBox="1"/>
          <p:nvPr/>
        </p:nvSpPr>
        <p:spPr>
          <a:xfrm>
            <a:off x="6372839" y="4903116"/>
            <a:ext cx="5091953" cy="369332"/>
          </a:xfrm>
          <a:prstGeom prst="rect">
            <a:avLst/>
          </a:prstGeom>
          <a:noFill/>
        </p:spPr>
        <p:txBody>
          <a:bodyPr wrap="square" rtlCol="0">
            <a:spAutoFit/>
          </a:bodyPr>
          <a:lstStyle/>
          <a:p>
            <a:r>
              <a:rPr lang="en-US" dirty="0"/>
              <a:t>Every profile like this:</a:t>
            </a:r>
          </a:p>
        </p:txBody>
      </p:sp>
      <p:sp>
        <p:nvSpPr>
          <p:cNvPr id="34" name="Oval 33">
            <a:extLst>
              <a:ext uri="{FF2B5EF4-FFF2-40B4-BE49-F238E27FC236}">
                <a16:creationId xmlns:a16="http://schemas.microsoft.com/office/drawing/2014/main" id="{6E6EC06B-1547-11D1-ABB5-08CCAE23AA09}"/>
              </a:ext>
            </a:extLst>
          </p:cNvPr>
          <p:cNvSpPr/>
          <p:nvPr/>
        </p:nvSpPr>
        <p:spPr>
          <a:xfrm>
            <a:off x="6894276"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727D38D-0DF1-D9D3-752D-4F49C9744AFD}"/>
              </a:ext>
            </a:extLst>
          </p:cNvPr>
          <p:cNvSpPr/>
          <p:nvPr/>
        </p:nvSpPr>
        <p:spPr>
          <a:xfrm>
            <a:off x="7199076"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40DAAF3-8405-8FD9-AAD7-14824DF82560}"/>
              </a:ext>
            </a:extLst>
          </p:cNvPr>
          <p:cNvSpPr/>
          <p:nvPr/>
        </p:nvSpPr>
        <p:spPr>
          <a:xfrm>
            <a:off x="7503876"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EC69AC8-1193-50A9-3C57-79907E6457A1}"/>
              </a:ext>
            </a:extLst>
          </p:cNvPr>
          <p:cNvSpPr/>
          <p:nvPr/>
        </p:nvSpPr>
        <p:spPr>
          <a:xfrm>
            <a:off x="8173090"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6EAF683-DCF7-E7F4-37B9-312E083EDDA8}"/>
              </a:ext>
            </a:extLst>
          </p:cNvPr>
          <p:cNvSpPr/>
          <p:nvPr/>
        </p:nvSpPr>
        <p:spPr>
          <a:xfrm>
            <a:off x="8842304"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01DDCF3-8F4B-0BEB-1C72-EB83D154BC57}"/>
              </a:ext>
            </a:extLst>
          </p:cNvPr>
          <p:cNvSpPr/>
          <p:nvPr/>
        </p:nvSpPr>
        <p:spPr>
          <a:xfrm>
            <a:off x="8497038"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E012C4E-2817-9ED5-4448-E343DF36F27B}"/>
              </a:ext>
            </a:extLst>
          </p:cNvPr>
          <p:cNvSpPr/>
          <p:nvPr/>
        </p:nvSpPr>
        <p:spPr>
          <a:xfrm>
            <a:off x="9166252"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62F924D-5AC9-9ABA-EBBF-4F92F615446C}"/>
              </a:ext>
            </a:extLst>
          </p:cNvPr>
          <p:cNvSpPr/>
          <p:nvPr/>
        </p:nvSpPr>
        <p:spPr>
          <a:xfrm>
            <a:off x="9487451"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0060FD-FBA4-F87C-2123-9E763D215802}"/>
              </a:ext>
            </a:extLst>
          </p:cNvPr>
          <p:cNvSpPr/>
          <p:nvPr/>
        </p:nvSpPr>
        <p:spPr>
          <a:xfrm>
            <a:off x="9808650"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7D9FA1C-103E-E54F-8995-CAE29A01A46C}"/>
              </a:ext>
            </a:extLst>
          </p:cNvPr>
          <p:cNvSpPr/>
          <p:nvPr/>
        </p:nvSpPr>
        <p:spPr>
          <a:xfrm>
            <a:off x="10469622" y="5284820"/>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D001409-F02A-C7E2-ABA8-35D5AB415B9A}"/>
              </a:ext>
            </a:extLst>
          </p:cNvPr>
          <p:cNvSpPr/>
          <p:nvPr/>
        </p:nvSpPr>
        <p:spPr>
          <a:xfrm>
            <a:off x="10748683" y="5284820"/>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2F6B5E2-81DD-0604-BDB5-0B022D1C22FD}"/>
              </a:ext>
            </a:extLst>
          </p:cNvPr>
          <p:cNvSpPr/>
          <p:nvPr/>
        </p:nvSpPr>
        <p:spPr>
          <a:xfrm>
            <a:off x="11027744" y="5284820"/>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878761B1-29E2-0E71-B22E-6C73095A6FB3}"/>
              </a:ext>
            </a:extLst>
          </p:cNvPr>
          <p:cNvSpPr/>
          <p:nvPr/>
        </p:nvSpPr>
        <p:spPr>
          <a:xfrm>
            <a:off x="7780128" y="5377017"/>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F66AE8A1-1EE6-066D-A406-C6A64D390E35}"/>
              </a:ext>
            </a:extLst>
          </p:cNvPr>
          <p:cNvSpPr/>
          <p:nvPr/>
        </p:nvSpPr>
        <p:spPr>
          <a:xfrm>
            <a:off x="7933139" y="5377017"/>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B55D489-0C82-AC6F-6377-1B8738186BBE}"/>
              </a:ext>
            </a:extLst>
          </p:cNvPr>
          <p:cNvSpPr/>
          <p:nvPr/>
        </p:nvSpPr>
        <p:spPr>
          <a:xfrm>
            <a:off x="8086150" y="5377017"/>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EB44FC93-6045-2A76-A395-D8966002A26E}"/>
              </a:ext>
            </a:extLst>
          </p:cNvPr>
          <p:cNvSpPr/>
          <p:nvPr/>
        </p:nvSpPr>
        <p:spPr>
          <a:xfrm>
            <a:off x="10083365" y="5361405"/>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67CE5D5-CC9D-03CA-2964-148FED936F26}"/>
              </a:ext>
            </a:extLst>
          </p:cNvPr>
          <p:cNvSpPr/>
          <p:nvPr/>
        </p:nvSpPr>
        <p:spPr>
          <a:xfrm>
            <a:off x="10213548" y="5361405"/>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A83BB54-C624-C3DC-8A05-F525995E05C8}"/>
              </a:ext>
            </a:extLst>
          </p:cNvPr>
          <p:cNvSpPr/>
          <p:nvPr/>
        </p:nvSpPr>
        <p:spPr>
          <a:xfrm>
            <a:off x="10343731" y="5361405"/>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820C8E8-27A8-BEB1-32E6-94E6C5ABB44C}"/>
              </a:ext>
            </a:extLst>
          </p:cNvPr>
          <p:cNvSpPr txBox="1"/>
          <p:nvPr/>
        </p:nvSpPr>
        <p:spPr>
          <a:xfrm>
            <a:off x="6375062" y="5869026"/>
            <a:ext cx="5091953" cy="369332"/>
          </a:xfrm>
          <a:prstGeom prst="rect">
            <a:avLst/>
          </a:prstGeom>
          <a:noFill/>
        </p:spPr>
        <p:txBody>
          <a:bodyPr wrap="square" rtlCol="0">
            <a:spAutoFit/>
          </a:bodyPr>
          <a:lstStyle/>
          <a:p>
            <a:r>
              <a:rPr lang="en-US" dirty="0"/>
              <a:t>And every profile like this:</a:t>
            </a:r>
          </a:p>
        </p:txBody>
      </p:sp>
      <p:sp>
        <p:nvSpPr>
          <p:cNvPr id="53" name="Oval 52">
            <a:extLst>
              <a:ext uri="{FF2B5EF4-FFF2-40B4-BE49-F238E27FC236}">
                <a16:creationId xmlns:a16="http://schemas.microsoft.com/office/drawing/2014/main" id="{292ABDC6-3969-80A8-EB19-053FA62A87F9}"/>
              </a:ext>
            </a:extLst>
          </p:cNvPr>
          <p:cNvSpPr/>
          <p:nvPr/>
        </p:nvSpPr>
        <p:spPr>
          <a:xfrm>
            <a:off x="6894276"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B0363B22-D3B0-D34D-AD03-D591947F77A4}"/>
              </a:ext>
            </a:extLst>
          </p:cNvPr>
          <p:cNvSpPr/>
          <p:nvPr/>
        </p:nvSpPr>
        <p:spPr>
          <a:xfrm>
            <a:off x="7199076"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1803D60-093A-5515-A245-A22D62D0EF8E}"/>
              </a:ext>
            </a:extLst>
          </p:cNvPr>
          <p:cNvSpPr/>
          <p:nvPr/>
        </p:nvSpPr>
        <p:spPr>
          <a:xfrm>
            <a:off x="7503876"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9C52ED0-38FB-1E50-24F7-CB94E1C83BFF}"/>
              </a:ext>
            </a:extLst>
          </p:cNvPr>
          <p:cNvSpPr/>
          <p:nvPr/>
        </p:nvSpPr>
        <p:spPr>
          <a:xfrm>
            <a:off x="8173090"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881FFF66-10B9-0458-0178-D710B97802ED}"/>
              </a:ext>
            </a:extLst>
          </p:cNvPr>
          <p:cNvSpPr/>
          <p:nvPr/>
        </p:nvSpPr>
        <p:spPr>
          <a:xfrm>
            <a:off x="8842304"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DBF7D168-7C5B-C6BF-B0B4-D647166BAFF8}"/>
              </a:ext>
            </a:extLst>
          </p:cNvPr>
          <p:cNvSpPr/>
          <p:nvPr/>
        </p:nvSpPr>
        <p:spPr>
          <a:xfrm>
            <a:off x="8497038"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37B139D3-8915-0606-DBF3-BFF914218373}"/>
              </a:ext>
            </a:extLst>
          </p:cNvPr>
          <p:cNvSpPr/>
          <p:nvPr/>
        </p:nvSpPr>
        <p:spPr>
          <a:xfrm>
            <a:off x="9166252"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A98D55D-3EA3-28E0-3ECC-0E86E5271F87}"/>
              </a:ext>
            </a:extLst>
          </p:cNvPr>
          <p:cNvSpPr/>
          <p:nvPr/>
        </p:nvSpPr>
        <p:spPr>
          <a:xfrm>
            <a:off x="9487451"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DD0639A4-E8C4-0065-6F71-23D27056F0BE}"/>
              </a:ext>
            </a:extLst>
          </p:cNvPr>
          <p:cNvSpPr/>
          <p:nvPr/>
        </p:nvSpPr>
        <p:spPr>
          <a:xfrm>
            <a:off x="9808650"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BCA96958-C7EC-2CE0-4B0A-E08CF25F997F}"/>
              </a:ext>
            </a:extLst>
          </p:cNvPr>
          <p:cNvSpPr/>
          <p:nvPr/>
        </p:nvSpPr>
        <p:spPr>
          <a:xfrm>
            <a:off x="10469622" y="6181231"/>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461BF07-2257-E34F-773E-4535EC2CC4CA}"/>
              </a:ext>
            </a:extLst>
          </p:cNvPr>
          <p:cNvSpPr/>
          <p:nvPr/>
        </p:nvSpPr>
        <p:spPr>
          <a:xfrm>
            <a:off x="10748683" y="6181231"/>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C862B315-B52F-2BD1-ECCC-394DE775CF2C}"/>
              </a:ext>
            </a:extLst>
          </p:cNvPr>
          <p:cNvSpPr/>
          <p:nvPr/>
        </p:nvSpPr>
        <p:spPr>
          <a:xfrm>
            <a:off x="11027744" y="6181231"/>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4DD62D03-21ED-9300-0B08-43577EEE4483}"/>
              </a:ext>
            </a:extLst>
          </p:cNvPr>
          <p:cNvSpPr/>
          <p:nvPr/>
        </p:nvSpPr>
        <p:spPr>
          <a:xfrm>
            <a:off x="7780128" y="627342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2C3F4129-4701-7B7B-A89F-0DF1D59D2FA2}"/>
              </a:ext>
            </a:extLst>
          </p:cNvPr>
          <p:cNvSpPr/>
          <p:nvPr/>
        </p:nvSpPr>
        <p:spPr>
          <a:xfrm>
            <a:off x="7933139" y="627342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E00A377B-5B06-5200-9114-68286A31E46E}"/>
              </a:ext>
            </a:extLst>
          </p:cNvPr>
          <p:cNvSpPr/>
          <p:nvPr/>
        </p:nvSpPr>
        <p:spPr>
          <a:xfrm>
            <a:off x="8086150" y="627342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37522059-C093-E0D0-0935-CB056A608EA0}"/>
              </a:ext>
            </a:extLst>
          </p:cNvPr>
          <p:cNvSpPr/>
          <p:nvPr/>
        </p:nvSpPr>
        <p:spPr>
          <a:xfrm>
            <a:off x="10083365" y="6257816"/>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8A810C24-764B-B7D3-803A-BAFD609F594D}"/>
              </a:ext>
            </a:extLst>
          </p:cNvPr>
          <p:cNvSpPr/>
          <p:nvPr/>
        </p:nvSpPr>
        <p:spPr>
          <a:xfrm>
            <a:off x="10213548" y="6257816"/>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697F62E4-7AC5-EFE8-6F5C-10C4A0829DA7}"/>
              </a:ext>
            </a:extLst>
          </p:cNvPr>
          <p:cNvSpPr/>
          <p:nvPr/>
        </p:nvSpPr>
        <p:spPr>
          <a:xfrm>
            <a:off x="10343731" y="6257816"/>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EF04B5BC-D2D1-0A04-E411-5BEA48284A49}"/>
              </a:ext>
            </a:extLst>
          </p:cNvPr>
          <p:cNvSpPr txBox="1"/>
          <p:nvPr/>
        </p:nvSpPr>
        <p:spPr>
          <a:xfrm>
            <a:off x="8309237" y="5690599"/>
            <a:ext cx="1786663" cy="369332"/>
          </a:xfrm>
          <a:prstGeom prst="rect">
            <a:avLst/>
          </a:prstGeom>
          <a:noFill/>
        </p:spPr>
        <p:txBody>
          <a:bodyPr wrap="square" rtlCol="0">
            <a:spAutoFit/>
          </a:bodyPr>
          <a:lstStyle/>
          <a:p>
            <a:r>
              <a:rPr lang="en-US" dirty="0"/>
              <a:t>Everyone does </a:t>
            </a:r>
            <a:r>
              <a:rPr lang="en-US" i="1" dirty="0"/>
              <a:t>in</a:t>
            </a:r>
            <a:endParaRPr lang="en-US" dirty="0"/>
          </a:p>
        </p:txBody>
      </p:sp>
      <p:sp>
        <p:nvSpPr>
          <p:cNvPr id="72" name="Left Brace 71">
            <a:extLst>
              <a:ext uri="{FF2B5EF4-FFF2-40B4-BE49-F238E27FC236}">
                <a16:creationId xmlns:a16="http://schemas.microsoft.com/office/drawing/2014/main" id="{9BA05697-EBDF-5A1F-5BBD-35035B262903}"/>
              </a:ext>
            </a:extLst>
          </p:cNvPr>
          <p:cNvSpPr/>
          <p:nvPr/>
        </p:nvSpPr>
        <p:spPr>
          <a:xfrm rot="16200000">
            <a:off x="8975383" y="3382753"/>
            <a:ext cx="251285" cy="447866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3" name="TextBox 72">
            <a:extLst>
              <a:ext uri="{FF2B5EF4-FFF2-40B4-BE49-F238E27FC236}">
                <a16:creationId xmlns:a16="http://schemas.microsoft.com/office/drawing/2014/main" id="{FABFC9F7-0B2D-A5B3-CEE3-294DB9390D10}"/>
              </a:ext>
            </a:extLst>
          </p:cNvPr>
          <p:cNvSpPr txBox="1"/>
          <p:nvPr/>
        </p:nvSpPr>
        <p:spPr>
          <a:xfrm>
            <a:off x="8294825" y="6552138"/>
            <a:ext cx="1987737" cy="369332"/>
          </a:xfrm>
          <a:prstGeom prst="rect">
            <a:avLst/>
          </a:prstGeom>
          <a:noFill/>
        </p:spPr>
        <p:txBody>
          <a:bodyPr wrap="square" rtlCol="0">
            <a:spAutoFit/>
          </a:bodyPr>
          <a:lstStyle/>
          <a:p>
            <a:r>
              <a:rPr lang="en-US" dirty="0"/>
              <a:t>Everyone does </a:t>
            </a:r>
            <a:r>
              <a:rPr lang="en-US" i="1" dirty="0"/>
              <a:t>out</a:t>
            </a:r>
            <a:endParaRPr lang="en-US" dirty="0"/>
          </a:p>
        </p:txBody>
      </p:sp>
      <p:sp>
        <p:nvSpPr>
          <p:cNvPr id="74" name="Left Brace 73">
            <a:extLst>
              <a:ext uri="{FF2B5EF4-FFF2-40B4-BE49-F238E27FC236}">
                <a16:creationId xmlns:a16="http://schemas.microsoft.com/office/drawing/2014/main" id="{3633A82F-AD81-F656-431C-14092680907D}"/>
              </a:ext>
            </a:extLst>
          </p:cNvPr>
          <p:cNvSpPr/>
          <p:nvPr/>
        </p:nvSpPr>
        <p:spPr>
          <a:xfrm rot="16200000">
            <a:off x="8960971" y="4244292"/>
            <a:ext cx="251285" cy="447866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100470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17F54-AB55-7047-31FE-D58365F0B8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41B751-83A4-9B05-532C-A51B63529892}"/>
              </a:ext>
            </a:extLst>
          </p:cNvPr>
          <p:cNvSpPr txBox="1"/>
          <p:nvPr/>
        </p:nvSpPr>
        <p:spPr>
          <a:xfrm>
            <a:off x="137465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a:t>
            </a:r>
            <a:r>
              <a:rPr lang="en-US" sz="2400" b="1"/>
              <a:t>substitutes for</a:t>
            </a:r>
            <a:r>
              <a:rPr lang="en-US" sz="2400" b="1" i="1"/>
              <a:t> in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1EFF539-EDAA-253A-6DCF-0578ED0F4358}"/>
                  </a:ext>
                </a:extLst>
              </p:cNvPr>
              <p:cNvSpPr txBox="1"/>
              <p:nvPr/>
            </p:nvSpPr>
            <p:spPr>
              <a:xfrm>
                <a:off x="161926" y="1495425"/>
                <a:ext cx="5655014" cy="5362574"/>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dirty="0"/>
                  <a:t>N</a:t>
                </a:r>
                <a:r>
                  <a:rPr lang="en-US" dirty="0"/>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dirty="0"/>
              </a:p>
              <a:p>
                <a:pPr marL="285750" indent="-285750">
                  <a:buFont typeface="Arial" panose="020B0604020202020204" pitchFamily="34" charset="0"/>
                  <a:buChar char="•"/>
                </a:pPr>
                <a:r>
                  <a:rPr lang="en-US" dirty="0"/>
                  <a:t>Each person does </a:t>
                </a:r>
                <a:r>
                  <a:rPr lang="en-US" i="1" dirty="0"/>
                  <a:t>in</a:t>
                </a:r>
                <a:r>
                  <a:rPr lang="en-US" dirty="0"/>
                  <a:t> or </a:t>
                </a:r>
                <a:r>
                  <a:rPr lang="en-US" i="1" dirty="0"/>
                  <a:t>out</a:t>
                </a:r>
                <a:endParaRPr lang="en-US" dirty="0"/>
              </a:p>
              <a:p>
                <a:pPr marL="285750" indent="-285750">
                  <a:buFont typeface="Arial" panose="020B0604020202020204" pitchFamily="34" charset="0"/>
                  <a:buChar char="•"/>
                </a:pPr>
                <a:r>
                  <a:rPr lang="en-US" dirty="0"/>
                  <a:t>There is a threshold </a:t>
                </a:r>
                <a14:m>
                  <m:oMath xmlns:m="http://schemas.openxmlformats.org/officeDocument/2006/math">
                    <m:r>
                      <a:rPr lang="en-US" b="0" i="1" smtClean="0">
                        <a:latin typeface="Cambria Math" panose="02040503050406030204" pitchFamily="18" charset="0"/>
                      </a:rPr>
                      <m:t>𝑆</m:t>
                    </m:r>
                  </m:oMath>
                </a14:m>
                <a:r>
                  <a:rPr lang="en-US" dirty="0"/>
                  <a:t> such that each person’s payoff is given by:</a:t>
                </a:r>
              </a:p>
            </p:txBody>
          </p:sp>
        </mc:Choice>
        <mc:Fallback xmlns="">
          <p:sp>
            <p:nvSpPr>
              <p:cNvPr id="4" name="TextBox 3">
                <a:extLst>
                  <a:ext uri="{FF2B5EF4-FFF2-40B4-BE49-F238E27FC236}">
                    <a16:creationId xmlns:a16="http://schemas.microsoft.com/office/drawing/2014/main" id="{11EFF539-EDAA-253A-6DCF-0578ED0F4358}"/>
                  </a:ext>
                </a:extLst>
              </p:cNvPr>
              <p:cNvSpPr txBox="1">
                <a:spLocks noRot="1" noChangeAspect="1" noMove="1" noResize="1" noEditPoints="1" noAdjustHandles="1" noChangeArrowheads="1" noChangeShapeType="1" noTextEdit="1"/>
              </p:cNvSpPr>
              <p:nvPr/>
            </p:nvSpPr>
            <p:spPr>
              <a:xfrm>
                <a:off x="161926" y="1495425"/>
                <a:ext cx="5655014" cy="5362574"/>
              </a:xfrm>
              <a:prstGeom prst="rect">
                <a:avLst/>
              </a:prstGeom>
              <a:blipFill>
                <a:blip r:embed="rId2"/>
                <a:stretch>
                  <a:fillRect l="-536" t="-339"/>
                </a:stretch>
              </a:blipFill>
              <a:ln w="28575">
                <a:solidFill>
                  <a:schemeClr val="accent1"/>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CB9172DD-7FC3-2A51-7A19-89D01A28A4A6}"/>
              </a:ext>
            </a:extLst>
          </p:cNvPr>
          <p:cNvPicPr>
            <a:picLocks noChangeAspect="1"/>
          </p:cNvPicPr>
          <p:nvPr/>
        </p:nvPicPr>
        <p:blipFill>
          <a:blip r:embed="rId3"/>
          <a:stretch>
            <a:fillRect/>
          </a:stretch>
        </p:blipFill>
        <p:spPr>
          <a:xfrm>
            <a:off x="289998" y="2982441"/>
            <a:ext cx="5331166" cy="163718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AED7BB6-1A38-AEE5-62BA-5F641EE805AD}"/>
                  </a:ext>
                </a:extLst>
              </p:cNvPr>
              <p:cNvSpPr txBox="1"/>
              <p:nvPr/>
            </p:nvSpPr>
            <p:spPr>
              <a:xfrm>
                <a:off x="6375062" y="1495424"/>
                <a:ext cx="5655012" cy="5362575"/>
              </a:xfrm>
              <a:prstGeom prst="rect">
                <a:avLst/>
              </a:prstGeom>
              <a:noFill/>
              <a:ln w="28575">
                <a:solidFill>
                  <a:schemeClr val="accent1"/>
                </a:solidFill>
              </a:ln>
            </p:spPr>
            <p:txBody>
              <a:bodyPr wrap="square" rtlCol="0">
                <a:noAutofit/>
              </a:bodyPr>
              <a:lstStyle/>
              <a:p>
                <a:pPr marL="285750" indent="-285750">
                  <a:buFont typeface="Arial" panose="020B0604020202020204" pitchFamily="34" charset="0"/>
                  <a:buChar char="•"/>
                </a:pPr>
                <a:r>
                  <a:rPr lang="en-US" i="1"/>
                  <a:t>N</a:t>
                </a:r>
                <a:r>
                  <a:rPr lang="en-US"/>
                  <a:t> persons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≥3)</m:t>
                    </m:r>
                  </m:oMath>
                </a14:m>
                <a:endParaRPr lang="en-US" b="0"/>
              </a:p>
              <a:p>
                <a:pPr marL="285750" indent="-285750">
                  <a:buFont typeface="Arial" panose="020B0604020202020204" pitchFamily="34" charset="0"/>
                  <a:buChar char="•"/>
                </a:pPr>
                <a:r>
                  <a:rPr lang="en-US"/>
                  <a:t>Each person does </a:t>
                </a:r>
                <a:r>
                  <a:rPr lang="en-US" i="1"/>
                  <a:t>in</a:t>
                </a:r>
                <a:r>
                  <a:rPr lang="en-US"/>
                  <a:t> or </a:t>
                </a:r>
                <a:r>
                  <a:rPr lang="en-US" i="1"/>
                  <a:t>out</a:t>
                </a:r>
                <a:endParaRPr lang="en-US"/>
              </a:p>
              <a:p>
                <a:pPr marL="285750" indent="-285750">
                  <a:buFont typeface="Arial" panose="020B0604020202020204" pitchFamily="34" charset="0"/>
                  <a:buChar char="•"/>
                </a:pPr>
                <a:r>
                  <a:rPr lang="en-US"/>
                  <a:t>There is a threshold </a:t>
                </a:r>
                <a14:m>
                  <m:oMath xmlns:m="http://schemas.openxmlformats.org/officeDocument/2006/math">
                    <m:r>
                      <a:rPr lang="en-US" b="0" i="1" smtClean="0">
                        <a:latin typeface="Cambria Math" panose="02040503050406030204" pitchFamily="18" charset="0"/>
                      </a:rPr>
                      <m:t>𝐶</m:t>
                    </m:r>
                  </m:oMath>
                </a14:m>
                <a:r>
                  <a:rPr lang="en-US"/>
                  <a:t> such that each person’s payoff is given by:</a:t>
                </a:r>
              </a:p>
            </p:txBody>
          </p:sp>
        </mc:Choice>
        <mc:Fallback xmlns="">
          <p:sp>
            <p:nvSpPr>
              <p:cNvPr id="6" name="TextBox 5">
                <a:extLst>
                  <a:ext uri="{FF2B5EF4-FFF2-40B4-BE49-F238E27FC236}">
                    <a16:creationId xmlns:a16="http://schemas.microsoft.com/office/drawing/2014/main" id="{CAED7BB6-1A38-AEE5-62BA-5F641EE805AD}"/>
                  </a:ext>
                </a:extLst>
              </p:cNvPr>
              <p:cNvSpPr txBox="1">
                <a:spLocks noRot="1" noChangeAspect="1" noMove="1" noResize="1" noEditPoints="1" noAdjustHandles="1" noChangeArrowheads="1" noChangeShapeType="1" noTextEdit="1"/>
              </p:cNvSpPr>
              <p:nvPr/>
            </p:nvSpPr>
            <p:spPr>
              <a:xfrm>
                <a:off x="6375062" y="1495424"/>
                <a:ext cx="5655012" cy="5362575"/>
              </a:xfrm>
              <a:prstGeom prst="rect">
                <a:avLst/>
              </a:prstGeom>
              <a:blipFill>
                <a:blip r:embed="rId4"/>
                <a:stretch>
                  <a:fillRect l="-536" t="-339"/>
                </a:stretch>
              </a:blipFill>
              <a:ln w="28575">
                <a:solidFill>
                  <a:schemeClr val="accent1"/>
                </a:solidFill>
              </a:ln>
            </p:spPr>
            <p:txBody>
              <a:bodyPr/>
              <a:lstStyle/>
              <a:p>
                <a:r>
                  <a:rPr lang="en-US">
                    <a:noFill/>
                  </a:rPr>
                  <a:t> </a:t>
                </a:r>
              </a:p>
            </p:txBody>
          </p:sp>
        </mc:Fallback>
      </mc:AlternateContent>
      <p:pic>
        <p:nvPicPr>
          <p:cNvPr id="7" name="Picture 6">
            <a:extLst>
              <a:ext uri="{FF2B5EF4-FFF2-40B4-BE49-F238E27FC236}">
                <a16:creationId xmlns:a16="http://schemas.microsoft.com/office/drawing/2014/main" id="{1CA3EBB4-A99E-CFE4-69B5-CBFE29E6C475}"/>
              </a:ext>
            </a:extLst>
          </p:cNvPr>
          <p:cNvPicPr>
            <a:picLocks noChangeAspect="1"/>
          </p:cNvPicPr>
          <p:nvPr/>
        </p:nvPicPr>
        <p:blipFill>
          <a:blip r:embed="rId5"/>
          <a:stretch>
            <a:fillRect/>
          </a:stretch>
        </p:blipFill>
        <p:spPr>
          <a:xfrm>
            <a:off x="6625789" y="3030612"/>
            <a:ext cx="5245893" cy="1465188"/>
          </a:xfrm>
          <a:prstGeom prst="rect">
            <a:avLst/>
          </a:prstGeom>
        </p:spPr>
      </p:pic>
      <p:sp>
        <p:nvSpPr>
          <p:cNvPr id="8" name="TextBox 7">
            <a:extLst>
              <a:ext uri="{FF2B5EF4-FFF2-40B4-BE49-F238E27FC236}">
                <a16:creationId xmlns:a16="http://schemas.microsoft.com/office/drawing/2014/main" id="{1A371677-6FB7-8FFC-5A3B-06CB2E5D591F}"/>
              </a:ext>
            </a:extLst>
          </p:cNvPr>
          <p:cNvSpPr txBox="1"/>
          <p:nvPr/>
        </p:nvSpPr>
        <p:spPr>
          <a:xfrm>
            <a:off x="441204" y="4552860"/>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9" name="TextBox 8">
            <a:extLst>
              <a:ext uri="{FF2B5EF4-FFF2-40B4-BE49-F238E27FC236}">
                <a16:creationId xmlns:a16="http://schemas.microsoft.com/office/drawing/2014/main" id="{8502F506-AF60-DE41-85A2-2E6895C9BD28}"/>
              </a:ext>
            </a:extLst>
          </p:cNvPr>
          <p:cNvSpPr txBox="1"/>
          <p:nvPr/>
        </p:nvSpPr>
        <p:spPr>
          <a:xfrm>
            <a:off x="6640344" y="4552860"/>
            <a:ext cx="5124450"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i="1"/>
              <a:t>Which profiles are Nash Equilibria in this game?</a:t>
            </a:r>
          </a:p>
        </p:txBody>
      </p:sp>
      <p:sp>
        <p:nvSpPr>
          <p:cNvPr id="10" name="TextBox 9">
            <a:extLst>
              <a:ext uri="{FF2B5EF4-FFF2-40B4-BE49-F238E27FC236}">
                <a16:creationId xmlns:a16="http://schemas.microsoft.com/office/drawing/2014/main" id="{FBCB693C-B4F1-3C8C-BF45-87F03940458C}"/>
              </a:ext>
            </a:extLst>
          </p:cNvPr>
          <p:cNvSpPr txBox="1"/>
          <p:nvPr/>
        </p:nvSpPr>
        <p:spPr>
          <a:xfrm>
            <a:off x="7573794" y="361861"/>
            <a:ext cx="3257550" cy="830997"/>
          </a:xfrm>
          <a:prstGeom prst="rect">
            <a:avLst/>
          </a:prstGeom>
          <a:noFill/>
        </p:spPr>
        <p:txBody>
          <a:bodyPr wrap="square" rtlCol="0">
            <a:spAutoFit/>
          </a:bodyPr>
          <a:lstStyle/>
          <a:p>
            <a:pPr algn="ctr"/>
            <a:r>
              <a:rPr lang="en-US" sz="2400" b="1"/>
              <a:t>An in-out game in which</a:t>
            </a:r>
          </a:p>
          <a:p>
            <a:pPr algn="ctr"/>
            <a:r>
              <a:rPr lang="en-US" sz="2400" b="1" i="1"/>
              <a:t>in complements in</a:t>
            </a:r>
          </a:p>
        </p:txBody>
      </p:sp>
      <p:sp>
        <p:nvSpPr>
          <p:cNvPr id="3" name="TextBox 2">
            <a:extLst>
              <a:ext uri="{FF2B5EF4-FFF2-40B4-BE49-F238E27FC236}">
                <a16:creationId xmlns:a16="http://schemas.microsoft.com/office/drawing/2014/main" id="{F52554A0-3349-60DB-5199-2E68DCAF5A9E}"/>
              </a:ext>
            </a:extLst>
          </p:cNvPr>
          <p:cNvSpPr txBox="1"/>
          <p:nvPr/>
        </p:nvSpPr>
        <p:spPr>
          <a:xfrm>
            <a:off x="320318" y="4894862"/>
            <a:ext cx="5091953" cy="369332"/>
          </a:xfrm>
          <a:prstGeom prst="rect">
            <a:avLst/>
          </a:prstGeom>
          <a:noFill/>
        </p:spPr>
        <p:txBody>
          <a:bodyPr wrap="square" rtlCol="0">
            <a:spAutoFit/>
          </a:bodyPr>
          <a:lstStyle/>
          <a:p>
            <a:r>
              <a:rPr lang="en-US" dirty="0"/>
              <a:t>Every profile like this:</a:t>
            </a:r>
          </a:p>
        </p:txBody>
      </p:sp>
      <p:sp>
        <p:nvSpPr>
          <p:cNvPr id="11" name="Oval 10">
            <a:extLst>
              <a:ext uri="{FF2B5EF4-FFF2-40B4-BE49-F238E27FC236}">
                <a16:creationId xmlns:a16="http://schemas.microsoft.com/office/drawing/2014/main" id="{59149AA4-59A1-F786-CF9B-1952B48BA6C5}"/>
              </a:ext>
            </a:extLst>
          </p:cNvPr>
          <p:cNvSpPr/>
          <p:nvPr/>
        </p:nvSpPr>
        <p:spPr>
          <a:xfrm>
            <a:off x="6115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9F002B6-76EB-44D9-5C68-844F9AD77B1E}"/>
              </a:ext>
            </a:extLst>
          </p:cNvPr>
          <p:cNvSpPr/>
          <p:nvPr/>
        </p:nvSpPr>
        <p:spPr>
          <a:xfrm>
            <a:off x="9163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439F2D0-9FED-8E11-702E-1E2975F3F75F}"/>
              </a:ext>
            </a:extLst>
          </p:cNvPr>
          <p:cNvSpPr/>
          <p:nvPr/>
        </p:nvSpPr>
        <p:spPr>
          <a:xfrm>
            <a:off x="1221133"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967102D-9114-9A1A-F573-F55F73F30FC2}"/>
              </a:ext>
            </a:extLst>
          </p:cNvPr>
          <p:cNvSpPr/>
          <p:nvPr/>
        </p:nvSpPr>
        <p:spPr>
          <a:xfrm>
            <a:off x="1890347"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9663B21-F28A-432B-7DA7-C6A738E67FC1}"/>
              </a:ext>
            </a:extLst>
          </p:cNvPr>
          <p:cNvSpPr/>
          <p:nvPr/>
        </p:nvSpPr>
        <p:spPr>
          <a:xfrm>
            <a:off x="2559561"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62C6457-5A67-C2F0-74D0-C2A27516CF08}"/>
              </a:ext>
            </a:extLst>
          </p:cNvPr>
          <p:cNvSpPr/>
          <p:nvPr/>
        </p:nvSpPr>
        <p:spPr>
          <a:xfrm>
            <a:off x="2214295" y="5263492"/>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2E8765D-21D0-D0B2-9E5D-0329A194FBF0}"/>
              </a:ext>
            </a:extLst>
          </p:cNvPr>
          <p:cNvSpPr/>
          <p:nvPr/>
        </p:nvSpPr>
        <p:spPr>
          <a:xfrm>
            <a:off x="2883509"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444AD8E-9256-78AD-3B45-DDDB125CFE19}"/>
              </a:ext>
            </a:extLst>
          </p:cNvPr>
          <p:cNvSpPr/>
          <p:nvPr/>
        </p:nvSpPr>
        <p:spPr>
          <a:xfrm>
            <a:off x="3204708"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7D77379-FFD5-1558-2520-02501C97793F}"/>
              </a:ext>
            </a:extLst>
          </p:cNvPr>
          <p:cNvSpPr/>
          <p:nvPr/>
        </p:nvSpPr>
        <p:spPr>
          <a:xfrm>
            <a:off x="3525907" y="5263492"/>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1565369-5F85-DD88-0B54-FFB756790CF8}"/>
              </a:ext>
            </a:extLst>
          </p:cNvPr>
          <p:cNvSpPr/>
          <p:nvPr/>
        </p:nvSpPr>
        <p:spPr>
          <a:xfrm>
            <a:off x="4186879"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11F76EB-4111-9520-8B48-24B86E844650}"/>
              </a:ext>
            </a:extLst>
          </p:cNvPr>
          <p:cNvSpPr/>
          <p:nvPr/>
        </p:nvSpPr>
        <p:spPr>
          <a:xfrm>
            <a:off x="4465940"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5396017-BFF8-5048-D6A7-0CF1C8861BC4}"/>
              </a:ext>
            </a:extLst>
          </p:cNvPr>
          <p:cNvSpPr/>
          <p:nvPr/>
        </p:nvSpPr>
        <p:spPr>
          <a:xfrm>
            <a:off x="4745001" y="5250313"/>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DDD1434-5A85-E43B-22BB-787D12A104D8}"/>
              </a:ext>
            </a:extLst>
          </p:cNvPr>
          <p:cNvSpPr/>
          <p:nvPr/>
        </p:nvSpPr>
        <p:spPr>
          <a:xfrm>
            <a:off x="1497385"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A5780C2-B906-50CE-1EFA-283A147189F9}"/>
              </a:ext>
            </a:extLst>
          </p:cNvPr>
          <p:cNvSpPr/>
          <p:nvPr/>
        </p:nvSpPr>
        <p:spPr>
          <a:xfrm>
            <a:off x="1650396"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4CC71E1-EB9C-C29E-5CFF-8606703B91AA}"/>
              </a:ext>
            </a:extLst>
          </p:cNvPr>
          <p:cNvSpPr/>
          <p:nvPr/>
        </p:nvSpPr>
        <p:spPr>
          <a:xfrm>
            <a:off x="1803407" y="5342510"/>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88AE91C-2ADC-A8FA-B250-CD9DFF9D12EC}"/>
              </a:ext>
            </a:extLst>
          </p:cNvPr>
          <p:cNvSpPr/>
          <p:nvPr/>
        </p:nvSpPr>
        <p:spPr>
          <a:xfrm>
            <a:off x="3800622"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E241922-5315-1B2C-C929-852FFB4C579E}"/>
              </a:ext>
            </a:extLst>
          </p:cNvPr>
          <p:cNvSpPr/>
          <p:nvPr/>
        </p:nvSpPr>
        <p:spPr>
          <a:xfrm>
            <a:off x="3930805"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79AF490-CA29-AEC5-90D4-01F75E42B4E2}"/>
              </a:ext>
            </a:extLst>
          </p:cNvPr>
          <p:cNvSpPr/>
          <p:nvPr/>
        </p:nvSpPr>
        <p:spPr>
          <a:xfrm>
            <a:off x="4060988" y="532689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9DFD289-9EA2-BD42-D1FF-03F1C887698C}"/>
                  </a:ext>
                </a:extLst>
              </p:cNvPr>
              <p:cNvSpPr txBox="1"/>
              <p:nvPr/>
            </p:nvSpPr>
            <p:spPr>
              <a:xfrm>
                <a:off x="944582" y="5647326"/>
                <a:ext cx="1786663" cy="369332"/>
              </a:xfrm>
              <a:prstGeom prst="rect">
                <a:avLst/>
              </a:prstGeom>
              <a:noFill/>
            </p:spPr>
            <p:txBody>
              <a:bodyPr wrap="square" rtlCol="0">
                <a:spAutoFit/>
              </a:bodyPr>
              <a:lstStyle/>
              <a:p>
                <a:r>
                  <a:rPr lang="en-US" dirty="0"/>
                  <a:t>Exactly </a:t>
                </a:r>
                <a14:m>
                  <m:oMath xmlns:m="http://schemas.openxmlformats.org/officeDocument/2006/math">
                    <m:r>
                      <a:rPr lang="en-US" b="0" i="1" smtClean="0">
                        <a:latin typeface="Cambria Math" panose="02040503050406030204" pitchFamily="18" charset="0"/>
                      </a:rPr>
                      <m:t>𝑆</m:t>
                    </m:r>
                  </m:oMath>
                </a14:m>
                <a:r>
                  <a:rPr lang="en-US" dirty="0"/>
                  <a:t> do </a:t>
                </a:r>
                <a:r>
                  <a:rPr lang="en-US" i="1" dirty="0"/>
                  <a:t>in</a:t>
                </a:r>
                <a:endParaRPr lang="en-US" dirty="0"/>
              </a:p>
            </p:txBody>
          </p:sp>
        </mc:Choice>
        <mc:Fallback xmlns="">
          <p:sp>
            <p:nvSpPr>
              <p:cNvPr id="29" name="TextBox 28">
                <a:extLst>
                  <a:ext uri="{FF2B5EF4-FFF2-40B4-BE49-F238E27FC236}">
                    <a16:creationId xmlns:a16="http://schemas.microsoft.com/office/drawing/2014/main" id="{C9DFD289-9EA2-BD42-D1FF-03F1C887698C}"/>
                  </a:ext>
                </a:extLst>
              </p:cNvPr>
              <p:cNvSpPr txBox="1">
                <a:spLocks noRot="1" noChangeAspect="1" noMove="1" noResize="1" noEditPoints="1" noAdjustHandles="1" noChangeArrowheads="1" noChangeShapeType="1" noTextEdit="1"/>
              </p:cNvSpPr>
              <p:nvPr/>
            </p:nvSpPr>
            <p:spPr>
              <a:xfrm>
                <a:off x="944582" y="5647326"/>
                <a:ext cx="1786663" cy="369332"/>
              </a:xfrm>
              <a:prstGeom prst="rect">
                <a:avLst/>
              </a:prstGeom>
              <a:blipFill>
                <a:blip r:embed="rId6"/>
                <a:stretch>
                  <a:fillRect l="-3072" t="-8197" b="-24590"/>
                </a:stretch>
              </a:blipFill>
            </p:spPr>
            <p:txBody>
              <a:bodyPr/>
              <a:lstStyle/>
              <a:p>
                <a:r>
                  <a:rPr lang="en-US">
                    <a:noFill/>
                  </a:rPr>
                  <a:t> </a:t>
                </a:r>
              </a:p>
            </p:txBody>
          </p:sp>
        </mc:Fallback>
      </mc:AlternateContent>
      <p:sp>
        <p:nvSpPr>
          <p:cNvPr id="30" name="Left Brace 29">
            <a:extLst>
              <a:ext uri="{FF2B5EF4-FFF2-40B4-BE49-F238E27FC236}">
                <a16:creationId xmlns:a16="http://schemas.microsoft.com/office/drawing/2014/main" id="{D30BD217-C3AD-3442-CAAD-B509181F28D5}"/>
              </a:ext>
            </a:extLst>
          </p:cNvPr>
          <p:cNvSpPr/>
          <p:nvPr/>
        </p:nvSpPr>
        <p:spPr>
          <a:xfrm rot="16200000">
            <a:off x="1547974" y="4480320"/>
            <a:ext cx="251285" cy="2216256"/>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2217947-C090-804B-3844-CAB0D0F78F14}"/>
                  </a:ext>
                </a:extLst>
              </p:cNvPr>
              <p:cNvSpPr txBox="1"/>
              <p:nvPr/>
            </p:nvSpPr>
            <p:spPr>
              <a:xfrm>
                <a:off x="2892996" y="5649472"/>
                <a:ext cx="2216256" cy="369332"/>
              </a:xfrm>
              <a:prstGeom prst="rect">
                <a:avLst/>
              </a:prstGeom>
              <a:noFill/>
            </p:spPr>
            <p:txBody>
              <a:bodyPr wrap="square" rtlCol="0">
                <a:spAutoFit/>
              </a:bodyPr>
              <a:lstStyle/>
              <a:p>
                <a:r>
                  <a:rPr lang="en-US" dirty="0"/>
                  <a:t>Exactly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do </a:t>
                </a:r>
                <a:r>
                  <a:rPr lang="en-US" i="1" dirty="0"/>
                  <a:t>out</a:t>
                </a:r>
                <a:endParaRPr lang="en-US" dirty="0"/>
              </a:p>
            </p:txBody>
          </p:sp>
        </mc:Choice>
        <mc:Fallback xmlns="">
          <p:sp>
            <p:nvSpPr>
              <p:cNvPr id="31" name="TextBox 30">
                <a:extLst>
                  <a:ext uri="{FF2B5EF4-FFF2-40B4-BE49-F238E27FC236}">
                    <a16:creationId xmlns:a16="http://schemas.microsoft.com/office/drawing/2014/main" id="{E2217947-C090-804B-3844-CAB0D0F78F14}"/>
                  </a:ext>
                </a:extLst>
              </p:cNvPr>
              <p:cNvSpPr txBox="1">
                <a:spLocks noRot="1" noChangeAspect="1" noMove="1" noResize="1" noEditPoints="1" noAdjustHandles="1" noChangeArrowheads="1" noChangeShapeType="1" noTextEdit="1"/>
              </p:cNvSpPr>
              <p:nvPr/>
            </p:nvSpPr>
            <p:spPr>
              <a:xfrm>
                <a:off x="2892996" y="5649472"/>
                <a:ext cx="2216256" cy="369332"/>
              </a:xfrm>
              <a:prstGeom prst="rect">
                <a:avLst/>
              </a:prstGeom>
              <a:blipFill>
                <a:blip r:embed="rId7"/>
                <a:stretch>
                  <a:fillRect l="-2479" t="-10000" b="-26667"/>
                </a:stretch>
              </a:blipFill>
            </p:spPr>
            <p:txBody>
              <a:bodyPr/>
              <a:lstStyle/>
              <a:p>
                <a:r>
                  <a:rPr lang="en-US">
                    <a:noFill/>
                  </a:rPr>
                  <a:t> </a:t>
                </a:r>
              </a:p>
            </p:txBody>
          </p:sp>
        </mc:Fallback>
      </mc:AlternateContent>
      <p:sp>
        <p:nvSpPr>
          <p:cNvPr id="32" name="Left Brace 31">
            <a:extLst>
              <a:ext uri="{FF2B5EF4-FFF2-40B4-BE49-F238E27FC236}">
                <a16:creationId xmlns:a16="http://schemas.microsoft.com/office/drawing/2014/main" id="{2ECE9BFE-EF9D-91D1-AC21-57ED20298150}"/>
              </a:ext>
            </a:extLst>
          </p:cNvPr>
          <p:cNvSpPr/>
          <p:nvPr/>
        </p:nvSpPr>
        <p:spPr>
          <a:xfrm rot="16200000">
            <a:off x="3819856" y="4507813"/>
            <a:ext cx="251285" cy="2216256"/>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71B0B135-4C93-1614-6627-F6ADD3247516}"/>
              </a:ext>
            </a:extLst>
          </p:cNvPr>
          <p:cNvSpPr txBox="1"/>
          <p:nvPr/>
        </p:nvSpPr>
        <p:spPr>
          <a:xfrm>
            <a:off x="6372839" y="4903116"/>
            <a:ext cx="5091953" cy="369332"/>
          </a:xfrm>
          <a:prstGeom prst="rect">
            <a:avLst/>
          </a:prstGeom>
          <a:noFill/>
        </p:spPr>
        <p:txBody>
          <a:bodyPr wrap="square" rtlCol="0">
            <a:spAutoFit/>
          </a:bodyPr>
          <a:lstStyle/>
          <a:p>
            <a:r>
              <a:rPr lang="en-US" dirty="0"/>
              <a:t>Every profile like this:</a:t>
            </a:r>
          </a:p>
        </p:txBody>
      </p:sp>
      <p:sp>
        <p:nvSpPr>
          <p:cNvPr id="34" name="Oval 33">
            <a:extLst>
              <a:ext uri="{FF2B5EF4-FFF2-40B4-BE49-F238E27FC236}">
                <a16:creationId xmlns:a16="http://schemas.microsoft.com/office/drawing/2014/main" id="{CBD6EA66-6EF7-733B-0A73-E8CDF7CE2EFE}"/>
              </a:ext>
            </a:extLst>
          </p:cNvPr>
          <p:cNvSpPr/>
          <p:nvPr/>
        </p:nvSpPr>
        <p:spPr>
          <a:xfrm>
            <a:off x="6894276"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26D1D8E-68A2-1A85-E9CF-98CD517876E5}"/>
              </a:ext>
            </a:extLst>
          </p:cNvPr>
          <p:cNvSpPr/>
          <p:nvPr/>
        </p:nvSpPr>
        <p:spPr>
          <a:xfrm>
            <a:off x="7199076"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AC43E277-B1BC-6BE0-1DBC-1768CCF86130}"/>
              </a:ext>
            </a:extLst>
          </p:cNvPr>
          <p:cNvSpPr/>
          <p:nvPr/>
        </p:nvSpPr>
        <p:spPr>
          <a:xfrm>
            <a:off x="7503876"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2AC5BD3-1C8D-5FDA-DCE4-6A5DD8410CBF}"/>
              </a:ext>
            </a:extLst>
          </p:cNvPr>
          <p:cNvSpPr/>
          <p:nvPr/>
        </p:nvSpPr>
        <p:spPr>
          <a:xfrm>
            <a:off x="8173090"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AF9A851-F84B-C82F-3572-68EE572AB730}"/>
              </a:ext>
            </a:extLst>
          </p:cNvPr>
          <p:cNvSpPr/>
          <p:nvPr/>
        </p:nvSpPr>
        <p:spPr>
          <a:xfrm>
            <a:off x="8842304"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B860385A-DFF6-A332-DCE2-B3E6F29E035C}"/>
              </a:ext>
            </a:extLst>
          </p:cNvPr>
          <p:cNvSpPr/>
          <p:nvPr/>
        </p:nvSpPr>
        <p:spPr>
          <a:xfrm>
            <a:off x="8497038"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0478D2CF-7E0B-2A04-6559-B5A05A742A3C}"/>
              </a:ext>
            </a:extLst>
          </p:cNvPr>
          <p:cNvSpPr/>
          <p:nvPr/>
        </p:nvSpPr>
        <p:spPr>
          <a:xfrm>
            <a:off x="9166252"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849A9DF-EDE1-4C13-DE88-5A929663859B}"/>
              </a:ext>
            </a:extLst>
          </p:cNvPr>
          <p:cNvSpPr/>
          <p:nvPr/>
        </p:nvSpPr>
        <p:spPr>
          <a:xfrm>
            <a:off x="9487451"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A95F4AA-07D9-82D8-C1C1-7D86F1FECC14}"/>
              </a:ext>
            </a:extLst>
          </p:cNvPr>
          <p:cNvSpPr/>
          <p:nvPr/>
        </p:nvSpPr>
        <p:spPr>
          <a:xfrm>
            <a:off x="9808650" y="5297999"/>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D6D8FB26-9BA9-FC78-F77D-74B17B55689D}"/>
              </a:ext>
            </a:extLst>
          </p:cNvPr>
          <p:cNvSpPr/>
          <p:nvPr/>
        </p:nvSpPr>
        <p:spPr>
          <a:xfrm>
            <a:off x="10469622" y="5284820"/>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5A188EF-6BB7-B5CD-7226-8F3727BD7699}"/>
              </a:ext>
            </a:extLst>
          </p:cNvPr>
          <p:cNvSpPr/>
          <p:nvPr/>
        </p:nvSpPr>
        <p:spPr>
          <a:xfrm>
            <a:off x="10748683" y="5284820"/>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6ED8105D-D984-2882-F97E-890B4DF51CF7}"/>
              </a:ext>
            </a:extLst>
          </p:cNvPr>
          <p:cNvSpPr/>
          <p:nvPr/>
        </p:nvSpPr>
        <p:spPr>
          <a:xfrm>
            <a:off x="11027744" y="5284820"/>
            <a:ext cx="222184" cy="22218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DC59F04-4D85-6760-889C-B1757065D2CE}"/>
              </a:ext>
            </a:extLst>
          </p:cNvPr>
          <p:cNvSpPr/>
          <p:nvPr/>
        </p:nvSpPr>
        <p:spPr>
          <a:xfrm>
            <a:off x="7780128" y="5377017"/>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40DC17F5-D5F6-4794-8544-952E11CA275C}"/>
              </a:ext>
            </a:extLst>
          </p:cNvPr>
          <p:cNvSpPr/>
          <p:nvPr/>
        </p:nvSpPr>
        <p:spPr>
          <a:xfrm>
            <a:off x="7933139" y="5377017"/>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74EE91D-88EC-993D-712E-E59B09A52FB0}"/>
              </a:ext>
            </a:extLst>
          </p:cNvPr>
          <p:cNvSpPr/>
          <p:nvPr/>
        </p:nvSpPr>
        <p:spPr>
          <a:xfrm>
            <a:off x="8086150" y="5377017"/>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B10A31FF-B264-CBA3-DBF1-370E5887199C}"/>
              </a:ext>
            </a:extLst>
          </p:cNvPr>
          <p:cNvSpPr/>
          <p:nvPr/>
        </p:nvSpPr>
        <p:spPr>
          <a:xfrm>
            <a:off x="10083365" y="5361405"/>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EF43D71-0BAB-0DFF-3F31-0060F5047DCC}"/>
              </a:ext>
            </a:extLst>
          </p:cNvPr>
          <p:cNvSpPr/>
          <p:nvPr/>
        </p:nvSpPr>
        <p:spPr>
          <a:xfrm>
            <a:off x="10213548" y="5361405"/>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EA61621-EA14-EC3B-886C-06E36D3D0EF3}"/>
              </a:ext>
            </a:extLst>
          </p:cNvPr>
          <p:cNvSpPr/>
          <p:nvPr/>
        </p:nvSpPr>
        <p:spPr>
          <a:xfrm>
            <a:off x="10343731" y="5361405"/>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866ACED3-AC42-1227-9226-7A8DD69A4D0E}"/>
              </a:ext>
            </a:extLst>
          </p:cNvPr>
          <p:cNvSpPr txBox="1"/>
          <p:nvPr/>
        </p:nvSpPr>
        <p:spPr>
          <a:xfrm>
            <a:off x="6375062" y="5869026"/>
            <a:ext cx="5091953" cy="369332"/>
          </a:xfrm>
          <a:prstGeom prst="rect">
            <a:avLst/>
          </a:prstGeom>
          <a:noFill/>
        </p:spPr>
        <p:txBody>
          <a:bodyPr wrap="square" rtlCol="0">
            <a:spAutoFit/>
          </a:bodyPr>
          <a:lstStyle/>
          <a:p>
            <a:r>
              <a:rPr lang="en-US" dirty="0"/>
              <a:t>And every profile like this:</a:t>
            </a:r>
          </a:p>
        </p:txBody>
      </p:sp>
      <p:sp>
        <p:nvSpPr>
          <p:cNvPr id="53" name="Oval 52">
            <a:extLst>
              <a:ext uri="{FF2B5EF4-FFF2-40B4-BE49-F238E27FC236}">
                <a16:creationId xmlns:a16="http://schemas.microsoft.com/office/drawing/2014/main" id="{9952D48A-D3F8-439A-F8DF-B22EE85FA45E}"/>
              </a:ext>
            </a:extLst>
          </p:cNvPr>
          <p:cNvSpPr/>
          <p:nvPr/>
        </p:nvSpPr>
        <p:spPr>
          <a:xfrm>
            <a:off x="6894276"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FFDCCFB-4E52-5BF7-AF40-25FE312A4E89}"/>
              </a:ext>
            </a:extLst>
          </p:cNvPr>
          <p:cNvSpPr/>
          <p:nvPr/>
        </p:nvSpPr>
        <p:spPr>
          <a:xfrm>
            <a:off x="7199076"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6450D4D-F81B-F50A-8AA1-0218F9BD5719}"/>
              </a:ext>
            </a:extLst>
          </p:cNvPr>
          <p:cNvSpPr/>
          <p:nvPr/>
        </p:nvSpPr>
        <p:spPr>
          <a:xfrm>
            <a:off x="7503876"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0CA57F6A-C8E4-BCA6-9983-44AF2D669FBA}"/>
              </a:ext>
            </a:extLst>
          </p:cNvPr>
          <p:cNvSpPr/>
          <p:nvPr/>
        </p:nvSpPr>
        <p:spPr>
          <a:xfrm>
            <a:off x="8173090"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A84357D-EC54-795F-DE60-8A8ACE7907C5}"/>
              </a:ext>
            </a:extLst>
          </p:cNvPr>
          <p:cNvSpPr/>
          <p:nvPr/>
        </p:nvSpPr>
        <p:spPr>
          <a:xfrm>
            <a:off x="8842304"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3133C15-D2FC-E6C6-C349-EE0C1D1C3F60}"/>
              </a:ext>
            </a:extLst>
          </p:cNvPr>
          <p:cNvSpPr/>
          <p:nvPr/>
        </p:nvSpPr>
        <p:spPr>
          <a:xfrm>
            <a:off x="8497038"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893F73B9-A7B6-0B9A-8F0A-6A23EDCD4723}"/>
              </a:ext>
            </a:extLst>
          </p:cNvPr>
          <p:cNvSpPr/>
          <p:nvPr/>
        </p:nvSpPr>
        <p:spPr>
          <a:xfrm>
            <a:off x="9166252"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CA3857FA-0C23-E452-E3DA-A02692D9FAF6}"/>
              </a:ext>
            </a:extLst>
          </p:cNvPr>
          <p:cNvSpPr/>
          <p:nvPr/>
        </p:nvSpPr>
        <p:spPr>
          <a:xfrm>
            <a:off x="9487451"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2E3C119A-B9C2-5BD9-6402-9C5E127E40B0}"/>
              </a:ext>
            </a:extLst>
          </p:cNvPr>
          <p:cNvSpPr/>
          <p:nvPr/>
        </p:nvSpPr>
        <p:spPr>
          <a:xfrm>
            <a:off x="9808650" y="6194410"/>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3F527438-AAD4-4F1C-9702-991D1BE96A8D}"/>
              </a:ext>
            </a:extLst>
          </p:cNvPr>
          <p:cNvSpPr/>
          <p:nvPr/>
        </p:nvSpPr>
        <p:spPr>
          <a:xfrm>
            <a:off x="10469622" y="6181231"/>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0565706A-AC5C-09A0-DDED-D1C05BCC47B9}"/>
              </a:ext>
            </a:extLst>
          </p:cNvPr>
          <p:cNvSpPr/>
          <p:nvPr/>
        </p:nvSpPr>
        <p:spPr>
          <a:xfrm>
            <a:off x="10748683" y="6181231"/>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2F0EFC38-15B1-5188-0274-D507A1D7534D}"/>
              </a:ext>
            </a:extLst>
          </p:cNvPr>
          <p:cNvSpPr/>
          <p:nvPr/>
        </p:nvSpPr>
        <p:spPr>
          <a:xfrm>
            <a:off x="11027744" y="6181231"/>
            <a:ext cx="222184" cy="2221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7904034-1B7C-46E0-0D02-68E188318541}"/>
              </a:ext>
            </a:extLst>
          </p:cNvPr>
          <p:cNvSpPr/>
          <p:nvPr/>
        </p:nvSpPr>
        <p:spPr>
          <a:xfrm>
            <a:off x="7780128" y="627342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28F44686-0BDE-51CE-CAFA-829B4D5DF75A}"/>
              </a:ext>
            </a:extLst>
          </p:cNvPr>
          <p:cNvSpPr/>
          <p:nvPr/>
        </p:nvSpPr>
        <p:spPr>
          <a:xfrm>
            <a:off x="7933139" y="627342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F17EA465-BD8E-AC35-B56D-74BED12506B7}"/>
              </a:ext>
            </a:extLst>
          </p:cNvPr>
          <p:cNvSpPr/>
          <p:nvPr/>
        </p:nvSpPr>
        <p:spPr>
          <a:xfrm>
            <a:off x="8086150" y="6273428"/>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E41AFF1-86E8-88B2-5B86-AC9B2331D015}"/>
              </a:ext>
            </a:extLst>
          </p:cNvPr>
          <p:cNvSpPr/>
          <p:nvPr/>
        </p:nvSpPr>
        <p:spPr>
          <a:xfrm>
            <a:off x="10083365" y="6257816"/>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31F3B98E-C90E-FDEB-DBBA-E7EDBC9CD924}"/>
              </a:ext>
            </a:extLst>
          </p:cNvPr>
          <p:cNvSpPr/>
          <p:nvPr/>
        </p:nvSpPr>
        <p:spPr>
          <a:xfrm>
            <a:off x="10213548" y="6257816"/>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34C7D2DC-C629-D9BA-FB1E-695B9F50121A}"/>
              </a:ext>
            </a:extLst>
          </p:cNvPr>
          <p:cNvSpPr/>
          <p:nvPr/>
        </p:nvSpPr>
        <p:spPr>
          <a:xfrm>
            <a:off x="10343731" y="6257816"/>
            <a:ext cx="69014" cy="6901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ABE8914F-CF7F-8102-97E8-8B7AB93A7DEE}"/>
              </a:ext>
            </a:extLst>
          </p:cNvPr>
          <p:cNvSpPr txBox="1"/>
          <p:nvPr/>
        </p:nvSpPr>
        <p:spPr>
          <a:xfrm>
            <a:off x="8309237" y="5690599"/>
            <a:ext cx="1786663" cy="369332"/>
          </a:xfrm>
          <a:prstGeom prst="rect">
            <a:avLst/>
          </a:prstGeom>
          <a:noFill/>
        </p:spPr>
        <p:txBody>
          <a:bodyPr wrap="square" rtlCol="0">
            <a:spAutoFit/>
          </a:bodyPr>
          <a:lstStyle/>
          <a:p>
            <a:r>
              <a:rPr lang="en-US" dirty="0"/>
              <a:t>Everyone does </a:t>
            </a:r>
            <a:r>
              <a:rPr lang="en-US" i="1" dirty="0"/>
              <a:t>in</a:t>
            </a:r>
            <a:endParaRPr lang="en-US" dirty="0"/>
          </a:p>
        </p:txBody>
      </p:sp>
      <p:sp>
        <p:nvSpPr>
          <p:cNvPr id="72" name="Left Brace 71">
            <a:extLst>
              <a:ext uri="{FF2B5EF4-FFF2-40B4-BE49-F238E27FC236}">
                <a16:creationId xmlns:a16="http://schemas.microsoft.com/office/drawing/2014/main" id="{957E623A-4DB0-81D8-67DB-B9D3A7AAE9C9}"/>
              </a:ext>
            </a:extLst>
          </p:cNvPr>
          <p:cNvSpPr/>
          <p:nvPr/>
        </p:nvSpPr>
        <p:spPr>
          <a:xfrm rot="16200000">
            <a:off x="8975383" y="3382753"/>
            <a:ext cx="251285" cy="447866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3" name="TextBox 72">
            <a:extLst>
              <a:ext uri="{FF2B5EF4-FFF2-40B4-BE49-F238E27FC236}">
                <a16:creationId xmlns:a16="http://schemas.microsoft.com/office/drawing/2014/main" id="{BF5E203E-A0D0-87B5-BA7A-B3701FF49D16}"/>
              </a:ext>
            </a:extLst>
          </p:cNvPr>
          <p:cNvSpPr txBox="1"/>
          <p:nvPr/>
        </p:nvSpPr>
        <p:spPr>
          <a:xfrm>
            <a:off x="8294825" y="6552138"/>
            <a:ext cx="1987737" cy="369332"/>
          </a:xfrm>
          <a:prstGeom prst="rect">
            <a:avLst/>
          </a:prstGeom>
          <a:noFill/>
        </p:spPr>
        <p:txBody>
          <a:bodyPr wrap="square" rtlCol="0">
            <a:spAutoFit/>
          </a:bodyPr>
          <a:lstStyle/>
          <a:p>
            <a:r>
              <a:rPr lang="en-US" dirty="0"/>
              <a:t>Everyone does </a:t>
            </a:r>
            <a:r>
              <a:rPr lang="en-US" i="1" dirty="0"/>
              <a:t>out</a:t>
            </a:r>
            <a:endParaRPr lang="en-US" dirty="0"/>
          </a:p>
        </p:txBody>
      </p:sp>
      <p:sp>
        <p:nvSpPr>
          <p:cNvPr id="74" name="Left Brace 73">
            <a:extLst>
              <a:ext uri="{FF2B5EF4-FFF2-40B4-BE49-F238E27FC236}">
                <a16:creationId xmlns:a16="http://schemas.microsoft.com/office/drawing/2014/main" id="{C92701DD-3033-F9F0-D6F7-8289FC4A8F62}"/>
              </a:ext>
            </a:extLst>
          </p:cNvPr>
          <p:cNvSpPr/>
          <p:nvPr/>
        </p:nvSpPr>
        <p:spPr>
          <a:xfrm rot="16200000">
            <a:off x="8960971" y="4244292"/>
            <a:ext cx="251285" cy="447866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TextBox 74">
            <a:extLst>
              <a:ext uri="{FF2B5EF4-FFF2-40B4-BE49-F238E27FC236}">
                <a16:creationId xmlns:a16="http://schemas.microsoft.com/office/drawing/2014/main" id="{5A129CC9-AD4E-7101-A494-9E6407521C88}"/>
              </a:ext>
            </a:extLst>
          </p:cNvPr>
          <p:cNvSpPr txBox="1"/>
          <p:nvPr/>
        </p:nvSpPr>
        <p:spPr>
          <a:xfrm rot="2014015">
            <a:off x="3890748" y="2501299"/>
            <a:ext cx="4205077" cy="923330"/>
          </a:xfrm>
          <a:prstGeom prst="rect">
            <a:avLst/>
          </a:prstGeom>
          <a:solidFill>
            <a:schemeClr val="accent2"/>
          </a:solidFill>
        </p:spPr>
        <p:txBody>
          <a:bodyPr wrap="square" rtlCol="0">
            <a:spAutoFit/>
          </a:bodyPr>
          <a:lstStyle/>
          <a:p>
            <a:pPr algn="ctr"/>
            <a:r>
              <a:rPr lang="en-US" sz="5400" b="1" i="1" dirty="0"/>
              <a:t>SO WHAT???</a:t>
            </a:r>
          </a:p>
        </p:txBody>
      </p:sp>
    </p:spTree>
    <p:extLst>
      <p:ext uri="{BB962C8B-B14F-4D97-AF65-F5344CB8AC3E}">
        <p14:creationId xmlns:p14="http://schemas.microsoft.com/office/powerpoint/2010/main" val="3254055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92C012-50F8-8D0B-FF40-3682D71034CF}"/>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Tree>
    <p:extLst>
      <p:ext uri="{BB962C8B-B14F-4D97-AF65-F5344CB8AC3E}">
        <p14:creationId xmlns:p14="http://schemas.microsoft.com/office/powerpoint/2010/main" val="19478367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FB4C3-E9D3-6163-B8A2-F20BC85049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A4AB40-DCFE-A89C-3C99-FA5EADAD6DCB}"/>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87926184-5B60-6AC5-F902-1607D60A2B8F}"/>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2EBF69F4-CB5E-EF59-A156-210F34AE051D}"/>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7C7D051B-EDA1-2430-46B4-CA714F255439}"/>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22A837C-B437-20A6-AC12-36E1240EC7B8}"/>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B8C0C21-7A01-3CA8-E43F-14D9E41EAEEF}"/>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430C80C-2CA1-78A8-4F19-CD14E4F8628A}"/>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078E344-9F1D-B29A-4E1B-0AE02F3DCE9A}"/>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FBBFAB1-C7F6-AD36-326B-2BBC02109804}"/>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1AF8045-390D-724D-A876-37F1E212FE0D}"/>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895CBDA-B16B-546C-D385-ACA8A19C9A03}"/>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2C0BF9D-A4FF-6752-96F6-F6FE84A444D4}"/>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98BE3F8-106D-568F-19C4-47D95D2CB08B}"/>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53C0355-6F1F-DB43-C209-446FE0F563E6}"/>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EF1448D-29B4-DDFC-CEAC-00B549E599BB}"/>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C6312E1-E02E-315A-9551-0BCA2BD67E8B}"/>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79A4A0E-50D3-8C31-26A2-893A38EA8B95}"/>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BB928AF-6DB8-0527-1582-878D6088F6DC}"/>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B97876E-369B-BD2A-B167-63115B8C9458}"/>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2110460-D382-D8B5-0A62-D52BAD1395F7}"/>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C6164EA-6628-2602-F1B7-938D2F70492D}"/>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EF0E981-9047-594D-F2AB-FE05D36AEB95}"/>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A2E09ED-A326-F82F-EBDC-409EF6FD7623}"/>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D4E2E5A-B999-D403-1CE0-3423A50A0EE1}"/>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D127FC3-8934-24C4-B893-B43354ABFED6}"/>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96C22D1-3E07-4AA9-B65B-598A69450E08}"/>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7FCF396-E314-70C8-E015-5F3906834020}"/>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FCDFCC15-45CA-E7AC-2E87-113570CE5119}"/>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494D5AB-265F-D010-D3C4-117A39093901}"/>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39D6358-644C-6451-2019-F70629720A1F}"/>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94BC28B-FFB0-286C-BA64-A1D09BA53E8D}"/>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5622537-5E37-7F4F-4A9F-F434545B42BE}"/>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97AC3A93-11C4-D23B-99F8-CB8C37B5561B}"/>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61656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1FE73-3749-B294-D5DB-D58EEED29B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9FE9E9-BD09-AFF4-3200-9075F1659B44}"/>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21517314-98D3-A24F-DFAB-E27233C8EA2C}"/>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1209A51D-D1D1-7E19-E15D-B46057F78E57}"/>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431D1376-5245-9272-0562-8443333AE019}"/>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AE3C4AB-CE15-E145-0352-8262DF782BB9}"/>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C54420E-1758-C249-290E-1A6DF9930CA7}"/>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F703B35-98EF-E2ED-2D8B-6DA84FD864B7}"/>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5A59BB3-B123-E32E-141B-3EBF8E5AC2B3}"/>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4BCEB6B-5CDD-AB0F-D198-1B7C73286078}"/>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AF66B17-509D-782D-FE96-7455249E3F4F}"/>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999813F-2590-BDDE-8FE3-0A862E9E085E}"/>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C97D5E1-533C-0BF0-9E6E-E068E4753CE0}"/>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A206921-0C9A-FEE2-9D51-CF2EC58C3602}"/>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61CD45B-695F-408E-9C55-55FAD2FD8590}"/>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E26A7A0-9249-2E6D-D42C-9404A5B3172A}"/>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FB78959-0226-1E6B-C4E1-7574A2E41412}"/>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0106A46-D7CC-DF57-613F-C237016DCF32}"/>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A027551-9A77-DCEE-52B8-1FC9EC9FB731}"/>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9FF0C18-B653-6CB4-85A4-20D5BE9AA955}"/>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F8DCC03-6D7A-66DB-2442-740B3D44BBF1}"/>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D8C0B8D-DBE2-2620-6613-705E13D6D129}"/>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F16D024-5976-69B1-E0C1-F476E7E3BA0B}"/>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C4D7BA9-1C35-CA5C-4E7B-5943AF88EE77}"/>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B60C239-4DE4-D562-1C6B-D16085C6564A}"/>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C22ED62-94DB-AA9C-A45B-FF6A9B434A0D}"/>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A661161-5B74-0F1F-12D7-6903ED691EDF}"/>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1767B5E-946E-E7F2-CDEF-8570B8314881}"/>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6EAD2D6-591F-C7E8-FE07-ED0D2373B305}"/>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2F5CCAD-CB9A-5906-AA27-8C3F7C3EBCE3}"/>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96CE74D-630F-9BDB-ED05-6937B0047E9D}"/>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7779A9D-27EB-621B-65A7-0C81340F5C3D}"/>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F47097E-9BAD-8163-EA2E-EF85300C6B50}"/>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51C2C9F-EABF-E4A2-49F0-721206E7D4C8}"/>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F5911D3-E0F6-C66C-078D-270FBB93F9A9}"/>
              </a:ext>
            </a:extLst>
          </p:cNvPr>
          <p:cNvSpPr txBox="1"/>
          <p:nvPr/>
        </p:nvSpPr>
        <p:spPr>
          <a:xfrm>
            <a:off x="2949398" y="2295489"/>
            <a:ext cx="6562167" cy="1200329"/>
          </a:xfrm>
          <a:prstGeom prst="rect">
            <a:avLst/>
          </a:prstGeom>
          <a:solidFill>
            <a:schemeClr val="bg1"/>
          </a:solidFill>
          <a:ln w="28575">
            <a:solidFill>
              <a:schemeClr val="tx1"/>
            </a:solidFill>
          </a:ln>
        </p:spPr>
        <p:txBody>
          <a:bodyPr wrap="square" rtlCol="0">
            <a:spAutoFit/>
          </a:bodyPr>
          <a:lstStyle/>
          <a:p>
            <a:r>
              <a:rPr lang="en-US" dirty="0"/>
              <a:t>Think of a Nash Equilibrium as an “self-reinforcing” plan of action for the group.  In that plan, everyone has a role.  And each person WANTS to play their assigned role, if they EXPECT everyone else to go along with the plan.  </a:t>
            </a:r>
          </a:p>
        </p:txBody>
      </p:sp>
    </p:spTree>
    <p:extLst>
      <p:ext uri="{BB962C8B-B14F-4D97-AF65-F5344CB8AC3E}">
        <p14:creationId xmlns:p14="http://schemas.microsoft.com/office/powerpoint/2010/main" val="41427943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C1619-22C0-C458-25E7-403547AFA7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8CE506-24DE-2ED2-1A82-AF69C6DE1804}"/>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7DD3271F-AA19-003F-014C-AF5906C0698E}"/>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D7CA5F9E-1A25-C5E6-3569-BC3FC5797F3A}"/>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8EB8056E-2D18-9C7D-384B-9F747E15C7AE}"/>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E013E46-0EE3-8BE4-C9E9-03B6A1E2CEDA}"/>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A515978-BA5F-2872-3AA2-E5580F015439}"/>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C85955-439F-B18B-1FFA-93659DB5AB32}"/>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D0C1FE0-FF67-A371-02D9-509B519971F9}"/>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6EA2CEB-6C6E-0BF1-2450-D39E06A7A7FB}"/>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CACCF57-E75C-4734-E601-5E617B94FD76}"/>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0190FE5-DCD4-0368-D379-D76C9EB3728E}"/>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72C207F-9B8D-92D5-1A8B-505D6303FC63}"/>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F75F31E-B283-1D0D-B092-055E37B02287}"/>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B6C429C-AE38-32D8-EFF0-533214FC6D54}"/>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4E5C333-EA8D-A5B8-FE9C-C38E28377256}"/>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56C769D-9EE6-0F4E-3796-4D03641F5F02}"/>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E6CD364-B219-57E0-25E0-4892AD9A9742}"/>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8072D92-1FDC-1254-1F55-6457D00DF441}"/>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5B7529C-57D8-561C-2AD6-C0CF682069F1}"/>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3FAA8E4-A806-6B47-EF88-4D80FF87F91B}"/>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0FD178D-5C55-2A1A-5DA4-D12EC930D2BF}"/>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56E2901-909E-5F0B-8FDB-8DFEEF59903F}"/>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73DB58B-E96C-D27F-00BA-DE87BDFCA7AF}"/>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7119040-CC08-9591-2890-41D1E5CFCB4F}"/>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EDA2122-C7B4-1C56-BF0E-009DFAD92D15}"/>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A62365C-62A9-D000-A832-090101BB1D5A}"/>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4303D04-F25B-F293-6E7A-DFA38FBB02AA}"/>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2B889B9-337D-DFAC-60AB-ACA2F5914AA3}"/>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4E7A260-0D88-6DDD-A2B9-ABF9DBD3C785}"/>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4BEDBD7-0401-55F5-66AF-D9CDD938E24F}"/>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9B7AFA4-3BFA-DCDD-7143-5498BD3188F5}"/>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47D264B-C853-6817-00FD-DA8233999CF8}"/>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CB87954-7444-D6DA-A5AC-F80C2D9CE3A4}"/>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D82241D-41F9-328C-6D67-FB46D1FF7183}"/>
              </a:ext>
            </a:extLst>
          </p:cNvPr>
          <p:cNvSpPr txBox="1"/>
          <p:nvPr/>
        </p:nvSpPr>
        <p:spPr>
          <a:xfrm>
            <a:off x="2949398" y="2295489"/>
            <a:ext cx="6562167" cy="2031325"/>
          </a:xfrm>
          <a:prstGeom prst="rect">
            <a:avLst/>
          </a:prstGeom>
          <a:solidFill>
            <a:schemeClr val="bg1"/>
          </a:solidFill>
          <a:ln w="28575">
            <a:solidFill>
              <a:schemeClr val="tx1"/>
            </a:solidFill>
          </a:ln>
        </p:spPr>
        <p:txBody>
          <a:bodyPr wrap="square" rtlCol="0">
            <a:spAutoFit/>
          </a:bodyPr>
          <a:lstStyle/>
          <a:p>
            <a:r>
              <a:rPr lang="en-US" dirty="0"/>
              <a:t>Think of a Nash Equilibrium as an “self-reinforcing” plan of action for the group.  In that plan, everyone has a role.  And each person WANTS to play their assigned role, if they EXPECT everyone else to go along with the plan.</a:t>
            </a:r>
          </a:p>
          <a:p>
            <a:endParaRPr lang="en-US" dirty="0"/>
          </a:p>
          <a:p>
            <a:r>
              <a:rPr lang="en-US" dirty="0"/>
              <a:t>In this view, the real problem groups face is to decide </a:t>
            </a:r>
            <a:r>
              <a:rPr lang="en-US" b="1" dirty="0"/>
              <a:t>WHICH </a:t>
            </a:r>
            <a:r>
              <a:rPr lang="en-US" dirty="0"/>
              <a:t>of many Nash Equilibrium profiles to play.</a:t>
            </a:r>
          </a:p>
        </p:txBody>
      </p:sp>
    </p:spTree>
    <p:extLst>
      <p:ext uri="{BB962C8B-B14F-4D97-AF65-F5344CB8AC3E}">
        <p14:creationId xmlns:p14="http://schemas.microsoft.com/office/powerpoint/2010/main" val="34849786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55F9-67CE-6444-8795-0B93180F3F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1DA65D-303B-8A6F-F6E8-B8FC8B57A01B}"/>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9D53A0E1-8C66-7885-8A68-8303B22B9F6F}"/>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A1963182-9E06-0D3B-B494-10F8B47CAB03}"/>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5F160BD7-B19F-D1D8-ADC2-4CEB1A77BAAA}"/>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42A8AF6-E28D-A270-C377-D429B5C97BA8}"/>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04B9136-D27A-E8B5-52DA-F3B22F5B6F6E}"/>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8C0B42C-48F9-C6F7-4C04-DEA550C7FD77}"/>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C7D736C-9414-83CF-2BF4-5990F30475D2}"/>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34AB839-9267-FAB7-242A-8608207ED8DF}"/>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E6988D6-B297-FA8E-B9C0-353AC9DCE527}"/>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2BB1C2C-F3FC-2060-96AA-13482C9A12AE}"/>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F252395-B07C-E7BB-1A24-63012F902F03}"/>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D2B5959-0740-67B3-3CF7-243A4177F26B}"/>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FC79025-9FB5-1FF6-4931-3E0CA49E4A06}"/>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1D28CA4-26DD-70E3-75C3-8C7041E0DB00}"/>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94600C0-CE64-CAC6-3765-3CEE13B69E18}"/>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41F18E7-44B4-34E0-86B7-E08C9BCF0083}"/>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588FED0-0ADD-EF6E-7E00-178DE3FD9A71}"/>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873D9FA-CD25-3FF9-4CFD-D4B516F90342}"/>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616DC93-F2EA-7271-14BE-03CDC2EC2F62}"/>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BA45373-06CA-DC71-1196-76A5673E61A8}"/>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D2467AB-BE78-D333-E3F3-853BB0C3A053}"/>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8D9719B-D94F-529B-8750-7510BB7FF868}"/>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C008D81-97E3-EFD6-3E22-374D87B5E387}"/>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847AA00-D667-4394-4A8F-8B37B2E9A639}"/>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3798F51-57FD-0A36-0223-12FE18178F39}"/>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F31D564-36A5-3957-99CD-0573389CFD7A}"/>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47F6648-EAB8-E4B9-26A2-EE247E83CC00}"/>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E09102C-830A-58B8-1D89-3BB3DB71EE53}"/>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07BAE73-22FA-B03B-4125-5CDE546763F3}"/>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200008D-4483-254F-53BE-81E86AFF179E}"/>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8377F0B-A8C8-8782-1C75-DF2ECA4F91F9}"/>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2161C2C-E25D-723C-C6D0-48254D8A08FC}"/>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D21FADE-AB7B-17CB-5158-3D46EF35879A}"/>
              </a:ext>
            </a:extLst>
          </p:cNvPr>
          <p:cNvSpPr txBox="1"/>
          <p:nvPr/>
        </p:nvSpPr>
        <p:spPr>
          <a:xfrm rot="1652943">
            <a:off x="1611068" y="862906"/>
            <a:ext cx="4820567" cy="2308324"/>
          </a:xfrm>
          <a:prstGeom prst="rect">
            <a:avLst/>
          </a:prstGeom>
          <a:solidFill>
            <a:schemeClr val="bg1"/>
          </a:solidFill>
          <a:ln w="28575">
            <a:solidFill>
              <a:schemeClr val="tx1"/>
            </a:solidFill>
          </a:ln>
        </p:spPr>
        <p:txBody>
          <a:bodyPr wrap="square" rtlCol="0">
            <a:spAutoFit/>
          </a:bodyPr>
          <a:lstStyle/>
          <a:p>
            <a:r>
              <a:rPr lang="en-US" sz="2400" b="1" dirty="0">
                <a:latin typeface="Bradley Hand ITC" panose="03070402050302030203" pitchFamily="66" charset="0"/>
              </a:rPr>
              <a:t>OK people, we need 2 main dishes, 2 side dishes, and 2 deserts for the pot luck.  That means we only need 6 people to make a dish.  Which 6 of us are going to do bring a dish this time?</a:t>
            </a:r>
          </a:p>
        </p:txBody>
      </p:sp>
    </p:spTree>
    <p:extLst>
      <p:ext uri="{BB962C8B-B14F-4D97-AF65-F5344CB8AC3E}">
        <p14:creationId xmlns:p14="http://schemas.microsoft.com/office/powerpoint/2010/main" val="42406146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0FC12-9E1F-D764-EE65-0509087370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4EA968-6588-1E05-C885-2B9D56F7256A}"/>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84503C48-EEB5-4179-4721-54D4B4FF9E84}"/>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49359635-E745-7CB1-CC16-C2B850457AE0}"/>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4C96C67F-C5C8-49F4-1120-A8644BA959D9}"/>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25283B2-84F9-B988-A008-D99E5E9244AE}"/>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FFA7C31-C9B2-D1DD-B988-191B45D4C439}"/>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0E5E202-8AFE-D88D-7D7C-EF788F08FE0C}"/>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C7AA5EF-9F7D-DA16-454B-1AC8B757A11C}"/>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B7665FE-D465-62A3-D68B-633EEADBF543}"/>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1FA1424-C3A2-EA6C-5B76-BFDC1C085F53}"/>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8416CB1-4D96-3924-ECB3-FD2F6FE1A435}"/>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C6FAD2B-B933-3D92-133D-0E63595AF2EF}"/>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929D12A-A903-134D-8F0C-383CD2B7F3AE}"/>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8C867E6-6FD3-05F2-16AB-053EF8BF96E8}"/>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0417B21-7760-7FC8-1095-92FF47838A8C}"/>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089C3BB-0538-90EC-4EB3-4BFE932B6D28}"/>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4571F23-23F5-DA0C-BC52-37F8B7A22E73}"/>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69790C6-3BB7-2332-A538-AFA4DC01B63B}"/>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514E1A9-83E8-E25C-F54A-D4E81A596C5A}"/>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852BCAF-B787-07C9-048F-F4E1B73F6268}"/>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F65B7BD-6C5E-AE11-5E51-7E46FEB5FDE9}"/>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F07674D-3A12-CB45-46D4-46B25ABA3A2A}"/>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44C76A6-E26F-3E10-C9C0-6331168A76E7}"/>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E990C91A-BF5E-1296-886B-D9D8B493E125}"/>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647653F-F2CF-4555-2199-3676E6C78448}"/>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E7EA820-98FB-2762-8EFF-E06346455C1A}"/>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37113CD-13E7-90C7-727C-2AC4D0E63C08}"/>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A7742B1-8985-BE23-EEB6-AC4F33ED411A}"/>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08B3A13D-9C12-C05E-5D4F-5D34BCE0A269}"/>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E5C1229-57B9-6164-A8FD-DAB0FA8EF286}"/>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2504062-9E4B-609A-2640-39B727BA605B}"/>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D4EF979-6748-BF4B-A0E7-7AB868D9E0AF}"/>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2936032A-4E79-29E0-5AE9-D1A262D20DF0}"/>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9039ED2-BAB0-ECD1-B461-3F42E00A958F}"/>
              </a:ext>
            </a:extLst>
          </p:cNvPr>
          <p:cNvSpPr txBox="1"/>
          <p:nvPr/>
        </p:nvSpPr>
        <p:spPr>
          <a:xfrm rot="1652943">
            <a:off x="1611068" y="862906"/>
            <a:ext cx="4820567" cy="2308324"/>
          </a:xfrm>
          <a:prstGeom prst="rect">
            <a:avLst/>
          </a:prstGeom>
          <a:solidFill>
            <a:schemeClr val="bg1"/>
          </a:solidFill>
          <a:ln w="28575">
            <a:solidFill>
              <a:schemeClr val="tx1"/>
            </a:solidFill>
          </a:ln>
        </p:spPr>
        <p:txBody>
          <a:bodyPr wrap="square" rtlCol="0">
            <a:spAutoFit/>
          </a:bodyPr>
          <a:lstStyle/>
          <a:p>
            <a:r>
              <a:rPr lang="en-US" sz="2400" b="1" dirty="0">
                <a:latin typeface="Bradley Hand ITC" panose="03070402050302030203" pitchFamily="66" charset="0"/>
              </a:rPr>
              <a:t>OK people, we need 2 main dishes, 2 side dishes, and 2 deserts for the pot luck.  That means we only need 6 people to make a dish.  Which 6 of us are going to do bring a dish this time?</a:t>
            </a:r>
          </a:p>
        </p:txBody>
      </p:sp>
      <p:sp>
        <p:nvSpPr>
          <p:cNvPr id="36" name="TextBox 35">
            <a:extLst>
              <a:ext uri="{FF2B5EF4-FFF2-40B4-BE49-F238E27FC236}">
                <a16:creationId xmlns:a16="http://schemas.microsoft.com/office/drawing/2014/main" id="{91B7A4CD-E17C-BF6F-92AB-060E7E4A603B}"/>
              </a:ext>
            </a:extLst>
          </p:cNvPr>
          <p:cNvSpPr txBox="1"/>
          <p:nvPr/>
        </p:nvSpPr>
        <p:spPr>
          <a:xfrm>
            <a:off x="779928" y="4557698"/>
            <a:ext cx="3989298" cy="1754326"/>
          </a:xfrm>
          <a:prstGeom prst="rect">
            <a:avLst/>
          </a:prstGeom>
          <a:solidFill>
            <a:schemeClr val="bg1"/>
          </a:solidFill>
        </p:spPr>
        <p:txBody>
          <a:bodyPr wrap="square" rtlCol="0">
            <a:spAutoFit/>
          </a:bodyPr>
          <a:lstStyle/>
          <a:p>
            <a:r>
              <a:rPr lang="en-US" dirty="0"/>
              <a:t>When participation substitutes for participation, the problem the group must solve is </a:t>
            </a:r>
            <a:r>
              <a:rPr lang="en-US" i="1" dirty="0"/>
              <a:t>how to distribute the burden</a:t>
            </a:r>
            <a:r>
              <a:rPr lang="en-US" dirty="0"/>
              <a:t>.  Which persons in the group will put in the work, just up to the point where no more work is needed?</a:t>
            </a:r>
          </a:p>
        </p:txBody>
      </p:sp>
    </p:spTree>
    <p:extLst>
      <p:ext uri="{BB962C8B-B14F-4D97-AF65-F5344CB8AC3E}">
        <p14:creationId xmlns:p14="http://schemas.microsoft.com/office/powerpoint/2010/main" val="137309573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2FA9D-F8AF-66D6-7CE8-40F4DAA5D2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E81F71-4B61-69EF-A4E7-BCCBDCBC6787}"/>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0E9E3CF5-FAD2-FFE1-C1A4-8941BDF3F381}"/>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28D5F928-A77B-3DA6-1E6D-BF7AB0E2BC97}"/>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9DF05001-4A8A-8419-D52C-DFB195F8F3B9}"/>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8B84D86-C714-46C8-7104-89825CF4D957}"/>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919079B-6EE9-3BB0-EBFC-223AFE483928}"/>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4C0A393-9E96-1BBD-C92F-9809382A1D66}"/>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12D61E6-C2F9-2138-EA5E-EE853AE8DCAE}"/>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764B7E4-84FA-C52A-D585-1962DCB527AB}"/>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5F388CD-B43F-B65E-4E20-01093EE4AD8F}"/>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8B71FC9-2AA2-51AC-FE43-61E5A21B455C}"/>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4B3AD6A-B6DD-E66C-BDB5-4329EFBC3EA5}"/>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78A1BAD-B273-7C04-C99A-6192EE203FCF}"/>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D47E441-F713-C4AA-C768-B8248FCE8934}"/>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412EAE0-DF6F-05D8-E812-134D5FED758D}"/>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8A70120-2587-5A6D-4A58-91F76FDD7A73}"/>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28ECFBB-271C-67F5-2B3B-1D662AC68684}"/>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D1DBCF0-2EA8-D495-E953-120D6A012599}"/>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632D15B-7C44-6135-28EE-08E1BD4401C4}"/>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23DD07B-F80D-3EC1-B347-2B94BBF448E6}"/>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6A456AB-3679-67F3-7155-C2204FAB8596}"/>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E489C4F-2F6A-FE5E-6CC1-74B13D780CF1}"/>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817CA1E-9320-E00E-CA34-87E264BC96D0}"/>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C3ED735-FE32-170C-2F35-74F3B9B551F7}"/>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2620A59-4F5F-CEA8-62BE-8FACC4990062}"/>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535A5D-6301-FFC9-375D-1018CFF5A3C9}"/>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6B7B73A-2303-E90F-0CA3-879FAFF07A59}"/>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94C2A6B-62B0-907F-63B0-89D2CA03C4F4}"/>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AC22234-4F34-257B-1FCF-03E449759896}"/>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1569EE3-4702-F26C-60D6-F51FD9D019A2}"/>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B7F9988-903C-3E93-B64F-C0B9576BB7D9}"/>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51D7D07-C86F-51E6-BFAB-90982852F0B4}"/>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FC5428F-FCBE-6C5D-D610-B0A7410B28B1}"/>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19DDC95-DA61-848E-9D6B-EC2BD0E28BCE}"/>
              </a:ext>
            </a:extLst>
          </p:cNvPr>
          <p:cNvSpPr txBox="1"/>
          <p:nvPr/>
        </p:nvSpPr>
        <p:spPr>
          <a:xfrm>
            <a:off x="779928" y="4557698"/>
            <a:ext cx="3989298" cy="1754326"/>
          </a:xfrm>
          <a:prstGeom prst="rect">
            <a:avLst/>
          </a:prstGeom>
          <a:solidFill>
            <a:schemeClr val="bg1"/>
          </a:solidFill>
        </p:spPr>
        <p:txBody>
          <a:bodyPr wrap="square" rtlCol="0">
            <a:spAutoFit/>
          </a:bodyPr>
          <a:lstStyle/>
          <a:p>
            <a:r>
              <a:rPr lang="en-US" dirty="0"/>
              <a:t>When participation substitutes for participation, the problem the group must solve is </a:t>
            </a:r>
            <a:r>
              <a:rPr lang="en-US" i="1" dirty="0"/>
              <a:t>how to distribute the burden</a:t>
            </a:r>
            <a:r>
              <a:rPr lang="en-US" dirty="0"/>
              <a:t>.  Which persons in the group will put in the work, just up to the point where no more work is needed?</a:t>
            </a:r>
          </a:p>
        </p:txBody>
      </p:sp>
    </p:spTree>
    <p:extLst>
      <p:ext uri="{BB962C8B-B14F-4D97-AF65-F5344CB8AC3E}">
        <p14:creationId xmlns:p14="http://schemas.microsoft.com/office/powerpoint/2010/main" val="26944297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41891-A675-918B-D291-F472085BDE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ABE6D3-28E0-7187-62D1-ADDA5B6DDBBC}"/>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BD7CF16A-7EAA-7C3F-1132-91FE06A313CD}"/>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AED48ACA-63BB-6647-30AA-E40B0D62B8C6}"/>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EF00D6B7-DE5A-E4C3-B52D-03655F607935}"/>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45149C6-8C0A-5683-2A0A-87365A92AF91}"/>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EBEACE0-E46E-107C-A238-397524EE9B32}"/>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754BC65-8C86-DAF3-6F36-93B3F896C6DB}"/>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9E05016-DFC0-1938-A8AF-39C978CE9A51}"/>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575EDE4-9357-BABD-F487-B0C4175CE595}"/>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040AEEB-9226-CC9B-4DFD-A6885A58E140}"/>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D264DF6-08AF-53E6-0DDD-26364BCB648F}"/>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A806A89-57B3-D188-08AA-476EE043B65D}"/>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0ACF156-61BE-4920-1115-F7AE3E254FC4}"/>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9AFBBA3-5D48-7E51-759C-81D40BCD3965}"/>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DF5137A-FF9D-077A-E280-91AAE8985AD2}"/>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5E63A39-ADD2-177C-5CAA-FD47CE2D843A}"/>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8137629-1273-0C2A-8641-C41F2921DFC9}"/>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E8A5096-C1CA-90F2-C31A-1F0964F9BC10}"/>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B2905C1-EBE9-01B0-E4E8-CB50AC8EA06E}"/>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F5EDE31-AE61-07ED-EF8E-BAA73D9DB2BD}"/>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8A93212-25B3-8BD3-557C-6A9F5A7B5142}"/>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C9FD67B-3FAB-D243-DD75-6F33FC68CD05}"/>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38B6ADC-F2A1-2536-8BD6-869F7FFFA180}"/>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93C5841-85D2-35C5-196A-3AB717DFC86B}"/>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1AF1EED-FDC2-BFE7-13C4-2A15260B6C3D}"/>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6CEABB4-6BE9-332C-1873-ADF22F3D72C5}"/>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8F58462-8D63-522A-1CD1-7493B65E3154}"/>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B6C6377-7DE1-0E16-0639-8329FEB15411}"/>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4E45FBC-EDBD-6574-4A29-D4086E7BE684}"/>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4ADC8D2-2E17-DD61-D9F3-C9AF7D33C2D4}"/>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4AE95FE-33FC-4166-5A4B-ABB5239216D2}"/>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03A6AAF-B07C-91B9-5403-D8E448EC82A5}"/>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83897E4-73E0-7F59-E1E6-A431534FCF53}"/>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E776FB9-B35B-FA1A-F75D-D4248F6DCA44}"/>
              </a:ext>
            </a:extLst>
          </p:cNvPr>
          <p:cNvSpPr txBox="1"/>
          <p:nvPr/>
        </p:nvSpPr>
        <p:spPr>
          <a:xfrm>
            <a:off x="779928" y="4557698"/>
            <a:ext cx="3989298" cy="1754326"/>
          </a:xfrm>
          <a:prstGeom prst="rect">
            <a:avLst/>
          </a:prstGeom>
          <a:solidFill>
            <a:schemeClr val="bg1"/>
          </a:solidFill>
        </p:spPr>
        <p:txBody>
          <a:bodyPr wrap="square" rtlCol="0">
            <a:spAutoFit/>
          </a:bodyPr>
          <a:lstStyle/>
          <a:p>
            <a:r>
              <a:rPr lang="en-US" dirty="0"/>
              <a:t>When participation substitutes for participation, the problem the group must solve is </a:t>
            </a:r>
            <a:r>
              <a:rPr lang="en-US" i="1" dirty="0"/>
              <a:t>how to distribute the burden</a:t>
            </a:r>
            <a:r>
              <a:rPr lang="en-US" dirty="0"/>
              <a:t>.  Which persons in the group will put in the work, just up to the point where no more work is needed?</a:t>
            </a:r>
          </a:p>
        </p:txBody>
      </p:sp>
      <p:sp>
        <p:nvSpPr>
          <p:cNvPr id="35" name="TextBox 34">
            <a:extLst>
              <a:ext uri="{FF2B5EF4-FFF2-40B4-BE49-F238E27FC236}">
                <a16:creationId xmlns:a16="http://schemas.microsoft.com/office/drawing/2014/main" id="{3872E84E-EFBE-E1E2-AE9D-E954215BAFC0}"/>
              </a:ext>
            </a:extLst>
          </p:cNvPr>
          <p:cNvSpPr txBox="1"/>
          <p:nvPr/>
        </p:nvSpPr>
        <p:spPr>
          <a:xfrm rot="19434104">
            <a:off x="4773759" y="1215306"/>
            <a:ext cx="5191431" cy="2677656"/>
          </a:xfrm>
          <a:prstGeom prst="rect">
            <a:avLst/>
          </a:prstGeom>
          <a:solidFill>
            <a:schemeClr val="bg1"/>
          </a:solidFill>
          <a:ln w="28575">
            <a:solidFill>
              <a:schemeClr val="tx1"/>
            </a:solidFill>
          </a:ln>
        </p:spPr>
        <p:txBody>
          <a:bodyPr wrap="square" rtlCol="0">
            <a:spAutoFit/>
          </a:bodyPr>
          <a:lstStyle/>
          <a:p>
            <a:r>
              <a:rPr lang="en-US" sz="2400" b="1" dirty="0">
                <a:latin typeface="Bradley Hand ITC" panose="03070402050302030203" pitchFamily="66" charset="0"/>
              </a:rPr>
              <a:t>OK people, are we having a dance party tonight or aren’t we?  We all know that if there IS a party, we all want to be there.  And if there’s NOT a party, no one wants to be the only one showing up. So CAN WE PLEASE JUST MAKE A F***ING DECISION???</a:t>
            </a:r>
          </a:p>
        </p:txBody>
      </p:sp>
    </p:spTree>
    <p:extLst>
      <p:ext uri="{BB962C8B-B14F-4D97-AF65-F5344CB8AC3E}">
        <p14:creationId xmlns:p14="http://schemas.microsoft.com/office/powerpoint/2010/main" val="204486362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0A379-08F1-9BCA-C25A-2621211EBE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5D48D3-C055-7473-DCDA-3E6FCBB7EC1D}"/>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BD03FBAA-48D3-D5BB-4A14-3A3A5D5946F1}"/>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5AA92A1C-D259-BAA5-5BB4-440716D1F19E}"/>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A56D5E95-94F6-5629-F53C-787E2E4D06CE}"/>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50E1288-43D2-31E7-664C-93401E6D3261}"/>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55F500A-A6FB-BFC1-79A5-00AC1C55E75B}"/>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D9A2AB1-F11D-135C-9D31-09FD66B32E7A}"/>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51BE985-74C8-6B5B-0F47-A3876A2D5365}"/>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F6EFFF6-0512-183A-708C-4D15A1B7174A}"/>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DD20B87-EBEA-4039-EDAC-CB49065FC25B}"/>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24E5355-9D66-D708-C162-C9BD98DABE6C}"/>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8D24C04-C938-6A0B-EF87-86896AB33EEC}"/>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8B9E1B4-9C0A-5E97-08B9-710DD24648E9}"/>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6739D1F-29EB-0E19-8886-8FCD72503D56}"/>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67D6635-291F-57B0-59FB-7B28FB431660}"/>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80A545E-3140-9E8A-108D-58D84686D4E8}"/>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408D4C9-DE5C-75F6-5906-63555C037876}"/>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2D8500A-E0A4-ABB3-2B97-DA2D4747B40C}"/>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F99B4DA-8F48-43C2-F544-84FD174B9F2E}"/>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A294556-436F-9857-F50F-4E3FFD098066}"/>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0A12734-9F23-214B-4A3D-60D27B2033BC}"/>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2B72426-03B0-DCFD-AF39-E96451A0C52C}"/>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871A992-776D-5F0E-B514-842C18BA8BB4}"/>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0F2651F-7E6C-6320-FAC3-DAD603929F6B}"/>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CCFB882-808E-93C3-4745-0C6FC7D19037}"/>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03E842E-2087-8922-997A-60A20AE40A80}"/>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6F9A8DF-AF15-9B23-EEED-08FA4EDD81A7}"/>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6D2D49D-6962-127E-0FFC-45EFDB3B4391}"/>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306119D-AEB2-4679-670F-CF433CBD39AF}"/>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6ABFEC8-2912-C45A-480D-D5134CFA808C}"/>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1CA0770-DF37-4700-202D-54E8B5329E8A}"/>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942CE97-B40A-6736-F4E9-2F2EEED8DD97}"/>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263AEE9E-E8DD-B04D-8D1E-FED4F67893FE}"/>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66DD0F72-4EAD-F1BE-5DC1-8EB1446A291D}"/>
              </a:ext>
            </a:extLst>
          </p:cNvPr>
          <p:cNvSpPr txBox="1"/>
          <p:nvPr/>
        </p:nvSpPr>
        <p:spPr>
          <a:xfrm>
            <a:off x="779928" y="4557698"/>
            <a:ext cx="3989298" cy="1754326"/>
          </a:xfrm>
          <a:prstGeom prst="rect">
            <a:avLst/>
          </a:prstGeom>
          <a:solidFill>
            <a:schemeClr val="bg1"/>
          </a:solidFill>
        </p:spPr>
        <p:txBody>
          <a:bodyPr wrap="square" rtlCol="0">
            <a:spAutoFit/>
          </a:bodyPr>
          <a:lstStyle/>
          <a:p>
            <a:r>
              <a:rPr lang="en-US" dirty="0"/>
              <a:t>When participation substitutes for participation, the problem the group must solve is </a:t>
            </a:r>
            <a:r>
              <a:rPr lang="en-US" i="1" dirty="0"/>
              <a:t>how to distribute the burden</a:t>
            </a:r>
            <a:r>
              <a:rPr lang="en-US" dirty="0"/>
              <a:t>.  Which persons in the group will put in the work, just up to the point where no more work is needed?</a:t>
            </a:r>
          </a:p>
        </p:txBody>
      </p:sp>
      <p:sp>
        <p:nvSpPr>
          <p:cNvPr id="35" name="TextBox 34">
            <a:extLst>
              <a:ext uri="{FF2B5EF4-FFF2-40B4-BE49-F238E27FC236}">
                <a16:creationId xmlns:a16="http://schemas.microsoft.com/office/drawing/2014/main" id="{F2CBF617-98B4-983C-0B65-C310E8130B17}"/>
              </a:ext>
            </a:extLst>
          </p:cNvPr>
          <p:cNvSpPr txBox="1"/>
          <p:nvPr/>
        </p:nvSpPr>
        <p:spPr>
          <a:xfrm rot="19434104">
            <a:off x="4773759" y="1215306"/>
            <a:ext cx="5191431" cy="2677656"/>
          </a:xfrm>
          <a:prstGeom prst="rect">
            <a:avLst/>
          </a:prstGeom>
          <a:solidFill>
            <a:schemeClr val="bg1"/>
          </a:solidFill>
          <a:ln w="28575">
            <a:solidFill>
              <a:schemeClr val="tx1"/>
            </a:solidFill>
          </a:ln>
        </p:spPr>
        <p:txBody>
          <a:bodyPr wrap="square" rtlCol="0">
            <a:spAutoFit/>
          </a:bodyPr>
          <a:lstStyle/>
          <a:p>
            <a:r>
              <a:rPr lang="en-US" sz="2400" b="1" dirty="0">
                <a:latin typeface="Bradley Hand ITC" panose="03070402050302030203" pitchFamily="66" charset="0"/>
              </a:rPr>
              <a:t>OK people, are we having a dance party tonight or aren’t we?  We all know that if there IS a party, we all want to be there.  And if there’s NOT a party, no one wants to be the only one showing up. So CAN WE PLEASE JUST MAKE A F***ING DECISION???</a:t>
            </a:r>
          </a:p>
        </p:txBody>
      </p:sp>
      <p:sp>
        <p:nvSpPr>
          <p:cNvPr id="37" name="TextBox 36">
            <a:extLst>
              <a:ext uri="{FF2B5EF4-FFF2-40B4-BE49-F238E27FC236}">
                <a16:creationId xmlns:a16="http://schemas.microsoft.com/office/drawing/2014/main" id="{72E8873E-9500-0E7C-070D-9015533B08A0}"/>
              </a:ext>
            </a:extLst>
          </p:cNvPr>
          <p:cNvSpPr txBox="1"/>
          <p:nvPr/>
        </p:nvSpPr>
        <p:spPr>
          <a:xfrm>
            <a:off x="7315199" y="4331227"/>
            <a:ext cx="3989298" cy="1754326"/>
          </a:xfrm>
          <a:prstGeom prst="rect">
            <a:avLst/>
          </a:prstGeom>
          <a:solidFill>
            <a:schemeClr val="bg1"/>
          </a:solidFill>
        </p:spPr>
        <p:txBody>
          <a:bodyPr wrap="square" rtlCol="0">
            <a:spAutoFit/>
          </a:bodyPr>
          <a:lstStyle/>
          <a:p>
            <a:r>
              <a:rPr lang="en-US" dirty="0"/>
              <a:t>When participation complements participation, the problem the group must solve is </a:t>
            </a:r>
            <a:r>
              <a:rPr lang="en-US" i="1" dirty="0"/>
              <a:t>coordination</a:t>
            </a:r>
            <a:r>
              <a:rPr lang="en-US" dirty="0"/>
              <a:t>.  Are we doing this thing or not???  Cause if we’re doing it, we ALL want in!  And if we’re not doing it, NO ONE wants in!</a:t>
            </a:r>
          </a:p>
        </p:txBody>
      </p:sp>
    </p:spTree>
    <p:extLst>
      <p:ext uri="{BB962C8B-B14F-4D97-AF65-F5344CB8AC3E}">
        <p14:creationId xmlns:p14="http://schemas.microsoft.com/office/powerpoint/2010/main" val="219699411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34E0-DD2F-4852-0432-7D24A43AB3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C9FF02-28CC-67BA-691C-47A4B6FC5250}"/>
              </a:ext>
            </a:extLst>
          </p:cNvPr>
          <p:cNvSpPr txBox="1"/>
          <p:nvPr/>
        </p:nvSpPr>
        <p:spPr>
          <a:xfrm>
            <a:off x="3030071" y="304800"/>
            <a:ext cx="6302188" cy="923330"/>
          </a:xfrm>
          <a:prstGeom prst="rect">
            <a:avLst/>
          </a:prstGeom>
          <a:noFill/>
        </p:spPr>
        <p:txBody>
          <a:bodyPr wrap="square" rtlCol="0">
            <a:spAutoFit/>
          </a:bodyPr>
          <a:lstStyle/>
          <a:p>
            <a:pPr algn="ctr"/>
            <a:r>
              <a:rPr lang="en-US" dirty="0"/>
              <a:t>This suggests that whether participation is a </a:t>
            </a:r>
            <a:r>
              <a:rPr lang="en-US" i="1" dirty="0"/>
              <a:t>substitute</a:t>
            </a:r>
            <a:r>
              <a:rPr lang="en-US" dirty="0"/>
              <a:t> </a:t>
            </a:r>
            <a:r>
              <a:rPr lang="en-US" i="1" dirty="0"/>
              <a:t>for </a:t>
            </a:r>
            <a:r>
              <a:rPr lang="en-US" dirty="0"/>
              <a:t>or</a:t>
            </a:r>
            <a:r>
              <a:rPr lang="en-US" i="1" dirty="0"/>
              <a:t> complement</a:t>
            </a:r>
            <a:r>
              <a:rPr lang="en-US" dirty="0"/>
              <a:t> to participation determines the sort of problems the group has to solve to act effectively as a collective.</a:t>
            </a:r>
          </a:p>
        </p:txBody>
      </p:sp>
      <p:sp>
        <p:nvSpPr>
          <p:cNvPr id="3" name="TextBox 2">
            <a:extLst>
              <a:ext uri="{FF2B5EF4-FFF2-40B4-BE49-F238E27FC236}">
                <a16:creationId xmlns:a16="http://schemas.microsoft.com/office/drawing/2014/main" id="{3AE3CA04-F9A9-6D05-1D49-417C353C2E0E}"/>
              </a:ext>
            </a:extLst>
          </p:cNvPr>
          <p:cNvSpPr txBox="1"/>
          <p:nvPr/>
        </p:nvSpPr>
        <p:spPr>
          <a:xfrm>
            <a:off x="779929" y="1488141"/>
            <a:ext cx="3962400" cy="369332"/>
          </a:xfrm>
          <a:prstGeom prst="rect">
            <a:avLst/>
          </a:prstGeom>
          <a:solidFill>
            <a:schemeClr val="accent6"/>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substitute for </a:t>
            </a:r>
            <a:r>
              <a:rPr lang="en-US" i="1" dirty="0">
                <a:solidFill>
                  <a:schemeClr val="bg1"/>
                </a:solidFill>
              </a:rPr>
              <a:t>in</a:t>
            </a:r>
            <a:endParaRPr lang="en-US" dirty="0">
              <a:solidFill>
                <a:schemeClr val="bg1"/>
              </a:solidFill>
            </a:endParaRPr>
          </a:p>
        </p:txBody>
      </p:sp>
      <p:sp>
        <p:nvSpPr>
          <p:cNvPr id="4" name="TextBox 3">
            <a:extLst>
              <a:ext uri="{FF2B5EF4-FFF2-40B4-BE49-F238E27FC236}">
                <a16:creationId xmlns:a16="http://schemas.microsoft.com/office/drawing/2014/main" id="{5B7B11D5-898A-6F69-C46C-25243E758E21}"/>
              </a:ext>
            </a:extLst>
          </p:cNvPr>
          <p:cNvSpPr txBox="1"/>
          <p:nvPr/>
        </p:nvSpPr>
        <p:spPr>
          <a:xfrm>
            <a:off x="7135906" y="1488141"/>
            <a:ext cx="4276165" cy="369332"/>
          </a:xfrm>
          <a:prstGeom prst="rect">
            <a:avLst/>
          </a:prstGeom>
          <a:solidFill>
            <a:schemeClr val="accent1"/>
          </a:solidFill>
        </p:spPr>
        <p:txBody>
          <a:bodyPr wrap="square" rtlCol="0">
            <a:spAutoFit/>
          </a:bodyPr>
          <a:lstStyle/>
          <a:p>
            <a:pPr algn="ctr"/>
            <a:r>
              <a:rPr lang="en-US" dirty="0">
                <a:solidFill>
                  <a:schemeClr val="bg1"/>
                </a:solidFill>
              </a:rPr>
              <a:t>A group in which </a:t>
            </a:r>
            <a:r>
              <a:rPr lang="en-US" i="1" dirty="0">
                <a:solidFill>
                  <a:schemeClr val="bg1"/>
                </a:solidFill>
              </a:rPr>
              <a:t>in</a:t>
            </a:r>
            <a:r>
              <a:rPr lang="en-US" dirty="0">
                <a:solidFill>
                  <a:schemeClr val="bg1"/>
                </a:solidFill>
              </a:rPr>
              <a:t> is a complement to </a:t>
            </a:r>
            <a:r>
              <a:rPr lang="en-US" i="1" dirty="0">
                <a:solidFill>
                  <a:schemeClr val="bg1"/>
                </a:solidFill>
              </a:rPr>
              <a:t>in</a:t>
            </a:r>
            <a:endParaRPr lang="en-US" dirty="0">
              <a:solidFill>
                <a:schemeClr val="bg1"/>
              </a:solidFill>
            </a:endParaRPr>
          </a:p>
        </p:txBody>
      </p:sp>
      <p:sp>
        <p:nvSpPr>
          <p:cNvPr id="5" name="Rectangle 4">
            <a:extLst>
              <a:ext uri="{FF2B5EF4-FFF2-40B4-BE49-F238E27FC236}">
                <a16:creationId xmlns:a16="http://schemas.microsoft.com/office/drawing/2014/main" id="{33B73325-9D1B-78FE-64A5-EFEFED0C9D03}"/>
              </a:ext>
            </a:extLst>
          </p:cNvPr>
          <p:cNvSpPr/>
          <p:nvPr/>
        </p:nvSpPr>
        <p:spPr>
          <a:xfrm>
            <a:off x="779929" y="2241176"/>
            <a:ext cx="3962400" cy="38279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9BB3E41-DD66-2B29-EDE8-D1CF6331B524}"/>
              </a:ext>
            </a:extLst>
          </p:cNvPr>
          <p:cNvSpPr/>
          <p:nvPr/>
        </p:nvSpPr>
        <p:spPr>
          <a:xfrm>
            <a:off x="1075765"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27E76E4-9CA4-C91C-0503-FDD7240B2E95}"/>
              </a:ext>
            </a:extLst>
          </p:cNvPr>
          <p:cNvSpPr/>
          <p:nvPr/>
        </p:nvSpPr>
        <p:spPr>
          <a:xfrm>
            <a:off x="1783977"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CB724AB-456C-7D89-F20C-21F1EE68732F}"/>
              </a:ext>
            </a:extLst>
          </p:cNvPr>
          <p:cNvSpPr/>
          <p:nvPr/>
        </p:nvSpPr>
        <p:spPr>
          <a:xfrm>
            <a:off x="2519084"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D43B074-A9E7-48E6-AC98-19F93E38F2B8}"/>
              </a:ext>
            </a:extLst>
          </p:cNvPr>
          <p:cNvSpPr/>
          <p:nvPr/>
        </p:nvSpPr>
        <p:spPr>
          <a:xfrm>
            <a:off x="1783977"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51B74E6-4696-2580-02D6-C8020235AE62}"/>
              </a:ext>
            </a:extLst>
          </p:cNvPr>
          <p:cNvSpPr/>
          <p:nvPr/>
        </p:nvSpPr>
        <p:spPr>
          <a:xfrm>
            <a:off x="1228165"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7FFA217-0D4E-629D-5BB1-D5DBE6B72338}"/>
              </a:ext>
            </a:extLst>
          </p:cNvPr>
          <p:cNvSpPr/>
          <p:nvPr/>
        </p:nvSpPr>
        <p:spPr>
          <a:xfrm>
            <a:off x="923365"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4A5354A-86F4-C4BA-6D4D-B3A533B37F37}"/>
              </a:ext>
            </a:extLst>
          </p:cNvPr>
          <p:cNvSpPr/>
          <p:nvPr/>
        </p:nvSpPr>
        <p:spPr>
          <a:xfrm>
            <a:off x="3801035"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C164CD9-DC0F-F628-F533-D096176656FF}"/>
              </a:ext>
            </a:extLst>
          </p:cNvPr>
          <p:cNvSpPr/>
          <p:nvPr/>
        </p:nvSpPr>
        <p:spPr>
          <a:xfrm>
            <a:off x="3030071"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BCC3AC3-B47E-B158-6460-8E3654594642}"/>
              </a:ext>
            </a:extLst>
          </p:cNvPr>
          <p:cNvSpPr/>
          <p:nvPr/>
        </p:nvSpPr>
        <p:spPr>
          <a:xfrm>
            <a:off x="2259107"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71CA5A2-798F-9314-EAE6-6980421579F4}"/>
              </a:ext>
            </a:extLst>
          </p:cNvPr>
          <p:cNvSpPr/>
          <p:nvPr/>
        </p:nvSpPr>
        <p:spPr>
          <a:xfrm>
            <a:off x="2823884"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6256A4E-B2B2-4BB0-7AE7-A7D821E50BBD}"/>
              </a:ext>
            </a:extLst>
          </p:cNvPr>
          <p:cNvSpPr/>
          <p:nvPr/>
        </p:nvSpPr>
        <p:spPr>
          <a:xfrm>
            <a:off x="3388661"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FC8EDB1-CD35-2682-D863-35100F60BCAF}"/>
              </a:ext>
            </a:extLst>
          </p:cNvPr>
          <p:cNvSpPr/>
          <p:nvPr/>
        </p:nvSpPr>
        <p:spPr>
          <a:xfrm>
            <a:off x="3953438"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6ED8D27-EF46-E50A-7B88-351C4B621ACE}"/>
              </a:ext>
            </a:extLst>
          </p:cNvPr>
          <p:cNvSpPr/>
          <p:nvPr/>
        </p:nvSpPr>
        <p:spPr>
          <a:xfrm>
            <a:off x="3854823"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2DCB849-5AAE-5A76-1E4D-5DD335DF4125}"/>
              </a:ext>
            </a:extLst>
          </p:cNvPr>
          <p:cNvSpPr/>
          <p:nvPr/>
        </p:nvSpPr>
        <p:spPr>
          <a:xfrm>
            <a:off x="1349189"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F8B7E83-C5BB-CBC0-F821-50B595952AAB}"/>
              </a:ext>
            </a:extLst>
          </p:cNvPr>
          <p:cNvSpPr/>
          <p:nvPr/>
        </p:nvSpPr>
        <p:spPr>
          <a:xfrm>
            <a:off x="7342096" y="2241176"/>
            <a:ext cx="3962400" cy="38279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6769E61-D633-B8FA-3E65-CCD18C2EF630}"/>
              </a:ext>
            </a:extLst>
          </p:cNvPr>
          <p:cNvSpPr/>
          <p:nvPr/>
        </p:nvSpPr>
        <p:spPr>
          <a:xfrm>
            <a:off x="7637932" y="27880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E6DAFEF-4848-7F42-4F41-2B521589CB30}"/>
              </a:ext>
            </a:extLst>
          </p:cNvPr>
          <p:cNvSpPr/>
          <p:nvPr/>
        </p:nvSpPr>
        <p:spPr>
          <a:xfrm>
            <a:off x="8346144" y="3402107"/>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94CC8B-C3BA-F10D-D087-EC70BD531329}"/>
              </a:ext>
            </a:extLst>
          </p:cNvPr>
          <p:cNvSpPr/>
          <p:nvPr/>
        </p:nvSpPr>
        <p:spPr>
          <a:xfrm>
            <a:off x="9081251" y="312420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D59C567-A971-3E43-04AC-D68C7D60990A}"/>
              </a:ext>
            </a:extLst>
          </p:cNvPr>
          <p:cNvSpPr/>
          <p:nvPr/>
        </p:nvSpPr>
        <p:spPr>
          <a:xfrm>
            <a:off x="8346144" y="45630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F2E25CA-A416-2FBE-1D27-9757586DE4E6}"/>
              </a:ext>
            </a:extLst>
          </p:cNvPr>
          <p:cNvSpPr/>
          <p:nvPr/>
        </p:nvSpPr>
        <p:spPr>
          <a:xfrm>
            <a:off x="7790332" y="5065059"/>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76B0801-99F2-339A-24F8-5B9758EBC91C}"/>
              </a:ext>
            </a:extLst>
          </p:cNvPr>
          <p:cNvSpPr/>
          <p:nvPr/>
        </p:nvSpPr>
        <p:spPr>
          <a:xfrm>
            <a:off x="7485532" y="56011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4E82530-CB06-099A-0D7F-C650EBBB8D6F}"/>
              </a:ext>
            </a:extLst>
          </p:cNvPr>
          <p:cNvSpPr/>
          <p:nvPr/>
        </p:nvSpPr>
        <p:spPr>
          <a:xfrm>
            <a:off x="10363202" y="564598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2A7F14C-3DC9-FBEC-CC70-2AF91F0E9AED}"/>
              </a:ext>
            </a:extLst>
          </p:cNvPr>
          <p:cNvSpPr/>
          <p:nvPr/>
        </p:nvSpPr>
        <p:spPr>
          <a:xfrm>
            <a:off x="9592238" y="5296362"/>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FEA8192-937F-EF9F-E5FB-F9CFEC873E40}"/>
              </a:ext>
            </a:extLst>
          </p:cNvPr>
          <p:cNvSpPr/>
          <p:nvPr/>
        </p:nvSpPr>
        <p:spPr>
          <a:xfrm>
            <a:off x="8821274" y="4946738"/>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5D9AA22-4052-A6AC-AD20-1BF4805D28B4}"/>
              </a:ext>
            </a:extLst>
          </p:cNvPr>
          <p:cNvSpPr/>
          <p:nvPr/>
        </p:nvSpPr>
        <p:spPr>
          <a:xfrm>
            <a:off x="9386051" y="4159624"/>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C1C262F-5D2C-9EA0-1455-7F749F215362}"/>
              </a:ext>
            </a:extLst>
          </p:cNvPr>
          <p:cNvSpPr/>
          <p:nvPr/>
        </p:nvSpPr>
        <p:spPr>
          <a:xfrm>
            <a:off x="9950828" y="3372510"/>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FE1A653-39C0-F4B2-E3EA-B9A60645BD57}"/>
              </a:ext>
            </a:extLst>
          </p:cNvPr>
          <p:cNvSpPr/>
          <p:nvPr/>
        </p:nvSpPr>
        <p:spPr>
          <a:xfrm>
            <a:off x="10515605" y="2585396"/>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B119222-B62F-3E28-DA93-85C9B859A644}"/>
              </a:ext>
            </a:extLst>
          </p:cNvPr>
          <p:cNvSpPr/>
          <p:nvPr/>
        </p:nvSpPr>
        <p:spPr>
          <a:xfrm>
            <a:off x="10416990" y="40027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BEF3B61-5EFE-F11E-D59B-E6707A98C4C9}"/>
              </a:ext>
            </a:extLst>
          </p:cNvPr>
          <p:cNvSpPr/>
          <p:nvPr/>
        </p:nvSpPr>
        <p:spPr>
          <a:xfrm>
            <a:off x="7911356" y="3926541"/>
            <a:ext cx="304800" cy="304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27F9F67-6594-30B8-D7E7-D0C108AC6F5A}"/>
              </a:ext>
            </a:extLst>
          </p:cNvPr>
          <p:cNvSpPr txBox="1"/>
          <p:nvPr/>
        </p:nvSpPr>
        <p:spPr>
          <a:xfrm>
            <a:off x="779928" y="4557698"/>
            <a:ext cx="3989298" cy="1754326"/>
          </a:xfrm>
          <a:prstGeom prst="rect">
            <a:avLst/>
          </a:prstGeom>
          <a:solidFill>
            <a:schemeClr val="bg1"/>
          </a:solidFill>
        </p:spPr>
        <p:txBody>
          <a:bodyPr wrap="square" rtlCol="0">
            <a:spAutoFit/>
          </a:bodyPr>
          <a:lstStyle/>
          <a:p>
            <a:r>
              <a:rPr lang="en-US" dirty="0"/>
              <a:t>When participation substitutes for participation, the problem the group must solve is </a:t>
            </a:r>
            <a:r>
              <a:rPr lang="en-US" i="1" dirty="0"/>
              <a:t>how to distribute the burden</a:t>
            </a:r>
            <a:r>
              <a:rPr lang="en-US" dirty="0"/>
              <a:t>.  Which persons in the group will put in the work, just up to the point where no more work is needed?</a:t>
            </a:r>
          </a:p>
        </p:txBody>
      </p:sp>
      <p:sp>
        <p:nvSpPr>
          <p:cNvPr id="37" name="TextBox 36">
            <a:extLst>
              <a:ext uri="{FF2B5EF4-FFF2-40B4-BE49-F238E27FC236}">
                <a16:creationId xmlns:a16="http://schemas.microsoft.com/office/drawing/2014/main" id="{BCBB2CC8-6D53-EF05-EA22-E789AEAAC9EE}"/>
              </a:ext>
            </a:extLst>
          </p:cNvPr>
          <p:cNvSpPr txBox="1"/>
          <p:nvPr/>
        </p:nvSpPr>
        <p:spPr>
          <a:xfrm>
            <a:off x="7315199" y="4331227"/>
            <a:ext cx="3989298" cy="1754326"/>
          </a:xfrm>
          <a:prstGeom prst="rect">
            <a:avLst/>
          </a:prstGeom>
          <a:solidFill>
            <a:schemeClr val="bg1"/>
          </a:solidFill>
        </p:spPr>
        <p:txBody>
          <a:bodyPr wrap="square" rtlCol="0">
            <a:spAutoFit/>
          </a:bodyPr>
          <a:lstStyle/>
          <a:p>
            <a:r>
              <a:rPr lang="en-US" dirty="0"/>
              <a:t>When participation complements participation, the problem the group must solve is </a:t>
            </a:r>
            <a:r>
              <a:rPr lang="en-US" i="1" dirty="0"/>
              <a:t>coordination</a:t>
            </a:r>
            <a:r>
              <a:rPr lang="en-US" dirty="0"/>
              <a:t>.  Are we doing this thing or not???  Cause if we’re doing it, we ALL want in!  And if we’re not doing it, NO ONE wants in!</a:t>
            </a:r>
          </a:p>
        </p:txBody>
      </p:sp>
    </p:spTree>
    <p:extLst>
      <p:ext uri="{BB962C8B-B14F-4D97-AF65-F5344CB8AC3E}">
        <p14:creationId xmlns:p14="http://schemas.microsoft.com/office/powerpoint/2010/main" val="383941520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8816</Words>
  <Application>Microsoft Office PowerPoint</Application>
  <PresentationFormat>Widescreen</PresentationFormat>
  <Paragraphs>952</Paragraphs>
  <Slides>105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105</vt:i4>
      </vt:variant>
    </vt:vector>
  </HeadingPairs>
  <TitlesOfParts>
    <vt:vector size="112" baseType="lpstr">
      <vt:lpstr>Arial</vt:lpstr>
      <vt:lpstr>Bradley Hand ITC</vt:lpstr>
      <vt:lpstr>Calibri</vt:lpstr>
      <vt:lpstr>Calibri Light</vt:lpstr>
      <vt:lpstr>Cambria Math</vt:lpstr>
      <vt:lpstr>Wingdings</vt:lpstr>
      <vt:lpstr>Office 2013 - 2022 Theme</vt:lpstr>
      <vt:lpstr>In-Out Games</vt:lpstr>
      <vt:lpstr>Your List This Week</vt:lpstr>
      <vt:lpstr>In-Out Games How To</vt:lpstr>
      <vt:lpstr>PowerPoint Presentation</vt:lpstr>
      <vt:lpstr>PowerPoint Presentation</vt:lpstr>
      <vt:lpstr>PowerPoint Presentation</vt:lpstr>
      <vt:lpstr>PowerPoint Presentation</vt:lpstr>
      <vt:lpstr>In-Out Games How 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In-Out Games How To</vt:lpstr>
      <vt:lpstr>Steps in Identifying Nash Equilibria in In-Out Games</vt:lpstr>
      <vt:lpstr>In-Out Games How 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Stuart</dc:creator>
  <cp:lastModifiedBy>Jordan, Stuart</cp:lastModifiedBy>
  <cp:revision>1</cp:revision>
  <dcterms:created xsi:type="dcterms:W3CDTF">2025-04-10T15:01:52Z</dcterms:created>
  <dcterms:modified xsi:type="dcterms:W3CDTF">2026-04-16T13:52:01Z</dcterms:modified>
</cp:coreProperties>
</file>