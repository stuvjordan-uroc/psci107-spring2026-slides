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3" r:id="rId2"/>
    <p:sldId id="550" r:id="rId3"/>
    <p:sldId id="506" r:id="rId4"/>
    <p:sldId id="552" r:id="rId5"/>
    <p:sldId id="704" r:id="rId6"/>
    <p:sldId id="547" r:id="rId7"/>
    <p:sldId id="707" r:id="rId8"/>
    <p:sldId id="553" r:id="rId9"/>
    <p:sldId id="705" r:id="rId10"/>
    <p:sldId id="706" r:id="rId11"/>
    <p:sldId id="708" r:id="rId12"/>
    <p:sldId id="696" r:id="rId13"/>
    <p:sldId id="555" r:id="rId14"/>
    <p:sldId id="556" r:id="rId15"/>
    <p:sldId id="557" r:id="rId16"/>
    <p:sldId id="558" r:id="rId17"/>
    <p:sldId id="697" r:id="rId18"/>
    <p:sldId id="698" r:id="rId19"/>
    <p:sldId id="566" r:id="rId20"/>
    <p:sldId id="567" r:id="rId21"/>
    <p:sldId id="574" r:id="rId22"/>
    <p:sldId id="571" r:id="rId23"/>
    <p:sldId id="699" r:id="rId24"/>
    <p:sldId id="700" r:id="rId25"/>
    <p:sldId id="701" r:id="rId26"/>
    <p:sldId id="572" r:id="rId27"/>
    <p:sldId id="581" r:id="rId28"/>
    <p:sldId id="702" r:id="rId29"/>
    <p:sldId id="703" r:id="rId30"/>
    <p:sldId id="584" r:id="rId31"/>
    <p:sldId id="585" r:id="rId32"/>
    <p:sldId id="590" r:id="rId33"/>
    <p:sldId id="586" r:id="rId34"/>
    <p:sldId id="587" r:id="rId35"/>
    <p:sldId id="588" r:id="rId36"/>
    <p:sldId id="591" r:id="rId37"/>
    <p:sldId id="592" r:id="rId38"/>
    <p:sldId id="593" r:id="rId39"/>
    <p:sldId id="594" r:id="rId40"/>
    <p:sldId id="595" r:id="rId41"/>
    <p:sldId id="596" r:id="rId42"/>
    <p:sldId id="597" r:id="rId43"/>
    <p:sldId id="598" r:id="rId44"/>
    <p:sldId id="599" r:id="rId45"/>
    <p:sldId id="600" r:id="rId46"/>
    <p:sldId id="601" r:id="rId47"/>
    <p:sldId id="602" r:id="rId48"/>
    <p:sldId id="603" r:id="rId49"/>
    <p:sldId id="604" r:id="rId50"/>
    <p:sldId id="605" r:id="rId51"/>
    <p:sldId id="606" r:id="rId52"/>
    <p:sldId id="607" r:id="rId53"/>
    <p:sldId id="608" r:id="rId54"/>
    <p:sldId id="609" r:id="rId55"/>
    <p:sldId id="610" r:id="rId56"/>
    <p:sldId id="611" r:id="rId57"/>
    <p:sldId id="612" r:id="rId58"/>
    <p:sldId id="613" r:id="rId59"/>
    <p:sldId id="614" r:id="rId60"/>
    <p:sldId id="616" r:id="rId61"/>
    <p:sldId id="617" r:id="rId62"/>
    <p:sldId id="618" r:id="rId63"/>
    <p:sldId id="619" r:id="rId64"/>
    <p:sldId id="620" r:id="rId65"/>
    <p:sldId id="621" r:id="rId66"/>
    <p:sldId id="629" r:id="rId67"/>
    <p:sldId id="623" r:id="rId68"/>
    <p:sldId id="624" r:id="rId69"/>
    <p:sldId id="625" r:id="rId70"/>
    <p:sldId id="626" r:id="rId71"/>
    <p:sldId id="627" r:id="rId72"/>
    <p:sldId id="628" r:id="rId73"/>
    <p:sldId id="630" r:id="rId74"/>
    <p:sldId id="631" r:id="rId75"/>
    <p:sldId id="632" r:id="rId76"/>
    <p:sldId id="633" r:id="rId77"/>
    <p:sldId id="634" r:id="rId78"/>
    <p:sldId id="635" r:id="rId79"/>
    <p:sldId id="637" r:id="rId80"/>
    <p:sldId id="636" r:id="rId81"/>
    <p:sldId id="639" r:id="rId82"/>
    <p:sldId id="638" r:id="rId83"/>
    <p:sldId id="640" r:id="rId84"/>
    <p:sldId id="641" r:id="rId85"/>
    <p:sldId id="644" r:id="rId86"/>
    <p:sldId id="645" r:id="rId87"/>
    <p:sldId id="664" r:id="rId88"/>
    <p:sldId id="647" r:id="rId89"/>
    <p:sldId id="665" r:id="rId90"/>
    <p:sldId id="666" r:id="rId91"/>
    <p:sldId id="670" r:id="rId92"/>
    <p:sldId id="694" r:id="rId93"/>
    <p:sldId id="695" r:id="rId94"/>
    <p:sldId id="672" r:id="rId95"/>
    <p:sldId id="673" r:id="rId96"/>
    <p:sldId id="674" r:id="rId97"/>
    <p:sldId id="675" r:id="rId98"/>
    <p:sldId id="676" r:id="rId99"/>
    <p:sldId id="677" r:id="rId100"/>
    <p:sldId id="683" r:id="rId101"/>
    <p:sldId id="678" r:id="rId102"/>
    <p:sldId id="679" r:id="rId103"/>
    <p:sldId id="684" r:id="rId104"/>
    <p:sldId id="680" r:id="rId105"/>
    <p:sldId id="681" r:id="rId106"/>
    <p:sldId id="682" r:id="rId107"/>
    <p:sldId id="685" r:id="rId108"/>
    <p:sldId id="686" r:id="rId109"/>
    <p:sldId id="687" r:id="rId110"/>
    <p:sldId id="688" r:id="rId111"/>
    <p:sldId id="689" r:id="rId112"/>
    <p:sldId id="690" r:id="rId113"/>
    <p:sldId id="691" r:id="rId114"/>
    <p:sldId id="692" r:id="rId1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BE9FF"/>
    <a:srgbClr val="ADC1E5"/>
    <a:srgbClr val="4472C4"/>
    <a:srgbClr val="666699"/>
    <a:srgbClr val="A5A5A5"/>
    <a:srgbClr val="C8D6EE"/>
    <a:srgbClr val="FFC1C1"/>
    <a:srgbClr val="E6E6E6"/>
    <a:srgbClr val="E7E6E6"/>
    <a:srgbClr val="CEEA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52E7A2-7139-45D9-9D82-AB738C023AFB}" v="2" dt="2026-04-07T15:15:22.2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712" autoAdjust="0"/>
  </p:normalViewPr>
  <p:slideViewPr>
    <p:cSldViewPr snapToGrid="0">
      <p:cViewPr varScale="1">
        <p:scale>
          <a:sx n="101" d="100"/>
          <a:sy n="101" d="100"/>
        </p:scale>
        <p:origin x="852"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microsoft.com/office/2015/10/relationships/revisionInfo" Target="revisionInfo.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dan, Stuart" userId="1bf9a496-f356-4f9c-b15f-a24cde0408c2" providerId="ADAL" clId="{D610E14A-756D-4778-AAB0-AFD182EFE9D3}"/>
    <pc:docChg chg="custSel addSld delSld modSld sldOrd">
      <pc:chgData name="Jordan, Stuart" userId="1bf9a496-f356-4f9c-b15f-a24cde0408c2" providerId="ADAL" clId="{D610E14A-756D-4778-AAB0-AFD182EFE9D3}" dt="2026-04-07T15:30:39.128" v="1147"/>
      <pc:docMkLst>
        <pc:docMk/>
      </pc:docMkLst>
      <pc:sldChg chg="modSp mod">
        <pc:chgData name="Jordan, Stuart" userId="1bf9a496-f356-4f9c-b15f-a24cde0408c2" providerId="ADAL" clId="{D610E14A-756D-4778-AAB0-AFD182EFE9D3}" dt="2026-04-07T14:55:26.767" v="106" actId="20577"/>
        <pc:sldMkLst>
          <pc:docMk/>
          <pc:sldMk cId="2207370093" sldId="283"/>
        </pc:sldMkLst>
        <pc:spChg chg="mod">
          <ac:chgData name="Jordan, Stuart" userId="1bf9a496-f356-4f9c-b15f-a24cde0408c2" providerId="ADAL" clId="{D610E14A-756D-4778-AAB0-AFD182EFE9D3}" dt="2026-04-07T14:55:26.767" v="106" actId="20577"/>
          <ac:spMkLst>
            <pc:docMk/>
            <pc:sldMk cId="2207370093" sldId="283"/>
            <ac:spMk id="5" creationId="{85E53D4A-8D7B-361D-3B36-AF0BE114D698}"/>
          </ac:spMkLst>
        </pc:spChg>
      </pc:sldChg>
      <pc:sldChg chg="ord">
        <pc:chgData name="Jordan, Stuart" userId="1bf9a496-f356-4f9c-b15f-a24cde0408c2" providerId="ADAL" clId="{D610E14A-756D-4778-AAB0-AFD182EFE9D3}" dt="2026-04-07T14:56:30.929" v="175"/>
        <pc:sldMkLst>
          <pc:docMk/>
          <pc:sldMk cId="3484892215" sldId="547"/>
        </pc:sldMkLst>
      </pc:sldChg>
      <pc:sldChg chg="del">
        <pc:chgData name="Jordan, Stuart" userId="1bf9a496-f356-4f9c-b15f-a24cde0408c2" providerId="ADAL" clId="{D610E14A-756D-4778-AAB0-AFD182EFE9D3}" dt="2026-04-07T14:55:34.375" v="107" actId="47"/>
        <pc:sldMkLst>
          <pc:docMk/>
          <pc:sldMk cId="844859061" sldId="548"/>
        </pc:sldMkLst>
      </pc:sldChg>
      <pc:sldChg chg="modSp mod">
        <pc:chgData name="Jordan, Stuart" userId="1bf9a496-f356-4f9c-b15f-a24cde0408c2" providerId="ADAL" clId="{D610E14A-756D-4778-AAB0-AFD182EFE9D3}" dt="2026-04-07T14:56:24.147" v="173" actId="20577"/>
        <pc:sldMkLst>
          <pc:docMk/>
          <pc:sldMk cId="3760693216" sldId="552"/>
        </pc:sldMkLst>
        <pc:spChg chg="mod">
          <ac:chgData name="Jordan, Stuart" userId="1bf9a496-f356-4f9c-b15f-a24cde0408c2" providerId="ADAL" clId="{D610E14A-756D-4778-AAB0-AFD182EFE9D3}" dt="2026-04-07T14:56:24.147" v="173" actId="20577"/>
          <ac:spMkLst>
            <pc:docMk/>
            <pc:sldMk cId="3760693216" sldId="552"/>
            <ac:spMk id="2" creationId="{09363C25-1072-209C-D54C-F9D56EBE85B4}"/>
          </ac:spMkLst>
        </pc:spChg>
        <pc:spChg chg="mod">
          <ac:chgData name="Jordan, Stuart" userId="1bf9a496-f356-4f9c-b15f-a24cde0408c2" providerId="ADAL" clId="{D610E14A-756D-4778-AAB0-AFD182EFE9D3}" dt="2026-04-07T14:56:07.268" v="132" actId="1076"/>
          <ac:spMkLst>
            <pc:docMk/>
            <pc:sldMk cId="3760693216" sldId="552"/>
            <ac:spMk id="3" creationId="{DE8359AC-B88A-FDBB-404A-F4557D57B27F}"/>
          </ac:spMkLst>
        </pc:spChg>
      </pc:sldChg>
      <pc:sldChg chg="modSp mod">
        <pc:chgData name="Jordan, Stuart" userId="1bf9a496-f356-4f9c-b15f-a24cde0408c2" providerId="ADAL" clId="{D610E14A-756D-4778-AAB0-AFD182EFE9D3}" dt="2026-04-07T15:00:47.224" v="503" actId="20577"/>
        <pc:sldMkLst>
          <pc:docMk/>
          <pc:sldMk cId="4074112214" sldId="553"/>
        </pc:sldMkLst>
        <pc:spChg chg="mod">
          <ac:chgData name="Jordan, Stuart" userId="1bf9a496-f356-4f9c-b15f-a24cde0408c2" providerId="ADAL" clId="{D610E14A-756D-4778-AAB0-AFD182EFE9D3}" dt="2026-04-07T14:59:18.564" v="184" actId="20577"/>
          <ac:spMkLst>
            <pc:docMk/>
            <pc:sldMk cId="4074112214" sldId="553"/>
            <ac:spMk id="2" creationId="{B3A75664-B137-EEFE-5009-5B4DE3FDA2B2}"/>
          </ac:spMkLst>
        </pc:spChg>
        <pc:spChg chg="mod">
          <ac:chgData name="Jordan, Stuart" userId="1bf9a496-f356-4f9c-b15f-a24cde0408c2" providerId="ADAL" clId="{D610E14A-756D-4778-AAB0-AFD182EFE9D3}" dt="2026-04-07T15:00:47.224" v="503" actId="20577"/>
          <ac:spMkLst>
            <pc:docMk/>
            <pc:sldMk cId="4074112214" sldId="553"/>
            <ac:spMk id="3" creationId="{ED0EF1EE-8990-D773-D2E6-A17D303F8D18}"/>
          </ac:spMkLst>
        </pc:spChg>
      </pc:sldChg>
      <pc:sldChg chg="del">
        <pc:chgData name="Jordan, Stuart" userId="1bf9a496-f356-4f9c-b15f-a24cde0408c2" providerId="ADAL" clId="{D610E14A-756D-4778-AAB0-AFD182EFE9D3}" dt="2026-04-07T15:08:38.220" v="1140" actId="2696"/>
        <pc:sldMkLst>
          <pc:docMk/>
          <pc:sldMk cId="4178874054" sldId="554"/>
        </pc:sldMkLst>
      </pc:sldChg>
      <pc:sldChg chg="modSp add mod">
        <pc:chgData name="Jordan, Stuart" userId="1bf9a496-f356-4f9c-b15f-a24cde0408c2" providerId="ADAL" clId="{D610E14A-756D-4778-AAB0-AFD182EFE9D3}" dt="2026-04-07T15:03:09.896" v="729" actId="1076"/>
        <pc:sldMkLst>
          <pc:docMk/>
          <pc:sldMk cId="3745122122" sldId="705"/>
        </pc:sldMkLst>
        <pc:spChg chg="mod">
          <ac:chgData name="Jordan, Stuart" userId="1bf9a496-f356-4f9c-b15f-a24cde0408c2" providerId="ADAL" clId="{D610E14A-756D-4778-AAB0-AFD182EFE9D3}" dt="2026-04-07T15:02:10.457" v="570" actId="1076"/>
          <ac:spMkLst>
            <pc:docMk/>
            <pc:sldMk cId="3745122122" sldId="705"/>
            <ac:spMk id="2" creationId="{89E681EC-7DC4-097E-880B-545B903DAF49}"/>
          </ac:spMkLst>
        </pc:spChg>
        <pc:spChg chg="mod">
          <ac:chgData name="Jordan, Stuart" userId="1bf9a496-f356-4f9c-b15f-a24cde0408c2" providerId="ADAL" clId="{D610E14A-756D-4778-AAB0-AFD182EFE9D3}" dt="2026-04-07T15:03:09.896" v="729" actId="1076"/>
          <ac:spMkLst>
            <pc:docMk/>
            <pc:sldMk cId="3745122122" sldId="705"/>
            <ac:spMk id="3" creationId="{8DEB7921-726E-0689-31BA-6E4A743EB04E}"/>
          </ac:spMkLst>
        </pc:spChg>
      </pc:sldChg>
      <pc:sldChg chg="addSp modSp add mod">
        <pc:chgData name="Jordan, Stuart" userId="1bf9a496-f356-4f9c-b15f-a24cde0408c2" providerId="ADAL" clId="{D610E14A-756D-4778-AAB0-AFD182EFE9D3}" dt="2026-04-07T15:06:21.177" v="1139" actId="14100"/>
        <pc:sldMkLst>
          <pc:docMk/>
          <pc:sldMk cId="2382810341" sldId="706"/>
        </pc:sldMkLst>
        <pc:spChg chg="add mod">
          <ac:chgData name="Jordan, Stuart" userId="1bf9a496-f356-4f9c-b15f-a24cde0408c2" providerId="ADAL" clId="{D610E14A-756D-4778-AAB0-AFD182EFE9D3}" dt="2026-04-07T15:06:21.177" v="1139" actId="14100"/>
          <ac:spMkLst>
            <pc:docMk/>
            <pc:sldMk cId="2382810341" sldId="706"/>
            <ac:spMk id="4" creationId="{B942F6CC-4255-3991-CE21-2276ADC52F31}"/>
          </ac:spMkLst>
        </pc:spChg>
      </pc:sldChg>
      <pc:sldChg chg="addSp modSp new ord">
        <pc:chgData name="Jordan, Stuart" userId="1bf9a496-f356-4f9c-b15f-a24cde0408c2" providerId="ADAL" clId="{D610E14A-756D-4778-AAB0-AFD182EFE9D3}" dt="2026-04-07T15:15:25.328" v="1144"/>
        <pc:sldMkLst>
          <pc:docMk/>
          <pc:sldMk cId="3665346497" sldId="707"/>
        </pc:sldMkLst>
        <pc:spChg chg="add mod">
          <ac:chgData name="Jordan, Stuart" userId="1bf9a496-f356-4f9c-b15f-a24cde0408c2" providerId="ADAL" clId="{D610E14A-756D-4778-AAB0-AFD182EFE9D3}" dt="2026-04-07T15:15:22.248" v="1142"/>
          <ac:spMkLst>
            <pc:docMk/>
            <pc:sldMk cId="3665346497" sldId="707"/>
            <ac:spMk id="2" creationId="{B893E395-CBB6-0367-D14A-42AEC6C41ED0}"/>
          </ac:spMkLst>
        </pc:spChg>
      </pc:sldChg>
      <pc:sldChg chg="add ord">
        <pc:chgData name="Jordan, Stuart" userId="1bf9a496-f356-4f9c-b15f-a24cde0408c2" providerId="ADAL" clId="{D610E14A-756D-4778-AAB0-AFD182EFE9D3}" dt="2026-04-07T15:30:39.128" v="1147"/>
        <pc:sldMkLst>
          <pc:docMk/>
          <pc:sldMk cId="496051154" sldId="70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AB2EE-4908-44F4-BCE0-35FB8A506B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04266A-A410-4A6B-AD65-285516141C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7CC4D8-E7DB-4FA8-A5E4-A02F8000F12A}"/>
              </a:ext>
            </a:extLst>
          </p:cNvPr>
          <p:cNvSpPr>
            <a:spLocks noGrp="1"/>
          </p:cNvSpPr>
          <p:nvPr>
            <p:ph type="dt" sz="half" idx="10"/>
          </p:nvPr>
        </p:nvSpPr>
        <p:spPr/>
        <p:txBody>
          <a:bodyPr/>
          <a:lstStyle/>
          <a:p>
            <a:fld id="{1E8099F8-5054-47EB-96A6-44307240463D}" type="datetimeFigureOut">
              <a:rPr lang="en-US" smtClean="0"/>
              <a:t>4/7/2026</a:t>
            </a:fld>
            <a:endParaRPr lang="en-US"/>
          </a:p>
        </p:txBody>
      </p:sp>
      <p:sp>
        <p:nvSpPr>
          <p:cNvPr id="5" name="Footer Placeholder 4">
            <a:extLst>
              <a:ext uri="{FF2B5EF4-FFF2-40B4-BE49-F238E27FC236}">
                <a16:creationId xmlns:a16="http://schemas.microsoft.com/office/drawing/2014/main" id="{EA5806D1-CB0B-4370-82CA-3276597D2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9616C9-C21D-428E-89E9-618384E3A552}"/>
              </a:ext>
            </a:extLst>
          </p:cNvPr>
          <p:cNvSpPr>
            <a:spLocks noGrp="1"/>
          </p:cNvSpPr>
          <p:nvPr>
            <p:ph type="sldNum" sz="quarter" idx="12"/>
          </p:nvPr>
        </p:nvSpPr>
        <p:spPr/>
        <p:txBody>
          <a:bodyPr/>
          <a:lstStyle/>
          <a:p>
            <a:fld id="{025BE57C-878E-464F-BF73-9FEB36344A4B}" type="slidenum">
              <a:rPr lang="en-US" smtClean="0"/>
              <a:t>‹#›</a:t>
            </a:fld>
            <a:endParaRPr lang="en-US"/>
          </a:p>
        </p:txBody>
      </p:sp>
    </p:spTree>
    <p:extLst>
      <p:ext uri="{BB962C8B-B14F-4D97-AF65-F5344CB8AC3E}">
        <p14:creationId xmlns:p14="http://schemas.microsoft.com/office/powerpoint/2010/main" val="159855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98C0A-AF35-4ACC-A16A-77AB5B2D6B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939FB6-4BFF-40DD-AF3D-9E54CC7139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B431B-24B6-45C8-A199-886FB3543036}"/>
              </a:ext>
            </a:extLst>
          </p:cNvPr>
          <p:cNvSpPr>
            <a:spLocks noGrp="1"/>
          </p:cNvSpPr>
          <p:nvPr>
            <p:ph type="dt" sz="half" idx="10"/>
          </p:nvPr>
        </p:nvSpPr>
        <p:spPr/>
        <p:txBody>
          <a:bodyPr/>
          <a:lstStyle/>
          <a:p>
            <a:fld id="{1E8099F8-5054-47EB-96A6-44307240463D}" type="datetimeFigureOut">
              <a:rPr lang="en-US" smtClean="0"/>
              <a:t>4/7/2026</a:t>
            </a:fld>
            <a:endParaRPr lang="en-US"/>
          </a:p>
        </p:txBody>
      </p:sp>
      <p:sp>
        <p:nvSpPr>
          <p:cNvPr id="5" name="Footer Placeholder 4">
            <a:extLst>
              <a:ext uri="{FF2B5EF4-FFF2-40B4-BE49-F238E27FC236}">
                <a16:creationId xmlns:a16="http://schemas.microsoft.com/office/drawing/2014/main" id="{9A32E78D-1A08-4722-812B-6BE0CEB4B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3D5357-C5A4-4F5F-A809-83DB2A6B00CE}"/>
              </a:ext>
            </a:extLst>
          </p:cNvPr>
          <p:cNvSpPr>
            <a:spLocks noGrp="1"/>
          </p:cNvSpPr>
          <p:nvPr>
            <p:ph type="sldNum" sz="quarter" idx="12"/>
          </p:nvPr>
        </p:nvSpPr>
        <p:spPr/>
        <p:txBody>
          <a:bodyPr/>
          <a:lstStyle/>
          <a:p>
            <a:fld id="{025BE57C-878E-464F-BF73-9FEB36344A4B}" type="slidenum">
              <a:rPr lang="en-US" smtClean="0"/>
              <a:t>‹#›</a:t>
            </a:fld>
            <a:endParaRPr lang="en-US"/>
          </a:p>
        </p:txBody>
      </p:sp>
    </p:spTree>
    <p:extLst>
      <p:ext uri="{BB962C8B-B14F-4D97-AF65-F5344CB8AC3E}">
        <p14:creationId xmlns:p14="http://schemas.microsoft.com/office/powerpoint/2010/main" val="3122360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C0BE7-8682-4FAD-BAC5-4E08C7A42A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6566FF-A0E2-40DF-AB6D-63C31AF1FE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41B4FA-DF61-4D05-B453-F52FE4533CF2}"/>
              </a:ext>
            </a:extLst>
          </p:cNvPr>
          <p:cNvSpPr>
            <a:spLocks noGrp="1"/>
          </p:cNvSpPr>
          <p:nvPr>
            <p:ph type="dt" sz="half" idx="10"/>
          </p:nvPr>
        </p:nvSpPr>
        <p:spPr/>
        <p:txBody>
          <a:bodyPr/>
          <a:lstStyle/>
          <a:p>
            <a:fld id="{1E8099F8-5054-47EB-96A6-44307240463D}" type="datetimeFigureOut">
              <a:rPr lang="en-US" smtClean="0"/>
              <a:t>4/7/2026</a:t>
            </a:fld>
            <a:endParaRPr lang="en-US"/>
          </a:p>
        </p:txBody>
      </p:sp>
      <p:sp>
        <p:nvSpPr>
          <p:cNvPr id="5" name="Footer Placeholder 4">
            <a:extLst>
              <a:ext uri="{FF2B5EF4-FFF2-40B4-BE49-F238E27FC236}">
                <a16:creationId xmlns:a16="http://schemas.microsoft.com/office/drawing/2014/main" id="{99CA230F-A8C8-41F5-929E-6E7017A0A1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2CF97E-697C-4CF9-A0D1-CD9601CB1C42}"/>
              </a:ext>
            </a:extLst>
          </p:cNvPr>
          <p:cNvSpPr>
            <a:spLocks noGrp="1"/>
          </p:cNvSpPr>
          <p:nvPr>
            <p:ph type="sldNum" sz="quarter" idx="12"/>
          </p:nvPr>
        </p:nvSpPr>
        <p:spPr/>
        <p:txBody>
          <a:bodyPr/>
          <a:lstStyle/>
          <a:p>
            <a:fld id="{025BE57C-878E-464F-BF73-9FEB36344A4B}" type="slidenum">
              <a:rPr lang="en-US" smtClean="0"/>
              <a:t>‹#›</a:t>
            </a:fld>
            <a:endParaRPr lang="en-US"/>
          </a:p>
        </p:txBody>
      </p:sp>
    </p:spTree>
    <p:extLst>
      <p:ext uri="{BB962C8B-B14F-4D97-AF65-F5344CB8AC3E}">
        <p14:creationId xmlns:p14="http://schemas.microsoft.com/office/powerpoint/2010/main" val="51105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F7C1B-6C18-444D-B86D-BF5229F21B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38E4BE-862B-4E0B-AAF9-DFA4FED867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D8DF48-C7DF-4275-91D2-B7170DCF3B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73DD1E-5D55-4379-A6E6-9FB39CCAE49A}"/>
              </a:ext>
            </a:extLst>
          </p:cNvPr>
          <p:cNvSpPr>
            <a:spLocks noGrp="1"/>
          </p:cNvSpPr>
          <p:nvPr>
            <p:ph type="dt" sz="half" idx="10"/>
          </p:nvPr>
        </p:nvSpPr>
        <p:spPr/>
        <p:txBody>
          <a:bodyPr/>
          <a:lstStyle/>
          <a:p>
            <a:fld id="{1E8099F8-5054-47EB-96A6-44307240463D}" type="datetimeFigureOut">
              <a:rPr lang="en-US" smtClean="0"/>
              <a:t>4/7/2026</a:t>
            </a:fld>
            <a:endParaRPr lang="en-US"/>
          </a:p>
        </p:txBody>
      </p:sp>
      <p:sp>
        <p:nvSpPr>
          <p:cNvPr id="6" name="Footer Placeholder 5">
            <a:extLst>
              <a:ext uri="{FF2B5EF4-FFF2-40B4-BE49-F238E27FC236}">
                <a16:creationId xmlns:a16="http://schemas.microsoft.com/office/drawing/2014/main" id="{5DBE9234-70FE-46F3-B9DF-D422D83C37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FF5AF7-068F-4B23-A73C-0AC509B09318}"/>
              </a:ext>
            </a:extLst>
          </p:cNvPr>
          <p:cNvSpPr>
            <a:spLocks noGrp="1"/>
          </p:cNvSpPr>
          <p:nvPr>
            <p:ph type="sldNum" sz="quarter" idx="12"/>
          </p:nvPr>
        </p:nvSpPr>
        <p:spPr/>
        <p:txBody>
          <a:bodyPr/>
          <a:lstStyle/>
          <a:p>
            <a:fld id="{025BE57C-878E-464F-BF73-9FEB36344A4B}" type="slidenum">
              <a:rPr lang="en-US" smtClean="0"/>
              <a:t>‹#›</a:t>
            </a:fld>
            <a:endParaRPr lang="en-US"/>
          </a:p>
        </p:txBody>
      </p:sp>
    </p:spTree>
    <p:extLst>
      <p:ext uri="{BB962C8B-B14F-4D97-AF65-F5344CB8AC3E}">
        <p14:creationId xmlns:p14="http://schemas.microsoft.com/office/powerpoint/2010/main" val="1769441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ACC03-72B2-4E9F-BD0F-2774193E648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F6226F-6A1C-4636-BBB9-DD61552DDA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87BBF2-A09B-4C52-A26C-9C7A8363B1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26C13D-16C1-47EC-80D6-A6DF46DEDC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C94797-6BB5-4307-8957-15AEB217AF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FE714C-0847-412B-9442-134FAFBD0BBB}"/>
              </a:ext>
            </a:extLst>
          </p:cNvPr>
          <p:cNvSpPr>
            <a:spLocks noGrp="1"/>
          </p:cNvSpPr>
          <p:nvPr>
            <p:ph type="dt" sz="half" idx="10"/>
          </p:nvPr>
        </p:nvSpPr>
        <p:spPr/>
        <p:txBody>
          <a:bodyPr/>
          <a:lstStyle/>
          <a:p>
            <a:fld id="{1E8099F8-5054-47EB-96A6-44307240463D}" type="datetimeFigureOut">
              <a:rPr lang="en-US" smtClean="0"/>
              <a:t>4/7/2026</a:t>
            </a:fld>
            <a:endParaRPr lang="en-US"/>
          </a:p>
        </p:txBody>
      </p:sp>
      <p:sp>
        <p:nvSpPr>
          <p:cNvPr id="8" name="Footer Placeholder 7">
            <a:extLst>
              <a:ext uri="{FF2B5EF4-FFF2-40B4-BE49-F238E27FC236}">
                <a16:creationId xmlns:a16="http://schemas.microsoft.com/office/drawing/2014/main" id="{6FB3E7D0-FC9F-48E9-89AB-C03AAD2866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185052-8E6D-41FA-8ACC-64666F804BEE}"/>
              </a:ext>
            </a:extLst>
          </p:cNvPr>
          <p:cNvSpPr>
            <a:spLocks noGrp="1"/>
          </p:cNvSpPr>
          <p:nvPr>
            <p:ph type="sldNum" sz="quarter" idx="12"/>
          </p:nvPr>
        </p:nvSpPr>
        <p:spPr/>
        <p:txBody>
          <a:bodyPr/>
          <a:lstStyle/>
          <a:p>
            <a:fld id="{025BE57C-878E-464F-BF73-9FEB36344A4B}" type="slidenum">
              <a:rPr lang="en-US" smtClean="0"/>
              <a:t>‹#›</a:t>
            </a:fld>
            <a:endParaRPr lang="en-US"/>
          </a:p>
        </p:txBody>
      </p:sp>
    </p:spTree>
    <p:extLst>
      <p:ext uri="{BB962C8B-B14F-4D97-AF65-F5344CB8AC3E}">
        <p14:creationId xmlns:p14="http://schemas.microsoft.com/office/powerpoint/2010/main" val="1142691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8530-9F06-40F8-BF12-50D1F391BB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FE12D26-CE94-4B5A-AED2-ACCE16B9AD7D}"/>
              </a:ext>
            </a:extLst>
          </p:cNvPr>
          <p:cNvSpPr>
            <a:spLocks noGrp="1"/>
          </p:cNvSpPr>
          <p:nvPr>
            <p:ph type="dt" sz="half" idx="10"/>
          </p:nvPr>
        </p:nvSpPr>
        <p:spPr/>
        <p:txBody>
          <a:bodyPr/>
          <a:lstStyle/>
          <a:p>
            <a:fld id="{1E8099F8-5054-47EB-96A6-44307240463D}" type="datetimeFigureOut">
              <a:rPr lang="en-US" smtClean="0"/>
              <a:t>4/7/2026</a:t>
            </a:fld>
            <a:endParaRPr lang="en-US"/>
          </a:p>
        </p:txBody>
      </p:sp>
      <p:sp>
        <p:nvSpPr>
          <p:cNvPr id="4" name="Footer Placeholder 3">
            <a:extLst>
              <a:ext uri="{FF2B5EF4-FFF2-40B4-BE49-F238E27FC236}">
                <a16:creationId xmlns:a16="http://schemas.microsoft.com/office/drawing/2014/main" id="{49C1ED3B-476A-4FAB-89E9-BF6075F7D3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575C98-4C31-4983-B193-6AE52840A4B8}"/>
              </a:ext>
            </a:extLst>
          </p:cNvPr>
          <p:cNvSpPr>
            <a:spLocks noGrp="1"/>
          </p:cNvSpPr>
          <p:nvPr>
            <p:ph type="sldNum" sz="quarter" idx="12"/>
          </p:nvPr>
        </p:nvSpPr>
        <p:spPr/>
        <p:txBody>
          <a:bodyPr/>
          <a:lstStyle/>
          <a:p>
            <a:fld id="{025BE57C-878E-464F-BF73-9FEB36344A4B}" type="slidenum">
              <a:rPr lang="en-US" smtClean="0"/>
              <a:t>‹#›</a:t>
            </a:fld>
            <a:endParaRPr lang="en-US"/>
          </a:p>
        </p:txBody>
      </p:sp>
    </p:spTree>
    <p:extLst>
      <p:ext uri="{BB962C8B-B14F-4D97-AF65-F5344CB8AC3E}">
        <p14:creationId xmlns:p14="http://schemas.microsoft.com/office/powerpoint/2010/main" val="3163328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FE51B1-FEEC-46F8-BE14-8141B485A8E1}"/>
              </a:ext>
            </a:extLst>
          </p:cNvPr>
          <p:cNvSpPr>
            <a:spLocks noGrp="1"/>
          </p:cNvSpPr>
          <p:nvPr>
            <p:ph type="dt" sz="half" idx="10"/>
          </p:nvPr>
        </p:nvSpPr>
        <p:spPr/>
        <p:txBody>
          <a:bodyPr/>
          <a:lstStyle/>
          <a:p>
            <a:fld id="{1E8099F8-5054-47EB-96A6-44307240463D}" type="datetimeFigureOut">
              <a:rPr lang="en-US" smtClean="0"/>
              <a:t>4/7/2026</a:t>
            </a:fld>
            <a:endParaRPr lang="en-US"/>
          </a:p>
        </p:txBody>
      </p:sp>
      <p:sp>
        <p:nvSpPr>
          <p:cNvPr id="3" name="Footer Placeholder 2">
            <a:extLst>
              <a:ext uri="{FF2B5EF4-FFF2-40B4-BE49-F238E27FC236}">
                <a16:creationId xmlns:a16="http://schemas.microsoft.com/office/drawing/2014/main" id="{C614C04D-A5E2-4A8B-82B6-094CBF1547C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7084C9-1F0F-4E96-9605-ABC0454A67A1}"/>
              </a:ext>
            </a:extLst>
          </p:cNvPr>
          <p:cNvSpPr>
            <a:spLocks noGrp="1"/>
          </p:cNvSpPr>
          <p:nvPr>
            <p:ph type="sldNum" sz="quarter" idx="12"/>
          </p:nvPr>
        </p:nvSpPr>
        <p:spPr/>
        <p:txBody>
          <a:bodyPr/>
          <a:lstStyle/>
          <a:p>
            <a:fld id="{025BE57C-878E-464F-BF73-9FEB36344A4B}" type="slidenum">
              <a:rPr lang="en-US" smtClean="0"/>
              <a:t>‹#›</a:t>
            </a:fld>
            <a:endParaRPr lang="en-US"/>
          </a:p>
        </p:txBody>
      </p:sp>
    </p:spTree>
    <p:extLst>
      <p:ext uri="{BB962C8B-B14F-4D97-AF65-F5344CB8AC3E}">
        <p14:creationId xmlns:p14="http://schemas.microsoft.com/office/powerpoint/2010/main" val="2788090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8936-E94D-41F3-AA87-7E9224CE6E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5E47D0-DEDA-4F63-9079-94FFA9B5B2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ECAF5C-346A-469D-A6E8-A58F95BDAB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2E420F-060E-4487-A78E-CBD4F37D047D}"/>
              </a:ext>
            </a:extLst>
          </p:cNvPr>
          <p:cNvSpPr>
            <a:spLocks noGrp="1"/>
          </p:cNvSpPr>
          <p:nvPr>
            <p:ph type="dt" sz="half" idx="10"/>
          </p:nvPr>
        </p:nvSpPr>
        <p:spPr/>
        <p:txBody>
          <a:bodyPr/>
          <a:lstStyle/>
          <a:p>
            <a:fld id="{1E8099F8-5054-47EB-96A6-44307240463D}" type="datetimeFigureOut">
              <a:rPr lang="en-US" smtClean="0"/>
              <a:t>4/7/2026</a:t>
            </a:fld>
            <a:endParaRPr lang="en-US"/>
          </a:p>
        </p:txBody>
      </p:sp>
      <p:sp>
        <p:nvSpPr>
          <p:cNvPr id="6" name="Footer Placeholder 5">
            <a:extLst>
              <a:ext uri="{FF2B5EF4-FFF2-40B4-BE49-F238E27FC236}">
                <a16:creationId xmlns:a16="http://schemas.microsoft.com/office/drawing/2014/main" id="{8539AE10-1E54-4DA2-ACE8-1463C8F109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01EFE3-630F-4BE3-9C80-F75644D40315}"/>
              </a:ext>
            </a:extLst>
          </p:cNvPr>
          <p:cNvSpPr>
            <a:spLocks noGrp="1"/>
          </p:cNvSpPr>
          <p:nvPr>
            <p:ph type="sldNum" sz="quarter" idx="12"/>
          </p:nvPr>
        </p:nvSpPr>
        <p:spPr/>
        <p:txBody>
          <a:bodyPr/>
          <a:lstStyle/>
          <a:p>
            <a:fld id="{025BE57C-878E-464F-BF73-9FEB36344A4B}" type="slidenum">
              <a:rPr lang="en-US" smtClean="0"/>
              <a:t>‹#›</a:t>
            </a:fld>
            <a:endParaRPr lang="en-US"/>
          </a:p>
        </p:txBody>
      </p:sp>
    </p:spTree>
    <p:extLst>
      <p:ext uri="{BB962C8B-B14F-4D97-AF65-F5344CB8AC3E}">
        <p14:creationId xmlns:p14="http://schemas.microsoft.com/office/powerpoint/2010/main" val="3625579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11887-B87C-4731-90B2-122AE3310C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AC5757-EA5A-4577-B8BA-8C44D1018B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419260-1DB1-48D4-B229-77D939CB3B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EC3BAB-05A3-41AA-AD8B-719B8C99EFEB}"/>
              </a:ext>
            </a:extLst>
          </p:cNvPr>
          <p:cNvSpPr>
            <a:spLocks noGrp="1"/>
          </p:cNvSpPr>
          <p:nvPr>
            <p:ph type="dt" sz="half" idx="10"/>
          </p:nvPr>
        </p:nvSpPr>
        <p:spPr/>
        <p:txBody>
          <a:bodyPr/>
          <a:lstStyle/>
          <a:p>
            <a:fld id="{1E8099F8-5054-47EB-96A6-44307240463D}" type="datetimeFigureOut">
              <a:rPr lang="en-US" smtClean="0"/>
              <a:t>4/7/2026</a:t>
            </a:fld>
            <a:endParaRPr lang="en-US"/>
          </a:p>
        </p:txBody>
      </p:sp>
      <p:sp>
        <p:nvSpPr>
          <p:cNvPr id="6" name="Footer Placeholder 5">
            <a:extLst>
              <a:ext uri="{FF2B5EF4-FFF2-40B4-BE49-F238E27FC236}">
                <a16:creationId xmlns:a16="http://schemas.microsoft.com/office/drawing/2014/main" id="{E6F47492-406A-4BB3-A645-B267EFE7A3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1C4863-654D-4A56-9DA0-E3F0BC489AFE}"/>
              </a:ext>
            </a:extLst>
          </p:cNvPr>
          <p:cNvSpPr>
            <a:spLocks noGrp="1"/>
          </p:cNvSpPr>
          <p:nvPr>
            <p:ph type="sldNum" sz="quarter" idx="12"/>
          </p:nvPr>
        </p:nvSpPr>
        <p:spPr/>
        <p:txBody>
          <a:bodyPr/>
          <a:lstStyle/>
          <a:p>
            <a:fld id="{025BE57C-878E-464F-BF73-9FEB36344A4B}" type="slidenum">
              <a:rPr lang="en-US" smtClean="0"/>
              <a:t>‹#›</a:t>
            </a:fld>
            <a:endParaRPr lang="en-US"/>
          </a:p>
        </p:txBody>
      </p:sp>
    </p:spTree>
    <p:extLst>
      <p:ext uri="{BB962C8B-B14F-4D97-AF65-F5344CB8AC3E}">
        <p14:creationId xmlns:p14="http://schemas.microsoft.com/office/powerpoint/2010/main" val="3837947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98E65-1CA4-4E8E-941A-4D31855680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61F48E-2DC5-4E7F-AE4B-B6C177EC39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21FCD8-59E8-4EE0-8DB5-1CD1B055F27C}"/>
              </a:ext>
            </a:extLst>
          </p:cNvPr>
          <p:cNvSpPr>
            <a:spLocks noGrp="1"/>
          </p:cNvSpPr>
          <p:nvPr>
            <p:ph type="dt" sz="half" idx="10"/>
          </p:nvPr>
        </p:nvSpPr>
        <p:spPr/>
        <p:txBody>
          <a:bodyPr/>
          <a:lstStyle/>
          <a:p>
            <a:fld id="{1E8099F8-5054-47EB-96A6-44307240463D}" type="datetimeFigureOut">
              <a:rPr lang="en-US" smtClean="0"/>
              <a:t>4/7/2026</a:t>
            </a:fld>
            <a:endParaRPr lang="en-US"/>
          </a:p>
        </p:txBody>
      </p:sp>
      <p:sp>
        <p:nvSpPr>
          <p:cNvPr id="5" name="Footer Placeholder 4">
            <a:extLst>
              <a:ext uri="{FF2B5EF4-FFF2-40B4-BE49-F238E27FC236}">
                <a16:creationId xmlns:a16="http://schemas.microsoft.com/office/drawing/2014/main" id="{4CEAF132-2A05-4531-8328-12E9BA3884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2DB73-D833-46D6-A1EE-D91FD84FA061}"/>
              </a:ext>
            </a:extLst>
          </p:cNvPr>
          <p:cNvSpPr>
            <a:spLocks noGrp="1"/>
          </p:cNvSpPr>
          <p:nvPr>
            <p:ph type="sldNum" sz="quarter" idx="12"/>
          </p:nvPr>
        </p:nvSpPr>
        <p:spPr/>
        <p:txBody>
          <a:bodyPr/>
          <a:lstStyle/>
          <a:p>
            <a:fld id="{025BE57C-878E-464F-BF73-9FEB36344A4B}" type="slidenum">
              <a:rPr lang="en-US" smtClean="0"/>
              <a:t>‹#›</a:t>
            </a:fld>
            <a:endParaRPr lang="en-US"/>
          </a:p>
        </p:txBody>
      </p:sp>
    </p:spTree>
    <p:extLst>
      <p:ext uri="{BB962C8B-B14F-4D97-AF65-F5344CB8AC3E}">
        <p14:creationId xmlns:p14="http://schemas.microsoft.com/office/powerpoint/2010/main" val="4060896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4347C8-BA1C-4FFA-A20A-B9E807DA36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933C816-7E25-447E-AA4A-AECCDC787E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914BA1-23E1-49EC-92FC-50A1654B6497}"/>
              </a:ext>
            </a:extLst>
          </p:cNvPr>
          <p:cNvSpPr>
            <a:spLocks noGrp="1"/>
          </p:cNvSpPr>
          <p:nvPr>
            <p:ph type="dt" sz="half" idx="10"/>
          </p:nvPr>
        </p:nvSpPr>
        <p:spPr/>
        <p:txBody>
          <a:bodyPr/>
          <a:lstStyle/>
          <a:p>
            <a:fld id="{1E8099F8-5054-47EB-96A6-44307240463D}" type="datetimeFigureOut">
              <a:rPr lang="en-US" smtClean="0"/>
              <a:t>4/7/2026</a:t>
            </a:fld>
            <a:endParaRPr lang="en-US"/>
          </a:p>
        </p:txBody>
      </p:sp>
      <p:sp>
        <p:nvSpPr>
          <p:cNvPr id="5" name="Footer Placeholder 4">
            <a:extLst>
              <a:ext uri="{FF2B5EF4-FFF2-40B4-BE49-F238E27FC236}">
                <a16:creationId xmlns:a16="http://schemas.microsoft.com/office/drawing/2014/main" id="{3F0E1401-4E51-492A-BBA4-D613C6B32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A7D460-8775-4FF1-83A0-F8412D4441F8}"/>
              </a:ext>
            </a:extLst>
          </p:cNvPr>
          <p:cNvSpPr>
            <a:spLocks noGrp="1"/>
          </p:cNvSpPr>
          <p:nvPr>
            <p:ph type="sldNum" sz="quarter" idx="12"/>
          </p:nvPr>
        </p:nvSpPr>
        <p:spPr/>
        <p:txBody>
          <a:bodyPr/>
          <a:lstStyle/>
          <a:p>
            <a:fld id="{025BE57C-878E-464F-BF73-9FEB36344A4B}" type="slidenum">
              <a:rPr lang="en-US" smtClean="0"/>
              <a:t>‹#›</a:t>
            </a:fld>
            <a:endParaRPr lang="en-US"/>
          </a:p>
        </p:txBody>
      </p:sp>
    </p:spTree>
    <p:extLst>
      <p:ext uri="{BB962C8B-B14F-4D97-AF65-F5344CB8AC3E}">
        <p14:creationId xmlns:p14="http://schemas.microsoft.com/office/powerpoint/2010/main" val="1242517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6F5927-BECD-4C23-9BF3-DBA963D314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D58870-0E27-46CC-ACAA-6B9BEF66DB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B5C38C-4797-4E3C-92A9-EB61F44577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8099F8-5054-47EB-96A6-44307240463D}" type="datetimeFigureOut">
              <a:rPr lang="en-US" smtClean="0"/>
              <a:t>4/7/2026</a:t>
            </a:fld>
            <a:endParaRPr lang="en-US"/>
          </a:p>
        </p:txBody>
      </p:sp>
      <p:sp>
        <p:nvSpPr>
          <p:cNvPr id="5" name="Footer Placeholder 4">
            <a:extLst>
              <a:ext uri="{FF2B5EF4-FFF2-40B4-BE49-F238E27FC236}">
                <a16:creationId xmlns:a16="http://schemas.microsoft.com/office/drawing/2014/main" id="{F0FA9250-C878-48CF-8D79-69926B9ACD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A10BAD-ADB9-4D29-B917-476FF65DBC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5BE57C-878E-464F-BF73-9FEB36344A4B}" type="slidenum">
              <a:rPr lang="en-US" smtClean="0"/>
              <a:t>‹#›</a:t>
            </a:fld>
            <a:endParaRPr lang="en-US"/>
          </a:p>
        </p:txBody>
      </p:sp>
    </p:spTree>
    <p:extLst>
      <p:ext uri="{BB962C8B-B14F-4D97-AF65-F5344CB8AC3E}">
        <p14:creationId xmlns:p14="http://schemas.microsoft.com/office/powerpoint/2010/main" val="1819370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snccdigital.org/people/sam-block/"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F2FD38-C0D2-B2DD-02AC-67A5EC8DC530}"/>
              </a:ext>
            </a:extLst>
          </p:cNvPr>
          <p:cNvSpPr/>
          <p:nvPr/>
        </p:nvSpPr>
        <p:spPr>
          <a:xfrm>
            <a:off x="0" y="0"/>
            <a:ext cx="12192000" cy="22167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BC6722E-513F-11B6-6475-94B5D4943D9D}"/>
              </a:ext>
            </a:extLst>
          </p:cNvPr>
          <p:cNvSpPr/>
          <p:nvPr/>
        </p:nvSpPr>
        <p:spPr>
          <a:xfrm>
            <a:off x="0" y="1431636"/>
            <a:ext cx="12192000" cy="542636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FE71E71-9FCE-0318-67CD-964F85C9CA98}"/>
              </a:ext>
            </a:extLst>
          </p:cNvPr>
          <p:cNvSpPr txBox="1"/>
          <p:nvPr/>
        </p:nvSpPr>
        <p:spPr>
          <a:xfrm>
            <a:off x="2609272" y="337280"/>
            <a:ext cx="6973455" cy="923330"/>
          </a:xfrm>
          <a:prstGeom prst="rect">
            <a:avLst/>
          </a:prstGeom>
          <a:noFill/>
        </p:spPr>
        <p:txBody>
          <a:bodyPr wrap="square" rtlCol="0">
            <a:spAutoFit/>
          </a:bodyPr>
          <a:lstStyle/>
          <a:p>
            <a:pPr algn="ctr"/>
            <a:r>
              <a:rPr lang="en-US" sz="5400" b="1"/>
              <a:t>Your List For This Week</a:t>
            </a:r>
          </a:p>
        </p:txBody>
      </p:sp>
      <p:sp>
        <p:nvSpPr>
          <p:cNvPr id="5" name="TextBox 4">
            <a:extLst>
              <a:ext uri="{FF2B5EF4-FFF2-40B4-BE49-F238E27FC236}">
                <a16:creationId xmlns:a16="http://schemas.microsoft.com/office/drawing/2014/main" id="{85E53D4A-8D7B-361D-3B36-AF0BE114D698}"/>
              </a:ext>
            </a:extLst>
          </p:cNvPr>
          <p:cNvSpPr txBox="1"/>
          <p:nvPr/>
        </p:nvSpPr>
        <p:spPr>
          <a:xfrm>
            <a:off x="2664689" y="1794163"/>
            <a:ext cx="6862619" cy="4701309"/>
          </a:xfrm>
          <a:prstGeom prst="rect">
            <a:avLst/>
          </a:prstGeom>
          <a:solidFill>
            <a:schemeClr val="bg1">
              <a:lumMod val="95000"/>
            </a:schemeClr>
          </a:solidFill>
        </p:spPr>
        <p:txBody>
          <a:bodyPr wrap="square" rtlCol="0">
            <a:noAutofit/>
          </a:bodyPr>
          <a:lstStyle/>
          <a:p>
            <a:pPr marL="285750" indent="-285750">
              <a:buFont typeface="Arial" panose="020B0604020202020204" pitchFamily="34" charset="0"/>
              <a:buChar char="•"/>
            </a:pPr>
            <a:r>
              <a:rPr lang="en-US" sz="2800"/>
              <a:t>Work your way through Lesson 7 and all Lesson 7 COUs</a:t>
            </a:r>
            <a:br>
              <a:rPr lang="en-US" sz="2800" dirty="0"/>
            </a:br>
            <a:endParaRPr lang="en-US" sz="2800" dirty="0"/>
          </a:p>
          <a:p>
            <a:pPr marL="285750" indent="-285750">
              <a:buFont typeface="Arial" panose="020B0604020202020204" pitchFamily="34" charset="0"/>
              <a:buChar char="•"/>
            </a:pPr>
            <a:r>
              <a:rPr lang="en-US" sz="2800"/>
              <a:t>Problem solving sessions meet this week</a:t>
            </a:r>
            <a:br>
              <a:rPr lang="en-US" sz="2800"/>
            </a:br>
            <a:endParaRPr lang="en-US" sz="2800" dirty="0"/>
          </a:p>
        </p:txBody>
      </p:sp>
    </p:spTree>
    <p:extLst>
      <p:ext uri="{BB962C8B-B14F-4D97-AF65-F5344CB8AC3E}">
        <p14:creationId xmlns:p14="http://schemas.microsoft.com/office/powerpoint/2010/main" val="220737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5DB5B0-5980-313C-43BF-3E93FBE1E0B1}"/>
              </a:ext>
            </a:extLst>
          </p:cNvPr>
          <p:cNvSpPr txBox="1"/>
          <p:nvPr/>
        </p:nvSpPr>
        <p:spPr>
          <a:xfrm>
            <a:off x="2549236" y="251597"/>
            <a:ext cx="6936509" cy="646331"/>
          </a:xfrm>
          <a:prstGeom prst="rect">
            <a:avLst/>
          </a:prstGeom>
          <a:noFill/>
        </p:spPr>
        <p:txBody>
          <a:bodyPr wrap="square" rtlCol="0">
            <a:spAutoFit/>
          </a:bodyPr>
          <a:lstStyle/>
          <a:p>
            <a:pPr algn="ctr"/>
            <a:r>
              <a:rPr lang="en-US" sz="3600" b="1" u="sng"/>
              <a:t>Key Concepts &amp; Tools for Lesson 7</a:t>
            </a:r>
          </a:p>
        </p:txBody>
      </p:sp>
      <p:sp>
        <p:nvSpPr>
          <p:cNvPr id="3" name="TextBox 2">
            <a:extLst>
              <a:ext uri="{FF2B5EF4-FFF2-40B4-BE49-F238E27FC236}">
                <a16:creationId xmlns:a16="http://schemas.microsoft.com/office/drawing/2014/main" id="{33ED1077-CB76-494F-030C-449A5CD9FF2B}"/>
              </a:ext>
            </a:extLst>
          </p:cNvPr>
          <p:cNvSpPr txBox="1"/>
          <p:nvPr/>
        </p:nvSpPr>
        <p:spPr>
          <a:xfrm>
            <a:off x="1188604" y="3592127"/>
            <a:ext cx="4572000" cy="584775"/>
          </a:xfrm>
          <a:prstGeom prst="rect">
            <a:avLst/>
          </a:prstGeom>
          <a:noFill/>
        </p:spPr>
        <p:txBody>
          <a:bodyPr wrap="square" rtlCol="0">
            <a:spAutoFit/>
          </a:bodyPr>
          <a:lstStyle/>
          <a:p>
            <a:pPr algn="ctr"/>
            <a:r>
              <a:rPr lang="en-US" sz="3200"/>
              <a:t>Strategic Interdependence</a:t>
            </a:r>
          </a:p>
        </p:txBody>
      </p:sp>
      <p:sp>
        <p:nvSpPr>
          <p:cNvPr id="4" name="TextBox 3">
            <a:extLst>
              <a:ext uri="{FF2B5EF4-FFF2-40B4-BE49-F238E27FC236}">
                <a16:creationId xmlns:a16="http://schemas.microsoft.com/office/drawing/2014/main" id="{4F0E1918-687D-2149-4BDF-2F0DE1D73819}"/>
              </a:ext>
            </a:extLst>
          </p:cNvPr>
          <p:cNvSpPr txBox="1"/>
          <p:nvPr/>
        </p:nvSpPr>
        <p:spPr>
          <a:xfrm>
            <a:off x="7408719" y="3676650"/>
            <a:ext cx="4802909" cy="2554545"/>
          </a:xfrm>
          <a:prstGeom prst="rect">
            <a:avLst/>
          </a:prstGeom>
          <a:noFill/>
        </p:spPr>
        <p:txBody>
          <a:bodyPr wrap="square" rtlCol="0">
            <a:spAutoFit/>
          </a:bodyPr>
          <a:lstStyle/>
          <a:p>
            <a:r>
              <a:rPr lang="en-US" sz="3200"/>
              <a:t>Simultaneous Move Game</a:t>
            </a:r>
          </a:p>
          <a:p>
            <a:r>
              <a:rPr lang="en-US" sz="3200"/>
              <a:t>Profiles of Actions</a:t>
            </a:r>
          </a:p>
          <a:p>
            <a:r>
              <a:rPr lang="en-US" sz="3200"/>
              <a:t>Payoff Function</a:t>
            </a:r>
          </a:p>
          <a:p>
            <a:r>
              <a:rPr lang="en-US" sz="3200"/>
              <a:t>2-by-2 Game</a:t>
            </a:r>
          </a:p>
          <a:p>
            <a:r>
              <a:rPr lang="en-US" sz="3200"/>
              <a:t>Matrix Form</a:t>
            </a:r>
          </a:p>
        </p:txBody>
      </p:sp>
      <p:sp>
        <p:nvSpPr>
          <p:cNvPr id="5" name="TextBox 4">
            <a:extLst>
              <a:ext uri="{FF2B5EF4-FFF2-40B4-BE49-F238E27FC236}">
                <a16:creationId xmlns:a16="http://schemas.microsoft.com/office/drawing/2014/main" id="{336D17A4-F4FF-9964-C72A-1EF244C4EED6}"/>
              </a:ext>
            </a:extLst>
          </p:cNvPr>
          <p:cNvSpPr txBox="1"/>
          <p:nvPr/>
        </p:nvSpPr>
        <p:spPr>
          <a:xfrm>
            <a:off x="6794500" y="3091875"/>
            <a:ext cx="4802909" cy="584775"/>
          </a:xfrm>
          <a:prstGeom prst="rect">
            <a:avLst/>
          </a:prstGeom>
          <a:noFill/>
        </p:spPr>
        <p:txBody>
          <a:bodyPr wrap="square" rtlCol="0">
            <a:spAutoFit/>
          </a:bodyPr>
          <a:lstStyle/>
          <a:p>
            <a:r>
              <a:rPr lang="en-US" sz="3200"/>
              <a:t>Game Theoretic Models</a:t>
            </a:r>
          </a:p>
        </p:txBody>
      </p:sp>
      <p:sp>
        <p:nvSpPr>
          <p:cNvPr id="6" name="Rectangle 5">
            <a:extLst>
              <a:ext uri="{FF2B5EF4-FFF2-40B4-BE49-F238E27FC236}">
                <a16:creationId xmlns:a16="http://schemas.microsoft.com/office/drawing/2014/main" id="{341E5162-77EA-4807-58B5-1445A2DECCF4}"/>
              </a:ext>
            </a:extLst>
          </p:cNvPr>
          <p:cNvSpPr/>
          <p:nvPr/>
        </p:nvSpPr>
        <p:spPr>
          <a:xfrm>
            <a:off x="868791" y="3718259"/>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DD8A83B-FD3F-553F-849D-EF51710D39C0}"/>
              </a:ext>
            </a:extLst>
          </p:cNvPr>
          <p:cNvSpPr/>
          <p:nvPr/>
        </p:nvSpPr>
        <p:spPr>
          <a:xfrm>
            <a:off x="6404262" y="3218007"/>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D46BF27-AB45-A049-71C9-E64C4C27E4D5}"/>
              </a:ext>
            </a:extLst>
          </p:cNvPr>
          <p:cNvSpPr/>
          <p:nvPr/>
        </p:nvSpPr>
        <p:spPr>
          <a:xfrm>
            <a:off x="7087749" y="3821263"/>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7A5D56D-E36D-11CA-8222-E8AFC1A20235}"/>
              </a:ext>
            </a:extLst>
          </p:cNvPr>
          <p:cNvSpPr/>
          <p:nvPr/>
        </p:nvSpPr>
        <p:spPr>
          <a:xfrm>
            <a:off x="7087749" y="4299553"/>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5B7C7E-2F59-99FB-D779-25346EEC4F52}"/>
              </a:ext>
            </a:extLst>
          </p:cNvPr>
          <p:cNvSpPr/>
          <p:nvPr/>
        </p:nvSpPr>
        <p:spPr>
          <a:xfrm>
            <a:off x="7092361" y="4777843"/>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B01B8BB-B6B9-0FDB-E664-94F468150153}"/>
              </a:ext>
            </a:extLst>
          </p:cNvPr>
          <p:cNvSpPr/>
          <p:nvPr/>
        </p:nvSpPr>
        <p:spPr>
          <a:xfrm>
            <a:off x="7087749" y="5294263"/>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3EDE4E-2749-1662-15F7-AFEA644F439F}"/>
              </a:ext>
            </a:extLst>
          </p:cNvPr>
          <p:cNvSpPr/>
          <p:nvPr/>
        </p:nvSpPr>
        <p:spPr>
          <a:xfrm>
            <a:off x="7090061" y="5752905"/>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0FB762-9571-AAAC-597A-4EE9ECF2DCF2}"/>
              </a:ext>
            </a:extLst>
          </p:cNvPr>
          <p:cNvSpPr/>
          <p:nvPr/>
        </p:nvSpPr>
        <p:spPr>
          <a:xfrm>
            <a:off x="0" y="6531881"/>
            <a:ext cx="12192000" cy="32612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2659E22-EEBF-8862-0997-6E91C47EBDE2}"/>
              </a:ext>
            </a:extLst>
          </p:cNvPr>
          <p:cNvSpPr/>
          <p:nvPr/>
        </p:nvSpPr>
        <p:spPr>
          <a:xfrm>
            <a:off x="0" y="997528"/>
            <a:ext cx="12192000" cy="55852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BE800DF-3BC8-5C68-E449-3E0451BE57B6}"/>
              </a:ext>
            </a:extLst>
          </p:cNvPr>
          <p:cNvSpPr/>
          <p:nvPr/>
        </p:nvSpPr>
        <p:spPr>
          <a:xfrm>
            <a:off x="1" y="1476375"/>
            <a:ext cx="318656" cy="5055505"/>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A385D46-E0C0-251E-14FF-12FBF3CF4851}"/>
              </a:ext>
            </a:extLst>
          </p:cNvPr>
          <p:cNvSpPr/>
          <p:nvPr/>
        </p:nvSpPr>
        <p:spPr>
          <a:xfrm>
            <a:off x="11873345" y="1556049"/>
            <a:ext cx="318656" cy="497583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59F9800-4AA9-D510-AF5C-23678DEE9825}"/>
              </a:ext>
            </a:extLst>
          </p:cNvPr>
          <p:cNvCxnSpPr/>
          <p:nvPr/>
        </p:nvCxnSpPr>
        <p:spPr>
          <a:xfrm>
            <a:off x="5920509" y="2096655"/>
            <a:ext cx="0" cy="3620654"/>
          </a:xfrm>
          <a:prstGeom prst="line">
            <a:avLst/>
          </a:prstGeom>
          <a:ln w="762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3AC8B00-B173-6619-0A51-80A7DFB0C522}"/>
              </a:ext>
            </a:extLst>
          </p:cNvPr>
          <p:cNvSpPr txBox="1"/>
          <p:nvPr/>
        </p:nvSpPr>
        <p:spPr>
          <a:xfrm>
            <a:off x="1123368" y="1647367"/>
            <a:ext cx="3990975" cy="1200329"/>
          </a:xfrm>
          <a:prstGeom prst="rect">
            <a:avLst/>
          </a:prstGeom>
          <a:noFill/>
        </p:spPr>
        <p:txBody>
          <a:bodyPr wrap="square" rtlCol="0">
            <a:spAutoFit/>
          </a:bodyPr>
          <a:lstStyle/>
          <a:p>
            <a:pPr algn="ctr"/>
            <a:r>
              <a:rPr lang="en-US" sz="3600" b="1" u="sng"/>
              <a:t>The Actual Thing in Actual Politics</a:t>
            </a:r>
          </a:p>
        </p:txBody>
      </p:sp>
      <p:sp>
        <p:nvSpPr>
          <p:cNvPr id="19" name="TextBox 18">
            <a:extLst>
              <a:ext uri="{FF2B5EF4-FFF2-40B4-BE49-F238E27FC236}">
                <a16:creationId xmlns:a16="http://schemas.microsoft.com/office/drawing/2014/main" id="{D1E89C3C-888C-E390-3B43-CCFD3B14362D}"/>
              </a:ext>
            </a:extLst>
          </p:cNvPr>
          <p:cNvSpPr txBox="1"/>
          <p:nvPr/>
        </p:nvSpPr>
        <p:spPr>
          <a:xfrm>
            <a:off x="6498720" y="1654080"/>
            <a:ext cx="4796415" cy="1200329"/>
          </a:xfrm>
          <a:prstGeom prst="rect">
            <a:avLst/>
          </a:prstGeom>
          <a:noFill/>
        </p:spPr>
        <p:txBody>
          <a:bodyPr wrap="square" rtlCol="0">
            <a:spAutoFit/>
          </a:bodyPr>
          <a:lstStyle/>
          <a:p>
            <a:pPr algn="ctr"/>
            <a:r>
              <a:rPr lang="en-US" sz="3600" b="1" u="sng"/>
              <a:t>Tools for Modeling the Actual Thing</a:t>
            </a:r>
          </a:p>
        </p:txBody>
      </p:sp>
    </p:spTree>
    <p:extLst>
      <p:ext uri="{BB962C8B-B14F-4D97-AF65-F5344CB8AC3E}">
        <p14:creationId xmlns:p14="http://schemas.microsoft.com/office/powerpoint/2010/main" val="2844192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E14A6A-27D1-0A6B-1415-DF6D2CCAC048}"/>
              </a:ext>
            </a:extLst>
          </p:cNvPr>
          <p:cNvSpPr/>
          <p:nvPr/>
        </p:nvSpPr>
        <p:spPr>
          <a:xfrm>
            <a:off x="2576945" y="1212272"/>
            <a:ext cx="7038109" cy="4433455"/>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a:solidFill>
                  <a:schemeClr val="tx1"/>
                </a:solidFill>
              </a:rPr>
              <a:t>Strategic Interdependence</a:t>
            </a:r>
          </a:p>
        </p:txBody>
      </p:sp>
    </p:spTree>
    <p:extLst>
      <p:ext uri="{BB962C8B-B14F-4D97-AF65-F5344CB8AC3E}">
        <p14:creationId xmlns:p14="http://schemas.microsoft.com/office/powerpoint/2010/main" val="3306614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363C25-1072-209C-D54C-F9D56EBE85B4}"/>
              </a:ext>
            </a:extLst>
          </p:cNvPr>
          <p:cNvSpPr txBox="1"/>
          <p:nvPr/>
        </p:nvSpPr>
        <p:spPr>
          <a:xfrm>
            <a:off x="2019300" y="2476500"/>
            <a:ext cx="8153400" cy="584775"/>
          </a:xfrm>
          <a:prstGeom prst="rect">
            <a:avLst/>
          </a:prstGeom>
          <a:noFill/>
        </p:spPr>
        <p:txBody>
          <a:bodyPr wrap="square" rtlCol="0">
            <a:spAutoFit/>
          </a:bodyPr>
          <a:lstStyle/>
          <a:p>
            <a:r>
              <a:rPr lang="en-US" sz="3200"/>
              <a:t>Attacking Jim Crow in Greenwood, MS, 1962</a:t>
            </a:r>
          </a:p>
        </p:txBody>
      </p:sp>
      <p:sp>
        <p:nvSpPr>
          <p:cNvPr id="3" name="TextBox 2">
            <a:extLst>
              <a:ext uri="{FF2B5EF4-FFF2-40B4-BE49-F238E27FC236}">
                <a16:creationId xmlns:a16="http://schemas.microsoft.com/office/drawing/2014/main" id="{DE8359AC-B88A-FDBB-404A-F4557D57B27F}"/>
              </a:ext>
            </a:extLst>
          </p:cNvPr>
          <p:cNvSpPr txBox="1"/>
          <p:nvPr/>
        </p:nvSpPr>
        <p:spPr>
          <a:xfrm>
            <a:off x="3390900" y="209550"/>
            <a:ext cx="5410200" cy="707886"/>
          </a:xfrm>
          <a:prstGeom prst="rect">
            <a:avLst/>
          </a:prstGeom>
          <a:noFill/>
        </p:spPr>
        <p:txBody>
          <a:bodyPr wrap="square" rtlCol="0">
            <a:spAutoFit/>
          </a:bodyPr>
          <a:lstStyle/>
          <a:p>
            <a:pPr algn="ctr"/>
            <a:r>
              <a:rPr lang="en-US" sz="4000" b="1" u="sng"/>
              <a:t>Some actual politics</a:t>
            </a:r>
          </a:p>
        </p:txBody>
      </p:sp>
    </p:spTree>
    <p:extLst>
      <p:ext uri="{BB962C8B-B14F-4D97-AF65-F5344CB8AC3E}">
        <p14:creationId xmlns:p14="http://schemas.microsoft.com/office/powerpoint/2010/main" val="3760693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303C81-5FCB-1EE2-8C1E-C7244F96A9C4}"/>
              </a:ext>
            </a:extLst>
          </p:cNvPr>
          <p:cNvPicPr>
            <a:picLocks noChangeAspect="1"/>
          </p:cNvPicPr>
          <p:nvPr/>
        </p:nvPicPr>
        <p:blipFill>
          <a:blip r:embed="rId2"/>
          <a:stretch>
            <a:fillRect/>
          </a:stretch>
        </p:blipFill>
        <p:spPr>
          <a:xfrm>
            <a:off x="3791945" y="0"/>
            <a:ext cx="4608109" cy="6858000"/>
          </a:xfrm>
          <a:prstGeom prst="rect">
            <a:avLst/>
          </a:prstGeom>
        </p:spPr>
      </p:pic>
    </p:spTree>
    <p:extLst>
      <p:ext uri="{BB962C8B-B14F-4D97-AF65-F5344CB8AC3E}">
        <p14:creationId xmlns:p14="http://schemas.microsoft.com/office/powerpoint/2010/main" val="1299688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6F7FB6-5934-82B4-0376-F12097E892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500" y="134636"/>
            <a:ext cx="7663000" cy="5087636"/>
          </a:xfrm>
          <a:prstGeom prst="rect">
            <a:avLst/>
          </a:prstGeom>
        </p:spPr>
      </p:pic>
      <p:sp>
        <p:nvSpPr>
          <p:cNvPr id="4" name="TextBox 3">
            <a:extLst>
              <a:ext uri="{FF2B5EF4-FFF2-40B4-BE49-F238E27FC236}">
                <a16:creationId xmlns:a16="http://schemas.microsoft.com/office/drawing/2014/main" id="{5B06E1D8-408F-4616-07D2-37EE6853A2E6}"/>
              </a:ext>
            </a:extLst>
          </p:cNvPr>
          <p:cNvSpPr txBox="1"/>
          <p:nvPr/>
        </p:nvSpPr>
        <p:spPr>
          <a:xfrm>
            <a:off x="2569465" y="5284080"/>
            <a:ext cx="6593007" cy="646331"/>
          </a:xfrm>
          <a:prstGeom prst="rect">
            <a:avLst/>
          </a:prstGeom>
          <a:noFill/>
        </p:spPr>
        <p:txBody>
          <a:bodyPr wrap="square" rtlCol="0">
            <a:spAutoFit/>
          </a:bodyPr>
          <a:lstStyle/>
          <a:p>
            <a:pPr algn="ctr"/>
            <a:r>
              <a:rPr lang="en-US"/>
              <a:t>Left half of photo: Bob </a:t>
            </a:r>
            <a:r>
              <a:rPr lang="en-US" dirty="0"/>
              <a:t>Moses, Sam Block, Willie Peacock, 1962</a:t>
            </a:r>
          </a:p>
          <a:p>
            <a:pPr algn="ctr"/>
            <a:r>
              <a:rPr lang="en-US"/>
              <a:t>(Man on the right may be Amzie Moore) </a:t>
            </a:r>
            <a:endParaRPr lang="en-US" dirty="0"/>
          </a:p>
        </p:txBody>
      </p:sp>
      <p:sp>
        <p:nvSpPr>
          <p:cNvPr id="5" name="TextBox 4">
            <a:extLst>
              <a:ext uri="{FF2B5EF4-FFF2-40B4-BE49-F238E27FC236}">
                <a16:creationId xmlns:a16="http://schemas.microsoft.com/office/drawing/2014/main" id="{A4C9DDE8-AFC0-9560-2607-C8322FFA2DB4}"/>
              </a:ext>
            </a:extLst>
          </p:cNvPr>
          <p:cNvSpPr txBox="1"/>
          <p:nvPr/>
        </p:nvSpPr>
        <p:spPr>
          <a:xfrm>
            <a:off x="2368276" y="5992220"/>
            <a:ext cx="5991284" cy="584775"/>
          </a:xfrm>
          <a:prstGeom prst="rect">
            <a:avLst/>
          </a:prstGeom>
          <a:noFill/>
        </p:spPr>
        <p:txBody>
          <a:bodyPr wrap="square" rtlCol="0">
            <a:spAutoFit/>
          </a:bodyPr>
          <a:lstStyle/>
          <a:p>
            <a:r>
              <a:rPr lang="en-US" sz="1600" dirty="0"/>
              <a:t>Photo by Danny Lyon</a:t>
            </a:r>
          </a:p>
          <a:p>
            <a:r>
              <a:rPr lang="en-US" sz="1600" dirty="0"/>
              <a:t>Retrieved from </a:t>
            </a:r>
            <a:r>
              <a:rPr lang="en-US" sz="1600" dirty="0">
                <a:hlinkClick r:id="rId3"/>
              </a:rPr>
              <a:t>https://snccdigital.org/people/sam-block/</a:t>
            </a:r>
            <a:endParaRPr lang="en-US" sz="1600" dirty="0"/>
          </a:p>
        </p:txBody>
      </p:sp>
    </p:spTree>
    <p:extLst>
      <p:ext uri="{BB962C8B-B14F-4D97-AF65-F5344CB8AC3E}">
        <p14:creationId xmlns:p14="http://schemas.microsoft.com/office/powerpoint/2010/main" val="3484892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93E395-CBB6-0367-D14A-42AEC6C41ED0}"/>
              </a:ext>
            </a:extLst>
          </p:cNvPr>
          <p:cNvSpPr txBox="1"/>
          <p:nvPr/>
        </p:nvSpPr>
        <p:spPr>
          <a:xfrm>
            <a:off x="3609975" y="209550"/>
            <a:ext cx="4086225" cy="707886"/>
          </a:xfrm>
          <a:prstGeom prst="rect">
            <a:avLst/>
          </a:prstGeom>
          <a:noFill/>
        </p:spPr>
        <p:txBody>
          <a:bodyPr wrap="square" rtlCol="0">
            <a:spAutoFit/>
          </a:bodyPr>
          <a:lstStyle/>
          <a:p>
            <a:pPr algn="ctr"/>
            <a:r>
              <a:rPr lang="en-US" sz="4000" b="1" u="sng"/>
              <a:t>Jim Crow</a:t>
            </a:r>
          </a:p>
        </p:txBody>
      </p:sp>
    </p:spTree>
    <p:extLst>
      <p:ext uri="{BB962C8B-B14F-4D97-AF65-F5344CB8AC3E}">
        <p14:creationId xmlns:p14="http://schemas.microsoft.com/office/powerpoint/2010/main" val="3665346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A75664-B137-EEFE-5009-5B4DE3FDA2B2}"/>
              </a:ext>
            </a:extLst>
          </p:cNvPr>
          <p:cNvSpPr txBox="1"/>
          <p:nvPr/>
        </p:nvSpPr>
        <p:spPr>
          <a:xfrm>
            <a:off x="3609975" y="209550"/>
            <a:ext cx="4086225" cy="707886"/>
          </a:xfrm>
          <a:prstGeom prst="rect">
            <a:avLst/>
          </a:prstGeom>
          <a:noFill/>
        </p:spPr>
        <p:txBody>
          <a:bodyPr wrap="square" rtlCol="0">
            <a:spAutoFit/>
          </a:bodyPr>
          <a:lstStyle/>
          <a:p>
            <a:pPr algn="ctr"/>
            <a:r>
              <a:rPr lang="en-US" sz="4000" b="1" u="sng"/>
              <a:t>Jim Crow</a:t>
            </a:r>
          </a:p>
        </p:txBody>
      </p:sp>
      <p:sp>
        <p:nvSpPr>
          <p:cNvPr id="3" name="TextBox 2">
            <a:extLst>
              <a:ext uri="{FF2B5EF4-FFF2-40B4-BE49-F238E27FC236}">
                <a16:creationId xmlns:a16="http://schemas.microsoft.com/office/drawing/2014/main" id="{ED0EF1EE-8990-D773-D2E6-A17D303F8D18}"/>
              </a:ext>
            </a:extLst>
          </p:cNvPr>
          <p:cNvSpPr txBox="1"/>
          <p:nvPr/>
        </p:nvSpPr>
        <p:spPr>
          <a:xfrm>
            <a:off x="876300" y="1543050"/>
            <a:ext cx="10563225" cy="3539430"/>
          </a:xfrm>
          <a:prstGeom prst="rect">
            <a:avLst/>
          </a:prstGeom>
          <a:noFill/>
        </p:spPr>
        <p:txBody>
          <a:bodyPr wrap="square" rtlCol="0">
            <a:spAutoFit/>
          </a:bodyPr>
          <a:lstStyle/>
          <a:p>
            <a:r>
              <a:rPr lang="en-US" sz="3200"/>
              <a:t>A set of widely shared expectations about:</a:t>
            </a:r>
            <a:br>
              <a:rPr lang="en-US" sz="3200"/>
            </a:br>
            <a:endParaRPr lang="en-US" sz="3200"/>
          </a:p>
          <a:p>
            <a:pPr marL="457200" indent="-457200">
              <a:buFont typeface="Arial" panose="020B0604020202020204" pitchFamily="34" charset="0"/>
              <a:buChar char="•"/>
            </a:pPr>
            <a:r>
              <a:rPr lang="en-US" sz="3200"/>
              <a:t>How black persons would interact with white persons.</a:t>
            </a:r>
          </a:p>
          <a:p>
            <a:pPr marL="457200" indent="-457200">
              <a:buFont typeface="Arial" panose="020B0604020202020204" pitchFamily="34" charset="0"/>
              <a:buChar char="•"/>
            </a:pPr>
            <a:r>
              <a:rPr lang="en-US" sz="3200"/>
              <a:t>Which public accommodations and institutions black persons would and would not take part in.</a:t>
            </a:r>
          </a:p>
          <a:p>
            <a:pPr marL="457200" indent="-457200">
              <a:buFont typeface="Arial" panose="020B0604020202020204" pitchFamily="34" charset="0"/>
              <a:buChar char="•"/>
            </a:pPr>
            <a:r>
              <a:rPr lang="en-US" sz="3200"/>
              <a:t>What would occur when a black person violated these expectations.</a:t>
            </a:r>
          </a:p>
        </p:txBody>
      </p:sp>
    </p:spTree>
    <p:extLst>
      <p:ext uri="{BB962C8B-B14F-4D97-AF65-F5344CB8AC3E}">
        <p14:creationId xmlns:p14="http://schemas.microsoft.com/office/powerpoint/2010/main" val="4074112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2D18B-6E0F-B4AD-D63C-A6E3876BE9B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E681EC-7DC4-097E-880B-545B903DAF49}"/>
              </a:ext>
            </a:extLst>
          </p:cNvPr>
          <p:cNvSpPr txBox="1"/>
          <p:nvPr/>
        </p:nvSpPr>
        <p:spPr>
          <a:xfrm>
            <a:off x="2162175" y="152400"/>
            <a:ext cx="7572375" cy="1323439"/>
          </a:xfrm>
          <a:prstGeom prst="rect">
            <a:avLst/>
          </a:prstGeom>
          <a:noFill/>
        </p:spPr>
        <p:txBody>
          <a:bodyPr wrap="square" rtlCol="0">
            <a:spAutoFit/>
          </a:bodyPr>
          <a:lstStyle/>
          <a:p>
            <a:pPr algn="ctr"/>
            <a:r>
              <a:rPr lang="en-US" sz="4000" b="1" u="sng"/>
              <a:t>The first Greenwood protest lead by Sam Block, August 1962</a:t>
            </a:r>
          </a:p>
        </p:txBody>
      </p:sp>
      <p:sp>
        <p:nvSpPr>
          <p:cNvPr id="3" name="TextBox 2">
            <a:extLst>
              <a:ext uri="{FF2B5EF4-FFF2-40B4-BE49-F238E27FC236}">
                <a16:creationId xmlns:a16="http://schemas.microsoft.com/office/drawing/2014/main" id="{8DEB7921-726E-0689-31BA-6E4A743EB04E}"/>
              </a:ext>
            </a:extLst>
          </p:cNvPr>
          <p:cNvSpPr txBox="1"/>
          <p:nvPr/>
        </p:nvSpPr>
        <p:spPr>
          <a:xfrm>
            <a:off x="814387" y="2409825"/>
            <a:ext cx="10563225" cy="1569660"/>
          </a:xfrm>
          <a:prstGeom prst="rect">
            <a:avLst/>
          </a:prstGeom>
          <a:noFill/>
        </p:spPr>
        <p:txBody>
          <a:bodyPr wrap="square" rtlCol="0">
            <a:spAutoFit/>
          </a:bodyPr>
          <a:lstStyle/>
          <a:p>
            <a:pPr marL="457200" indent="-457200">
              <a:buFont typeface="Arial" panose="020B0604020202020204" pitchFamily="34" charset="0"/>
              <a:buChar char="•"/>
            </a:pPr>
            <a:r>
              <a:rPr lang="en-US" sz="3200"/>
              <a:t>Block and 3-4 black residents of Greenwood show up at the county courthouse.</a:t>
            </a:r>
          </a:p>
          <a:p>
            <a:pPr marL="457200" indent="-457200">
              <a:buFont typeface="Arial" panose="020B0604020202020204" pitchFamily="34" charset="0"/>
              <a:buChar char="•"/>
            </a:pPr>
            <a:r>
              <a:rPr lang="en-US" sz="3200"/>
              <a:t>Ask the clerk on duty to be registered to vote.</a:t>
            </a:r>
          </a:p>
        </p:txBody>
      </p:sp>
    </p:spTree>
    <p:extLst>
      <p:ext uri="{BB962C8B-B14F-4D97-AF65-F5344CB8AC3E}">
        <p14:creationId xmlns:p14="http://schemas.microsoft.com/office/powerpoint/2010/main" val="3745122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7F3B8-6DF2-963C-71CE-99FA7AA789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6E5F07-7BC1-C5E3-52FC-2C67D68DF41A}"/>
              </a:ext>
            </a:extLst>
          </p:cNvPr>
          <p:cNvSpPr txBox="1"/>
          <p:nvPr/>
        </p:nvSpPr>
        <p:spPr>
          <a:xfrm>
            <a:off x="2162175" y="152400"/>
            <a:ext cx="7572375" cy="1323439"/>
          </a:xfrm>
          <a:prstGeom prst="rect">
            <a:avLst/>
          </a:prstGeom>
          <a:noFill/>
        </p:spPr>
        <p:txBody>
          <a:bodyPr wrap="square" rtlCol="0">
            <a:spAutoFit/>
          </a:bodyPr>
          <a:lstStyle/>
          <a:p>
            <a:pPr algn="ctr"/>
            <a:r>
              <a:rPr lang="en-US" sz="4000" b="1" u="sng"/>
              <a:t>The first Greenwood protest lead by Sam Block, August 1962</a:t>
            </a:r>
          </a:p>
        </p:txBody>
      </p:sp>
      <p:sp>
        <p:nvSpPr>
          <p:cNvPr id="3" name="TextBox 2">
            <a:extLst>
              <a:ext uri="{FF2B5EF4-FFF2-40B4-BE49-F238E27FC236}">
                <a16:creationId xmlns:a16="http://schemas.microsoft.com/office/drawing/2014/main" id="{95CEC672-1DEF-091B-9AEA-9AFD3851FA02}"/>
              </a:ext>
            </a:extLst>
          </p:cNvPr>
          <p:cNvSpPr txBox="1"/>
          <p:nvPr/>
        </p:nvSpPr>
        <p:spPr>
          <a:xfrm>
            <a:off x="814387" y="2409825"/>
            <a:ext cx="10563225" cy="1569660"/>
          </a:xfrm>
          <a:prstGeom prst="rect">
            <a:avLst/>
          </a:prstGeom>
          <a:noFill/>
        </p:spPr>
        <p:txBody>
          <a:bodyPr wrap="square" rtlCol="0">
            <a:spAutoFit/>
          </a:bodyPr>
          <a:lstStyle/>
          <a:p>
            <a:pPr marL="457200" indent="-457200">
              <a:buFont typeface="Arial" panose="020B0604020202020204" pitchFamily="34" charset="0"/>
              <a:buChar char="•"/>
            </a:pPr>
            <a:r>
              <a:rPr lang="en-US" sz="3200"/>
              <a:t>Block and 3-4 black residents of Greenwood show up at the county courthouse.</a:t>
            </a:r>
          </a:p>
          <a:p>
            <a:pPr marL="457200" indent="-457200">
              <a:buFont typeface="Arial" panose="020B0604020202020204" pitchFamily="34" charset="0"/>
              <a:buChar char="•"/>
            </a:pPr>
            <a:r>
              <a:rPr lang="en-US" sz="3200"/>
              <a:t>Ask the clerk on duty to be registered to vote.</a:t>
            </a:r>
          </a:p>
        </p:txBody>
      </p:sp>
      <p:sp>
        <p:nvSpPr>
          <p:cNvPr id="4" name="TextBox 3">
            <a:extLst>
              <a:ext uri="{FF2B5EF4-FFF2-40B4-BE49-F238E27FC236}">
                <a16:creationId xmlns:a16="http://schemas.microsoft.com/office/drawing/2014/main" id="{B942F6CC-4255-3991-CE21-2276ADC52F31}"/>
              </a:ext>
            </a:extLst>
          </p:cNvPr>
          <p:cNvSpPr txBox="1"/>
          <p:nvPr/>
        </p:nvSpPr>
        <p:spPr>
          <a:xfrm rot="20910393">
            <a:off x="3359984" y="3229821"/>
            <a:ext cx="8939358" cy="2677656"/>
          </a:xfrm>
          <a:prstGeom prst="rect">
            <a:avLst/>
          </a:prstGeom>
          <a:solidFill>
            <a:schemeClr val="tx1">
              <a:lumMod val="50000"/>
              <a:lumOff val="50000"/>
            </a:schemeClr>
          </a:solidFill>
        </p:spPr>
        <p:txBody>
          <a:bodyPr wrap="square" rtlCol="0">
            <a:spAutoFit/>
          </a:bodyPr>
          <a:lstStyle/>
          <a:p>
            <a:r>
              <a:rPr lang="en-US" sz="2400">
                <a:solidFill>
                  <a:schemeClr val="bg1"/>
                </a:solidFill>
              </a:rPr>
              <a:t>There were no laws on the books that prohibited black persons being registered to vote.</a:t>
            </a:r>
          </a:p>
          <a:p>
            <a:endParaRPr lang="en-US" sz="2400">
              <a:solidFill>
                <a:schemeClr val="bg1"/>
              </a:solidFill>
            </a:endParaRPr>
          </a:p>
          <a:p>
            <a:r>
              <a:rPr lang="en-US" sz="2400">
                <a:solidFill>
                  <a:schemeClr val="bg1"/>
                </a:solidFill>
              </a:rPr>
              <a:t>Several black residents of Greenwood were registered to vote, and several black residents voted regularly in elections.</a:t>
            </a:r>
          </a:p>
          <a:p>
            <a:endParaRPr lang="en-US" sz="2400">
              <a:solidFill>
                <a:schemeClr val="bg1"/>
              </a:solidFill>
            </a:endParaRPr>
          </a:p>
          <a:p>
            <a:r>
              <a:rPr lang="en-US" sz="2400">
                <a:solidFill>
                  <a:schemeClr val="bg1"/>
                </a:solidFill>
              </a:rPr>
              <a:t>So what made this a “protest”???  And what was being “protested”???</a:t>
            </a:r>
          </a:p>
        </p:txBody>
      </p:sp>
    </p:spTree>
    <p:extLst>
      <p:ext uri="{BB962C8B-B14F-4D97-AF65-F5344CB8AC3E}">
        <p14:creationId xmlns:p14="http://schemas.microsoft.com/office/powerpoint/2010/main" val="2382810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669F7-89E2-D55B-8009-ADD5E8FE2B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4A99EA7-8356-DC00-09D8-440283663F4E}"/>
              </a:ext>
            </a:extLst>
          </p:cNvPr>
          <p:cNvSpPr txBox="1"/>
          <p:nvPr/>
        </p:nvSpPr>
        <p:spPr>
          <a:xfrm>
            <a:off x="3609975" y="209550"/>
            <a:ext cx="4086225" cy="707886"/>
          </a:xfrm>
          <a:prstGeom prst="rect">
            <a:avLst/>
          </a:prstGeom>
          <a:noFill/>
        </p:spPr>
        <p:txBody>
          <a:bodyPr wrap="square" rtlCol="0">
            <a:spAutoFit/>
          </a:bodyPr>
          <a:lstStyle/>
          <a:p>
            <a:pPr algn="ctr"/>
            <a:r>
              <a:rPr lang="en-US" sz="4000" b="1" u="sng"/>
              <a:t>Jim Crow</a:t>
            </a:r>
          </a:p>
        </p:txBody>
      </p:sp>
      <p:sp>
        <p:nvSpPr>
          <p:cNvPr id="3" name="TextBox 2">
            <a:extLst>
              <a:ext uri="{FF2B5EF4-FFF2-40B4-BE49-F238E27FC236}">
                <a16:creationId xmlns:a16="http://schemas.microsoft.com/office/drawing/2014/main" id="{23C5B957-9272-6021-84E1-16CF15D46A22}"/>
              </a:ext>
            </a:extLst>
          </p:cNvPr>
          <p:cNvSpPr txBox="1"/>
          <p:nvPr/>
        </p:nvSpPr>
        <p:spPr>
          <a:xfrm>
            <a:off x="876300" y="1543050"/>
            <a:ext cx="10563225" cy="3539430"/>
          </a:xfrm>
          <a:prstGeom prst="rect">
            <a:avLst/>
          </a:prstGeom>
          <a:noFill/>
        </p:spPr>
        <p:txBody>
          <a:bodyPr wrap="square" rtlCol="0">
            <a:spAutoFit/>
          </a:bodyPr>
          <a:lstStyle/>
          <a:p>
            <a:r>
              <a:rPr lang="en-US" sz="3200"/>
              <a:t>A set of widely shared expectations about:</a:t>
            </a:r>
            <a:br>
              <a:rPr lang="en-US" sz="3200"/>
            </a:br>
            <a:endParaRPr lang="en-US" sz="3200"/>
          </a:p>
          <a:p>
            <a:pPr marL="457200" indent="-457200">
              <a:buFont typeface="Arial" panose="020B0604020202020204" pitchFamily="34" charset="0"/>
              <a:buChar char="•"/>
            </a:pPr>
            <a:r>
              <a:rPr lang="en-US" sz="3200"/>
              <a:t>How black persons would interact with white persons.</a:t>
            </a:r>
          </a:p>
          <a:p>
            <a:pPr marL="457200" indent="-457200">
              <a:buFont typeface="Arial" panose="020B0604020202020204" pitchFamily="34" charset="0"/>
              <a:buChar char="•"/>
            </a:pPr>
            <a:r>
              <a:rPr lang="en-US" sz="3200"/>
              <a:t>Which public accommodations and institutions black persons would and would not take part in.</a:t>
            </a:r>
          </a:p>
          <a:p>
            <a:pPr marL="457200" indent="-457200">
              <a:buFont typeface="Arial" panose="020B0604020202020204" pitchFamily="34" charset="0"/>
              <a:buChar char="•"/>
            </a:pPr>
            <a:r>
              <a:rPr lang="en-US" sz="3200"/>
              <a:t>What would occur when a black person violated these expectations.</a:t>
            </a:r>
          </a:p>
        </p:txBody>
      </p:sp>
    </p:spTree>
    <p:extLst>
      <p:ext uri="{BB962C8B-B14F-4D97-AF65-F5344CB8AC3E}">
        <p14:creationId xmlns:p14="http://schemas.microsoft.com/office/powerpoint/2010/main" val="496051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363C25-1072-209C-D54C-F9D56EBE85B4}"/>
              </a:ext>
            </a:extLst>
          </p:cNvPr>
          <p:cNvSpPr txBox="1"/>
          <p:nvPr/>
        </p:nvSpPr>
        <p:spPr>
          <a:xfrm>
            <a:off x="735445" y="1829955"/>
            <a:ext cx="9969500" cy="4031873"/>
          </a:xfrm>
          <a:prstGeom prst="rect">
            <a:avLst/>
          </a:prstGeom>
          <a:noFill/>
        </p:spPr>
        <p:txBody>
          <a:bodyPr wrap="square" rtlCol="0">
            <a:spAutoFit/>
          </a:bodyPr>
          <a:lstStyle/>
          <a:p>
            <a:pPr marL="457200" indent="-457200">
              <a:buFont typeface="Arial" panose="020B0604020202020204" pitchFamily="34" charset="0"/>
              <a:buChar char="•"/>
            </a:pPr>
            <a:r>
              <a:rPr lang="en-US" sz="3200" dirty="0"/>
              <a:t>Demand certain behaviors in the populations they rule.</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Use spectacular public violence to try to enforce those demands.</a:t>
            </a:r>
            <a:br>
              <a:rPr lang="en-US" sz="3200" dirty="0"/>
            </a:br>
            <a:endParaRPr lang="en-US" sz="3200" dirty="0"/>
          </a:p>
          <a:p>
            <a:pPr marL="457200" indent="-457200">
              <a:buFont typeface="Arial" panose="020B0604020202020204" pitchFamily="34" charset="0"/>
              <a:buChar char="•"/>
            </a:pPr>
            <a:r>
              <a:rPr lang="en-US" sz="3200" dirty="0"/>
              <a:t>Can collapse in one of two ways, depending on how they use violence to repress mass resistance – (a) loss of credibility, (b) loss of support from “liberal” elites</a:t>
            </a:r>
          </a:p>
        </p:txBody>
      </p:sp>
      <p:sp>
        <p:nvSpPr>
          <p:cNvPr id="3" name="TextBox 2">
            <a:extLst>
              <a:ext uri="{FF2B5EF4-FFF2-40B4-BE49-F238E27FC236}">
                <a16:creationId xmlns:a16="http://schemas.microsoft.com/office/drawing/2014/main" id="{DE8359AC-B88A-FDBB-404A-F4557D57B27F}"/>
              </a:ext>
            </a:extLst>
          </p:cNvPr>
          <p:cNvSpPr txBox="1"/>
          <p:nvPr/>
        </p:nvSpPr>
        <p:spPr>
          <a:xfrm>
            <a:off x="3490624" y="191077"/>
            <a:ext cx="5210752" cy="1323439"/>
          </a:xfrm>
          <a:prstGeom prst="rect">
            <a:avLst/>
          </a:prstGeom>
          <a:noFill/>
        </p:spPr>
        <p:txBody>
          <a:bodyPr wrap="square" rtlCol="0">
            <a:spAutoFit/>
          </a:bodyPr>
          <a:lstStyle/>
          <a:p>
            <a:pPr algn="ctr"/>
            <a:r>
              <a:rPr lang="en-US" sz="4000" b="1" u="sng"/>
              <a:t>AUTHORITARIAN REGIMES IN GENERAL</a:t>
            </a:r>
          </a:p>
        </p:txBody>
      </p:sp>
    </p:spTree>
    <p:extLst>
      <p:ext uri="{BB962C8B-B14F-4D97-AF65-F5344CB8AC3E}">
        <p14:creationId xmlns:p14="http://schemas.microsoft.com/office/powerpoint/2010/main" val="2798079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3E2C72-C637-53C1-605E-891ADD02B5D8}"/>
              </a:ext>
            </a:extLst>
          </p:cNvPr>
          <p:cNvSpPr txBox="1"/>
          <p:nvPr/>
        </p:nvSpPr>
        <p:spPr>
          <a:xfrm>
            <a:off x="3038475" y="409575"/>
            <a:ext cx="5972175" cy="707886"/>
          </a:xfrm>
          <a:prstGeom prst="rect">
            <a:avLst/>
          </a:prstGeom>
          <a:noFill/>
        </p:spPr>
        <p:txBody>
          <a:bodyPr wrap="square" rtlCol="0">
            <a:spAutoFit/>
          </a:bodyPr>
          <a:lstStyle/>
          <a:p>
            <a:pPr algn="ctr"/>
            <a:r>
              <a:rPr lang="en-US" sz="4000" b="1" u="sng"/>
              <a:t>Two Contrasting Outcomes</a:t>
            </a:r>
          </a:p>
        </p:txBody>
      </p:sp>
    </p:spTree>
    <p:extLst>
      <p:ext uri="{BB962C8B-B14F-4D97-AF65-F5344CB8AC3E}">
        <p14:creationId xmlns:p14="http://schemas.microsoft.com/office/powerpoint/2010/main" val="538694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552DA2-1806-84D7-8E71-E7EB907BF316}"/>
              </a:ext>
            </a:extLst>
          </p:cNvPr>
          <p:cNvSpPr txBox="1"/>
          <p:nvPr/>
        </p:nvSpPr>
        <p:spPr>
          <a:xfrm>
            <a:off x="3038475" y="409575"/>
            <a:ext cx="5972175" cy="707886"/>
          </a:xfrm>
          <a:prstGeom prst="rect">
            <a:avLst/>
          </a:prstGeom>
          <a:noFill/>
        </p:spPr>
        <p:txBody>
          <a:bodyPr wrap="square" rtlCol="0">
            <a:spAutoFit/>
          </a:bodyPr>
          <a:lstStyle/>
          <a:p>
            <a:pPr algn="ctr"/>
            <a:r>
              <a:rPr lang="en-US" sz="4000" b="1" u="sng"/>
              <a:t>Two Contrasting Outcomes</a:t>
            </a:r>
          </a:p>
        </p:txBody>
      </p:sp>
      <p:sp>
        <p:nvSpPr>
          <p:cNvPr id="3" name="TextBox 2">
            <a:extLst>
              <a:ext uri="{FF2B5EF4-FFF2-40B4-BE49-F238E27FC236}">
                <a16:creationId xmlns:a16="http://schemas.microsoft.com/office/drawing/2014/main" id="{13B1ADF2-F68D-3517-BC13-02478DAE4ECD}"/>
              </a:ext>
            </a:extLst>
          </p:cNvPr>
          <p:cNvSpPr txBox="1"/>
          <p:nvPr/>
        </p:nvSpPr>
        <p:spPr>
          <a:xfrm>
            <a:off x="752475" y="1185446"/>
            <a:ext cx="10620375" cy="1938992"/>
          </a:xfrm>
          <a:prstGeom prst="rect">
            <a:avLst/>
          </a:prstGeom>
          <a:noFill/>
        </p:spPr>
        <p:txBody>
          <a:bodyPr wrap="square" rtlCol="0">
            <a:spAutoFit/>
          </a:bodyPr>
          <a:lstStyle/>
          <a:p>
            <a:pPr marL="285750" indent="-285750">
              <a:buFont typeface="Arial" panose="020B0604020202020204" pitchFamily="34" charset="0"/>
              <a:buChar char="•"/>
            </a:pPr>
            <a:r>
              <a:rPr lang="en-US" sz="2400" b="1"/>
              <a:t>1961, McComb Mississippi: </a:t>
            </a:r>
            <a:r>
              <a:rPr lang="en-US" sz="2400"/>
              <a:t>SNCC organizers begin voter registration trainings in July.  Local resident Herbert Lee begins to assist organizers in August.  Lee shot and killed by white supremist in retaliation for his collaboration with SNCC organizers in September.  Many black residents plead with SNCC organizers to stop the campaign and leave town, which they do.</a:t>
            </a:r>
          </a:p>
        </p:txBody>
      </p:sp>
    </p:spTree>
    <p:extLst>
      <p:ext uri="{BB962C8B-B14F-4D97-AF65-F5344CB8AC3E}">
        <p14:creationId xmlns:p14="http://schemas.microsoft.com/office/powerpoint/2010/main" val="748042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552DA2-1806-84D7-8E71-E7EB907BF316}"/>
              </a:ext>
            </a:extLst>
          </p:cNvPr>
          <p:cNvSpPr txBox="1"/>
          <p:nvPr/>
        </p:nvSpPr>
        <p:spPr>
          <a:xfrm>
            <a:off x="3038475" y="409575"/>
            <a:ext cx="5972175" cy="707886"/>
          </a:xfrm>
          <a:prstGeom prst="rect">
            <a:avLst/>
          </a:prstGeom>
          <a:noFill/>
        </p:spPr>
        <p:txBody>
          <a:bodyPr wrap="square" rtlCol="0">
            <a:spAutoFit/>
          </a:bodyPr>
          <a:lstStyle/>
          <a:p>
            <a:pPr algn="ctr"/>
            <a:r>
              <a:rPr lang="en-US" sz="4000" b="1" u="sng"/>
              <a:t>Two Contrasting Outcomes</a:t>
            </a:r>
          </a:p>
        </p:txBody>
      </p:sp>
      <p:sp>
        <p:nvSpPr>
          <p:cNvPr id="3" name="TextBox 2">
            <a:extLst>
              <a:ext uri="{FF2B5EF4-FFF2-40B4-BE49-F238E27FC236}">
                <a16:creationId xmlns:a16="http://schemas.microsoft.com/office/drawing/2014/main" id="{13B1ADF2-F68D-3517-BC13-02478DAE4ECD}"/>
              </a:ext>
            </a:extLst>
          </p:cNvPr>
          <p:cNvSpPr txBox="1"/>
          <p:nvPr/>
        </p:nvSpPr>
        <p:spPr>
          <a:xfrm>
            <a:off x="752475" y="1185446"/>
            <a:ext cx="10620375" cy="5262979"/>
          </a:xfrm>
          <a:prstGeom prst="rect">
            <a:avLst/>
          </a:prstGeom>
          <a:noFill/>
        </p:spPr>
        <p:txBody>
          <a:bodyPr wrap="square" rtlCol="0">
            <a:spAutoFit/>
          </a:bodyPr>
          <a:lstStyle/>
          <a:p>
            <a:pPr marL="285750" indent="-285750">
              <a:buFont typeface="Arial" panose="020B0604020202020204" pitchFamily="34" charset="0"/>
              <a:buChar char="•"/>
            </a:pPr>
            <a:r>
              <a:rPr lang="en-US" sz="2400" b="1"/>
              <a:t>1961, McComb Mississippi: </a:t>
            </a:r>
            <a:r>
              <a:rPr lang="en-US" sz="2400"/>
              <a:t>SNCC organizers begin voter registration trainings in July.  Local resident Herbert Lee begins to assist organizers in August.  Lee shot and killed by white supremist in retaliation for his collaboration with SNCC organizers in September.  Many black residents plead with SNCC organizers to stop the campaign and leave town, which they do.</a:t>
            </a:r>
          </a:p>
          <a:p>
            <a:pPr marL="285750" indent="-285750">
              <a:buFont typeface="Arial" panose="020B0604020202020204" pitchFamily="34" charset="0"/>
              <a:buChar char="•"/>
            </a:pPr>
            <a:endParaRPr lang="en-US" sz="2400" b="1"/>
          </a:p>
          <a:p>
            <a:pPr marL="285750" indent="-285750">
              <a:buFont typeface="Arial" panose="020B0604020202020204" pitchFamily="34" charset="0"/>
              <a:buChar char="•"/>
            </a:pPr>
            <a:r>
              <a:rPr lang="en-US" sz="2400" b="1"/>
              <a:t>1962, Greenwood Mississippi: </a:t>
            </a:r>
            <a:r>
              <a:rPr lang="en-US" sz="2400"/>
              <a:t>SNCC organizers being voter registration trainings in July.  Sam Block begins leading small groups of voters to attempt to register at courthouse in July.  Local terrorists target Block for beating and lynching, but do not attack local residents directly.  Partipication in voter registration actions steadily grows to hundreds at a time by January of 1963.  Campaign attracts national media attention, leading local white elites to ousting white supremists hardliners from local government positions, and collapse of regime resistance to mass black voter registration in spring of 1963.</a:t>
            </a:r>
            <a:endParaRPr lang="en-US" sz="2400" b="1"/>
          </a:p>
        </p:txBody>
      </p:sp>
    </p:spTree>
    <p:extLst>
      <p:ext uri="{BB962C8B-B14F-4D97-AF65-F5344CB8AC3E}">
        <p14:creationId xmlns:p14="http://schemas.microsoft.com/office/powerpoint/2010/main" val="1398545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714F27-8626-E3BA-2C6D-133FCE5D838F}"/>
              </a:ext>
            </a:extLst>
          </p:cNvPr>
          <p:cNvSpPr txBox="1"/>
          <p:nvPr/>
        </p:nvSpPr>
        <p:spPr>
          <a:xfrm>
            <a:off x="701963" y="350983"/>
            <a:ext cx="10788073" cy="646331"/>
          </a:xfrm>
          <a:prstGeom prst="rect">
            <a:avLst/>
          </a:prstGeom>
          <a:noFill/>
        </p:spPr>
        <p:txBody>
          <a:bodyPr wrap="square" rtlCol="0">
            <a:spAutoFit/>
          </a:bodyPr>
          <a:lstStyle/>
          <a:p>
            <a:pPr algn="ctr"/>
            <a:r>
              <a:rPr lang="en-US" sz="3600" b="1" u="sng"/>
              <a:t>The McComb Campaign was Counterproductive</a:t>
            </a:r>
          </a:p>
        </p:txBody>
      </p:sp>
    </p:spTree>
    <p:extLst>
      <p:ext uri="{BB962C8B-B14F-4D97-AF65-F5344CB8AC3E}">
        <p14:creationId xmlns:p14="http://schemas.microsoft.com/office/powerpoint/2010/main" val="3741235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1CC515-F05D-65BD-4B70-EAA6C7EA88D2}"/>
              </a:ext>
            </a:extLst>
          </p:cNvPr>
          <p:cNvSpPr txBox="1"/>
          <p:nvPr/>
        </p:nvSpPr>
        <p:spPr>
          <a:xfrm>
            <a:off x="415636" y="1320800"/>
            <a:ext cx="11526982" cy="2308324"/>
          </a:xfrm>
          <a:prstGeom prst="rect">
            <a:avLst/>
          </a:prstGeom>
          <a:noFill/>
        </p:spPr>
        <p:txBody>
          <a:bodyPr wrap="square" rtlCol="0">
            <a:spAutoFit/>
          </a:bodyPr>
          <a:lstStyle/>
          <a:p>
            <a:pPr marL="285750" indent="-285750">
              <a:buFont typeface="Arial" panose="020B0604020202020204" pitchFamily="34" charset="0"/>
              <a:buChar char="•"/>
            </a:pPr>
            <a:r>
              <a:rPr lang="en-US" sz="3600"/>
              <a:t>Murder of a local resident almost immediately after first tiny protests terrified population, convince many that any resistance would punished brutally.</a:t>
            </a:r>
            <a:br>
              <a:rPr lang="en-US" sz="3600"/>
            </a:br>
            <a:endParaRPr lang="en-US" sz="3600"/>
          </a:p>
        </p:txBody>
      </p:sp>
      <p:sp>
        <p:nvSpPr>
          <p:cNvPr id="5" name="TextBox 4">
            <a:extLst>
              <a:ext uri="{FF2B5EF4-FFF2-40B4-BE49-F238E27FC236}">
                <a16:creationId xmlns:a16="http://schemas.microsoft.com/office/drawing/2014/main" id="{DE7C4823-D8B9-B4BE-2D7A-FF4DA786020B}"/>
              </a:ext>
            </a:extLst>
          </p:cNvPr>
          <p:cNvSpPr txBox="1"/>
          <p:nvPr/>
        </p:nvSpPr>
        <p:spPr>
          <a:xfrm>
            <a:off x="701963" y="350983"/>
            <a:ext cx="10788073" cy="646331"/>
          </a:xfrm>
          <a:prstGeom prst="rect">
            <a:avLst/>
          </a:prstGeom>
          <a:noFill/>
        </p:spPr>
        <p:txBody>
          <a:bodyPr wrap="square" rtlCol="0">
            <a:spAutoFit/>
          </a:bodyPr>
          <a:lstStyle/>
          <a:p>
            <a:pPr algn="ctr"/>
            <a:r>
              <a:rPr lang="en-US" sz="3600" b="1" u="sng"/>
              <a:t>The McComb Campaign was Counterproductive</a:t>
            </a:r>
          </a:p>
        </p:txBody>
      </p:sp>
    </p:spTree>
    <p:extLst>
      <p:ext uri="{BB962C8B-B14F-4D97-AF65-F5344CB8AC3E}">
        <p14:creationId xmlns:p14="http://schemas.microsoft.com/office/powerpoint/2010/main" val="12629758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1CC515-F05D-65BD-4B70-EAA6C7EA88D2}"/>
              </a:ext>
            </a:extLst>
          </p:cNvPr>
          <p:cNvSpPr txBox="1"/>
          <p:nvPr/>
        </p:nvSpPr>
        <p:spPr>
          <a:xfrm>
            <a:off x="415636" y="1320800"/>
            <a:ext cx="11526982" cy="3970318"/>
          </a:xfrm>
          <a:prstGeom prst="rect">
            <a:avLst/>
          </a:prstGeom>
          <a:noFill/>
        </p:spPr>
        <p:txBody>
          <a:bodyPr wrap="square" rtlCol="0">
            <a:spAutoFit/>
          </a:bodyPr>
          <a:lstStyle/>
          <a:p>
            <a:pPr marL="285750" indent="-285750">
              <a:buFont typeface="Arial" panose="020B0604020202020204" pitchFamily="34" charset="0"/>
              <a:buChar char="•"/>
            </a:pPr>
            <a:r>
              <a:rPr lang="en-US" sz="3600"/>
              <a:t>Murder of a local resident almost immediately after first tiny protests terrified population, convince many that any resistance would punished brutally.</a:t>
            </a:r>
            <a:br>
              <a:rPr lang="en-US" sz="3600"/>
            </a:br>
            <a:endParaRPr lang="en-US" sz="3600"/>
          </a:p>
          <a:p>
            <a:pPr marL="285750" indent="-285750">
              <a:buFont typeface="Arial" panose="020B0604020202020204" pitchFamily="34" charset="0"/>
              <a:buChar char="•"/>
            </a:pPr>
            <a:r>
              <a:rPr lang="en-US" sz="3600"/>
              <a:t>Independent protests by highschool students convinced many that SNCC would put children in danger, inspired them to resist further organizing by SNCC.</a:t>
            </a:r>
          </a:p>
        </p:txBody>
      </p:sp>
      <p:sp>
        <p:nvSpPr>
          <p:cNvPr id="5" name="TextBox 4">
            <a:extLst>
              <a:ext uri="{FF2B5EF4-FFF2-40B4-BE49-F238E27FC236}">
                <a16:creationId xmlns:a16="http://schemas.microsoft.com/office/drawing/2014/main" id="{DE7C4823-D8B9-B4BE-2D7A-FF4DA786020B}"/>
              </a:ext>
            </a:extLst>
          </p:cNvPr>
          <p:cNvSpPr txBox="1"/>
          <p:nvPr/>
        </p:nvSpPr>
        <p:spPr>
          <a:xfrm>
            <a:off x="701963" y="350983"/>
            <a:ext cx="10788073" cy="646331"/>
          </a:xfrm>
          <a:prstGeom prst="rect">
            <a:avLst/>
          </a:prstGeom>
          <a:noFill/>
        </p:spPr>
        <p:txBody>
          <a:bodyPr wrap="square" rtlCol="0">
            <a:spAutoFit/>
          </a:bodyPr>
          <a:lstStyle/>
          <a:p>
            <a:pPr algn="ctr"/>
            <a:r>
              <a:rPr lang="en-US" sz="3600" b="1" u="sng"/>
              <a:t>The McComb Campaign was Counterproductive</a:t>
            </a:r>
          </a:p>
        </p:txBody>
      </p:sp>
    </p:spTree>
    <p:extLst>
      <p:ext uri="{BB962C8B-B14F-4D97-AF65-F5344CB8AC3E}">
        <p14:creationId xmlns:p14="http://schemas.microsoft.com/office/powerpoint/2010/main" val="2525268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spTree>
    <p:extLst>
      <p:ext uri="{BB962C8B-B14F-4D97-AF65-F5344CB8AC3E}">
        <p14:creationId xmlns:p14="http://schemas.microsoft.com/office/powerpoint/2010/main" val="228639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sp>
        <p:nvSpPr>
          <p:cNvPr id="3" name="TextBox 2">
            <a:extLst>
              <a:ext uri="{FF2B5EF4-FFF2-40B4-BE49-F238E27FC236}">
                <a16:creationId xmlns:a16="http://schemas.microsoft.com/office/drawing/2014/main" id="{A0444E2D-CFF3-CB3A-4F4E-746B5371A30F}"/>
              </a:ext>
            </a:extLst>
          </p:cNvPr>
          <p:cNvSpPr txBox="1"/>
          <p:nvPr/>
        </p:nvSpPr>
        <p:spPr>
          <a:xfrm>
            <a:off x="909781" y="1939636"/>
            <a:ext cx="10372437" cy="3170099"/>
          </a:xfrm>
          <a:prstGeom prst="rect">
            <a:avLst/>
          </a:prstGeom>
          <a:noFill/>
        </p:spPr>
        <p:txBody>
          <a:bodyPr wrap="square" rtlCol="0">
            <a:spAutoFit/>
          </a:bodyPr>
          <a:lstStyle/>
          <a:p>
            <a:r>
              <a:rPr lang="en-US" sz="4000"/>
              <a:t>Depending on the responses of locals, police and white terrorists to SNCC’s activities... </a:t>
            </a:r>
          </a:p>
          <a:p>
            <a:endParaRPr lang="en-US" sz="4000"/>
          </a:p>
          <a:p>
            <a:r>
              <a:rPr lang="en-US" sz="4000"/>
              <a:t>...SNCC’s activities could be </a:t>
            </a:r>
            <a:r>
              <a:rPr lang="en-US" sz="4000" b="1"/>
              <a:t>productive </a:t>
            </a:r>
            <a:r>
              <a:rPr lang="en-US" sz="4000"/>
              <a:t>or </a:t>
            </a:r>
            <a:r>
              <a:rPr lang="en-US" sz="4000" b="1"/>
              <a:t>counterproductive</a:t>
            </a:r>
            <a:r>
              <a:rPr lang="en-US" sz="4000"/>
              <a:t>.</a:t>
            </a:r>
          </a:p>
        </p:txBody>
      </p:sp>
    </p:spTree>
    <p:extLst>
      <p:ext uri="{BB962C8B-B14F-4D97-AF65-F5344CB8AC3E}">
        <p14:creationId xmlns:p14="http://schemas.microsoft.com/office/powerpoint/2010/main" val="4247239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sp>
        <p:nvSpPr>
          <p:cNvPr id="3" name="TextBox 2">
            <a:extLst>
              <a:ext uri="{FF2B5EF4-FFF2-40B4-BE49-F238E27FC236}">
                <a16:creationId xmlns:a16="http://schemas.microsoft.com/office/drawing/2014/main" id="{A0444E2D-CFF3-CB3A-4F4E-746B5371A30F}"/>
              </a:ext>
            </a:extLst>
          </p:cNvPr>
          <p:cNvSpPr txBox="1"/>
          <p:nvPr/>
        </p:nvSpPr>
        <p:spPr>
          <a:xfrm>
            <a:off x="909781" y="1939636"/>
            <a:ext cx="10372437" cy="2554545"/>
          </a:xfrm>
          <a:prstGeom prst="rect">
            <a:avLst/>
          </a:prstGeom>
          <a:noFill/>
        </p:spPr>
        <p:txBody>
          <a:bodyPr wrap="square" rtlCol="0">
            <a:spAutoFit/>
          </a:bodyPr>
          <a:lstStyle/>
          <a:p>
            <a:r>
              <a:rPr lang="en-US" sz="4000"/>
              <a:t>Imagine a SNCC organizer trying to decide whether to start organizing resistance in another town, and thinking about the results in McComb...</a:t>
            </a:r>
          </a:p>
        </p:txBody>
      </p:sp>
    </p:spTree>
    <p:extLst>
      <p:ext uri="{BB962C8B-B14F-4D97-AF65-F5344CB8AC3E}">
        <p14:creationId xmlns:p14="http://schemas.microsoft.com/office/powerpoint/2010/main" val="368607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graphicFrame>
        <p:nvGraphicFramePr>
          <p:cNvPr id="4" name="Table 4">
            <a:extLst>
              <a:ext uri="{FF2B5EF4-FFF2-40B4-BE49-F238E27FC236}">
                <a16:creationId xmlns:a16="http://schemas.microsoft.com/office/drawing/2014/main" id="{0C1FC2B7-DABD-A900-43E3-2318CDC83B08}"/>
              </a:ext>
            </a:extLst>
          </p:cNvPr>
          <p:cNvGraphicFramePr>
            <a:graphicFrameLocks noGrp="1"/>
          </p:cNvGraphicFramePr>
          <p:nvPr>
            <p:extLst>
              <p:ext uri="{D42A27DB-BD31-4B8C-83A1-F6EECF244321}">
                <p14:modId xmlns:p14="http://schemas.microsoft.com/office/powerpoint/2010/main" val="3033096897"/>
              </p:ext>
            </p:extLst>
          </p:nvPr>
        </p:nvGraphicFramePr>
        <p:xfrm>
          <a:off x="240145" y="2068175"/>
          <a:ext cx="11600874" cy="2529840"/>
        </p:xfrm>
        <a:graphic>
          <a:graphicData uri="http://schemas.openxmlformats.org/drawingml/2006/table">
            <a:tbl>
              <a:tblPr firstRow="1" bandRow="1"/>
              <a:tblGrid>
                <a:gridCol w="3866958">
                  <a:extLst>
                    <a:ext uri="{9D8B030D-6E8A-4147-A177-3AD203B41FA5}">
                      <a16:colId xmlns:a16="http://schemas.microsoft.com/office/drawing/2014/main" val="1163571262"/>
                    </a:ext>
                  </a:extLst>
                </a:gridCol>
                <a:gridCol w="3605261">
                  <a:extLst>
                    <a:ext uri="{9D8B030D-6E8A-4147-A177-3AD203B41FA5}">
                      <a16:colId xmlns:a16="http://schemas.microsoft.com/office/drawing/2014/main" val="2457032061"/>
                    </a:ext>
                  </a:extLst>
                </a:gridCol>
                <a:gridCol w="4128655">
                  <a:extLst>
                    <a:ext uri="{9D8B030D-6E8A-4147-A177-3AD203B41FA5}">
                      <a16:colId xmlns:a16="http://schemas.microsoft.com/office/drawing/2014/main" val="1657294468"/>
                    </a:ext>
                  </a:extLst>
                </a:gridCol>
              </a:tblGrid>
              <a:tr h="370840">
                <a:tc>
                  <a:txBody>
                    <a:bodyPr/>
                    <a:lstStyle/>
                    <a:p>
                      <a:r>
                        <a:rPr lang="en-US" sz="2800" b="1"/>
                        <a:t>What SNCC does</a:t>
                      </a:r>
                    </a:p>
                  </a:txBody>
                  <a:tcPr/>
                </a:tc>
                <a:tc>
                  <a:txBody>
                    <a:bodyPr/>
                    <a:lstStyle/>
                    <a:p>
                      <a:r>
                        <a:rPr lang="en-US" sz="2800" b="1"/>
                        <a:t>What local Highschoolers do</a:t>
                      </a:r>
                    </a:p>
                  </a:txBody>
                  <a:tcPr/>
                </a:tc>
                <a:tc>
                  <a:txBody>
                    <a:bodyPr/>
                    <a:lstStyle/>
                    <a:p>
                      <a:r>
                        <a:rPr lang="en-US" sz="2800" b="1"/>
                        <a:t>Effect on ruling regime</a:t>
                      </a:r>
                    </a:p>
                  </a:txBody>
                  <a:tcPr/>
                </a:tc>
                <a:extLst>
                  <a:ext uri="{0D108BD9-81ED-4DB2-BD59-A6C34878D82A}">
                    <a16:rowId xmlns:a16="http://schemas.microsoft.com/office/drawing/2014/main" val="136835397"/>
                  </a:ext>
                </a:extLst>
              </a:tr>
              <a:tr h="370840">
                <a:tc>
                  <a:txBody>
                    <a:bodyPr/>
                    <a:lstStyle/>
                    <a:p>
                      <a:r>
                        <a:rPr lang="en-US" sz="2000"/>
                        <a:t>organizes protests</a:t>
                      </a:r>
                    </a:p>
                  </a:txBody>
                  <a:tcPr/>
                </a:tc>
                <a:tc rowSpan="2">
                  <a:txBody>
                    <a:bodyPr/>
                    <a:lstStyle/>
                    <a:p>
                      <a:pPr algn="ctr"/>
                      <a:r>
                        <a:rPr lang="en-US" sz="2000"/>
                        <a:t>Start their own protest campaign</a:t>
                      </a:r>
                    </a:p>
                  </a:txBody>
                  <a:tcPr anchor="ctr"/>
                </a:tc>
                <a:tc>
                  <a:txBody>
                    <a:bodyPr/>
                    <a:lstStyle/>
                    <a:p>
                      <a:r>
                        <a:rPr lang="en-US" sz="2000"/>
                        <a:t>strengthened</a:t>
                      </a:r>
                    </a:p>
                  </a:txBody>
                  <a:tcPr/>
                </a:tc>
                <a:extLst>
                  <a:ext uri="{0D108BD9-81ED-4DB2-BD59-A6C34878D82A}">
                    <a16:rowId xmlns:a16="http://schemas.microsoft.com/office/drawing/2014/main" val="990744770"/>
                  </a:ext>
                </a:extLst>
              </a:tr>
              <a:tr h="370840">
                <a:tc>
                  <a:txBody>
                    <a:bodyPr/>
                    <a:lstStyle/>
                    <a:p>
                      <a:r>
                        <a:rPr lang="en-US" sz="2000"/>
                        <a:t>refrains from organizing</a:t>
                      </a:r>
                    </a:p>
                  </a:txBody>
                  <a:tcPr/>
                </a:tc>
                <a:tc vMerge="1">
                  <a:txBody>
                    <a:bodyPr/>
                    <a:lstStyle/>
                    <a:p>
                      <a:endParaRPr lang="en-US" sz="2000"/>
                    </a:p>
                  </a:txBody>
                  <a:tcPr/>
                </a:tc>
                <a:tc>
                  <a:txBody>
                    <a:bodyPr/>
                    <a:lstStyle/>
                    <a:p>
                      <a:r>
                        <a:rPr lang="en-US" sz="2000"/>
                        <a:t>weakened</a:t>
                      </a:r>
                    </a:p>
                  </a:txBody>
                  <a:tcPr/>
                </a:tc>
                <a:extLst>
                  <a:ext uri="{0D108BD9-81ED-4DB2-BD59-A6C34878D82A}">
                    <a16:rowId xmlns:a16="http://schemas.microsoft.com/office/drawing/2014/main" val="687104498"/>
                  </a:ext>
                </a:extLst>
              </a:tr>
              <a:tr h="370840">
                <a:tc>
                  <a:txBody>
                    <a:bodyPr/>
                    <a:lstStyle/>
                    <a:p>
                      <a:r>
                        <a:rPr lang="en-US" sz="2000"/>
                        <a:t>organizes protests</a:t>
                      </a:r>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t>Do not start a protest campaign</a:t>
                      </a:r>
                    </a:p>
                  </a:txBody>
                  <a:tcPr anchor="ctr"/>
                </a:tc>
                <a:tc>
                  <a:txBody>
                    <a:bodyPr/>
                    <a:lstStyle/>
                    <a:p>
                      <a:r>
                        <a:rPr lang="en-US" sz="2000"/>
                        <a:t>weakened</a:t>
                      </a:r>
                    </a:p>
                  </a:txBody>
                  <a:tcPr/>
                </a:tc>
                <a:extLst>
                  <a:ext uri="{0D108BD9-81ED-4DB2-BD59-A6C34878D82A}">
                    <a16:rowId xmlns:a16="http://schemas.microsoft.com/office/drawing/2014/main" val="3783767602"/>
                  </a:ext>
                </a:extLst>
              </a:tr>
              <a:tr h="370840">
                <a:tc>
                  <a:txBody>
                    <a:bodyPr/>
                    <a:lstStyle/>
                    <a:p>
                      <a:r>
                        <a:rPr lang="en-US" sz="2000"/>
                        <a:t>refrains from organizing protests</a:t>
                      </a:r>
                    </a:p>
                  </a:txBody>
                  <a:tcPr/>
                </a:tc>
                <a:tc vMerge="1">
                  <a:txBody>
                    <a:bodyPr/>
                    <a:lstStyle/>
                    <a:p>
                      <a:endParaRPr lang="en-US" sz="2000"/>
                    </a:p>
                  </a:txBody>
                  <a:tcPr/>
                </a:tc>
                <a:tc>
                  <a:txBody>
                    <a:bodyPr/>
                    <a:lstStyle/>
                    <a:p>
                      <a:r>
                        <a:rPr lang="en-US" sz="2000"/>
                        <a:t>neither strengthened nor weakened</a:t>
                      </a:r>
                    </a:p>
                  </a:txBody>
                  <a:tcPr/>
                </a:tc>
                <a:extLst>
                  <a:ext uri="{0D108BD9-81ED-4DB2-BD59-A6C34878D82A}">
                    <a16:rowId xmlns:a16="http://schemas.microsoft.com/office/drawing/2014/main" val="848709985"/>
                  </a:ext>
                </a:extLst>
              </a:tr>
            </a:tbl>
          </a:graphicData>
        </a:graphic>
      </p:graphicFrame>
      <p:sp>
        <p:nvSpPr>
          <p:cNvPr id="3" name="TextBox 2">
            <a:extLst>
              <a:ext uri="{FF2B5EF4-FFF2-40B4-BE49-F238E27FC236}">
                <a16:creationId xmlns:a16="http://schemas.microsoft.com/office/drawing/2014/main" id="{68755EAE-0149-8F17-C8AE-E17ACD6131D0}"/>
              </a:ext>
            </a:extLst>
          </p:cNvPr>
          <p:cNvSpPr txBox="1"/>
          <p:nvPr/>
        </p:nvSpPr>
        <p:spPr>
          <a:xfrm>
            <a:off x="1103744" y="1138616"/>
            <a:ext cx="10372437" cy="707886"/>
          </a:xfrm>
          <a:prstGeom prst="rect">
            <a:avLst/>
          </a:prstGeom>
          <a:noFill/>
        </p:spPr>
        <p:txBody>
          <a:bodyPr wrap="square" rtlCol="0">
            <a:spAutoFit/>
          </a:bodyPr>
          <a:lstStyle/>
          <a:p>
            <a:r>
              <a:rPr lang="en-US" sz="4000"/>
              <a:t>Imagine the organizer anticipates...</a:t>
            </a:r>
          </a:p>
        </p:txBody>
      </p:sp>
    </p:spTree>
    <p:extLst>
      <p:ext uri="{BB962C8B-B14F-4D97-AF65-F5344CB8AC3E}">
        <p14:creationId xmlns:p14="http://schemas.microsoft.com/office/powerpoint/2010/main" val="2636236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graphicFrame>
        <p:nvGraphicFramePr>
          <p:cNvPr id="4" name="Table 4">
            <a:extLst>
              <a:ext uri="{FF2B5EF4-FFF2-40B4-BE49-F238E27FC236}">
                <a16:creationId xmlns:a16="http://schemas.microsoft.com/office/drawing/2014/main" id="{0C1FC2B7-DABD-A900-43E3-2318CDC83B08}"/>
              </a:ext>
            </a:extLst>
          </p:cNvPr>
          <p:cNvGraphicFramePr>
            <a:graphicFrameLocks noGrp="1"/>
          </p:cNvGraphicFramePr>
          <p:nvPr>
            <p:extLst>
              <p:ext uri="{D42A27DB-BD31-4B8C-83A1-F6EECF244321}">
                <p14:modId xmlns:p14="http://schemas.microsoft.com/office/powerpoint/2010/main" val="2187609935"/>
              </p:ext>
            </p:extLst>
          </p:nvPr>
        </p:nvGraphicFramePr>
        <p:xfrm>
          <a:off x="240145" y="2068175"/>
          <a:ext cx="11600874" cy="2529840"/>
        </p:xfrm>
        <a:graphic>
          <a:graphicData uri="http://schemas.openxmlformats.org/drawingml/2006/table">
            <a:tbl>
              <a:tblPr firstRow="1" bandRow="1"/>
              <a:tblGrid>
                <a:gridCol w="3866958">
                  <a:extLst>
                    <a:ext uri="{9D8B030D-6E8A-4147-A177-3AD203B41FA5}">
                      <a16:colId xmlns:a16="http://schemas.microsoft.com/office/drawing/2014/main" val="1163571262"/>
                    </a:ext>
                  </a:extLst>
                </a:gridCol>
                <a:gridCol w="3605261">
                  <a:extLst>
                    <a:ext uri="{9D8B030D-6E8A-4147-A177-3AD203B41FA5}">
                      <a16:colId xmlns:a16="http://schemas.microsoft.com/office/drawing/2014/main" val="2457032061"/>
                    </a:ext>
                  </a:extLst>
                </a:gridCol>
                <a:gridCol w="4128655">
                  <a:extLst>
                    <a:ext uri="{9D8B030D-6E8A-4147-A177-3AD203B41FA5}">
                      <a16:colId xmlns:a16="http://schemas.microsoft.com/office/drawing/2014/main" val="1657294468"/>
                    </a:ext>
                  </a:extLst>
                </a:gridCol>
              </a:tblGrid>
              <a:tr h="370840">
                <a:tc>
                  <a:txBody>
                    <a:bodyPr/>
                    <a:lstStyle/>
                    <a:p>
                      <a:r>
                        <a:rPr lang="en-US" sz="2800" b="1"/>
                        <a:t>What SNCC does</a:t>
                      </a:r>
                    </a:p>
                  </a:txBody>
                  <a:tcPr/>
                </a:tc>
                <a:tc>
                  <a:txBody>
                    <a:bodyPr/>
                    <a:lstStyle/>
                    <a:p>
                      <a:r>
                        <a:rPr lang="en-US" sz="2800" b="1"/>
                        <a:t>What local Highschoolers do</a:t>
                      </a:r>
                    </a:p>
                  </a:txBody>
                  <a:tcPr/>
                </a:tc>
                <a:tc>
                  <a:txBody>
                    <a:bodyPr/>
                    <a:lstStyle/>
                    <a:p>
                      <a:r>
                        <a:rPr lang="en-US" sz="2800" b="1"/>
                        <a:t>Effect on ruling regime</a:t>
                      </a:r>
                    </a:p>
                  </a:txBody>
                  <a:tcPr/>
                </a:tc>
                <a:extLst>
                  <a:ext uri="{0D108BD9-81ED-4DB2-BD59-A6C34878D82A}">
                    <a16:rowId xmlns:a16="http://schemas.microsoft.com/office/drawing/2014/main" val="136835397"/>
                  </a:ext>
                </a:extLst>
              </a:tr>
              <a:tr h="370840">
                <a:tc>
                  <a:txBody>
                    <a:bodyPr/>
                    <a:lstStyle/>
                    <a:p>
                      <a:r>
                        <a:rPr lang="en-US" sz="2000"/>
                        <a:t>organizes protests</a:t>
                      </a:r>
                    </a:p>
                  </a:txBody>
                  <a:tcPr>
                    <a:solidFill>
                      <a:srgbClr val="FFFF00"/>
                    </a:solidFill>
                  </a:tcPr>
                </a:tc>
                <a:tc rowSpan="2">
                  <a:txBody>
                    <a:bodyPr/>
                    <a:lstStyle/>
                    <a:p>
                      <a:pPr algn="ctr"/>
                      <a:r>
                        <a:rPr lang="en-US" sz="2000"/>
                        <a:t>Start their own protest campaign</a:t>
                      </a:r>
                    </a:p>
                  </a:txBody>
                  <a:tcPr anchor="ctr">
                    <a:solidFill>
                      <a:srgbClr val="FFFF00"/>
                    </a:solidFill>
                  </a:tcPr>
                </a:tc>
                <a:tc>
                  <a:txBody>
                    <a:bodyPr/>
                    <a:lstStyle/>
                    <a:p>
                      <a:r>
                        <a:rPr lang="en-US" sz="2000"/>
                        <a:t>strengthened</a:t>
                      </a:r>
                    </a:p>
                  </a:txBody>
                  <a:tcPr>
                    <a:solidFill>
                      <a:srgbClr val="FFFF00"/>
                    </a:solidFill>
                  </a:tcPr>
                </a:tc>
                <a:extLst>
                  <a:ext uri="{0D108BD9-81ED-4DB2-BD59-A6C34878D82A}">
                    <a16:rowId xmlns:a16="http://schemas.microsoft.com/office/drawing/2014/main" val="990744770"/>
                  </a:ext>
                </a:extLst>
              </a:tr>
              <a:tr h="370840">
                <a:tc>
                  <a:txBody>
                    <a:bodyPr/>
                    <a:lstStyle/>
                    <a:p>
                      <a:r>
                        <a:rPr lang="en-US" sz="2000"/>
                        <a:t>refrains from organizing</a:t>
                      </a:r>
                    </a:p>
                  </a:txBody>
                  <a:tcPr>
                    <a:solidFill>
                      <a:srgbClr val="FFFF00"/>
                    </a:solidFill>
                  </a:tcPr>
                </a:tc>
                <a:tc vMerge="1">
                  <a:txBody>
                    <a:bodyPr/>
                    <a:lstStyle/>
                    <a:p>
                      <a:endParaRPr lang="en-US" sz="2000"/>
                    </a:p>
                  </a:txBody>
                  <a:tcPr/>
                </a:tc>
                <a:tc>
                  <a:txBody>
                    <a:bodyPr/>
                    <a:lstStyle/>
                    <a:p>
                      <a:r>
                        <a:rPr lang="en-US" sz="2000"/>
                        <a:t>weakened</a:t>
                      </a:r>
                    </a:p>
                  </a:txBody>
                  <a:tcPr>
                    <a:solidFill>
                      <a:srgbClr val="FFFF00"/>
                    </a:solidFill>
                  </a:tcPr>
                </a:tc>
                <a:extLst>
                  <a:ext uri="{0D108BD9-81ED-4DB2-BD59-A6C34878D82A}">
                    <a16:rowId xmlns:a16="http://schemas.microsoft.com/office/drawing/2014/main" val="687104498"/>
                  </a:ext>
                </a:extLst>
              </a:tr>
              <a:tr h="370840">
                <a:tc>
                  <a:txBody>
                    <a:bodyPr/>
                    <a:lstStyle/>
                    <a:p>
                      <a:r>
                        <a:rPr lang="en-US" sz="2000"/>
                        <a:t>organizes protests</a:t>
                      </a:r>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t>Do not start a protest campaign</a:t>
                      </a:r>
                    </a:p>
                  </a:txBody>
                  <a:tcPr anchor="ctr"/>
                </a:tc>
                <a:tc>
                  <a:txBody>
                    <a:bodyPr/>
                    <a:lstStyle/>
                    <a:p>
                      <a:r>
                        <a:rPr lang="en-US" sz="2000"/>
                        <a:t>weakened</a:t>
                      </a:r>
                    </a:p>
                  </a:txBody>
                  <a:tcPr/>
                </a:tc>
                <a:extLst>
                  <a:ext uri="{0D108BD9-81ED-4DB2-BD59-A6C34878D82A}">
                    <a16:rowId xmlns:a16="http://schemas.microsoft.com/office/drawing/2014/main" val="3783767602"/>
                  </a:ext>
                </a:extLst>
              </a:tr>
              <a:tr h="370840">
                <a:tc>
                  <a:txBody>
                    <a:bodyPr/>
                    <a:lstStyle/>
                    <a:p>
                      <a:r>
                        <a:rPr lang="en-US" sz="2000"/>
                        <a:t>refrains from organizing protests</a:t>
                      </a:r>
                    </a:p>
                  </a:txBody>
                  <a:tcPr/>
                </a:tc>
                <a:tc vMerge="1">
                  <a:txBody>
                    <a:bodyPr/>
                    <a:lstStyle/>
                    <a:p>
                      <a:endParaRPr lang="en-US" sz="2000"/>
                    </a:p>
                  </a:txBody>
                  <a:tcPr/>
                </a:tc>
                <a:tc>
                  <a:txBody>
                    <a:bodyPr/>
                    <a:lstStyle/>
                    <a:p>
                      <a:r>
                        <a:rPr lang="en-US" sz="2000"/>
                        <a:t>neither strengthened nor weakened</a:t>
                      </a:r>
                    </a:p>
                  </a:txBody>
                  <a:tcPr/>
                </a:tc>
                <a:extLst>
                  <a:ext uri="{0D108BD9-81ED-4DB2-BD59-A6C34878D82A}">
                    <a16:rowId xmlns:a16="http://schemas.microsoft.com/office/drawing/2014/main" val="848709985"/>
                  </a:ext>
                </a:extLst>
              </a:tr>
            </a:tbl>
          </a:graphicData>
        </a:graphic>
      </p:graphicFrame>
      <p:sp>
        <p:nvSpPr>
          <p:cNvPr id="3" name="TextBox 2">
            <a:extLst>
              <a:ext uri="{FF2B5EF4-FFF2-40B4-BE49-F238E27FC236}">
                <a16:creationId xmlns:a16="http://schemas.microsoft.com/office/drawing/2014/main" id="{68755EAE-0149-8F17-C8AE-E17ACD6131D0}"/>
              </a:ext>
            </a:extLst>
          </p:cNvPr>
          <p:cNvSpPr txBox="1"/>
          <p:nvPr/>
        </p:nvSpPr>
        <p:spPr>
          <a:xfrm>
            <a:off x="1103744" y="1138616"/>
            <a:ext cx="10372437" cy="707886"/>
          </a:xfrm>
          <a:prstGeom prst="rect">
            <a:avLst/>
          </a:prstGeom>
          <a:noFill/>
        </p:spPr>
        <p:txBody>
          <a:bodyPr wrap="square" rtlCol="0">
            <a:spAutoFit/>
          </a:bodyPr>
          <a:lstStyle/>
          <a:p>
            <a:r>
              <a:rPr lang="en-US" sz="4000"/>
              <a:t>Imagine the organizer anticipates...</a:t>
            </a:r>
          </a:p>
        </p:txBody>
      </p:sp>
    </p:spTree>
    <p:extLst>
      <p:ext uri="{BB962C8B-B14F-4D97-AF65-F5344CB8AC3E}">
        <p14:creationId xmlns:p14="http://schemas.microsoft.com/office/powerpoint/2010/main" val="4054381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graphicFrame>
        <p:nvGraphicFramePr>
          <p:cNvPr id="4" name="Table 4">
            <a:extLst>
              <a:ext uri="{FF2B5EF4-FFF2-40B4-BE49-F238E27FC236}">
                <a16:creationId xmlns:a16="http://schemas.microsoft.com/office/drawing/2014/main" id="{0C1FC2B7-DABD-A900-43E3-2318CDC83B08}"/>
              </a:ext>
            </a:extLst>
          </p:cNvPr>
          <p:cNvGraphicFramePr>
            <a:graphicFrameLocks noGrp="1"/>
          </p:cNvGraphicFramePr>
          <p:nvPr>
            <p:extLst>
              <p:ext uri="{D42A27DB-BD31-4B8C-83A1-F6EECF244321}">
                <p14:modId xmlns:p14="http://schemas.microsoft.com/office/powerpoint/2010/main" val="44635376"/>
              </p:ext>
            </p:extLst>
          </p:nvPr>
        </p:nvGraphicFramePr>
        <p:xfrm>
          <a:off x="240145" y="2068175"/>
          <a:ext cx="11600874" cy="2529840"/>
        </p:xfrm>
        <a:graphic>
          <a:graphicData uri="http://schemas.openxmlformats.org/drawingml/2006/table">
            <a:tbl>
              <a:tblPr firstRow="1" bandRow="1"/>
              <a:tblGrid>
                <a:gridCol w="3866958">
                  <a:extLst>
                    <a:ext uri="{9D8B030D-6E8A-4147-A177-3AD203B41FA5}">
                      <a16:colId xmlns:a16="http://schemas.microsoft.com/office/drawing/2014/main" val="1163571262"/>
                    </a:ext>
                  </a:extLst>
                </a:gridCol>
                <a:gridCol w="3605261">
                  <a:extLst>
                    <a:ext uri="{9D8B030D-6E8A-4147-A177-3AD203B41FA5}">
                      <a16:colId xmlns:a16="http://schemas.microsoft.com/office/drawing/2014/main" val="2457032061"/>
                    </a:ext>
                  </a:extLst>
                </a:gridCol>
                <a:gridCol w="4128655">
                  <a:extLst>
                    <a:ext uri="{9D8B030D-6E8A-4147-A177-3AD203B41FA5}">
                      <a16:colId xmlns:a16="http://schemas.microsoft.com/office/drawing/2014/main" val="1657294468"/>
                    </a:ext>
                  </a:extLst>
                </a:gridCol>
              </a:tblGrid>
              <a:tr h="370840">
                <a:tc>
                  <a:txBody>
                    <a:bodyPr/>
                    <a:lstStyle/>
                    <a:p>
                      <a:r>
                        <a:rPr lang="en-US" sz="2800" b="1"/>
                        <a:t>What SNCC does</a:t>
                      </a:r>
                    </a:p>
                  </a:txBody>
                  <a:tcPr/>
                </a:tc>
                <a:tc>
                  <a:txBody>
                    <a:bodyPr/>
                    <a:lstStyle/>
                    <a:p>
                      <a:r>
                        <a:rPr lang="en-US" sz="2800" b="1"/>
                        <a:t>What local Highschoolers do</a:t>
                      </a:r>
                    </a:p>
                  </a:txBody>
                  <a:tcPr/>
                </a:tc>
                <a:tc>
                  <a:txBody>
                    <a:bodyPr/>
                    <a:lstStyle/>
                    <a:p>
                      <a:r>
                        <a:rPr lang="en-US" sz="2800" b="1"/>
                        <a:t>Effect on ruling regime</a:t>
                      </a:r>
                    </a:p>
                  </a:txBody>
                  <a:tcPr/>
                </a:tc>
                <a:extLst>
                  <a:ext uri="{0D108BD9-81ED-4DB2-BD59-A6C34878D82A}">
                    <a16:rowId xmlns:a16="http://schemas.microsoft.com/office/drawing/2014/main" val="136835397"/>
                  </a:ext>
                </a:extLst>
              </a:tr>
              <a:tr h="370840">
                <a:tc>
                  <a:txBody>
                    <a:bodyPr/>
                    <a:lstStyle/>
                    <a:p>
                      <a:r>
                        <a:rPr lang="en-US" sz="2000"/>
                        <a:t>organizes protests</a:t>
                      </a:r>
                    </a:p>
                  </a:txBody>
                  <a:tcPr>
                    <a:solidFill>
                      <a:srgbClr val="FFFF00"/>
                    </a:solidFill>
                  </a:tcPr>
                </a:tc>
                <a:tc rowSpan="2">
                  <a:txBody>
                    <a:bodyPr/>
                    <a:lstStyle/>
                    <a:p>
                      <a:pPr algn="ctr"/>
                      <a:r>
                        <a:rPr lang="en-US" sz="2000"/>
                        <a:t>Start their own protest campaign</a:t>
                      </a:r>
                    </a:p>
                  </a:txBody>
                  <a:tcPr anchor="ctr">
                    <a:solidFill>
                      <a:srgbClr val="FFFF00"/>
                    </a:solidFill>
                  </a:tcPr>
                </a:tc>
                <a:tc>
                  <a:txBody>
                    <a:bodyPr/>
                    <a:lstStyle/>
                    <a:p>
                      <a:r>
                        <a:rPr lang="en-US" sz="2000"/>
                        <a:t>strengthened</a:t>
                      </a:r>
                    </a:p>
                  </a:txBody>
                  <a:tcPr>
                    <a:solidFill>
                      <a:srgbClr val="FFFF00"/>
                    </a:solidFill>
                  </a:tcPr>
                </a:tc>
                <a:extLst>
                  <a:ext uri="{0D108BD9-81ED-4DB2-BD59-A6C34878D82A}">
                    <a16:rowId xmlns:a16="http://schemas.microsoft.com/office/drawing/2014/main" val="990744770"/>
                  </a:ext>
                </a:extLst>
              </a:tr>
              <a:tr h="370840">
                <a:tc>
                  <a:txBody>
                    <a:bodyPr/>
                    <a:lstStyle/>
                    <a:p>
                      <a:r>
                        <a:rPr lang="en-US" sz="2000"/>
                        <a:t>refrains from organizing</a:t>
                      </a:r>
                    </a:p>
                  </a:txBody>
                  <a:tcPr>
                    <a:solidFill>
                      <a:srgbClr val="FFFF00"/>
                    </a:solidFill>
                  </a:tcPr>
                </a:tc>
                <a:tc vMerge="1">
                  <a:txBody>
                    <a:bodyPr/>
                    <a:lstStyle/>
                    <a:p>
                      <a:endParaRPr lang="en-US" sz="2000"/>
                    </a:p>
                  </a:txBody>
                  <a:tcPr/>
                </a:tc>
                <a:tc>
                  <a:txBody>
                    <a:bodyPr/>
                    <a:lstStyle/>
                    <a:p>
                      <a:r>
                        <a:rPr lang="en-US" sz="2000"/>
                        <a:t>weakened</a:t>
                      </a:r>
                    </a:p>
                  </a:txBody>
                  <a:tcPr>
                    <a:solidFill>
                      <a:srgbClr val="FFFF00"/>
                    </a:solidFill>
                  </a:tcPr>
                </a:tc>
                <a:extLst>
                  <a:ext uri="{0D108BD9-81ED-4DB2-BD59-A6C34878D82A}">
                    <a16:rowId xmlns:a16="http://schemas.microsoft.com/office/drawing/2014/main" val="687104498"/>
                  </a:ext>
                </a:extLst>
              </a:tr>
              <a:tr h="370840">
                <a:tc>
                  <a:txBody>
                    <a:bodyPr/>
                    <a:lstStyle/>
                    <a:p>
                      <a:r>
                        <a:rPr lang="en-US" sz="2000"/>
                        <a:t>organizes protests</a:t>
                      </a:r>
                    </a:p>
                  </a:txBody>
                  <a:tcPr>
                    <a:solidFill>
                      <a:srgbClr val="ABE9FF"/>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t>Do not start a protest campaign</a:t>
                      </a:r>
                    </a:p>
                  </a:txBody>
                  <a:tcPr anchor="ctr">
                    <a:solidFill>
                      <a:srgbClr val="ABE9FF"/>
                    </a:solidFill>
                  </a:tcPr>
                </a:tc>
                <a:tc>
                  <a:txBody>
                    <a:bodyPr/>
                    <a:lstStyle/>
                    <a:p>
                      <a:r>
                        <a:rPr lang="en-US" sz="2000"/>
                        <a:t>weakened</a:t>
                      </a:r>
                    </a:p>
                  </a:txBody>
                  <a:tcPr>
                    <a:solidFill>
                      <a:srgbClr val="ABE9FF"/>
                    </a:solidFill>
                  </a:tcPr>
                </a:tc>
                <a:extLst>
                  <a:ext uri="{0D108BD9-81ED-4DB2-BD59-A6C34878D82A}">
                    <a16:rowId xmlns:a16="http://schemas.microsoft.com/office/drawing/2014/main" val="3783767602"/>
                  </a:ext>
                </a:extLst>
              </a:tr>
              <a:tr h="370840">
                <a:tc>
                  <a:txBody>
                    <a:bodyPr/>
                    <a:lstStyle/>
                    <a:p>
                      <a:r>
                        <a:rPr lang="en-US" sz="2000"/>
                        <a:t>refrains from organizing protests</a:t>
                      </a:r>
                    </a:p>
                  </a:txBody>
                  <a:tcPr>
                    <a:solidFill>
                      <a:srgbClr val="ABE9FF"/>
                    </a:solidFill>
                  </a:tcPr>
                </a:tc>
                <a:tc vMerge="1">
                  <a:txBody>
                    <a:bodyPr/>
                    <a:lstStyle/>
                    <a:p>
                      <a:endParaRPr lang="en-US" sz="2000"/>
                    </a:p>
                  </a:txBody>
                  <a:tcPr/>
                </a:tc>
                <a:tc>
                  <a:txBody>
                    <a:bodyPr/>
                    <a:lstStyle/>
                    <a:p>
                      <a:r>
                        <a:rPr lang="en-US" sz="2000"/>
                        <a:t>neither strengthened nor weakened</a:t>
                      </a:r>
                    </a:p>
                  </a:txBody>
                  <a:tcPr>
                    <a:solidFill>
                      <a:srgbClr val="ABE9FF"/>
                    </a:solidFill>
                  </a:tcPr>
                </a:tc>
                <a:extLst>
                  <a:ext uri="{0D108BD9-81ED-4DB2-BD59-A6C34878D82A}">
                    <a16:rowId xmlns:a16="http://schemas.microsoft.com/office/drawing/2014/main" val="848709985"/>
                  </a:ext>
                </a:extLst>
              </a:tr>
            </a:tbl>
          </a:graphicData>
        </a:graphic>
      </p:graphicFrame>
      <p:sp>
        <p:nvSpPr>
          <p:cNvPr id="3" name="TextBox 2">
            <a:extLst>
              <a:ext uri="{FF2B5EF4-FFF2-40B4-BE49-F238E27FC236}">
                <a16:creationId xmlns:a16="http://schemas.microsoft.com/office/drawing/2014/main" id="{68755EAE-0149-8F17-C8AE-E17ACD6131D0}"/>
              </a:ext>
            </a:extLst>
          </p:cNvPr>
          <p:cNvSpPr txBox="1"/>
          <p:nvPr/>
        </p:nvSpPr>
        <p:spPr>
          <a:xfrm>
            <a:off x="1103744" y="1138616"/>
            <a:ext cx="10372437" cy="707886"/>
          </a:xfrm>
          <a:prstGeom prst="rect">
            <a:avLst/>
          </a:prstGeom>
          <a:noFill/>
        </p:spPr>
        <p:txBody>
          <a:bodyPr wrap="square" rtlCol="0">
            <a:spAutoFit/>
          </a:bodyPr>
          <a:lstStyle/>
          <a:p>
            <a:r>
              <a:rPr lang="en-US" sz="4000"/>
              <a:t>Imagine the organizer anticipates...</a:t>
            </a:r>
          </a:p>
        </p:txBody>
      </p:sp>
    </p:spTree>
    <p:extLst>
      <p:ext uri="{BB962C8B-B14F-4D97-AF65-F5344CB8AC3E}">
        <p14:creationId xmlns:p14="http://schemas.microsoft.com/office/powerpoint/2010/main" val="3056961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graphicFrame>
        <p:nvGraphicFramePr>
          <p:cNvPr id="4" name="Table 4">
            <a:extLst>
              <a:ext uri="{FF2B5EF4-FFF2-40B4-BE49-F238E27FC236}">
                <a16:creationId xmlns:a16="http://schemas.microsoft.com/office/drawing/2014/main" id="{0C1FC2B7-DABD-A900-43E3-2318CDC83B08}"/>
              </a:ext>
            </a:extLst>
          </p:cNvPr>
          <p:cNvGraphicFramePr>
            <a:graphicFrameLocks noGrp="1"/>
          </p:cNvGraphicFramePr>
          <p:nvPr/>
        </p:nvGraphicFramePr>
        <p:xfrm>
          <a:off x="240145" y="2068175"/>
          <a:ext cx="11600874" cy="2529840"/>
        </p:xfrm>
        <a:graphic>
          <a:graphicData uri="http://schemas.openxmlformats.org/drawingml/2006/table">
            <a:tbl>
              <a:tblPr firstRow="1" bandRow="1"/>
              <a:tblGrid>
                <a:gridCol w="3866958">
                  <a:extLst>
                    <a:ext uri="{9D8B030D-6E8A-4147-A177-3AD203B41FA5}">
                      <a16:colId xmlns:a16="http://schemas.microsoft.com/office/drawing/2014/main" val="1163571262"/>
                    </a:ext>
                  </a:extLst>
                </a:gridCol>
                <a:gridCol w="3605261">
                  <a:extLst>
                    <a:ext uri="{9D8B030D-6E8A-4147-A177-3AD203B41FA5}">
                      <a16:colId xmlns:a16="http://schemas.microsoft.com/office/drawing/2014/main" val="2457032061"/>
                    </a:ext>
                  </a:extLst>
                </a:gridCol>
                <a:gridCol w="4128655">
                  <a:extLst>
                    <a:ext uri="{9D8B030D-6E8A-4147-A177-3AD203B41FA5}">
                      <a16:colId xmlns:a16="http://schemas.microsoft.com/office/drawing/2014/main" val="1657294468"/>
                    </a:ext>
                  </a:extLst>
                </a:gridCol>
              </a:tblGrid>
              <a:tr h="370840">
                <a:tc>
                  <a:txBody>
                    <a:bodyPr/>
                    <a:lstStyle/>
                    <a:p>
                      <a:r>
                        <a:rPr lang="en-US" sz="2800" b="1"/>
                        <a:t>What SNCC does</a:t>
                      </a:r>
                    </a:p>
                  </a:txBody>
                  <a:tcPr/>
                </a:tc>
                <a:tc>
                  <a:txBody>
                    <a:bodyPr/>
                    <a:lstStyle/>
                    <a:p>
                      <a:r>
                        <a:rPr lang="en-US" sz="2800" b="1"/>
                        <a:t>What local Highschoolers do</a:t>
                      </a:r>
                    </a:p>
                  </a:txBody>
                  <a:tcPr/>
                </a:tc>
                <a:tc>
                  <a:txBody>
                    <a:bodyPr/>
                    <a:lstStyle/>
                    <a:p>
                      <a:r>
                        <a:rPr lang="en-US" sz="2800" b="1"/>
                        <a:t>Effect on ruling regime</a:t>
                      </a:r>
                    </a:p>
                  </a:txBody>
                  <a:tcPr/>
                </a:tc>
                <a:extLst>
                  <a:ext uri="{0D108BD9-81ED-4DB2-BD59-A6C34878D82A}">
                    <a16:rowId xmlns:a16="http://schemas.microsoft.com/office/drawing/2014/main" val="136835397"/>
                  </a:ext>
                </a:extLst>
              </a:tr>
              <a:tr h="370840">
                <a:tc>
                  <a:txBody>
                    <a:bodyPr/>
                    <a:lstStyle/>
                    <a:p>
                      <a:r>
                        <a:rPr lang="en-US" sz="2000"/>
                        <a:t>organizes protests</a:t>
                      </a:r>
                    </a:p>
                  </a:txBody>
                  <a:tcPr>
                    <a:solidFill>
                      <a:srgbClr val="FFFF00"/>
                    </a:solidFill>
                  </a:tcPr>
                </a:tc>
                <a:tc rowSpan="2">
                  <a:txBody>
                    <a:bodyPr/>
                    <a:lstStyle/>
                    <a:p>
                      <a:pPr algn="ctr"/>
                      <a:r>
                        <a:rPr lang="en-US" sz="2000"/>
                        <a:t>Start their own protest campaign</a:t>
                      </a:r>
                    </a:p>
                  </a:txBody>
                  <a:tcPr anchor="ctr">
                    <a:solidFill>
                      <a:srgbClr val="FFFF00"/>
                    </a:solidFill>
                  </a:tcPr>
                </a:tc>
                <a:tc>
                  <a:txBody>
                    <a:bodyPr/>
                    <a:lstStyle/>
                    <a:p>
                      <a:r>
                        <a:rPr lang="en-US" sz="2000"/>
                        <a:t>strengthened</a:t>
                      </a:r>
                    </a:p>
                  </a:txBody>
                  <a:tcPr>
                    <a:solidFill>
                      <a:srgbClr val="FFFF00"/>
                    </a:solidFill>
                  </a:tcPr>
                </a:tc>
                <a:extLst>
                  <a:ext uri="{0D108BD9-81ED-4DB2-BD59-A6C34878D82A}">
                    <a16:rowId xmlns:a16="http://schemas.microsoft.com/office/drawing/2014/main" val="990744770"/>
                  </a:ext>
                </a:extLst>
              </a:tr>
              <a:tr h="370840">
                <a:tc>
                  <a:txBody>
                    <a:bodyPr/>
                    <a:lstStyle/>
                    <a:p>
                      <a:r>
                        <a:rPr lang="en-US" sz="2000"/>
                        <a:t>refrains from organizing</a:t>
                      </a:r>
                    </a:p>
                  </a:txBody>
                  <a:tcPr>
                    <a:solidFill>
                      <a:srgbClr val="FFFF00"/>
                    </a:solidFill>
                  </a:tcPr>
                </a:tc>
                <a:tc vMerge="1">
                  <a:txBody>
                    <a:bodyPr/>
                    <a:lstStyle/>
                    <a:p>
                      <a:endParaRPr lang="en-US" sz="2000"/>
                    </a:p>
                  </a:txBody>
                  <a:tcPr/>
                </a:tc>
                <a:tc>
                  <a:txBody>
                    <a:bodyPr/>
                    <a:lstStyle/>
                    <a:p>
                      <a:r>
                        <a:rPr lang="en-US" sz="2000"/>
                        <a:t>weakened</a:t>
                      </a:r>
                    </a:p>
                  </a:txBody>
                  <a:tcPr>
                    <a:solidFill>
                      <a:srgbClr val="FFFF00"/>
                    </a:solidFill>
                  </a:tcPr>
                </a:tc>
                <a:extLst>
                  <a:ext uri="{0D108BD9-81ED-4DB2-BD59-A6C34878D82A}">
                    <a16:rowId xmlns:a16="http://schemas.microsoft.com/office/drawing/2014/main" val="687104498"/>
                  </a:ext>
                </a:extLst>
              </a:tr>
              <a:tr h="370840">
                <a:tc>
                  <a:txBody>
                    <a:bodyPr/>
                    <a:lstStyle/>
                    <a:p>
                      <a:r>
                        <a:rPr lang="en-US" sz="2000"/>
                        <a:t>organizes protests</a:t>
                      </a:r>
                    </a:p>
                  </a:txBody>
                  <a:tcPr>
                    <a:solidFill>
                      <a:srgbClr val="ABE9FF"/>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t>Do not start a protest campaign</a:t>
                      </a:r>
                    </a:p>
                  </a:txBody>
                  <a:tcPr anchor="ctr">
                    <a:solidFill>
                      <a:srgbClr val="ABE9FF"/>
                    </a:solidFill>
                  </a:tcPr>
                </a:tc>
                <a:tc>
                  <a:txBody>
                    <a:bodyPr/>
                    <a:lstStyle/>
                    <a:p>
                      <a:r>
                        <a:rPr lang="en-US" sz="2000"/>
                        <a:t>weakened</a:t>
                      </a:r>
                    </a:p>
                  </a:txBody>
                  <a:tcPr>
                    <a:solidFill>
                      <a:srgbClr val="ABE9FF"/>
                    </a:solidFill>
                  </a:tcPr>
                </a:tc>
                <a:extLst>
                  <a:ext uri="{0D108BD9-81ED-4DB2-BD59-A6C34878D82A}">
                    <a16:rowId xmlns:a16="http://schemas.microsoft.com/office/drawing/2014/main" val="3783767602"/>
                  </a:ext>
                </a:extLst>
              </a:tr>
              <a:tr h="370840">
                <a:tc>
                  <a:txBody>
                    <a:bodyPr/>
                    <a:lstStyle/>
                    <a:p>
                      <a:r>
                        <a:rPr lang="en-US" sz="2000"/>
                        <a:t>refrains from organizing protests</a:t>
                      </a:r>
                    </a:p>
                  </a:txBody>
                  <a:tcPr>
                    <a:solidFill>
                      <a:srgbClr val="ABE9FF"/>
                    </a:solidFill>
                  </a:tcPr>
                </a:tc>
                <a:tc vMerge="1">
                  <a:txBody>
                    <a:bodyPr/>
                    <a:lstStyle/>
                    <a:p>
                      <a:endParaRPr lang="en-US" sz="2000"/>
                    </a:p>
                  </a:txBody>
                  <a:tcPr/>
                </a:tc>
                <a:tc>
                  <a:txBody>
                    <a:bodyPr/>
                    <a:lstStyle/>
                    <a:p>
                      <a:r>
                        <a:rPr lang="en-US" sz="2000"/>
                        <a:t>neither strengthened nor weakened</a:t>
                      </a:r>
                    </a:p>
                  </a:txBody>
                  <a:tcPr>
                    <a:solidFill>
                      <a:srgbClr val="ABE9FF"/>
                    </a:solidFill>
                  </a:tcPr>
                </a:tc>
                <a:extLst>
                  <a:ext uri="{0D108BD9-81ED-4DB2-BD59-A6C34878D82A}">
                    <a16:rowId xmlns:a16="http://schemas.microsoft.com/office/drawing/2014/main" val="848709985"/>
                  </a:ext>
                </a:extLst>
              </a:tr>
            </a:tbl>
          </a:graphicData>
        </a:graphic>
      </p:graphicFrame>
      <p:sp>
        <p:nvSpPr>
          <p:cNvPr id="3" name="TextBox 2">
            <a:extLst>
              <a:ext uri="{FF2B5EF4-FFF2-40B4-BE49-F238E27FC236}">
                <a16:creationId xmlns:a16="http://schemas.microsoft.com/office/drawing/2014/main" id="{68755EAE-0149-8F17-C8AE-E17ACD6131D0}"/>
              </a:ext>
            </a:extLst>
          </p:cNvPr>
          <p:cNvSpPr txBox="1"/>
          <p:nvPr/>
        </p:nvSpPr>
        <p:spPr>
          <a:xfrm>
            <a:off x="1103744" y="1138616"/>
            <a:ext cx="10372437" cy="707886"/>
          </a:xfrm>
          <a:prstGeom prst="rect">
            <a:avLst/>
          </a:prstGeom>
          <a:noFill/>
        </p:spPr>
        <p:txBody>
          <a:bodyPr wrap="square" rtlCol="0">
            <a:spAutoFit/>
          </a:bodyPr>
          <a:lstStyle/>
          <a:p>
            <a:r>
              <a:rPr lang="en-US" sz="4000"/>
              <a:t>Imagine the organizer anticipates...</a:t>
            </a:r>
          </a:p>
        </p:txBody>
      </p:sp>
      <p:sp>
        <p:nvSpPr>
          <p:cNvPr id="5" name="TextBox 4">
            <a:extLst>
              <a:ext uri="{FF2B5EF4-FFF2-40B4-BE49-F238E27FC236}">
                <a16:creationId xmlns:a16="http://schemas.microsoft.com/office/drawing/2014/main" id="{9EF57E5C-055B-CAF7-526D-0E114AB95D7D}"/>
              </a:ext>
            </a:extLst>
          </p:cNvPr>
          <p:cNvSpPr txBox="1"/>
          <p:nvPr/>
        </p:nvSpPr>
        <p:spPr>
          <a:xfrm>
            <a:off x="637309" y="4568149"/>
            <a:ext cx="10982036" cy="2308324"/>
          </a:xfrm>
          <a:prstGeom prst="rect">
            <a:avLst/>
          </a:prstGeom>
          <a:solidFill>
            <a:schemeClr val="accent4"/>
          </a:solidFill>
          <a:ln w="28575">
            <a:solidFill>
              <a:schemeClr val="tx1"/>
            </a:solidFill>
          </a:ln>
        </p:spPr>
        <p:txBody>
          <a:bodyPr wrap="square" rtlCol="0">
            <a:spAutoFit/>
          </a:bodyPr>
          <a:lstStyle/>
          <a:p>
            <a:r>
              <a:rPr lang="en-US" sz="2400" b="1"/>
              <a:t>NOTICE:</a:t>
            </a:r>
            <a:r>
              <a:rPr lang="en-US" sz="2400"/>
              <a:t>  The organizer’s preferences over her available actions DEPEND on what she EXPECTS the highschoolers to do!!!</a:t>
            </a:r>
          </a:p>
          <a:p>
            <a:endParaRPr lang="en-US" sz="2400"/>
          </a:p>
          <a:p>
            <a:r>
              <a:rPr lang="en-US" sz="2400"/>
              <a:t>If she expects highschoolers to protest, she prefers to not organize instead of organize.</a:t>
            </a:r>
          </a:p>
          <a:p>
            <a:r>
              <a:rPr lang="en-US" sz="2400"/>
              <a:t>If she expects highschoolers to not protest, she prefers to organize instead of not organize.</a:t>
            </a:r>
          </a:p>
        </p:txBody>
      </p:sp>
    </p:spTree>
    <p:extLst>
      <p:ext uri="{BB962C8B-B14F-4D97-AF65-F5344CB8AC3E}">
        <p14:creationId xmlns:p14="http://schemas.microsoft.com/office/powerpoint/2010/main" val="2135132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pic>
        <p:nvPicPr>
          <p:cNvPr id="5" name="Picture 4">
            <a:extLst>
              <a:ext uri="{FF2B5EF4-FFF2-40B4-BE49-F238E27FC236}">
                <a16:creationId xmlns:a16="http://schemas.microsoft.com/office/drawing/2014/main" id="{043E55F4-6468-6172-E180-D52D0354B36D}"/>
              </a:ext>
            </a:extLst>
          </p:cNvPr>
          <p:cNvPicPr>
            <a:picLocks noChangeAspect="1"/>
          </p:cNvPicPr>
          <p:nvPr/>
        </p:nvPicPr>
        <p:blipFill>
          <a:blip r:embed="rId2"/>
          <a:stretch>
            <a:fillRect/>
          </a:stretch>
        </p:blipFill>
        <p:spPr>
          <a:xfrm>
            <a:off x="1228045" y="1566602"/>
            <a:ext cx="9735909" cy="3724795"/>
          </a:xfrm>
          <a:prstGeom prst="rect">
            <a:avLst/>
          </a:prstGeom>
        </p:spPr>
      </p:pic>
    </p:spTree>
    <p:extLst>
      <p:ext uri="{BB962C8B-B14F-4D97-AF65-F5344CB8AC3E}">
        <p14:creationId xmlns:p14="http://schemas.microsoft.com/office/powerpoint/2010/main" val="605712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sp>
        <p:nvSpPr>
          <p:cNvPr id="3" name="TextBox 2">
            <a:extLst>
              <a:ext uri="{FF2B5EF4-FFF2-40B4-BE49-F238E27FC236}">
                <a16:creationId xmlns:a16="http://schemas.microsoft.com/office/drawing/2014/main" id="{A03B5938-581F-EF51-920F-1D35E35B499C}"/>
              </a:ext>
            </a:extLst>
          </p:cNvPr>
          <p:cNvSpPr txBox="1"/>
          <p:nvPr/>
        </p:nvSpPr>
        <p:spPr>
          <a:xfrm>
            <a:off x="840509" y="1560945"/>
            <a:ext cx="2955636" cy="584775"/>
          </a:xfrm>
          <a:prstGeom prst="rect">
            <a:avLst/>
          </a:prstGeom>
          <a:noFill/>
        </p:spPr>
        <p:txBody>
          <a:bodyPr wrap="square" rtlCol="0">
            <a:spAutoFit/>
          </a:bodyPr>
          <a:lstStyle/>
          <a:p>
            <a:r>
              <a:rPr lang="en-US" sz="3200" b="1"/>
              <a:t>TRY IT:</a:t>
            </a:r>
          </a:p>
        </p:txBody>
      </p:sp>
      <p:graphicFrame>
        <p:nvGraphicFramePr>
          <p:cNvPr id="6" name="Table 6">
            <a:extLst>
              <a:ext uri="{FF2B5EF4-FFF2-40B4-BE49-F238E27FC236}">
                <a16:creationId xmlns:a16="http://schemas.microsoft.com/office/drawing/2014/main" id="{E69163AA-2D6F-2938-2998-475426C74FAC}"/>
              </a:ext>
            </a:extLst>
          </p:cNvPr>
          <p:cNvGraphicFramePr>
            <a:graphicFrameLocks noGrp="1"/>
          </p:cNvGraphicFramePr>
          <p:nvPr>
            <p:extLst>
              <p:ext uri="{D42A27DB-BD31-4B8C-83A1-F6EECF244321}">
                <p14:modId xmlns:p14="http://schemas.microsoft.com/office/powerpoint/2010/main" val="3881487791"/>
              </p:ext>
            </p:extLst>
          </p:nvPr>
        </p:nvGraphicFramePr>
        <p:xfrm>
          <a:off x="2031999" y="2635247"/>
          <a:ext cx="8128000" cy="138176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Organizer’s expectation about what highschoolers will do</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3886148278"/>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122126296"/>
                  </a:ext>
                </a:extLst>
              </a:tr>
            </a:tbl>
          </a:graphicData>
        </a:graphic>
      </p:graphicFrame>
    </p:spTree>
    <p:extLst>
      <p:ext uri="{BB962C8B-B14F-4D97-AF65-F5344CB8AC3E}">
        <p14:creationId xmlns:p14="http://schemas.microsoft.com/office/powerpoint/2010/main" val="1287580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sp>
        <p:nvSpPr>
          <p:cNvPr id="3" name="TextBox 2">
            <a:extLst>
              <a:ext uri="{FF2B5EF4-FFF2-40B4-BE49-F238E27FC236}">
                <a16:creationId xmlns:a16="http://schemas.microsoft.com/office/drawing/2014/main" id="{A03B5938-581F-EF51-920F-1D35E35B499C}"/>
              </a:ext>
            </a:extLst>
          </p:cNvPr>
          <p:cNvSpPr txBox="1"/>
          <p:nvPr/>
        </p:nvSpPr>
        <p:spPr>
          <a:xfrm>
            <a:off x="840509" y="1560945"/>
            <a:ext cx="2955636" cy="584775"/>
          </a:xfrm>
          <a:prstGeom prst="rect">
            <a:avLst/>
          </a:prstGeom>
          <a:noFill/>
        </p:spPr>
        <p:txBody>
          <a:bodyPr wrap="square" rtlCol="0">
            <a:spAutoFit/>
          </a:bodyPr>
          <a:lstStyle/>
          <a:p>
            <a:r>
              <a:rPr lang="en-US" sz="3200" b="1"/>
              <a:t>TRY IT:</a:t>
            </a:r>
          </a:p>
        </p:txBody>
      </p:sp>
      <p:graphicFrame>
        <p:nvGraphicFramePr>
          <p:cNvPr id="6" name="Table 6">
            <a:extLst>
              <a:ext uri="{FF2B5EF4-FFF2-40B4-BE49-F238E27FC236}">
                <a16:creationId xmlns:a16="http://schemas.microsoft.com/office/drawing/2014/main" id="{E69163AA-2D6F-2938-2998-475426C74FAC}"/>
              </a:ext>
            </a:extLst>
          </p:cNvPr>
          <p:cNvGraphicFramePr>
            <a:graphicFrameLocks noGrp="1"/>
          </p:cNvGraphicFramePr>
          <p:nvPr>
            <p:extLst>
              <p:ext uri="{D42A27DB-BD31-4B8C-83A1-F6EECF244321}">
                <p14:modId xmlns:p14="http://schemas.microsoft.com/office/powerpoint/2010/main" val="144510025"/>
              </p:ext>
            </p:extLst>
          </p:nvPr>
        </p:nvGraphicFramePr>
        <p:xfrm>
          <a:off x="2031999" y="2635247"/>
          <a:ext cx="8128000" cy="138176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Organizer’s expectation about what highschoolers will do</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r>
                        <a:rPr lang="en-US"/>
                        <a:t>Start their own protest campaign</a:t>
                      </a:r>
                    </a:p>
                  </a:txBody>
                  <a:tcPr/>
                </a:tc>
                <a:tc>
                  <a:txBody>
                    <a:bodyPr/>
                    <a:lstStyle/>
                    <a:p>
                      <a:endParaRPr lang="en-US"/>
                    </a:p>
                  </a:txBody>
                  <a:tcPr/>
                </a:tc>
                <a:extLst>
                  <a:ext uri="{0D108BD9-81ED-4DB2-BD59-A6C34878D82A}">
                    <a16:rowId xmlns:a16="http://schemas.microsoft.com/office/drawing/2014/main" val="3886148278"/>
                  </a:ext>
                </a:extLst>
              </a:tr>
              <a:tr h="370840">
                <a:tc>
                  <a:txBody>
                    <a:bodyPr/>
                    <a:lstStyle/>
                    <a:p>
                      <a:r>
                        <a:rPr lang="en-US"/>
                        <a:t>Not start their own protest campaign</a:t>
                      </a:r>
                    </a:p>
                  </a:txBody>
                  <a:tcPr/>
                </a:tc>
                <a:tc>
                  <a:txBody>
                    <a:bodyPr/>
                    <a:lstStyle/>
                    <a:p>
                      <a:endParaRPr lang="en-US"/>
                    </a:p>
                  </a:txBody>
                  <a:tcPr/>
                </a:tc>
                <a:extLst>
                  <a:ext uri="{0D108BD9-81ED-4DB2-BD59-A6C34878D82A}">
                    <a16:rowId xmlns:a16="http://schemas.microsoft.com/office/drawing/2014/main" val="2122126296"/>
                  </a:ext>
                </a:extLst>
              </a:tr>
            </a:tbl>
          </a:graphicData>
        </a:graphic>
      </p:graphicFrame>
    </p:spTree>
    <p:extLst>
      <p:ext uri="{BB962C8B-B14F-4D97-AF65-F5344CB8AC3E}">
        <p14:creationId xmlns:p14="http://schemas.microsoft.com/office/powerpoint/2010/main" val="34869694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sp>
        <p:nvSpPr>
          <p:cNvPr id="3" name="TextBox 2">
            <a:extLst>
              <a:ext uri="{FF2B5EF4-FFF2-40B4-BE49-F238E27FC236}">
                <a16:creationId xmlns:a16="http://schemas.microsoft.com/office/drawing/2014/main" id="{A03B5938-581F-EF51-920F-1D35E35B499C}"/>
              </a:ext>
            </a:extLst>
          </p:cNvPr>
          <p:cNvSpPr txBox="1"/>
          <p:nvPr/>
        </p:nvSpPr>
        <p:spPr>
          <a:xfrm>
            <a:off x="840509" y="1560945"/>
            <a:ext cx="2955636" cy="584775"/>
          </a:xfrm>
          <a:prstGeom prst="rect">
            <a:avLst/>
          </a:prstGeom>
          <a:noFill/>
        </p:spPr>
        <p:txBody>
          <a:bodyPr wrap="square" rtlCol="0">
            <a:spAutoFit/>
          </a:bodyPr>
          <a:lstStyle/>
          <a:p>
            <a:r>
              <a:rPr lang="en-US" sz="3200" b="1"/>
              <a:t>TRY IT:</a:t>
            </a:r>
          </a:p>
        </p:txBody>
      </p:sp>
      <p:graphicFrame>
        <p:nvGraphicFramePr>
          <p:cNvPr id="6" name="Table 6">
            <a:extLst>
              <a:ext uri="{FF2B5EF4-FFF2-40B4-BE49-F238E27FC236}">
                <a16:creationId xmlns:a16="http://schemas.microsoft.com/office/drawing/2014/main" id="{E69163AA-2D6F-2938-2998-475426C74FAC}"/>
              </a:ext>
            </a:extLst>
          </p:cNvPr>
          <p:cNvGraphicFramePr>
            <a:graphicFrameLocks noGrp="1"/>
          </p:cNvGraphicFramePr>
          <p:nvPr>
            <p:extLst>
              <p:ext uri="{D42A27DB-BD31-4B8C-83A1-F6EECF244321}">
                <p14:modId xmlns:p14="http://schemas.microsoft.com/office/powerpoint/2010/main" val="3855364760"/>
              </p:ext>
            </p:extLst>
          </p:nvPr>
        </p:nvGraphicFramePr>
        <p:xfrm>
          <a:off x="2031999" y="2635247"/>
          <a:ext cx="8128000" cy="192024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Organizer’s expectation about what highschoolers will do</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r>
                        <a:rPr lang="en-US"/>
                        <a:t>Start their own protest campaign</a:t>
                      </a:r>
                    </a:p>
                  </a:txBody>
                  <a:tcPr/>
                </a:tc>
                <a:tc>
                  <a:txBody>
                    <a:bodyPr/>
                    <a:lstStyle/>
                    <a:p>
                      <a:r>
                        <a:rPr lang="en-US"/>
                        <a:t>Prefers to not organize resistance instead of to organize resistance.</a:t>
                      </a:r>
                    </a:p>
                  </a:txBody>
                  <a:tcPr/>
                </a:tc>
                <a:extLst>
                  <a:ext uri="{0D108BD9-81ED-4DB2-BD59-A6C34878D82A}">
                    <a16:rowId xmlns:a16="http://schemas.microsoft.com/office/drawing/2014/main" val="3886148278"/>
                  </a:ext>
                </a:extLst>
              </a:tr>
              <a:tr h="370840">
                <a:tc>
                  <a:txBody>
                    <a:bodyPr/>
                    <a:lstStyle/>
                    <a:p>
                      <a:r>
                        <a:rPr lang="en-US"/>
                        <a:t>Not start their own protest campaign</a:t>
                      </a:r>
                    </a:p>
                  </a:txBody>
                  <a:tcPr/>
                </a:tc>
                <a:tc>
                  <a:txBody>
                    <a:bodyPr/>
                    <a:lstStyle/>
                    <a:p>
                      <a:r>
                        <a:rPr lang="en-US"/>
                        <a:t>Prefers to organize resistance instead of to not organize resistance.</a:t>
                      </a:r>
                    </a:p>
                  </a:txBody>
                  <a:tcPr/>
                </a:tc>
                <a:extLst>
                  <a:ext uri="{0D108BD9-81ED-4DB2-BD59-A6C34878D82A}">
                    <a16:rowId xmlns:a16="http://schemas.microsoft.com/office/drawing/2014/main" val="2122126296"/>
                  </a:ext>
                </a:extLst>
              </a:tr>
            </a:tbl>
          </a:graphicData>
        </a:graphic>
      </p:graphicFrame>
    </p:spTree>
    <p:extLst>
      <p:ext uri="{BB962C8B-B14F-4D97-AF65-F5344CB8AC3E}">
        <p14:creationId xmlns:p14="http://schemas.microsoft.com/office/powerpoint/2010/main" val="3472224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sp>
        <p:nvSpPr>
          <p:cNvPr id="3" name="TextBox 2">
            <a:extLst>
              <a:ext uri="{FF2B5EF4-FFF2-40B4-BE49-F238E27FC236}">
                <a16:creationId xmlns:a16="http://schemas.microsoft.com/office/drawing/2014/main" id="{A03B5938-581F-EF51-920F-1D35E35B499C}"/>
              </a:ext>
            </a:extLst>
          </p:cNvPr>
          <p:cNvSpPr txBox="1"/>
          <p:nvPr/>
        </p:nvSpPr>
        <p:spPr>
          <a:xfrm>
            <a:off x="840509" y="1560945"/>
            <a:ext cx="2955636" cy="584775"/>
          </a:xfrm>
          <a:prstGeom prst="rect">
            <a:avLst/>
          </a:prstGeom>
          <a:noFill/>
        </p:spPr>
        <p:txBody>
          <a:bodyPr wrap="square" rtlCol="0">
            <a:spAutoFit/>
          </a:bodyPr>
          <a:lstStyle/>
          <a:p>
            <a:r>
              <a:rPr lang="en-US" sz="3200" b="1"/>
              <a:t>FOR EXAMPLE:</a:t>
            </a:r>
          </a:p>
        </p:txBody>
      </p:sp>
      <p:graphicFrame>
        <p:nvGraphicFramePr>
          <p:cNvPr id="6" name="Table 6">
            <a:extLst>
              <a:ext uri="{FF2B5EF4-FFF2-40B4-BE49-F238E27FC236}">
                <a16:creationId xmlns:a16="http://schemas.microsoft.com/office/drawing/2014/main" id="{E69163AA-2D6F-2938-2998-475426C74FAC}"/>
              </a:ext>
            </a:extLst>
          </p:cNvPr>
          <p:cNvGraphicFramePr>
            <a:graphicFrameLocks noGrp="1"/>
          </p:cNvGraphicFramePr>
          <p:nvPr/>
        </p:nvGraphicFramePr>
        <p:xfrm>
          <a:off x="2031999" y="2635247"/>
          <a:ext cx="8128000" cy="192024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Organizer’s Expectation about What Highschoolers will Do</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r>
                        <a:rPr lang="en-US"/>
                        <a:t>Protest</a:t>
                      </a:r>
                    </a:p>
                  </a:txBody>
                  <a:tcPr/>
                </a:tc>
                <a:tc>
                  <a:txBody>
                    <a:bodyPr/>
                    <a:lstStyle/>
                    <a:p>
                      <a:r>
                        <a:rPr lang="en-US"/>
                        <a:t>Prefers to not organize resistance instead of to organize resistance.</a:t>
                      </a:r>
                    </a:p>
                  </a:txBody>
                  <a:tcPr/>
                </a:tc>
                <a:extLst>
                  <a:ext uri="{0D108BD9-81ED-4DB2-BD59-A6C34878D82A}">
                    <a16:rowId xmlns:a16="http://schemas.microsoft.com/office/drawing/2014/main" val="3886148278"/>
                  </a:ext>
                </a:extLst>
              </a:tr>
              <a:tr h="370840">
                <a:tc>
                  <a:txBody>
                    <a:bodyPr/>
                    <a:lstStyle/>
                    <a:p>
                      <a:r>
                        <a:rPr lang="en-US"/>
                        <a:t>Not protest</a:t>
                      </a:r>
                    </a:p>
                  </a:txBody>
                  <a:tcPr/>
                </a:tc>
                <a:tc>
                  <a:txBody>
                    <a:bodyPr/>
                    <a:lstStyle/>
                    <a:p>
                      <a:r>
                        <a:rPr lang="en-US"/>
                        <a:t>Prefers to organize resistance instead of to not organize resistance.</a:t>
                      </a:r>
                    </a:p>
                  </a:txBody>
                  <a:tcPr/>
                </a:tc>
                <a:extLst>
                  <a:ext uri="{0D108BD9-81ED-4DB2-BD59-A6C34878D82A}">
                    <a16:rowId xmlns:a16="http://schemas.microsoft.com/office/drawing/2014/main" val="2122126296"/>
                  </a:ext>
                </a:extLst>
              </a:tr>
            </a:tbl>
          </a:graphicData>
        </a:graphic>
      </p:graphicFrame>
      <p:sp>
        <p:nvSpPr>
          <p:cNvPr id="4" name="TextBox 3">
            <a:extLst>
              <a:ext uri="{FF2B5EF4-FFF2-40B4-BE49-F238E27FC236}">
                <a16:creationId xmlns:a16="http://schemas.microsoft.com/office/drawing/2014/main" id="{5A20298F-9B5D-7488-828D-B95BCEEC9B07}"/>
              </a:ext>
            </a:extLst>
          </p:cNvPr>
          <p:cNvSpPr txBox="1"/>
          <p:nvPr/>
        </p:nvSpPr>
        <p:spPr>
          <a:xfrm rot="21337922">
            <a:off x="4535055" y="4601669"/>
            <a:ext cx="7740072" cy="2062103"/>
          </a:xfrm>
          <a:prstGeom prst="rect">
            <a:avLst/>
          </a:prstGeom>
          <a:solidFill>
            <a:srgbClr val="FFFF00"/>
          </a:solidFill>
          <a:ln w="38100">
            <a:solidFill>
              <a:schemeClr val="tx1"/>
            </a:solidFill>
          </a:ln>
        </p:spPr>
        <p:txBody>
          <a:bodyPr wrap="square" rtlCol="0">
            <a:spAutoFit/>
          </a:bodyPr>
          <a:lstStyle/>
          <a:p>
            <a:r>
              <a:rPr lang="en-US" sz="3200"/>
              <a:t>NOTICE THAT THE ORGANIZER’S PREFERENCE ORDERING OVER HIS ACTIONS </a:t>
            </a:r>
            <a:r>
              <a:rPr lang="en-US" sz="3200" b="1"/>
              <a:t>SWITCHES </a:t>
            </a:r>
            <a:r>
              <a:rPr lang="en-US" sz="3200"/>
              <a:t>WHEN HER EXPECTATIONS ABOUT WHAT HIGHSCHOOLERS WILL DO CHANGES!!!!</a:t>
            </a:r>
          </a:p>
        </p:txBody>
      </p:sp>
    </p:spTree>
    <p:extLst>
      <p:ext uri="{BB962C8B-B14F-4D97-AF65-F5344CB8AC3E}">
        <p14:creationId xmlns:p14="http://schemas.microsoft.com/office/powerpoint/2010/main" val="24050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sp>
        <p:nvSpPr>
          <p:cNvPr id="3" name="TextBox 2">
            <a:extLst>
              <a:ext uri="{FF2B5EF4-FFF2-40B4-BE49-F238E27FC236}">
                <a16:creationId xmlns:a16="http://schemas.microsoft.com/office/drawing/2014/main" id="{A03B5938-581F-EF51-920F-1D35E35B499C}"/>
              </a:ext>
            </a:extLst>
          </p:cNvPr>
          <p:cNvSpPr txBox="1"/>
          <p:nvPr/>
        </p:nvSpPr>
        <p:spPr>
          <a:xfrm>
            <a:off x="840509" y="1560945"/>
            <a:ext cx="4221018" cy="584775"/>
          </a:xfrm>
          <a:prstGeom prst="rect">
            <a:avLst/>
          </a:prstGeom>
          <a:noFill/>
        </p:spPr>
        <p:txBody>
          <a:bodyPr wrap="square" rtlCol="0">
            <a:spAutoFit/>
          </a:bodyPr>
          <a:lstStyle/>
          <a:p>
            <a:r>
              <a:rPr lang="en-US" sz="3200" b="1"/>
              <a:t>ANOTHER EXAMPLE:</a:t>
            </a:r>
          </a:p>
        </p:txBody>
      </p:sp>
      <p:graphicFrame>
        <p:nvGraphicFramePr>
          <p:cNvPr id="6" name="Table 6">
            <a:extLst>
              <a:ext uri="{FF2B5EF4-FFF2-40B4-BE49-F238E27FC236}">
                <a16:creationId xmlns:a16="http://schemas.microsoft.com/office/drawing/2014/main" id="{E69163AA-2D6F-2938-2998-475426C74FAC}"/>
              </a:ext>
            </a:extLst>
          </p:cNvPr>
          <p:cNvGraphicFramePr>
            <a:graphicFrameLocks noGrp="1"/>
          </p:cNvGraphicFramePr>
          <p:nvPr>
            <p:extLst>
              <p:ext uri="{D42A27DB-BD31-4B8C-83A1-F6EECF244321}">
                <p14:modId xmlns:p14="http://schemas.microsoft.com/office/powerpoint/2010/main" val="2397651230"/>
              </p:ext>
            </p:extLst>
          </p:nvPr>
        </p:nvGraphicFramePr>
        <p:xfrm>
          <a:off x="2031999" y="2635247"/>
          <a:ext cx="8128000" cy="138176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Organizer’s Expectation about How Local Terrorists will Respond to Organizing</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3886148278"/>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122126296"/>
                  </a:ext>
                </a:extLst>
              </a:tr>
            </a:tbl>
          </a:graphicData>
        </a:graphic>
      </p:graphicFrame>
    </p:spTree>
    <p:extLst>
      <p:ext uri="{BB962C8B-B14F-4D97-AF65-F5344CB8AC3E}">
        <p14:creationId xmlns:p14="http://schemas.microsoft.com/office/powerpoint/2010/main" val="1581639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sp>
        <p:nvSpPr>
          <p:cNvPr id="3" name="TextBox 2">
            <a:extLst>
              <a:ext uri="{FF2B5EF4-FFF2-40B4-BE49-F238E27FC236}">
                <a16:creationId xmlns:a16="http://schemas.microsoft.com/office/drawing/2014/main" id="{A03B5938-581F-EF51-920F-1D35E35B499C}"/>
              </a:ext>
            </a:extLst>
          </p:cNvPr>
          <p:cNvSpPr txBox="1"/>
          <p:nvPr/>
        </p:nvSpPr>
        <p:spPr>
          <a:xfrm>
            <a:off x="840509" y="1560945"/>
            <a:ext cx="4221018" cy="584775"/>
          </a:xfrm>
          <a:prstGeom prst="rect">
            <a:avLst/>
          </a:prstGeom>
          <a:noFill/>
        </p:spPr>
        <p:txBody>
          <a:bodyPr wrap="square" rtlCol="0">
            <a:spAutoFit/>
          </a:bodyPr>
          <a:lstStyle/>
          <a:p>
            <a:r>
              <a:rPr lang="en-US" sz="3200" b="1"/>
              <a:t>ANOTHER EXAMPLE:</a:t>
            </a:r>
          </a:p>
        </p:txBody>
      </p:sp>
      <p:graphicFrame>
        <p:nvGraphicFramePr>
          <p:cNvPr id="6" name="Table 6">
            <a:extLst>
              <a:ext uri="{FF2B5EF4-FFF2-40B4-BE49-F238E27FC236}">
                <a16:creationId xmlns:a16="http://schemas.microsoft.com/office/drawing/2014/main" id="{E69163AA-2D6F-2938-2998-475426C74FAC}"/>
              </a:ext>
            </a:extLst>
          </p:cNvPr>
          <p:cNvGraphicFramePr>
            <a:graphicFrameLocks noGrp="1"/>
          </p:cNvGraphicFramePr>
          <p:nvPr/>
        </p:nvGraphicFramePr>
        <p:xfrm>
          <a:off x="2031999" y="2635247"/>
          <a:ext cx="8128000" cy="138176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Organizer’s Expectation about How Local Terrorists will Respond to Organizing</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r>
                        <a:rPr lang="en-US"/>
                        <a:t>Murder a local</a:t>
                      </a:r>
                    </a:p>
                  </a:txBody>
                  <a:tcPr/>
                </a:tc>
                <a:tc>
                  <a:txBody>
                    <a:bodyPr/>
                    <a:lstStyle/>
                    <a:p>
                      <a:endParaRPr lang="en-US"/>
                    </a:p>
                  </a:txBody>
                  <a:tcPr/>
                </a:tc>
                <a:extLst>
                  <a:ext uri="{0D108BD9-81ED-4DB2-BD59-A6C34878D82A}">
                    <a16:rowId xmlns:a16="http://schemas.microsoft.com/office/drawing/2014/main" val="3886148278"/>
                  </a:ext>
                </a:extLst>
              </a:tr>
              <a:tr h="370840">
                <a:tc>
                  <a:txBody>
                    <a:bodyPr/>
                    <a:lstStyle/>
                    <a:p>
                      <a:r>
                        <a:rPr lang="en-US"/>
                        <a:t>Beat the organizer</a:t>
                      </a:r>
                    </a:p>
                  </a:txBody>
                  <a:tcPr/>
                </a:tc>
                <a:tc>
                  <a:txBody>
                    <a:bodyPr/>
                    <a:lstStyle/>
                    <a:p>
                      <a:endParaRPr lang="en-US"/>
                    </a:p>
                  </a:txBody>
                  <a:tcPr/>
                </a:tc>
                <a:extLst>
                  <a:ext uri="{0D108BD9-81ED-4DB2-BD59-A6C34878D82A}">
                    <a16:rowId xmlns:a16="http://schemas.microsoft.com/office/drawing/2014/main" val="2122126296"/>
                  </a:ext>
                </a:extLst>
              </a:tr>
            </a:tbl>
          </a:graphicData>
        </a:graphic>
      </p:graphicFrame>
    </p:spTree>
    <p:extLst>
      <p:ext uri="{BB962C8B-B14F-4D97-AF65-F5344CB8AC3E}">
        <p14:creationId xmlns:p14="http://schemas.microsoft.com/office/powerpoint/2010/main" val="29534087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sp>
        <p:nvSpPr>
          <p:cNvPr id="3" name="TextBox 2">
            <a:extLst>
              <a:ext uri="{FF2B5EF4-FFF2-40B4-BE49-F238E27FC236}">
                <a16:creationId xmlns:a16="http://schemas.microsoft.com/office/drawing/2014/main" id="{A03B5938-581F-EF51-920F-1D35E35B499C}"/>
              </a:ext>
            </a:extLst>
          </p:cNvPr>
          <p:cNvSpPr txBox="1"/>
          <p:nvPr/>
        </p:nvSpPr>
        <p:spPr>
          <a:xfrm>
            <a:off x="840509" y="1560945"/>
            <a:ext cx="4221018" cy="584775"/>
          </a:xfrm>
          <a:prstGeom prst="rect">
            <a:avLst/>
          </a:prstGeom>
          <a:noFill/>
        </p:spPr>
        <p:txBody>
          <a:bodyPr wrap="square" rtlCol="0">
            <a:spAutoFit/>
          </a:bodyPr>
          <a:lstStyle/>
          <a:p>
            <a:r>
              <a:rPr lang="en-US" sz="3200" b="1"/>
              <a:t>ANOTHER EXAMPLE:</a:t>
            </a:r>
          </a:p>
        </p:txBody>
      </p:sp>
      <p:graphicFrame>
        <p:nvGraphicFramePr>
          <p:cNvPr id="6" name="Table 6">
            <a:extLst>
              <a:ext uri="{FF2B5EF4-FFF2-40B4-BE49-F238E27FC236}">
                <a16:creationId xmlns:a16="http://schemas.microsoft.com/office/drawing/2014/main" id="{E69163AA-2D6F-2938-2998-475426C74FAC}"/>
              </a:ext>
            </a:extLst>
          </p:cNvPr>
          <p:cNvGraphicFramePr>
            <a:graphicFrameLocks noGrp="1"/>
          </p:cNvGraphicFramePr>
          <p:nvPr>
            <p:extLst>
              <p:ext uri="{D42A27DB-BD31-4B8C-83A1-F6EECF244321}">
                <p14:modId xmlns:p14="http://schemas.microsoft.com/office/powerpoint/2010/main" val="3773347454"/>
              </p:ext>
            </p:extLst>
          </p:nvPr>
        </p:nvGraphicFramePr>
        <p:xfrm>
          <a:off x="2031999" y="2635247"/>
          <a:ext cx="8128000" cy="192024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Organizer’s Expectation about How Local Terrorists will Respond to Organizing</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r>
                        <a:rPr lang="en-US"/>
                        <a:t>Murder a local</a:t>
                      </a:r>
                    </a:p>
                  </a:txBody>
                  <a:tcPr/>
                </a:tc>
                <a:tc>
                  <a:txBody>
                    <a:bodyPr/>
                    <a:lstStyle/>
                    <a:p>
                      <a:r>
                        <a:rPr lang="en-US"/>
                        <a:t>prefers to not organize resistance instead of organizing resistance</a:t>
                      </a:r>
                    </a:p>
                  </a:txBody>
                  <a:tcPr/>
                </a:tc>
                <a:extLst>
                  <a:ext uri="{0D108BD9-81ED-4DB2-BD59-A6C34878D82A}">
                    <a16:rowId xmlns:a16="http://schemas.microsoft.com/office/drawing/2014/main" val="3886148278"/>
                  </a:ext>
                </a:extLst>
              </a:tr>
              <a:tr h="370840">
                <a:tc>
                  <a:txBody>
                    <a:bodyPr/>
                    <a:lstStyle/>
                    <a:p>
                      <a:r>
                        <a:rPr lang="en-US"/>
                        <a:t>Beat the organizer</a:t>
                      </a:r>
                    </a:p>
                  </a:txBody>
                  <a:tcPr/>
                </a:tc>
                <a:tc>
                  <a:txBody>
                    <a:bodyPr/>
                    <a:lstStyle/>
                    <a:p>
                      <a:r>
                        <a:rPr lang="en-US"/>
                        <a:t>prefers to organize resistance instead of not organizing resistance</a:t>
                      </a:r>
                    </a:p>
                  </a:txBody>
                  <a:tcPr/>
                </a:tc>
                <a:extLst>
                  <a:ext uri="{0D108BD9-81ED-4DB2-BD59-A6C34878D82A}">
                    <a16:rowId xmlns:a16="http://schemas.microsoft.com/office/drawing/2014/main" val="2122126296"/>
                  </a:ext>
                </a:extLst>
              </a:tr>
            </a:tbl>
          </a:graphicData>
        </a:graphic>
      </p:graphicFrame>
    </p:spTree>
    <p:extLst>
      <p:ext uri="{BB962C8B-B14F-4D97-AF65-F5344CB8AC3E}">
        <p14:creationId xmlns:p14="http://schemas.microsoft.com/office/powerpoint/2010/main" val="25218339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pic>
        <p:nvPicPr>
          <p:cNvPr id="5" name="Picture 4">
            <a:extLst>
              <a:ext uri="{FF2B5EF4-FFF2-40B4-BE49-F238E27FC236}">
                <a16:creationId xmlns:a16="http://schemas.microsoft.com/office/drawing/2014/main" id="{043E55F4-6468-6172-E180-D52D0354B36D}"/>
              </a:ext>
            </a:extLst>
          </p:cNvPr>
          <p:cNvPicPr>
            <a:picLocks noChangeAspect="1"/>
          </p:cNvPicPr>
          <p:nvPr/>
        </p:nvPicPr>
        <p:blipFill>
          <a:blip r:embed="rId2"/>
          <a:stretch>
            <a:fillRect/>
          </a:stretch>
        </p:blipFill>
        <p:spPr>
          <a:xfrm>
            <a:off x="1228045" y="1566602"/>
            <a:ext cx="9735909" cy="3724795"/>
          </a:xfrm>
          <a:prstGeom prst="rect">
            <a:avLst/>
          </a:prstGeom>
        </p:spPr>
      </p:pic>
    </p:spTree>
    <p:extLst>
      <p:ext uri="{BB962C8B-B14F-4D97-AF65-F5344CB8AC3E}">
        <p14:creationId xmlns:p14="http://schemas.microsoft.com/office/powerpoint/2010/main" val="16779535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42DC1A-7038-B99B-574B-7D2D76CF2C85}"/>
              </a:ext>
            </a:extLst>
          </p:cNvPr>
          <p:cNvSpPr/>
          <p:nvPr/>
        </p:nvSpPr>
        <p:spPr>
          <a:xfrm>
            <a:off x="2576945" y="177799"/>
            <a:ext cx="7038109" cy="893619"/>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a:solidFill>
                  <a:schemeClr val="tx1"/>
                </a:solidFill>
              </a:rPr>
              <a:t>Strategic Interdependence</a:t>
            </a:r>
          </a:p>
        </p:txBody>
      </p:sp>
      <p:pic>
        <p:nvPicPr>
          <p:cNvPr id="5" name="Picture 4">
            <a:extLst>
              <a:ext uri="{FF2B5EF4-FFF2-40B4-BE49-F238E27FC236}">
                <a16:creationId xmlns:a16="http://schemas.microsoft.com/office/drawing/2014/main" id="{043E55F4-6468-6172-E180-D52D0354B36D}"/>
              </a:ext>
            </a:extLst>
          </p:cNvPr>
          <p:cNvPicPr>
            <a:picLocks noChangeAspect="1"/>
          </p:cNvPicPr>
          <p:nvPr/>
        </p:nvPicPr>
        <p:blipFill>
          <a:blip r:embed="rId2"/>
          <a:stretch>
            <a:fillRect/>
          </a:stretch>
        </p:blipFill>
        <p:spPr>
          <a:xfrm>
            <a:off x="1228045" y="1566602"/>
            <a:ext cx="9735909" cy="3724795"/>
          </a:xfrm>
          <a:prstGeom prst="rect">
            <a:avLst/>
          </a:prstGeom>
        </p:spPr>
      </p:pic>
      <p:sp>
        <p:nvSpPr>
          <p:cNvPr id="3" name="TextBox 2">
            <a:extLst>
              <a:ext uri="{FF2B5EF4-FFF2-40B4-BE49-F238E27FC236}">
                <a16:creationId xmlns:a16="http://schemas.microsoft.com/office/drawing/2014/main" id="{0F6FF9A3-5659-23FE-D1F2-CEFADEFB83B4}"/>
              </a:ext>
            </a:extLst>
          </p:cNvPr>
          <p:cNvSpPr txBox="1"/>
          <p:nvPr/>
        </p:nvSpPr>
        <p:spPr>
          <a:xfrm rot="20897397">
            <a:off x="4347807" y="3834618"/>
            <a:ext cx="7740072" cy="2554545"/>
          </a:xfrm>
          <a:prstGeom prst="rect">
            <a:avLst/>
          </a:prstGeom>
          <a:solidFill>
            <a:srgbClr val="FFFF00"/>
          </a:solidFill>
          <a:ln w="38100">
            <a:solidFill>
              <a:schemeClr val="tx1"/>
            </a:solidFill>
          </a:ln>
        </p:spPr>
        <p:txBody>
          <a:bodyPr wrap="square" rtlCol="0">
            <a:spAutoFit/>
          </a:bodyPr>
          <a:lstStyle/>
          <a:p>
            <a:r>
              <a:rPr lang="en-US" sz="3200"/>
              <a:t>NOTICE: Strategic interdependence is a </a:t>
            </a:r>
            <a:r>
              <a:rPr lang="en-US" sz="3200" b="1"/>
              <a:t>mutual </a:t>
            </a:r>
            <a:r>
              <a:rPr lang="en-US" sz="3200"/>
              <a:t>condition between </a:t>
            </a:r>
            <a:r>
              <a:rPr lang="en-US" sz="3200" b="1"/>
              <a:t>multiple </a:t>
            </a:r>
            <a:r>
              <a:rPr lang="en-US" sz="3200"/>
              <a:t>persons.  </a:t>
            </a:r>
            <a:r>
              <a:rPr lang="en-US" sz="3200" b="1"/>
              <a:t>Each </a:t>
            </a:r>
            <a:r>
              <a:rPr lang="en-US" sz="3200"/>
              <a:t>person’s preferences over her actions depend on what actions she expects the other persons to take!</a:t>
            </a:r>
          </a:p>
        </p:txBody>
      </p:sp>
    </p:spTree>
    <p:extLst>
      <p:ext uri="{BB962C8B-B14F-4D97-AF65-F5344CB8AC3E}">
        <p14:creationId xmlns:p14="http://schemas.microsoft.com/office/powerpoint/2010/main" val="17684559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E14A6A-27D1-0A6B-1415-DF6D2CCAC048}"/>
              </a:ext>
            </a:extLst>
          </p:cNvPr>
          <p:cNvSpPr/>
          <p:nvPr/>
        </p:nvSpPr>
        <p:spPr>
          <a:xfrm>
            <a:off x="2212109" y="1212272"/>
            <a:ext cx="7767781" cy="4433455"/>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a:solidFill>
                  <a:schemeClr val="tx1"/>
                </a:solidFill>
              </a:rPr>
              <a:t>Strategic Interdependence is a </a:t>
            </a:r>
            <a:r>
              <a:rPr lang="en-US" sz="5400" b="1">
                <a:solidFill>
                  <a:schemeClr val="tx1"/>
                </a:solidFill>
              </a:rPr>
              <a:t>mutual condition </a:t>
            </a:r>
            <a:r>
              <a:rPr lang="en-US" sz="5400">
                <a:solidFill>
                  <a:schemeClr val="tx1"/>
                </a:solidFill>
              </a:rPr>
              <a:t>between </a:t>
            </a:r>
            <a:r>
              <a:rPr lang="en-US" sz="5400" b="1">
                <a:solidFill>
                  <a:schemeClr val="tx1"/>
                </a:solidFill>
              </a:rPr>
              <a:t>multiple persons</a:t>
            </a:r>
          </a:p>
        </p:txBody>
      </p:sp>
    </p:spTree>
    <p:extLst>
      <p:ext uri="{BB962C8B-B14F-4D97-AF65-F5344CB8AC3E}">
        <p14:creationId xmlns:p14="http://schemas.microsoft.com/office/powerpoint/2010/main" val="16033366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6">
            <a:extLst>
              <a:ext uri="{FF2B5EF4-FFF2-40B4-BE49-F238E27FC236}">
                <a16:creationId xmlns:a16="http://schemas.microsoft.com/office/drawing/2014/main" id="{D32DFAE7-E916-31B6-4FFE-DAF2400E312D}"/>
              </a:ext>
            </a:extLst>
          </p:cNvPr>
          <p:cNvGraphicFramePr>
            <a:graphicFrameLocks noGrp="1"/>
          </p:cNvGraphicFramePr>
          <p:nvPr/>
        </p:nvGraphicFramePr>
        <p:xfrm>
          <a:off x="2032000" y="2025647"/>
          <a:ext cx="8128000" cy="192024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Organizer’s Expectation about How Local Terrorists will Respond to Organizing</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r>
                        <a:rPr lang="en-US"/>
                        <a:t>Murder a local</a:t>
                      </a:r>
                    </a:p>
                  </a:txBody>
                  <a:tcPr/>
                </a:tc>
                <a:tc>
                  <a:txBody>
                    <a:bodyPr/>
                    <a:lstStyle/>
                    <a:p>
                      <a:r>
                        <a:rPr lang="en-US"/>
                        <a:t>Prefers to </a:t>
                      </a:r>
                      <a:r>
                        <a:rPr lang="en-US" b="1"/>
                        <a:t>not organize protests </a:t>
                      </a:r>
                      <a:r>
                        <a:rPr lang="en-US"/>
                        <a:t>instead of organizing protests</a:t>
                      </a:r>
                    </a:p>
                  </a:txBody>
                  <a:tcPr/>
                </a:tc>
                <a:extLst>
                  <a:ext uri="{0D108BD9-81ED-4DB2-BD59-A6C34878D82A}">
                    <a16:rowId xmlns:a16="http://schemas.microsoft.com/office/drawing/2014/main" val="3886148278"/>
                  </a:ext>
                </a:extLst>
              </a:tr>
              <a:tr h="370840">
                <a:tc>
                  <a:txBody>
                    <a:bodyPr/>
                    <a:lstStyle/>
                    <a:p>
                      <a:r>
                        <a:rPr lang="en-US"/>
                        <a:t>Beat the organizer</a:t>
                      </a:r>
                    </a:p>
                  </a:txBody>
                  <a:tcPr/>
                </a:tc>
                <a:tc>
                  <a:txBody>
                    <a:bodyPr/>
                    <a:lstStyle/>
                    <a:p>
                      <a:r>
                        <a:rPr lang="en-US"/>
                        <a:t>Prefers to </a:t>
                      </a:r>
                      <a:r>
                        <a:rPr lang="en-US" b="1"/>
                        <a:t>organize protests </a:t>
                      </a:r>
                      <a:r>
                        <a:rPr lang="en-US"/>
                        <a:t>instead of not organizing protest</a:t>
                      </a:r>
                    </a:p>
                  </a:txBody>
                  <a:tcPr/>
                </a:tc>
                <a:extLst>
                  <a:ext uri="{0D108BD9-81ED-4DB2-BD59-A6C34878D82A}">
                    <a16:rowId xmlns:a16="http://schemas.microsoft.com/office/drawing/2014/main" val="2122126296"/>
                  </a:ext>
                </a:extLst>
              </a:tr>
            </a:tbl>
          </a:graphicData>
        </a:graphic>
      </p:graphicFrame>
    </p:spTree>
    <p:extLst>
      <p:ext uri="{BB962C8B-B14F-4D97-AF65-F5344CB8AC3E}">
        <p14:creationId xmlns:p14="http://schemas.microsoft.com/office/powerpoint/2010/main" val="19830129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6">
            <a:extLst>
              <a:ext uri="{FF2B5EF4-FFF2-40B4-BE49-F238E27FC236}">
                <a16:creationId xmlns:a16="http://schemas.microsoft.com/office/drawing/2014/main" id="{D32DFAE7-E916-31B6-4FFE-DAF2400E312D}"/>
              </a:ext>
            </a:extLst>
          </p:cNvPr>
          <p:cNvGraphicFramePr>
            <a:graphicFrameLocks noGrp="1"/>
          </p:cNvGraphicFramePr>
          <p:nvPr/>
        </p:nvGraphicFramePr>
        <p:xfrm>
          <a:off x="2032000" y="2025647"/>
          <a:ext cx="8128000" cy="192024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Organizer’s Expectation about How Local Terrorists will Respond to Organizing</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r>
                        <a:rPr lang="en-US"/>
                        <a:t>Murder a local</a:t>
                      </a:r>
                    </a:p>
                  </a:txBody>
                  <a:tcPr/>
                </a:tc>
                <a:tc>
                  <a:txBody>
                    <a:bodyPr/>
                    <a:lstStyle/>
                    <a:p>
                      <a:r>
                        <a:rPr lang="en-US"/>
                        <a:t>Prefers to </a:t>
                      </a:r>
                      <a:r>
                        <a:rPr lang="en-US" b="1"/>
                        <a:t>not organize protests </a:t>
                      </a:r>
                      <a:r>
                        <a:rPr lang="en-US"/>
                        <a:t>instead of organizing protests</a:t>
                      </a:r>
                    </a:p>
                  </a:txBody>
                  <a:tcPr/>
                </a:tc>
                <a:extLst>
                  <a:ext uri="{0D108BD9-81ED-4DB2-BD59-A6C34878D82A}">
                    <a16:rowId xmlns:a16="http://schemas.microsoft.com/office/drawing/2014/main" val="3886148278"/>
                  </a:ext>
                </a:extLst>
              </a:tr>
              <a:tr h="370840">
                <a:tc>
                  <a:txBody>
                    <a:bodyPr/>
                    <a:lstStyle/>
                    <a:p>
                      <a:r>
                        <a:rPr lang="en-US"/>
                        <a:t>Beat the organizer</a:t>
                      </a:r>
                    </a:p>
                  </a:txBody>
                  <a:tcPr/>
                </a:tc>
                <a:tc>
                  <a:txBody>
                    <a:bodyPr/>
                    <a:lstStyle/>
                    <a:p>
                      <a:r>
                        <a:rPr lang="en-US"/>
                        <a:t>Prefers to </a:t>
                      </a:r>
                      <a:r>
                        <a:rPr lang="en-US" b="1"/>
                        <a:t>organize protests </a:t>
                      </a:r>
                      <a:r>
                        <a:rPr lang="en-US"/>
                        <a:t>instead of not organizing protest</a:t>
                      </a:r>
                    </a:p>
                  </a:txBody>
                  <a:tcPr/>
                </a:tc>
                <a:extLst>
                  <a:ext uri="{0D108BD9-81ED-4DB2-BD59-A6C34878D82A}">
                    <a16:rowId xmlns:a16="http://schemas.microsoft.com/office/drawing/2014/main" val="2122126296"/>
                  </a:ext>
                </a:extLst>
              </a:tr>
            </a:tbl>
          </a:graphicData>
        </a:graphic>
      </p:graphicFrame>
      <p:sp>
        <p:nvSpPr>
          <p:cNvPr id="3" name="TextBox 2">
            <a:extLst>
              <a:ext uri="{FF2B5EF4-FFF2-40B4-BE49-F238E27FC236}">
                <a16:creationId xmlns:a16="http://schemas.microsoft.com/office/drawing/2014/main" id="{2A878041-0722-FF53-E28C-C34661AE12FA}"/>
              </a:ext>
            </a:extLst>
          </p:cNvPr>
          <p:cNvSpPr txBox="1"/>
          <p:nvPr/>
        </p:nvSpPr>
        <p:spPr>
          <a:xfrm>
            <a:off x="2886363" y="273240"/>
            <a:ext cx="6419273" cy="1200329"/>
          </a:xfrm>
          <a:prstGeom prst="rect">
            <a:avLst/>
          </a:prstGeom>
          <a:solidFill>
            <a:srgbClr val="FFFF00"/>
          </a:solidFill>
          <a:ln w="28575">
            <a:solidFill>
              <a:schemeClr val="tx1"/>
            </a:solidFill>
          </a:ln>
        </p:spPr>
        <p:txBody>
          <a:bodyPr wrap="square" rtlCol="0">
            <a:spAutoFit/>
          </a:bodyPr>
          <a:lstStyle/>
          <a:p>
            <a:r>
              <a:rPr lang="en-US" sz="2400" b="1"/>
              <a:t>NOTICE:</a:t>
            </a:r>
            <a:r>
              <a:rPr lang="en-US" sz="2400"/>
              <a:t>  The organizer’s preferences over her available actions DEPEND on what he EXPECTS the local terroists to do if she organizes protests!</a:t>
            </a:r>
          </a:p>
        </p:txBody>
      </p:sp>
    </p:spTree>
    <p:extLst>
      <p:ext uri="{BB962C8B-B14F-4D97-AF65-F5344CB8AC3E}">
        <p14:creationId xmlns:p14="http://schemas.microsoft.com/office/powerpoint/2010/main" val="26213589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6">
            <a:extLst>
              <a:ext uri="{FF2B5EF4-FFF2-40B4-BE49-F238E27FC236}">
                <a16:creationId xmlns:a16="http://schemas.microsoft.com/office/drawing/2014/main" id="{D32DFAE7-E916-31B6-4FFE-DAF2400E312D}"/>
              </a:ext>
            </a:extLst>
          </p:cNvPr>
          <p:cNvGraphicFramePr>
            <a:graphicFrameLocks noGrp="1"/>
          </p:cNvGraphicFramePr>
          <p:nvPr/>
        </p:nvGraphicFramePr>
        <p:xfrm>
          <a:off x="2032000" y="2025647"/>
          <a:ext cx="8128000" cy="192024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Organizer’s Expectation about How Local Terrorists will Respond to Organizing</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r>
                        <a:rPr lang="en-US"/>
                        <a:t>Murder a local</a:t>
                      </a:r>
                    </a:p>
                  </a:txBody>
                  <a:tcPr/>
                </a:tc>
                <a:tc>
                  <a:txBody>
                    <a:bodyPr/>
                    <a:lstStyle/>
                    <a:p>
                      <a:r>
                        <a:rPr lang="en-US"/>
                        <a:t>Prefers to </a:t>
                      </a:r>
                      <a:r>
                        <a:rPr lang="en-US" b="1"/>
                        <a:t>not organize protests </a:t>
                      </a:r>
                      <a:r>
                        <a:rPr lang="en-US"/>
                        <a:t>instead of organizing protests</a:t>
                      </a:r>
                    </a:p>
                  </a:txBody>
                  <a:tcPr/>
                </a:tc>
                <a:extLst>
                  <a:ext uri="{0D108BD9-81ED-4DB2-BD59-A6C34878D82A}">
                    <a16:rowId xmlns:a16="http://schemas.microsoft.com/office/drawing/2014/main" val="3886148278"/>
                  </a:ext>
                </a:extLst>
              </a:tr>
              <a:tr h="370840">
                <a:tc>
                  <a:txBody>
                    <a:bodyPr/>
                    <a:lstStyle/>
                    <a:p>
                      <a:r>
                        <a:rPr lang="en-US"/>
                        <a:t>Beat the organizer</a:t>
                      </a:r>
                    </a:p>
                  </a:txBody>
                  <a:tcPr/>
                </a:tc>
                <a:tc>
                  <a:txBody>
                    <a:bodyPr/>
                    <a:lstStyle/>
                    <a:p>
                      <a:r>
                        <a:rPr lang="en-US"/>
                        <a:t>Prefers to </a:t>
                      </a:r>
                      <a:r>
                        <a:rPr lang="en-US" b="1"/>
                        <a:t>organize protests </a:t>
                      </a:r>
                      <a:r>
                        <a:rPr lang="en-US"/>
                        <a:t>instead of not organizing protest</a:t>
                      </a:r>
                    </a:p>
                  </a:txBody>
                  <a:tcPr/>
                </a:tc>
                <a:extLst>
                  <a:ext uri="{0D108BD9-81ED-4DB2-BD59-A6C34878D82A}">
                    <a16:rowId xmlns:a16="http://schemas.microsoft.com/office/drawing/2014/main" val="2122126296"/>
                  </a:ext>
                </a:extLst>
              </a:tr>
            </a:tbl>
          </a:graphicData>
        </a:graphic>
      </p:graphicFrame>
      <p:sp>
        <p:nvSpPr>
          <p:cNvPr id="3" name="TextBox 2">
            <a:extLst>
              <a:ext uri="{FF2B5EF4-FFF2-40B4-BE49-F238E27FC236}">
                <a16:creationId xmlns:a16="http://schemas.microsoft.com/office/drawing/2014/main" id="{2A878041-0722-FF53-E28C-C34661AE12FA}"/>
              </a:ext>
            </a:extLst>
          </p:cNvPr>
          <p:cNvSpPr txBox="1"/>
          <p:nvPr/>
        </p:nvSpPr>
        <p:spPr>
          <a:xfrm>
            <a:off x="2886363" y="273240"/>
            <a:ext cx="6419273" cy="1200329"/>
          </a:xfrm>
          <a:prstGeom prst="rect">
            <a:avLst/>
          </a:prstGeom>
          <a:solidFill>
            <a:srgbClr val="FFFF00"/>
          </a:solidFill>
          <a:ln w="28575">
            <a:solidFill>
              <a:schemeClr val="tx1"/>
            </a:solidFill>
          </a:ln>
        </p:spPr>
        <p:txBody>
          <a:bodyPr wrap="square" rtlCol="0">
            <a:spAutoFit/>
          </a:bodyPr>
          <a:lstStyle/>
          <a:p>
            <a:r>
              <a:rPr lang="en-US" sz="2400" b="1"/>
              <a:t>NOTICE:</a:t>
            </a:r>
            <a:r>
              <a:rPr lang="en-US" sz="2400"/>
              <a:t>  The organizer’s preferences over her available actions DEPEND on what he EXPECTS the local terroists to do if she organizes protests!</a:t>
            </a:r>
          </a:p>
        </p:txBody>
      </p:sp>
      <p:sp>
        <p:nvSpPr>
          <p:cNvPr id="4" name="TextBox 3">
            <a:extLst>
              <a:ext uri="{FF2B5EF4-FFF2-40B4-BE49-F238E27FC236}">
                <a16:creationId xmlns:a16="http://schemas.microsoft.com/office/drawing/2014/main" id="{1F277518-E065-9C53-4A13-CF9F026BB5F5}"/>
              </a:ext>
            </a:extLst>
          </p:cNvPr>
          <p:cNvSpPr txBox="1"/>
          <p:nvPr/>
        </p:nvSpPr>
        <p:spPr>
          <a:xfrm>
            <a:off x="2886362" y="4414838"/>
            <a:ext cx="6419273" cy="1569660"/>
          </a:xfrm>
          <a:prstGeom prst="rect">
            <a:avLst/>
          </a:prstGeom>
          <a:solidFill>
            <a:srgbClr val="00FF00"/>
          </a:solidFill>
          <a:ln w="28575">
            <a:solidFill>
              <a:schemeClr val="tx1"/>
            </a:solidFill>
          </a:ln>
        </p:spPr>
        <p:txBody>
          <a:bodyPr wrap="square" rtlCol="0">
            <a:spAutoFit/>
          </a:bodyPr>
          <a:lstStyle/>
          <a:p>
            <a:r>
              <a:rPr lang="en-US" sz="2400" b="1"/>
              <a:t>BUT...</a:t>
            </a:r>
            <a:r>
              <a:rPr lang="en-US" sz="2400"/>
              <a:t>this isn’t really strategic interdependence unless the local terrorists’ preferences over how to respond to any organizing similarly depend on whether the organizer organizes protests!</a:t>
            </a:r>
          </a:p>
        </p:txBody>
      </p:sp>
    </p:spTree>
    <p:extLst>
      <p:ext uri="{BB962C8B-B14F-4D97-AF65-F5344CB8AC3E}">
        <p14:creationId xmlns:p14="http://schemas.microsoft.com/office/powerpoint/2010/main" val="9351141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6D32EE-D476-7F14-31CA-7E90FDEBF418}"/>
              </a:ext>
            </a:extLst>
          </p:cNvPr>
          <p:cNvSpPr txBox="1"/>
          <p:nvPr/>
        </p:nvSpPr>
        <p:spPr>
          <a:xfrm>
            <a:off x="401782" y="314036"/>
            <a:ext cx="11790218" cy="923330"/>
          </a:xfrm>
          <a:prstGeom prst="rect">
            <a:avLst/>
          </a:prstGeom>
          <a:noFill/>
        </p:spPr>
        <p:txBody>
          <a:bodyPr wrap="square" rtlCol="0">
            <a:spAutoFit/>
          </a:bodyPr>
          <a:lstStyle/>
          <a:p>
            <a:r>
              <a:rPr lang="en-US" sz="3600" b="1" u="sng"/>
              <a:t>Strategic Considerations in the Use of Repressive Violence:</a:t>
            </a:r>
          </a:p>
          <a:p>
            <a:endParaRPr lang="en-US"/>
          </a:p>
        </p:txBody>
      </p:sp>
    </p:spTree>
    <p:extLst>
      <p:ext uri="{BB962C8B-B14F-4D97-AF65-F5344CB8AC3E}">
        <p14:creationId xmlns:p14="http://schemas.microsoft.com/office/powerpoint/2010/main" val="929180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6D32EE-D476-7F14-31CA-7E90FDEBF418}"/>
              </a:ext>
            </a:extLst>
          </p:cNvPr>
          <p:cNvSpPr txBox="1"/>
          <p:nvPr/>
        </p:nvSpPr>
        <p:spPr>
          <a:xfrm>
            <a:off x="401782" y="314036"/>
            <a:ext cx="11790218" cy="1661993"/>
          </a:xfrm>
          <a:prstGeom prst="rect">
            <a:avLst/>
          </a:prstGeom>
          <a:noFill/>
        </p:spPr>
        <p:txBody>
          <a:bodyPr wrap="square" rtlCol="0">
            <a:spAutoFit/>
          </a:bodyPr>
          <a:lstStyle/>
          <a:p>
            <a:r>
              <a:rPr lang="en-US" sz="3600" b="1" u="sng"/>
              <a:t>Strategic Considerations in the Use of Repressive Violence:</a:t>
            </a:r>
          </a:p>
          <a:p>
            <a:endParaRPr lang="en-US"/>
          </a:p>
          <a:p>
            <a:pPr marL="285750" indent="-285750">
              <a:buFont typeface="Arial" panose="020B0604020202020204" pitchFamily="34" charset="0"/>
              <a:buChar char="•"/>
            </a:pPr>
            <a:r>
              <a:rPr lang="en-US" sz="2400"/>
              <a:t>Leaders of repressive regimes typically rely on support from both “hardliner” and “liberal” factions of elites.</a:t>
            </a:r>
          </a:p>
        </p:txBody>
      </p:sp>
    </p:spTree>
    <p:extLst>
      <p:ext uri="{BB962C8B-B14F-4D97-AF65-F5344CB8AC3E}">
        <p14:creationId xmlns:p14="http://schemas.microsoft.com/office/powerpoint/2010/main" val="33566935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6D32EE-D476-7F14-31CA-7E90FDEBF418}"/>
              </a:ext>
            </a:extLst>
          </p:cNvPr>
          <p:cNvSpPr txBox="1"/>
          <p:nvPr/>
        </p:nvSpPr>
        <p:spPr>
          <a:xfrm>
            <a:off x="401782" y="314036"/>
            <a:ext cx="11790218" cy="2400657"/>
          </a:xfrm>
          <a:prstGeom prst="rect">
            <a:avLst/>
          </a:prstGeom>
          <a:noFill/>
        </p:spPr>
        <p:txBody>
          <a:bodyPr wrap="square" rtlCol="0">
            <a:spAutoFit/>
          </a:bodyPr>
          <a:lstStyle/>
          <a:p>
            <a:r>
              <a:rPr lang="en-US" sz="3600" b="1" u="sng"/>
              <a:t>Strategic Considerations in the Use of Repressive Violence:</a:t>
            </a:r>
          </a:p>
          <a:p>
            <a:endParaRPr lang="en-US"/>
          </a:p>
          <a:p>
            <a:pPr marL="285750" indent="-285750">
              <a:buFont typeface="Arial" panose="020B0604020202020204" pitchFamily="34" charset="0"/>
              <a:buChar char="•"/>
            </a:pPr>
            <a:r>
              <a:rPr lang="en-US" sz="2400"/>
              <a:t>Leaders of repressive regimes typically rely on support from both “hardliner” and “liberal” factions of elites.</a:t>
            </a:r>
          </a:p>
          <a:p>
            <a:pPr marL="285750" indent="-285750">
              <a:buFont typeface="Arial" panose="020B0604020202020204" pitchFamily="34" charset="0"/>
              <a:buChar char="•"/>
            </a:pPr>
            <a:r>
              <a:rPr lang="en-US" sz="2400"/>
              <a:t>“Hardliners” typically want the leaders to be unrestrained and brutal in their use of violence against dissidents.</a:t>
            </a:r>
          </a:p>
        </p:txBody>
      </p:sp>
    </p:spTree>
    <p:extLst>
      <p:ext uri="{BB962C8B-B14F-4D97-AF65-F5344CB8AC3E}">
        <p14:creationId xmlns:p14="http://schemas.microsoft.com/office/powerpoint/2010/main" val="17294632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6D32EE-D476-7F14-31CA-7E90FDEBF418}"/>
              </a:ext>
            </a:extLst>
          </p:cNvPr>
          <p:cNvSpPr txBox="1"/>
          <p:nvPr/>
        </p:nvSpPr>
        <p:spPr>
          <a:xfrm>
            <a:off x="401782" y="314036"/>
            <a:ext cx="11790218" cy="3139321"/>
          </a:xfrm>
          <a:prstGeom prst="rect">
            <a:avLst/>
          </a:prstGeom>
          <a:noFill/>
        </p:spPr>
        <p:txBody>
          <a:bodyPr wrap="square" rtlCol="0">
            <a:spAutoFit/>
          </a:bodyPr>
          <a:lstStyle/>
          <a:p>
            <a:r>
              <a:rPr lang="en-US" sz="3600" b="1" u="sng" dirty="0"/>
              <a:t>Strategic Considerations in the Use of Repressive Violence:</a:t>
            </a:r>
          </a:p>
          <a:p>
            <a:endParaRPr lang="en-US" dirty="0"/>
          </a:p>
          <a:p>
            <a:pPr marL="285750" indent="-285750">
              <a:buFont typeface="Arial" panose="020B0604020202020204" pitchFamily="34" charset="0"/>
              <a:buChar char="•"/>
            </a:pPr>
            <a:r>
              <a:rPr lang="en-US" sz="2400" dirty="0"/>
              <a:t>Leaders of repressive regimes typically rely on support from both “hardliner” and “liberal” factions of elites.</a:t>
            </a:r>
          </a:p>
          <a:p>
            <a:pPr marL="285750" indent="-285750">
              <a:buFont typeface="Arial" panose="020B0604020202020204" pitchFamily="34" charset="0"/>
              <a:buChar char="•"/>
            </a:pPr>
            <a:r>
              <a:rPr lang="en-US" sz="2400" dirty="0"/>
              <a:t>“Hardliners” typically want the leaders to be unrestrained and brutal in their use of violence against dissidents.</a:t>
            </a:r>
          </a:p>
          <a:p>
            <a:pPr marL="285750" indent="-285750">
              <a:buFont typeface="Arial" panose="020B0604020202020204" pitchFamily="34" charset="0"/>
              <a:buChar char="•"/>
            </a:pPr>
            <a:r>
              <a:rPr lang="en-US" sz="2400" dirty="0"/>
              <a:t>“Liberals” typically want the leaders to use minimal or no violence to repress the subordinated population.</a:t>
            </a:r>
          </a:p>
        </p:txBody>
      </p:sp>
    </p:spTree>
    <p:extLst>
      <p:ext uri="{BB962C8B-B14F-4D97-AF65-F5344CB8AC3E}">
        <p14:creationId xmlns:p14="http://schemas.microsoft.com/office/powerpoint/2010/main" val="9208225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6D32EE-D476-7F14-31CA-7E90FDEBF418}"/>
              </a:ext>
            </a:extLst>
          </p:cNvPr>
          <p:cNvSpPr txBox="1"/>
          <p:nvPr/>
        </p:nvSpPr>
        <p:spPr>
          <a:xfrm>
            <a:off x="401782" y="314036"/>
            <a:ext cx="11790218" cy="4985980"/>
          </a:xfrm>
          <a:prstGeom prst="rect">
            <a:avLst/>
          </a:prstGeom>
          <a:noFill/>
        </p:spPr>
        <p:txBody>
          <a:bodyPr wrap="square" rtlCol="0">
            <a:spAutoFit/>
          </a:bodyPr>
          <a:lstStyle/>
          <a:p>
            <a:r>
              <a:rPr lang="en-US" sz="3600" b="1" u="sng" dirty="0"/>
              <a:t>Strategic Considerations in the Use of Repressive Violence:</a:t>
            </a:r>
          </a:p>
          <a:p>
            <a:endParaRPr lang="en-US" dirty="0"/>
          </a:p>
          <a:p>
            <a:pPr marL="285750" indent="-285750">
              <a:buFont typeface="Arial" panose="020B0604020202020204" pitchFamily="34" charset="0"/>
              <a:buChar char="•"/>
            </a:pPr>
            <a:r>
              <a:rPr lang="en-US" sz="2400" dirty="0"/>
              <a:t>Leaders of repressive regimes typically rely on support from both “hardliner” and “liberal” factions of elites.</a:t>
            </a:r>
          </a:p>
          <a:p>
            <a:pPr marL="285750" indent="-285750">
              <a:buFont typeface="Arial" panose="020B0604020202020204" pitchFamily="34" charset="0"/>
              <a:buChar char="•"/>
            </a:pPr>
            <a:r>
              <a:rPr lang="en-US" sz="2400" dirty="0"/>
              <a:t>“Hardliners” typically want the leaders to be unrestrained and brutal in their use of violence against dissidents.</a:t>
            </a:r>
          </a:p>
          <a:p>
            <a:pPr marL="285750" indent="-285750">
              <a:buFont typeface="Arial" panose="020B0604020202020204" pitchFamily="34" charset="0"/>
              <a:buChar char="•"/>
            </a:pPr>
            <a:r>
              <a:rPr lang="en-US" sz="2400" dirty="0"/>
              <a:t>“Liberals” typically want the leaders to use minimal or no violence to repress the subordinated population.</a:t>
            </a:r>
          </a:p>
          <a:p>
            <a:pPr marL="285750" indent="-285750">
              <a:buFont typeface="Arial" panose="020B0604020202020204" pitchFamily="34" charset="0"/>
              <a:buChar char="•"/>
            </a:pPr>
            <a:r>
              <a:rPr lang="en-US" sz="2400" b="1" dirty="0"/>
              <a:t>When leaders expect little or no protest</a:t>
            </a:r>
            <a:r>
              <a:rPr lang="en-US" sz="2400" dirty="0"/>
              <a:t>, they benefit from an official policy in which any protest is met with unrestrained violence.  This makes the hardliners happy and doesn’t offend the liberals, because little or no protest occurs and thus little or no unrestrained violence occurs;</a:t>
            </a:r>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2294168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6D32EE-D476-7F14-31CA-7E90FDEBF418}"/>
              </a:ext>
            </a:extLst>
          </p:cNvPr>
          <p:cNvSpPr txBox="1"/>
          <p:nvPr/>
        </p:nvSpPr>
        <p:spPr>
          <a:xfrm>
            <a:off x="401782" y="314036"/>
            <a:ext cx="11790218" cy="5724644"/>
          </a:xfrm>
          <a:prstGeom prst="rect">
            <a:avLst/>
          </a:prstGeom>
          <a:noFill/>
        </p:spPr>
        <p:txBody>
          <a:bodyPr wrap="square" rtlCol="0">
            <a:spAutoFit/>
          </a:bodyPr>
          <a:lstStyle/>
          <a:p>
            <a:r>
              <a:rPr lang="en-US" sz="3600" b="1" u="sng" dirty="0"/>
              <a:t>Strategic Considerations in the Use of Repressive Violence:</a:t>
            </a:r>
          </a:p>
          <a:p>
            <a:endParaRPr lang="en-US" dirty="0"/>
          </a:p>
          <a:p>
            <a:pPr marL="285750" indent="-285750">
              <a:buFont typeface="Arial" panose="020B0604020202020204" pitchFamily="34" charset="0"/>
              <a:buChar char="•"/>
            </a:pPr>
            <a:r>
              <a:rPr lang="en-US" sz="2400" dirty="0"/>
              <a:t>Leaders of repressive regimes typically rely on support from both “hardliner” and “liberal” factions of elites.</a:t>
            </a:r>
          </a:p>
          <a:p>
            <a:pPr marL="285750" indent="-285750">
              <a:buFont typeface="Arial" panose="020B0604020202020204" pitchFamily="34" charset="0"/>
              <a:buChar char="•"/>
            </a:pPr>
            <a:r>
              <a:rPr lang="en-US" sz="2400" dirty="0"/>
              <a:t>“Hardliners” typically want the leaders to be unrestrained and brutal in their use of violence against dissidents.</a:t>
            </a:r>
          </a:p>
          <a:p>
            <a:pPr marL="285750" indent="-285750">
              <a:buFont typeface="Arial" panose="020B0604020202020204" pitchFamily="34" charset="0"/>
              <a:buChar char="•"/>
            </a:pPr>
            <a:r>
              <a:rPr lang="en-US" sz="2400" dirty="0"/>
              <a:t>“Liberals” typically want the leaders to use minimal or no violence to repress the subordinated population.</a:t>
            </a:r>
          </a:p>
          <a:p>
            <a:pPr marL="285750" indent="-285750">
              <a:buFont typeface="Arial" panose="020B0604020202020204" pitchFamily="34" charset="0"/>
              <a:buChar char="•"/>
            </a:pPr>
            <a:r>
              <a:rPr lang="en-US" sz="2400" b="1" dirty="0"/>
              <a:t>When leaders expect little or no protest</a:t>
            </a:r>
            <a:r>
              <a:rPr lang="en-US" sz="2400" dirty="0"/>
              <a:t>, they benefit from an official policy in which any protest is met with unrestrained violence.  This makes the hardliners happy and doesn’t offend the liberals, because little or no protest occurs and thus little or no unrestrained violence occurs;</a:t>
            </a:r>
          </a:p>
          <a:p>
            <a:pPr marL="285750" indent="-285750">
              <a:buFont typeface="Arial" panose="020B0604020202020204" pitchFamily="34" charset="0"/>
              <a:buChar char="•"/>
            </a:pPr>
            <a:r>
              <a:rPr lang="en-US" sz="2400" dirty="0"/>
              <a:t>But </a:t>
            </a:r>
            <a:r>
              <a:rPr lang="en-US" sz="2400" b="1" dirty="0"/>
              <a:t>when leaders expect frequent or large protests</a:t>
            </a:r>
            <a:r>
              <a:rPr lang="en-US" sz="2400" dirty="0"/>
              <a:t>, a policy of restrained violence is often better for them.  If protests are frequent and large, overwhelming violence will end up in the media and can cause liberal elites to withdraw their support for the regime.</a:t>
            </a:r>
          </a:p>
        </p:txBody>
      </p:sp>
    </p:spTree>
    <p:extLst>
      <p:ext uri="{BB962C8B-B14F-4D97-AF65-F5344CB8AC3E}">
        <p14:creationId xmlns:p14="http://schemas.microsoft.com/office/powerpoint/2010/main" val="6012877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6">
            <a:extLst>
              <a:ext uri="{FF2B5EF4-FFF2-40B4-BE49-F238E27FC236}">
                <a16:creationId xmlns:a16="http://schemas.microsoft.com/office/drawing/2014/main" id="{AA96D1DF-3491-1F4B-3A0A-98E8AB13B1E1}"/>
              </a:ext>
            </a:extLst>
          </p:cNvPr>
          <p:cNvGraphicFramePr>
            <a:graphicFrameLocks noGrp="1"/>
          </p:cNvGraphicFramePr>
          <p:nvPr/>
        </p:nvGraphicFramePr>
        <p:xfrm>
          <a:off x="2032000" y="1642188"/>
          <a:ext cx="8128000" cy="192024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Organizer’s Expectation about How Local Regine will Respond to Protests</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r>
                        <a:rPr lang="en-US"/>
                        <a:t>Overwhelming violence</a:t>
                      </a:r>
                    </a:p>
                  </a:txBody>
                  <a:tcPr/>
                </a:tc>
                <a:tc>
                  <a:txBody>
                    <a:bodyPr/>
                    <a:lstStyle/>
                    <a:p>
                      <a:r>
                        <a:rPr lang="en-US"/>
                        <a:t>Prefers to </a:t>
                      </a:r>
                      <a:r>
                        <a:rPr lang="en-US" b="1"/>
                        <a:t>not organize protests </a:t>
                      </a:r>
                      <a:r>
                        <a:rPr lang="en-US"/>
                        <a:t>instead of organizing protests</a:t>
                      </a:r>
                    </a:p>
                  </a:txBody>
                  <a:tcPr/>
                </a:tc>
                <a:extLst>
                  <a:ext uri="{0D108BD9-81ED-4DB2-BD59-A6C34878D82A}">
                    <a16:rowId xmlns:a16="http://schemas.microsoft.com/office/drawing/2014/main" val="3886148278"/>
                  </a:ext>
                </a:extLst>
              </a:tr>
              <a:tr h="370840">
                <a:tc>
                  <a:txBody>
                    <a:bodyPr/>
                    <a:lstStyle/>
                    <a:p>
                      <a:r>
                        <a:rPr lang="en-US"/>
                        <a:t>Limited violence</a:t>
                      </a:r>
                    </a:p>
                  </a:txBody>
                  <a:tcPr/>
                </a:tc>
                <a:tc>
                  <a:txBody>
                    <a:bodyPr/>
                    <a:lstStyle/>
                    <a:p>
                      <a:r>
                        <a:rPr lang="en-US"/>
                        <a:t>Prefers to </a:t>
                      </a:r>
                      <a:r>
                        <a:rPr lang="en-US" b="1"/>
                        <a:t>organize protests </a:t>
                      </a:r>
                      <a:r>
                        <a:rPr lang="en-US"/>
                        <a:t>instead of not organizing protest</a:t>
                      </a:r>
                    </a:p>
                  </a:txBody>
                  <a:tcPr/>
                </a:tc>
                <a:extLst>
                  <a:ext uri="{0D108BD9-81ED-4DB2-BD59-A6C34878D82A}">
                    <a16:rowId xmlns:a16="http://schemas.microsoft.com/office/drawing/2014/main" val="2122126296"/>
                  </a:ext>
                </a:extLst>
              </a:tr>
            </a:tbl>
          </a:graphicData>
        </a:graphic>
      </p:graphicFrame>
    </p:spTree>
    <p:extLst>
      <p:ext uri="{BB962C8B-B14F-4D97-AF65-F5344CB8AC3E}">
        <p14:creationId xmlns:p14="http://schemas.microsoft.com/office/powerpoint/2010/main" val="21954295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6">
            <a:extLst>
              <a:ext uri="{FF2B5EF4-FFF2-40B4-BE49-F238E27FC236}">
                <a16:creationId xmlns:a16="http://schemas.microsoft.com/office/drawing/2014/main" id="{AA96D1DF-3491-1F4B-3A0A-98E8AB13B1E1}"/>
              </a:ext>
            </a:extLst>
          </p:cNvPr>
          <p:cNvGraphicFramePr>
            <a:graphicFrameLocks noGrp="1"/>
          </p:cNvGraphicFramePr>
          <p:nvPr/>
        </p:nvGraphicFramePr>
        <p:xfrm>
          <a:off x="2032000" y="1642188"/>
          <a:ext cx="8128000" cy="192024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Organizer’s Expectation about How Local Regine will Respond to Protests</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r>
                        <a:rPr lang="en-US"/>
                        <a:t>Overwhelming violence</a:t>
                      </a:r>
                    </a:p>
                  </a:txBody>
                  <a:tcPr/>
                </a:tc>
                <a:tc>
                  <a:txBody>
                    <a:bodyPr/>
                    <a:lstStyle/>
                    <a:p>
                      <a:r>
                        <a:rPr lang="en-US"/>
                        <a:t>Prefers to </a:t>
                      </a:r>
                      <a:r>
                        <a:rPr lang="en-US" b="1"/>
                        <a:t>not organize protests </a:t>
                      </a:r>
                      <a:r>
                        <a:rPr lang="en-US"/>
                        <a:t>instead of organizing protests</a:t>
                      </a:r>
                    </a:p>
                  </a:txBody>
                  <a:tcPr/>
                </a:tc>
                <a:extLst>
                  <a:ext uri="{0D108BD9-81ED-4DB2-BD59-A6C34878D82A}">
                    <a16:rowId xmlns:a16="http://schemas.microsoft.com/office/drawing/2014/main" val="3886148278"/>
                  </a:ext>
                </a:extLst>
              </a:tr>
              <a:tr h="370840">
                <a:tc>
                  <a:txBody>
                    <a:bodyPr/>
                    <a:lstStyle/>
                    <a:p>
                      <a:r>
                        <a:rPr lang="en-US"/>
                        <a:t>Limited violence</a:t>
                      </a:r>
                    </a:p>
                  </a:txBody>
                  <a:tcPr/>
                </a:tc>
                <a:tc>
                  <a:txBody>
                    <a:bodyPr/>
                    <a:lstStyle/>
                    <a:p>
                      <a:r>
                        <a:rPr lang="en-US"/>
                        <a:t>Prefers to </a:t>
                      </a:r>
                      <a:r>
                        <a:rPr lang="en-US" b="1"/>
                        <a:t>organize protests </a:t>
                      </a:r>
                      <a:r>
                        <a:rPr lang="en-US"/>
                        <a:t>instead of not organizing protest</a:t>
                      </a:r>
                    </a:p>
                  </a:txBody>
                  <a:tcPr/>
                </a:tc>
                <a:extLst>
                  <a:ext uri="{0D108BD9-81ED-4DB2-BD59-A6C34878D82A}">
                    <a16:rowId xmlns:a16="http://schemas.microsoft.com/office/drawing/2014/main" val="2122126296"/>
                  </a:ext>
                </a:extLst>
              </a:tr>
            </a:tbl>
          </a:graphicData>
        </a:graphic>
      </p:graphicFrame>
      <p:graphicFrame>
        <p:nvGraphicFramePr>
          <p:cNvPr id="3" name="Table 6">
            <a:extLst>
              <a:ext uri="{FF2B5EF4-FFF2-40B4-BE49-F238E27FC236}">
                <a16:creationId xmlns:a16="http://schemas.microsoft.com/office/drawing/2014/main" id="{049A85DB-5755-ECBC-6961-979338769EE7}"/>
              </a:ext>
            </a:extLst>
          </p:cNvPr>
          <p:cNvGraphicFramePr>
            <a:graphicFrameLocks noGrp="1"/>
          </p:cNvGraphicFramePr>
          <p:nvPr/>
        </p:nvGraphicFramePr>
        <p:xfrm>
          <a:off x="2032000" y="3794068"/>
          <a:ext cx="8128000" cy="246888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Regime Leader’s Expectation about Whether protests will occur</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r>
                        <a:rPr lang="en-US"/>
                        <a:t>Protests will occur</a:t>
                      </a:r>
                    </a:p>
                  </a:txBody>
                  <a:tcPr/>
                </a:tc>
                <a:tc>
                  <a:txBody>
                    <a:bodyPr/>
                    <a:lstStyle/>
                    <a:p>
                      <a:r>
                        <a:rPr lang="en-US"/>
                        <a:t>Prefers to </a:t>
                      </a:r>
                      <a:r>
                        <a:rPr lang="en-US" b="1"/>
                        <a:t>order limited violence </a:t>
                      </a:r>
                      <a:r>
                        <a:rPr lang="en-US" b="0"/>
                        <a:t>instead of overwhelming violence in response to any protests</a:t>
                      </a:r>
                      <a:endParaRPr lang="en-US"/>
                    </a:p>
                  </a:txBody>
                  <a:tcPr/>
                </a:tc>
                <a:extLst>
                  <a:ext uri="{0D108BD9-81ED-4DB2-BD59-A6C34878D82A}">
                    <a16:rowId xmlns:a16="http://schemas.microsoft.com/office/drawing/2014/main" val="3886148278"/>
                  </a:ext>
                </a:extLst>
              </a:tr>
              <a:tr h="370840">
                <a:tc>
                  <a:txBody>
                    <a:bodyPr/>
                    <a:lstStyle/>
                    <a:p>
                      <a:r>
                        <a:rPr lang="en-US"/>
                        <a:t>No protests will occur</a:t>
                      </a:r>
                    </a:p>
                  </a:txBody>
                  <a:tcPr/>
                </a:tc>
                <a:tc>
                  <a:txBody>
                    <a:bodyPr/>
                    <a:lstStyle/>
                    <a:p>
                      <a:r>
                        <a:rPr lang="en-US"/>
                        <a:t>Prefers to </a:t>
                      </a:r>
                      <a:r>
                        <a:rPr lang="en-US" b="1"/>
                        <a:t>order overwhelming violence </a:t>
                      </a:r>
                      <a:r>
                        <a:rPr lang="en-US"/>
                        <a:t>instead of limited violence in response to any protest</a:t>
                      </a:r>
                    </a:p>
                  </a:txBody>
                  <a:tcPr/>
                </a:tc>
                <a:extLst>
                  <a:ext uri="{0D108BD9-81ED-4DB2-BD59-A6C34878D82A}">
                    <a16:rowId xmlns:a16="http://schemas.microsoft.com/office/drawing/2014/main" val="2122126296"/>
                  </a:ext>
                </a:extLst>
              </a:tr>
            </a:tbl>
          </a:graphicData>
        </a:graphic>
      </p:graphicFrame>
    </p:spTree>
    <p:extLst>
      <p:ext uri="{BB962C8B-B14F-4D97-AF65-F5344CB8AC3E}">
        <p14:creationId xmlns:p14="http://schemas.microsoft.com/office/powerpoint/2010/main" val="15068642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6">
            <a:extLst>
              <a:ext uri="{FF2B5EF4-FFF2-40B4-BE49-F238E27FC236}">
                <a16:creationId xmlns:a16="http://schemas.microsoft.com/office/drawing/2014/main" id="{AA96D1DF-3491-1F4B-3A0A-98E8AB13B1E1}"/>
              </a:ext>
            </a:extLst>
          </p:cNvPr>
          <p:cNvGraphicFramePr>
            <a:graphicFrameLocks noGrp="1"/>
          </p:cNvGraphicFramePr>
          <p:nvPr/>
        </p:nvGraphicFramePr>
        <p:xfrm>
          <a:off x="2032000" y="1642188"/>
          <a:ext cx="8128000" cy="192024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Organizer’s Expectation about How Local Regine will Respond to Protests</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r>
                        <a:rPr lang="en-US"/>
                        <a:t>Overwhelming violence</a:t>
                      </a:r>
                    </a:p>
                  </a:txBody>
                  <a:tcPr/>
                </a:tc>
                <a:tc>
                  <a:txBody>
                    <a:bodyPr/>
                    <a:lstStyle/>
                    <a:p>
                      <a:r>
                        <a:rPr lang="en-US"/>
                        <a:t>Prefers to </a:t>
                      </a:r>
                      <a:r>
                        <a:rPr lang="en-US" b="1"/>
                        <a:t>not organize protests </a:t>
                      </a:r>
                      <a:r>
                        <a:rPr lang="en-US"/>
                        <a:t>instead of organizing protests</a:t>
                      </a:r>
                    </a:p>
                  </a:txBody>
                  <a:tcPr/>
                </a:tc>
                <a:extLst>
                  <a:ext uri="{0D108BD9-81ED-4DB2-BD59-A6C34878D82A}">
                    <a16:rowId xmlns:a16="http://schemas.microsoft.com/office/drawing/2014/main" val="3886148278"/>
                  </a:ext>
                </a:extLst>
              </a:tr>
              <a:tr h="370840">
                <a:tc>
                  <a:txBody>
                    <a:bodyPr/>
                    <a:lstStyle/>
                    <a:p>
                      <a:r>
                        <a:rPr lang="en-US"/>
                        <a:t>Limited violence</a:t>
                      </a:r>
                    </a:p>
                  </a:txBody>
                  <a:tcPr/>
                </a:tc>
                <a:tc>
                  <a:txBody>
                    <a:bodyPr/>
                    <a:lstStyle/>
                    <a:p>
                      <a:r>
                        <a:rPr lang="en-US"/>
                        <a:t>Prefers to </a:t>
                      </a:r>
                      <a:r>
                        <a:rPr lang="en-US" b="1"/>
                        <a:t>organize protests </a:t>
                      </a:r>
                      <a:r>
                        <a:rPr lang="en-US"/>
                        <a:t>instead of not organizing protest</a:t>
                      </a:r>
                    </a:p>
                  </a:txBody>
                  <a:tcPr/>
                </a:tc>
                <a:extLst>
                  <a:ext uri="{0D108BD9-81ED-4DB2-BD59-A6C34878D82A}">
                    <a16:rowId xmlns:a16="http://schemas.microsoft.com/office/drawing/2014/main" val="2122126296"/>
                  </a:ext>
                </a:extLst>
              </a:tr>
            </a:tbl>
          </a:graphicData>
        </a:graphic>
      </p:graphicFrame>
      <p:graphicFrame>
        <p:nvGraphicFramePr>
          <p:cNvPr id="3" name="Table 6">
            <a:extLst>
              <a:ext uri="{FF2B5EF4-FFF2-40B4-BE49-F238E27FC236}">
                <a16:creationId xmlns:a16="http://schemas.microsoft.com/office/drawing/2014/main" id="{049A85DB-5755-ECBC-6961-979338769EE7}"/>
              </a:ext>
            </a:extLst>
          </p:cNvPr>
          <p:cNvGraphicFramePr>
            <a:graphicFrameLocks noGrp="1"/>
          </p:cNvGraphicFramePr>
          <p:nvPr/>
        </p:nvGraphicFramePr>
        <p:xfrm>
          <a:off x="2032000" y="3794068"/>
          <a:ext cx="8128000" cy="246888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Regime Leader’s Expectation about Whether protests will occur</a:t>
                      </a:r>
                    </a:p>
                  </a:txBody>
                  <a:tcPr/>
                </a:tc>
                <a:tc>
                  <a:txBody>
                    <a:bodyPr/>
                    <a:lstStyle/>
                    <a:p>
                      <a:r>
                        <a:rPr lang="en-US" b="1"/>
                        <a:t>Organizer’s preferences over his actions</a:t>
                      </a:r>
                    </a:p>
                  </a:txBody>
                  <a:tcPr/>
                </a:tc>
                <a:extLst>
                  <a:ext uri="{0D108BD9-81ED-4DB2-BD59-A6C34878D82A}">
                    <a16:rowId xmlns:a16="http://schemas.microsoft.com/office/drawing/2014/main" val="1139305021"/>
                  </a:ext>
                </a:extLst>
              </a:tr>
              <a:tr h="370840">
                <a:tc>
                  <a:txBody>
                    <a:bodyPr/>
                    <a:lstStyle/>
                    <a:p>
                      <a:r>
                        <a:rPr lang="en-US"/>
                        <a:t>Protests will occur</a:t>
                      </a:r>
                    </a:p>
                  </a:txBody>
                  <a:tcPr/>
                </a:tc>
                <a:tc>
                  <a:txBody>
                    <a:bodyPr/>
                    <a:lstStyle/>
                    <a:p>
                      <a:r>
                        <a:rPr lang="en-US"/>
                        <a:t>Prefers to </a:t>
                      </a:r>
                      <a:r>
                        <a:rPr lang="en-US" b="1"/>
                        <a:t>order limited violence </a:t>
                      </a:r>
                      <a:r>
                        <a:rPr lang="en-US" b="0"/>
                        <a:t>instead of overwhelming violence in response to any protests</a:t>
                      </a:r>
                      <a:endParaRPr lang="en-US"/>
                    </a:p>
                  </a:txBody>
                  <a:tcPr/>
                </a:tc>
                <a:extLst>
                  <a:ext uri="{0D108BD9-81ED-4DB2-BD59-A6C34878D82A}">
                    <a16:rowId xmlns:a16="http://schemas.microsoft.com/office/drawing/2014/main" val="3886148278"/>
                  </a:ext>
                </a:extLst>
              </a:tr>
              <a:tr h="370840">
                <a:tc>
                  <a:txBody>
                    <a:bodyPr/>
                    <a:lstStyle/>
                    <a:p>
                      <a:r>
                        <a:rPr lang="en-US"/>
                        <a:t>No protests will occur</a:t>
                      </a:r>
                    </a:p>
                  </a:txBody>
                  <a:tcPr/>
                </a:tc>
                <a:tc>
                  <a:txBody>
                    <a:bodyPr/>
                    <a:lstStyle/>
                    <a:p>
                      <a:r>
                        <a:rPr lang="en-US"/>
                        <a:t>Prefers to </a:t>
                      </a:r>
                      <a:r>
                        <a:rPr lang="en-US" b="1"/>
                        <a:t>order overwhelming violence </a:t>
                      </a:r>
                      <a:r>
                        <a:rPr lang="en-US"/>
                        <a:t>instead of limited violence in response to any protest</a:t>
                      </a:r>
                    </a:p>
                  </a:txBody>
                  <a:tcPr/>
                </a:tc>
                <a:extLst>
                  <a:ext uri="{0D108BD9-81ED-4DB2-BD59-A6C34878D82A}">
                    <a16:rowId xmlns:a16="http://schemas.microsoft.com/office/drawing/2014/main" val="2122126296"/>
                  </a:ext>
                </a:extLst>
              </a:tr>
            </a:tbl>
          </a:graphicData>
        </a:graphic>
      </p:graphicFrame>
      <p:sp>
        <p:nvSpPr>
          <p:cNvPr id="4" name="TextBox 3">
            <a:extLst>
              <a:ext uri="{FF2B5EF4-FFF2-40B4-BE49-F238E27FC236}">
                <a16:creationId xmlns:a16="http://schemas.microsoft.com/office/drawing/2014/main" id="{805A0737-098B-0261-3B46-17DF92280634}"/>
              </a:ext>
            </a:extLst>
          </p:cNvPr>
          <p:cNvSpPr txBox="1"/>
          <p:nvPr/>
        </p:nvSpPr>
        <p:spPr>
          <a:xfrm>
            <a:off x="691014" y="326039"/>
            <a:ext cx="10809972" cy="1200329"/>
          </a:xfrm>
          <a:prstGeom prst="rect">
            <a:avLst/>
          </a:prstGeom>
          <a:solidFill>
            <a:srgbClr val="FFFF00"/>
          </a:solidFill>
          <a:ln w="28575">
            <a:solidFill>
              <a:schemeClr val="tx1"/>
            </a:solidFill>
          </a:ln>
        </p:spPr>
        <p:txBody>
          <a:bodyPr wrap="square" rtlCol="0">
            <a:spAutoFit/>
          </a:bodyPr>
          <a:lstStyle/>
          <a:p>
            <a:r>
              <a:rPr lang="en-US" sz="2400" b="1"/>
              <a:t>THIS</a:t>
            </a:r>
            <a:r>
              <a:rPr lang="en-US" sz="2400"/>
              <a:t> is strategic interdependence because it is a </a:t>
            </a:r>
            <a:r>
              <a:rPr lang="en-US" sz="2400" b="1"/>
              <a:t>mutual condition</a:t>
            </a:r>
            <a:r>
              <a:rPr lang="en-US" sz="2400"/>
              <a:t> between an organizer and a regime leader in which each person’s preferences over her available actions depend on her expectations about what the other person will do!</a:t>
            </a:r>
          </a:p>
        </p:txBody>
      </p:sp>
    </p:spTree>
    <p:extLst>
      <p:ext uri="{BB962C8B-B14F-4D97-AF65-F5344CB8AC3E}">
        <p14:creationId xmlns:p14="http://schemas.microsoft.com/office/powerpoint/2010/main" val="7967789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D0D89-523A-4644-A510-6608790C161C}"/>
              </a:ext>
            </a:extLst>
          </p:cNvPr>
          <p:cNvSpPr txBox="1"/>
          <p:nvPr/>
        </p:nvSpPr>
        <p:spPr>
          <a:xfrm>
            <a:off x="290051" y="442452"/>
            <a:ext cx="11611897" cy="707886"/>
          </a:xfrm>
          <a:prstGeom prst="rect">
            <a:avLst/>
          </a:prstGeom>
          <a:noFill/>
        </p:spPr>
        <p:txBody>
          <a:bodyPr wrap="square" rtlCol="0">
            <a:spAutoFit/>
          </a:bodyPr>
          <a:lstStyle/>
          <a:p>
            <a:pPr algn="ctr"/>
            <a:r>
              <a:rPr lang="en-US" sz="4000" b="1" u="sng"/>
              <a:t>A much simpler (and much less interesting) example</a:t>
            </a:r>
          </a:p>
        </p:txBody>
      </p:sp>
    </p:spTree>
    <p:extLst>
      <p:ext uri="{BB962C8B-B14F-4D97-AF65-F5344CB8AC3E}">
        <p14:creationId xmlns:p14="http://schemas.microsoft.com/office/powerpoint/2010/main" val="14524387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D0D89-523A-4644-A510-6608790C161C}"/>
              </a:ext>
            </a:extLst>
          </p:cNvPr>
          <p:cNvSpPr txBox="1"/>
          <p:nvPr/>
        </p:nvSpPr>
        <p:spPr>
          <a:xfrm>
            <a:off x="290051" y="442452"/>
            <a:ext cx="11611897" cy="707886"/>
          </a:xfrm>
          <a:prstGeom prst="rect">
            <a:avLst/>
          </a:prstGeom>
          <a:noFill/>
        </p:spPr>
        <p:txBody>
          <a:bodyPr wrap="square" rtlCol="0">
            <a:spAutoFit/>
          </a:bodyPr>
          <a:lstStyle/>
          <a:p>
            <a:pPr algn="ctr"/>
            <a:r>
              <a:rPr lang="en-US" sz="4000" b="1" u="sng"/>
              <a:t>A much simpler (and much less interesting) example</a:t>
            </a:r>
          </a:p>
        </p:txBody>
      </p:sp>
      <p:sp>
        <p:nvSpPr>
          <p:cNvPr id="3" name="TextBox 2">
            <a:extLst>
              <a:ext uri="{FF2B5EF4-FFF2-40B4-BE49-F238E27FC236}">
                <a16:creationId xmlns:a16="http://schemas.microsoft.com/office/drawing/2014/main" id="{CE2D9ED5-1E6A-0BA6-72C6-284588D14C4B}"/>
              </a:ext>
            </a:extLst>
          </p:cNvPr>
          <p:cNvSpPr txBox="1"/>
          <p:nvPr/>
        </p:nvSpPr>
        <p:spPr>
          <a:xfrm>
            <a:off x="2153264" y="1366685"/>
            <a:ext cx="7885470" cy="584775"/>
          </a:xfrm>
          <a:prstGeom prst="rect">
            <a:avLst/>
          </a:prstGeom>
          <a:noFill/>
        </p:spPr>
        <p:txBody>
          <a:bodyPr wrap="square" rtlCol="0">
            <a:spAutoFit/>
          </a:bodyPr>
          <a:lstStyle/>
          <a:p>
            <a:r>
              <a:rPr lang="en-US" sz="3200"/>
              <a:t>On which side of the road do I prefer to drive?</a:t>
            </a:r>
          </a:p>
        </p:txBody>
      </p:sp>
    </p:spTree>
    <p:extLst>
      <p:ext uri="{BB962C8B-B14F-4D97-AF65-F5344CB8AC3E}">
        <p14:creationId xmlns:p14="http://schemas.microsoft.com/office/powerpoint/2010/main" val="8453841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D0D89-523A-4644-A510-6608790C161C}"/>
              </a:ext>
            </a:extLst>
          </p:cNvPr>
          <p:cNvSpPr txBox="1"/>
          <p:nvPr/>
        </p:nvSpPr>
        <p:spPr>
          <a:xfrm>
            <a:off x="290051" y="442452"/>
            <a:ext cx="11611897" cy="707886"/>
          </a:xfrm>
          <a:prstGeom prst="rect">
            <a:avLst/>
          </a:prstGeom>
          <a:noFill/>
        </p:spPr>
        <p:txBody>
          <a:bodyPr wrap="square" rtlCol="0">
            <a:spAutoFit/>
          </a:bodyPr>
          <a:lstStyle/>
          <a:p>
            <a:pPr algn="ctr"/>
            <a:r>
              <a:rPr lang="en-US" sz="4000" b="1" u="sng"/>
              <a:t>A much simpler (and much less interesting) example</a:t>
            </a:r>
          </a:p>
        </p:txBody>
      </p:sp>
      <p:sp>
        <p:nvSpPr>
          <p:cNvPr id="3" name="TextBox 2">
            <a:extLst>
              <a:ext uri="{FF2B5EF4-FFF2-40B4-BE49-F238E27FC236}">
                <a16:creationId xmlns:a16="http://schemas.microsoft.com/office/drawing/2014/main" id="{CE2D9ED5-1E6A-0BA6-72C6-284588D14C4B}"/>
              </a:ext>
            </a:extLst>
          </p:cNvPr>
          <p:cNvSpPr txBox="1"/>
          <p:nvPr/>
        </p:nvSpPr>
        <p:spPr>
          <a:xfrm>
            <a:off x="2153264" y="1366685"/>
            <a:ext cx="7885470" cy="584775"/>
          </a:xfrm>
          <a:prstGeom prst="rect">
            <a:avLst/>
          </a:prstGeom>
          <a:noFill/>
        </p:spPr>
        <p:txBody>
          <a:bodyPr wrap="square" rtlCol="0">
            <a:spAutoFit/>
          </a:bodyPr>
          <a:lstStyle/>
          <a:p>
            <a:r>
              <a:rPr lang="en-US" sz="3200"/>
              <a:t>On which side of the road do I prefer to drive?</a:t>
            </a:r>
          </a:p>
        </p:txBody>
      </p:sp>
      <p:graphicFrame>
        <p:nvGraphicFramePr>
          <p:cNvPr id="5" name="Table 6">
            <a:extLst>
              <a:ext uri="{FF2B5EF4-FFF2-40B4-BE49-F238E27FC236}">
                <a16:creationId xmlns:a16="http://schemas.microsoft.com/office/drawing/2014/main" id="{B96D4AFD-3984-3066-F677-FD91BBB2B51D}"/>
              </a:ext>
            </a:extLst>
          </p:cNvPr>
          <p:cNvGraphicFramePr>
            <a:graphicFrameLocks noGrp="1"/>
          </p:cNvGraphicFramePr>
          <p:nvPr/>
        </p:nvGraphicFramePr>
        <p:xfrm>
          <a:off x="2031999" y="2123062"/>
          <a:ext cx="8128000" cy="138176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My expectation about the side of the road on which others will drive</a:t>
                      </a:r>
                    </a:p>
                  </a:txBody>
                  <a:tcPr/>
                </a:tc>
                <a:tc>
                  <a:txBody>
                    <a:bodyPr/>
                    <a:lstStyle/>
                    <a:p>
                      <a:r>
                        <a:rPr lang="en-US" b="1"/>
                        <a:t>My preferences over the side of the road on which I drive</a:t>
                      </a:r>
                    </a:p>
                  </a:txBody>
                  <a:tcPr/>
                </a:tc>
                <a:extLst>
                  <a:ext uri="{0D108BD9-81ED-4DB2-BD59-A6C34878D82A}">
                    <a16:rowId xmlns:a16="http://schemas.microsoft.com/office/drawing/2014/main" val="1139305021"/>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3886148278"/>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122126296"/>
                  </a:ext>
                </a:extLst>
              </a:tr>
            </a:tbl>
          </a:graphicData>
        </a:graphic>
      </p:graphicFrame>
    </p:spTree>
    <p:extLst>
      <p:ext uri="{BB962C8B-B14F-4D97-AF65-F5344CB8AC3E}">
        <p14:creationId xmlns:p14="http://schemas.microsoft.com/office/powerpoint/2010/main" val="10647265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D0D89-523A-4644-A510-6608790C161C}"/>
              </a:ext>
            </a:extLst>
          </p:cNvPr>
          <p:cNvSpPr txBox="1"/>
          <p:nvPr/>
        </p:nvSpPr>
        <p:spPr>
          <a:xfrm>
            <a:off x="290051" y="442452"/>
            <a:ext cx="11611897" cy="707886"/>
          </a:xfrm>
          <a:prstGeom prst="rect">
            <a:avLst/>
          </a:prstGeom>
          <a:noFill/>
        </p:spPr>
        <p:txBody>
          <a:bodyPr wrap="square" rtlCol="0">
            <a:spAutoFit/>
          </a:bodyPr>
          <a:lstStyle/>
          <a:p>
            <a:pPr algn="ctr"/>
            <a:r>
              <a:rPr lang="en-US" sz="4000" b="1" u="sng"/>
              <a:t>A much simpler (and much less interesting) example</a:t>
            </a:r>
          </a:p>
        </p:txBody>
      </p:sp>
      <p:sp>
        <p:nvSpPr>
          <p:cNvPr id="3" name="TextBox 2">
            <a:extLst>
              <a:ext uri="{FF2B5EF4-FFF2-40B4-BE49-F238E27FC236}">
                <a16:creationId xmlns:a16="http://schemas.microsoft.com/office/drawing/2014/main" id="{CE2D9ED5-1E6A-0BA6-72C6-284588D14C4B}"/>
              </a:ext>
            </a:extLst>
          </p:cNvPr>
          <p:cNvSpPr txBox="1"/>
          <p:nvPr/>
        </p:nvSpPr>
        <p:spPr>
          <a:xfrm>
            <a:off x="2153264" y="1366685"/>
            <a:ext cx="7885470" cy="584775"/>
          </a:xfrm>
          <a:prstGeom prst="rect">
            <a:avLst/>
          </a:prstGeom>
          <a:noFill/>
        </p:spPr>
        <p:txBody>
          <a:bodyPr wrap="square" rtlCol="0">
            <a:spAutoFit/>
          </a:bodyPr>
          <a:lstStyle/>
          <a:p>
            <a:r>
              <a:rPr lang="en-US" sz="3200"/>
              <a:t>On which side of the road do I prefer to drive?</a:t>
            </a:r>
          </a:p>
        </p:txBody>
      </p:sp>
      <p:graphicFrame>
        <p:nvGraphicFramePr>
          <p:cNvPr id="5" name="Table 6">
            <a:extLst>
              <a:ext uri="{FF2B5EF4-FFF2-40B4-BE49-F238E27FC236}">
                <a16:creationId xmlns:a16="http://schemas.microsoft.com/office/drawing/2014/main" id="{B96D4AFD-3984-3066-F677-FD91BBB2B51D}"/>
              </a:ext>
            </a:extLst>
          </p:cNvPr>
          <p:cNvGraphicFramePr>
            <a:graphicFrameLocks noGrp="1"/>
          </p:cNvGraphicFramePr>
          <p:nvPr/>
        </p:nvGraphicFramePr>
        <p:xfrm>
          <a:off x="2031999" y="2123062"/>
          <a:ext cx="8128000" cy="165100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My expectation about the side of the road on which others will drive</a:t>
                      </a:r>
                    </a:p>
                  </a:txBody>
                  <a:tcPr/>
                </a:tc>
                <a:tc>
                  <a:txBody>
                    <a:bodyPr/>
                    <a:lstStyle/>
                    <a:p>
                      <a:r>
                        <a:rPr lang="en-US" b="1"/>
                        <a:t>My preferences over the side of the road on which I drive</a:t>
                      </a:r>
                    </a:p>
                  </a:txBody>
                  <a:tcPr/>
                </a:tc>
                <a:extLst>
                  <a:ext uri="{0D108BD9-81ED-4DB2-BD59-A6C34878D82A}">
                    <a16:rowId xmlns:a16="http://schemas.microsoft.com/office/drawing/2014/main" val="1139305021"/>
                  </a:ext>
                </a:extLst>
              </a:tr>
              <a:tr h="370840">
                <a:tc>
                  <a:txBody>
                    <a:bodyPr/>
                    <a:lstStyle/>
                    <a:p>
                      <a:r>
                        <a:rPr lang="en-US"/>
                        <a:t>Others will drive on the </a:t>
                      </a:r>
                      <a:r>
                        <a:rPr lang="en-US" b="1"/>
                        <a:t>right-hand</a:t>
                      </a:r>
                      <a:r>
                        <a:rPr lang="en-US"/>
                        <a:t> side</a:t>
                      </a:r>
                    </a:p>
                  </a:txBody>
                  <a:tcPr/>
                </a:tc>
                <a:tc>
                  <a:txBody>
                    <a:bodyPr/>
                    <a:lstStyle/>
                    <a:p>
                      <a:r>
                        <a:rPr lang="en-US" b="1"/>
                        <a:t>I prefer to drive on the right-hand</a:t>
                      </a:r>
                      <a:r>
                        <a:rPr lang="en-US"/>
                        <a:t> instead of the left-hand side.</a:t>
                      </a:r>
                    </a:p>
                  </a:txBody>
                  <a:tcPr/>
                </a:tc>
                <a:extLst>
                  <a:ext uri="{0D108BD9-81ED-4DB2-BD59-A6C34878D82A}">
                    <a16:rowId xmlns:a16="http://schemas.microsoft.com/office/drawing/2014/main" val="3886148278"/>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122126296"/>
                  </a:ext>
                </a:extLst>
              </a:tr>
            </a:tbl>
          </a:graphicData>
        </a:graphic>
      </p:graphicFrame>
    </p:spTree>
    <p:extLst>
      <p:ext uri="{BB962C8B-B14F-4D97-AF65-F5344CB8AC3E}">
        <p14:creationId xmlns:p14="http://schemas.microsoft.com/office/powerpoint/2010/main" val="6107980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D0D89-523A-4644-A510-6608790C161C}"/>
              </a:ext>
            </a:extLst>
          </p:cNvPr>
          <p:cNvSpPr txBox="1"/>
          <p:nvPr/>
        </p:nvSpPr>
        <p:spPr>
          <a:xfrm>
            <a:off x="290051" y="442452"/>
            <a:ext cx="11611897" cy="707886"/>
          </a:xfrm>
          <a:prstGeom prst="rect">
            <a:avLst/>
          </a:prstGeom>
          <a:noFill/>
        </p:spPr>
        <p:txBody>
          <a:bodyPr wrap="square" rtlCol="0">
            <a:spAutoFit/>
          </a:bodyPr>
          <a:lstStyle/>
          <a:p>
            <a:pPr algn="ctr"/>
            <a:r>
              <a:rPr lang="en-US" sz="4000" b="1" u="sng"/>
              <a:t>A much simpler (and much less interesting) example</a:t>
            </a:r>
          </a:p>
        </p:txBody>
      </p:sp>
      <p:sp>
        <p:nvSpPr>
          <p:cNvPr id="3" name="TextBox 2">
            <a:extLst>
              <a:ext uri="{FF2B5EF4-FFF2-40B4-BE49-F238E27FC236}">
                <a16:creationId xmlns:a16="http://schemas.microsoft.com/office/drawing/2014/main" id="{CE2D9ED5-1E6A-0BA6-72C6-284588D14C4B}"/>
              </a:ext>
            </a:extLst>
          </p:cNvPr>
          <p:cNvSpPr txBox="1"/>
          <p:nvPr/>
        </p:nvSpPr>
        <p:spPr>
          <a:xfrm>
            <a:off x="2153264" y="1366685"/>
            <a:ext cx="7885470" cy="584775"/>
          </a:xfrm>
          <a:prstGeom prst="rect">
            <a:avLst/>
          </a:prstGeom>
          <a:noFill/>
        </p:spPr>
        <p:txBody>
          <a:bodyPr wrap="square" rtlCol="0">
            <a:spAutoFit/>
          </a:bodyPr>
          <a:lstStyle/>
          <a:p>
            <a:r>
              <a:rPr lang="en-US" sz="3200"/>
              <a:t>On which side of the road do I prefer to drive?</a:t>
            </a:r>
          </a:p>
        </p:txBody>
      </p:sp>
      <p:graphicFrame>
        <p:nvGraphicFramePr>
          <p:cNvPr id="5" name="Table 6">
            <a:extLst>
              <a:ext uri="{FF2B5EF4-FFF2-40B4-BE49-F238E27FC236}">
                <a16:creationId xmlns:a16="http://schemas.microsoft.com/office/drawing/2014/main" id="{B96D4AFD-3984-3066-F677-FD91BBB2B51D}"/>
              </a:ext>
            </a:extLst>
          </p:cNvPr>
          <p:cNvGraphicFramePr>
            <a:graphicFrameLocks noGrp="1"/>
          </p:cNvGraphicFramePr>
          <p:nvPr/>
        </p:nvGraphicFramePr>
        <p:xfrm>
          <a:off x="2031999" y="2123062"/>
          <a:ext cx="8128000" cy="192024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My expectation about the side of the road on which others will drive</a:t>
                      </a:r>
                    </a:p>
                  </a:txBody>
                  <a:tcPr/>
                </a:tc>
                <a:tc>
                  <a:txBody>
                    <a:bodyPr/>
                    <a:lstStyle/>
                    <a:p>
                      <a:r>
                        <a:rPr lang="en-US" b="1"/>
                        <a:t>My preferences over the side of the road on which I drive</a:t>
                      </a:r>
                    </a:p>
                  </a:txBody>
                  <a:tcPr/>
                </a:tc>
                <a:extLst>
                  <a:ext uri="{0D108BD9-81ED-4DB2-BD59-A6C34878D82A}">
                    <a16:rowId xmlns:a16="http://schemas.microsoft.com/office/drawing/2014/main" val="1139305021"/>
                  </a:ext>
                </a:extLst>
              </a:tr>
              <a:tr h="370840">
                <a:tc>
                  <a:txBody>
                    <a:bodyPr/>
                    <a:lstStyle/>
                    <a:p>
                      <a:r>
                        <a:rPr lang="en-US"/>
                        <a:t>Others will drive on the </a:t>
                      </a:r>
                      <a:r>
                        <a:rPr lang="en-US" b="1"/>
                        <a:t>right-hand</a:t>
                      </a:r>
                      <a:r>
                        <a:rPr lang="en-US"/>
                        <a:t> side</a:t>
                      </a:r>
                    </a:p>
                  </a:txBody>
                  <a:tcPr/>
                </a:tc>
                <a:tc>
                  <a:txBody>
                    <a:bodyPr/>
                    <a:lstStyle/>
                    <a:p>
                      <a:r>
                        <a:rPr lang="en-US" b="1"/>
                        <a:t>I prefer to drive on the right-hand</a:t>
                      </a:r>
                      <a:r>
                        <a:rPr lang="en-US"/>
                        <a:t> instead of the left-hand side.</a:t>
                      </a:r>
                    </a:p>
                  </a:txBody>
                  <a:tcPr/>
                </a:tc>
                <a:extLst>
                  <a:ext uri="{0D108BD9-81ED-4DB2-BD59-A6C34878D82A}">
                    <a16:rowId xmlns:a16="http://schemas.microsoft.com/office/drawing/2014/main" val="3886148278"/>
                  </a:ext>
                </a:extLst>
              </a:tr>
              <a:tr h="370840">
                <a:tc>
                  <a:txBody>
                    <a:bodyPr/>
                    <a:lstStyle/>
                    <a:p>
                      <a:r>
                        <a:rPr lang="en-US"/>
                        <a:t>Others will drive on the </a:t>
                      </a:r>
                      <a:r>
                        <a:rPr lang="en-US" b="1"/>
                        <a:t>left-hand</a:t>
                      </a:r>
                      <a:r>
                        <a:rPr lang="en-US"/>
                        <a:t> side</a:t>
                      </a:r>
                    </a:p>
                  </a:txBody>
                  <a:tcPr/>
                </a:tc>
                <a:tc>
                  <a:txBody>
                    <a:bodyPr/>
                    <a:lstStyle/>
                    <a:p>
                      <a:r>
                        <a:rPr lang="en-US" b="1"/>
                        <a:t>I prefer to drive on the left-hand </a:t>
                      </a:r>
                      <a:r>
                        <a:rPr lang="en-US"/>
                        <a:t>instead of the right-hand side.</a:t>
                      </a:r>
                    </a:p>
                  </a:txBody>
                  <a:tcPr/>
                </a:tc>
                <a:extLst>
                  <a:ext uri="{0D108BD9-81ED-4DB2-BD59-A6C34878D82A}">
                    <a16:rowId xmlns:a16="http://schemas.microsoft.com/office/drawing/2014/main" val="2122126296"/>
                  </a:ext>
                </a:extLst>
              </a:tr>
            </a:tbl>
          </a:graphicData>
        </a:graphic>
      </p:graphicFrame>
    </p:spTree>
    <p:extLst>
      <p:ext uri="{BB962C8B-B14F-4D97-AF65-F5344CB8AC3E}">
        <p14:creationId xmlns:p14="http://schemas.microsoft.com/office/powerpoint/2010/main" val="28116309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D0D89-523A-4644-A510-6608790C161C}"/>
              </a:ext>
            </a:extLst>
          </p:cNvPr>
          <p:cNvSpPr txBox="1"/>
          <p:nvPr/>
        </p:nvSpPr>
        <p:spPr>
          <a:xfrm>
            <a:off x="290051" y="442452"/>
            <a:ext cx="11611897" cy="707886"/>
          </a:xfrm>
          <a:prstGeom prst="rect">
            <a:avLst/>
          </a:prstGeom>
          <a:noFill/>
        </p:spPr>
        <p:txBody>
          <a:bodyPr wrap="square" rtlCol="0">
            <a:spAutoFit/>
          </a:bodyPr>
          <a:lstStyle/>
          <a:p>
            <a:pPr algn="ctr"/>
            <a:r>
              <a:rPr lang="en-US" sz="4000" b="1" u="sng"/>
              <a:t>A much simpler (and much less interesting) example</a:t>
            </a:r>
          </a:p>
        </p:txBody>
      </p:sp>
      <p:sp>
        <p:nvSpPr>
          <p:cNvPr id="3" name="TextBox 2">
            <a:extLst>
              <a:ext uri="{FF2B5EF4-FFF2-40B4-BE49-F238E27FC236}">
                <a16:creationId xmlns:a16="http://schemas.microsoft.com/office/drawing/2014/main" id="{CE2D9ED5-1E6A-0BA6-72C6-284588D14C4B}"/>
              </a:ext>
            </a:extLst>
          </p:cNvPr>
          <p:cNvSpPr txBox="1"/>
          <p:nvPr/>
        </p:nvSpPr>
        <p:spPr>
          <a:xfrm>
            <a:off x="2153264" y="1366685"/>
            <a:ext cx="7885470" cy="584775"/>
          </a:xfrm>
          <a:prstGeom prst="rect">
            <a:avLst/>
          </a:prstGeom>
          <a:noFill/>
        </p:spPr>
        <p:txBody>
          <a:bodyPr wrap="square" rtlCol="0">
            <a:spAutoFit/>
          </a:bodyPr>
          <a:lstStyle/>
          <a:p>
            <a:r>
              <a:rPr lang="en-US" sz="3200"/>
              <a:t>On which side of the road do I prefer to drive?</a:t>
            </a:r>
          </a:p>
        </p:txBody>
      </p:sp>
      <p:graphicFrame>
        <p:nvGraphicFramePr>
          <p:cNvPr id="5" name="Table 6">
            <a:extLst>
              <a:ext uri="{FF2B5EF4-FFF2-40B4-BE49-F238E27FC236}">
                <a16:creationId xmlns:a16="http://schemas.microsoft.com/office/drawing/2014/main" id="{B96D4AFD-3984-3066-F677-FD91BBB2B51D}"/>
              </a:ext>
            </a:extLst>
          </p:cNvPr>
          <p:cNvGraphicFramePr>
            <a:graphicFrameLocks noGrp="1"/>
          </p:cNvGraphicFramePr>
          <p:nvPr/>
        </p:nvGraphicFramePr>
        <p:xfrm>
          <a:off x="2031999" y="2123062"/>
          <a:ext cx="8128000" cy="1920240"/>
        </p:xfrm>
        <a:graphic>
          <a:graphicData uri="http://schemas.openxmlformats.org/drawingml/2006/table">
            <a:tbl>
              <a:tblPr firstRow="1" bandRow="1"/>
              <a:tblGrid>
                <a:gridCol w="4064000">
                  <a:extLst>
                    <a:ext uri="{9D8B030D-6E8A-4147-A177-3AD203B41FA5}">
                      <a16:colId xmlns:a16="http://schemas.microsoft.com/office/drawing/2014/main" val="3612156838"/>
                    </a:ext>
                  </a:extLst>
                </a:gridCol>
                <a:gridCol w="4064000">
                  <a:extLst>
                    <a:ext uri="{9D8B030D-6E8A-4147-A177-3AD203B41FA5}">
                      <a16:colId xmlns:a16="http://schemas.microsoft.com/office/drawing/2014/main" val="2165539561"/>
                    </a:ext>
                  </a:extLst>
                </a:gridCol>
              </a:tblGrid>
              <a:tr h="370840">
                <a:tc>
                  <a:txBody>
                    <a:bodyPr/>
                    <a:lstStyle/>
                    <a:p>
                      <a:r>
                        <a:rPr lang="en-US" b="1"/>
                        <a:t>My expectation about the side of the road on which others will drive</a:t>
                      </a:r>
                    </a:p>
                  </a:txBody>
                  <a:tcPr/>
                </a:tc>
                <a:tc>
                  <a:txBody>
                    <a:bodyPr/>
                    <a:lstStyle/>
                    <a:p>
                      <a:r>
                        <a:rPr lang="en-US" b="1"/>
                        <a:t>My preferences over the side of the road on which I drive</a:t>
                      </a:r>
                    </a:p>
                  </a:txBody>
                  <a:tcPr/>
                </a:tc>
                <a:extLst>
                  <a:ext uri="{0D108BD9-81ED-4DB2-BD59-A6C34878D82A}">
                    <a16:rowId xmlns:a16="http://schemas.microsoft.com/office/drawing/2014/main" val="1139305021"/>
                  </a:ext>
                </a:extLst>
              </a:tr>
              <a:tr h="370840">
                <a:tc>
                  <a:txBody>
                    <a:bodyPr/>
                    <a:lstStyle/>
                    <a:p>
                      <a:r>
                        <a:rPr lang="en-US"/>
                        <a:t>Others will drive on the </a:t>
                      </a:r>
                      <a:r>
                        <a:rPr lang="en-US" b="1"/>
                        <a:t>right-hand</a:t>
                      </a:r>
                      <a:r>
                        <a:rPr lang="en-US"/>
                        <a:t> side</a:t>
                      </a:r>
                    </a:p>
                  </a:txBody>
                  <a:tcPr/>
                </a:tc>
                <a:tc>
                  <a:txBody>
                    <a:bodyPr/>
                    <a:lstStyle/>
                    <a:p>
                      <a:r>
                        <a:rPr lang="en-US" b="1"/>
                        <a:t>I prefer to drive on the right-hand</a:t>
                      </a:r>
                      <a:r>
                        <a:rPr lang="en-US"/>
                        <a:t> instead of the left-hand side.</a:t>
                      </a:r>
                    </a:p>
                  </a:txBody>
                  <a:tcPr/>
                </a:tc>
                <a:extLst>
                  <a:ext uri="{0D108BD9-81ED-4DB2-BD59-A6C34878D82A}">
                    <a16:rowId xmlns:a16="http://schemas.microsoft.com/office/drawing/2014/main" val="3886148278"/>
                  </a:ext>
                </a:extLst>
              </a:tr>
              <a:tr h="370840">
                <a:tc>
                  <a:txBody>
                    <a:bodyPr/>
                    <a:lstStyle/>
                    <a:p>
                      <a:r>
                        <a:rPr lang="en-US"/>
                        <a:t>Others will drive on the </a:t>
                      </a:r>
                      <a:r>
                        <a:rPr lang="en-US" b="1"/>
                        <a:t>left-hand</a:t>
                      </a:r>
                      <a:r>
                        <a:rPr lang="en-US"/>
                        <a:t> side</a:t>
                      </a:r>
                    </a:p>
                  </a:txBody>
                  <a:tcPr/>
                </a:tc>
                <a:tc>
                  <a:txBody>
                    <a:bodyPr/>
                    <a:lstStyle/>
                    <a:p>
                      <a:r>
                        <a:rPr lang="en-US" b="1"/>
                        <a:t>I prefer to drive on the left-hand </a:t>
                      </a:r>
                      <a:r>
                        <a:rPr lang="en-US"/>
                        <a:t>instead of the right-hand side.</a:t>
                      </a:r>
                    </a:p>
                  </a:txBody>
                  <a:tcPr/>
                </a:tc>
                <a:extLst>
                  <a:ext uri="{0D108BD9-81ED-4DB2-BD59-A6C34878D82A}">
                    <a16:rowId xmlns:a16="http://schemas.microsoft.com/office/drawing/2014/main" val="2122126296"/>
                  </a:ext>
                </a:extLst>
              </a:tr>
            </a:tbl>
          </a:graphicData>
        </a:graphic>
      </p:graphicFrame>
      <p:sp>
        <p:nvSpPr>
          <p:cNvPr id="6" name="TextBox 5">
            <a:extLst>
              <a:ext uri="{FF2B5EF4-FFF2-40B4-BE49-F238E27FC236}">
                <a16:creationId xmlns:a16="http://schemas.microsoft.com/office/drawing/2014/main" id="{1323A94E-E37B-2783-D07C-6EFC425E94EC}"/>
              </a:ext>
            </a:extLst>
          </p:cNvPr>
          <p:cNvSpPr txBox="1"/>
          <p:nvPr/>
        </p:nvSpPr>
        <p:spPr>
          <a:xfrm>
            <a:off x="691013" y="4214904"/>
            <a:ext cx="10809972" cy="2308324"/>
          </a:xfrm>
          <a:prstGeom prst="rect">
            <a:avLst/>
          </a:prstGeom>
          <a:solidFill>
            <a:srgbClr val="FFFF00"/>
          </a:solidFill>
          <a:ln w="28575">
            <a:solidFill>
              <a:schemeClr val="tx1"/>
            </a:solidFill>
          </a:ln>
        </p:spPr>
        <p:txBody>
          <a:bodyPr wrap="square" rtlCol="0">
            <a:spAutoFit/>
          </a:bodyPr>
          <a:lstStyle/>
          <a:p>
            <a:r>
              <a:rPr lang="en-US" sz="2400" b="1"/>
              <a:t>EACH</a:t>
            </a:r>
            <a:r>
              <a:rPr lang="en-US" sz="2400"/>
              <a:t> driver’s preferences over which side to drive on similarly depend on her expectations about what every other drive will do!</a:t>
            </a:r>
          </a:p>
          <a:p>
            <a:endParaRPr lang="en-US" sz="2400"/>
          </a:p>
          <a:p>
            <a:r>
              <a:rPr lang="en-US" sz="2400"/>
              <a:t>Thus this is a </a:t>
            </a:r>
            <a:r>
              <a:rPr lang="en-US" sz="2400" b="1"/>
              <a:t>mutual condition</a:t>
            </a:r>
            <a:r>
              <a:rPr lang="en-US" sz="2400"/>
              <a:t>!</a:t>
            </a:r>
          </a:p>
          <a:p>
            <a:endParaRPr lang="en-US" sz="2400"/>
          </a:p>
          <a:p>
            <a:r>
              <a:rPr lang="en-US" sz="2400"/>
              <a:t>Thus this is </a:t>
            </a:r>
            <a:r>
              <a:rPr lang="en-US" sz="2400" b="1"/>
              <a:t>strategic interdependence</a:t>
            </a:r>
            <a:r>
              <a:rPr lang="en-US" sz="2400"/>
              <a:t>!</a:t>
            </a:r>
          </a:p>
        </p:txBody>
      </p:sp>
    </p:spTree>
    <p:extLst>
      <p:ext uri="{BB962C8B-B14F-4D97-AF65-F5344CB8AC3E}">
        <p14:creationId xmlns:p14="http://schemas.microsoft.com/office/powerpoint/2010/main" val="40393740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5DB5B0-5980-313C-43BF-3E93FBE1E0B1}"/>
              </a:ext>
            </a:extLst>
          </p:cNvPr>
          <p:cNvSpPr txBox="1"/>
          <p:nvPr/>
        </p:nvSpPr>
        <p:spPr>
          <a:xfrm>
            <a:off x="2549236" y="251597"/>
            <a:ext cx="6936509" cy="646331"/>
          </a:xfrm>
          <a:prstGeom prst="rect">
            <a:avLst/>
          </a:prstGeom>
          <a:noFill/>
        </p:spPr>
        <p:txBody>
          <a:bodyPr wrap="square" rtlCol="0">
            <a:spAutoFit/>
          </a:bodyPr>
          <a:lstStyle/>
          <a:p>
            <a:pPr algn="ctr"/>
            <a:r>
              <a:rPr lang="en-US" sz="3600" b="1" u="sng"/>
              <a:t>Key Concepts &amp; Tools for Lesson 5</a:t>
            </a:r>
          </a:p>
        </p:txBody>
      </p:sp>
      <p:sp>
        <p:nvSpPr>
          <p:cNvPr id="3" name="TextBox 2">
            <a:extLst>
              <a:ext uri="{FF2B5EF4-FFF2-40B4-BE49-F238E27FC236}">
                <a16:creationId xmlns:a16="http://schemas.microsoft.com/office/drawing/2014/main" id="{33ED1077-CB76-494F-030C-449A5CD9FF2B}"/>
              </a:ext>
            </a:extLst>
          </p:cNvPr>
          <p:cNvSpPr txBox="1"/>
          <p:nvPr/>
        </p:nvSpPr>
        <p:spPr>
          <a:xfrm>
            <a:off x="1188604" y="3592127"/>
            <a:ext cx="4572000" cy="584775"/>
          </a:xfrm>
          <a:prstGeom prst="rect">
            <a:avLst/>
          </a:prstGeom>
          <a:noFill/>
        </p:spPr>
        <p:txBody>
          <a:bodyPr wrap="square" rtlCol="0">
            <a:spAutoFit/>
          </a:bodyPr>
          <a:lstStyle/>
          <a:p>
            <a:pPr algn="ctr"/>
            <a:r>
              <a:rPr lang="en-US" sz="3200"/>
              <a:t>Strategic Interdependence</a:t>
            </a:r>
          </a:p>
        </p:txBody>
      </p:sp>
      <p:sp>
        <p:nvSpPr>
          <p:cNvPr id="4" name="TextBox 3">
            <a:extLst>
              <a:ext uri="{FF2B5EF4-FFF2-40B4-BE49-F238E27FC236}">
                <a16:creationId xmlns:a16="http://schemas.microsoft.com/office/drawing/2014/main" id="{4F0E1918-687D-2149-4BDF-2F0DE1D73819}"/>
              </a:ext>
            </a:extLst>
          </p:cNvPr>
          <p:cNvSpPr txBox="1"/>
          <p:nvPr/>
        </p:nvSpPr>
        <p:spPr>
          <a:xfrm>
            <a:off x="7408719" y="3676650"/>
            <a:ext cx="4802909" cy="2554545"/>
          </a:xfrm>
          <a:prstGeom prst="rect">
            <a:avLst/>
          </a:prstGeom>
          <a:noFill/>
        </p:spPr>
        <p:txBody>
          <a:bodyPr wrap="square" rtlCol="0">
            <a:spAutoFit/>
          </a:bodyPr>
          <a:lstStyle/>
          <a:p>
            <a:r>
              <a:rPr lang="en-US" sz="3200"/>
              <a:t>Simultaneous Move Game</a:t>
            </a:r>
          </a:p>
          <a:p>
            <a:r>
              <a:rPr lang="en-US" sz="3200"/>
              <a:t>Profiles of Actions</a:t>
            </a:r>
          </a:p>
          <a:p>
            <a:r>
              <a:rPr lang="en-US" sz="3200"/>
              <a:t>Payoff Function</a:t>
            </a:r>
          </a:p>
          <a:p>
            <a:r>
              <a:rPr lang="en-US" sz="3200"/>
              <a:t>2-by-2 Game</a:t>
            </a:r>
          </a:p>
          <a:p>
            <a:r>
              <a:rPr lang="en-US" sz="3200"/>
              <a:t>Matrix Form</a:t>
            </a:r>
          </a:p>
        </p:txBody>
      </p:sp>
      <p:sp>
        <p:nvSpPr>
          <p:cNvPr id="5" name="TextBox 4">
            <a:extLst>
              <a:ext uri="{FF2B5EF4-FFF2-40B4-BE49-F238E27FC236}">
                <a16:creationId xmlns:a16="http://schemas.microsoft.com/office/drawing/2014/main" id="{336D17A4-F4FF-9964-C72A-1EF244C4EED6}"/>
              </a:ext>
            </a:extLst>
          </p:cNvPr>
          <p:cNvSpPr txBox="1"/>
          <p:nvPr/>
        </p:nvSpPr>
        <p:spPr>
          <a:xfrm>
            <a:off x="6794500" y="3091875"/>
            <a:ext cx="4802909" cy="584775"/>
          </a:xfrm>
          <a:prstGeom prst="rect">
            <a:avLst/>
          </a:prstGeom>
          <a:noFill/>
        </p:spPr>
        <p:txBody>
          <a:bodyPr wrap="square" rtlCol="0">
            <a:spAutoFit/>
          </a:bodyPr>
          <a:lstStyle/>
          <a:p>
            <a:r>
              <a:rPr lang="en-US" sz="3200"/>
              <a:t>Game Theoretic Models</a:t>
            </a:r>
          </a:p>
        </p:txBody>
      </p:sp>
      <p:sp>
        <p:nvSpPr>
          <p:cNvPr id="6" name="Rectangle 5">
            <a:extLst>
              <a:ext uri="{FF2B5EF4-FFF2-40B4-BE49-F238E27FC236}">
                <a16:creationId xmlns:a16="http://schemas.microsoft.com/office/drawing/2014/main" id="{341E5162-77EA-4807-58B5-1445A2DECCF4}"/>
              </a:ext>
            </a:extLst>
          </p:cNvPr>
          <p:cNvSpPr/>
          <p:nvPr/>
        </p:nvSpPr>
        <p:spPr>
          <a:xfrm>
            <a:off x="868791" y="3718259"/>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DD8A83B-FD3F-553F-849D-EF51710D39C0}"/>
              </a:ext>
            </a:extLst>
          </p:cNvPr>
          <p:cNvSpPr/>
          <p:nvPr/>
        </p:nvSpPr>
        <p:spPr>
          <a:xfrm>
            <a:off x="6404262" y="3218007"/>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D46BF27-AB45-A049-71C9-E64C4C27E4D5}"/>
              </a:ext>
            </a:extLst>
          </p:cNvPr>
          <p:cNvSpPr/>
          <p:nvPr/>
        </p:nvSpPr>
        <p:spPr>
          <a:xfrm>
            <a:off x="7087749" y="3821263"/>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7A5D56D-E36D-11CA-8222-E8AFC1A20235}"/>
              </a:ext>
            </a:extLst>
          </p:cNvPr>
          <p:cNvSpPr/>
          <p:nvPr/>
        </p:nvSpPr>
        <p:spPr>
          <a:xfrm>
            <a:off x="7087749" y="4299553"/>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5B7C7E-2F59-99FB-D779-25346EEC4F52}"/>
              </a:ext>
            </a:extLst>
          </p:cNvPr>
          <p:cNvSpPr/>
          <p:nvPr/>
        </p:nvSpPr>
        <p:spPr>
          <a:xfrm>
            <a:off x="7092361" y="4777843"/>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B01B8BB-B6B9-0FDB-E664-94F468150153}"/>
              </a:ext>
            </a:extLst>
          </p:cNvPr>
          <p:cNvSpPr/>
          <p:nvPr/>
        </p:nvSpPr>
        <p:spPr>
          <a:xfrm>
            <a:off x="7087749" y="5294263"/>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3EDE4E-2749-1662-15F7-AFEA644F439F}"/>
              </a:ext>
            </a:extLst>
          </p:cNvPr>
          <p:cNvSpPr/>
          <p:nvPr/>
        </p:nvSpPr>
        <p:spPr>
          <a:xfrm>
            <a:off x="7090061" y="5752905"/>
            <a:ext cx="318655" cy="33250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0FB762-9571-AAAC-597A-4EE9ECF2DCF2}"/>
              </a:ext>
            </a:extLst>
          </p:cNvPr>
          <p:cNvSpPr/>
          <p:nvPr/>
        </p:nvSpPr>
        <p:spPr>
          <a:xfrm>
            <a:off x="0" y="6531881"/>
            <a:ext cx="12192000" cy="32612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2659E22-EEBF-8862-0997-6E91C47EBDE2}"/>
              </a:ext>
            </a:extLst>
          </p:cNvPr>
          <p:cNvSpPr/>
          <p:nvPr/>
        </p:nvSpPr>
        <p:spPr>
          <a:xfrm>
            <a:off x="0" y="997528"/>
            <a:ext cx="12192000" cy="55852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BE800DF-3BC8-5C68-E449-3E0451BE57B6}"/>
              </a:ext>
            </a:extLst>
          </p:cNvPr>
          <p:cNvSpPr/>
          <p:nvPr/>
        </p:nvSpPr>
        <p:spPr>
          <a:xfrm>
            <a:off x="1" y="1476375"/>
            <a:ext cx="318656" cy="5055505"/>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A385D46-E0C0-251E-14FF-12FBF3CF4851}"/>
              </a:ext>
            </a:extLst>
          </p:cNvPr>
          <p:cNvSpPr/>
          <p:nvPr/>
        </p:nvSpPr>
        <p:spPr>
          <a:xfrm>
            <a:off x="11873345" y="1556049"/>
            <a:ext cx="318656" cy="497583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59F9800-4AA9-D510-AF5C-23678DEE9825}"/>
              </a:ext>
            </a:extLst>
          </p:cNvPr>
          <p:cNvCxnSpPr/>
          <p:nvPr/>
        </p:nvCxnSpPr>
        <p:spPr>
          <a:xfrm>
            <a:off x="5920509" y="2096655"/>
            <a:ext cx="0" cy="3620654"/>
          </a:xfrm>
          <a:prstGeom prst="line">
            <a:avLst/>
          </a:prstGeom>
          <a:ln w="762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3AC8B00-B173-6619-0A51-80A7DFB0C522}"/>
              </a:ext>
            </a:extLst>
          </p:cNvPr>
          <p:cNvSpPr txBox="1"/>
          <p:nvPr/>
        </p:nvSpPr>
        <p:spPr>
          <a:xfrm>
            <a:off x="1123368" y="1647367"/>
            <a:ext cx="3990975" cy="1200329"/>
          </a:xfrm>
          <a:prstGeom prst="rect">
            <a:avLst/>
          </a:prstGeom>
          <a:noFill/>
        </p:spPr>
        <p:txBody>
          <a:bodyPr wrap="square" rtlCol="0">
            <a:spAutoFit/>
          </a:bodyPr>
          <a:lstStyle/>
          <a:p>
            <a:pPr algn="ctr"/>
            <a:r>
              <a:rPr lang="en-US" sz="3600" b="1" u="sng"/>
              <a:t>The Actual Thing in Actual Politics</a:t>
            </a:r>
          </a:p>
        </p:txBody>
      </p:sp>
      <p:sp>
        <p:nvSpPr>
          <p:cNvPr id="19" name="TextBox 18">
            <a:extLst>
              <a:ext uri="{FF2B5EF4-FFF2-40B4-BE49-F238E27FC236}">
                <a16:creationId xmlns:a16="http://schemas.microsoft.com/office/drawing/2014/main" id="{D1E89C3C-888C-E390-3B43-CCFD3B14362D}"/>
              </a:ext>
            </a:extLst>
          </p:cNvPr>
          <p:cNvSpPr txBox="1"/>
          <p:nvPr/>
        </p:nvSpPr>
        <p:spPr>
          <a:xfrm>
            <a:off x="6498720" y="1654080"/>
            <a:ext cx="4796415" cy="1200329"/>
          </a:xfrm>
          <a:prstGeom prst="rect">
            <a:avLst/>
          </a:prstGeom>
          <a:noFill/>
        </p:spPr>
        <p:txBody>
          <a:bodyPr wrap="square" rtlCol="0">
            <a:spAutoFit/>
          </a:bodyPr>
          <a:lstStyle/>
          <a:p>
            <a:pPr algn="ctr"/>
            <a:r>
              <a:rPr lang="en-US" sz="3600" b="1" u="sng"/>
              <a:t>Tools for Modeling the Actual Thing</a:t>
            </a:r>
          </a:p>
        </p:txBody>
      </p:sp>
      <p:pic>
        <p:nvPicPr>
          <p:cNvPr id="21" name="Graphic 20" descr="Checkmark with solid fill">
            <a:extLst>
              <a:ext uri="{FF2B5EF4-FFF2-40B4-BE49-F238E27FC236}">
                <a16:creationId xmlns:a16="http://schemas.microsoft.com/office/drawing/2014/main" id="{D75F75F6-0BE1-271D-8DEE-9E7BB7C0726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1777" y="3250212"/>
            <a:ext cx="914400" cy="914400"/>
          </a:xfrm>
          <a:prstGeom prst="rect">
            <a:avLst/>
          </a:prstGeom>
        </p:spPr>
      </p:pic>
    </p:spTree>
    <p:extLst>
      <p:ext uri="{BB962C8B-B14F-4D97-AF65-F5344CB8AC3E}">
        <p14:creationId xmlns:p14="http://schemas.microsoft.com/office/powerpoint/2010/main" val="20607798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C7639C-E21D-2A06-CEC8-A2BB89E21592}"/>
              </a:ext>
            </a:extLst>
          </p:cNvPr>
          <p:cNvPicPr>
            <a:picLocks noChangeAspect="1"/>
          </p:cNvPicPr>
          <p:nvPr/>
        </p:nvPicPr>
        <p:blipFill>
          <a:blip r:embed="rId2"/>
          <a:stretch>
            <a:fillRect/>
          </a:stretch>
        </p:blipFill>
        <p:spPr>
          <a:xfrm>
            <a:off x="342209" y="1354805"/>
            <a:ext cx="11361553" cy="4148390"/>
          </a:xfrm>
          <a:prstGeom prst="rect">
            <a:avLst/>
          </a:prstGeom>
        </p:spPr>
      </p:pic>
    </p:spTree>
    <p:extLst>
      <p:ext uri="{BB962C8B-B14F-4D97-AF65-F5344CB8AC3E}">
        <p14:creationId xmlns:p14="http://schemas.microsoft.com/office/powerpoint/2010/main" val="22533615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9F862C-1AFC-B2F9-192A-5C93566E3646}"/>
              </a:ext>
            </a:extLst>
          </p:cNvPr>
          <p:cNvSpPr txBox="1"/>
          <p:nvPr/>
        </p:nvSpPr>
        <p:spPr>
          <a:xfrm>
            <a:off x="2152073" y="341745"/>
            <a:ext cx="7823200" cy="769441"/>
          </a:xfrm>
          <a:prstGeom prst="rect">
            <a:avLst/>
          </a:prstGeom>
          <a:noFill/>
        </p:spPr>
        <p:txBody>
          <a:bodyPr wrap="square" rtlCol="0">
            <a:spAutoFit/>
          </a:bodyPr>
          <a:lstStyle/>
          <a:p>
            <a:pPr algn="ctr"/>
            <a:r>
              <a:rPr lang="en-US" sz="4400" b="1" u="sng"/>
              <a:t>Example: “Power in Numbers”</a:t>
            </a:r>
          </a:p>
        </p:txBody>
      </p:sp>
      <p:sp>
        <p:nvSpPr>
          <p:cNvPr id="3" name="TextBox 2">
            <a:extLst>
              <a:ext uri="{FF2B5EF4-FFF2-40B4-BE49-F238E27FC236}">
                <a16:creationId xmlns:a16="http://schemas.microsoft.com/office/drawing/2014/main" id="{10F8E2A5-E984-52AB-AC1D-60463A7439D4}"/>
              </a:ext>
            </a:extLst>
          </p:cNvPr>
          <p:cNvSpPr txBox="1"/>
          <p:nvPr/>
        </p:nvSpPr>
        <p:spPr>
          <a:xfrm>
            <a:off x="221672" y="1166842"/>
            <a:ext cx="11748655" cy="4524315"/>
          </a:xfrm>
          <a:prstGeom prst="rect">
            <a:avLst/>
          </a:prstGeom>
          <a:noFill/>
          <a:ln w="28575">
            <a:solidFill>
              <a:schemeClr val="tx1"/>
            </a:solidFill>
          </a:ln>
        </p:spPr>
        <p:txBody>
          <a:bodyPr wrap="square" rtlCol="0">
            <a:spAutoFit/>
          </a:bodyPr>
          <a:lstStyle/>
          <a:p>
            <a:r>
              <a:rPr lang="en-US" sz="2400"/>
              <a:t>The outcome of a street protest against a repressive regime can depend on the number of persons who participate.</a:t>
            </a:r>
          </a:p>
          <a:p>
            <a:endParaRPr lang="en-US" sz="2400"/>
          </a:p>
          <a:p>
            <a:r>
              <a:rPr lang="en-US" sz="2400"/>
              <a:t>If a large number participate, only a fraction of them will be imprisoned, beaten or killed and the population’s fear of the regime may be diminished.</a:t>
            </a:r>
          </a:p>
          <a:p>
            <a:endParaRPr lang="en-US" sz="2400"/>
          </a:p>
          <a:p>
            <a:r>
              <a:rPr lang="en-US" sz="2400"/>
              <a:t>If a small number participate, all will be imprisoned, beaten or killed and the population’s fear of the regime may increase.</a:t>
            </a:r>
          </a:p>
          <a:p>
            <a:endParaRPr lang="en-US" sz="2400"/>
          </a:p>
          <a:p>
            <a:r>
              <a:rPr lang="en-US" sz="2400"/>
              <a:t>Thus potential participants in a street protest are strategically interdependent: Each prefers to participate if she expects many others to participate.  Each prefers to not participate if she expects few others to participate</a:t>
            </a:r>
          </a:p>
        </p:txBody>
      </p:sp>
    </p:spTree>
    <p:extLst>
      <p:ext uri="{BB962C8B-B14F-4D97-AF65-F5344CB8AC3E}">
        <p14:creationId xmlns:p14="http://schemas.microsoft.com/office/powerpoint/2010/main" val="22933047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125962-61F7-E65B-A6FB-9E278C4A2DF5}"/>
              </a:ext>
            </a:extLst>
          </p:cNvPr>
          <p:cNvSpPr txBox="1"/>
          <p:nvPr/>
        </p:nvSpPr>
        <p:spPr>
          <a:xfrm>
            <a:off x="2152073" y="341745"/>
            <a:ext cx="7823200" cy="1446550"/>
          </a:xfrm>
          <a:prstGeom prst="rect">
            <a:avLst/>
          </a:prstGeom>
          <a:noFill/>
        </p:spPr>
        <p:txBody>
          <a:bodyPr wrap="square" rtlCol="0">
            <a:spAutoFit/>
          </a:bodyPr>
          <a:lstStyle/>
          <a:p>
            <a:pPr algn="ctr"/>
            <a:r>
              <a:rPr lang="en-US" sz="4400" b="1" u="sng"/>
              <a:t>Simultaneous Move Game Depicting “Power in Numbers”</a:t>
            </a:r>
          </a:p>
        </p:txBody>
      </p:sp>
      <p:sp>
        <p:nvSpPr>
          <p:cNvPr id="3" name="TextBox 2">
            <a:extLst>
              <a:ext uri="{FF2B5EF4-FFF2-40B4-BE49-F238E27FC236}">
                <a16:creationId xmlns:a16="http://schemas.microsoft.com/office/drawing/2014/main" id="{A8A3026E-1092-D48D-F26E-839C1DC3DD02}"/>
              </a:ext>
            </a:extLst>
          </p:cNvPr>
          <p:cNvSpPr txBox="1"/>
          <p:nvPr/>
        </p:nvSpPr>
        <p:spPr>
          <a:xfrm>
            <a:off x="387926" y="1835045"/>
            <a:ext cx="2438400" cy="523220"/>
          </a:xfrm>
          <a:prstGeom prst="rect">
            <a:avLst/>
          </a:prstGeom>
          <a:noFill/>
        </p:spPr>
        <p:txBody>
          <a:bodyPr wrap="square" rtlCol="0">
            <a:spAutoFit/>
          </a:bodyPr>
          <a:lstStyle/>
          <a:p>
            <a:r>
              <a:rPr lang="en-US" sz="2800" b="1"/>
              <a:t>Persons:</a:t>
            </a:r>
          </a:p>
        </p:txBody>
      </p:sp>
      <p:sp>
        <p:nvSpPr>
          <p:cNvPr id="4" name="TextBox 3">
            <a:extLst>
              <a:ext uri="{FF2B5EF4-FFF2-40B4-BE49-F238E27FC236}">
                <a16:creationId xmlns:a16="http://schemas.microsoft.com/office/drawing/2014/main" id="{1C8541FE-FF3B-494A-4623-4B8E4FA6E777}"/>
              </a:ext>
            </a:extLst>
          </p:cNvPr>
          <p:cNvSpPr txBox="1"/>
          <p:nvPr/>
        </p:nvSpPr>
        <p:spPr>
          <a:xfrm>
            <a:off x="387926" y="2405015"/>
            <a:ext cx="4414983" cy="523220"/>
          </a:xfrm>
          <a:prstGeom prst="rect">
            <a:avLst/>
          </a:prstGeom>
          <a:noFill/>
        </p:spPr>
        <p:txBody>
          <a:bodyPr wrap="square" rtlCol="0">
            <a:spAutoFit/>
          </a:bodyPr>
          <a:lstStyle/>
          <a:p>
            <a:r>
              <a:rPr lang="en-US" sz="2800" b="1"/>
              <a:t>Sets of Available Actions:</a:t>
            </a:r>
          </a:p>
        </p:txBody>
      </p:sp>
      <p:sp>
        <p:nvSpPr>
          <p:cNvPr id="5" name="TextBox 4">
            <a:extLst>
              <a:ext uri="{FF2B5EF4-FFF2-40B4-BE49-F238E27FC236}">
                <a16:creationId xmlns:a16="http://schemas.microsoft.com/office/drawing/2014/main" id="{51797310-705A-0FA4-457E-44EDEF290C20}"/>
              </a:ext>
            </a:extLst>
          </p:cNvPr>
          <p:cNvSpPr txBox="1"/>
          <p:nvPr/>
        </p:nvSpPr>
        <p:spPr>
          <a:xfrm>
            <a:off x="387926" y="2928235"/>
            <a:ext cx="2955637" cy="523220"/>
          </a:xfrm>
          <a:prstGeom prst="rect">
            <a:avLst/>
          </a:prstGeom>
          <a:noFill/>
        </p:spPr>
        <p:txBody>
          <a:bodyPr wrap="square" rtlCol="0">
            <a:spAutoFit/>
          </a:bodyPr>
          <a:lstStyle/>
          <a:p>
            <a:r>
              <a:rPr lang="en-US" sz="2800" b="1"/>
              <a:t>Payoff Function:</a:t>
            </a:r>
          </a:p>
        </p:txBody>
      </p:sp>
    </p:spTree>
    <p:extLst>
      <p:ext uri="{BB962C8B-B14F-4D97-AF65-F5344CB8AC3E}">
        <p14:creationId xmlns:p14="http://schemas.microsoft.com/office/powerpoint/2010/main" val="1196405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125962-61F7-E65B-A6FB-9E278C4A2DF5}"/>
              </a:ext>
            </a:extLst>
          </p:cNvPr>
          <p:cNvSpPr txBox="1"/>
          <p:nvPr/>
        </p:nvSpPr>
        <p:spPr>
          <a:xfrm>
            <a:off x="2152073" y="341745"/>
            <a:ext cx="7823200" cy="1446550"/>
          </a:xfrm>
          <a:prstGeom prst="rect">
            <a:avLst/>
          </a:prstGeom>
          <a:noFill/>
        </p:spPr>
        <p:txBody>
          <a:bodyPr wrap="square" rtlCol="0">
            <a:spAutoFit/>
          </a:bodyPr>
          <a:lstStyle/>
          <a:p>
            <a:pPr algn="ctr"/>
            <a:r>
              <a:rPr lang="en-US" sz="4400" b="1" u="sng"/>
              <a:t>Simultaneous Move Game Depicting “Power in Numbers”</a:t>
            </a:r>
          </a:p>
        </p:txBody>
      </p:sp>
      <p:sp>
        <p:nvSpPr>
          <p:cNvPr id="3" name="TextBox 2">
            <a:extLst>
              <a:ext uri="{FF2B5EF4-FFF2-40B4-BE49-F238E27FC236}">
                <a16:creationId xmlns:a16="http://schemas.microsoft.com/office/drawing/2014/main" id="{A8A3026E-1092-D48D-F26E-839C1DC3DD02}"/>
              </a:ext>
            </a:extLst>
          </p:cNvPr>
          <p:cNvSpPr txBox="1"/>
          <p:nvPr/>
        </p:nvSpPr>
        <p:spPr>
          <a:xfrm>
            <a:off x="387926" y="1835045"/>
            <a:ext cx="2438400" cy="523220"/>
          </a:xfrm>
          <a:prstGeom prst="rect">
            <a:avLst/>
          </a:prstGeom>
          <a:noFill/>
        </p:spPr>
        <p:txBody>
          <a:bodyPr wrap="square" rtlCol="0">
            <a:spAutoFit/>
          </a:bodyPr>
          <a:lstStyle/>
          <a:p>
            <a:r>
              <a:rPr lang="en-US" sz="2800" b="1"/>
              <a:t>Persons:</a:t>
            </a:r>
          </a:p>
        </p:txBody>
      </p:sp>
      <p:sp>
        <p:nvSpPr>
          <p:cNvPr id="4" name="TextBox 3">
            <a:extLst>
              <a:ext uri="{FF2B5EF4-FFF2-40B4-BE49-F238E27FC236}">
                <a16:creationId xmlns:a16="http://schemas.microsoft.com/office/drawing/2014/main" id="{1C8541FE-FF3B-494A-4623-4B8E4FA6E777}"/>
              </a:ext>
            </a:extLst>
          </p:cNvPr>
          <p:cNvSpPr txBox="1"/>
          <p:nvPr/>
        </p:nvSpPr>
        <p:spPr>
          <a:xfrm>
            <a:off x="387926" y="2405015"/>
            <a:ext cx="4414983" cy="523220"/>
          </a:xfrm>
          <a:prstGeom prst="rect">
            <a:avLst/>
          </a:prstGeom>
          <a:noFill/>
        </p:spPr>
        <p:txBody>
          <a:bodyPr wrap="square" rtlCol="0">
            <a:spAutoFit/>
          </a:bodyPr>
          <a:lstStyle/>
          <a:p>
            <a:r>
              <a:rPr lang="en-US" sz="2800" b="1"/>
              <a:t>Sets of Available Actions:</a:t>
            </a:r>
          </a:p>
        </p:txBody>
      </p:sp>
      <p:sp>
        <p:nvSpPr>
          <p:cNvPr id="5" name="TextBox 4">
            <a:extLst>
              <a:ext uri="{FF2B5EF4-FFF2-40B4-BE49-F238E27FC236}">
                <a16:creationId xmlns:a16="http://schemas.microsoft.com/office/drawing/2014/main" id="{51797310-705A-0FA4-457E-44EDEF290C20}"/>
              </a:ext>
            </a:extLst>
          </p:cNvPr>
          <p:cNvSpPr txBox="1"/>
          <p:nvPr/>
        </p:nvSpPr>
        <p:spPr>
          <a:xfrm>
            <a:off x="387926" y="2928235"/>
            <a:ext cx="2955637" cy="523220"/>
          </a:xfrm>
          <a:prstGeom prst="rect">
            <a:avLst/>
          </a:prstGeom>
          <a:noFill/>
        </p:spPr>
        <p:txBody>
          <a:bodyPr wrap="square" rtlCol="0">
            <a:spAutoFit/>
          </a:bodyPr>
          <a:lstStyle/>
          <a:p>
            <a:r>
              <a:rPr lang="en-US" sz="2800" b="1"/>
              <a:t>Payoff Function:</a:t>
            </a:r>
          </a:p>
        </p:txBody>
      </p:sp>
      <p:sp>
        <p:nvSpPr>
          <p:cNvPr id="6" name="TextBox 5">
            <a:extLst>
              <a:ext uri="{FF2B5EF4-FFF2-40B4-BE49-F238E27FC236}">
                <a16:creationId xmlns:a16="http://schemas.microsoft.com/office/drawing/2014/main" id="{1AD04950-5976-471E-1402-840AE39B0E8F}"/>
              </a:ext>
            </a:extLst>
          </p:cNvPr>
          <p:cNvSpPr txBox="1"/>
          <p:nvPr/>
        </p:nvSpPr>
        <p:spPr>
          <a:xfrm>
            <a:off x="4701307" y="1926374"/>
            <a:ext cx="3879274" cy="369332"/>
          </a:xfrm>
          <a:prstGeom prst="rect">
            <a:avLst/>
          </a:prstGeom>
          <a:solidFill>
            <a:schemeClr val="accent6">
              <a:lumMod val="20000"/>
              <a:lumOff val="80000"/>
            </a:schemeClr>
          </a:solidFill>
        </p:spPr>
        <p:txBody>
          <a:bodyPr wrap="square" rtlCol="0">
            <a:spAutoFit/>
          </a:bodyPr>
          <a:lstStyle/>
          <a:p>
            <a:r>
              <a:rPr lang="en-US"/>
              <a:t>Person 1, Person 2, Person 3, Person 4</a:t>
            </a:r>
          </a:p>
        </p:txBody>
      </p:sp>
    </p:spTree>
    <p:extLst>
      <p:ext uri="{BB962C8B-B14F-4D97-AF65-F5344CB8AC3E}">
        <p14:creationId xmlns:p14="http://schemas.microsoft.com/office/powerpoint/2010/main" val="21911623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125962-61F7-E65B-A6FB-9E278C4A2DF5}"/>
              </a:ext>
            </a:extLst>
          </p:cNvPr>
          <p:cNvSpPr txBox="1"/>
          <p:nvPr/>
        </p:nvSpPr>
        <p:spPr>
          <a:xfrm>
            <a:off x="2152073" y="341745"/>
            <a:ext cx="7823200" cy="1446550"/>
          </a:xfrm>
          <a:prstGeom prst="rect">
            <a:avLst/>
          </a:prstGeom>
          <a:noFill/>
        </p:spPr>
        <p:txBody>
          <a:bodyPr wrap="square" rtlCol="0">
            <a:spAutoFit/>
          </a:bodyPr>
          <a:lstStyle/>
          <a:p>
            <a:pPr algn="ctr"/>
            <a:r>
              <a:rPr lang="en-US" sz="4400" b="1" u="sng"/>
              <a:t>Simultaneous Move Game Depicting “Power in Numbers”</a:t>
            </a:r>
          </a:p>
        </p:txBody>
      </p:sp>
      <p:sp>
        <p:nvSpPr>
          <p:cNvPr id="3" name="TextBox 2">
            <a:extLst>
              <a:ext uri="{FF2B5EF4-FFF2-40B4-BE49-F238E27FC236}">
                <a16:creationId xmlns:a16="http://schemas.microsoft.com/office/drawing/2014/main" id="{A8A3026E-1092-D48D-F26E-839C1DC3DD02}"/>
              </a:ext>
            </a:extLst>
          </p:cNvPr>
          <p:cNvSpPr txBox="1"/>
          <p:nvPr/>
        </p:nvSpPr>
        <p:spPr>
          <a:xfrm>
            <a:off x="387926" y="1835045"/>
            <a:ext cx="2438400" cy="523220"/>
          </a:xfrm>
          <a:prstGeom prst="rect">
            <a:avLst/>
          </a:prstGeom>
          <a:noFill/>
        </p:spPr>
        <p:txBody>
          <a:bodyPr wrap="square" rtlCol="0">
            <a:spAutoFit/>
          </a:bodyPr>
          <a:lstStyle/>
          <a:p>
            <a:r>
              <a:rPr lang="en-US" sz="2800" b="1"/>
              <a:t>Persons:</a:t>
            </a:r>
          </a:p>
        </p:txBody>
      </p:sp>
      <p:sp>
        <p:nvSpPr>
          <p:cNvPr id="4" name="TextBox 3">
            <a:extLst>
              <a:ext uri="{FF2B5EF4-FFF2-40B4-BE49-F238E27FC236}">
                <a16:creationId xmlns:a16="http://schemas.microsoft.com/office/drawing/2014/main" id="{1C8541FE-FF3B-494A-4623-4B8E4FA6E777}"/>
              </a:ext>
            </a:extLst>
          </p:cNvPr>
          <p:cNvSpPr txBox="1"/>
          <p:nvPr/>
        </p:nvSpPr>
        <p:spPr>
          <a:xfrm>
            <a:off x="387926" y="2405015"/>
            <a:ext cx="4414983" cy="523220"/>
          </a:xfrm>
          <a:prstGeom prst="rect">
            <a:avLst/>
          </a:prstGeom>
          <a:noFill/>
        </p:spPr>
        <p:txBody>
          <a:bodyPr wrap="square" rtlCol="0">
            <a:spAutoFit/>
          </a:bodyPr>
          <a:lstStyle/>
          <a:p>
            <a:r>
              <a:rPr lang="en-US" sz="2800" b="1"/>
              <a:t>Sets of Available Actions:</a:t>
            </a:r>
          </a:p>
        </p:txBody>
      </p:sp>
      <p:sp>
        <p:nvSpPr>
          <p:cNvPr id="5" name="TextBox 4">
            <a:extLst>
              <a:ext uri="{FF2B5EF4-FFF2-40B4-BE49-F238E27FC236}">
                <a16:creationId xmlns:a16="http://schemas.microsoft.com/office/drawing/2014/main" id="{51797310-705A-0FA4-457E-44EDEF290C20}"/>
              </a:ext>
            </a:extLst>
          </p:cNvPr>
          <p:cNvSpPr txBox="1"/>
          <p:nvPr/>
        </p:nvSpPr>
        <p:spPr>
          <a:xfrm>
            <a:off x="387926" y="2928235"/>
            <a:ext cx="2955637" cy="523220"/>
          </a:xfrm>
          <a:prstGeom prst="rect">
            <a:avLst/>
          </a:prstGeom>
          <a:noFill/>
        </p:spPr>
        <p:txBody>
          <a:bodyPr wrap="square" rtlCol="0">
            <a:spAutoFit/>
          </a:bodyPr>
          <a:lstStyle/>
          <a:p>
            <a:r>
              <a:rPr lang="en-US" sz="2800" b="1"/>
              <a:t>Payoff Function:</a:t>
            </a:r>
          </a:p>
        </p:txBody>
      </p:sp>
      <p:sp>
        <p:nvSpPr>
          <p:cNvPr id="6" name="TextBox 5">
            <a:extLst>
              <a:ext uri="{FF2B5EF4-FFF2-40B4-BE49-F238E27FC236}">
                <a16:creationId xmlns:a16="http://schemas.microsoft.com/office/drawing/2014/main" id="{1AD04950-5976-471E-1402-840AE39B0E8F}"/>
              </a:ext>
            </a:extLst>
          </p:cNvPr>
          <p:cNvSpPr txBox="1"/>
          <p:nvPr/>
        </p:nvSpPr>
        <p:spPr>
          <a:xfrm>
            <a:off x="4701307" y="1926374"/>
            <a:ext cx="3879274" cy="369332"/>
          </a:xfrm>
          <a:prstGeom prst="rect">
            <a:avLst/>
          </a:prstGeom>
          <a:solidFill>
            <a:schemeClr val="accent6">
              <a:lumMod val="20000"/>
              <a:lumOff val="80000"/>
            </a:schemeClr>
          </a:solidFill>
        </p:spPr>
        <p:txBody>
          <a:bodyPr wrap="square" rtlCol="0">
            <a:spAutoFit/>
          </a:bodyPr>
          <a:lstStyle/>
          <a:p>
            <a:r>
              <a:rPr lang="en-US"/>
              <a:t>Person 1, Person 2, Person 3, Person 4</a:t>
            </a:r>
          </a:p>
        </p:txBody>
      </p:sp>
      <p:sp>
        <p:nvSpPr>
          <p:cNvPr id="7" name="TextBox 6">
            <a:extLst>
              <a:ext uri="{FF2B5EF4-FFF2-40B4-BE49-F238E27FC236}">
                <a16:creationId xmlns:a16="http://schemas.microsoft.com/office/drawing/2014/main" id="{01ED6497-EB9D-B4CA-AC4E-26092D452C4C}"/>
              </a:ext>
            </a:extLst>
          </p:cNvPr>
          <p:cNvSpPr txBox="1"/>
          <p:nvPr/>
        </p:nvSpPr>
        <p:spPr>
          <a:xfrm>
            <a:off x="4701307" y="2481959"/>
            <a:ext cx="6188365" cy="369332"/>
          </a:xfrm>
          <a:prstGeom prst="rect">
            <a:avLst/>
          </a:prstGeom>
          <a:solidFill>
            <a:schemeClr val="accent6">
              <a:lumMod val="20000"/>
              <a:lumOff val="80000"/>
            </a:schemeClr>
          </a:solidFill>
        </p:spPr>
        <p:txBody>
          <a:bodyPr wrap="square" rtlCol="0">
            <a:spAutoFit/>
          </a:bodyPr>
          <a:lstStyle/>
          <a:p>
            <a:r>
              <a:rPr lang="en-US"/>
              <a:t>For each person, {P,D} (P=“Participate”, D = “Do Not Participate”)</a:t>
            </a:r>
          </a:p>
        </p:txBody>
      </p:sp>
    </p:spTree>
    <p:extLst>
      <p:ext uri="{BB962C8B-B14F-4D97-AF65-F5344CB8AC3E}">
        <p14:creationId xmlns:p14="http://schemas.microsoft.com/office/powerpoint/2010/main" val="29957172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125962-61F7-E65B-A6FB-9E278C4A2DF5}"/>
              </a:ext>
            </a:extLst>
          </p:cNvPr>
          <p:cNvSpPr txBox="1"/>
          <p:nvPr/>
        </p:nvSpPr>
        <p:spPr>
          <a:xfrm>
            <a:off x="2152073" y="341745"/>
            <a:ext cx="7823200" cy="1446550"/>
          </a:xfrm>
          <a:prstGeom prst="rect">
            <a:avLst/>
          </a:prstGeom>
          <a:noFill/>
        </p:spPr>
        <p:txBody>
          <a:bodyPr wrap="square" rtlCol="0">
            <a:spAutoFit/>
          </a:bodyPr>
          <a:lstStyle/>
          <a:p>
            <a:pPr algn="ctr"/>
            <a:r>
              <a:rPr lang="en-US" sz="4400" b="1" u="sng"/>
              <a:t>Simultaneous Move Game Depicting “Power in Numbers”</a:t>
            </a:r>
          </a:p>
        </p:txBody>
      </p:sp>
      <p:sp>
        <p:nvSpPr>
          <p:cNvPr id="3" name="TextBox 2">
            <a:extLst>
              <a:ext uri="{FF2B5EF4-FFF2-40B4-BE49-F238E27FC236}">
                <a16:creationId xmlns:a16="http://schemas.microsoft.com/office/drawing/2014/main" id="{A8A3026E-1092-D48D-F26E-839C1DC3DD02}"/>
              </a:ext>
            </a:extLst>
          </p:cNvPr>
          <p:cNvSpPr txBox="1"/>
          <p:nvPr/>
        </p:nvSpPr>
        <p:spPr>
          <a:xfrm>
            <a:off x="387926" y="1835045"/>
            <a:ext cx="2438400" cy="523220"/>
          </a:xfrm>
          <a:prstGeom prst="rect">
            <a:avLst/>
          </a:prstGeom>
          <a:noFill/>
        </p:spPr>
        <p:txBody>
          <a:bodyPr wrap="square" rtlCol="0">
            <a:spAutoFit/>
          </a:bodyPr>
          <a:lstStyle/>
          <a:p>
            <a:r>
              <a:rPr lang="en-US" sz="2800" b="1"/>
              <a:t>Persons:</a:t>
            </a:r>
          </a:p>
        </p:txBody>
      </p:sp>
      <p:sp>
        <p:nvSpPr>
          <p:cNvPr id="4" name="TextBox 3">
            <a:extLst>
              <a:ext uri="{FF2B5EF4-FFF2-40B4-BE49-F238E27FC236}">
                <a16:creationId xmlns:a16="http://schemas.microsoft.com/office/drawing/2014/main" id="{1C8541FE-FF3B-494A-4623-4B8E4FA6E777}"/>
              </a:ext>
            </a:extLst>
          </p:cNvPr>
          <p:cNvSpPr txBox="1"/>
          <p:nvPr/>
        </p:nvSpPr>
        <p:spPr>
          <a:xfrm>
            <a:off x="387926" y="2405015"/>
            <a:ext cx="4414983" cy="523220"/>
          </a:xfrm>
          <a:prstGeom prst="rect">
            <a:avLst/>
          </a:prstGeom>
          <a:noFill/>
        </p:spPr>
        <p:txBody>
          <a:bodyPr wrap="square" rtlCol="0">
            <a:spAutoFit/>
          </a:bodyPr>
          <a:lstStyle/>
          <a:p>
            <a:r>
              <a:rPr lang="en-US" sz="2800" b="1"/>
              <a:t>Sets of Available Actions:</a:t>
            </a:r>
          </a:p>
        </p:txBody>
      </p:sp>
      <p:sp>
        <p:nvSpPr>
          <p:cNvPr id="5" name="TextBox 4">
            <a:extLst>
              <a:ext uri="{FF2B5EF4-FFF2-40B4-BE49-F238E27FC236}">
                <a16:creationId xmlns:a16="http://schemas.microsoft.com/office/drawing/2014/main" id="{51797310-705A-0FA4-457E-44EDEF290C20}"/>
              </a:ext>
            </a:extLst>
          </p:cNvPr>
          <p:cNvSpPr txBox="1"/>
          <p:nvPr/>
        </p:nvSpPr>
        <p:spPr>
          <a:xfrm>
            <a:off x="387926" y="2928235"/>
            <a:ext cx="2955637" cy="523220"/>
          </a:xfrm>
          <a:prstGeom prst="rect">
            <a:avLst/>
          </a:prstGeom>
          <a:noFill/>
        </p:spPr>
        <p:txBody>
          <a:bodyPr wrap="square" rtlCol="0">
            <a:spAutoFit/>
          </a:bodyPr>
          <a:lstStyle/>
          <a:p>
            <a:r>
              <a:rPr lang="en-US" sz="2800" b="1"/>
              <a:t>Payoff Function:</a:t>
            </a:r>
          </a:p>
        </p:txBody>
      </p:sp>
      <p:sp>
        <p:nvSpPr>
          <p:cNvPr id="6" name="TextBox 5">
            <a:extLst>
              <a:ext uri="{FF2B5EF4-FFF2-40B4-BE49-F238E27FC236}">
                <a16:creationId xmlns:a16="http://schemas.microsoft.com/office/drawing/2014/main" id="{1AD04950-5976-471E-1402-840AE39B0E8F}"/>
              </a:ext>
            </a:extLst>
          </p:cNvPr>
          <p:cNvSpPr txBox="1"/>
          <p:nvPr/>
        </p:nvSpPr>
        <p:spPr>
          <a:xfrm>
            <a:off x="4701307" y="1926374"/>
            <a:ext cx="3879274" cy="369332"/>
          </a:xfrm>
          <a:prstGeom prst="rect">
            <a:avLst/>
          </a:prstGeom>
          <a:solidFill>
            <a:schemeClr val="accent6">
              <a:lumMod val="20000"/>
              <a:lumOff val="80000"/>
            </a:schemeClr>
          </a:solidFill>
        </p:spPr>
        <p:txBody>
          <a:bodyPr wrap="square" rtlCol="0">
            <a:spAutoFit/>
          </a:bodyPr>
          <a:lstStyle/>
          <a:p>
            <a:r>
              <a:rPr lang="en-US"/>
              <a:t>Person 1, Person 2, Person 3, Person 4</a:t>
            </a:r>
          </a:p>
        </p:txBody>
      </p:sp>
      <p:sp>
        <p:nvSpPr>
          <p:cNvPr id="7" name="TextBox 6">
            <a:extLst>
              <a:ext uri="{FF2B5EF4-FFF2-40B4-BE49-F238E27FC236}">
                <a16:creationId xmlns:a16="http://schemas.microsoft.com/office/drawing/2014/main" id="{01ED6497-EB9D-B4CA-AC4E-26092D452C4C}"/>
              </a:ext>
            </a:extLst>
          </p:cNvPr>
          <p:cNvSpPr txBox="1"/>
          <p:nvPr/>
        </p:nvSpPr>
        <p:spPr>
          <a:xfrm>
            <a:off x="4701307" y="2481959"/>
            <a:ext cx="6188365" cy="369332"/>
          </a:xfrm>
          <a:prstGeom prst="rect">
            <a:avLst/>
          </a:prstGeom>
          <a:solidFill>
            <a:schemeClr val="accent6">
              <a:lumMod val="20000"/>
              <a:lumOff val="80000"/>
            </a:schemeClr>
          </a:solidFill>
        </p:spPr>
        <p:txBody>
          <a:bodyPr wrap="square" rtlCol="0">
            <a:spAutoFit/>
          </a:bodyPr>
          <a:lstStyle/>
          <a:p>
            <a:r>
              <a:rPr lang="en-US"/>
              <a:t>For each person, {P,D} (P=“Participate”, D = “Do Not Participate”)</a:t>
            </a:r>
          </a:p>
        </p:txBody>
      </p:sp>
      <p:pic>
        <p:nvPicPr>
          <p:cNvPr id="9" name="Picture 8">
            <a:extLst>
              <a:ext uri="{FF2B5EF4-FFF2-40B4-BE49-F238E27FC236}">
                <a16:creationId xmlns:a16="http://schemas.microsoft.com/office/drawing/2014/main" id="{F4C88D48-B1C6-659B-FF25-F79AEC619D5F}"/>
              </a:ext>
            </a:extLst>
          </p:cNvPr>
          <p:cNvPicPr>
            <a:picLocks noChangeAspect="1"/>
          </p:cNvPicPr>
          <p:nvPr/>
        </p:nvPicPr>
        <p:blipFill>
          <a:blip r:embed="rId2"/>
          <a:stretch>
            <a:fillRect/>
          </a:stretch>
        </p:blipFill>
        <p:spPr>
          <a:xfrm>
            <a:off x="3128486" y="3005179"/>
            <a:ext cx="7024915" cy="1777474"/>
          </a:xfrm>
          <a:prstGeom prst="rect">
            <a:avLst/>
          </a:prstGeom>
        </p:spPr>
      </p:pic>
      <p:pic>
        <p:nvPicPr>
          <p:cNvPr id="11" name="Picture 10">
            <a:extLst>
              <a:ext uri="{FF2B5EF4-FFF2-40B4-BE49-F238E27FC236}">
                <a16:creationId xmlns:a16="http://schemas.microsoft.com/office/drawing/2014/main" id="{F9A7CEF8-C92C-4F3A-E249-92D522970498}"/>
              </a:ext>
            </a:extLst>
          </p:cNvPr>
          <p:cNvPicPr>
            <a:picLocks noChangeAspect="1"/>
          </p:cNvPicPr>
          <p:nvPr/>
        </p:nvPicPr>
        <p:blipFill>
          <a:blip r:embed="rId3"/>
          <a:stretch>
            <a:fillRect/>
          </a:stretch>
        </p:blipFill>
        <p:spPr>
          <a:xfrm>
            <a:off x="3071798" y="4687565"/>
            <a:ext cx="7539420" cy="1957999"/>
          </a:xfrm>
          <a:prstGeom prst="rect">
            <a:avLst/>
          </a:prstGeom>
        </p:spPr>
      </p:pic>
    </p:spTree>
    <p:extLst>
      <p:ext uri="{BB962C8B-B14F-4D97-AF65-F5344CB8AC3E}">
        <p14:creationId xmlns:p14="http://schemas.microsoft.com/office/powerpoint/2010/main" val="12043459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Tree>
    <p:extLst>
      <p:ext uri="{BB962C8B-B14F-4D97-AF65-F5344CB8AC3E}">
        <p14:creationId xmlns:p14="http://schemas.microsoft.com/office/powerpoint/2010/main" val="10504043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Rectangle 2">
            <a:extLst>
              <a:ext uri="{FF2B5EF4-FFF2-40B4-BE49-F238E27FC236}">
                <a16:creationId xmlns:a16="http://schemas.microsoft.com/office/drawing/2014/main" id="{BF23108D-51C8-DE57-C713-1FB2D4077D75}"/>
              </a:ext>
            </a:extLst>
          </p:cNvPr>
          <p:cNvSpPr/>
          <p:nvPr/>
        </p:nvSpPr>
        <p:spPr>
          <a:xfrm>
            <a:off x="0" y="0"/>
            <a:ext cx="12192000" cy="6858000"/>
          </a:xfrm>
          <a:prstGeom prst="rect">
            <a:avLst/>
          </a:prstGeom>
          <a:solidFill>
            <a:srgbClr val="4472C4">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50785A1-8912-CB35-A609-1ED2D225A91B}"/>
              </a:ext>
            </a:extLst>
          </p:cNvPr>
          <p:cNvSpPr/>
          <p:nvPr/>
        </p:nvSpPr>
        <p:spPr>
          <a:xfrm>
            <a:off x="1016001" y="1341351"/>
            <a:ext cx="9919853" cy="461125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5">
            <a:extLst>
              <a:ext uri="{FF2B5EF4-FFF2-40B4-BE49-F238E27FC236}">
                <a16:creationId xmlns:a16="http://schemas.microsoft.com/office/drawing/2014/main" id="{D4A17E22-1BB3-BB31-DDC3-6F423D17E63E}"/>
              </a:ext>
            </a:extLst>
          </p:cNvPr>
          <p:cNvGraphicFramePr>
            <a:graphicFrameLocks noGrp="1"/>
          </p:cNvGraphicFramePr>
          <p:nvPr>
            <p:extLst>
              <p:ext uri="{D42A27DB-BD31-4B8C-83A1-F6EECF244321}">
                <p14:modId xmlns:p14="http://schemas.microsoft.com/office/powerpoint/2010/main" val="3561818366"/>
              </p:ext>
            </p:extLst>
          </p:nvPr>
        </p:nvGraphicFramePr>
        <p:xfrm>
          <a:off x="2032000" y="3429000"/>
          <a:ext cx="8128000" cy="1920240"/>
        </p:xfrm>
        <a:graphic>
          <a:graphicData uri="http://schemas.openxmlformats.org/drawingml/2006/table">
            <a:tbl>
              <a:tblPr firstRow="1" bandRow="1"/>
              <a:tblGrid>
                <a:gridCol w="3629891">
                  <a:extLst>
                    <a:ext uri="{9D8B030D-6E8A-4147-A177-3AD203B41FA5}">
                      <a16:colId xmlns:a16="http://schemas.microsoft.com/office/drawing/2014/main" val="2769787254"/>
                    </a:ext>
                  </a:extLst>
                </a:gridCol>
                <a:gridCol w="4498109">
                  <a:extLst>
                    <a:ext uri="{9D8B030D-6E8A-4147-A177-3AD203B41FA5}">
                      <a16:colId xmlns:a16="http://schemas.microsoft.com/office/drawing/2014/main" val="1709226038"/>
                    </a:ext>
                  </a:extLst>
                </a:gridCol>
              </a:tblGrid>
              <a:tr h="370840">
                <a:tc>
                  <a:txBody>
                    <a:bodyPr/>
                    <a:lstStyle/>
                    <a:p>
                      <a:r>
                        <a:rPr lang="en-US" b="1"/>
                        <a:t>Person’s expectation about what the other three persons will do</a:t>
                      </a:r>
                    </a:p>
                  </a:txBody>
                  <a:tcPr/>
                </a:tc>
                <a:tc>
                  <a:txBody>
                    <a:bodyPr/>
                    <a:lstStyle/>
                    <a:p>
                      <a:r>
                        <a:rPr lang="en-US" b="1"/>
                        <a:t>Person’s preferences over her actions</a:t>
                      </a:r>
                    </a:p>
                  </a:txBody>
                  <a:tcPr/>
                </a:tc>
                <a:extLst>
                  <a:ext uri="{0D108BD9-81ED-4DB2-BD59-A6C34878D82A}">
                    <a16:rowId xmlns:a16="http://schemas.microsoft.com/office/drawing/2014/main" val="3970009536"/>
                  </a:ext>
                </a:extLst>
              </a:tr>
              <a:tr h="370840">
                <a:tc>
                  <a:txBody>
                    <a:bodyPr/>
                    <a:lstStyle/>
                    <a:p>
                      <a:r>
                        <a:rPr lang="en-US"/>
                        <a:t>less than two of other three will participate</a:t>
                      </a:r>
                    </a:p>
                  </a:txBody>
                  <a:tcPr/>
                </a:tc>
                <a:tc>
                  <a:txBody>
                    <a:bodyPr/>
                    <a:lstStyle/>
                    <a:p>
                      <a:r>
                        <a:rPr lang="en-US"/>
                        <a:t>Prefers to not participate instead of participate</a:t>
                      </a:r>
                    </a:p>
                  </a:txBody>
                  <a:tcPr/>
                </a:tc>
                <a:extLst>
                  <a:ext uri="{0D108BD9-81ED-4DB2-BD59-A6C34878D82A}">
                    <a16:rowId xmlns:a16="http://schemas.microsoft.com/office/drawing/2014/main" val="2064842803"/>
                  </a:ext>
                </a:extLst>
              </a:tr>
              <a:tr h="370840">
                <a:tc>
                  <a:txBody>
                    <a:bodyPr/>
                    <a:lstStyle/>
                    <a:p>
                      <a:r>
                        <a:rPr lang="en-US"/>
                        <a:t>two or more of other three will participate</a:t>
                      </a:r>
                    </a:p>
                  </a:txBody>
                  <a:tcPr/>
                </a:tc>
                <a:tc>
                  <a:txBody>
                    <a:bodyPr/>
                    <a:lstStyle/>
                    <a:p>
                      <a:r>
                        <a:rPr lang="en-US"/>
                        <a:t>Prefers to participate instead of not participate</a:t>
                      </a:r>
                    </a:p>
                  </a:txBody>
                  <a:tcPr/>
                </a:tc>
                <a:extLst>
                  <a:ext uri="{0D108BD9-81ED-4DB2-BD59-A6C34878D82A}">
                    <a16:rowId xmlns:a16="http://schemas.microsoft.com/office/drawing/2014/main" val="1287996018"/>
                  </a:ext>
                </a:extLst>
              </a:tr>
            </a:tbl>
          </a:graphicData>
        </a:graphic>
      </p:graphicFrame>
      <p:sp>
        <p:nvSpPr>
          <p:cNvPr id="7" name="TextBox 6">
            <a:extLst>
              <a:ext uri="{FF2B5EF4-FFF2-40B4-BE49-F238E27FC236}">
                <a16:creationId xmlns:a16="http://schemas.microsoft.com/office/drawing/2014/main" id="{84D5A219-7970-AA63-BDEC-37EA0B7B3080}"/>
              </a:ext>
            </a:extLst>
          </p:cNvPr>
          <p:cNvSpPr txBox="1"/>
          <p:nvPr/>
        </p:nvSpPr>
        <p:spPr>
          <a:xfrm>
            <a:off x="1865745" y="1810327"/>
            <a:ext cx="8294255" cy="954107"/>
          </a:xfrm>
          <a:prstGeom prst="rect">
            <a:avLst/>
          </a:prstGeom>
          <a:noFill/>
        </p:spPr>
        <p:txBody>
          <a:bodyPr wrap="square" rtlCol="0">
            <a:spAutoFit/>
          </a:bodyPr>
          <a:lstStyle/>
          <a:p>
            <a:r>
              <a:rPr lang="en-US" sz="2800"/>
              <a:t>We’ll depict the following strategic interdependence between the four persons in the game:</a:t>
            </a:r>
          </a:p>
        </p:txBody>
      </p:sp>
    </p:spTree>
    <p:extLst>
      <p:ext uri="{BB962C8B-B14F-4D97-AF65-F5344CB8AC3E}">
        <p14:creationId xmlns:p14="http://schemas.microsoft.com/office/powerpoint/2010/main" val="28776803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tc>
                <a:tc>
                  <a:txBody>
                    <a:bodyPr/>
                    <a:lstStyle/>
                    <a:p>
                      <a:r>
                        <a:rPr lang="en-US"/>
                        <a:t>D</a:t>
                      </a:r>
                    </a:p>
                  </a:txBody>
                  <a:tcPr/>
                </a:tc>
                <a:tc>
                  <a:txBody>
                    <a:bodyPr/>
                    <a:lstStyle/>
                    <a:p>
                      <a:r>
                        <a:rPr lang="en-US"/>
                        <a:t>P</a:t>
                      </a:r>
                    </a:p>
                  </a:txBody>
                  <a:tcPr/>
                </a:tc>
                <a:tc>
                  <a:txBody>
                    <a:bodyPr/>
                    <a:lstStyle/>
                    <a:p>
                      <a:r>
                        <a:rPr lang="en-US"/>
                        <a:t>D</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Tree>
    <p:extLst>
      <p:ext uri="{BB962C8B-B14F-4D97-AF65-F5344CB8AC3E}">
        <p14:creationId xmlns:p14="http://schemas.microsoft.com/office/powerpoint/2010/main" val="12873826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tc>
                <a:tc>
                  <a:txBody>
                    <a:bodyPr/>
                    <a:lstStyle/>
                    <a:p>
                      <a:r>
                        <a:rPr lang="en-US"/>
                        <a:t>D</a:t>
                      </a:r>
                    </a:p>
                  </a:txBody>
                  <a:tcPr/>
                </a:tc>
                <a:tc>
                  <a:txBody>
                    <a:bodyPr/>
                    <a:lstStyle/>
                    <a:p>
                      <a:r>
                        <a:rPr lang="en-US"/>
                        <a:t>P</a:t>
                      </a:r>
                    </a:p>
                  </a:txBody>
                  <a:tcPr/>
                </a:tc>
                <a:tc>
                  <a:txBody>
                    <a:bodyPr/>
                    <a:lstStyle/>
                    <a:p>
                      <a:r>
                        <a:rPr lang="en-US"/>
                        <a:t>D</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Oval 2">
            <a:extLst>
              <a:ext uri="{FF2B5EF4-FFF2-40B4-BE49-F238E27FC236}">
                <a16:creationId xmlns:a16="http://schemas.microsoft.com/office/drawing/2014/main" id="{C18E31CF-1214-FC12-DAD3-B864C3B75101}"/>
              </a:ext>
            </a:extLst>
          </p:cNvPr>
          <p:cNvSpPr/>
          <p:nvPr/>
        </p:nvSpPr>
        <p:spPr>
          <a:xfrm>
            <a:off x="1394691" y="2549237"/>
            <a:ext cx="4701309" cy="674254"/>
          </a:xfrm>
          <a:prstGeom prst="ellipse">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4D31401-018C-4E79-3FA8-16F038F1171E}"/>
              </a:ext>
            </a:extLst>
          </p:cNvPr>
          <p:cNvSpPr txBox="1"/>
          <p:nvPr/>
        </p:nvSpPr>
        <p:spPr>
          <a:xfrm rot="1311384">
            <a:off x="3976004" y="2288854"/>
            <a:ext cx="6267914" cy="830997"/>
          </a:xfrm>
          <a:prstGeom prst="rect">
            <a:avLst/>
          </a:prstGeom>
          <a:solidFill>
            <a:schemeClr val="accent2"/>
          </a:solidFill>
          <a:ln w="38100">
            <a:solidFill>
              <a:schemeClr val="tx1"/>
            </a:solidFill>
          </a:ln>
        </p:spPr>
        <p:txBody>
          <a:bodyPr wrap="square" rtlCol="0">
            <a:spAutoFit/>
          </a:bodyPr>
          <a:lstStyle/>
          <a:p>
            <a:r>
              <a:rPr lang="en-US" sz="2400"/>
              <a:t>This is ONE profile of actions....it specificies an action (“P” or “D”) for each of the four persons.</a:t>
            </a:r>
          </a:p>
        </p:txBody>
      </p:sp>
    </p:spTree>
    <p:extLst>
      <p:ext uri="{BB962C8B-B14F-4D97-AF65-F5344CB8AC3E}">
        <p14:creationId xmlns:p14="http://schemas.microsoft.com/office/powerpoint/2010/main" val="29513768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Tree>
    <p:extLst>
      <p:ext uri="{BB962C8B-B14F-4D97-AF65-F5344CB8AC3E}">
        <p14:creationId xmlns:p14="http://schemas.microsoft.com/office/powerpoint/2010/main" val="25872573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6266622" y="284563"/>
            <a:ext cx="5805305" cy="830997"/>
          </a:xfrm>
          <a:prstGeom prst="rect">
            <a:avLst/>
          </a:prstGeom>
          <a:solidFill>
            <a:schemeClr val="accent2"/>
          </a:solidFill>
          <a:ln w="38100">
            <a:solidFill>
              <a:schemeClr val="tx1"/>
            </a:solidFill>
          </a:ln>
        </p:spPr>
        <p:txBody>
          <a:bodyPr wrap="square" rtlCol="0">
            <a:spAutoFit/>
          </a:bodyPr>
          <a:lstStyle/>
          <a:p>
            <a:r>
              <a:rPr lang="en-US" sz="2400"/>
              <a:t>Write the profiles in which </a:t>
            </a:r>
            <a:r>
              <a:rPr lang="en-US" sz="2400" b="1"/>
              <a:t>ZERO</a:t>
            </a:r>
            <a:r>
              <a:rPr lang="en-US" sz="2400"/>
              <a:t> of the four participate here</a:t>
            </a:r>
          </a:p>
        </p:txBody>
      </p:sp>
    </p:spTree>
    <p:extLst>
      <p:ext uri="{BB962C8B-B14F-4D97-AF65-F5344CB8AC3E}">
        <p14:creationId xmlns:p14="http://schemas.microsoft.com/office/powerpoint/2010/main" val="37784178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6266622" y="284563"/>
            <a:ext cx="5805305" cy="830997"/>
          </a:xfrm>
          <a:prstGeom prst="rect">
            <a:avLst/>
          </a:prstGeom>
          <a:solidFill>
            <a:schemeClr val="accent2"/>
          </a:solidFill>
          <a:ln w="38100">
            <a:solidFill>
              <a:schemeClr val="tx1"/>
            </a:solidFill>
          </a:ln>
        </p:spPr>
        <p:txBody>
          <a:bodyPr wrap="square" rtlCol="0">
            <a:spAutoFit/>
          </a:bodyPr>
          <a:lstStyle/>
          <a:p>
            <a:r>
              <a:rPr lang="en-US" sz="2400"/>
              <a:t>Write the profiles in which </a:t>
            </a:r>
            <a:r>
              <a:rPr lang="en-US" sz="2400" b="1"/>
              <a:t>ZERO</a:t>
            </a:r>
            <a:r>
              <a:rPr lang="en-US" sz="2400"/>
              <a:t> of the four participate here</a:t>
            </a:r>
          </a:p>
        </p:txBody>
      </p:sp>
      <p:sp>
        <p:nvSpPr>
          <p:cNvPr id="4" name="TextBox 3">
            <a:extLst>
              <a:ext uri="{FF2B5EF4-FFF2-40B4-BE49-F238E27FC236}">
                <a16:creationId xmlns:a16="http://schemas.microsoft.com/office/drawing/2014/main" id="{AF8B8C52-386F-8D91-EE22-EA3BF9D4386C}"/>
              </a:ext>
            </a:extLst>
          </p:cNvPr>
          <p:cNvSpPr txBox="1"/>
          <p:nvPr/>
        </p:nvSpPr>
        <p:spPr>
          <a:xfrm>
            <a:off x="6266621" y="1443727"/>
            <a:ext cx="5805305" cy="830997"/>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a:t>Write the profiles in which </a:t>
            </a:r>
            <a:r>
              <a:rPr lang="en-US" sz="2400" b="1"/>
              <a:t>ONE</a:t>
            </a:r>
            <a:r>
              <a:rPr lang="en-US" sz="2400"/>
              <a:t> of the four participate here</a:t>
            </a:r>
          </a:p>
        </p:txBody>
      </p:sp>
    </p:spTree>
    <p:extLst>
      <p:ext uri="{BB962C8B-B14F-4D97-AF65-F5344CB8AC3E}">
        <p14:creationId xmlns:p14="http://schemas.microsoft.com/office/powerpoint/2010/main" val="11978585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6266622" y="284563"/>
            <a:ext cx="5805305" cy="830997"/>
          </a:xfrm>
          <a:prstGeom prst="rect">
            <a:avLst/>
          </a:prstGeom>
          <a:solidFill>
            <a:schemeClr val="accent2"/>
          </a:solidFill>
          <a:ln w="38100">
            <a:solidFill>
              <a:schemeClr val="tx1"/>
            </a:solidFill>
          </a:ln>
        </p:spPr>
        <p:txBody>
          <a:bodyPr wrap="square" rtlCol="0">
            <a:spAutoFit/>
          </a:bodyPr>
          <a:lstStyle/>
          <a:p>
            <a:r>
              <a:rPr lang="en-US" sz="2400"/>
              <a:t>Write the profiles in which </a:t>
            </a:r>
            <a:r>
              <a:rPr lang="en-US" sz="2400" b="1"/>
              <a:t>ZERO</a:t>
            </a:r>
            <a:r>
              <a:rPr lang="en-US" sz="2400"/>
              <a:t> of the four participate here</a:t>
            </a:r>
          </a:p>
        </p:txBody>
      </p:sp>
      <p:sp>
        <p:nvSpPr>
          <p:cNvPr id="4" name="TextBox 3">
            <a:extLst>
              <a:ext uri="{FF2B5EF4-FFF2-40B4-BE49-F238E27FC236}">
                <a16:creationId xmlns:a16="http://schemas.microsoft.com/office/drawing/2014/main" id="{AF8B8C52-386F-8D91-EE22-EA3BF9D4386C}"/>
              </a:ext>
            </a:extLst>
          </p:cNvPr>
          <p:cNvSpPr txBox="1"/>
          <p:nvPr/>
        </p:nvSpPr>
        <p:spPr>
          <a:xfrm>
            <a:off x="6266621" y="1443727"/>
            <a:ext cx="5805305" cy="830997"/>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a:t>Write the profiles in which </a:t>
            </a:r>
            <a:r>
              <a:rPr lang="en-US" sz="2400" b="1"/>
              <a:t>ONE</a:t>
            </a:r>
            <a:r>
              <a:rPr lang="en-US" sz="2400"/>
              <a:t> of the four participate here</a:t>
            </a:r>
          </a:p>
        </p:txBody>
      </p:sp>
      <p:sp>
        <p:nvSpPr>
          <p:cNvPr id="5" name="TextBox 4">
            <a:extLst>
              <a:ext uri="{FF2B5EF4-FFF2-40B4-BE49-F238E27FC236}">
                <a16:creationId xmlns:a16="http://schemas.microsoft.com/office/drawing/2014/main" id="{21AEE2B6-8817-DC2D-E3AB-3EB1B63AFFD6}"/>
              </a:ext>
            </a:extLst>
          </p:cNvPr>
          <p:cNvSpPr txBox="1"/>
          <p:nvPr/>
        </p:nvSpPr>
        <p:spPr>
          <a:xfrm>
            <a:off x="6266620" y="3280496"/>
            <a:ext cx="5805305" cy="830997"/>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a:t>Write the profiles in which </a:t>
            </a:r>
            <a:r>
              <a:rPr lang="en-US" sz="2400" b="1"/>
              <a:t>TWO </a:t>
            </a:r>
            <a:r>
              <a:rPr lang="en-US" sz="2400"/>
              <a:t>of the four participate here</a:t>
            </a:r>
          </a:p>
        </p:txBody>
      </p:sp>
    </p:spTree>
    <p:extLst>
      <p:ext uri="{BB962C8B-B14F-4D97-AF65-F5344CB8AC3E}">
        <p14:creationId xmlns:p14="http://schemas.microsoft.com/office/powerpoint/2010/main" val="35719380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6266622" y="284563"/>
            <a:ext cx="5805305" cy="830997"/>
          </a:xfrm>
          <a:prstGeom prst="rect">
            <a:avLst/>
          </a:prstGeom>
          <a:solidFill>
            <a:schemeClr val="accent2"/>
          </a:solidFill>
          <a:ln w="38100">
            <a:solidFill>
              <a:schemeClr val="tx1"/>
            </a:solidFill>
          </a:ln>
        </p:spPr>
        <p:txBody>
          <a:bodyPr wrap="square" rtlCol="0">
            <a:spAutoFit/>
          </a:bodyPr>
          <a:lstStyle/>
          <a:p>
            <a:r>
              <a:rPr lang="en-US" sz="2400"/>
              <a:t>Write the profiles in which </a:t>
            </a:r>
            <a:r>
              <a:rPr lang="en-US" sz="2400" b="1"/>
              <a:t>ZERO</a:t>
            </a:r>
            <a:r>
              <a:rPr lang="en-US" sz="2400"/>
              <a:t> of the four participate here</a:t>
            </a:r>
          </a:p>
        </p:txBody>
      </p:sp>
      <p:sp>
        <p:nvSpPr>
          <p:cNvPr id="4" name="TextBox 3">
            <a:extLst>
              <a:ext uri="{FF2B5EF4-FFF2-40B4-BE49-F238E27FC236}">
                <a16:creationId xmlns:a16="http://schemas.microsoft.com/office/drawing/2014/main" id="{AF8B8C52-386F-8D91-EE22-EA3BF9D4386C}"/>
              </a:ext>
            </a:extLst>
          </p:cNvPr>
          <p:cNvSpPr txBox="1"/>
          <p:nvPr/>
        </p:nvSpPr>
        <p:spPr>
          <a:xfrm>
            <a:off x="6266621" y="1443727"/>
            <a:ext cx="5805305" cy="830997"/>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a:t>Write the profiles in which </a:t>
            </a:r>
            <a:r>
              <a:rPr lang="en-US" sz="2400" b="1"/>
              <a:t>ONE</a:t>
            </a:r>
            <a:r>
              <a:rPr lang="en-US" sz="2400"/>
              <a:t> of the four participate here</a:t>
            </a:r>
          </a:p>
        </p:txBody>
      </p:sp>
      <p:sp>
        <p:nvSpPr>
          <p:cNvPr id="5" name="TextBox 4">
            <a:extLst>
              <a:ext uri="{FF2B5EF4-FFF2-40B4-BE49-F238E27FC236}">
                <a16:creationId xmlns:a16="http://schemas.microsoft.com/office/drawing/2014/main" id="{21AEE2B6-8817-DC2D-E3AB-3EB1B63AFFD6}"/>
              </a:ext>
            </a:extLst>
          </p:cNvPr>
          <p:cNvSpPr txBox="1"/>
          <p:nvPr/>
        </p:nvSpPr>
        <p:spPr>
          <a:xfrm>
            <a:off x="6266620" y="3280496"/>
            <a:ext cx="5805305" cy="830997"/>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a:t>Write the profiles in which </a:t>
            </a:r>
            <a:r>
              <a:rPr lang="en-US" sz="2400" b="1"/>
              <a:t>TWO </a:t>
            </a:r>
            <a:r>
              <a:rPr lang="en-US" sz="2400"/>
              <a:t>of the four participate here</a:t>
            </a:r>
          </a:p>
        </p:txBody>
      </p:sp>
      <p:sp>
        <p:nvSpPr>
          <p:cNvPr id="6" name="TextBox 5">
            <a:extLst>
              <a:ext uri="{FF2B5EF4-FFF2-40B4-BE49-F238E27FC236}">
                <a16:creationId xmlns:a16="http://schemas.microsoft.com/office/drawing/2014/main" id="{D8D7745B-40B9-CFB0-E12F-17E10A5B08FC}"/>
              </a:ext>
            </a:extLst>
          </p:cNvPr>
          <p:cNvSpPr txBox="1"/>
          <p:nvPr/>
        </p:nvSpPr>
        <p:spPr>
          <a:xfrm>
            <a:off x="6266619" y="4998774"/>
            <a:ext cx="5805305" cy="830997"/>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a:t>Write the profiles in which </a:t>
            </a:r>
            <a:r>
              <a:rPr lang="en-US" sz="2400" b="1"/>
              <a:t>THREE</a:t>
            </a:r>
            <a:r>
              <a:rPr lang="en-US" sz="2400"/>
              <a:t> of the four participate here</a:t>
            </a:r>
          </a:p>
        </p:txBody>
      </p:sp>
    </p:spTree>
    <p:extLst>
      <p:ext uri="{BB962C8B-B14F-4D97-AF65-F5344CB8AC3E}">
        <p14:creationId xmlns:p14="http://schemas.microsoft.com/office/powerpoint/2010/main" val="13743532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endParaRPr lang="en-US"/>
                    </a:p>
                  </a:txBody>
                  <a:tcPr>
                    <a:solidFill>
                      <a:srgbClr val="FFC1C1"/>
                    </a:solidFill>
                  </a:tcPr>
                </a:tc>
                <a:tc>
                  <a:txBody>
                    <a:bodyPr/>
                    <a:lstStyle/>
                    <a:p>
                      <a:endParaRPr lang="en-US"/>
                    </a:p>
                  </a:txBody>
                  <a:tcPr>
                    <a:solidFill>
                      <a:srgbClr val="FFC1C1"/>
                    </a:solidFill>
                  </a:tcPr>
                </a:tc>
                <a:tc>
                  <a:txBody>
                    <a:bodyPr/>
                    <a:lstStyle/>
                    <a:p>
                      <a:endParaRPr lang="en-US"/>
                    </a:p>
                  </a:txBody>
                  <a:tcPr>
                    <a:solidFill>
                      <a:srgbClr val="FFC1C1"/>
                    </a:solidFill>
                  </a:tcPr>
                </a:tc>
                <a:tc>
                  <a:txBody>
                    <a:bodyPr/>
                    <a:lstStyle/>
                    <a:p>
                      <a:endParaRPr lang="en-US"/>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6266622" y="284563"/>
            <a:ext cx="5805305" cy="830997"/>
          </a:xfrm>
          <a:prstGeom prst="rect">
            <a:avLst/>
          </a:prstGeom>
          <a:solidFill>
            <a:schemeClr val="accent2"/>
          </a:solidFill>
          <a:ln w="38100">
            <a:solidFill>
              <a:schemeClr val="tx1"/>
            </a:solidFill>
          </a:ln>
        </p:spPr>
        <p:txBody>
          <a:bodyPr wrap="square" rtlCol="0">
            <a:spAutoFit/>
          </a:bodyPr>
          <a:lstStyle/>
          <a:p>
            <a:r>
              <a:rPr lang="en-US" sz="2400"/>
              <a:t>Write the profiles in which </a:t>
            </a:r>
            <a:r>
              <a:rPr lang="en-US" sz="2400" b="1"/>
              <a:t>ZERO</a:t>
            </a:r>
            <a:r>
              <a:rPr lang="en-US" sz="2400"/>
              <a:t> of the four participate here</a:t>
            </a:r>
          </a:p>
        </p:txBody>
      </p:sp>
      <p:sp>
        <p:nvSpPr>
          <p:cNvPr id="4" name="TextBox 3">
            <a:extLst>
              <a:ext uri="{FF2B5EF4-FFF2-40B4-BE49-F238E27FC236}">
                <a16:creationId xmlns:a16="http://schemas.microsoft.com/office/drawing/2014/main" id="{AF8B8C52-386F-8D91-EE22-EA3BF9D4386C}"/>
              </a:ext>
            </a:extLst>
          </p:cNvPr>
          <p:cNvSpPr txBox="1"/>
          <p:nvPr/>
        </p:nvSpPr>
        <p:spPr>
          <a:xfrm>
            <a:off x="6266621" y="1443727"/>
            <a:ext cx="5805305" cy="830997"/>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a:t>Write the profiles in which </a:t>
            </a:r>
            <a:r>
              <a:rPr lang="en-US" sz="2400" b="1"/>
              <a:t>ONE</a:t>
            </a:r>
            <a:r>
              <a:rPr lang="en-US" sz="2400"/>
              <a:t> of the four participate here</a:t>
            </a:r>
          </a:p>
        </p:txBody>
      </p:sp>
      <p:sp>
        <p:nvSpPr>
          <p:cNvPr id="5" name="TextBox 4">
            <a:extLst>
              <a:ext uri="{FF2B5EF4-FFF2-40B4-BE49-F238E27FC236}">
                <a16:creationId xmlns:a16="http://schemas.microsoft.com/office/drawing/2014/main" id="{21AEE2B6-8817-DC2D-E3AB-3EB1B63AFFD6}"/>
              </a:ext>
            </a:extLst>
          </p:cNvPr>
          <p:cNvSpPr txBox="1"/>
          <p:nvPr/>
        </p:nvSpPr>
        <p:spPr>
          <a:xfrm>
            <a:off x="6266620" y="3280496"/>
            <a:ext cx="5805305" cy="830997"/>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a:t>Write the profiles in which </a:t>
            </a:r>
            <a:r>
              <a:rPr lang="en-US" sz="2400" b="1"/>
              <a:t>TWO </a:t>
            </a:r>
            <a:r>
              <a:rPr lang="en-US" sz="2400"/>
              <a:t>of the four participate here</a:t>
            </a:r>
          </a:p>
        </p:txBody>
      </p:sp>
      <p:sp>
        <p:nvSpPr>
          <p:cNvPr id="6" name="TextBox 5">
            <a:extLst>
              <a:ext uri="{FF2B5EF4-FFF2-40B4-BE49-F238E27FC236}">
                <a16:creationId xmlns:a16="http://schemas.microsoft.com/office/drawing/2014/main" id="{D8D7745B-40B9-CFB0-E12F-17E10A5B08FC}"/>
              </a:ext>
            </a:extLst>
          </p:cNvPr>
          <p:cNvSpPr txBox="1"/>
          <p:nvPr/>
        </p:nvSpPr>
        <p:spPr>
          <a:xfrm>
            <a:off x="6266619" y="4998774"/>
            <a:ext cx="5805305" cy="830997"/>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a:t>Write the profiles in which </a:t>
            </a:r>
            <a:r>
              <a:rPr lang="en-US" sz="2400" b="1"/>
              <a:t>THREE</a:t>
            </a:r>
            <a:r>
              <a:rPr lang="en-US" sz="2400"/>
              <a:t> of the four participate here</a:t>
            </a:r>
          </a:p>
        </p:txBody>
      </p:sp>
      <p:sp>
        <p:nvSpPr>
          <p:cNvPr id="7" name="TextBox 6">
            <a:extLst>
              <a:ext uri="{FF2B5EF4-FFF2-40B4-BE49-F238E27FC236}">
                <a16:creationId xmlns:a16="http://schemas.microsoft.com/office/drawing/2014/main" id="{459C7BD5-70D9-685B-7883-7C119BFACF25}"/>
              </a:ext>
            </a:extLst>
          </p:cNvPr>
          <p:cNvSpPr txBox="1"/>
          <p:nvPr/>
        </p:nvSpPr>
        <p:spPr>
          <a:xfrm>
            <a:off x="6266619" y="6027003"/>
            <a:ext cx="5805305" cy="830997"/>
          </a:xfrm>
          <a:prstGeom prst="rect">
            <a:avLst/>
          </a:prstGeom>
          <a:solidFill>
            <a:srgbClr val="FFC1C1"/>
          </a:solidFill>
          <a:ln w="38100">
            <a:solidFill>
              <a:schemeClr val="tx1"/>
            </a:solidFill>
          </a:ln>
        </p:spPr>
        <p:txBody>
          <a:bodyPr wrap="square" rtlCol="0">
            <a:spAutoFit/>
          </a:bodyPr>
          <a:lstStyle/>
          <a:p>
            <a:r>
              <a:rPr lang="en-US" sz="2400"/>
              <a:t>Write the profiles in which </a:t>
            </a:r>
            <a:r>
              <a:rPr lang="en-US" sz="2400" b="1"/>
              <a:t>FOUR</a:t>
            </a:r>
            <a:r>
              <a:rPr lang="en-US" sz="2400"/>
              <a:t> of the four participate here</a:t>
            </a:r>
          </a:p>
        </p:txBody>
      </p:sp>
    </p:spTree>
    <p:extLst>
      <p:ext uri="{BB962C8B-B14F-4D97-AF65-F5344CB8AC3E}">
        <p14:creationId xmlns:p14="http://schemas.microsoft.com/office/powerpoint/2010/main" val="5412791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endParaRPr lang="en-US"/>
                    </a:p>
                  </a:txBody>
                  <a:tcPr>
                    <a:solidFill>
                      <a:srgbClr val="FFC1C1"/>
                    </a:solidFill>
                  </a:tcPr>
                </a:tc>
                <a:tc>
                  <a:txBody>
                    <a:bodyPr/>
                    <a:lstStyle/>
                    <a:p>
                      <a:endParaRPr lang="en-US"/>
                    </a:p>
                  </a:txBody>
                  <a:tcPr>
                    <a:solidFill>
                      <a:srgbClr val="FFC1C1"/>
                    </a:solidFill>
                  </a:tcPr>
                </a:tc>
                <a:tc>
                  <a:txBody>
                    <a:bodyPr/>
                    <a:lstStyle/>
                    <a:p>
                      <a:endParaRPr lang="en-US"/>
                    </a:p>
                  </a:txBody>
                  <a:tcPr>
                    <a:solidFill>
                      <a:srgbClr val="FFC1C1"/>
                    </a:solidFill>
                  </a:tcPr>
                </a:tc>
                <a:tc>
                  <a:txBody>
                    <a:bodyPr/>
                    <a:lstStyle/>
                    <a:p>
                      <a:endParaRPr lang="en-US"/>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6266622" y="284563"/>
            <a:ext cx="5805305" cy="830997"/>
          </a:xfrm>
          <a:prstGeom prst="rect">
            <a:avLst/>
          </a:prstGeom>
          <a:solidFill>
            <a:schemeClr val="accent2"/>
          </a:solidFill>
          <a:ln w="38100">
            <a:solidFill>
              <a:schemeClr val="tx1"/>
            </a:solidFill>
          </a:ln>
        </p:spPr>
        <p:txBody>
          <a:bodyPr wrap="square" rtlCol="0">
            <a:spAutoFit/>
          </a:bodyPr>
          <a:lstStyle/>
          <a:p>
            <a:r>
              <a:rPr lang="en-US" sz="2400"/>
              <a:t>Write the profiles in which </a:t>
            </a:r>
            <a:r>
              <a:rPr lang="en-US" sz="2400" b="1"/>
              <a:t>ZERO</a:t>
            </a:r>
            <a:r>
              <a:rPr lang="en-US" sz="2400"/>
              <a:t> of the four participate here</a:t>
            </a:r>
          </a:p>
        </p:txBody>
      </p:sp>
      <p:sp>
        <p:nvSpPr>
          <p:cNvPr id="4" name="TextBox 3">
            <a:extLst>
              <a:ext uri="{FF2B5EF4-FFF2-40B4-BE49-F238E27FC236}">
                <a16:creationId xmlns:a16="http://schemas.microsoft.com/office/drawing/2014/main" id="{AF8B8C52-386F-8D91-EE22-EA3BF9D4386C}"/>
              </a:ext>
            </a:extLst>
          </p:cNvPr>
          <p:cNvSpPr txBox="1"/>
          <p:nvPr/>
        </p:nvSpPr>
        <p:spPr>
          <a:xfrm>
            <a:off x="6266621" y="1443727"/>
            <a:ext cx="5805305" cy="830997"/>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a:t>Write the profiles in which </a:t>
            </a:r>
            <a:r>
              <a:rPr lang="en-US" sz="2400" b="1"/>
              <a:t>ONE</a:t>
            </a:r>
            <a:r>
              <a:rPr lang="en-US" sz="2400"/>
              <a:t> of the four participate here</a:t>
            </a:r>
          </a:p>
        </p:txBody>
      </p:sp>
      <p:sp>
        <p:nvSpPr>
          <p:cNvPr id="5" name="TextBox 4">
            <a:extLst>
              <a:ext uri="{FF2B5EF4-FFF2-40B4-BE49-F238E27FC236}">
                <a16:creationId xmlns:a16="http://schemas.microsoft.com/office/drawing/2014/main" id="{21AEE2B6-8817-DC2D-E3AB-3EB1B63AFFD6}"/>
              </a:ext>
            </a:extLst>
          </p:cNvPr>
          <p:cNvSpPr txBox="1"/>
          <p:nvPr/>
        </p:nvSpPr>
        <p:spPr>
          <a:xfrm>
            <a:off x="6266620" y="3280496"/>
            <a:ext cx="5805305" cy="830997"/>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a:t>Write the profiles in which </a:t>
            </a:r>
            <a:r>
              <a:rPr lang="en-US" sz="2400" b="1"/>
              <a:t>TWO </a:t>
            </a:r>
            <a:r>
              <a:rPr lang="en-US" sz="2400"/>
              <a:t>of the four participate here</a:t>
            </a:r>
          </a:p>
        </p:txBody>
      </p:sp>
      <p:sp>
        <p:nvSpPr>
          <p:cNvPr id="6" name="TextBox 5">
            <a:extLst>
              <a:ext uri="{FF2B5EF4-FFF2-40B4-BE49-F238E27FC236}">
                <a16:creationId xmlns:a16="http://schemas.microsoft.com/office/drawing/2014/main" id="{D8D7745B-40B9-CFB0-E12F-17E10A5B08FC}"/>
              </a:ext>
            </a:extLst>
          </p:cNvPr>
          <p:cNvSpPr txBox="1"/>
          <p:nvPr/>
        </p:nvSpPr>
        <p:spPr>
          <a:xfrm>
            <a:off x="6266619" y="4998774"/>
            <a:ext cx="5805305" cy="830997"/>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a:t>Write the profiles in which </a:t>
            </a:r>
            <a:r>
              <a:rPr lang="en-US" sz="2400" b="1"/>
              <a:t>THREE</a:t>
            </a:r>
            <a:r>
              <a:rPr lang="en-US" sz="2400"/>
              <a:t> of the four participate here</a:t>
            </a:r>
          </a:p>
        </p:txBody>
      </p:sp>
      <p:sp>
        <p:nvSpPr>
          <p:cNvPr id="7" name="TextBox 6">
            <a:extLst>
              <a:ext uri="{FF2B5EF4-FFF2-40B4-BE49-F238E27FC236}">
                <a16:creationId xmlns:a16="http://schemas.microsoft.com/office/drawing/2014/main" id="{459C7BD5-70D9-685B-7883-7C119BFACF25}"/>
              </a:ext>
            </a:extLst>
          </p:cNvPr>
          <p:cNvSpPr txBox="1"/>
          <p:nvPr/>
        </p:nvSpPr>
        <p:spPr>
          <a:xfrm>
            <a:off x="6266619" y="6027003"/>
            <a:ext cx="5805305" cy="830997"/>
          </a:xfrm>
          <a:prstGeom prst="rect">
            <a:avLst/>
          </a:prstGeom>
          <a:solidFill>
            <a:srgbClr val="FFC1C1"/>
          </a:solidFill>
          <a:ln w="38100">
            <a:solidFill>
              <a:schemeClr val="tx1"/>
            </a:solidFill>
          </a:ln>
        </p:spPr>
        <p:txBody>
          <a:bodyPr wrap="square" rtlCol="0">
            <a:spAutoFit/>
          </a:bodyPr>
          <a:lstStyle/>
          <a:p>
            <a:r>
              <a:rPr lang="en-US" sz="2400"/>
              <a:t>Write the profiles in which </a:t>
            </a:r>
            <a:r>
              <a:rPr lang="en-US" sz="2400" b="1"/>
              <a:t>FOUR</a:t>
            </a:r>
            <a:r>
              <a:rPr lang="en-US" sz="2400"/>
              <a:t> of the four participate here</a:t>
            </a:r>
          </a:p>
        </p:txBody>
      </p:sp>
    </p:spTree>
    <p:extLst>
      <p:ext uri="{BB962C8B-B14F-4D97-AF65-F5344CB8AC3E}">
        <p14:creationId xmlns:p14="http://schemas.microsoft.com/office/powerpoint/2010/main" val="4443697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endParaRPr lang="en-US"/>
                    </a:p>
                  </a:txBody>
                  <a:tcPr>
                    <a:solidFill>
                      <a:srgbClr val="FFC1C1"/>
                    </a:solidFill>
                  </a:tcPr>
                </a:tc>
                <a:tc>
                  <a:txBody>
                    <a:bodyPr/>
                    <a:lstStyle/>
                    <a:p>
                      <a:endParaRPr lang="en-US"/>
                    </a:p>
                  </a:txBody>
                  <a:tcPr>
                    <a:solidFill>
                      <a:srgbClr val="FFC1C1"/>
                    </a:solidFill>
                  </a:tcPr>
                </a:tc>
                <a:tc>
                  <a:txBody>
                    <a:bodyPr/>
                    <a:lstStyle/>
                    <a:p>
                      <a:endParaRPr lang="en-US"/>
                    </a:p>
                  </a:txBody>
                  <a:tcPr>
                    <a:solidFill>
                      <a:srgbClr val="FFC1C1"/>
                    </a:solidFill>
                  </a:tcPr>
                </a:tc>
                <a:tc>
                  <a:txBody>
                    <a:bodyPr/>
                    <a:lstStyle/>
                    <a:p>
                      <a:endParaRPr lang="en-US"/>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6266622" y="284563"/>
            <a:ext cx="5805305" cy="830997"/>
          </a:xfrm>
          <a:prstGeom prst="rect">
            <a:avLst/>
          </a:prstGeom>
          <a:solidFill>
            <a:schemeClr val="accent2"/>
          </a:solidFill>
          <a:ln w="38100">
            <a:solidFill>
              <a:schemeClr val="tx1"/>
            </a:solidFill>
          </a:ln>
        </p:spPr>
        <p:txBody>
          <a:bodyPr wrap="square" rtlCol="0">
            <a:spAutoFit/>
          </a:bodyPr>
          <a:lstStyle/>
          <a:p>
            <a:r>
              <a:rPr lang="en-US" sz="2400"/>
              <a:t>Write the profiles in which </a:t>
            </a:r>
            <a:r>
              <a:rPr lang="en-US" sz="2400" b="1"/>
              <a:t>ZERO</a:t>
            </a:r>
            <a:r>
              <a:rPr lang="en-US" sz="2400"/>
              <a:t> of the four participate here</a:t>
            </a:r>
          </a:p>
        </p:txBody>
      </p:sp>
      <p:sp>
        <p:nvSpPr>
          <p:cNvPr id="4" name="TextBox 3">
            <a:extLst>
              <a:ext uri="{FF2B5EF4-FFF2-40B4-BE49-F238E27FC236}">
                <a16:creationId xmlns:a16="http://schemas.microsoft.com/office/drawing/2014/main" id="{AF8B8C52-386F-8D91-EE22-EA3BF9D4386C}"/>
              </a:ext>
            </a:extLst>
          </p:cNvPr>
          <p:cNvSpPr txBox="1"/>
          <p:nvPr/>
        </p:nvSpPr>
        <p:spPr>
          <a:xfrm>
            <a:off x="6266621" y="1443727"/>
            <a:ext cx="5805305" cy="830997"/>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a:t>Write the profiles in which </a:t>
            </a:r>
            <a:r>
              <a:rPr lang="en-US" sz="2400" b="1"/>
              <a:t>ONE</a:t>
            </a:r>
            <a:r>
              <a:rPr lang="en-US" sz="2400"/>
              <a:t> of the four participate here</a:t>
            </a:r>
          </a:p>
        </p:txBody>
      </p:sp>
      <p:sp>
        <p:nvSpPr>
          <p:cNvPr id="5" name="TextBox 4">
            <a:extLst>
              <a:ext uri="{FF2B5EF4-FFF2-40B4-BE49-F238E27FC236}">
                <a16:creationId xmlns:a16="http://schemas.microsoft.com/office/drawing/2014/main" id="{21AEE2B6-8817-DC2D-E3AB-3EB1B63AFFD6}"/>
              </a:ext>
            </a:extLst>
          </p:cNvPr>
          <p:cNvSpPr txBox="1"/>
          <p:nvPr/>
        </p:nvSpPr>
        <p:spPr>
          <a:xfrm>
            <a:off x="6266620" y="3280496"/>
            <a:ext cx="5805305" cy="830997"/>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a:t>Write the profiles in which </a:t>
            </a:r>
            <a:r>
              <a:rPr lang="en-US" sz="2400" b="1"/>
              <a:t>TWO </a:t>
            </a:r>
            <a:r>
              <a:rPr lang="en-US" sz="2400"/>
              <a:t>of the four participate here</a:t>
            </a:r>
          </a:p>
        </p:txBody>
      </p:sp>
      <p:sp>
        <p:nvSpPr>
          <p:cNvPr id="6" name="TextBox 5">
            <a:extLst>
              <a:ext uri="{FF2B5EF4-FFF2-40B4-BE49-F238E27FC236}">
                <a16:creationId xmlns:a16="http://schemas.microsoft.com/office/drawing/2014/main" id="{D8D7745B-40B9-CFB0-E12F-17E10A5B08FC}"/>
              </a:ext>
            </a:extLst>
          </p:cNvPr>
          <p:cNvSpPr txBox="1"/>
          <p:nvPr/>
        </p:nvSpPr>
        <p:spPr>
          <a:xfrm>
            <a:off x="6266619" y="4998774"/>
            <a:ext cx="5805305" cy="830997"/>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a:t>Write the profiles in which </a:t>
            </a:r>
            <a:r>
              <a:rPr lang="en-US" sz="2400" b="1"/>
              <a:t>THREE</a:t>
            </a:r>
            <a:r>
              <a:rPr lang="en-US" sz="2400"/>
              <a:t> of the four participate here</a:t>
            </a:r>
          </a:p>
        </p:txBody>
      </p:sp>
      <p:sp>
        <p:nvSpPr>
          <p:cNvPr id="7" name="TextBox 6">
            <a:extLst>
              <a:ext uri="{FF2B5EF4-FFF2-40B4-BE49-F238E27FC236}">
                <a16:creationId xmlns:a16="http://schemas.microsoft.com/office/drawing/2014/main" id="{459C7BD5-70D9-685B-7883-7C119BFACF25}"/>
              </a:ext>
            </a:extLst>
          </p:cNvPr>
          <p:cNvSpPr txBox="1"/>
          <p:nvPr/>
        </p:nvSpPr>
        <p:spPr>
          <a:xfrm>
            <a:off x="6266619" y="6027003"/>
            <a:ext cx="5805305" cy="830997"/>
          </a:xfrm>
          <a:prstGeom prst="rect">
            <a:avLst/>
          </a:prstGeom>
          <a:solidFill>
            <a:srgbClr val="FFC1C1"/>
          </a:solidFill>
          <a:ln w="38100">
            <a:solidFill>
              <a:schemeClr val="tx1"/>
            </a:solidFill>
          </a:ln>
        </p:spPr>
        <p:txBody>
          <a:bodyPr wrap="square" rtlCol="0">
            <a:spAutoFit/>
          </a:bodyPr>
          <a:lstStyle/>
          <a:p>
            <a:r>
              <a:rPr lang="en-US" sz="2400"/>
              <a:t>Write the profiles in which </a:t>
            </a:r>
            <a:r>
              <a:rPr lang="en-US" sz="2400" b="1"/>
              <a:t>FOUR</a:t>
            </a:r>
            <a:r>
              <a:rPr lang="en-US" sz="2400"/>
              <a:t> of the four participate here</a:t>
            </a:r>
          </a:p>
        </p:txBody>
      </p:sp>
    </p:spTree>
    <p:extLst>
      <p:ext uri="{BB962C8B-B14F-4D97-AF65-F5344CB8AC3E}">
        <p14:creationId xmlns:p14="http://schemas.microsoft.com/office/powerpoint/2010/main" val="28901859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endParaRPr lang="en-US"/>
                    </a:p>
                  </a:txBody>
                  <a:tcPr>
                    <a:solidFill>
                      <a:srgbClr val="FFC1C1"/>
                    </a:solidFill>
                  </a:tcPr>
                </a:tc>
                <a:tc>
                  <a:txBody>
                    <a:bodyPr/>
                    <a:lstStyle/>
                    <a:p>
                      <a:endParaRPr lang="en-US"/>
                    </a:p>
                  </a:txBody>
                  <a:tcPr>
                    <a:solidFill>
                      <a:srgbClr val="FFC1C1"/>
                    </a:solidFill>
                  </a:tcPr>
                </a:tc>
                <a:tc>
                  <a:txBody>
                    <a:bodyPr/>
                    <a:lstStyle/>
                    <a:p>
                      <a:endParaRPr lang="en-US"/>
                    </a:p>
                  </a:txBody>
                  <a:tcPr>
                    <a:solidFill>
                      <a:srgbClr val="FFC1C1"/>
                    </a:solidFill>
                  </a:tcPr>
                </a:tc>
                <a:tc>
                  <a:txBody>
                    <a:bodyPr/>
                    <a:lstStyle/>
                    <a:p>
                      <a:endParaRPr lang="en-US"/>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6266622" y="284563"/>
            <a:ext cx="5805305" cy="830997"/>
          </a:xfrm>
          <a:prstGeom prst="rect">
            <a:avLst/>
          </a:prstGeom>
          <a:solidFill>
            <a:schemeClr val="accent2"/>
          </a:solidFill>
          <a:ln w="38100">
            <a:solidFill>
              <a:schemeClr val="tx1"/>
            </a:solidFill>
          </a:ln>
        </p:spPr>
        <p:txBody>
          <a:bodyPr wrap="square" rtlCol="0">
            <a:spAutoFit/>
          </a:bodyPr>
          <a:lstStyle/>
          <a:p>
            <a:r>
              <a:rPr lang="en-US" sz="2400"/>
              <a:t>Write the profiles in which </a:t>
            </a:r>
            <a:r>
              <a:rPr lang="en-US" sz="2400" b="1"/>
              <a:t>ZERO</a:t>
            </a:r>
            <a:r>
              <a:rPr lang="en-US" sz="2400"/>
              <a:t> of the four participate here</a:t>
            </a:r>
          </a:p>
        </p:txBody>
      </p:sp>
      <p:sp>
        <p:nvSpPr>
          <p:cNvPr id="4" name="TextBox 3">
            <a:extLst>
              <a:ext uri="{FF2B5EF4-FFF2-40B4-BE49-F238E27FC236}">
                <a16:creationId xmlns:a16="http://schemas.microsoft.com/office/drawing/2014/main" id="{AF8B8C52-386F-8D91-EE22-EA3BF9D4386C}"/>
              </a:ext>
            </a:extLst>
          </p:cNvPr>
          <p:cNvSpPr txBox="1"/>
          <p:nvPr/>
        </p:nvSpPr>
        <p:spPr>
          <a:xfrm>
            <a:off x="6266621" y="1443727"/>
            <a:ext cx="5805305" cy="830997"/>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a:t>Write the profiles in which </a:t>
            </a:r>
            <a:r>
              <a:rPr lang="en-US" sz="2400" b="1"/>
              <a:t>ONE</a:t>
            </a:r>
            <a:r>
              <a:rPr lang="en-US" sz="2400"/>
              <a:t> of the four participate here</a:t>
            </a:r>
          </a:p>
        </p:txBody>
      </p:sp>
      <p:sp>
        <p:nvSpPr>
          <p:cNvPr id="5" name="TextBox 4">
            <a:extLst>
              <a:ext uri="{FF2B5EF4-FFF2-40B4-BE49-F238E27FC236}">
                <a16:creationId xmlns:a16="http://schemas.microsoft.com/office/drawing/2014/main" id="{21AEE2B6-8817-DC2D-E3AB-3EB1B63AFFD6}"/>
              </a:ext>
            </a:extLst>
          </p:cNvPr>
          <p:cNvSpPr txBox="1"/>
          <p:nvPr/>
        </p:nvSpPr>
        <p:spPr>
          <a:xfrm>
            <a:off x="6266620" y="3280496"/>
            <a:ext cx="5805305" cy="830997"/>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a:t>Write the profiles in which </a:t>
            </a:r>
            <a:r>
              <a:rPr lang="en-US" sz="2400" b="1"/>
              <a:t>TWO </a:t>
            </a:r>
            <a:r>
              <a:rPr lang="en-US" sz="2400"/>
              <a:t>of the four participate here</a:t>
            </a:r>
          </a:p>
        </p:txBody>
      </p:sp>
      <p:sp>
        <p:nvSpPr>
          <p:cNvPr id="6" name="TextBox 5">
            <a:extLst>
              <a:ext uri="{FF2B5EF4-FFF2-40B4-BE49-F238E27FC236}">
                <a16:creationId xmlns:a16="http://schemas.microsoft.com/office/drawing/2014/main" id="{D8D7745B-40B9-CFB0-E12F-17E10A5B08FC}"/>
              </a:ext>
            </a:extLst>
          </p:cNvPr>
          <p:cNvSpPr txBox="1"/>
          <p:nvPr/>
        </p:nvSpPr>
        <p:spPr>
          <a:xfrm>
            <a:off x="6266619" y="4998774"/>
            <a:ext cx="5805305" cy="830997"/>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a:t>Write the profiles in which </a:t>
            </a:r>
            <a:r>
              <a:rPr lang="en-US" sz="2400" b="1"/>
              <a:t>THREE</a:t>
            </a:r>
            <a:r>
              <a:rPr lang="en-US" sz="2400"/>
              <a:t> of the four participate here</a:t>
            </a:r>
          </a:p>
        </p:txBody>
      </p:sp>
      <p:sp>
        <p:nvSpPr>
          <p:cNvPr id="7" name="TextBox 6">
            <a:extLst>
              <a:ext uri="{FF2B5EF4-FFF2-40B4-BE49-F238E27FC236}">
                <a16:creationId xmlns:a16="http://schemas.microsoft.com/office/drawing/2014/main" id="{459C7BD5-70D9-685B-7883-7C119BFACF25}"/>
              </a:ext>
            </a:extLst>
          </p:cNvPr>
          <p:cNvSpPr txBox="1"/>
          <p:nvPr/>
        </p:nvSpPr>
        <p:spPr>
          <a:xfrm>
            <a:off x="6266619" y="6027003"/>
            <a:ext cx="5805305" cy="830997"/>
          </a:xfrm>
          <a:prstGeom prst="rect">
            <a:avLst/>
          </a:prstGeom>
          <a:solidFill>
            <a:srgbClr val="FFC1C1"/>
          </a:solidFill>
          <a:ln w="38100">
            <a:solidFill>
              <a:schemeClr val="tx1"/>
            </a:solidFill>
          </a:ln>
        </p:spPr>
        <p:txBody>
          <a:bodyPr wrap="square" rtlCol="0">
            <a:spAutoFit/>
          </a:bodyPr>
          <a:lstStyle/>
          <a:p>
            <a:r>
              <a:rPr lang="en-US" sz="2400"/>
              <a:t>Write the profiles in which </a:t>
            </a:r>
            <a:r>
              <a:rPr lang="en-US" sz="2400" b="1"/>
              <a:t>FOUR</a:t>
            </a:r>
            <a:r>
              <a:rPr lang="en-US" sz="2400"/>
              <a:t> of the four participate here</a:t>
            </a:r>
          </a:p>
        </p:txBody>
      </p:sp>
    </p:spTree>
    <p:extLst>
      <p:ext uri="{BB962C8B-B14F-4D97-AF65-F5344CB8AC3E}">
        <p14:creationId xmlns:p14="http://schemas.microsoft.com/office/powerpoint/2010/main" val="21579648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6266622" y="284563"/>
            <a:ext cx="5805305" cy="830997"/>
          </a:xfrm>
          <a:prstGeom prst="rect">
            <a:avLst/>
          </a:prstGeom>
          <a:solidFill>
            <a:schemeClr val="accent2"/>
          </a:solidFill>
          <a:ln w="38100">
            <a:solidFill>
              <a:schemeClr val="tx1"/>
            </a:solidFill>
          </a:ln>
        </p:spPr>
        <p:txBody>
          <a:bodyPr wrap="square" rtlCol="0">
            <a:spAutoFit/>
          </a:bodyPr>
          <a:lstStyle/>
          <a:p>
            <a:r>
              <a:rPr lang="en-US" sz="2400"/>
              <a:t>Write the profiles in which </a:t>
            </a:r>
            <a:r>
              <a:rPr lang="en-US" sz="2400" b="1"/>
              <a:t>ZERO</a:t>
            </a:r>
            <a:r>
              <a:rPr lang="en-US" sz="2400"/>
              <a:t> of the four participate here</a:t>
            </a:r>
          </a:p>
        </p:txBody>
      </p:sp>
      <p:sp>
        <p:nvSpPr>
          <p:cNvPr id="4" name="TextBox 3">
            <a:extLst>
              <a:ext uri="{FF2B5EF4-FFF2-40B4-BE49-F238E27FC236}">
                <a16:creationId xmlns:a16="http://schemas.microsoft.com/office/drawing/2014/main" id="{AF8B8C52-386F-8D91-EE22-EA3BF9D4386C}"/>
              </a:ext>
            </a:extLst>
          </p:cNvPr>
          <p:cNvSpPr txBox="1"/>
          <p:nvPr/>
        </p:nvSpPr>
        <p:spPr>
          <a:xfrm>
            <a:off x="6266621" y="1443727"/>
            <a:ext cx="5805305" cy="830997"/>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a:t>Write the profiles in which </a:t>
            </a:r>
            <a:r>
              <a:rPr lang="en-US" sz="2400" b="1"/>
              <a:t>ONE</a:t>
            </a:r>
            <a:r>
              <a:rPr lang="en-US" sz="2400"/>
              <a:t> of the four participate here</a:t>
            </a:r>
          </a:p>
        </p:txBody>
      </p:sp>
      <p:sp>
        <p:nvSpPr>
          <p:cNvPr id="5" name="TextBox 4">
            <a:extLst>
              <a:ext uri="{FF2B5EF4-FFF2-40B4-BE49-F238E27FC236}">
                <a16:creationId xmlns:a16="http://schemas.microsoft.com/office/drawing/2014/main" id="{21AEE2B6-8817-DC2D-E3AB-3EB1B63AFFD6}"/>
              </a:ext>
            </a:extLst>
          </p:cNvPr>
          <p:cNvSpPr txBox="1"/>
          <p:nvPr/>
        </p:nvSpPr>
        <p:spPr>
          <a:xfrm>
            <a:off x="6266620" y="3280496"/>
            <a:ext cx="5805305" cy="830997"/>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a:t>Write the profiles in which </a:t>
            </a:r>
            <a:r>
              <a:rPr lang="en-US" sz="2400" b="1"/>
              <a:t>TWO </a:t>
            </a:r>
            <a:r>
              <a:rPr lang="en-US" sz="2400"/>
              <a:t>of the four participate here</a:t>
            </a:r>
          </a:p>
        </p:txBody>
      </p:sp>
      <p:sp>
        <p:nvSpPr>
          <p:cNvPr id="6" name="TextBox 5">
            <a:extLst>
              <a:ext uri="{FF2B5EF4-FFF2-40B4-BE49-F238E27FC236}">
                <a16:creationId xmlns:a16="http://schemas.microsoft.com/office/drawing/2014/main" id="{D8D7745B-40B9-CFB0-E12F-17E10A5B08FC}"/>
              </a:ext>
            </a:extLst>
          </p:cNvPr>
          <p:cNvSpPr txBox="1"/>
          <p:nvPr/>
        </p:nvSpPr>
        <p:spPr>
          <a:xfrm>
            <a:off x="6266619" y="4998774"/>
            <a:ext cx="5805305" cy="830997"/>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a:t>Write the profiles in which </a:t>
            </a:r>
            <a:r>
              <a:rPr lang="en-US" sz="2400" b="1"/>
              <a:t>THREE</a:t>
            </a:r>
            <a:r>
              <a:rPr lang="en-US" sz="2400"/>
              <a:t> of the four participate here</a:t>
            </a:r>
          </a:p>
        </p:txBody>
      </p:sp>
      <p:sp>
        <p:nvSpPr>
          <p:cNvPr id="7" name="TextBox 6">
            <a:extLst>
              <a:ext uri="{FF2B5EF4-FFF2-40B4-BE49-F238E27FC236}">
                <a16:creationId xmlns:a16="http://schemas.microsoft.com/office/drawing/2014/main" id="{459C7BD5-70D9-685B-7883-7C119BFACF25}"/>
              </a:ext>
            </a:extLst>
          </p:cNvPr>
          <p:cNvSpPr txBox="1"/>
          <p:nvPr/>
        </p:nvSpPr>
        <p:spPr>
          <a:xfrm>
            <a:off x="6266619" y="6027003"/>
            <a:ext cx="5805305" cy="830997"/>
          </a:xfrm>
          <a:prstGeom prst="rect">
            <a:avLst/>
          </a:prstGeom>
          <a:solidFill>
            <a:srgbClr val="FFC1C1"/>
          </a:solidFill>
          <a:ln w="38100">
            <a:solidFill>
              <a:schemeClr val="tx1"/>
            </a:solidFill>
          </a:ln>
        </p:spPr>
        <p:txBody>
          <a:bodyPr wrap="square" rtlCol="0">
            <a:spAutoFit/>
          </a:bodyPr>
          <a:lstStyle/>
          <a:p>
            <a:r>
              <a:rPr lang="en-US" sz="2400"/>
              <a:t>Write the profiles in which </a:t>
            </a:r>
            <a:r>
              <a:rPr lang="en-US" sz="2400" b="1"/>
              <a:t>FOUR</a:t>
            </a:r>
            <a:r>
              <a:rPr lang="en-US" sz="2400"/>
              <a:t> of the four participate here</a:t>
            </a:r>
          </a:p>
        </p:txBody>
      </p:sp>
    </p:spTree>
    <p:extLst>
      <p:ext uri="{BB962C8B-B14F-4D97-AF65-F5344CB8AC3E}">
        <p14:creationId xmlns:p14="http://schemas.microsoft.com/office/powerpoint/2010/main" val="4667443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6266622" y="284563"/>
            <a:ext cx="5805305" cy="830997"/>
          </a:xfrm>
          <a:prstGeom prst="rect">
            <a:avLst/>
          </a:prstGeom>
          <a:solidFill>
            <a:schemeClr val="accent2"/>
          </a:solidFill>
          <a:ln w="38100">
            <a:solidFill>
              <a:schemeClr val="tx1"/>
            </a:solidFill>
          </a:ln>
        </p:spPr>
        <p:txBody>
          <a:bodyPr wrap="square" rtlCol="0">
            <a:spAutoFit/>
          </a:bodyPr>
          <a:lstStyle/>
          <a:p>
            <a:r>
              <a:rPr lang="en-US" sz="2400"/>
              <a:t>Write the profiles in which </a:t>
            </a:r>
            <a:r>
              <a:rPr lang="en-US" sz="2400" b="1"/>
              <a:t>ZERO</a:t>
            </a:r>
            <a:r>
              <a:rPr lang="en-US" sz="2400"/>
              <a:t> of the four participate here</a:t>
            </a:r>
          </a:p>
        </p:txBody>
      </p:sp>
      <p:sp>
        <p:nvSpPr>
          <p:cNvPr id="4" name="TextBox 3">
            <a:extLst>
              <a:ext uri="{FF2B5EF4-FFF2-40B4-BE49-F238E27FC236}">
                <a16:creationId xmlns:a16="http://schemas.microsoft.com/office/drawing/2014/main" id="{AF8B8C52-386F-8D91-EE22-EA3BF9D4386C}"/>
              </a:ext>
            </a:extLst>
          </p:cNvPr>
          <p:cNvSpPr txBox="1"/>
          <p:nvPr/>
        </p:nvSpPr>
        <p:spPr>
          <a:xfrm>
            <a:off x="6266621" y="1443727"/>
            <a:ext cx="5805305" cy="830997"/>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a:t>Write the profiles in which </a:t>
            </a:r>
            <a:r>
              <a:rPr lang="en-US" sz="2400" b="1"/>
              <a:t>ONE</a:t>
            </a:r>
            <a:r>
              <a:rPr lang="en-US" sz="2400"/>
              <a:t> of the four participate here</a:t>
            </a:r>
          </a:p>
        </p:txBody>
      </p:sp>
      <p:sp>
        <p:nvSpPr>
          <p:cNvPr id="5" name="TextBox 4">
            <a:extLst>
              <a:ext uri="{FF2B5EF4-FFF2-40B4-BE49-F238E27FC236}">
                <a16:creationId xmlns:a16="http://schemas.microsoft.com/office/drawing/2014/main" id="{21AEE2B6-8817-DC2D-E3AB-3EB1B63AFFD6}"/>
              </a:ext>
            </a:extLst>
          </p:cNvPr>
          <p:cNvSpPr txBox="1"/>
          <p:nvPr/>
        </p:nvSpPr>
        <p:spPr>
          <a:xfrm>
            <a:off x="6266620" y="3280496"/>
            <a:ext cx="5805305" cy="830997"/>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a:t>Write the profiles in which </a:t>
            </a:r>
            <a:r>
              <a:rPr lang="en-US" sz="2400" b="1"/>
              <a:t>TWO </a:t>
            </a:r>
            <a:r>
              <a:rPr lang="en-US" sz="2400"/>
              <a:t>of the four participate here</a:t>
            </a:r>
          </a:p>
        </p:txBody>
      </p:sp>
      <p:sp>
        <p:nvSpPr>
          <p:cNvPr id="6" name="TextBox 5">
            <a:extLst>
              <a:ext uri="{FF2B5EF4-FFF2-40B4-BE49-F238E27FC236}">
                <a16:creationId xmlns:a16="http://schemas.microsoft.com/office/drawing/2014/main" id="{D8D7745B-40B9-CFB0-E12F-17E10A5B08FC}"/>
              </a:ext>
            </a:extLst>
          </p:cNvPr>
          <p:cNvSpPr txBox="1"/>
          <p:nvPr/>
        </p:nvSpPr>
        <p:spPr>
          <a:xfrm>
            <a:off x="6266619" y="4998774"/>
            <a:ext cx="5805305" cy="830997"/>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a:t>Write the profiles in which </a:t>
            </a:r>
            <a:r>
              <a:rPr lang="en-US" sz="2400" b="1"/>
              <a:t>THREE</a:t>
            </a:r>
            <a:r>
              <a:rPr lang="en-US" sz="2400"/>
              <a:t> of the four participate here</a:t>
            </a:r>
          </a:p>
        </p:txBody>
      </p:sp>
      <p:sp>
        <p:nvSpPr>
          <p:cNvPr id="7" name="TextBox 6">
            <a:extLst>
              <a:ext uri="{FF2B5EF4-FFF2-40B4-BE49-F238E27FC236}">
                <a16:creationId xmlns:a16="http://schemas.microsoft.com/office/drawing/2014/main" id="{459C7BD5-70D9-685B-7883-7C119BFACF25}"/>
              </a:ext>
            </a:extLst>
          </p:cNvPr>
          <p:cNvSpPr txBox="1"/>
          <p:nvPr/>
        </p:nvSpPr>
        <p:spPr>
          <a:xfrm>
            <a:off x="6266619" y="6027003"/>
            <a:ext cx="5805305" cy="830997"/>
          </a:xfrm>
          <a:prstGeom prst="rect">
            <a:avLst/>
          </a:prstGeom>
          <a:solidFill>
            <a:srgbClr val="FFC1C1"/>
          </a:solidFill>
          <a:ln w="38100">
            <a:solidFill>
              <a:schemeClr val="tx1"/>
            </a:solidFill>
          </a:ln>
        </p:spPr>
        <p:txBody>
          <a:bodyPr wrap="square" rtlCol="0">
            <a:spAutoFit/>
          </a:bodyPr>
          <a:lstStyle/>
          <a:p>
            <a:r>
              <a:rPr lang="en-US" sz="2400"/>
              <a:t>Write the profiles in which </a:t>
            </a:r>
            <a:r>
              <a:rPr lang="en-US" sz="2400" b="1"/>
              <a:t>FOUR</a:t>
            </a:r>
            <a:r>
              <a:rPr lang="en-US" sz="2400"/>
              <a:t> of the four participate here</a:t>
            </a:r>
          </a:p>
        </p:txBody>
      </p:sp>
    </p:spTree>
    <p:extLst>
      <p:ext uri="{BB962C8B-B14F-4D97-AF65-F5344CB8AC3E}">
        <p14:creationId xmlns:p14="http://schemas.microsoft.com/office/powerpoint/2010/main" val="8062237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Tree>
    <p:extLst>
      <p:ext uri="{BB962C8B-B14F-4D97-AF65-F5344CB8AC3E}">
        <p14:creationId xmlns:p14="http://schemas.microsoft.com/office/powerpoint/2010/main" val="428611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F294896F-4D42-D356-92B1-63D2A6B8C3F3}"/>
              </a:ext>
            </a:extLst>
          </p:cNvPr>
          <p:cNvSpPr/>
          <p:nvPr/>
        </p:nvSpPr>
        <p:spPr>
          <a:xfrm>
            <a:off x="0" y="0"/>
            <a:ext cx="12192000" cy="6858000"/>
          </a:xfrm>
          <a:prstGeom prst="rect">
            <a:avLst/>
          </a:prstGeom>
          <a:solidFill>
            <a:srgbClr val="4472C4">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6D9D652-F72F-DE43-7017-DE486B083C26}"/>
              </a:ext>
            </a:extLst>
          </p:cNvPr>
          <p:cNvSpPr/>
          <p:nvPr/>
        </p:nvSpPr>
        <p:spPr>
          <a:xfrm>
            <a:off x="1016001" y="1341351"/>
            <a:ext cx="9919853" cy="461125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619A085-D53E-4935-C363-9F1F784FA980}"/>
              </a:ext>
            </a:extLst>
          </p:cNvPr>
          <p:cNvSpPr txBox="1"/>
          <p:nvPr/>
        </p:nvSpPr>
        <p:spPr>
          <a:xfrm>
            <a:off x="1865745" y="1810327"/>
            <a:ext cx="8294255" cy="954107"/>
          </a:xfrm>
          <a:prstGeom prst="rect">
            <a:avLst/>
          </a:prstGeom>
          <a:noFill/>
        </p:spPr>
        <p:txBody>
          <a:bodyPr wrap="square" rtlCol="0">
            <a:spAutoFit/>
          </a:bodyPr>
          <a:lstStyle/>
          <a:p>
            <a:r>
              <a:rPr lang="en-US" sz="2800"/>
              <a:t>We’ll depict the following strategic interdependence between the four persons in the game:</a:t>
            </a:r>
          </a:p>
        </p:txBody>
      </p:sp>
      <p:graphicFrame>
        <p:nvGraphicFramePr>
          <p:cNvPr id="12" name="Table 5">
            <a:extLst>
              <a:ext uri="{FF2B5EF4-FFF2-40B4-BE49-F238E27FC236}">
                <a16:creationId xmlns:a16="http://schemas.microsoft.com/office/drawing/2014/main" id="{FBE6EBD3-2C93-E221-38BA-8F80F8F0BDF3}"/>
              </a:ext>
            </a:extLst>
          </p:cNvPr>
          <p:cNvGraphicFramePr>
            <a:graphicFrameLocks noGrp="1"/>
          </p:cNvGraphicFramePr>
          <p:nvPr>
            <p:extLst>
              <p:ext uri="{D42A27DB-BD31-4B8C-83A1-F6EECF244321}">
                <p14:modId xmlns:p14="http://schemas.microsoft.com/office/powerpoint/2010/main" val="547423864"/>
              </p:ext>
            </p:extLst>
          </p:nvPr>
        </p:nvGraphicFramePr>
        <p:xfrm>
          <a:off x="2032000" y="3429000"/>
          <a:ext cx="8128000" cy="1920240"/>
        </p:xfrm>
        <a:graphic>
          <a:graphicData uri="http://schemas.openxmlformats.org/drawingml/2006/table">
            <a:tbl>
              <a:tblPr firstRow="1" bandRow="1"/>
              <a:tblGrid>
                <a:gridCol w="3629891">
                  <a:extLst>
                    <a:ext uri="{9D8B030D-6E8A-4147-A177-3AD203B41FA5}">
                      <a16:colId xmlns:a16="http://schemas.microsoft.com/office/drawing/2014/main" val="2769787254"/>
                    </a:ext>
                  </a:extLst>
                </a:gridCol>
                <a:gridCol w="4498109">
                  <a:extLst>
                    <a:ext uri="{9D8B030D-6E8A-4147-A177-3AD203B41FA5}">
                      <a16:colId xmlns:a16="http://schemas.microsoft.com/office/drawing/2014/main" val="1709226038"/>
                    </a:ext>
                  </a:extLst>
                </a:gridCol>
              </a:tblGrid>
              <a:tr h="370840">
                <a:tc>
                  <a:txBody>
                    <a:bodyPr/>
                    <a:lstStyle/>
                    <a:p>
                      <a:r>
                        <a:rPr lang="en-US" b="1"/>
                        <a:t>Person’s expectation about what the other three persons will do</a:t>
                      </a:r>
                    </a:p>
                  </a:txBody>
                  <a:tcPr/>
                </a:tc>
                <a:tc>
                  <a:txBody>
                    <a:bodyPr/>
                    <a:lstStyle/>
                    <a:p>
                      <a:r>
                        <a:rPr lang="en-US" b="1"/>
                        <a:t>Person’s preferences over her actions</a:t>
                      </a:r>
                    </a:p>
                  </a:txBody>
                  <a:tcPr/>
                </a:tc>
                <a:extLst>
                  <a:ext uri="{0D108BD9-81ED-4DB2-BD59-A6C34878D82A}">
                    <a16:rowId xmlns:a16="http://schemas.microsoft.com/office/drawing/2014/main" val="3970009536"/>
                  </a:ext>
                </a:extLst>
              </a:tr>
              <a:tr h="370840">
                <a:tc>
                  <a:txBody>
                    <a:bodyPr/>
                    <a:lstStyle/>
                    <a:p>
                      <a:r>
                        <a:rPr lang="en-US"/>
                        <a:t>less than two of other three will participate</a:t>
                      </a:r>
                    </a:p>
                  </a:txBody>
                  <a:tcPr/>
                </a:tc>
                <a:tc>
                  <a:txBody>
                    <a:bodyPr/>
                    <a:lstStyle/>
                    <a:p>
                      <a:r>
                        <a:rPr lang="en-US"/>
                        <a:t>Prefers to not participate instead of participate</a:t>
                      </a:r>
                    </a:p>
                  </a:txBody>
                  <a:tcPr/>
                </a:tc>
                <a:extLst>
                  <a:ext uri="{0D108BD9-81ED-4DB2-BD59-A6C34878D82A}">
                    <a16:rowId xmlns:a16="http://schemas.microsoft.com/office/drawing/2014/main" val="2064842803"/>
                  </a:ext>
                </a:extLst>
              </a:tr>
              <a:tr h="370840">
                <a:tc>
                  <a:txBody>
                    <a:bodyPr/>
                    <a:lstStyle/>
                    <a:p>
                      <a:r>
                        <a:rPr lang="en-US"/>
                        <a:t>two or more of other three will participate</a:t>
                      </a:r>
                    </a:p>
                  </a:txBody>
                  <a:tcPr/>
                </a:tc>
                <a:tc>
                  <a:txBody>
                    <a:bodyPr/>
                    <a:lstStyle/>
                    <a:p>
                      <a:r>
                        <a:rPr lang="en-US"/>
                        <a:t>Prefers to participate instead of not participate</a:t>
                      </a:r>
                    </a:p>
                  </a:txBody>
                  <a:tcPr/>
                </a:tc>
                <a:extLst>
                  <a:ext uri="{0D108BD9-81ED-4DB2-BD59-A6C34878D82A}">
                    <a16:rowId xmlns:a16="http://schemas.microsoft.com/office/drawing/2014/main" val="1287996018"/>
                  </a:ext>
                </a:extLst>
              </a:tr>
            </a:tbl>
          </a:graphicData>
        </a:graphic>
      </p:graphicFrame>
    </p:spTree>
    <p:extLst>
      <p:ext uri="{BB962C8B-B14F-4D97-AF65-F5344CB8AC3E}">
        <p14:creationId xmlns:p14="http://schemas.microsoft.com/office/powerpoint/2010/main" val="41422875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54223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76C77E8-73D0-03DA-67BB-FF879C8005DF}"/>
              </a:ext>
            </a:extLst>
          </p:cNvPr>
          <p:cNvSpPr txBox="1"/>
          <p:nvPr/>
        </p:nvSpPr>
        <p:spPr>
          <a:xfrm rot="20948338">
            <a:off x="6425916" y="1864399"/>
            <a:ext cx="5292301" cy="1384995"/>
          </a:xfrm>
          <a:prstGeom prst="rect">
            <a:avLst/>
          </a:prstGeom>
          <a:solidFill>
            <a:schemeClr val="bg1"/>
          </a:solidFill>
          <a:ln w="76200">
            <a:solidFill>
              <a:srgbClr val="7030A0"/>
            </a:solidFill>
          </a:ln>
        </p:spPr>
        <p:txBody>
          <a:bodyPr wrap="square" rtlCol="0">
            <a:spAutoFit/>
          </a:bodyPr>
          <a:lstStyle/>
          <a:p>
            <a:r>
              <a:rPr lang="en-US" sz="2800" i="1"/>
              <a:t>In which profiles do </a:t>
            </a:r>
            <a:r>
              <a:rPr lang="en-US" sz="2800" i="1">
                <a:highlight>
                  <a:srgbClr val="00FF00"/>
                </a:highlight>
              </a:rPr>
              <a:t>less than two </a:t>
            </a:r>
            <a:r>
              <a:rPr lang="en-US" sz="2800" i="1"/>
              <a:t>of the three persons OTHER than person 1 participate?</a:t>
            </a:r>
          </a:p>
        </p:txBody>
      </p:sp>
    </p:spTree>
    <p:extLst>
      <p:ext uri="{BB962C8B-B14F-4D97-AF65-F5344CB8AC3E}">
        <p14:creationId xmlns:p14="http://schemas.microsoft.com/office/powerpoint/2010/main" val="261718493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2B7BCED-B5E3-AA97-9F73-88088AA864CA}"/>
              </a:ext>
            </a:extLst>
          </p:cNvPr>
          <p:cNvSpPr txBox="1"/>
          <p:nvPr/>
        </p:nvSpPr>
        <p:spPr>
          <a:xfrm rot="20948338">
            <a:off x="6425916" y="1864399"/>
            <a:ext cx="5292301" cy="1384995"/>
          </a:xfrm>
          <a:prstGeom prst="rect">
            <a:avLst/>
          </a:prstGeom>
          <a:solidFill>
            <a:schemeClr val="bg1"/>
          </a:solidFill>
          <a:ln w="76200">
            <a:solidFill>
              <a:srgbClr val="7030A0"/>
            </a:solidFill>
          </a:ln>
        </p:spPr>
        <p:txBody>
          <a:bodyPr wrap="square" rtlCol="0">
            <a:spAutoFit/>
          </a:bodyPr>
          <a:lstStyle/>
          <a:p>
            <a:r>
              <a:rPr lang="en-US" sz="2800" i="1"/>
              <a:t>In which profiles do </a:t>
            </a:r>
            <a:r>
              <a:rPr lang="en-US" sz="2800" i="1">
                <a:highlight>
                  <a:srgbClr val="00FF00"/>
                </a:highlight>
              </a:rPr>
              <a:t>less than two </a:t>
            </a:r>
            <a:r>
              <a:rPr lang="en-US" sz="2800" i="1"/>
              <a:t>of the three persons OTHER than person 1 participate?</a:t>
            </a:r>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41633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D7DFCCE-3080-ECD1-B480-9B270D6DCA89}"/>
              </a:ext>
            </a:extLst>
          </p:cNvPr>
          <p:cNvSpPr txBox="1"/>
          <p:nvPr/>
        </p:nvSpPr>
        <p:spPr>
          <a:xfrm rot="20948338">
            <a:off x="6425916" y="1864399"/>
            <a:ext cx="5292301" cy="1384995"/>
          </a:xfrm>
          <a:prstGeom prst="rect">
            <a:avLst/>
          </a:prstGeom>
          <a:solidFill>
            <a:schemeClr val="bg1"/>
          </a:solidFill>
          <a:ln w="76200">
            <a:solidFill>
              <a:srgbClr val="7030A0"/>
            </a:solidFill>
          </a:ln>
        </p:spPr>
        <p:txBody>
          <a:bodyPr wrap="square" rtlCol="0">
            <a:spAutoFit/>
          </a:bodyPr>
          <a:lstStyle/>
          <a:p>
            <a:r>
              <a:rPr lang="en-US" sz="2800" i="1"/>
              <a:t>In which profiles do </a:t>
            </a:r>
            <a:r>
              <a:rPr lang="en-US" sz="2800" i="1">
                <a:highlight>
                  <a:srgbClr val="00FF00"/>
                </a:highlight>
              </a:rPr>
              <a:t>less than two </a:t>
            </a:r>
            <a:r>
              <a:rPr lang="en-US" sz="2800" i="1"/>
              <a:t>of the three persons OTHER than person 1 participate?</a:t>
            </a:r>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91803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D7DFCCE-3080-ECD1-B480-9B270D6DCA89}"/>
              </a:ext>
            </a:extLst>
          </p:cNvPr>
          <p:cNvSpPr txBox="1"/>
          <p:nvPr/>
        </p:nvSpPr>
        <p:spPr>
          <a:xfrm rot="20948338">
            <a:off x="6425916" y="1864399"/>
            <a:ext cx="5292301" cy="1384995"/>
          </a:xfrm>
          <a:prstGeom prst="rect">
            <a:avLst/>
          </a:prstGeom>
          <a:solidFill>
            <a:schemeClr val="bg1"/>
          </a:solidFill>
          <a:ln w="76200">
            <a:solidFill>
              <a:srgbClr val="7030A0"/>
            </a:solidFill>
          </a:ln>
        </p:spPr>
        <p:txBody>
          <a:bodyPr wrap="square" rtlCol="0">
            <a:spAutoFit/>
          </a:bodyPr>
          <a:lstStyle/>
          <a:p>
            <a:r>
              <a:rPr lang="en-US" sz="2800" i="1"/>
              <a:t>In which profiles do </a:t>
            </a:r>
            <a:r>
              <a:rPr lang="en-US" sz="2800" i="1">
                <a:highlight>
                  <a:srgbClr val="00FF00"/>
                </a:highlight>
              </a:rPr>
              <a:t>less than two </a:t>
            </a:r>
            <a:r>
              <a:rPr lang="en-US" sz="2800" i="1"/>
              <a:t>of the three persons OTHER than person 1 participate?</a:t>
            </a:r>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34679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D7DFCCE-3080-ECD1-B480-9B270D6DCA89}"/>
              </a:ext>
            </a:extLst>
          </p:cNvPr>
          <p:cNvSpPr txBox="1"/>
          <p:nvPr/>
        </p:nvSpPr>
        <p:spPr>
          <a:xfrm rot="20948338">
            <a:off x="6425916" y="1864399"/>
            <a:ext cx="5292301" cy="1384995"/>
          </a:xfrm>
          <a:prstGeom prst="rect">
            <a:avLst/>
          </a:prstGeom>
          <a:solidFill>
            <a:schemeClr val="bg1"/>
          </a:solidFill>
          <a:ln w="76200">
            <a:solidFill>
              <a:srgbClr val="7030A0"/>
            </a:solidFill>
          </a:ln>
        </p:spPr>
        <p:txBody>
          <a:bodyPr wrap="square" rtlCol="0">
            <a:spAutoFit/>
          </a:bodyPr>
          <a:lstStyle/>
          <a:p>
            <a:r>
              <a:rPr lang="en-US" sz="2800" i="1"/>
              <a:t>In which profiles do </a:t>
            </a:r>
            <a:r>
              <a:rPr lang="en-US" sz="2800" i="1">
                <a:highlight>
                  <a:srgbClr val="00FF00"/>
                </a:highlight>
              </a:rPr>
              <a:t>less than two </a:t>
            </a:r>
            <a:r>
              <a:rPr lang="en-US" sz="2800" i="1"/>
              <a:t>of the three persons OTHER than person 1 participate?</a:t>
            </a:r>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06288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D7DFCCE-3080-ECD1-B480-9B270D6DCA89}"/>
              </a:ext>
            </a:extLst>
          </p:cNvPr>
          <p:cNvSpPr txBox="1"/>
          <p:nvPr/>
        </p:nvSpPr>
        <p:spPr>
          <a:xfrm rot="20948338">
            <a:off x="6425916" y="1864399"/>
            <a:ext cx="5292301" cy="1384995"/>
          </a:xfrm>
          <a:prstGeom prst="rect">
            <a:avLst/>
          </a:prstGeom>
          <a:solidFill>
            <a:schemeClr val="bg1"/>
          </a:solidFill>
          <a:ln w="76200">
            <a:solidFill>
              <a:srgbClr val="7030A0"/>
            </a:solidFill>
          </a:ln>
        </p:spPr>
        <p:txBody>
          <a:bodyPr wrap="square" rtlCol="0">
            <a:spAutoFit/>
          </a:bodyPr>
          <a:lstStyle/>
          <a:p>
            <a:r>
              <a:rPr lang="en-US" sz="2800" i="1"/>
              <a:t>In which profiles do </a:t>
            </a:r>
            <a:r>
              <a:rPr lang="en-US" sz="2800" i="1">
                <a:highlight>
                  <a:srgbClr val="00FF00"/>
                </a:highlight>
              </a:rPr>
              <a:t>less than two </a:t>
            </a:r>
            <a:r>
              <a:rPr lang="en-US" sz="2800" i="1"/>
              <a:t>of the three persons OTHER than person 1 participate?</a:t>
            </a:r>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946583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D7DFCCE-3080-ECD1-B480-9B270D6DCA89}"/>
              </a:ext>
            </a:extLst>
          </p:cNvPr>
          <p:cNvSpPr txBox="1"/>
          <p:nvPr/>
        </p:nvSpPr>
        <p:spPr>
          <a:xfrm rot="20948338">
            <a:off x="6493334" y="1807742"/>
            <a:ext cx="5292301" cy="1384995"/>
          </a:xfrm>
          <a:prstGeom prst="rect">
            <a:avLst/>
          </a:prstGeom>
          <a:solidFill>
            <a:schemeClr val="bg1"/>
          </a:solidFill>
          <a:ln w="76200">
            <a:solidFill>
              <a:srgbClr val="7030A0"/>
            </a:solidFill>
          </a:ln>
        </p:spPr>
        <p:txBody>
          <a:bodyPr wrap="square" rtlCol="0">
            <a:spAutoFit/>
          </a:bodyPr>
          <a:lstStyle/>
          <a:p>
            <a:r>
              <a:rPr lang="en-US" sz="2800" i="1"/>
              <a:t>In which profiles do </a:t>
            </a:r>
            <a:r>
              <a:rPr lang="en-US" sz="2800" i="1">
                <a:highlight>
                  <a:srgbClr val="00FF00"/>
                </a:highlight>
              </a:rPr>
              <a:t>less than two </a:t>
            </a:r>
            <a:r>
              <a:rPr lang="en-US" sz="2800" i="1"/>
              <a:t>of the three persons OTHER than person 1 participate?</a:t>
            </a:r>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7443FE-F87E-7F13-6B3C-7D0EF75423DF}"/>
              </a:ext>
            </a:extLst>
          </p:cNvPr>
          <p:cNvSpPr/>
          <p:nvPr/>
        </p:nvSpPr>
        <p:spPr>
          <a:xfrm>
            <a:off x="2669305" y="30530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5590221-E2B5-45BA-9E4A-AB16E2B1C987}"/>
              </a:ext>
            </a:extLst>
          </p:cNvPr>
          <p:cNvSpPr/>
          <p:nvPr/>
        </p:nvSpPr>
        <p:spPr>
          <a:xfrm>
            <a:off x="2669304" y="26934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A7C375B-977C-2C78-E7FB-4365C2EC53A1}"/>
              </a:ext>
            </a:extLst>
          </p:cNvPr>
          <p:cNvSpPr/>
          <p:nvPr/>
        </p:nvSpPr>
        <p:spPr>
          <a:xfrm>
            <a:off x="2669303" y="3432690"/>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66699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D7DFCCE-3080-ECD1-B480-9B270D6DCA89}"/>
              </a:ext>
            </a:extLst>
          </p:cNvPr>
          <p:cNvSpPr txBox="1"/>
          <p:nvPr/>
        </p:nvSpPr>
        <p:spPr>
          <a:xfrm rot="20948338">
            <a:off x="7033664" y="4082334"/>
            <a:ext cx="5292301" cy="1384995"/>
          </a:xfrm>
          <a:prstGeom prst="rect">
            <a:avLst/>
          </a:prstGeom>
          <a:solidFill>
            <a:schemeClr val="bg1"/>
          </a:solidFill>
          <a:ln w="76200">
            <a:solidFill>
              <a:srgbClr val="7030A0"/>
            </a:solidFill>
          </a:ln>
        </p:spPr>
        <p:txBody>
          <a:bodyPr wrap="square" rtlCol="0">
            <a:spAutoFit/>
          </a:bodyPr>
          <a:lstStyle/>
          <a:p>
            <a:r>
              <a:rPr lang="en-US" sz="2800" i="1"/>
              <a:t>In which profiles do </a:t>
            </a:r>
            <a:r>
              <a:rPr lang="en-US" sz="2800" i="1">
                <a:highlight>
                  <a:srgbClr val="00FF00"/>
                </a:highlight>
              </a:rPr>
              <a:t>less than two </a:t>
            </a:r>
            <a:r>
              <a:rPr lang="en-US" sz="2800" i="1"/>
              <a:t>of the three persons OTHER than person 1 participate?</a:t>
            </a:r>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7443FE-F87E-7F13-6B3C-7D0EF75423DF}"/>
              </a:ext>
            </a:extLst>
          </p:cNvPr>
          <p:cNvSpPr/>
          <p:nvPr/>
        </p:nvSpPr>
        <p:spPr>
          <a:xfrm>
            <a:off x="2669305" y="30530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5590221-E2B5-45BA-9E4A-AB16E2B1C987}"/>
              </a:ext>
            </a:extLst>
          </p:cNvPr>
          <p:cNvSpPr/>
          <p:nvPr/>
        </p:nvSpPr>
        <p:spPr>
          <a:xfrm>
            <a:off x="2669304" y="26934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A7C375B-977C-2C78-E7FB-4365C2EC53A1}"/>
              </a:ext>
            </a:extLst>
          </p:cNvPr>
          <p:cNvSpPr/>
          <p:nvPr/>
        </p:nvSpPr>
        <p:spPr>
          <a:xfrm>
            <a:off x="2669303" y="3432690"/>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98640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solidFill>
                      <a:schemeClr val="bg1"/>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solidFill>
                      <a:schemeClr val="bg1"/>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solidFill>
                      <a:schemeClr val="bg1"/>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D7DFCCE-3080-ECD1-B480-9B270D6DCA89}"/>
              </a:ext>
            </a:extLst>
          </p:cNvPr>
          <p:cNvSpPr txBox="1"/>
          <p:nvPr/>
        </p:nvSpPr>
        <p:spPr>
          <a:xfrm rot="20948338">
            <a:off x="6507449" y="719922"/>
            <a:ext cx="5292301" cy="1384995"/>
          </a:xfrm>
          <a:prstGeom prst="rect">
            <a:avLst/>
          </a:prstGeom>
          <a:solidFill>
            <a:schemeClr val="bg1"/>
          </a:solidFill>
          <a:ln w="76200">
            <a:solidFill>
              <a:srgbClr val="7030A0"/>
            </a:solidFill>
          </a:ln>
        </p:spPr>
        <p:txBody>
          <a:bodyPr wrap="square" rtlCol="0">
            <a:spAutoFit/>
          </a:bodyPr>
          <a:lstStyle/>
          <a:p>
            <a:r>
              <a:rPr lang="en-US" sz="2800" i="1"/>
              <a:t>In which profiles do </a:t>
            </a:r>
            <a:r>
              <a:rPr lang="en-US" sz="2800" i="1">
                <a:highlight>
                  <a:srgbClr val="FFFF00"/>
                </a:highlight>
              </a:rPr>
              <a:t>two or more</a:t>
            </a:r>
            <a:r>
              <a:rPr lang="en-US" sz="2800" i="1"/>
              <a:t> of the three persons OTHER than person 1 participate?</a:t>
            </a:r>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7443FE-F87E-7F13-6B3C-7D0EF75423DF}"/>
              </a:ext>
            </a:extLst>
          </p:cNvPr>
          <p:cNvSpPr/>
          <p:nvPr/>
        </p:nvSpPr>
        <p:spPr>
          <a:xfrm>
            <a:off x="2669305" y="30530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5206377-6A6A-1F8D-8102-715B292AFCB4}"/>
              </a:ext>
            </a:extLst>
          </p:cNvPr>
          <p:cNvSpPr/>
          <p:nvPr/>
        </p:nvSpPr>
        <p:spPr>
          <a:xfrm>
            <a:off x="2669304" y="2717278"/>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1B16D6E-6228-5B46-E7B8-5D168E8163A8}"/>
              </a:ext>
            </a:extLst>
          </p:cNvPr>
          <p:cNvSpPr/>
          <p:nvPr/>
        </p:nvSpPr>
        <p:spPr>
          <a:xfrm>
            <a:off x="2669304" y="340859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69409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D7DFCCE-3080-ECD1-B480-9B270D6DCA89}"/>
              </a:ext>
            </a:extLst>
          </p:cNvPr>
          <p:cNvSpPr txBox="1"/>
          <p:nvPr/>
        </p:nvSpPr>
        <p:spPr>
          <a:xfrm rot="20948338">
            <a:off x="6507449" y="719922"/>
            <a:ext cx="5292301" cy="1384995"/>
          </a:xfrm>
          <a:prstGeom prst="rect">
            <a:avLst/>
          </a:prstGeom>
          <a:solidFill>
            <a:schemeClr val="bg1"/>
          </a:solidFill>
          <a:ln w="76200">
            <a:solidFill>
              <a:srgbClr val="7030A0"/>
            </a:solidFill>
          </a:ln>
        </p:spPr>
        <p:txBody>
          <a:bodyPr wrap="square" rtlCol="0">
            <a:spAutoFit/>
          </a:bodyPr>
          <a:lstStyle/>
          <a:p>
            <a:r>
              <a:rPr lang="en-US" sz="2800" i="1"/>
              <a:t>In which profiles do </a:t>
            </a:r>
            <a:r>
              <a:rPr lang="en-US" sz="2800" i="1">
                <a:highlight>
                  <a:srgbClr val="FFFF00"/>
                </a:highlight>
              </a:rPr>
              <a:t>two or more</a:t>
            </a:r>
            <a:r>
              <a:rPr lang="en-US" sz="2800" i="1"/>
              <a:t> of the three persons OTHER than person 1 participate?</a:t>
            </a:r>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7443FE-F87E-7F13-6B3C-7D0EF75423DF}"/>
              </a:ext>
            </a:extLst>
          </p:cNvPr>
          <p:cNvSpPr/>
          <p:nvPr/>
        </p:nvSpPr>
        <p:spPr>
          <a:xfrm>
            <a:off x="2669305" y="30530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5206377-6A6A-1F8D-8102-715B292AFCB4}"/>
              </a:ext>
            </a:extLst>
          </p:cNvPr>
          <p:cNvSpPr/>
          <p:nvPr/>
        </p:nvSpPr>
        <p:spPr>
          <a:xfrm>
            <a:off x="2669304" y="2717278"/>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1B16D6E-6228-5B46-E7B8-5D168E8163A8}"/>
              </a:ext>
            </a:extLst>
          </p:cNvPr>
          <p:cNvSpPr/>
          <p:nvPr/>
        </p:nvSpPr>
        <p:spPr>
          <a:xfrm>
            <a:off x="2669304" y="340859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165AC27-CD6A-389D-8D94-94BD1460DD22}"/>
              </a:ext>
            </a:extLst>
          </p:cNvPr>
          <p:cNvSpPr/>
          <p:nvPr/>
        </p:nvSpPr>
        <p:spPr>
          <a:xfrm>
            <a:off x="2669303" y="379060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E481FA-8076-0800-DF07-3B014DBB018E}"/>
              </a:ext>
            </a:extLst>
          </p:cNvPr>
          <p:cNvSpPr/>
          <p:nvPr/>
        </p:nvSpPr>
        <p:spPr>
          <a:xfrm>
            <a:off x="2669302" y="417262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894762-51A5-E5AA-A047-1F8CBC9EEEBB}"/>
              </a:ext>
            </a:extLst>
          </p:cNvPr>
          <p:cNvSpPr/>
          <p:nvPr/>
        </p:nvSpPr>
        <p:spPr>
          <a:xfrm>
            <a:off x="2669301" y="4554639"/>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E62756-508A-5B93-B073-7C0998EC86C9}"/>
              </a:ext>
            </a:extLst>
          </p:cNvPr>
          <p:cNvSpPr/>
          <p:nvPr/>
        </p:nvSpPr>
        <p:spPr>
          <a:xfrm>
            <a:off x="2669300" y="4936655"/>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2BB2D2-5E3C-E1D8-E37E-A7A4CC9D6133}"/>
              </a:ext>
            </a:extLst>
          </p:cNvPr>
          <p:cNvSpPr/>
          <p:nvPr/>
        </p:nvSpPr>
        <p:spPr>
          <a:xfrm>
            <a:off x="2669299" y="5318671"/>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341F5-30C2-1650-532A-7642614939D7}"/>
              </a:ext>
            </a:extLst>
          </p:cNvPr>
          <p:cNvSpPr/>
          <p:nvPr/>
        </p:nvSpPr>
        <p:spPr>
          <a:xfrm>
            <a:off x="2669298" y="570068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378BBEC-AF19-4687-F528-313E9AE98965}"/>
              </a:ext>
            </a:extLst>
          </p:cNvPr>
          <p:cNvSpPr/>
          <p:nvPr/>
        </p:nvSpPr>
        <p:spPr>
          <a:xfrm>
            <a:off x="2669297" y="608270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A1FD49C-082A-5895-A7AE-75AD2DDD7ABE}"/>
              </a:ext>
            </a:extLst>
          </p:cNvPr>
          <p:cNvSpPr/>
          <p:nvPr/>
        </p:nvSpPr>
        <p:spPr>
          <a:xfrm>
            <a:off x="2669297" y="6418486"/>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42439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endParaRPr lang="en-US"/>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D7DFCCE-3080-ECD1-B480-9B270D6DCA89}"/>
              </a:ext>
            </a:extLst>
          </p:cNvPr>
          <p:cNvSpPr txBox="1"/>
          <p:nvPr/>
        </p:nvSpPr>
        <p:spPr>
          <a:xfrm rot="20948338">
            <a:off x="6507449" y="719922"/>
            <a:ext cx="5292301" cy="1384995"/>
          </a:xfrm>
          <a:prstGeom prst="rect">
            <a:avLst/>
          </a:prstGeom>
          <a:solidFill>
            <a:schemeClr val="bg1"/>
          </a:solidFill>
          <a:ln w="76200">
            <a:solidFill>
              <a:srgbClr val="7030A0"/>
            </a:solidFill>
          </a:ln>
        </p:spPr>
        <p:txBody>
          <a:bodyPr wrap="square" rtlCol="0">
            <a:spAutoFit/>
          </a:bodyPr>
          <a:lstStyle/>
          <a:p>
            <a:r>
              <a:rPr lang="en-US" sz="2800" i="1"/>
              <a:t>In which profiles do </a:t>
            </a:r>
            <a:r>
              <a:rPr lang="en-US" sz="2800" i="1">
                <a:highlight>
                  <a:srgbClr val="FFFF00"/>
                </a:highlight>
              </a:rPr>
              <a:t>two or more</a:t>
            </a:r>
            <a:r>
              <a:rPr lang="en-US" sz="2800" i="1"/>
              <a:t> of the three persons OTHER than person 1 participate?</a:t>
            </a:r>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7443FE-F87E-7F13-6B3C-7D0EF75423DF}"/>
              </a:ext>
            </a:extLst>
          </p:cNvPr>
          <p:cNvSpPr/>
          <p:nvPr/>
        </p:nvSpPr>
        <p:spPr>
          <a:xfrm>
            <a:off x="2669305" y="30530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5206377-6A6A-1F8D-8102-715B292AFCB4}"/>
              </a:ext>
            </a:extLst>
          </p:cNvPr>
          <p:cNvSpPr/>
          <p:nvPr/>
        </p:nvSpPr>
        <p:spPr>
          <a:xfrm>
            <a:off x="2669304" y="2717278"/>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1B16D6E-6228-5B46-E7B8-5D168E8163A8}"/>
              </a:ext>
            </a:extLst>
          </p:cNvPr>
          <p:cNvSpPr/>
          <p:nvPr/>
        </p:nvSpPr>
        <p:spPr>
          <a:xfrm>
            <a:off x="2669304" y="340859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165AC27-CD6A-389D-8D94-94BD1460DD22}"/>
              </a:ext>
            </a:extLst>
          </p:cNvPr>
          <p:cNvSpPr/>
          <p:nvPr/>
        </p:nvSpPr>
        <p:spPr>
          <a:xfrm>
            <a:off x="2669303" y="379060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E481FA-8076-0800-DF07-3B014DBB018E}"/>
              </a:ext>
            </a:extLst>
          </p:cNvPr>
          <p:cNvSpPr/>
          <p:nvPr/>
        </p:nvSpPr>
        <p:spPr>
          <a:xfrm>
            <a:off x="2669302" y="417262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894762-51A5-E5AA-A047-1F8CBC9EEEBB}"/>
              </a:ext>
            </a:extLst>
          </p:cNvPr>
          <p:cNvSpPr/>
          <p:nvPr/>
        </p:nvSpPr>
        <p:spPr>
          <a:xfrm>
            <a:off x="2669301" y="4554639"/>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E62756-508A-5B93-B073-7C0998EC86C9}"/>
              </a:ext>
            </a:extLst>
          </p:cNvPr>
          <p:cNvSpPr/>
          <p:nvPr/>
        </p:nvSpPr>
        <p:spPr>
          <a:xfrm>
            <a:off x="2669300" y="4936655"/>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2BB2D2-5E3C-E1D8-E37E-A7A4CC9D6133}"/>
              </a:ext>
            </a:extLst>
          </p:cNvPr>
          <p:cNvSpPr/>
          <p:nvPr/>
        </p:nvSpPr>
        <p:spPr>
          <a:xfrm>
            <a:off x="2669299" y="5318671"/>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341F5-30C2-1650-532A-7642614939D7}"/>
              </a:ext>
            </a:extLst>
          </p:cNvPr>
          <p:cNvSpPr/>
          <p:nvPr/>
        </p:nvSpPr>
        <p:spPr>
          <a:xfrm>
            <a:off x="2669298" y="570068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378BBEC-AF19-4687-F528-313E9AE98965}"/>
              </a:ext>
            </a:extLst>
          </p:cNvPr>
          <p:cNvSpPr/>
          <p:nvPr/>
        </p:nvSpPr>
        <p:spPr>
          <a:xfrm>
            <a:off x="2669297" y="608270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A1FD49C-082A-5895-A7AE-75AD2DDD7ABE}"/>
              </a:ext>
            </a:extLst>
          </p:cNvPr>
          <p:cNvSpPr/>
          <p:nvPr/>
        </p:nvSpPr>
        <p:spPr>
          <a:xfrm>
            <a:off x="2669297" y="6418486"/>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280AB23-2ADB-4039-653B-A0948684D21E}"/>
              </a:ext>
            </a:extLst>
          </p:cNvPr>
          <p:cNvSpPr/>
          <p:nvPr/>
        </p:nvSpPr>
        <p:spPr>
          <a:xfrm>
            <a:off x="0" y="0"/>
            <a:ext cx="12192000" cy="6858000"/>
          </a:xfrm>
          <a:prstGeom prst="rect">
            <a:avLst/>
          </a:prstGeom>
          <a:solidFill>
            <a:srgbClr val="4472C4">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431A7A9-8D18-AF62-DF25-097FF631F60A}"/>
              </a:ext>
            </a:extLst>
          </p:cNvPr>
          <p:cNvSpPr/>
          <p:nvPr/>
        </p:nvSpPr>
        <p:spPr>
          <a:xfrm>
            <a:off x="1016001" y="1341351"/>
            <a:ext cx="9919853" cy="461125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C125A3A-EE54-F776-20B5-30F91F705171}"/>
              </a:ext>
            </a:extLst>
          </p:cNvPr>
          <p:cNvSpPr txBox="1"/>
          <p:nvPr/>
        </p:nvSpPr>
        <p:spPr>
          <a:xfrm>
            <a:off x="1865745" y="1810327"/>
            <a:ext cx="8294255" cy="954107"/>
          </a:xfrm>
          <a:prstGeom prst="rect">
            <a:avLst/>
          </a:prstGeom>
          <a:noFill/>
        </p:spPr>
        <p:txBody>
          <a:bodyPr wrap="square" rtlCol="0">
            <a:spAutoFit/>
          </a:bodyPr>
          <a:lstStyle/>
          <a:p>
            <a:r>
              <a:rPr lang="en-US" sz="2800"/>
              <a:t>We’ll depict the following strategic interdependence between the four persons in the game:</a:t>
            </a:r>
          </a:p>
        </p:txBody>
      </p:sp>
      <p:graphicFrame>
        <p:nvGraphicFramePr>
          <p:cNvPr id="30" name="Table 5">
            <a:extLst>
              <a:ext uri="{FF2B5EF4-FFF2-40B4-BE49-F238E27FC236}">
                <a16:creationId xmlns:a16="http://schemas.microsoft.com/office/drawing/2014/main" id="{2596379A-03A0-5D23-2DB6-98C45C47D688}"/>
              </a:ext>
            </a:extLst>
          </p:cNvPr>
          <p:cNvGraphicFramePr>
            <a:graphicFrameLocks noGrp="1"/>
          </p:cNvGraphicFramePr>
          <p:nvPr>
            <p:extLst>
              <p:ext uri="{D42A27DB-BD31-4B8C-83A1-F6EECF244321}">
                <p14:modId xmlns:p14="http://schemas.microsoft.com/office/powerpoint/2010/main" val="3729082312"/>
              </p:ext>
            </p:extLst>
          </p:nvPr>
        </p:nvGraphicFramePr>
        <p:xfrm>
          <a:off x="2032000" y="3429000"/>
          <a:ext cx="8128000" cy="1920240"/>
        </p:xfrm>
        <a:graphic>
          <a:graphicData uri="http://schemas.openxmlformats.org/drawingml/2006/table">
            <a:tbl>
              <a:tblPr firstRow="1" bandRow="1"/>
              <a:tblGrid>
                <a:gridCol w="3629891">
                  <a:extLst>
                    <a:ext uri="{9D8B030D-6E8A-4147-A177-3AD203B41FA5}">
                      <a16:colId xmlns:a16="http://schemas.microsoft.com/office/drawing/2014/main" val="2769787254"/>
                    </a:ext>
                  </a:extLst>
                </a:gridCol>
                <a:gridCol w="4498109">
                  <a:extLst>
                    <a:ext uri="{9D8B030D-6E8A-4147-A177-3AD203B41FA5}">
                      <a16:colId xmlns:a16="http://schemas.microsoft.com/office/drawing/2014/main" val="1709226038"/>
                    </a:ext>
                  </a:extLst>
                </a:gridCol>
              </a:tblGrid>
              <a:tr h="370840">
                <a:tc>
                  <a:txBody>
                    <a:bodyPr/>
                    <a:lstStyle/>
                    <a:p>
                      <a:r>
                        <a:rPr lang="en-US" b="1"/>
                        <a:t>Person’s expectation about what the other three persons will do</a:t>
                      </a:r>
                    </a:p>
                  </a:txBody>
                  <a:tcPr/>
                </a:tc>
                <a:tc>
                  <a:txBody>
                    <a:bodyPr/>
                    <a:lstStyle/>
                    <a:p>
                      <a:r>
                        <a:rPr lang="en-US" b="1"/>
                        <a:t>Person’s preferences over her actions</a:t>
                      </a:r>
                    </a:p>
                  </a:txBody>
                  <a:tcPr/>
                </a:tc>
                <a:extLst>
                  <a:ext uri="{0D108BD9-81ED-4DB2-BD59-A6C34878D82A}">
                    <a16:rowId xmlns:a16="http://schemas.microsoft.com/office/drawing/2014/main" val="3970009536"/>
                  </a:ext>
                </a:extLst>
              </a:tr>
              <a:tr h="370840">
                <a:tc>
                  <a:txBody>
                    <a:bodyPr/>
                    <a:lstStyle/>
                    <a:p>
                      <a:r>
                        <a:rPr lang="en-US"/>
                        <a:t>less than two of other three will participate</a:t>
                      </a:r>
                    </a:p>
                  </a:txBody>
                  <a:tcPr/>
                </a:tc>
                <a:tc>
                  <a:txBody>
                    <a:bodyPr/>
                    <a:lstStyle/>
                    <a:p>
                      <a:r>
                        <a:rPr lang="en-US"/>
                        <a:t>Prefers to not participate instead of participate</a:t>
                      </a:r>
                    </a:p>
                  </a:txBody>
                  <a:tcPr/>
                </a:tc>
                <a:extLst>
                  <a:ext uri="{0D108BD9-81ED-4DB2-BD59-A6C34878D82A}">
                    <a16:rowId xmlns:a16="http://schemas.microsoft.com/office/drawing/2014/main" val="2064842803"/>
                  </a:ext>
                </a:extLst>
              </a:tr>
              <a:tr h="370840">
                <a:tc>
                  <a:txBody>
                    <a:bodyPr/>
                    <a:lstStyle/>
                    <a:p>
                      <a:r>
                        <a:rPr lang="en-US"/>
                        <a:t>two or more of other three will participate</a:t>
                      </a:r>
                    </a:p>
                  </a:txBody>
                  <a:tcPr/>
                </a:tc>
                <a:tc>
                  <a:txBody>
                    <a:bodyPr/>
                    <a:lstStyle/>
                    <a:p>
                      <a:r>
                        <a:rPr lang="en-US"/>
                        <a:t>Prefers to participate instead of not participate</a:t>
                      </a:r>
                    </a:p>
                  </a:txBody>
                  <a:tcPr/>
                </a:tc>
                <a:extLst>
                  <a:ext uri="{0D108BD9-81ED-4DB2-BD59-A6C34878D82A}">
                    <a16:rowId xmlns:a16="http://schemas.microsoft.com/office/drawing/2014/main" val="1287996018"/>
                  </a:ext>
                </a:extLst>
              </a:tr>
            </a:tbl>
          </a:graphicData>
        </a:graphic>
      </p:graphicFrame>
    </p:spTree>
    <p:extLst>
      <p:ext uri="{BB962C8B-B14F-4D97-AF65-F5344CB8AC3E}">
        <p14:creationId xmlns:p14="http://schemas.microsoft.com/office/powerpoint/2010/main" val="124738024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7443FE-F87E-7F13-6B3C-7D0EF75423DF}"/>
              </a:ext>
            </a:extLst>
          </p:cNvPr>
          <p:cNvSpPr/>
          <p:nvPr/>
        </p:nvSpPr>
        <p:spPr>
          <a:xfrm>
            <a:off x="2669305" y="30530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5206377-6A6A-1F8D-8102-715B292AFCB4}"/>
              </a:ext>
            </a:extLst>
          </p:cNvPr>
          <p:cNvSpPr/>
          <p:nvPr/>
        </p:nvSpPr>
        <p:spPr>
          <a:xfrm>
            <a:off x="2669304" y="2717278"/>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1B16D6E-6228-5B46-E7B8-5D168E8163A8}"/>
              </a:ext>
            </a:extLst>
          </p:cNvPr>
          <p:cNvSpPr/>
          <p:nvPr/>
        </p:nvSpPr>
        <p:spPr>
          <a:xfrm>
            <a:off x="2669304" y="340859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165AC27-CD6A-389D-8D94-94BD1460DD22}"/>
              </a:ext>
            </a:extLst>
          </p:cNvPr>
          <p:cNvSpPr/>
          <p:nvPr/>
        </p:nvSpPr>
        <p:spPr>
          <a:xfrm>
            <a:off x="2669303" y="379060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E481FA-8076-0800-DF07-3B014DBB018E}"/>
              </a:ext>
            </a:extLst>
          </p:cNvPr>
          <p:cNvSpPr/>
          <p:nvPr/>
        </p:nvSpPr>
        <p:spPr>
          <a:xfrm>
            <a:off x="2669302" y="417262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894762-51A5-E5AA-A047-1F8CBC9EEEBB}"/>
              </a:ext>
            </a:extLst>
          </p:cNvPr>
          <p:cNvSpPr/>
          <p:nvPr/>
        </p:nvSpPr>
        <p:spPr>
          <a:xfrm>
            <a:off x="2669301" y="4554639"/>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E62756-508A-5B93-B073-7C0998EC86C9}"/>
              </a:ext>
            </a:extLst>
          </p:cNvPr>
          <p:cNvSpPr/>
          <p:nvPr/>
        </p:nvSpPr>
        <p:spPr>
          <a:xfrm>
            <a:off x="2669300" y="4936655"/>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2BB2D2-5E3C-E1D8-E37E-A7A4CC9D6133}"/>
              </a:ext>
            </a:extLst>
          </p:cNvPr>
          <p:cNvSpPr/>
          <p:nvPr/>
        </p:nvSpPr>
        <p:spPr>
          <a:xfrm>
            <a:off x="2669299" y="5318671"/>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341F5-30C2-1650-532A-7642614939D7}"/>
              </a:ext>
            </a:extLst>
          </p:cNvPr>
          <p:cNvSpPr/>
          <p:nvPr/>
        </p:nvSpPr>
        <p:spPr>
          <a:xfrm>
            <a:off x="2669298" y="570068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378BBEC-AF19-4687-F528-313E9AE98965}"/>
              </a:ext>
            </a:extLst>
          </p:cNvPr>
          <p:cNvSpPr/>
          <p:nvPr/>
        </p:nvSpPr>
        <p:spPr>
          <a:xfrm>
            <a:off x="2669297" y="608270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A1FD49C-082A-5895-A7AE-75AD2DDD7ABE}"/>
              </a:ext>
            </a:extLst>
          </p:cNvPr>
          <p:cNvSpPr/>
          <p:nvPr/>
        </p:nvSpPr>
        <p:spPr>
          <a:xfrm>
            <a:off x="2669297" y="6418486"/>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9DBAF25-B035-1559-6474-9E1ACC2D59AD}"/>
              </a:ext>
            </a:extLst>
          </p:cNvPr>
          <p:cNvSpPr/>
          <p:nvPr/>
        </p:nvSpPr>
        <p:spPr>
          <a:xfrm>
            <a:off x="1496292" y="830777"/>
            <a:ext cx="5781963" cy="785102"/>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786106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7443FE-F87E-7F13-6B3C-7D0EF75423DF}"/>
              </a:ext>
            </a:extLst>
          </p:cNvPr>
          <p:cNvSpPr/>
          <p:nvPr/>
        </p:nvSpPr>
        <p:spPr>
          <a:xfrm>
            <a:off x="2669305" y="30530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5206377-6A6A-1F8D-8102-715B292AFCB4}"/>
              </a:ext>
            </a:extLst>
          </p:cNvPr>
          <p:cNvSpPr/>
          <p:nvPr/>
        </p:nvSpPr>
        <p:spPr>
          <a:xfrm>
            <a:off x="2669304" y="2717278"/>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1B16D6E-6228-5B46-E7B8-5D168E8163A8}"/>
              </a:ext>
            </a:extLst>
          </p:cNvPr>
          <p:cNvSpPr/>
          <p:nvPr/>
        </p:nvSpPr>
        <p:spPr>
          <a:xfrm>
            <a:off x="2669304" y="340859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165AC27-CD6A-389D-8D94-94BD1460DD22}"/>
              </a:ext>
            </a:extLst>
          </p:cNvPr>
          <p:cNvSpPr/>
          <p:nvPr/>
        </p:nvSpPr>
        <p:spPr>
          <a:xfrm>
            <a:off x="2669303" y="379060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E481FA-8076-0800-DF07-3B014DBB018E}"/>
              </a:ext>
            </a:extLst>
          </p:cNvPr>
          <p:cNvSpPr/>
          <p:nvPr/>
        </p:nvSpPr>
        <p:spPr>
          <a:xfrm>
            <a:off x="2669302" y="417262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894762-51A5-E5AA-A047-1F8CBC9EEEBB}"/>
              </a:ext>
            </a:extLst>
          </p:cNvPr>
          <p:cNvSpPr/>
          <p:nvPr/>
        </p:nvSpPr>
        <p:spPr>
          <a:xfrm>
            <a:off x="2669301" y="4554639"/>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E62756-508A-5B93-B073-7C0998EC86C9}"/>
              </a:ext>
            </a:extLst>
          </p:cNvPr>
          <p:cNvSpPr/>
          <p:nvPr/>
        </p:nvSpPr>
        <p:spPr>
          <a:xfrm>
            <a:off x="2669300" y="4936655"/>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2BB2D2-5E3C-E1D8-E37E-A7A4CC9D6133}"/>
              </a:ext>
            </a:extLst>
          </p:cNvPr>
          <p:cNvSpPr/>
          <p:nvPr/>
        </p:nvSpPr>
        <p:spPr>
          <a:xfrm>
            <a:off x="2669299" y="5318671"/>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341F5-30C2-1650-532A-7642614939D7}"/>
              </a:ext>
            </a:extLst>
          </p:cNvPr>
          <p:cNvSpPr/>
          <p:nvPr/>
        </p:nvSpPr>
        <p:spPr>
          <a:xfrm>
            <a:off x="2669298" y="570068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378BBEC-AF19-4687-F528-313E9AE98965}"/>
              </a:ext>
            </a:extLst>
          </p:cNvPr>
          <p:cNvSpPr/>
          <p:nvPr/>
        </p:nvSpPr>
        <p:spPr>
          <a:xfrm>
            <a:off x="2669297" y="608270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A1FD49C-082A-5895-A7AE-75AD2DDD7ABE}"/>
              </a:ext>
            </a:extLst>
          </p:cNvPr>
          <p:cNvSpPr/>
          <p:nvPr/>
        </p:nvSpPr>
        <p:spPr>
          <a:xfrm>
            <a:off x="2669297" y="6418486"/>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9DBAF25-B035-1559-6474-9E1ACC2D59AD}"/>
              </a:ext>
            </a:extLst>
          </p:cNvPr>
          <p:cNvSpPr/>
          <p:nvPr/>
        </p:nvSpPr>
        <p:spPr>
          <a:xfrm>
            <a:off x="1496292" y="830777"/>
            <a:ext cx="5781963" cy="785102"/>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5">
            <a:extLst>
              <a:ext uri="{FF2B5EF4-FFF2-40B4-BE49-F238E27FC236}">
                <a16:creationId xmlns:a16="http://schemas.microsoft.com/office/drawing/2014/main" id="{D0C76B6A-D0AF-DB1A-3997-E6D1A1DCBCB0}"/>
              </a:ext>
            </a:extLst>
          </p:cNvPr>
          <p:cNvGraphicFramePr>
            <a:graphicFrameLocks noGrp="1"/>
          </p:cNvGraphicFramePr>
          <p:nvPr>
            <p:extLst>
              <p:ext uri="{D42A27DB-BD31-4B8C-83A1-F6EECF244321}">
                <p14:modId xmlns:p14="http://schemas.microsoft.com/office/powerpoint/2010/main" val="881745804"/>
              </p:ext>
            </p:extLst>
          </p:nvPr>
        </p:nvGraphicFramePr>
        <p:xfrm>
          <a:off x="3445163" y="1739592"/>
          <a:ext cx="8128000" cy="1920240"/>
        </p:xfrm>
        <a:graphic>
          <a:graphicData uri="http://schemas.openxmlformats.org/drawingml/2006/table">
            <a:tbl>
              <a:tblPr firstRow="1" bandRow="1"/>
              <a:tblGrid>
                <a:gridCol w="3629891">
                  <a:extLst>
                    <a:ext uri="{9D8B030D-6E8A-4147-A177-3AD203B41FA5}">
                      <a16:colId xmlns:a16="http://schemas.microsoft.com/office/drawing/2014/main" val="2769787254"/>
                    </a:ext>
                  </a:extLst>
                </a:gridCol>
                <a:gridCol w="4498109">
                  <a:extLst>
                    <a:ext uri="{9D8B030D-6E8A-4147-A177-3AD203B41FA5}">
                      <a16:colId xmlns:a16="http://schemas.microsoft.com/office/drawing/2014/main" val="1709226038"/>
                    </a:ext>
                  </a:extLst>
                </a:gridCol>
              </a:tblGrid>
              <a:tr h="370840">
                <a:tc>
                  <a:txBody>
                    <a:bodyPr/>
                    <a:lstStyle/>
                    <a:p>
                      <a:r>
                        <a:rPr lang="en-US" b="1"/>
                        <a:t>Person’s expectation about what the other three persons will do</a:t>
                      </a:r>
                    </a:p>
                  </a:txBody>
                  <a:tcPr>
                    <a:solidFill>
                      <a:schemeClr val="bg1"/>
                    </a:solidFill>
                  </a:tcPr>
                </a:tc>
                <a:tc>
                  <a:txBody>
                    <a:bodyPr/>
                    <a:lstStyle/>
                    <a:p>
                      <a:r>
                        <a:rPr lang="en-US" b="1"/>
                        <a:t>Person’s preferences over her actions</a:t>
                      </a:r>
                    </a:p>
                  </a:txBody>
                  <a:tcPr>
                    <a:solidFill>
                      <a:schemeClr val="bg1"/>
                    </a:solidFill>
                  </a:tcPr>
                </a:tc>
                <a:extLst>
                  <a:ext uri="{0D108BD9-81ED-4DB2-BD59-A6C34878D82A}">
                    <a16:rowId xmlns:a16="http://schemas.microsoft.com/office/drawing/2014/main" val="3970009536"/>
                  </a:ext>
                </a:extLst>
              </a:tr>
              <a:tr h="370840">
                <a:tc>
                  <a:txBody>
                    <a:bodyPr/>
                    <a:lstStyle/>
                    <a:p>
                      <a:r>
                        <a:rPr lang="en-US"/>
                        <a:t>less than two of other three will participate</a:t>
                      </a:r>
                    </a:p>
                  </a:txBody>
                  <a:tcPr>
                    <a:solidFill>
                      <a:schemeClr val="bg1"/>
                    </a:solidFill>
                  </a:tcPr>
                </a:tc>
                <a:tc>
                  <a:txBody>
                    <a:bodyPr/>
                    <a:lstStyle/>
                    <a:p>
                      <a:r>
                        <a:rPr lang="en-US"/>
                        <a:t>Prefers to not participate instead of participate</a:t>
                      </a:r>
                    </a:p>
                  </a:txBody>
                  <a:tcPr>
                    <a:solidFill>
                      <a:schemeClr val="bg1"/>
                    </a:solidFill>
                  </a:tcPr>
                </a:tc>
                <a:extLst>
                  <a:ext uri="{0D108BD9-81ED-4DB2-BD59-A6C34878D82A}">
                    <a16:rowId xmlns:a16="http://schemas.microsoft.com/office/drawing/2014/main" val="2064842803"/>
                  </a:ext>
                </a:extLst>
              </a:tr>
              <a:tr h="370840">
                <a:tc>
                  <a:txBody>
                    <a:bodyPr/>
                    <a:lstStyle/>
                    <a:p>
                      <a:r>
                        <a:rPr lang="en-US"/>
                        <a:t>two or more of other three will participate</a:t>
                      </a:r>
                    </a:p>
                  </a:txBody>
                  <a:tcPr>
                    <a:solidFill>
                      <a:schemeClr val="bg1"/>
                    </a:solidFill>
                  </a:tcPr>
                </a:tc>
                <a:tc>
                  <a:txBody>
                    <a:bodyPr/>
                    <a:lstStyle/>
                    <a:p>
                      <a:r>
                        <a:rPr lang="en-US"/>
                        <a:t>Prefers to participate instead of not participate</a:t>
                      </a:r>
                    </a:p>
                  </a:txBody>
                  <a:tcPr>
                    <a:solidFill>
                      <a:schemeClr val="bg1"/>
                    </a:solidFill>
                  </a:tcPr>
                </a:tc>
                <a:extLst>
                  <a:ext uri="{0D108BD9-81ED-4DB2-BD59-A6C34878D82A}">
                    <a16:rowId xmlns:a16="http://schemas.microsoft.com/office/drawing/2014/main" val="1287996018"/>
                  </a:ext>
                </a:extLst>
              </a:tr>
            </a:tbl>
          </a:graphicData>
        </a:graphic>
      </p:graphicFrame>
    </p:spTree>
    <p:extLst>
      <p:ext uri="{BB962C8B-B14F-4D97-AF65-F5344CB8AC3E}">
        <p14:creationId xmlns:p14="http://schemas.microsoft.com/office/powerpoint/2010/main" val="32928071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extLst>
              <p:ext uri="{D42A27DB-BD31-4B8C-83A1-F6EECF244321}">
                <p14:modId xmlns:p14="http://schemas.microsoft.com/office/powerpoint/2010/main" val="1513786029"/>
              </p:ext>
            </p:extLst>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7443FE-F87E-7F13-6B3C-7D0EF75423DF}"/>
              </a:ext>
            </a:extLst>
          </p:cNvPr>
          <p:cNvSpPr/>
          <p:nvPr/>
        </p:nvSpPr>
        <p:spPr>
          <a:xfrm>
            <a:off x="2669305" y="30530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5206377-6A6A-1F8D-8102-715B292AFCB4}"/>
              </a:ext>
            </a:extLst>
          </p:cNvPr>
          <p:cNvSpPr/>
          <p:nvPr/>
        </p:nvSpPr>
        <p:spPr>
          <a:xfrm>
            <a:off x="2669304" y="2717278"/>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1B16D6E-6228-5B46-E7B8-5D168E8163A8}"/>
              </a:ext>
            </a:extLst>
          </p:cNvPr>
          <p:cNvSpPr/>
          <p:nvPr/>
        </p:nvSpPr>
        <p:spPr>
          <a:xfrm>
            <a:off x="2669304" y="340859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165AC27-CD6A-389D-8D94-94BD1460DD22}"/>
              </a:ext>
            </a:extLst>
          </p:cNvPr>
          <p:cNvSpPr/>
          <p:nvPr/>
        </p:nvSpPr>
        <p:spPr>
          <a:xfrm>
            <a:off x="2669303" y="379060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E481FA-8076-0800-DF07-3B014DBB018E}"/>
              </a:ext>
            </a:extLst>
          </p:cNvPr>
          <p:cNvSpPr/>
          <p:nvPr/>
        </p:nvSpPr>
        <p:spPr>
          <a:xfrm>
            <a:off x="2669302" y="417262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894762-51A5-E5AA-A047-1F8CBC9EEEBB}"/>
              </a:ext>
            </a:extLst>
          </p:cNvPr>
          <p:cNvSpPr/>
          <p:nvPr/>
        </p:nvSpPr>
        <p:spPr>
          <a:xfrm>
            <a:off x="2669301" y="4554639"/>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E62756-508A-5B93-B073-7C0998EC86C9}"/>
              </a:ext>
            </a:extLst>
          </p:cNvPr>
          <p:cNvSpPr/>
          <p:nvPr/>
        </p:nvSpPr>
        <p:spPr>
          <a:xfrm>
            <a:off x="2669300" y="4936655"/>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2BB2D2-5E3C-E1D8-E37E-A7A4CC9D6133}"/>
              </a:ext>
            </a:extLst>
          </p:cNvPr>
          <p:cNvSpPr/>
          <p:nvPr/>
        </p:nvSpPr>
        <p:spPr>
          <a:xfrm>
            <a:off x="2669299" y="5318671"/>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341F5-30C2-1650-532A-7642614939D7}"/>
              </a:ext>
            </a:extLst>
          </p:cNvPr>
          <p:cNvSpPr/>
          <p:nvPr/>
        </p:nvSpPr>
        <p:spPr>
          <a:xfrm>
            <a:off x="2669298" y="570068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378BBEC-AF19-4687-F528-313E9AE98965}"/>
              </a:ext>
            </a:extLst>
          </p:cNvPr>
          <p:cNvSpPr/>
          <p:nvPr/>
        </p:nvSpPr>
        <p:spPr>
          <a:xfrm>
            <a:off x="2669297" y="608270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A1FD49C-082A-5895-A7AE-75AD2DDD7ABE}"/>
              </a:ext>
            </a:extLst>
          </p:cNvPr>
          <p:cNvSpPr/>
          <p:nvPr/>
        </p:nvSpPr>
        <p:spPr>
          <a:xfrm>
            <a:off x="2669297" y="6418486"/>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9DBAF25-B035-1559-6474-9E1ACC2D59AD}"/>
              </a:ext>
            </a:extLst>
          </p:cNvPr>
          <p:cNvSpPr/>
          <p:nvPr/>
        </p:nvSpPr>
        <p:spPr>
          <a:xfrm>
            <a:off x="1496292" y="830777"/>
            <a:ext cx="5781963" cy="785102"/>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5">
            <a:extLst>
              <a:ext uri="{FF2B5EF4-FFF2-40B4-BE49-F238E27FC236}">
                <a16:creationId xmlns:a16="http://schemas.microsoft.com/office/drawing/2014/main" id="{D0C76B6A-D0AF-DB1A-3997-E6D1A1DCBCB0}"/>
              </a:ext>
            </a:extLst>
          </p:cNvPr>
          <p:cNvGraphicFramePr>
            <a:graphicFrameLocks noGrp="1"/>
          </p:cNvGraphicFramePr>
          <p:nvPr>
            <p:extLst>
              <p:ext uri="{D42A27DB-BD31-4B8C-83A1-F6EECF244321}">
                <p14:modId xmlns:p14="http://schemas.microsoft.com/office/powerpoint/2010/main" val="1849736204"/>
              </p:ext>
            </p:extLst>
          </p:nvPr>
        </p:nvGraphicFramePr>
        <p:xfrm>
          <a:off x="3445163" y="1739592"/>
          <a:ext cx="8128000" cy="1920240"/>
        </p:xfrm>
        <a:graphic>
          <a:graphicData uri="http://schemas.openxmlformats.org/drawingml/2006/table">
            <a:tbl>
              <a:tblPr firstRow="1" bandRow="1"/>
              <a:tblGrid>
                <a:gridCol w="3629891">
                  <a:extLst>
                    <a:ext uri="{9D8B030D-6E8A-4147-A177-3AD203B41FA5}">
                      <a16:colId xmlns:a16="http://schemas.microsoft.com/office/drawing/2014/main" val="2769787254"/>
                    </a:ext>
                  </a:extLst>
                </a:gridCol>
                <a:gridCol w="4498109">
                  <a:extLst>
                    <a:ext uri="{9D8B030D-6E8A-4147-A177-3AD203B41FA5}">
                      <a16:colId xmlns:a16="http://schemas.microsoft.com/office/drawing/2014/main" val="1709226038"/>
                    </a:ext>
                  </a:extLst>
                </a:gridCol>
              </a:tblGrid>
              <a:tr h="370840">
                <a:tc>
                  <a:txBody>
                    <a:bodyPr/>
                    <a:lstStyle/>
                    <a:p>
                      <a:r>
                        <a:rPr lang="en-US" b="1"/>
                        <a:t>Person’s expectation about what the other three persons will do</a:t>
                      </a:r>
                    </a:p>
                  </a:txBody>
                  <a:tcPr>
                    <a:solidFill>
                      <a:schemeClr val="bg1"/>
                    </a:solidFill>
                  </a:tcPr>
                </a:tc>
                <a:tc>
                  <a:txBody>
                    <a:bodyPr/>
                    <a:lstStyle/>
                    <a:p>
                      <a:r>
                        <a:rPr lang="en-US" b="1"/>
                        <a:t>Person’s preferences over her actions</a:t>
                      </a:r>
                    </a:p>
                  </a:txBody>
                  <a:tcPr>
                    <a:solidFill>
                      <a:schemeClr val="bg1"/>
                    </a:solidFill>
                  </a:tcPr>
                </a:tc>
                <a:extLst>
                  <a:ext uri="{0D108BD9-81ED-4DB2-BD59-A6C34878D82A}">
                    <a16:rowId xmlns:a16="http://schemas.microsoft.com/office/drawing/2014/main" val="3970009536"/>
                  </a:ext>
                </a:extLst>
              </a:tr>
              <a:tr h="370840">
                <a:tc>
                  <a:txBody>
                    <a:bodyPr/>
                    <a:lstStyle/>
                    <a:p>
                      <a:r>
                        <a:rPr lang="en-US"/>
                        <a:t>less than two of other three will participate</a:t>
                      </a:r>
                    </a:p>
                  </a:txBody>
                  <a:tcPr>
                    <a:solidFill>
                      <a:schemeClr val="bg1"/>
                    </a:solidFill>
                  </a:tcPr>
                </a:tc>
                <a:tc>
                  <a:txBody>
                    <a:bodyPr/>
                    <a:lstStyle/>
                    <a:p>
                      <a:r>
                        <a:rPr lang="en-US"/>
                        <a:t>Prefers to not participate instead of participate</a:t>
                      </a:r>
                    </a:p>
                  </a:txBody>
                  <a:tcPr>
                    <a:solidFill>
                      <a:schemeClr val="bg1"/>
                    </a:solidFill>
                  </a:tcPr>
                </a:tc>
                <a:extLst>
                  <a:ext uri="{0D108BD9-81ED-4DB2-BD59-A6C34878D82A}">
                    <a16:rowId xmlns:a16="http://schemas.microsoft.com/office/drawing/2014/main" val="2064842803"/>
                  </a:ext>
                </a:extLst>
              </a:tr>
              <a:tr h="370840">
                <a:tc>
                  <a:txBody>
                    <a:bodyPr/>
                    <a:lstStyle/>
                    <a:p>
                      <a:r>
                        <a:rPr lang="en-US"/>
                        <a:t>two or more of other three will participate</a:t>
                      </a:r>
                    </a:p>
                  </a:txBody>
                  <a:tcPr>
                    <a:solidFill>
                      <a:schemeClr val="bg1"/>
                    </a:solidFill>
                  </a:tcPr>
                </a:tc>
                <a:tc>
                  <a:txBody>
                    <a:bodyPr/>
                    <a:lstStyle/>
                    <a:p>
                      <a:r>
                        <a:rPr lang="en-US"/>
                        <a:t>Prefers to participate instead of not participate</a:t>
                      </a:r>
                    </a:p>
                  </a:txBody>
                  <a:tcPr>
                    <a:solidFill>
                      <a:schemeClr val="bg1"/>
                    </a:solidFill>
                  </a:tcPr>
                </a:tc>
                <a:extLst>
                  <a:ext uri="{0D108BD9-81ED-4DB2-BD59-A6C34878D82A}">
                    <a16:rowId xmlns:a16="http://schemas.microsoft.com/office/drawing/2014/main" val="1287996018"/>
                  </a:ext>
                </a:extLst>
              </a:tr>
            </a:tbl>
          </a:graphicData>
        </a:graphic>
      </p:graphicFrame>
    </p:spTree>
    <p:extLst>
      <p:ext uri="{BB962C8B-B14F-4D97-AF65-F5344CB8AC3E}">
        <p14:creationId xmlns:p14="http://schemas.microsoft.com/office/powerpoint/2010/main" val="32296699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7443FE-F87E-7F13-6B3C-7D0EF75423DF}"/>
              </a:ext>
            </a:extLst>
          </p:cNvPr>
          <p:cNvSpPr/>
          <p:nvPr/>
        </p:nvSpPr>
        <p:spPr>
          <a:xfrm>
            <a:off x="2669305" y="30530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5206377-6A6A-1F8D-8102-715B292AFCB4}"/>
              </a:ext>
            </a:extLst>
          </p:cNvPr>
          <p:cNvSpPr/>
          <p:nvPr/>
        </p:nvSpPr>
        <p:spPr>
          <a:xfrm>
            <a:off x="2669304" y="2717278"/>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1B16D6E-6228-5B46-E7B8-5D168E8163A8}"/>
              </a:ext>
            </a:extLst>
          </p:cNvPr>
          <p:cNvSpPr/>
          <p:nvPr/>
        </p:nvSpPr>
        <p:spPr>
          <a:xfrm>
            <a:off x="2669304" y="340859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165AC27-CD6A-389D-8D94-94BD1460DD22}"/>
              </a:ext>
            </a:extLst>
          </p:cNvPr>
          <p:cNvSpPr/>
          <p:nvPr/>
        </p:nvSpPr>
        <p:spPr>
          <a:xfrm>
            <a:off x="2669303" y="379060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E481FA-8076-0800-DF07-3B014DBB018E}"/>
              </a:ext>
            </a:extLst>
          </p:cNvPr>
          <p:cNvSpPr/>
          <p:nvPr/>
        </p:nvSpPr>
        <p:spPr>
          <a:xfrm>
            <a:off x="2669302" y="417262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894762-51A5-E5AA-A047-1F8CBC9EEEBB}"/>
              </a:ext>
            </a:extLst>
          </p:cNvPr>
          <p:cNvSpPr/>
          <p:nvPr/>
        </p:nvSpPr>
        <p:spPr>
          <a:xfrm>
            <a:off x="2669301" y="4554639"/>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E62756-508A-5B93-B073-7C0998EC86C9}"/>
              </a:ext>
            </a:extLst>
          </p:cNvPr>
          <p:cNvSpPr/>
          <p:nvPr/>
        </p:nvSpPr>
        <p:spPr>
          <a:xfrm>
            <a:off x="2669300" y="4936655"/>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2BB2D2-5E3C-E1D8-E37E-A7A4CC9D6133}"/>
              </a:ext>
            </a:extLst>
          </p:cNvPr>
          <p:cNvSpPr/>
          <p:nvPr/>
        </p:nvSpPr>
        <p:spPr>
          <a:xfrm>
            <a:off x="2669299" y="5318671"/>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341F5-30C2-1650-532A-7642614939D7}"/>
              </a:ext>
            </a:extLst>
          </p:cNvPr>
          <p:cNvSpPr/>
          <p:nvPr/>
        </p:nvSpPr>
        <p:spPr>
          <a:xfrm>
            <a:off x="2669298" y="570068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378BBEC-AF19-4687-F528-313E9AE98965}"/>
              </a:ext>
            </a:extLst>
          </p:cNvPr>
          <p:cNvSpPr/>
          <p:nvPr/>
        </p:nvSpPr>
        <p:spPr>
          <a:xfrm>
            <a:off x="2669297" y="608270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A1FD49C-082A-5895-A7AE-75AD2DDD7ABE}"/>
              </a:ext>
            </a:extLst>
          </p:cNvPr>
          <p:cNvSpPr/>
          <p:nvPr/>
        </p:nvSpPr>
        <p:spPr>
          <a:xfrm>
            <a:off x="2669297" y="6418486"/>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FA20899-522E-1396-C2C3-6E35C81B4F29}"/>
              </a:ext>
            </a:extLst>
          </p:cNvPr>
          <p:cNvSpPr txBox="1"/>
          <p:nvPr/>
        </p:nvSpPr>
        <p:spPr>
          <a:xfrm>
            <a:off x="8053284" y="1003831"/>
            <a:ext cx="3723079" cy="954107"/>
          </a:xfrm>
          <a:prstGeom prst="rect">
            <a:avLst/>
          </a:prstGeom>
          <a:solidFill>
            <a:srgbClr val="00FF00"/>
          </a:solidFill>
          <a:ln w="76200">
            <a:solidFill>
              <a:srgbClr val="7030A0"/>
            </a:solidFill>
          </a:ln>
        </p:spPr>
        <p:txBody>
          <a:bodyPr wrap="square" rtlCol="0">
            <a:spAutoFit/>
          </a:bodyPr>
          <a:lstStyle/>
          <a:p>
            <a:r>
              <a:rPr lang="en-US" sz="2800" i="1"/>
              <a:t>Fill out the remaining green-shaded rows!</a:t>
            </a:r>
          </a:p>
        </p:txBody>
      </p:sp>
      <p:graphicFrame>
        <p:nvGraphicFramePr>
          <p:cNvPr id="11" name="Table 5">
            <a:extLst>
              <a:ext uri="{FF2B5EF4-FFF2-40B4-BE49-F238E27FC236}">
                <a16:creationId xmlns:a16="http://schemas.microsoft.com/office/drawing/2014/main" id="{896681A4-EA11-8E64-8B5D-09269AD4FCEC}"/>
              </a:ext>
            </a:extLst>
          </p:cNvPr>
          <p:cNvGraphicFramePr>
            <a:graphicFrameLocks noGrp="1"/>
          </p:cNvGraphicFramePr>
          <p:nvPr>
            <p:extLst>
              <p:ext uri="{D42A27DB-BD31-4B8C-83A1-F6EECF244321}">
                <p14:modId xmlns:p14="http://schemas.microsoft.com/office/powerpoint/2010/main" val="1414835984"/>
              </p:ext>
            </p:extLst>
          </p:nvPr>
        </p:nvGraphicFramePr>
        <p:xfrm>
          <a:off x="3463635" y="4444916"/>
          <a:ext cx="8128000" cy="1920240"/>
        </p:xfrm>
        <a:graphic>
          <a:graphicData uri="http://schemas.openxmlformats.org/drawingml/2006/table">
            <a:tbl>
              <a:tblPr firstRow="1" bandRow="1"/>
              <a:tblGrid>
                <a:gridCol w="3629891">
                  <a:extLst>
                    <a:ext uri="{9D8B030D-6E8A-4147-A177-3AD203B41FA5}">
                      <a16:colId xmlns:a16="http://schemas.microsoft.com/office/drawing/2014/main" val="2769787254"/>
                    </a:ext>
                  </a:extLst>
                </a:gridCol>
                <a:gridCol w="4498109">
                  <a:extLst>
                    <a:ext uri="{9D8B030D-6E8A-4147-A177-3AD203B41FA5}">
                      <a16:colId xmlns:a16="http://schemas.microsoft.com/office/drawing/2014/main" val="1709226038"/>
                    </a:ext>
                  </a:extLst>
                </a:gridCol>
              </a:tblGrid>
              <a:tr h="370840">
                <a:tc>
                  <a:txBody>
                    <a:bodyPr/>
                    <a:lstStyle/>
                    <a:p>
                      <a:r>
                        <a:rPr lang="en-US" b="1"/>
                        <a:t>Person’s expectation about what the other three persons will do</a:t>
                      </a:r>
                    </a:p>
                  </a:txBody>
                  <a:tcPr>
                    <a:solidFill>
                      <a:schemeClr val="bg1"/>
                    </a:solidFill>
                  </a:tcPr>
                </a:tc>
                <a:tc>
                  <a:txBody>
                    <a:bodyPr/>
                    <a:lstStyle/>
                    <a:p>
                      <a:r>
                        <a:rPr lang="en-US" b="1"/>
                        <a:t>Person’s preferences over her actions</a:t>
                      </a:r>
                    </a:p>
                  </a:txBody>
                  <a:tcPr>
                    <a:solidFill>
                      <a:schemeClr val="bg1"/>
                    </a:solidFill>
                  </a:tcPr>
                </a:tc>
                <a:extLst>
                  <a:ext uri="{0D108BD9-81ED-4DB2-BD59-A6C34878D82A}">
                    <a16:rowId xmlns:a16="http://schemas.microsoft.com/office/drawing/2014/main" val="3970009536"/>
                  </a:ext>
                </a:extLst>
              </a:tr>
              <a:tr h="370840">
                <a:tc>
                  <a:txBody>
                    <a:bodyPr/>
                    <a:lstStyle/>
                    <a:p>
                      <a:r>
                        <a:rPr lang="en-US"/>
                        <a:t>less than two of other three will participate</a:t>
                      </a:r>
                    </a:p>
                  </a:txBody>
                  <a:tcPr>
                    <a:solidFill>
                      <a:schemeClr val="bg1"/>
                    </a:solidFill>
                  </a:tcPr>
                </a:tc>
                <a:tc>
                  <a:txBody>
                    <a:bodyPr/>
                    <a:lstStyle/>
                    <a:p>
                      <a:r>
                        <a:rPr lang="en-US"/>
                        <a:t>Prefers to not participate instead of participate</a:t>
                      </a:r>
                    </a:p>
                  </a:txBody>
                  <a:tcPr>
                    <a:solidFill>
                      <a:schemeClr val="bg1"/>
                    </a:solidFill>
                  </a:tcPr>
                </a:tc>
                <a:extLst>
                  <a:ext uri="{0D108BD9-81ED-4DB2-BD59-A6C34878D82A}">
                    <a16:rowId xmlns:a16="http://schemas.microsoft.com/office/drawing/2014/main" val="2064842803"/>
                  </a:ext>
                </a:extLst>
              </a:tr>
              <a:tr h="370840">
                <a:tc>
                  <a:txBody>
                    <a:bodyPr/>
                    <a:lstStyle/>
                    <a:p>
                      <a:r>
                        <a:rPr lang="en-US"/>
                        <a:t>two or more of other three will participate</a:t>
                      </a:r>
                    </a:p>
                  </a:txBody>
                  <a:tcPr>
                    <a:solidFill>
                      <a:schemeClr val="bg1"/>
                    </a:solidFill>
                  </a:tcPr>
                </a:tc>
                <a:tc>
                  <a:txBody>
                    <a:bodyPr/>
                    <a:lstStyle/>
                    <a:p>
                      <a:r>
                        <a:rPr lang="en-US"/>
                        <a:t>Prefers to participate instead of not participate</a:t>
                      </a:r>
                    </a:p>
                  </a:txBody>
                  <a:tcPr>
                    <a:solidFill>
                      <a:schemeClr val="bg1"/>
                    </a:solidFill>
                  </a:tcPr>
                </a:tc>
                <a:extLst>
                  <a:ext uri="{0D108BD9-81ED-4DB2-BD59-A6C34878D82A}">
                    <a16:rowId xmlns:a16="http://schemas.microsoft.com/office/drawing/2014/main" val="1287996018"/>
                  </a:ext>
                </a:extLst>
              </a:tr>
            </a:tbl>
          </a:graphicData>
        </a:graphic>
      </p:graphicFrame>
    </p:spTree>
    <p:extLst>
      <p:ext uri="{BB962C8B-B14F-4D97-AF65-F5344CB8AC3E}">
        <p14:creationId xmlns:p14="http://schemas.microsoft.com/office/powerpoint/2010/main" val="293192360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7443FE-F87E-7F13-6B3C-7D0EF75423DF}"/>
              </a:ext>
            </a:extLst>
          </p:cNvPr>
          <p:cNvSpPr/>
          <p:nvPr/>
        </p:nvSpPr>
        <p:spPr>
          <a:xfrm>
            <a:off x="2669305" y="30530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5206377-6A6A-1F8D-8102-715B292AFCB4}"/>
              </a:ext>
            </a:extLst>
          </p:cNvPr>
          <p:cNvSpPr/>
          <p:nvPr/>
        </p:nvSpPr>
        <p:spPr>
          <a:xfrm>
            <a:off x="2669304" y="2717278"/>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1B16D6E-6228-5B46-E7B8-5D168E8163A8}"/>
              </a:ext>
            </a:extLst>
          </p:cNvPr>
          <p:cNvSpPr/>
          <p:nvPr/>
        </p:nvSpPr>
        <p:spPr>
          <a:xfrm>
            <a:off x="2669304" y="340859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165AC27-CD6A-389D-8D94-94BD1460DD22}"/>
              </a:ext>
            </a:extLst>
          </p:cNvPr>
          <p:cNvSpPr/>
          <p:nvPr/>
        </p:nvSpPr>
        <p:spPr>
          <a:xfrm>
            <a:off x="2669303" y="379060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E481FA-8076-0800-DF07-3B014DBB018E}"/>
              </a:ext>
            </a:extLst>
          </p:cNvPr>
          <p:cNvSpPr/>
          <p:nvPr/>
        </p:nvSpPr>
        <p:spPr>
          <a:xfrm>
            <a:off x="2669302" y="417262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894762-51A5-E5AA-A047-1F8CBC9EEEBB}"/>
              </a:ext>
            </a:extLst>
          </p:cNvPr>
          <p:cNvSpPr/>
          <p:nvPr/>
        </p:nvSpPr>
        <p:spPr>
          <a:xfrm>
            <a:off x="2669301" y="4554639"/>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E62756-508A-5B93-B073-7C0998EC86C9}"/>
              </a:ext>
            </a:extLst>
          </p:cNvPr>
          <p:cNvSpPr/>
          <p:nvPr/>
        </p:nvSpPr>
        <p:spPr>
          <a:xfrm>
            <a:off x="2669300" y="4936655"/>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2BB2D2-5E3C-E1D8-E37E-A7A4CC9D6133}"/>
              </a:ext>
            </a:extLst>
          </p:cNvPr>
          <p:cNvSpPr/>
          <p:nvPr/>
        </p:nvSpPr>
        <p:spPr>
          <a:xfrm>
            <a:off x="2669299" y="5318671"/>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341F5-30C2-1650-532A-7642614939D7}"/>
              </a:ext>
            </a:extLst>
          </p:cNvPr>
          <p:cNvSpPr/>
          <p:nvPr/>
        </p:nvSpPr>
        <p:spPr>
          <a:xfrm>
            <a:off x="2669298" y="570068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378BBEC-AF19-4687-F528-313E9AE98965}"/>
              </a:ext>
            </a:extLst>
          </p:cNvPr>
          <p:cNvSpPr/>
          <p:nvPr/>
        </p:nvSpPr>
        <p:spPr>
          <a:xfrm>
            <a:off x="2669297" y="608270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A1FD49C-082A-5895-A7AE-75AD2DDD7ABE}"/>
              </a:ext>
            </a:extLst>
          </p:cNvPr>
          <p:cNvSpPr/>
          <p:nvPr/>
        </p:nvSpPr>
        <p:spPr>
          <a:xfrm>
            <a:off x="2669297" y="6418486"/>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FA20899-522E-1396-C2C3-6E35C81B4F29}"/>
              </a:ext>
            </a:extLst>
          </p:cNvPr>
          <p:cNvSpPr txBox="1"/>
          <p:nvPr/>
        </p:nvSpPr>
        <p:spPr>
          <a:xfrm>
            <a:off x="8053284" y="1003831"/>
            <a:ext cx="3723079" cy="954107"/>
          </a:xfrm>
          <a:prstGeom prst="rect">
            <a:avLst/>
          </a:prstGeom>
          <a:solidFill>
            <a:srgbClr val="00FF00"/>
          </a:solidFill>
          <a:ln w="76200">
            <a:solidFill>
              <a:srgbClr val="7030A0"/>
            </a:solidFill>
          </a:ln>
        </p:spPr>
        <p:txBody>
          <a:bodyPr wrap="square" rtlCol="0">
            <a:spAutoFit/>
          </a:bodyPr>
          <a:lstStyle/>
          <a:p>
            <a:r>
              <a:rPr lang="en-US" sz="2800" i="1"/>
              <a:t>Fill out the remaining green-shaded rows!</a:t>
            </a:r>
          </a:p>
        </p:txBody>
      </p:sp>
      <p:graphicFrame>
        <p:nvGraphicFramePr>
          <p:cNvPr id="11" name="Table 5">
            <a:extLst>
              <a:ext uri="{FF2B5EF4-FFF2-40B4-BE49-F238E27FC236}">
                <a16:creationId xmlns:a16="http://schemas.microsoft.com/office/drawing/2014/main" id="{47FCAF16-F6C0-2DC8-9E12-76A69E4D4327}"/>
              </a:ext>
            </a:extLst>
          </p:cNvPr>
          <p:cNvGraphicFramePr>
            <a:graphicFrameLocks noGrp="1"/>
          </p:cNvGraphicFramePr>
          <p:nvPr>
            <p:extLst>
              <p:ext uri="{D42A27DB-BD31-4B8C-83A1-F6EECF244321}">
                <p14:modId xmlns:p14="http://schemas.microsoft.com/office/powerpoint/2010/main" val="3647741581"/>
              </p:ext>
            </p:extLst>
          </p:nvPr>
        </p:nvGraphicFramePr>
        <p:xfrm>
          <a:off x="3906967" y="4560055"/>
          <a:ext cx="8128000" cy="1920240"/>
        </p:xfrm>
        <a:graphic>
          <a:graphicData uri="http://schemas.openxmlformats.org/drawingml/2006/table">
            <a:tbl>
              <a:tblPr firstRow="1" bandRow="1"/>
              <a:tblGrid>
                <a:gridCol w="3629891">
                  <a:extLst>
                    <a:ext uri="{9D8B030D-6E8A-4147-A177-3AD203B41FA5}">
                      <a16:colId xmlns:a16="http://schemas.microsoft.com/office/drawing/2014/main" val="2769787254"/>
                    </a:ext>
                  </a:extLst>
                </a:gridCol>
                <a:gridCol w="4498109">
                  <a:extLst>
                    <a:ext uri="{9D8B030D-6E8A-4147-A177-3AD203B41FA5}">
                      <a16:colId xmlns:a16="http://schemas.microsoft.com/office/drawing/2014/main" val="1709226038"/>
                    </a:ext>
                  </a:extLst>
                </a:gridCol>
              </a:tblGrid>
              <a:tr h="370840">
                <a:tc>
                  <a:txBody>
                    <a:bodyPr/>
                    <a:lstStyle/>
                    <a:p>
                      <a:r>
                        <a:rPr lang="en-US" b="1"/>
                        <a:t>Person’s expectation about what the other three persons will do</a:t>
                      </a:r>
                    </a:p>
                  </a:txBody>
                  <a:tcPr>
                    <a:solidFill>
                      <a:schemeClr val="bg1"/>
                    </a:solidFill>
                  </a:tcPr>
                </a:tc>
                <a:tc>
                  <a:txBody>
                    <a:bodyPr/>
                    <a:lstStyle/>
                    <a:p>
                      <a:r>
                        <a:rPr lang="en-US" b="1"/>
                        <a:t>Person’s preferences over her actions</a:t>
                      </a:r>
                    </a:p>
                  </a:txBody>
                  <a:tcPr>
                    <a:solidFill>
                      <a:schemeClr val="bg1"/>
                    </a:solidFill>
                  </a:tcPr>
                </a:tc>
                <a:extLst>
                  <a:ext uri="{0D108BD9-81ED-4DB2-BD59-A6C34878D82A}">
                    <a16:rowId xmlns:a16="http://schemas.microsoft.com/office/drawing/2014/main" val="3970009536"/>
                  </a:ext>
                </a:extLst>
              </a:tr>
              <a:tr h="370840">
                <a:tc>
                  <a:txBody>
                    <a:bodyPr/>
                    <a:lstStyle/>
                    <a:p>
                      <a:r>
                        <a:rPr lang="en-US"/>
                        <a:t>less than two of other three will participate</a:t>
                      </a:r>
                    </a:p>
                  </a:txBody>
                  <a:tcPr>
                    <a:solidFill>
                      <a:schemeClr val="bg1"/>
                    </a:solidFill>
                  </a:tcPr>
                </a:tc>
                <a:tc>
                  <a:txBody>
                    <a:bodyPr/>
                    <a:lstStyle/>
                    <a:p>
                      <a:r>
                        <a:rPr lang="en-US"/>
                        <a:t>Prefers to not participate instead of participate</a:t>
                      </a:r>
                    </a:p>
                  </a:txBody>
                  <a:tcPr>
                    <a:solidFill>
                      <a:schemeClr val="bg1"/>
                    </a:solidFill>
                  </a:tcPr>
                </a:tc>
                <a:extLst>
                  <a:ext uri="{0D108BD9-81ED-4DB2-BD59-A6C34878D82A}">
                    <a16:rowId xmlns:a16="http://schemas.microsoft.com/office/drawing/2014/main" val="2064842803"/>
                  </a:ext>
                </a:extLst>
              </a:tr>
              <a:tr h="370840">
                <a:tc>
                  <a:txBody>
                    <a:bodyPr/>
                    <a:lstStyle/>
                    <a:p>
                      <a:r>
                        <a:rPr lang="en-US"/>
                        <a:t>two or more of other three will participate</a:t>
                      </a:r>
                    </a:p>
                  </a:txBody>
                  <a:tcPr>
                    <a:solidFill>
                      <a:schemeClr val="bg1"/>
                    </a:solidFill>
                  </a:tcPr>
                </a:tc>
                <a:tc>
                  <a:txBody>
                    <a:bodyPr/>
                    <a:lstStyle/>
                    <a:p>
                      <a:r>
                        <a:rPr lang="en-US"/>
                        <a:t>Prefers to participate instead of not participate</a:t>
                      </a:r>
                    </a:p>
                  </a:txBody>
                  <a:tcPr>
                    <a:solidFill>
                      <a:schemeClr val="bg1"/>
                    </a:solidFill>
                  </a:tcPr>
                </a:tc>
                <a:extLst>
                  <a:ext uri="{0D108BD9-81ED-4DB2-BD59-A6C34878D82A}">
                    <a16:rowId xmlns:a16="http://schemas.microsoft.com/office/drawing/2014/main" val="1287996018"/>
                  </a:ext>
                </a:extLst>
              </a:tr>
            </a:tbl>
          </a:graphicData>
        </a:graphic>
      </p:graphicFrame>
    </p:spTree>
    <p:extLst>
      <p:ext uri="{BB962C8B-B14F-4D97-AF65-F5344CB8AC3E}">
        <p14:creationId xmlns:p14="http://schemas.microsoft.com/office/powerpoint/2010/main" val="24034952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7443FE-F87E-7F13-6B3C-7D0EF75423DF}"/>
              </a:ext>
            </a:extLst>
          </p:cNvPr>
          <p:cNvSpPr/>
          <p:nvPr/>
        </p:nvSpPr>
        <p:spPr>
          <a:xfrm>
            <a:off x="2669305" y="30530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5206377-6A6A-1F8D-8102-715B292AFCB4}"/>
              </a:ext>
            </a:extLst>
          </p:cNvPr>
          <p:cNvSpPr/>
          <p:nvPr/>
        </p:nvSpPr>
        <p:spPr>
          <a:xfrm>
            <a:off x="2669304" y="2717278"/>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1B16D6E-6228-5B46-E7B8-5D168E8163A8}"/>
              </a:ext>
            </a:extLst>
          </p:cNvPr>
          <p:cNvSpPr/>
          <p:nvPr/>
        </p:nvSpPr>
        <p:spPr>
          <a:xfrm>
            <a:off x="2669304" y="340859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165AC27-CD6A-389D-8D94-94BD1460DD22}"/>
              </a:ext>
            </a:extLst>
          </p:cNvPr>
          <p:cNvSpPr/>
          <p:nvPr/>
        </p:nvSpPr>
        <p:spPr>
          <a:xfrm>
            <a:off x="2669303" y="379060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E481FA-8076-0800-DF07-3B014DBB018E}"/>
              </a:ext>
            </a:extLst>
          </p:cNvPr>
          <p:cNvSpPr/>
          <p:nvPr/>
        </p:nvSpPr>
        <p:spPr>
          <a:xfrm>
            <a:off x="2669302" y="417262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894762-51A5-E5AA-A047-1F8CBC9EEEBB}"/>
              </a:ext>
            </a:extLst>
          </p:cNvPr>
          <p:cNvSpPr/>
          <p:nvPr/>
        </p:nvSpPr>
        <p:spPr>
          <a:xfrm>
            <a:off x="2669301" y="4554639"/>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E62756-508A-5B93-B073-7C0998EC86C9}"/>
              </a:ext>
            </a:extLst>
          </p:cNvPr>
          <p:cNvSpPr/>
          <p:nvPr/>
        </p:nvSpPr>
        <p:spPr>
          <a:xfrm>
            <a:off x="2669300" y="4936655"/>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2BB2D2-5E3C-E1D8-E37E-A7A4CC9D6133}"/>
              </a:ext>
            </a:extLst>
          </p:cNvPr>
          <p:cNvSpPr/>
          <p:nvPr/>
        </p:nvSpPr>
        <p:spPr>
          <a:xfrm>
            <a:off x="2669299" y="5318671"/>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341F5-30C2-1650-532A-7642614939D7}"/>
              </a:ext>
            </a:extLst>
          </p:cNvPr>
          <p:cNvSpPr/>
          <p:nvPr/>
        </p:nvSpPr>
        <p:spPr>
          <a:xfrm>
            <a:off x="2669298" y="570068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378BBEC-AF19-4687-F528-313E9AE98965}"/>
              </a:ext>
            </a:extLst>
          </p:cNvPr>
          <p:cNvSpPr/>
          <p:nvPr/>
        </p:nvSpPr>
        <p:spPr>
          <a:xfrm>
            <a:off x="2669297" y="608270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A1FD49C-082A-5895-A7AE-75AD2DDD7ABE}"/>
              </a:ext>
            </a:extLst>
          </p:cNvPr>
          <p:cNvSpPr/>
          <p:nvPr/>
        </p:nvSpPr>
        <p:spPr>
          <a:xfrm>
            <a:off x="2669297" y="6418486"/>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FA20899-522E-1396-C2C3-6E35C81B4F29}"/>
              </a:ext>
            </a:extLst>
          </p:cNvPr>
          <p:cNvSpPr txBox="1"/>
          <p:nvPr/>
        </p:nvSpPr>
        <p:spPr>
          <a:xfrm>
            <a:off x="8053284" y="1003831"/>
            <a:ext cx="3723079" cy="4401205"/>
          </a:xfrm>
          <a:prstGeom prst="rect">
            <a:avLst/>
          </a:prstGeom>
          <a:solidFill>
            <a:srgbClr val="FFFF00"/>
          </a:solidFill>
          <a:ln w="76200">
            <a:solidFill>
              <a:srgbClr val="7030A0"/>
            </a:solidFill>
          </a:ln>
        </p:spPr>
        <p:txBody>
          <a:bodyPr wrap="square" rtlCol="0">
            <a:spAutoFit/>
          </a:bodyPr>
          <a:lstStyle/>
          <a:p>
            <a:r>
              <a:rPr lang="en-US" sz="2800" i="1"/>
              <a:t>Fill out the yellow-shaded rows.  Remember: We want to depict the idea that Person 1 prefers to participate instead of not participate if she expects two or more of the three other persons to participate!</a:t>
            </a:r>
          </a:p>
        </p:txBody>
      </p:sp>
    </p:spTree>
    <p:extLst>
      <p:ext uri="{BB962C8B-B14F-4D97-AF65-F5344CB8AC3E}">
        <p14:creationId xmlns:p14="http://schemas.microsoft.com/office/powerpoint/2010/main" val="17341003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7443FE-F87E-7F13-6B3C-7D0EF75423DF}"/>
              </a:ext>
            </a:extLst>
          </p:cNvPr>
          <p:cNvSpPr/>
          <p:nvPr/>
        </p:nvSpPr>
        <p:spPr>
          <a:xfrm>
            <a:off x="2669305" y="30530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5206377-6A6A-1F8D-8102-715B292AFCB4}"/>
              </a:ext>
            </a:extLst>
          </p:cNvPr>
          <p:cNvSpPr/>
          <p:nvPr/>
        </p:nvSpPr>
        <p:spPr>
          <a:xfrm>
            <a:off x="2669304" y="2717278"/>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1B16D6E-6228-5B46-E7B8-5D168E8163A8}"/>
              </a:ext>
            </a:extLst>
          </p:cNvPr>
          <p:cNvSpPr/>
          <p:nvPr/>
        </p:nvSpPr>
        <p:spPr>
          <a:xfrm>
            <a:off x="2669304" y="340859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165AC27-CD6A-389D-8D94-94BD1460DD22}"/>
              </a:ext>
            </a:extLst>
          </p:cNvPr>
          <p:cNvSpPr/>
          <p:nvPr/>
        </p:nvSpPr>
        <p:spPr>
          <a:xfrm>
            <a:off x="2669303" y="379060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E481FA-8076-0800-DF07-3B014DBB018E}"/>
              </a:ext>
            </a:extLst>
          </p:cNvPr>
          <p:cNvSpPr/>
          <p:nvPr/>
        </p:nvSpPr>
        <p:spPr>
          <a:xfrm>
            <a:off x="2669302" y="417262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894762-51A5-E5AA-A047-1F8CBC9EEEBB}"/>
              </a:ext>
            </a:extLst>
          </p:cNvPr>
          <p:cNvSpPr/>
          <p:nvPr/>
        </p:nvSpPr>
        <p:spPr>
          <a:xfrm>
            <a:off x="2669301" y="4554639"/>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E62756-508A-5B93-B073-7C0998EC86C9}"/>
              </a:ext>
            </a:extLst>
          </p:cNvPr>
          <p:cNvSpPr/>
          <p:nvPr/>
        </p:nvSpPr>
        <p:spPr>
          <a:xfrm>
            <a:off x="2669300" y="4936655"/>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2BB2D2-5E3C-E1D8-E37E-A7A4CC9D6133}"/>
              </a:ext>
            </a:extLst>
          </p:cNvPr>
          <p:cNvSpPr/>
          <p:nvPr/>
        </p:nvSpPr>
        <p:spPr>
          <a:xfrm>
            <a:off x="2669299" y="5318671"/>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341F5-30C2-1650-532A-7642614939D7}"/>
              </a:ext>
            </a:extLst>
          </p:cNvPr>
          <p:cNvSpPr/>
          <p:nvPr/>
        </p:nvSpPr>
        <p:spPr>
          <a:xfrm>
            <a:off x="2669298" y="570068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378BBEC-AF19-4687-F528-313E9AE98965}"/>
              </a:ext>
            </a:extLst>
          </p:cNvPr>
          <p:cNvSpPr/>
          <p:nvPr/>
        </p:nvSpPr>
        <p:spPr>
          <a:xfrm>
            <a:off x="2669297" y="608270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A1FD49C-082A-5895-A7AE-75AD2DDD7ABE}"/>
              </a:ext>
            </a:extLst>
          </p:cNvPr>
          <p:cNvSpPr/>
          <p:nvPr/>
        </p:nvSpPr>
        <p:spPr>
          <a:xfrm>
            <a:off x="2669297" y="6418486"/>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FA20899-522E-1396-C2C3-6E35C81B4F29}"/>
              </a:ext>
            </a:extLst>
          </p:cNvPr>
          <p:cNvSpPr txBox="1"/>
          <p:nvPr/>
        </p:nvSpPr>
        <p:spPr>
          <a:xfrm>
            <a:off x="8053284" y="1003831"/>
            <a:ext cx="3723079" cy="4401205"/>
          </a:xfrm>
          <a:prstGeom prst="rect">
            <a:avLst/>
          </a:prstGeom>
          <a:solidFill>
            <a:srgbClr val="FFFF00"/>
          </a:solidFill>
          <a:ln w="76200">
            <a:solidFill>
              <a:srgbClr val="7030A0"/>
            </a:solidFill>
          </a:ln>
        </p:spPr>
        <p:txBody>
          <a:bodyPr wrap="square" rtlCol="0">
            <a:spAutoFit/>
          </a:bodyPr>
          <a:lstStyle/>
          <a:p>
            <a:r>
              <a:rPr lang="en-US" sz="2800" i="1"/>
              <a:t>Fill out the yellow-shaded rows.  Remember: We want to depict the idea that Person 1 prefers to participate instead of not participate if she expects two or more of the three other persons to participate!</a:t>
            </a:r>
          </a:p>
        </p:txBody>
      </p:sp>
    </p:spTree>
    <p:extLst>
      <p:ext uri="{BB962C8B-B14F-4D97-AF65-F5344CB8AC3E}">
        <p14:creationId xmlns:p14="http://schemas.microsoft.com/office/powerpoint/2010/main" val="42194510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1496292"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8C5A24-3479-157E-7604-7C6D2ABC87FE}"/>
              </a:ext>
            </a:extLst>
          </p:cNvPr>
          <p:cNvSpPr/>
          <p:nvPr/>
        </p:nvSpPr>
        <p:spPr>
          <a:xfrm>
            <a:off x="2669309" y="830777"/>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78CD1F3-F2D5-6370-F92A-89FEF9E8E76A}"/>
              </a:ext>
            </a:extLst>
          </p:cNvPr>
          <p:cNvSpPr/>
          <p:nvPr/>
        </p:nvSpPr>
        <p:spPr>
          <a:xfrm>
            <a:off x="2669308" y="121820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7900DE-5B37-FDCC-5DA7-4EC901573570}"/>
              </a:ext>
            </a:extLst>
          </p:cNvPr>
          <p:cNvSpPr/>
          <p:nvPr/>
        </p:nvSpPr>
        <p:spPr>
          <a:xfrm>
            <a:off x="2669307" y="1553992"/>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82A921-BF19-DF71-B992-B325EB4F23CE}"/>
              </a:ext>
            </a:extLst>
          </p:cNvPr>
          <p:cNvSpPr/>
          <p:nvPr/>
        </p:nvSpPr>
        <p:spPr>
          <a:xfrm>
            <a:off x="2669307" y="1941424"/>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2B534-72BF-4E0F-9F71-A590A39CE453}"/>
              </a:ext>
            </a:extLst>
          </p:cNvPr>
          <p:cNvSpPr/>
          <p:nvPr/>
        </p:nvSpPr>
        <p:spPr>
          <a:xfrm>
            <a:off x="2669306" y="2306029"/>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7443FE-F87E-7F13-6B3C-7D0EF75423DF}"/>
              </a:ext>
            </a:extLst>
          </p:cNvPr>
          <p:cNvSpPr/>
          <p:nvPr/>
        </p:nvSpPr>
        <p:spPr>
          <a:xfrm>
            <a:off x="2669305" y="305306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5206377-6A6A-1F8D-8102-715B292AFCB4}"/>
              </a:ext>
            </a:extLst>
          </p:cNvPr>
          <p:cNvSpPr/>
          <p:nvPr/>
        </p:nvSpPr>
        <p:spPr>
          <a:xfrm>
            <a:off x="2669304" y="2717278"/>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1B16D6E-6228-5B46-E7B8-5D168E8163A8}"/>
              </a:ext>
            </a:extLst>
          </p:cNvPr>
          <p:cNvSpPr/>
          <p:nvPr/>
        </p:nvSpPr>
        <p:spPr>
          <a:xfrm>
            <a:off x="2669304" y="3408591"/>
            <a:ext cx="3426691" cy="388423"/>
          </a:xfrm>
          <a:prstGeom prst="rect">
            <a:avLst/>
          </a:prstGeom>
          <a:noFill/>
          <a:ln w="7620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165AC27-CD6A-389D-8D94-94BD1460DD22}"/>
              </a:ext>
            </a:extLst>
          </p:cNvPr>
          <p:cNvSpPr/>
          <p:nvPr/>
        </p:nvSpPr>
        <p:spPr>
          <a:xfrm>
            <a:off x="2669303" y="379060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E481FA-8076-0800-DF07-3B014DBB018E}"/>
              </a:ext>
            </a:extLst>
          </p:cNvPr>
          <p:cNvSpPr/>
          <p:nvPr/>
        </p:nvSpPr>
        <p:spPr>
          <a:xfrm>
            <a:off x="2669302" y="417262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894762-51A5-E5AA-A047-1F8CBC9EEEBB}"/>
              </a:ext>
            </a:extLst>
          </p:cNvPr>
          <p:cNvSpPr/>
          <p:nvPr/>
        </p:nvSpPr>
        <p:spPr>
          <a:xfrm>
            <a:off x="2669301" y="4554639"/>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E62756-508A-5B93-B073-7C0998EC86C9}"/>
              </a:ext>
            </a:extLst>
          </p:cNvPr>
          <p:cNvSpPr/>
          <p:nvPr/>
        </p:nvSpPr>
        <p:spPr>
          <a:xfrm>
            <a:off x="2669300" y="4936655"/>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2BB2D2-5E3C-E1D8-E37E-A7A4CC9D6133}"/>
              </a:ext>
            </a:extLst>
          </p:cNvPr>
          <p:cNvSpPr/>
          <p:nvPr/>
        </p:nvSpPr>
        <p:spPr>
          <a:xfrm>
            <a:off x="2669299" y="5318671"/>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341F5-30C2-1650-532A-7642614939D7}"/>
              </a:ext>
            </a:extLst>
          </p:cNvPr>
          <p:cNvSpPr/>
          <p:nvPr/>
        </p:nvSpPr>
        <p:spPr>
          <a:xfrm>
            <a:off x="2669298" y="5700687"/>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378BBEC-AF19-4687-F528-313E9AE98965}"/>
              </a:ext>
            </a:extLst>
          </p:cNvPr>
          <p:cNvSpPr/>
          <p:nvPr/>
        </p:nvSpPr>
        <p:spPr>
          <a:xfrm>
            <a:off x="2669297" y="6082703"/>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A1FD49C-082A-5895-A7AE-75AD2DDD7ABE}"/>
              </a:ext>
            </a:extLst>
          </p:cNvPr>
          <p:cNvSpPr/>
          <p:nvPr/>
        </p:nvSpPr>
        <p:spPr>
          <a:xfrm>
            <a:off x="2669297" y="6418486"/>
            <a:ext cx="3426691" cy="3884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FA20899-522E-1396-C2C3-6E35C81B4F29}"/>
              </a:ext>
            </a:extLst>
          </p:cNvPr>
          <p:cNvSpPr txBox="1"/>
          <p:nvPr/>
        </p:nvSpPr>
        <p:spPr>
          <a:xfrm>
            <a:off x="8053284" y="1003831"/>
            <a:ext cx="3723079" cy="4401205"/>
          </a:xfrm>
          <a:prstGeom prst="rect">
            <a:avLst/>
          </a:prstGeom>
          <a:solidFill>
            <a:srgbClr val="FFFF00"/>
          </a:solidFill>
          <a:ln w="76200">
            <a:solidFill>
              <a:srgbClr val="7030A0"/>
            </a:solidFill>
          </a:ln>
        </p:spPr>
        <p:txBody>
          <a:bodyPr wrap="square" rtlCol="0">
            <a:spAutoFit/>
          </a:bodyPr>
          <a:lstStyle/>
          <a:p>
            <a:r>
              <a:rPr lang="en-US" sz="2800" i="1"/>
              <a:t>Fill out the yellow-shaded rows.  Remember: We want to depict the idea that Person 1 prefers to participate instead of not participate if she expects two or more of the three other persons to participate!</a:t>
            </a:r>
          </a:p>
        </p:txBody>
      </p:sp>
    </p:spTree>
    <p:extLst>
      <p:ext uri="{BB962C8B-B14F-4D97-AF65-F5344CB8AC3E}">
        <p14:creationId xmlns:p14="http://schemas.microsoft.com/office/powerpoint/2010/main" val="90027694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808044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122869-EBE7-153D-24C4-722B7AE46628}"/>
              </a:ext>
            </a:extLst>
          </p:cNvPr>
          <p:cNvSpPr/>
          <p:nvPr/>
        </p:nvSpPr>
        <p:spPr>
          <a:xfrm>
            <a:off x="0" y="0"/>
            <a:ext cx="12192000" cy="6858000"/>
          </a:xfrm>
          <a:prstGeom prst="rect">
            <a:avLst/>
          </a:prstGeom>
          <a:solidFill>
            <a:srgbClr val="4472C4">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D603595-DA3F-DBD7-3AD7-7ACE0E9243C8}"/>
              </a:ext>
            </a:extLst>
          </p:cNvPr>
          <p:cNvSpPr/>
          <p:nvPr/>
        </p:nvSpPr>
        <p:spPr>
          <a:xfrm>
            <a:off x="1016001" y="1341351"/>
            <a:ext cx="9919853" cy="461125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30C7AC7-427D-C5DC-3853-783EE12E565D}"/>
              </a:ext>
            </a:extLst>
          </p:cNvPr>
          <p:cNvSpPr txBox="1"/>
          <p:nvPr/>
        </p:nvSpPr>
        <p:spPr>
          <a:xfrm>
            <a:off x="1865745" y="1810327"/>
            <a:ext cx="8294255" cy="954107"/>
          </a:xfrm>
          <a:prstGeom prst="rect">
            <a:avLst/>
          </a:prstGeom>
          <a:noFill/>
        </p:spPr>
        <p:txBody>
          <a:bodyPr wrap="square" rtlCol="0">
            <a:spAutoFit/>
          </a:bodyPr>
          <a:lstStyle/>
          <a:p>
            <a:r>
              <a:rPr lang="en-US" sz="2800"/>
              <a:t>We’ll depict the following strategic interdependence between the four persons in the game:</a:t>
            </a:r>
          </a:p>
        </p:txBody>
      </p:sp>
      <p:graphicFrame>
        <p:nvGraphicFramePr>
          <p:cNvPr id="13" name="Table 5">
            <a:extLst>
              <a:ext uri="{FF2B5EF4-FFF2-40B4-BE49-F238E27FC236}">
                <a16:creationId xmlns:a16="http://schemas.microsoft.com/office/drawing/2014/main" id="{8F4319A3-D06C-233F-4AD4-F59CABF4DB32}"/>
              </a:ext>
            </a:extLst>
          </p:cNvPr>
          <p:cNvGraphicFramePr>
            <a:graphicFrameLocks noGrp="1"/>
          </p:cNvGraphicFramePr>
          <p:nvPr>
            <p:extLst>
              <p:ext uri="{D42A27DB-BD31-4B8C-83A1-F6EECF244321}">
                <p14:modId xmlns:p14="http://schemas.microsoft.com/office/powerpoint/2010/main" val="1696283428"/>
              </p:ext>
            </p:extLst>
          </p:nvPr>
        </p:nvGraphicFramePr>
        <p:xfrm>
          <a:off x="2032000" y="3254740"/>
          <a:ext cx="8128000" cy="1920240"/>
        </p:xfrm>
        <a:graphic>
          <a:graphicData uri="http://schemas.openxmlformats.org/drawingml/2006/table">
            <a:tbl>
              <a:tblPr firstRow="1" bandRow="1"/>
              <a:tblGrid>
                <a:gridCol w="3629891">
                  <a:extLst>
                    <a:ext uri="{9D8B030D-6E8A-4147-A177-3AD203B41FA5}">
                      <a16:colId xmlns:a16="http://schemas.microsoft.com/office/drawing/2014/main" val="2769787254"/>
                    </a:ext>
                  </a:extLst>
                </a:gridCol>
                <a:gridCol w="4498109">
                  <a:extLst>
                    <a:ext uri="{9D8B030D-6E8A-4147-A177-3AD203B41FA5}">
                      <a16:colId xmlns:a16="http://schemas.microsoft.com/office/drawing/2014/main" val="1709226038"/>
                    </a:ext>
                  </a:extLst>
                </a:gridCol>
              </a:tblGrid>
              <a:tr h="370840">
                <a:tc>
                  <a:txBody>
                    <a:bodyPr/>
                    <a:lstStyle/>
                    <a:p>
                      <a:r>
                        <a:rPr lang="en-US" b="1"/>
                        <a:t>Person’s expectation about what the other three persons will do</a:t>
                      </a:r>
                    </a:p>
                  </a:txBody>
                  <a:tcPr>
                    <a:solidFill>
                      <a:schemeClr val="bg1"/>
                    </a:solidFill>
                  </a:tcPr>
                </a:tc>
                <a:tc>
                  <a:txBody>
                    <a:bodyPr/>
                    <a:lstStyle/>
                    <a:p>
                      <a:r>
                        <a:rPr lang="en-US" b="1"/>
                        <a:t>Person’s preferences over her actions</a:t>
                      </a:r>
                    </a:p>
                  </a:txBody>
                  <a:tcPr>
                    <a:solidFill>
                      <a:schemeClr val="bg1"/>
                    </a:solidFill>
                  </a:tcPr>
                </a:tc>
                <a:extLst>
                  <a:ext uri="{0D108BD9-81ED-4DB2-BD59-A6C34878D82A}">
                    <a16:rowId xmlns:a16="http://schemas.microsoft.com/office/drawing/2014/main" val="3970009536"/>
                  </a:ext>
                </a:extLst>
              </a:tr>
              <a:tr h="370840">
                <a:tc>
                  <a:txBody>
                    <a:bodyPr/>
                    <a:lstStyle/>
                    <a:p>
                      <a:r>
                        <a:rPr lang="en-US"/>
                        <a:t>less than two of other three will participate</a:t>
                      </a:r>
                    </a:p>
                  </a:txBody>
                  <a:tcPr>
                    <a:solidFill>
                      <a:schemeClr val="bg1"/>
                    </a:solidFill>
                  </a:tcPr>
                </a:tc>
                <a:tc>
                  <a:txBody>
                    <a:bodyPr/>
                    <a:lstStyle/>
                    <a:p>
                      <a:r>
                        <a:rPr lang="en-US"/>
                        <a:t>Prefers to not participate instead of participate</a:t>
                      </a:r>
                    </a:p>
                  </a:txBody>
                  <a:tcPr>
                    <a:solidFill>
                      <a:schemeClr val="bg1"/>
                    </a:solidFill>
                  </a:tcPr>
                </a:tc>
                <a:extLst>
                  <a:ext uri="{0D108BD9-81ED-4DB2-BD59-A6C34878D82A}">
                    <a16:rowId xmlns:a16="http://schemas.microsoft.com/office/drawing/2014/main" val="2064842803"/>
                  </a:ext>
                </a:extLst>
              </a:tr>
              <a:tr h="370840">
                <a:tc>
                  <a:txBody>
                    <a:bodyPr/>
                    <a:lstStyle/>
                    <a:p>
                      <a:r>
                        <a:rPr lang="en-US"/>
                        <a:t>two or more of other three will participate</a:t>
                      </a:r>
                    </a:p>
                  </a:txBody>
                  <a:tcPr>
                    <a:solidFill>
                      <a:schemeClr val="bg1"/>
                    </a:solidFill>
                  </a:tcPr>
                </a:tc>
                <a:tc>
                  <a:txBody>
                    <a:bodyPr/>
                    <a:lstStyle/>
                    <a:p>
                      <a:r>
                        <a:rPr lang="en-US"/>
                        <a:t>Prefers to participate instead of not participate</a:t>
                      </a:r>
                    </a:p>
                  </a:txBody>
                  <a:tcPr>
                    <a:solidFill>
                      <a:schemeClr val="bg1"/>
                    </a:solidFill>
                  </a:tcPr>
                </a:tc>
                <a:extLst>
                  <a:ext uri="{0D108BD9-81ED-4DB2-BD59-A6C34878D82A}">
                    <a16:rowId xmlns:a16="http://schemas.microsoft.com/office/drawing/2014/main" val="1287996018"/>
                  </a:ext>
                </a:extLst>
              </a:tr>
            </a:tbl>
          </a:graphicData>
        </a:graphic>
      </p:graphicFrame>
    </p:spTree>
    <p:extLst>
      <p:ext uri="{BB962C8B-B14F-4D97-AF65-F5344CB8AC3E}">
        <p14:creationId xmlns:p14="http://schemas.microsoft.com/office/powerpoint/2010/main" val="187256074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FE66BE-B4D0-465F-1B84-754531435977}"/>
              </a:ext>
            </a:extLst>
          </p:cNvPr>
          <p:cNvSpPr txBox="1"/>
          <p:nvPr/>
        </p:nvSpPr>
        <p:spPr>
          <a:xfrm>
            <a:off x="8931564" y="951345"/>
            <a:ext cx="3140363" cy="2246769"/>
          </a:xfrm>
          <a:prstGeom prst="rect">
            <a:avLst/>
          </a:prstGeom>
          <a:solidFill>
            <a:srgbClr val="00FF00"/>
          </a:solidFill>
          <a:ln w="76200">
            <a:solidFill>
              <a:srgbClr val="7030A0"/>
            </a:solidFill>
          </a:ln>
        </p:spPr>
        <p:txBody>
          <a:bodyPr wrap="square" rtlCol="0">
            <a:spAutoFit/>
          </a:bodyPr>
          <a:lstStyle/>
          <a:p>
            <a:r>
              <a:rPr lang="en-US" sz="2800"/>
              <a:t>Identify the profiles in which </a:t>
            </a:r>
            <a:r>
              <a:rPr lang="en-US" sz="2800" b="1"/>
              <a:t>less than two </a:t>
            </a:r>
            <a:r>
              <a:rPr lang="en-US" sz="2800"/>
              <a:t>of the three persons </a:t>
            </a:r>
            <a:r>
              <a:rPr lang="en-US" sz="2800" b="1"/>
              <a:t>other than person 2</a:t>
            </a:r>
            <a:r>
              <a:rPr lang="en-US" sz="2800"/>
              <a:t> participate</a:t>
            </a:r>
          </a:p>
        </p:txBody>
      </p:sp>
    </p:spTree>
    <p:extLst>
      <p:ext uri="{BB962C8B-B14F-4D97-AF65-F5344CB8AC3E}">
        <p14:creationId xmlns:p14="http://schemas.microsoft.com/office/powerpoint/2010/main" val="231214309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FE66BE-B4D0-465F-1B84-754531435977}"/>
              </a:ext>
            </a:extLst>
          </p:cNvPr>
          <p:cNvSpPr txBox="1"/>
          <p:nvPr/>
        </p:nvSpPr>
        <p:spPr>
          <a:xfrm>
            <a:off x="8931564" y="951345"/>
            <a:ext cx="3140363" cy="2246769"/>
          </a:xfrm>
          <a:prstGeom prst="rect">
            <a:avLst/>
          </a:prstGeom>
          <a:solidFill>
            <a:srgbClr val="00FF00"/>
          </a:solidFill>
          <a:ln w="76200">
            <a:solidFill>
              <a:srgbClr val="7030A0"/>
            </a:solidFill>
          </a:ln>
        </p:spPr>
        <p:txBody>
          <a:bodyPr wrap="square" rtlCol="0">
            <a:spAutoFit/>
          </a:bodyPr>
          <a:lstStyle/>
          <a:p>
            <a:r>
              <a:rPr lang="en-US" sz="2800"/>
              <a:t>Identify the profiles in which </a:t>
            </a:r>
            <a:r>
              <a:rPr lang="en-US" sz="2800" b="1"/>
              <a:t>less than two </a:t>
            </a:r>
            <a:r>
              <a:rPr lang="en-US" sz="2800"/>
              <a:t>of the three persons </a:t>
            </a:r>
            <a:r>
              <a:rPr lang="en-US" sz="2800" b="1"/>
              <a:t>other than person 2</a:t>
            </a:r>
            <a:r>
              <a:rPr lang="en-US" sz="2800"/>
              <a:t> participate</a:t>
            </a:r>
          </a:p>
        </p:txBody>
      </p:sp>
    </p:spTree>
    <p:extLst>
      <p:ext uri="{BB962C8B-B14F-4D97-AF65-F5344CB8AC3E}">
        <p14:creationId xmlns:p14="http://schemas.microsoft.com/office/powerpoint/2010/main" val="145332497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FE66BE-B4D0-465F-1B84-754531435977}"/>
              </a:ext>
            </a:extLst>
          </p:cNvPr>
          <p:cNvSpPr txBox="1"/>
          <p:nvPr/>
        </p:nvSpPr>
        <p:spPr>
          <a:xfrm>
            <a:off x="8931564" y="951345"/>
            <a:ext cx="3140363" cy="2246769"/>
          </a:xfrm>
          <a:prstGeom prst="rect">
            <a:avLst/>
          </a:prstGeom>
          <a:solidFill>
            <a:srgbClr val="00FF00"/>
          </a:solidFill>
          <a:ln w="76200">
            <a:solidFill>
              <a:srgbClr val="7030A0"/>
            </a:solidFill>
          </a:ln>
        </p:spPr>
        <p:txBody>
          <a:bodyPr wrap="square" rtlCol="0">
            <a:spAutoFit/>
          </a:bodyPr>
          <a:lstStyle/>
          <a:p>
            <a:r>
              <a:rPr lang="en-US" sz="2800"/>
              <a:t>Identify the profiles in which </a:t>
            </a:r>
            <a:r>
              <a:rPr lang="en-US" sz="2800" b="1"/>
              <a:t>less than two </a:t>
            </a:r>
            <a:r>
              <a:rPr lang="en-US" sz="2800"/>
              <a:t>of the three persons </a:t>
            </a:r>
            <a:r>
              <a:rPr lang="en-US" sz="2800" b="1"/>
              <a:t>other than person 2</a:t>
            </a:r>
            <a:r>
              <a:rPr lang="en-US" sz="2800"/>
              <a:t> participate</a:t>
            </a:r>
          </a:p>
        </p:txBody>
      </p:sp>
      <p:sp>
        <p:nvSpPr>
          <p:cNvPr id="10" name="Rectangle 9">
            <a:extLst>
              <a:ext uri="{FF2B5EF4-FFF2-40B4-BE49-F238E27FC236}">
                <a16:creationId xmlns:a16="http://schemas.microsoft.com/office/drawing/2014/main" id="{2B55F5F9-AA60-20C7-E61C-030B37DABF81}"/>
              </a:ext>
            </a:extLst>
          </p:cNvPr>
          <p:cNvSpPr/>
          <p:nvPr/>
        </p:nvSpPr>
        <p:spPr>
          <a:xfrm>
            <a:off x="0" y="0"/>
            <a:ext cx="12192000" cy="6858000"/>
          </a:xfrm>
          <a:prstGeom prst="rect">
            <a:avLst/>
          </a:prstGeom>
          <a:solidFill>
            <a:srgbClr val="4472C4">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85FBC16-0346-49FD-238F-BEA42315AB3B}"/>
              </a:ext>
            </a:extLst>
          </p:cNvPr>
          <p:cNvSpPr/>
          <p:nvPr/>
        </p:nvSpPr>
        <p:spPr>
          <a:xfrm>
            <a:off x="1016001" y="1341351"/>
            <a:ext cx="9919853" cy="461125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5BDBA34-6880-6079-A588-AAF9F1838EC1}"/>
              </a:ext>
            </a:extLst>
          </p:cNvPr>
          <p:cNvSpPr txBox="1"/>
          <p:nvPr/>
        </p:nvSpPr>
        <p:spPr>
          <a:xfrm>
            <a:off x="1865745" y="1810327"/>
            <a:ext cx="8294255" cy="954107"/>
          </a:xfrm>
          <a:prstGeom prst="rect">
            <a:avLst/>
          </a:prstGeom>
          <a:noFill/>
        </p:spPr>
        <p:txBody>
          <a:bodyPr wrap="square" rtlCol="0">
            <a:spAutoFit/>
          </a:bodyPr>
          <a:lstStyle/>
          <a:p>
            <a:r>
              <a:rPr lang="en-US" sz="2800"/>
              <a:t>We’ll depict the following strategic interdependence between the four persons in the game:</a:t>
            </a:r>
          </a:p>
        </p:txBody>
      </p:sp>
      <p:graphicFrame>
        <p:nvGraphicFramePr>
          <p:cNvPr id="14" name="Table 5">
            <a:extLst>
              <a:ext uri="{FF2B5EF4-FFF2-40B4-BE49-F238E27FC236}">
                <a16:creationId xmlns:a16="http://schemas.microsoft.com/office/drawing/2014/main" id="{C81F143C-5CF3-B364-9CA9-C459029961F3}"/>
              </a:ext>
            </a:extLst>
          </p:cNvPr>
          <p:cNvGraphicFramePr>
            <a:graphicFrameLocks noGrp="1"/>
          </p:cNvGraphicFramePr>
          <p:nvPr>
            <p:extLst>
              <p:ext uri="{D42A27DB-BD31-4B8C-83A1-F6EECF244321}">
                <p14:modId xmlns:p14="http://schemas.microsoft.com/office/powerpoint/2010/main" val="323091430"/>
              </p:ext>
            </p:extLst>
          </p:nvPr>
        </p:nvGraphicFramePr>
        <p:xfrm>
          <a:off x="2032000" y="3198114"/>
          <a:ext cx="8128000" cy="1920240"/>
        </p:xfrm>
        <a:graphic>
          <a:graphicData uri="http://schemas.openxmlformats.org/drawingml/2006/table">
            <a:tbl>
              <a:tblPr firstRow="1" bandRow="1"/>
              <a:tblGrid>
                <a:gridCol w="3629891">
                  <a:extLst>
                    <a:ext uri="{9D8B030D-6E8A-4147-A177-3AD203B41FA5}">
                      <a16:colId xmlns:a16="http://schemas.microsoft.com/office/drawing/2014/main" val="2769787254"/>
                    </a:ext>
                  </a:extLst>
                </a:gridCol>
                <a:gridCol w="4498109">
                  <a:extLst>
                    <a:ext uri="{9D8B030D-6E8A-4147-A177-3AD203B41FA5}">
                      <a16:colId xmlns:a16="http://schemas.microsoft.com/office/drawing/2014/main" val="1709226038"/>
                    </a:ext>
                  </a:extLst>
                </a:gridCol>
              </a:tblGrid>
              <a:tr h="370840">
                <a:tc>
                  <a:txBody>
                    <a:bodyPr/>
                    <a:lstStyle/>
                    <a:p>
                      <a:r>
                        <a:rPr lang="en-US" b="1"/>
                        <a:t>Person’s expectation about what the other three persons will do</a:t>
                      </a:r>
                    </a:p>
                  </a:txBody>
                  <a:tcPr>
                    <a:solidFill>
                      <a:schemeClr val="bg1"/>
                    </a:solidFill>
                  </a:tcPr>
                </a:tc>
                <a:tc>
                  <a:txBody>
                    <a:bodyPr/>
                    <a:lstStyle/>
                    <a:p>
                      <a:r>
                        <a:rPr lang="en-US" b="1"/>
                        <a:t>Person’s preferences over her actions</a:t>
                      </a:r>
                    </a:p>
                  </a:txBody>
                  <a:tcPr>
                    <a:solidFill>
                      <a:schemeClr val="bg1"/>
                    </a:solidFill>
                  </a:tcPr>
                </a:tc>
                <a:extLst>
                  <a:ext uri="{0D108BD9-81ED-4DB2-BD59-A6C34878D82A}">
                    <a16:rowId xmlns:a16="http://schemas.microsoft.com/office/drawing/2014/main" val="3970009536"/>
                  </a:ext>
                </a:extLst>
              </a:tr>
              <a:tr h="370840">
                <a:tc>
                  <a:txBody>
                    <a:bodyPr/>
                    <a:lstStyle/>
                    <a:p>
                      <a:r>
                        <a:rPr lang="en-US"/>
                        <a:t>less than two of other three will participate</a:t>
                      </a:r>
                    </a:p>
                  </a:txBody>
                  <a:tcPr>
                    <a:solidFill>
                      <a:schemeClr val="bg1"/>
                    </a:solidFill>
                  </a:tcPr>
                </a:tc>
                <a:tc>
                  <a:txBody>
                    <a:bodyPr/>
                    <a:lstStyle/>
                    <a:p>
                      <a:r>
                        <a:rPr lang="en-US"/>
                        <a:t>Prefers to not participate instead of participate</a:t>
                      </a:r>
                    </a:p>
                  </a:txBody>
                  <a:tcPr>
                    <a:solidFill>
                      <a:schemeClr val="bg1"/>
                    </a:solidFill>
                  </a:tcPr>
                </a:tc>
                <a:extLst>
                  <a:ext uri="{0D108BD9-81ED-4DB2-BD59-A6C34878D82A}">
                    <a16:rowId xmlns:a16="http://schemas.microsoft.com/office/drawing/2014/main" val="2064842803"/>
                  </a:ext>
                </a:extLst>
              </a:tr>
              <a:tr h="370840">
                <a:tc>
                  <a:txBody>
                    <a:bodyPr/>
                    <a:lstStyle/>
                    <a:p>
                      <a:r>
                        <a:rPr lang="en-US"/>
                        <a:t>two or more of other three will participate</a:t>
                      </a:r>
                    </a:p>
                  </a:txBody>
                  <a:tcPr>
                    <a:solidFill>
                      <a:schemeClr val="bg1"/>
                    </a:solidFill>
                  </a:tcPr>
                </a:tc>
                <a:tc>
                  <a:txBody>
                    <a:bodyPr/>
                    <a:lstStyle/>
                    <a:p>
                      <a:r>
                        <a:rPr lang="en-US"/>
                        <a:t>Prefers to participate instead of not participate</a:t>
                      </a:r>
                    </a:p>
                  </a:txBody>
                  <a:tcPr>
                    <a:solidFill>
                      <a:schemeClr val="bg1"/>
                    </a:solidFill>
                  </a:tcPr>
                </a:tc>
                <a:extLst>
                  <a:ext uri="{0D108BD9-81ED-4DB2-BD59-A6C34878D82A}">
                    <a16:rowId xmlns:a16="http://schemas.microsoft.com/office/drawing/2014/main" val="1287996018"/>
                  </a:ext>
                </a:extLst>
              </a:tr>
            </a:tbl>
          </a:graphicData>
        </a:graphic>
      </p:graphicFrame>
    </p:spTree>
    <p:extLst>
      <p:ext uri="{BB962C8B-B14F-4D97-AF65-F5344CB8AC3E}">
        <p14:creationId xmlns:p14="http://schemas.microsoft.com/office/powerpoint/2010/main" val="95064069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FE66BE-B4D0-465F-1B84-754531435977}"/>
              </a:ext>
            </a:extLst>
          </p:cNvPr>
          <p:cNvSpPr txBox="1"/>
          <p:nvPr/>
        </p:nvSpPr>
        <p:spPr>
          <a:xfrm>
            <a:off x="8709892" y="951345"/>
            <a:ext cx="3362036" cy="4401205"/>
          </a:xfrm>
          <a:prstGeom prst="rect">
            <a:avLst/>
          </a:prstGeom>
          <a:solidFill>
            <a:srgbClr val="00FF00"/>
          </a:solidFill>
          <a:ln w="76200">
            <a:solidFill>
              <a:srgbClr val="7030A0"/>
            </a:solidFill>
          </a:ln>
        </p:spPr>
        <p:txBody>
          <a:bodyPr wrap="square" rtlCol="0">
            <a:spAutoFit/>
          </a:bodyPr>
          <a:lstStyle/>
          <a:p>
            <a:r>
              <a:rPr lang="en-US" sz="2800"/>
              <a:t>Assign utility levels to </a:t>
            </a:r>
            <a:r>
              <a:rPr lang="en-US" sz="2800" b="1"/>
              <a:t>Person 2</a:t>
            </a:r>
            <a:r>
              <a:rPr lang="en-US" sz="2800"/>
              <a:t> at those profiles in a way that depicts the idea that Person 2 </a:t>
            </a:r>
            <a:r>
              <a:rPr lang="en-US" sz="2800" b="1"/>
              <a:t>prefers to not participate </a:t>
            </a:r>
            <a:r>
              <a:rPr lang="en-US" sz="2800"/>
              <a:t>instead of participate when he expects less than two of the three others to participate.</a:t>
            </a:r>
          </a:p>
        </p:txBody>
      </p:sp>
    </p:spTree>
    <p:extLst>
      <p:ext uri="{BB962C8B-B14F-4D97-AF65-F5344CB8AC3E}">
        <p14:creationId xmlns:p14="http://schemas.microsoft.com/office/powerpoint/2010/main" val="396732644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FE66BE-B4D0-465F-1B84-754531435977}"/>
              </a:ext>
            </a:extLst>
          </p:cNvPr>
          <p:cNvSpPr txBox="1"/>
          <p:nvPr/>
        </p:nvSpPr>
        <p:spPr>
          <a:xfrm>
            <a:off x="8709892" y="951345"/>
            <a:ext cx="3362036" cy="4401205"/>
          </a:xfrm>
          <a:prstGeom prst="rect">
            <a:avLst/>
          </a:prstGeom>
          <a:solidFill>
            <a:srgbClr val="00FF00"/>
          </a:solidFill>
          <a:ln w="76200">
            <a:solidFill>
              <a:srgbClr val="7030A0"/>
            </a:solidFill>
          </a:ln>
        </p:spPr>
        <p:txBody>
          <a:bodyPr wrap="square" rtlCol="0">
            <a:spAutoFit/>
          </a:bodyPr>
          <a:lstStyle/>
          <a:p>
            <a:r>
              <a:rPr lang="en-US" sz="2800"/>
              <a:t>Assign utility levels to </a:t>
            </a:r>
            <a:r>
              <a:rPr lang="en-US" sz="2800" b="1"/>
              <a:t>Person 2</a:t>
            </a:r>
            <a:r>
              <a:rPr lang="en-US" sz="2800"/>
              <a:t> at those profiles in a way that depicts the idea that Person 2 </a:t>
            </a:r>
            <a:r>
              <a:rPr lang="en-US" sz="2800" b="1"/>
              <a:t>prefers to not participate </a:t>
            </a:r>
            <a:r>
              <a:rPr lang="en-US" sz="2800"/>
              <a:t>instead of participate when he expects less than two of the three others to participate.</a:t>
            </a:r>
          </a:p>
        </p:txBody>
      </p:sp>
    </p:spTree>
    <p:extLst>
      <p:ext uri="{BB962C8B-B14F-4D97-AF65-F5344CB8AC3E}">
        <p14:creationId xmlns:p14="http://schemas.microsoft.com/office/powerpoint/2010/main" val="356162577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FE66BE-B4D0-465F-1B84-754531435977}"/>
              </a:ext>
            </a:extLst>
          </p:cNvPr>
          <p:cNvSpPr txBox="1"/>
          <p:nvPr/>
        </p:nvSpPr>
        <p:spPr>
          <a:xfrm>
            <a:off x="8709892" y="951345"/>
            <a:ext cx="3362036" cy="4401205"/>
          </a:xfrm>
          <a:prstGeom prst="rect">
            <a:avLst/>
          </a:prstGeom>
          <a:solidFill>
            <a:srgbClr val="00FF00"/>
          </a:solidFill>
          <a:ln w="76200">
            <a:solidFill>
              <a:srgbClr val="7030A0"/>
            </a:solidFill>
          </a:ln>
        </p:spPr>
        <p:txBody>
          <a:bodyPr wrap="square" rtlCol="0">
            <a:spAutoFit/>
          </a:bodyPr>
          <a:lstStyle/>
          <a:p>
            <a:r>
              <a:rPr lang="en-US" sz="2800"/>
              <a:t>Assign utility levels to </a:t>
            </a:r>
            <a:r>
              <a:rPr lang="en-US" sz="2800" b="1"/>
              <a:t>Person 2</a:t>
            </a:r>
            <a:r>
              <a:rPr lang="en-US" sz="2800"/>
              <a:t> at those profiles in a way that depicts the idea that Person 2 </a:t>
            </a:r>
            <a:r>
              <a:rPr lang="en-US" sz="2800" b="1"/>
              <a:t>prefers to not participate </a:t>
            </a:r>
            <a:r>
              <a:rPr lang="en-US" sz="2800"/>
              <a:t>instead of participate when he expects less than two of the three others to participate.</a:t>
            </a:r>
          </a:p>
        </p:txBody>
      </p:sp>
    </p:spTree>
    <p:extLst>
      <p:ext uri="{BB962C8B-B14F-4D97-AF65-F5344CB8AC3E}">
        <p14:creationId xmlns:p14="http://schemas.microsoft.com/office/powerpoint/2010/main" val="2430257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FE66BE-B4D0-465F-1B84-754531435977}"/>
              </a:ext>
            </a:extLst>
          </p:cNvPr>
          <p:cNvSpPr txBox="1"/>
          <p:nvPr/>
        </p:nvSpPr>
        <p:spPr>
          <a:xfrm>
            <a:off x="8709892" y="951345"/>
            <a:ext cx="3362036" cy="4401205"/>
          </a:xfrm>
          <a:prstGeom prst="rect">
            <a:avLst/>
          </a:prstGeom>
          <a:solidFill>
            <a:srgbClr val="00FF00"/>
          </a:solidFill>
          <a:ln w="76200">
            <a:solidFill>
              <a:srgbClr val="7030A0"/>
            </a:solidFill>
          </a:ln>
        </p:spPr>
        <p:txBody>
          <a:bodyPr wrap="square" rtlCol="0">
            <a:spAutoFit/>
          </a:bodyPr>
          <a:lstStyle/>
          <a:p>
            <a:r>
              <a:rPr lang="en-US" sz="2800"/>
              <a:t>Assign utility levels to </a:t>
            </a:r>
            <a:r>
              <a:rPr lang="en-US" sz="2800" b="1"/>
              <a:t>Person 2</a:t>
            </a:r>
            <a:r>
              <a:rPr lang="en-US" sz="2800"/>
              <a:t> at those profiles in a way that depicts the idea that Person 2 </a:t>
            </a:r>
            <a:r>
              <a:rPr lang="en-US" sz="2800" b="1"/>
              <a:t>prefers to not participate </a:t>
            </a:r>
            <a:r>
              <a:rPr lang="en-US" sz="2800"/>
              <a:t>instead of participate when he expects less than two of the three others to participate.</a:t>
            </a:r>
          </a:p>
        </p:txBody>
      </p:sp>
      <p:sp>
        <p:nvSpPr>
          <p:cNvPr id="10" name="Rectangle 9">
            <a:extLst>
              <a:ext uri="{FF2B5EF4-FFF2-40B4-BE49-F238E27FC236}">
                <a16:creationId xmlns:a16="http://schemas.microsoft.com/office/drawing/2014/main" id="{6A1DE3CD-8C63-745D-8CF3-FCF396CF0596}"/>
              </a:ext>
            </a:extLst>
          </p:cNvPr>
          <p:cNvSpPr/>
          <p:nvPr/>
        </p:nvSpPr>
        <p:spPr>
          <a:xfrm>
            <a:off x="0" y="0"/>
            <a:ext cx="12192000" cy="6858000"/>
          </a:xfrm>
          <a:prstGeom prst="rect">
            <a:avLst/>
          </a:prstGeom>
          <a:solidFill>
            <a:srgbClr val="4472C4">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3E7FC8-5456-62AB-7FC3-FDB1DF2B0226}"/>
              </a:ext>
            </a:extLst>
          </p:cNvPr>
          <p:cNvSpPr/>
          <p:nvPr/>
        </p:nvSpPr>
        <p:spPr>
          <a:xfrm>
            <a:off x="1016001" y="1341351"/>
            <a:ext cx="9919853" cy="461125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63A5535-57AF-8E92-F413-0AED6A32779B}"/>
              </a:ext>
            </a:extLst>
          </p:cNvPr>
          <p:cNvSpPr txBox="1"/>
          <p:nvPr/>
        </p:nvSpPr>
        <p:spPr>
          <a:xfrm>
            <a:off x="1865745" y="1810327"/>
            <a:ext cx="8294255" cy="954107"/>
          </a:xfrm>
          <a:prstGeom prst="rect">
            <a:avLst/>
          </a:prstGeom>
          <a:noFill/>
        </p:spPr>
        <p:txBody>
          <a:bodyPr wrap="square" rtlCol="0">
            <a:spAutoFit/>
          </a:bodyPr>
          <a:lstStyle/>
          <a:p>
            <a:r>
              <a:rPr lang="en-US" sz="2800"/>
              <a:t>We’ll depict the following strategic interdependence between the four persons in the game:</a:t>
            </a:r>
          </a:p>
        </p:txBody>
      </p:sp>
      <p:graphicFrame>
        <p:nvGraphicFramePr>
          <p:cNvPr id="14" name="Table 5">
            <a:extLst>
              <a:ext uri="{FF2B5EF4-FFF2-40B4-BE49-F238E27FC236}">
                <a16:creationId xmlns:a16="http://schemas.microsoft.com/office/drawing/2014/main" id="{270054B5-CAC9-A278-7157-10E74AD6BC2B}"/>
              </a:ext>
            </a:extLst>
          </p:cNvPr>
          <p:cNvGraphicFramePr>
            <a:graphicFrameLocks noGrp="1"/>
          </p:cNvGraphicFramePr>
          <p:nvPr>
            <p:extLst>
              <p:ext uri="{D42A27DB-BD31-4B8C-83A1-F6EECF244321}">
                <p14:modId xmlns:p14="http://schemas.microsoft.com/office/powerpoint/2010/main" val="4269911553"/>
              </p:ext>
            </p:extLst>
          </p:nvPr>
        </p:nvGraphicFramePr>
        <p:xfrm>
          <a:off x="2032000" y="3224915"/>
          <a:ext cx="8128000" cy="1920240"/>
        </p:xfrm>
        <a:graphic>
          <a:graphicData uri="http://schemas.openxmlformats.org/drawingml/2006/table">
            <a:tbl>
              <a:tblPr firstRow="1" bandRow="1"/>
              <a:tblGrid>
                <a:gridCol w="3629891">
                  <a:extLst>
                    <a:ext uri="{9D8B030D-6E8A-4147-A177-3AD203B41FA5}">
                      <a16:colId xmlns:a16="http://schemas.microsoft.com/office/drawing/2014/main" val="2769787254"/>
                    </a:ext>
                  </a:extLst>
                </a:gridCol>
                <a:gridCol w="4498109">
                  <a:extLst>
                    <a:ext uri="{9D8B030D-6E8A-4147-A177-3AD203B41FA5}">
                      <a16:colId xmlns:a16="http://schemas.microsoft.com/office/drawing/2014/main" val="1709226038"/>
                    </a:ext>
                  </a:extLst>
                </a:gridCol>
              </a:tblGrid>
              <a:tr h="370840">
                <a:tc>
                  <a:txBody>
                    <a:bodyPr/>
                    <a:lstStyle/>
                    <a:p>
                      <a:r>
                        <a:rPr lang="en-US" b="1"/>
                        <a:t>Person’s expectation about what the other three persons will do</a:t>
                      </a:r>
                    </a:p>
                  </a:txBody>
                  <a:tcPr>
                    <a:solidFill>
                      <a:schemeClr val="bg1"/>
                    </a:solidFill>
                  </a:tcPr>
                </a:tc>
                <a:tc>
                  <a:txBody>
                    <a:bodyPr/>
                    <a:lstStyle/>
                    <a:p>
                      <a:r>
                        <a:rPr lang="en-US" b="1"/>
                        <a:t>Person’s preferences over her actions</a:t>
                      </a:r>
                    </a:p>
                  </a:txBody>
                  <a:tcPr>
                    <a:solidFill>
                      <a:schemeClr val="bg1"/>
                    </a:solidFill>
                  </a:tcPr>
                </a:tc>
                <a:extLst>
                  <a:ext uri="{0D108BD9-81ED-4DB2-BD59-A6C34878D82A}">
                    <a16:rowId xmlns:a16="http://schemas.microsoft.com/office/drawing/2014/main" val="3970009536"/>
                  </a:ext>
                </a:extLst>
              </a:tr>
              <a:tr h="370840">
                <a:tc>
                  <a:txBody>
                    <a:bodyPr/>
                    <a:lstStyle/>
                    <a:p>
                      <a:r>
                        <a:rPr lang="en-US"/>
                        <a:t>less than two of other three will participate</a:t>
                      </a:r>
                    </a:p>
                  </a:txBody>
                  <a:tcPr>
                    <a:solidFill>
                      <a:schemeClr val="bg1"/>
                    </a:solidFill>
                  </a:tcPr>
                </a:tc>
                <a:tc>
                  <a:txBody>
                    <a:bodyPr/>
                    <a:lstStyle/>
                    <a:p>
                      <a:r>
                        <a:rPr lang="en-US"/>
                        <a:t>Prefers to not participate instead of participate</a:t>
                      </a:r>
                    </a:p>
                  </a:txBody>
                  <a:tcPr>
                    <a:solidFill>
                      <a:schemeClr val="bg1"/>
                    </a:solidFill>
                  </a:tcPr>
                </a:tc>
                <a:extLst>
                  <a:ext uri="{0D108BD9-81ED-4DB2-BD59-A6C34878D82A}">
                    <a16:rowId xmlns:a16="http://schemas.microsoft.com/office/drawing/2014/main" val="2064842803"/>
                  </a:ext>
                </a:extLst>
              </a:tr>
              <a:tr h="370840">
                <a:tc>
                  <a:txBody>
                    <a:bodyPr/>
                    <a:lstStyle/>
                    <a:p>
                      <a:r>
                        <a:rPr lang="en-US"/>
                        <a:t>two or more of other three will participate</a:t>
                      </a:r>
                    </a:p>
                  </a:txBody>
                  <a:tcPr>
                    <a:solidFill>
                      <a:schemeClr val="bg1"/>
                    </a:solidFill>
                  </a:tcPr>
                </a:tc>
                <a:tc>
                  <a:txBody>
                    <a:bodyPr/>
                    <a:lstStyle/>
                    <a:p>
                      <a:r>
                        <a:rPr lang="en-US"/>
                        <a:t>Prefers to participate instead of not participate</a:t>
                      </a:r>
                    </a:p>
                  </a:txBody>
                  <a:tcPr>
                    <a:solidFill>
                      <a:schemeClr val="bg1"/>
                    </a:solidFill>
                  </a:tcPr>
                </a:tc>
                <a:extLst>
                  <a:ext uri="{0D108BD9-81ED-4DB2-BD59-A6C34878D82A}">
                    <a16:rowId xmlns:a16="http://schemas.microsoft.com/office/drawing/2014/main" val="1287996018"/>
                  </a:ext>
                </a:extLst>
              </a:tr>
            </a:tbl>
          </a:graphicData>
        </a:graphic>
      </p:graphicFrame>
    </p:spTree>
    <p:extLst>
      <p:ext uri="{BB962C8B-B14F-4D97-AF65-F5344CB8AC3E}">
        <p14:creationId xmlns:p14="http://schemas.microsoft.com/office/powerpoint/2010/main" val="42520702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pPr algn="ctr"/>
                      <a:endParaRPr lang="en-US" b="1"/>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FE66BE-B4D0-465F-1B84-754531435977}"/>
              </a:ext>
            </a:extLst>
          </p:cNvPr>
          <p:cNvSpPr txBox="1"/>
          <p:nvPr/>
        </p:nvSpPr>
        <p:spPr>
          <a:xfrm>
            <a:off x="8709892" y="951345"/>
            <a:ext cx="3362036" cy="2246769"/>
          </a:xfrm>
          <a:prstGeom prst="rect">
            <a:avLst/>
          </a:prstGeom>
          <a:solidFill>
            <a:srgbClr val="FFFF00"/>
          </a:solidFill>
          <a:ln w="76200">
            <a:solidFill>
              <a:srgbClr val="7030A0"/>
            </a:solidFill>
          </a:ln>
        </p:spPr>
        <p:txBody>
          <a:bodyPr wrap="square" rtlCol="0">
            <a:spAutoFit/>
          </a:bodyPr>
          <a:lstStyle/>
          <a:p>
            <a:r>
              <a:rPr lang="en-US" sz="2800"/>
              <a:t>Identify the profiles in which </a:t>
            </a:r>
            <a:r>
              <a:rPr lang="en-US" sz="2800" b="1"/>
              <a:t>two or more </a:t>
            </a:r>
            <a:r>
              <a:rPr lang="en-US" sz="2800"/>
              <a:t>of the three persons other than Person 2 participate.</a:t>
            </a:r>
          </a:p>
        </p:txBody>
      </p:sp>
    </p:spTree>
    <p:extLst>
      <p:ext uri="{BB962C8B-B14F-4D97-AF65-F5344CB8AC3E}">
        <p14:creationId xmlns:p14="http://schemas.microsoft.com/office/powerpoint/2010/main" val="335821355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FE66BE-B4D0-465F-1B84-754531435977}"/>
              </a:ext>
            </a:extLst>
          </p:cNvPr>
          <p:cNvSpPr txBox="1"/>
          <p:nvPr/>
        </p:nvSpPr>
        <p:spPr>
          <a:xfrm>
            <a:off x="8709892" y="951345"/>
            <a:ext cx="3362036" cy="2246769"/>
          </a:xfrm>
          <a:prstGeom prst="rect">
            <a:avLst/>
          </a:prstGeom>
          <a:solidFill>
            <a:srgbClr val="FFFF00"/>
          </a:solidFill>
          <a:ln w="76200">
            <a:solidFill>
              <a:srgbClr val="7030A0"/>
            </a:solidFill>
          </a:ln>
        </p:spPr>
        <p:txBody>
          <a:bodyPr wrap="square" rtlCol="0">
            <a:spAutoFit/>
          </a:bodyPr>
          <a:lstStyle/>
          <a:p>
            <a:r>
              <a:rPr lang="en-US" sz="2800"/>
              <a:t>Identify the profiles in which </a:t>
            </a:r>
            <a:r>
              <a:rPr lang="en-US" sz="2800" b="1"/>
              <a:t>two or more </a:t>
            </a:r>
            <a:r>
              <a:rPr lang="en-US" sz="2800"/>
              <a:t>of the three persons other than Person 2 participate.</a:t>
            </a:r>
          </a:p>
        </p:txBody>
      </p:sp>
    </p:spTree>
    <p:extLst>
      <p:ext uri="{BB962C8B-B14F-4D97-AF65-F5344CB8AC3E}">
        <p14:creationId xmlns:p14="http://schemas.microsoft.com/office/powerpoint/2010/main" val="195164649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FE66BE-B4D0-465F-1B84-754531435977}"/>
              </a:ext>
            </a:extLst>
          </p:cNvPr>
          <p:cNvSpPr txBox="1"/>
          <p:nvPr/>
        </p:nvSpPr>
        <p:spPr>
          <a:xfrm>
            <a:off x="8709892" y="951345"/>
            <a:ext cx="3362036" cy="2246769"/>
          </a:xfrm>
          <a:prstGeom prst="rect">
            <a:avLst/>
          </a:prstGeom>
          <a:solidFill>
            <a:srgbClr val="FFFF00"/>
          </a:solidFill>
          <a:ln w="76200">
            <a:solidFill>
              <a:srgbClr val="7030A0"/>
            </a:solidFill>
          </a:ln>
        </p:spPr>
        <p:txBody>
          <a:bodyPr wrap="square" rtlCol="0">
            <a:spAutoFit/>
          </a:bodyPr>
          <a:lstStyle/>
          <a:p>
            <a:r>
              <a:rPr lang="en-US" sz="2800"/>
              <a:t>Identify the profiles in which </a:t>
            </a:r>
            <a:r>
              <a:rPr lang="en-US" sz="2800" b="1"/>
              <a:t>two or more </a:t>
            </a:r>
            <a:r>
              <a:rPr lang="en-US" sz="2800"/>
              <a:t>of the three persons other than Person 2 participate.</a:t>
            </a:r>
          </a:p>
        </p:txBody>
      </p:sp>
      <p:sp>
        <p:nvSpPr>
          <p:cNvPr id="10" name="Rectangle 9">
            <a:extLst>
              <a:ext uri="{FF2B5EF4-FFF2-40B4-BE49-F238E27FC236}">
                <a16:creationId xmlns:a16="http://schemas.microsoft.com/office/drawing/2014/main" id="{33292D75-65D5-9DEF-83FA-7D3FE1FAA566}"/>
              </a:ext>
            </a:extLst>
          </p:cNvPr>
          <p:cNvSpPr/>
          <p:nvPr/>
        </p:nvSpPr>
        <p:spPr>
          <a:xfrm>
            <a:off x="0" y="0"/>
            <a:ext cx="12192000" cy="6858000"/>
          </a:xfrm>
          <a:prstGeom prst="rect">
            <a:avLst/>
          </a:prstGeom>
          <a:solidFill>
            <a:srgbClr val="4472C4">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FBCD85-06BA-31D9-CF06-53AC50E8AE0C}"/>
              </a:ext>
            </a:extLst>
          </p:cNvPr>
          <p:cNvSpPr/>
          <p:nvPr/>
        </p:nvSpPr>
        <p:spPr>
          <a:xfrm>
            <a:off x="1016001" y="1341351"/>
            <a:ext cx="9919853" cy="461125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C6D3E25-2158-4C68-2A3E-622DE1C2CB18}"/>
              </a:ext>
            </a:extLst>
          </p:cNvPr>
          <p:cNvSpPr txBox="1"/>
          <p:nvPr/>
        </p:nvSpPr>
        <p:spPr>
          <a:xfrm>
            <a:off x="1865745" y="1810327"/>
            <a:ext cx="8294255" cy="954107"/>
          </a:xfrm>
          <a:prstGeom prst="rect">
            <a:avLst/>
          </a:prstGeom>
          <a:noFill/>
        </p:spPr>
        <p:txBody>
          <a:bodyPr wrap="square" rtlCol="0">
            <a:spAutoFit/>
          </a:bodyPr>
          <a:lstStyle/>
          <a:p>
            <a:r>
              <a:rPr lang="en-US" sz="2800"/>
              <a:t>We’ll depict the following strategic interdependence between the four persons in the game:</a:t>
            </a:r>
          </a:p>
        </p:txBody>
      </p:sp>
      <p:graphicFrame>
        <p:nvGraphicFramePr>
          <p:cNvPr id="14" name="Table 5">
            <a:extLst>
              <a:ext uri="{FF2B5EF4-FFF2-40B4-BE49-F238E27FC236}">
                <a16:creationId xmlns:a16="http://schemas.microsoft.com/office/drawing/2014/main" id="{CAC407FC-D681-1D81-0196-0DEF1E6993CD}"/>
              </a:ext>
            </a:extLst>
          </p:cNvPr>
          <p:cNvGraphicFramePr>
            <a:graphicFrameLocks noGrp="1"/>
          </p:cNvGraphicFramePr>
          <p:nvPr>
            <p:extLst>
              <p:ext uri="{D42A27DB-BD31-4B8C-83A1-F6EECF244321}">
                <p14:modId xmlns:p14="http://schemas.microsoft.com/office/powerpoint/2010/main" val="986438739"/>
              </p:ext>
            </p:extLst>
          </p:nvPr>
        </p:nvGraphicFramePr>
        <p:xfrm>
          <a:off x="1985820" y="3159035"/>
          <a:ext cx="8128000" cy="1920240"/>
        </p:xfrm>
        <a:graphic>
          <a:graphicData uri="http://schemas.openxmlformats.org/drawingml/2006/table">
            <a:tbl>
              <a:tblPr firstRow="1" bandRow="1"/>
              <a:tblGrid>
                <a:gridCol w="3629891">
                  <a:extLst>
                    <a:ext uri="{9D8B030D-6E8A-4147-A177-3AD203B41FA5}">
                      <a16:colId xmlns:a16="http://schemas.microsoft.com/office/drawing/2014/main" val="2769787254"/>
                    </a:ext>
                  </a:extLst>
                </a:gridCol>
                <a:gridCol w="4498109">
                  <a:extLst>
                    <a:ext uri="{9D8B030D-6E8A-4147-A177-3AD203B41FA5}">
                      <a16:colId xmlns:a16="http://schemas.microsoft.com/office/drawing/2014/main" val="1709226038"/>
                    </a:ext>
                  </a:extLst>
                </a:gridCol>
              </a:tblGrid>
              <a:tr h="370840">
                <a:tc>
                  <a:txBody>
                    <a:bodyPr/>
                    <a:lstStyle/>
                    <a:p>
                      <a:r>
                        <a:rPr lang="en-US" b="1"/>
                        <a:t>Person’s expectation about what the other three persons will do</a:t>
                      </a:r>
                    </a:p>
                  </a:txBody>
                  <a:tcPr>
                    <a:solidFill>
                      <a:schemeClr val="bg1"/>
                    </a:solidFill>
                  </a:tcPr>
                </a:tc>
                <a:tc>
                  <a:txBody>
                    <a:bodyPr/>
                    <a:lstStyle/>
                    <a:p>
                      <a:r>
                        <a:rPr lang="en-US" b="1"/>
                        <a:t>Person’s preferences over her actions</a:t>
                      </a:r>
                    </a:p>
                  </a:txBody>
                  <a:tcPr>
                    <a:solidFill>
                      <a:schemeClr val="bg1"/>
                    </a:solidFill>
                  </a:tcPr>
                </a:tc>
                <a:extLst>
                  <a:ext uri="{0D108BD9-81ED-4DB2-BD59-A6C34878D82A}">
                    <a16:rowId xmlns:a16="http://schemas.microsoft.com/office/drawing/2014/main" val="3970009536"/>
                  </a:ext>
                </a:extLst>
              </a:tr>
              <a:tr h="370840">
                <a:tc>
                  <a:txBody>
                    <a:bodyPr/>
                    <a:lstStyle/>
                    <a:p>
                      <a:r>
                        <a:rPr lang="en-US"/>
                        <a:t>less than two of other three will participate</a:t>
                      </a:r>
                    </a:p>
                  </a:txBody>
                  <a:tcPr>
                    <a:solidFill>
                      <a:schemeClr val="bg1"/>
                    </a:solidFill>
                  </a:tcPr>
                </a:tc>
                <a:tc>
                  <a:txBody>
                    <a:bodyPr/>
                    <a:lstStyle/>
                    <a:p>
                      <a:r>
                        <a:rPr lang="en-US"/>
                        <a:t>Prefers to not participate instead of participate</a:t>
                      </a:r>
                    </a:p>
                  </a:txBody>
                  <a:tcPr>
                    <a:solidFill>
                      <a:schemeClr val="bg1"/>
                    </a:solidFill>
                  </a:tcPr>
                </a:tc>
                <a:extLst>
                  <a:ext uri="{0D108BD9-81ED-4DB2-BD59-A6C34878D82A}">
                    <a16:rowId xmlns:a16="http://schemas.microsoft.com/office/drawing/2014/main" val="2064842803"/>
                  </a:ext>
                </a:extLst>
              </a:tr>
              <a:tr h="370840">
                <a:tc>
                  <a:txBody>
                    <a:bodyPr/>
                    <a:lstStyle/>
                    <a:p>
                      <a:r>
                        <a:rPr lang="en-US"/>
                        <a:t>two or more of other three will participate</a:t>
                      </a:r>
                    </a:p>
                  </a:txBody>
                  <a:tcPr>
                    <a:solidFill>
                      <a:schemeClr val="bg1"/>
                    </a:solidFill>
                  </a:tcPr>
                </a:tc>
                <a:tc>
                  <a:txBody>
                    <a:bodyPr/>
                    <a:lstStyle/>
                    <a:p>
                      <a:r>
                        <a:rPr lang="en-US"/>
                        <a:t>Prefers to participate instead of not participate</a:t>
                      </a:r>
                    </a:p>
                  </a:txBody>
                  <a:tcPr>
                    <a:solidFill>
                      <a:schemeClr val="bg1"/>
                    </a:solidFill>
                  </a:tcPr>
                </a:tc>
                <a:extLst>
                  <a:ext uri="{0D108BD9-81ED-4DB2-BD59-A6C34878D82A}">
                    <a16:rowId xmlns:a16="http://schemas.microsoft.com/office/drawing/2014/main" val="1287996018"/>
                  </a:ext>
                </a:extLst>
              </a:tr>
            </a:tbl>
          </a:graphicData>
        </a:graphic>
      </p:graphicFrame>
    </p:spTree>
    <p:extLst>
      <p:ext uri="{BB962C8B-B14F-4D97-AF65-F5344CB8AC3E}">
        <p14:creationId xmlns:p14="http://schemas.microsoft.com/office/powerpoint/2010/main" val="295211627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FE66BE-B4D0-465F-1B84-754531435977}"/>
              </a:ext>
            </a:extLst>
          </p:cNvPr>
          <p:cNvSpPr txBox="1"/>
          <p:nvPr/>
        </p:nvSpPr>
        <p:spPr>
          <a:xfrm>
            <a:off x="8709892" y="951345"/>
            <a:ext cx="3362036" cy="4832092"/>
          </a:xfrm>
          <a:prstGeom prst="rect">
            <a:avLst/>
          </a:prstGeom>
          <a:solidFill>
            <a:srgbClr val="FFFF00"/>
          </a:solidFill>
          <a:ln w="76200">
            <a:solidFill>
              <a:srgbClr val="7030A0"/>
            </a:solidFill>
          </a:ln>
        </p:spPr>
        <p:txBody>
          <a:bodyPr wrap="square" rtlCol="0">
            <a:spAutoFit/>
          </a:bodyPr>
          <a:lstStyle/>
          <a:p>
            <a:r>
              <a:rPr lang="en-US" sz="2800"/>
              <a:t>Assign utility levels to those profiles in a way that depicts the idea that Person 2 </a:t>
            </a:r>
            <a:r>
              <a:rPr lang="en-US" sz="2800" b="1"/>
              <a:t>prefers to participate </a:t>
            </a:r>
            <a:r>
              <a:rPr lang="en-US" sz="2800"/>
              <a:t>instead of not participate when she expects </a:t>
            </a:r>
            <a:r>
              <a:rPr lang="en-US" sz="2800" b="1"/>
              <a:t>two or more </a:t>
            </a:r>
            <a:r>
              <a:rPr lang="en-US" sz="2800"/>
              <a:t>of the three other persons to participate.</a:t>
            </a:r>
          </a:p>
        </p:txBody>
      </p:sp>
    </p:spTree>
    <p:extLst>
      <p:ext uri="{BB962C8B-B14F-4D97-AF65-F5344CB8AC3E}">
        <p14:creationId xmlns:p14="http://schemas.microsoft.com/office/powerpoint/2010/main" val="59776185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pPr algn="ctr"/>
                      <a:endParaRPr lang="en-US" b="1"/>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FE66BE-B4D0-465F-1B84-754531435977}"/>
              </a:ext>
            </a:extLst>
          </p:cNvPr>
          <p:cNvSpPr txBox="1"/>
          <p:nvPr/>
        </p:nvSpPr>
        <p:spPr>
          <a:xfrm>
            <a:off x="8709892" y="951345"/>
            <a:ext cx="3362036" cy="4832092"/>
          </a:xfrm>
          <a:prstGeom prst="rect">
            <a:avLst/>
          </a:prstGeom>
          <a:solidFill>
            <a:srgbClr val="FFFF00"/>
          </a:solidFill>
          <a:ln w="76200">
            <a:solidFill>
              <a:srgbClr val="7030A0"/>
            </a:solidFill>
          </a:ln>
        </p:spPr>
        <p:txBody>
          <a:bodyPr wrap="square" rtlCol="0">
            <a:spAutoFit/>
          </a:bodyPr>
          <a:lstStyle/>
          <a:p>
            <a:r>
              <a:rPr lang="en-US" sz="2800"/>
              <a:t>Assign utility levels to those profiles in a way that depicts the idea that Person 2 </a:t>
            </a:r>
            <a:r>
              <a:rPr lang="en-US" sz="2800" b="1"/>
              <a:t>prefers to participate </a:t>
            </a:r>
            <a:r>
              <a:rPr lang="en-US" sz="2800"/>
              <a:t>instead of not participate when she expects </a:t>
            </a:r>
            <a:r>
              <a:rPr lang="en-US" sz="2800" b="1"/>
              <a:t>two or more </a:t>
            </a:r>
            <a:r>
              <a:rPr lang="en-US" sz="2800"/>
              <a:t>of the three other persons to participate.</a:t>
            </a:r>
          </a:p>
        </p:txBody>
      </p:sp>
    </p:spTree>
    <p:extLst>
      <p:ext uri="{BB962C8B-B14F-4D97-AF65-F5344CB8AC3E}">
        <p14:creationId xmlns:p14="http://schemas.microsoft.com/office/powerpoint/2010/main" val="384449223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2669310" y="443345"/>
            <a:ext cx="1173017"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FE66BE-B4D0-465F-1B84-754531435977}"/>
              </a:ext>
            </a:extLst>
          </p:cNvPr>
          <p:cNvSpPr txBox="1"/>
          <p:nvPr/>
        </p:nvSpPr>
        <p:spPr>
          <a:xfrm>
            <a:off x="8709892" y="951345"/>
            <a:ext cx="3362036" cy="4832092"/>
          </a:xfrm>
          <a:prstGeom prst="rect">
            <a:avLst/>
          </a:prstGeom>
          <a:solidFill>
            <a:srgbClr val="FFFF00"/>
          </a:solidFill>
          <a:ln w="76200">
            <a:solidFill>
              <a:srgbClr val="7030A0"/>
            </a:solidFill>
          </a:ln>
        </p:spPr>
        <p:txBody>
          <a:bodyPr wrap="square" rtlCol="0">
            <a:spAutoFit/>
          </a:bodyPr>
          <a:lstStyle/>
          <a:p>
            <a:r>
              <a:rPr lang="en-US" sz="2800"/>
              <a:t>Assign utility levels to those profiles in a way that depicts the idea that Person 2 </a:t>
            </a:r>
            <a:r>
              <a:rPr lang="en-US" sz="2800" b="1"/>
              <a:t>prefers to participate </a:t>
            </a:r>
            <a:r>
              <a:rPr lang="en-US" sz="2800"/>
              <a:t>instead of not participate when she expects </a:t>
            </a:r>
            <a:r>
              <a:rPr lang="en-US" sz="2800" b="1"/>
              <a:t>two or more </a:t>
            </a:r>
            <a:r>
              <a:rPr lang="en-US" sz="2800"/>
              <a:t>of the three other persons to participate.</a:t>
            </a:r>
          </a:p>
        </p:txBody>
      </p:sp>
    </p:spTree>
    <p:extLst>
      <p:ext uri="{BB962C8B-B14F-4D97-AF65-F5344CB8AC3E}">
        <p14:creationId xmlns:p14="http://schemas.microsoft.com/office/powerpoint/2010/main" val="355040218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88AE1518-1A9E-B25A-12AE-3F25DE18F485}"/>
              </a:ext>
            </a:extLst>
          </p:cNvPr>
          <p:cNvGraphicFramePr>
            <a:graphicFrameLocks noGrp="1"/>
          </p:cNvGraphicFramePr>
          <p:nvPr/>
        </p:nvGraphicFramePr>
        <p:xfrm>
          <a:off x="1496292" y="78740"/>
          <a:ext cx="9199416" cy="6700520"/>
        </p:xfrm>
        <a:graphic>
          <a:graphicData uri="http://schemas.openxmlformats.org/drawingml/2006/table">
            <a:tbl>
              <a:tblPr firstRow="1" bandRow="1"/>
              <a:tblGrid>
                <a:gridCol w="1149927">
                  <a:extLst>
                    <a:ext uri="{9D8B030D-6E8A-4147-A177-3AD203B41FA5}">
                      <a16:colId xmlns:a16="http://schemas.microsoft.com/office/drawing/2014/main" val="1938245478"/>
                    </a:ext>
                  </a:extLst>
                </a:gridCol>
                <a:gridCol w="1149927">
                  <a:extLst>
                    <a:ext uri="{9D8B030D-6E8A-4147-A177-3AD203B41FA5}">
                      <a16:colId xmlns:a16="http://schemas.microsoft.com/office/drawing/2014/main" val="2515877273"/>
                    </a:ext>
                  </a:extLst>
                </a:gridCol>
                <a:gridCol w="1149927">
                  <a:extLst>
                    <a:ext uri="{9D8B030D-6E8A-4147-A177-3AD203B41FA5}">
                      <a16:colId xmlns:a16="http://schemas.microsoft.com/office/drawing/2014/main" val="3672311597"/>
                    </a:ext>
                  </a:extLst>
                </a:gridCol>
                <a:gridCol w="1149927">
                  <a:extLst>
                    <a:ext uri="{9D8B030D-6E8A-4147-A177-3AD203B41FA5}">
                      <a16:colId xmlns:a16="http://schemas.microsoft.com/office/drawing/2014/main" val="2147482583"/>
                    </a:ext>
                  </a:extLst>
                </a:gridCol>
                <a:gridCol w="1149927">
                  <a:extLst>
                    <a:ext uri="{9D8B030D-6E8A-4147-A177-3AD203B41FA5}">
                      <a16:colId xmlns:a16="http://schemas.microsoft.com/office/drawing/2014/main" val="2903764351"/>
                    </a:ext>
                  </a:extLst>
                </a:gridCol>
                <a:gridCol w="1149927">
                  <a:extLst>
                    <a:ext uri="{9D8B030D-6E8A-4147-A177-3AD203B41FA5}">
                      <a16:colId xmlns:a16="http://schemas.microsoft.com/office/drawing/2014/main" val="1071452950"/>
                    </a:ext>
                  </a:extLst>
                </a:gridCol>
                <a:gridCol w="1149927">
                  <a:extLst>
                    <a:ext uri="{9D8B030D-6E8A-4147-A177-3AD203B41FA5}">
                      <a16:colId xmlns:a16="http://schemas.microsoft.com/office/drawing/2014/main" val="1273445462"/>
                    </a:ext>
                  </a:extLst>
                </a:gridCol>
                <a:gridCol w="1149927">
                  <a:extLst>
                    <a:ext uri="{9D8B030D-6E8A-4147-A177-3AD203B41FA5}">
                      <a16:colId xmlns:a16="http://schemas.microsoft.com/office/drawing/2014/main" val="2770826853"/>
                    </a:ext>
                  </a:extLst>
                </a:gridCol>
              </a:tblGrid>
              <a:tr h="370840">
                <a:tc gridSpan="4">
                  <a:txBody>
                    <a:bodyPr/>
                    <a:lstStyle/>
                    <a:p>
                      <a:pPr algn="ctr"/>
                      <a:r>
                        <a:rPr lang="en-US" sz="2000" b="1"/>
                        <a:t>Profile of Actions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000" b="1"/>
                        <a:t>Utility Levels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6379833"/>
                  </a:ext>
                </a:extLst>
              </a:tr>
              <a:tr h="370840">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tc>
                  <a:txBody>
                    <a:bodyPr/>
                    <a:lstStyle/>
                    <a:p>
                      <a:r>
                        <a:rPr lang="en-US"/>
                        <a:t>Person 1</a:t>
                      </a:r>
                    </a:p>
                  </a:txBody>
                  <a:tcPr/>
                </a:tc>
                <a:tc>
                  <a:txBody>
                    <a:bodyPr/>
                    <a:lstStyle/>
                    <a:p>
                      <a:r>
                        <a:rPr lang="en-US"/>
                        <a:t>Person 2</a:t>
                      </a:r>
                    </a:p>
                  </a:txBody>
                  <a:tcPr/>
                </a:tc>
                <a:tc>
                  <a:txBody>
                    <a:bodyPr/>
                    <a:lstStyle/>
                    <a:p>
                      <a:r>
                        <a:rPr lang="en-US"/>
                        <a:t>Person 3</a:t>
                      </a:r>
                    </a:p>
                  </a:txBody>
                  <a:tcPr/>
                </a:tc>
                <a:tc>
                  <a:txBody>
                    <a:bodyPr/>
                    <a:lstStyle/>
                    <a:p>
                      <a:r>
                        <a:rPr lang="en-US"/>
                        <a:t>Person 4</a:t>
                      </a:r>
                    </a:p>
                  </a:txBody>
                  <a:tcPr/>
                </a:tc>
                <a:extLst>
                  <a:ext uri="{0D108BD9-81ED-4DB2-BD59-A6C34878D82A}">
                    <a16:rowId xmlns:a16="http://schemas.microsoft.com/office/drawing/2014/main" val="3209787279"/>
                  </a:ext>
                </a:extLst>
              </a:tr>
              <a:tr h="370840">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r>
                        <a:rPr lang="en-US"/>
                        <a:t>D</a:t>
                      </a:r>
                    </a:p>
                  </a:txBody>
                  <a:tcPr>
                    <a:solidFill>
                      <a:schemeClr val="accent2"/>
                    </a:solidFill>
                  </a:tcPr>
                </a:tc>
                <a:tc>
                  <a:txBody>
                    <a:bodyPr/>
                    <a:lstStyle/>
                    <a:p>
                      <a:pPr algn="ct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50597"/>
                  </a:ext>
                </a:extLst>
              </a:tr>
              <a:tr h="370840">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693359959"/>
                  </a:ext>
                </a:extLst>
              </a:tr>
              <a:tr h="370840">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719283801"/>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829880283"/>
                  </a:ext>
                </a:extLst>
              </a:tr>
              <a:tr h="370840">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D</a:t>
                      </a:r>
                    </a:p>
                  </a:txBody>
                  <a:tcPr>
                    <a:solidFill>
                      <a:schemeClr val="accent1">
                        <a:lumMod val="40000"/>
                        <a:lumOff val="60000"/>
                      </a:schemeClr>
                    </a:solidFill>
                  </a:tcPr>
                </a:tc>
                <a:tc>
                  <a:txBody>
                    <a:bodyPr/>
                    <a:lstStyle/>
                    <a:p>
                      <a:r>
                        <a:rPr lang="en-US"/>
                        <a:t>P</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722343218"/>
                  </a:ext>
                </a:extLst>
              </a:tr>
              <a:tr h="370840">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1922607761"/>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96190079"/>
                  </a:ext>
                </a:extLst>
              </a:tr>
              <a:tr h="370840">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-1</a:t>
                      </a:r>
                    </a:p>
                  </a:txBody>
                  <a:tcPr>
                    <a:solidFill>
                      <a:srgbClr val="00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004439719"/>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4199034323"/>
                  </a:ext>
                </a:extLst>
              </a:tr>
              <a:tr h="370840">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00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43267404"/>
                  </a:ext>
                </a:extLst>
              </a:tr>
              <a:tr h="370840">
                <a:tc>
                  <a:txBody>
                    <a:bodyPr/>
                    <a:lstStyle/>
                    <a:p>
                      <a:r>
                        <a:rPr lang="en-US"/>
                        <a:t>D</a:t>
                      </a:r>
                    </a:p>
                  </a:txBody>
                  <a:tcPr>
                    <a:solidFill>
                      <a:schemeClr val="accent6">
                        <a:lumMod val="40000"/>
                        <a:lumOff val="60000"/>
                      </a:schemeClr>
                    </a:solidFill>
                  </a:tcPr>
                </a:tc>
                <a:tc>
                  <a:txBody>
                    <a:bodyPr/>
                    <a:lstStyle/>
                    <a:p>
                      <a:r>
                        <a:rPr lang="en-US"/>
                        <a:t>D</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r>
                        <a:rPr lang="en-US"/>
                        <a:t>P</a:t>
                      </a:r>
                    </a:p>
                  </a:txBody>
                  <a:tcPr>
                    <a:solidFill>
                      <a:schemeClr val="accent6">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67869052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2639028050"/>
                  </a:ext>
                </a:extLst>
              </a:tr>
              <a:tr h="370840">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03145585"/>
                  </a:ext>
                </a:extLst>
              </a:tr>
              <a:tr h="370840">
                <a:tc>
                  <a:txBody>
                    <a:bodyPr/>
                    <a:lstStyle/>
                    <a:p>
                      <a:r>
                        <a:rPr lang="en-US"/>
                        <a:t>P</a:t>
                      </a:r>
                    </a:p>
                  </a:txBody>
                  <a:tcPr>
                    <a:solidFill>
                      <a:schemeClr val="accent4">
                        <a:lumMod val="40000"/>
                        <a:lumOff val="60000"/>
                      </a:schemeClr>
                    </a:solidFill>
                  </a:tcPr>
                </a:tc>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269826251"/>
                  </a:ext>
                </a:extLst>
              </a:tr>
              <a:tr h="370840">
                <a:tc>
                  <a:txBody>
                    <a:bodyPr/>
                    <a:lstStyle/>
                    <a:p>
                      <a:r>
                        <a:rPr lang="en-US"/>
                        <a:t>D</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r>
                        <a:rPr lang="en-US"/>
                        <a:t>P</a:t>
                      </a:r>
                    </a:p>
                  </a:txBody>
                  <a:tcPr>
                    <a:solidFill>
                      <a:schemeClr val="accent4">
                        <a:lumMod val="40000"/>
                        <a:lumOff val="60000"/>
                      </a:schemeClr>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3825981589"/>
                  </a:ext>
                </a:extLst>
              </a:tr>
              <a:tr h="370840">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r>
                        <a:rPr lang="en-US"/>
                        <a:t>P</a:t>
                      </a:r>
                    </a:p>
                  </a:txBody>
                  <a:tcPr>
                    <a:solidFill>
                      <a:srgbClr val="FFC1C1"/>
                    </a:solidFill>
                  </a:tcPr>
                </a:tc>
                <a:tc>
                  <a:txBody>
                    <a:bodyPr/>
                    <a:lstStyle/>
                    <a:p>
                      <a:pPr algn="ctr"/>
                      <a:r>
                        <a:rPr lang="en-US" b="1"/>
                        <a:t>1</a:t>
                      </a:r>
                    </a:p>
                  </a:txBody>
                  <a:tcPr>
                    <a:solidFill>
                      <a:srgbClr val="FFFF00"/>
                    </a:solidFill>
                  </a:tcPr>
                </a:tc>
                <a:tc>
                  <a:txBody>
                    <a:bodyPr/>
                    <a:lstStyle/>
                    <a:p>
                      <a:pPr algn="ctr"/>
                      <a:r>
                        <a:rPr lang="en-US" b="1"/>
                        <a:t>1</a:t>
                      </a:r>
                    </a:p>
                  </a:txBody>
                  <a:tcPr>
                    <a:solidFill>
                      <a:srgbClr val="FFFF00"/>
                    </a:solidFill>
                  </a:tcPr>
                </a:tc>
                <a:tc>
                  <a:txBody>
                    <a:bodyPr/>
                    <a:lstStyle/>
                    <a:p>
                      <a:endParaRPr lang="en-US"/>
                    </a:p>
                  </a:txBody>
                  <a:tcPr/>
                </a:tc>
                <a:tc>
                  <a:txBody>
                    <a:bodyPr/>
                    <a:lstStyle/>
                    <a:p>
                      <a:endParaRPr lang="en-US"/>
                    </a:p>
                  </a:txBody>
                  <a:tcPr/>
                </a:tc>
                <a:extLst>
                  <a:ext uri="{0D108BD9-81ED-4DB2-BD59-A6C34878D82A}">
                    <a16:rowId xmlns:a16="http://schemas.microsoft.com/office/drawing/2014/main" val="850264731"/>
                  </a:ext>
                </a:extLst>
              </a:tr>
            </a:tbl>
          </a:graphicData>
        </a:graphic>
      </p:graphicFrame>
      <p:sp>
        <p:nvSpPr>
          <p:cNvPr id="3" name="TextBox 2">
            <a:extLst>
              <a:ext uri="{FF2B5EF4-FFF2-40B4-BE49-F238E27FC236}">
                <a16:creationId xmlns:a16="http://schemas.microsoft.com/office/drawing/2014/main" id="{7D2F96E3-DA23-D5E1-E37D-E52BCD5843CB}"/>
              </a:ext>
            </a:extLst>
          </p:cNvPr>
          <p:cNvSpPr txBox="1"/>
          <p:nvPr/>
        </p:nvSpPr>
        <p:spPr>
          <a:xfrm>
            <a:off x="309166" y="830777"/>
            <a:ext cx="891560" cy="461665"/>
          </a:xfrm>
          <a:prstGeom prst="rect">
            <a:avLst/>
          </a:prstGeom>
          <a:solidFill>
            <a:schemeClr val="accent2"/>
          </a:solidFill>
          <a:ln w="38100">
            <a:solidFill>
              <a:schemeClr val="tx1"/>
            </a:solidFill>
          </a:ln>
        </p:spPr>
        <p:txBody>
          <a:bodyPr wrap="square" rtlCol="0">
            <a:spAutoFit/>
          </a:bodyPr>
          <a:lstStyle/>
          <a:p>
            <a:r>
              <a:rPr lang="en-US" sz="2400" b="1"/>
              <a:t>ZERO</a:t>
            </a:r>
            <a:endParaRPr lang="en-US" sz="2400"/>
          </a:p>
        </p:txBody>
      </p:sp>
      <p:sp>
        <p:nvSpPr>
          <p:cNvPr id="4" name="TextBox 3">
            <a:extLst>
              <a:ext uri="{FF2B5EF4-FFF2-40B4-BE49-F238E27FC236}">
                <a16:creationId xmlns:a16="http://schemas.microsoft.com/office/drawing/2014/main" id="{AF8B8C52-386F-8D91-EE22-EA3BF9D4386C}"/>
              </a:ext>
            </a:extLst>
          </p:cNvPr>
          <p:cNvSpPr txBox="1"/>
          <p:nvPr/>
        </p:nvSpPr>
        <p:spPr>
          <a:xfrm>
            <a:off x="309166" y="1683796"/>
            <a:ext cx="743779" cy="461665"/>
          </a:xfrm>
          <a:prstGeom prst="rect">
            <a:avLst/>
          </a:prstGeom>
          <a:solidFill>
            <a:schemeClr val="accent1">
              <a:lumMod val="40000"/>
              <a:lumOff val="60000"/>
            </a:schemeClr>
          </a:solidFill>
          <a:ln w="38100">
            <a:solidFill>
              <a:schemeClr val="tx1"/>
            </a:solidFill>
          </a:ln>
        </p:spPr>
        <p:txBody>
          <a:bodyPr wrap="square" rtlCol="0">
            <a:spAutoFit/>
          </a:bodyPr>
          <a:lstStyle/>
          <a:p>
            <a:r>
              <a:rPr lang="en-US" sz="2400" b="1"/>
              <a:t>ONE</a:t>
            </a:r>
            <a:endParaRPr lang="en-US" sz="2400"/>
          </a:p>
        </p:txBody>
      </p:sp>
      <p:sp>
        <p:nvSpPr>
          <p:cNvPr id="5" name="TextBox 4">
            <a:extLst>
              <a:ext uri="{FF2B5EF4-FFF2-40B4-BE49-F238E27FC236}">
                <a16:creationId xmlns:a16="http://schemas.microsoft.com/office/drawing/2014/main" id="{21AEE2B6-8817-DC2D-E3AB-3EB1B63AFFD6}"/>
              </a:ext>
            </a:extLst>
          </p:cNvPr>
          <p:cNvSpPr txBox="1"/>
          <p:nvPr/>
        </p:nvSpPr>
        <p:spPr>
          <a:xfrm>
            <a:off x="309166" y="3429000"/>
            <a:ext cx="873089" cy="461665"/>
          </a:xfrm>
          <a:prstGeom prst="rect">
            <a:avLst/>
          </a:prstGeom>
          <a:solidFill>
            <a:schemeClr val="accent6">
              <a:lumMod val="40000"/>
              <a:lumOff val="60000"/>
            </a:schemeClr>
          </a:solidFill>
          <a:ln w="38100">
            <a:solidFill>
              <a:schemeClr val="tx1"/>
            </a:solidFill>
          </a:ln>
        </p:spPr>
        <p:txBody>
          <a:bodyPr wrap="square" rtlCol="0">
            <a:spAutoFit/>
          </a:bodyPr>
          <a:lstStyle/>
          <a:p>
            <a:r>
              <a:rPr lang="en-US" sz="2400" b="1"/>
              <a:t>TWO</a:t>
            </a:r>
            <a:endParaRPr lang="en-US" sz="2400"/>
          </a:p>
        </p:txBody>
      </p:sp>
      <p:sp>
        <p:nvSpPr>
          <p:cNvPr id="6" name="TextBox 5">
            <a:extLst>
              <a:ext uri="{FF2B5EF4-FFF2-40B4-BE49-F238E27FC236}">
                <a16:creationId xmlns:a16="http://schemas.microsoft.com/office/drawing/2014/main" id="{D8D7745B-40B9-CFB0-E12F-17E10A5B08FC}"/>
              </a:ext>
            </a:extLst>
          </p:cNvPr>
          <p:cNvSpPr txBox="1"/>
          <p:nvPr/>
        </p:nvSpPr>
        <p:spPr>
          <a:xfrm>
            <a:off x="309166" y="5405036"/>
            <a:ext cx="1020872" cy="461665"/>
          </a:xfrm>
          <a:prstGeom prst="rect">
            <a:avLst/>
          </a:prstGeom>
          <a:solidFill>
            <a:schemeClr val="accent4">
              <a:lumMod val="40000"/>
              <a:lumOff val="60000"/>
            </a:schemeClr>
          </a:solidFill>
          <a:ln w="38100">
            <a:solidFill>
              <a:schemeClr val="tx1"/>
            </a:solidFill>
          </a:ln>
        </p:spPr>
        <p:txBody>
          <a:bodyPr wrap="square" rtlCol="0">
            <a:spAutoFit/>
          </a:bodyPr>
          <a:lstStyle/>
          <a:p>
            <a:r>
              <a:rPr lang="en-US" sz="2400" b="1"/>
              <a:t>THREE</a:t>
            </a:r>
            <a:endParaRPr lang="en-US" sz="2400"/>
          </a:p>
        </p:txBody>
      </p:sp>
      <p:sp>
        <p:nvSpPr>
          <p:cNvPr id="7" name="TextBox 6">
            <a:extLst>
              <a:ext uri="{FF2B5EF4-FFF2-40B4-BE49-F238E27FC236}">
                <a16:creationId xmlns:a16="http://schemas.microsoft.com/office/drawing/2014/main" id="{459C7BD5-70D9-685B-7883-7C119BFACF25}"/>
              </a:ext>
            </a:extLst>
          </p:cNvPr>
          <p:cNvSpPr txBox="1"/>
          <p:nvPr/>
        </p:nvSpPr>
        <p:spPr>
          <a:xfrm>
            <a:off x="309166" y="6317595"/>
            <a:ext cx="1020872" cy="461665"/>
          </a:xfrm>
          <a:prstGeom prst="rect">
            <a:avLst/>
          </a:prstGeom>
          <a:solidFill>
            <a:srgbClr val="FFC1C1"/>
          </a:solidFill>
          <a:ln w="38100">
            <a:solidFill>
              <a:schemeClr val="tx1"/>
            </a:solidFill>
          </a:ln>
        </p:spPr>
        <p:txBody>
          <a:bodyPr wrap="square" rtlCol="0">
            <a:spAutoFit/>
          </a:bodyPr>
          <a:lstStyle/>
          <a:p>
            <a:r>
              <a:rPr lang="en-US" sz="2400" b="1"/>
              <a:t>FOUR</a:t>
            </a:r>
            <a:endParaRPr lang="en-US" sz="2400"/>
          </a:p>
        </p:txBody>
      </p:sp>
      <p:sp>
        <p:nvSpPr>
          <p:cNvPr id="8" name="Rectangle 7">
            <a:extLst>
              <a:ext uri="{FF2B5EF4-FFF2-40B4-BE49-F238E27FC236}">
                <a16:creationId xmlns:a16="http://schemas.microsoft.com/office/drawing/2014/main" id="{54816A69-691D-8F79-1AC0-2917571E39E2}"/>
              </a:ext>
            </a:extLst>
          </p:cNvPr>
          <p:cNvSpPr/>
          <p:nvPr/>
        </p:nvSpPr>
        <p:spPr>
          <a:xfrm>
            <a:off x="3833092" y="443345"/>
            <a:ext cx="2262908" cy="6335915"/>
          </a:xfrm>
          <a:prstGeom prst="rect">
            <a:avLst/>
          </a:prstGeom>
          <a:no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EDF09E6-2BA1-22BF-D903-DB3185823238}"/>
              </a:ext>
            </a:extLst>
          </p:cNvPr>
          <p:cNvSpPr txBox="1"/>
          <p:nvPr/>
        </p:nvSpPr>
        <p:spPr>
          <a:xfrm>
            <a:off x="9015248" y="2044005"/>
            <a:ext cx="3176752" cy="1384995"/>
          </a:xfrm>
          <a:prstGeom prst="rect">
            <a:avLst/>
          </a:prstGeom>
          <a:solidFill>
            <a:schemeClr val="bg1"/>
          </a:solidFill>
          <a:ln w="76200">
            <a:solidFill>
              <a:srgbClr val="7030A0"/>
            </a:solidFill>
          </a:ln>
        </p:spPr>
        <p:txBody>
          <a:bodyPr wrap="square" rtlCol="0">
            <a:spAutoFit/>
          </a:bodyPr>
          <a:lstStyle/>
          <a:p>
            <a:r>
              <a:rPr lang="en-US" sz="2800" i="1"/>
              <a:t>On your own...finish this for Persons 3 and 4!!!!</a:t>
            </a:r>
          </a:p>
        </p:txBody>
      </p:sp>
    </p:spTree>
    <p:extLst>
      <p:ext uri="{BB962C8B-B14F-4D97-AF65-F5344CB8AC3E}">
        <p14:creationId xmlns:p14="http://schemas.microsoft.com/office/powerpoint/2010/main" val="37552715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2382</TotalTime>
  <Words>9088</Words>
  <Application>Microsoft Office PowerPoint</Application>
  <PresentationFormat>Widescreen</PresentationFormat>
  <Paragraphs>4210</Paragraphs>
  <Slides>114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114</vt:i4>
      </vt:variant>
    </vt:vector>
  </HeadingPairs>
  <TitlesOfParts>
    <vt:vector size="11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PSCI 107</dc:title>
  <dc:creator>Jordan, Stuart</dc:creator>
  <cp:lastModifiedBy>Jordan, Stuart</cp:lastModifiedBy>
  <cp:revision>4</cp:revision>
  <dcterms:created xsi:type="dcterms:W3CDTF">2021-08-24T16:35:34Z</dcterms:created>
  <dcterms:modified xsi:type="dcterms:W3CDTF">2026-04-07T15:30:46Z</dcterms:modified>
</cp:coreProperties>
</file>