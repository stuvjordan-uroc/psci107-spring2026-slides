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4" r:id="rId14"/>
    <p:sldId id="269" r:id="rId15"/>
    <p:sldId id="275" r:id="rId16"/>
    <p:sldId id="276" r:id="rId17"/>
    <p:sldId id="277" r:id="rId18"/>
    <p:sldId id="278" r:id="rId19"/>
    <p:sldId id="279" r:id="rId20"/>
    <p:sldId id="280" r:id="rId21"/>
    <p:sldId id="282" r:id="rId22"/>
    <p:sldId id="281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5" r:id="rId35"/>
    <p:sldId id="296" r:id="rId36"/>
    <p:sldId id="294" r:id="rId37"/>
    <p:sldId id="297" r:id="rId38"/>
    <p:sldId id="298" r:id="rId39"/>
    <p:sldId id="299" r:id="rId40"/>
    <p:sldId id="300" r:id="rId41"/>
    <p:sldId id="301" r:id="rId42"/>
    <p:sldId id="302" r:id="rId43"/>
    <p:sldId id="304" r:id="rId44"/>
    <p:sldId id="303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26" r:id="rId67"/>
    <p:sldId id="327" r:id="rId68"/>
    <p:sldId id="328" r:id="rId69"/>
    <p:sldId id="329" r:id="rId70"/>
    <p:sldId id="331" r:id="rId71"/>
    <p:sldId id="330" r:id="rId72"/>
    <p:sldId id="332" r:id="rId73"/>
    <p:sldId id="334" r:id="rId74"/>
    <p:sldId id="335" r:id="rId75"/>
    <p:sldId id="336" r:id="rId76"/>
    <p:sldId id="337" r:id="rId77"/>
    <p:sldId id="338" r:id="rId78"/>
    <p:sldId id="339" r:id="rId79"/>
    <p:sldId id="340" r:id="rId80"/>
    <p:sldId id="341" r:id="rId81"/>
    <p:sldId id="342" r:id="rId82"/>
    <p:sldId id="343" r:id="rId83"/>
    <p:sldId id="345" r:id="rId84"/>
    <p:sldId id="347" r:id="rId85"/>
    <p:sldId id="350" r:id="rId86"/>
    <p:sldId id="351" r:id="rId87"/>
    <p:sldId id="349" r:id="rId88"/>
    <p:sldId id="352" r:id="rId89"/>
    <p:sldId id="355" r:id="rId90"/>
    <p:sldId id="353" r:id="rId91"/>
    <p:sldId id="354" r:id="rId92"/>
    <p:sldId id="356" r:id="rId93"/>
    <p:sldId id="357" r:id="rId94"/>
    <p:sldId id="358" r:id="rId95"/>
    <p:sldId id="359" r:id="rId96"/>
    <p:sldId id="360" r:id="rId97"/>
    <p:sldId id="362" r:id="rId98"/>
    <p:sldId id="363" r:id="rId99"/>
    <p:sldId id="364" r:id="rId100"/>
    <p:sldId id="365" r:id="rId101"/>
    <p:sldId id="366" r:id="rId102"/>
    <p:sldId id="367" r:id="rId103"/>
    <p:sldId id="368" r:id="rId104"/>
    <p:sldId id="369" r:id="rId105"/>
    <p:sldId id="370" r:id="rId106"/>
    <p:sldId id="371" r:id="rId107"/>
    <p:sldId id="372" r:id="rId108"/>
    <p:sldId id="373" r:id="rId109"/>
    <p:sldId id="374" r:id="rId110"/>
    <p:sldId id="375" r:id="rId111"/>
    <p:sldId id="377" r:id="rId112"/>
    <p:sldId id="378" r:id="rId113"/>
    <p:sldId id="379" r:id="rId114"/>
    <p:sldId id="382" r:id="rId115"/>
    <p:sldId id="380" r:id="rId116"/>
    <p:sldId id="381" r:id="rId117"/>
    <p:sldId id="383" r:id="rId118"/>
    <p:sldId id="384" r:id="rId119"/>
    <p:sldId id="405" r:id="rId120"/>
    <p:sldId id="406" r:id="rId121"/>
    <p:sldId id="385" r:id="rId122"/>
    <p:sldId id="386" r:id="rId123"/>
    <p:sldId id="387" r:id="rId124"/>
    <p:sldId id="388" r:id="rId125"/>
    <p:sldId id="389" r:id="rId126"/>
    <p:sldId id="390" r:id="rId127"/>
    <p:sldId id="398" r:id="rId128"/>
    <p:sldId id="399" r:id="rId129"/>
    <p:sldId id="400" r:id="rId130"/>
    <p:sldId id="407" r:id="rId131"/>
    <p:sldId id="408" r:id="rId132"/>
    <p:sldId id="391" r:id="rId133"/>
    <p:sldId id="392" r:id="rId134"/>
    <p:sldId id="393" r:id="rId135"/>
    <p:sldId id="394" r:id="rId136"/>
    <p:sldId id="395" r:id="rId137"/>
    <p:sldId id="401" r:id="rId138"/>
    <p:sldId id="396" r:id="rId139"/>
    <p:sldId id="402" r:id="rId140"/>
    <p:sldId id="403" r:id="rId141"/>
    <p:sldId id="404" r:id="rId142"/>
    <p:sldId id="397" r:id="rId143"/>
    <p:sldId id="410" r:id="rId144"/>
    <p:sldId id="411" r:id="rId145"/>
    <p:sldId id="412" r:id="rId146"/>
    <p:sldId id="413" r:id="rId147"/>
    <p:sldId id="415" r:id="rId148"/>
    <p:sldId id="414" r:id="rId1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8AB3"/>
    <a:srgbClr val="595959"/>
    <a:srgbClr val="5E5E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notesMaster" Target="notesMasters/notesMaster1.xml"/><Relationship Id="rId155" Type="http://schemas.microsoft.com/office/2016/11/relationships/changesInfo" Target="changesInfos/changesInfo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tableStyles" Target="tableStyle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dan, Stuart" userId="1bf9a496-f356-4f9c-b15f-a24cde0408c2" providerId="ADAL" clId="{D610E14A-756D-4778-AAB0-AFD182EFE9D3}"/>
    <pc:docChg chg="delSld">
      <pc:chgData name="Jordan, Stuart" userId="1bf9a496-f356-4f9c-b15f-a24cde0408c2" providerId="ADAL" clId="{D610E14A-756D-4778-AAB0-AFD182EFE9D3}" dt="2026-03-05T15:49:57.068" v="0" actId="47"/>
      <pc:docMkLst>
        <pc:docMk/>
      </pc:docMkLst>
      <pc:sldChg chg="del">
        <pc:chgData name="Jordan, Stuart" userId="1bf9a496-f356-4f9c-b15f-a24cde0408c2" providerId="ADAL" clId="{D610E14A-756D-4778-AAB0-AFD182EFE9D3}" dt="2026-03-05T15:49:57.068" v="0" actId="47"/>
        <pc:sldMkLst>
          <pc:docMk/>
          <pc:sldMk cId="3554339618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8206AB-56F2-4649-89CA-9CE798A4E71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CBE50-644B-4928-943C-98A8C95B5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776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CBE50-644B-4928-943C-98A8C95B5CC3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288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C6760-D48C-4A8F-B36C-152D30D8940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05D2-A413-468E-8382-5703C301C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2608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C6760-D48C-4A8F-B36C-152D30D8940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05D2-A413-468E-8382-5703C301C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39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C6760-D48C-4A8F-B36C-152D30D8940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05D2-A413-468E-8382-5703C301C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7455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C6760-D48C-4A8F-B36C-152D30D8940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05D2-A413-468E-8382-5703C301C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160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C6760-D48C-4A8F-B36C-152D30D8940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05D2-A413-468E-8382-5703C301C61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582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C6760-D48C-4A8F-B36C-152D30D8940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05D2-A413-468E-8382-5703C301C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558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C6760-D48C-4A8F-B36C-152D30D8940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05D2-A413-468E-8382-5703C301C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778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C6760-D48C-4A8F-B36C-152D30D8940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05D2-A413-468E-8382-5703C301C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411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ADC6760-D48C-4A8F-B36C-152D30D8940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05D2-A413-468E-8382-5703C301C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107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C6760-D48C-4A8F-B36C-152D30D8940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05D2-A413-468E-8382-5703C301C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640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C6760-D48C-4A8F-B36C-152D30D8940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05D2-A413-468E-8382-5703C301C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66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ADC6760-D48C-4A8F-B36C-152D30D8940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B62605D2-A413-468E-8382-5703C301C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6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1.png"/><Relationship Id="rId7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1.png"/><Relationship Id="rId7" Type="http://schemas.openxmlformats.org/officeDocument/2006/relationships/image" Target="../media/image3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6.png"/><Relationship Id="rId7" Type="http://schemas.openxmlformats.org/officeDocument/2006/relationships/image" Target="../media/image3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6.png"/><Relationship Id="rId7" Type="http://schemas.openxmlformats.org/officeDocument/2006/relationships/image" Target="../media/image3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6.png"/><Relationship Id="rId7" Type="http://schemas.openxmlformats.org/officeDocument/2006/relationships/image" Target="../media/image3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6.png"/><Relationship Id="rId7" Type="http://schemas.openxmlformats.org/officeDocument/2006/relationships/image" Target="../media/image3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6.png"/><Relationship Id="rId7" Type="http://schemas.openxmlformats.org/officeDocument/2006/relationships/image" Target="../media/image3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6.png"/><Relationship Id="rId7" Type="http://schemas.openxmlformats.org/officeDocument/2006/relationships/image" Target="../media/image3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6.png"/><Relationship Id="rId7" Type="http://schemas.openxmlformats.org/officeDocument/2006/relationships/image" Target="../media/image3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6.png"/><Relationship Id="rId7" Type="http://schemas.openxmlformats.org/officeDocument/2006/relationships/image" Target="../media/image3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6.png"/><Relationship Id="rId7" Type="http://schemas.openxmlformats.org/officeDocument/2006/relationships/image" Target="../media/image3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6.png"/><Relationship Id="rId7" Type="http://schemas.openxmlformats.org/officeDocument/2006/relationships/image" Target="../media/image3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6.png"/><Relationship Id="rId7" Type="http://schemas.openxmlformats.org/officeDocument/2006/relationships/image" Target="../media/image3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6.png"/><Relationship Id="rId7" Type="http://schemas.openxmlformats.org/officeDocument/2006/relationships/image" Target="../media/image3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6.png"/><Relationship Id="rId7" Type="http://schemas.openxmlformats.org/officeDocument/2006/relationships/image" Target="../media/image3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6.png"/><Relationship Id="rId7" Type="http://schemas.openxmlformats.org/officeDocument/2006/relationships/image" Target="../media/image3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6.png"/><Relationship Id="rId7" Type="http://schemas.openxmlformats.org/officeDocument/2006/relationships/image" Target="../media/image3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6.png"/><Relationship Id="rId7" Type="http://schemas.openxmlformats.org/officeDocument/2006/relationships/image" Target="../media/image3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29.png"/><Relationship Id="rId3" Type="http://schemas.openxmlformats.org/officeDocument/2006/relationships/image" Target="../media/image46.png"/><Relationship Id="rId7" Type="http://schemas.openxmlformats.org/officeDocument/2006/relationships/image" Target="../media/image30.png"/><Relationship Id="rId12" Type="http://schemas.openxmlformats.org/officeDocument/2006/relationships/image" Target="../media/image5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Relationship Id="rId14" Type="http://schemas.openxmlformats.org/officeDocument/2006/relationships/image" Target="../media/image55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29.png"/><Relationship Id="rId3" Type="http://schemas.openxmlformats.org/officeDocument/2006/relationships/image" Target="../media/image46.png"/><Relationship Id="rId7" Type="http://schemas.openxmlformats.org/officeDocument/2006/relationships/image" Target="../media/image30.png"/><Relationship Id="rId12" Type="http://schemas.openxmlformats.org/officeDocument/2006/relationships/image" Target="../media/image5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5" Type="http://schemas.openxmlformats.org/officeDocument/2006/relationships/image" Target="../media/image56.png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Relationship Id="rId14" Type="http://schemas.openxmlformats.org/officeDocument/2006/relationships/image" Target="../media/image55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29.png"/><Relationship Id="rId3" Type="http://schemas.openxmlformats.org/officeDocument/2006/relationships/image" Target="../media/image46.png"/><Relationship Id="rId7" Type="http://schemas.openxmlformats.org/officeDocument/2006/relationships/image" Target="../media/image30.png"/><Relationship Id="rId12" Type="http://schemas.openxmlformats.org/officeDocument/2006/relationships/image" Target="../media/image54.png"/><Relationship Id="rId2" Type="http://schemas.openxmlformats.org/officeDocument/2006/relationships/image" Target="../media/image45.png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5" Type="http://schemas.openxmlformats.org/officeDocument/2006/relationships/image" Target="../media/image56.png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Relationship Id="rId14" Type="http://schemas.openxmlformats.org/officeDocument/2006/relationships/image" Target="../media/image55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1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2.png"/><Relationship Id="rId7" Type="http://schemas.openxmlformats.org/officeDocument/2006/relationships/image" Target="../media/image67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5.png"/><Relationship Id="rId10" Type="http://schemas.openxmlformats.org/officeDocument/2006/relationships/image" Target="../media/image78.png"/><Relationship Id="rId4" Type="http://schemas.openxmlformats.org/officeDocument/2006/relationships/image" Target="../media/image71.png"/><Relationship Id="rId9" Type="http://schemas.openxmlformats.org/officeDocument/2006/relationships/image" Target="../media/image77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67.png"/><Relationship Id="rId12" Type="http://schemas.openxmlformats.org/officeDocument/2006/relationships/image" Target="../media/image8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80.png"/><Relationship Id="rId5" Type="http://schemas.openxmlformats.org/officeDocument/2006/relationships/image" Target="../media/image75.png"/><Relationship Id="rId10" Type="http://schemas.openxmlformats.org/officeDocument/2006/relationships/image" Target="../media/image78.png"/><Relationship Id="rId4" Type="http://schemas.openxmlformats.org/officeDocument/2006/relationships/image" Target="../media/image71.png"/><Relationship Id="rId9" Type="http://schemas.openxmlformats.org/officeDocument/2006/relationships/image" Target="../media/image77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67.png"/><Relationship Id="rId12" Type="http://schemas.openxmlformats.org/officeDocument/2006/relationships/image" Target="../media/image8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80.png"/><Relationship Id="rId5" Type="http://schemas.openxmlformats.org/officeDocument/2006/relationships/image" Target="../media/image75.png"/><Relationship Id="rId10" Type="http://schemas.openxmlformats.org/officeDocument/2006/relationships/image" Target="../media/image78.png"/><Relationship Id="rId4" Type="http://schemas.openxmlformats.org/officeDocument/2006/relationships/image" Target="../media/image71.png"/><Relationship Id="rId9" Type="http://schemas.openxmlformats.org/officeDocument/2006/relationships/image" Target="../media/image77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0.png"/><Relationship Id="rId13" Type="http://schemas.openxmlformats.org/officeDocument/2006/relationships/image" Target="../media/image94.png"/><Relationship Id="rId3" Type="http://schemas.openxmlformats.org/officeDocument/2006/relationships/image" Target="../media/image840.png"/><Relationship Id="rId7" Type="http://schemas.openxmlformats.org/officeDocument/2006/relationships/image" Target="../media/image880.png"/><Relationship Id="rId12" Type="http://schemas.openxmlformats.org/officeDocument/2006/relationships/image" Target="../media/image93.png"/><Relationship Id="rId17" Type="http://schemas.openxmlformats.org/officeDocument/2006/relationships/image" Target="../media/image98.png"/><Relationship Id="rId2" Type="http://schemas.openxmlformats.org/officeDocument/2006/relationships/image" Target="../media/image830.png"/><Relationship Id="rId16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0.png"/><Relationship Id="rId11" Type="http://schemas.openxmlformats.org/officeDocument/2006/relationships/image" Target="../media/image920.png"/><Relationship Id="rId5" Type="http://schemas.openxmlformats.org/officeDocument/2006/relationships/image" Target="../media/image860.png"/><Relationship Id="rId15" Type="http://schemas.openxmlformats.org/officeDocument/2006/relationships/image" Target="../media/image96.png"/><Relationship Id="rId10" Type="http://schemas.openxmlformats.org/officeDocument/2006/relationships/image" Target="../media/image910.png"/><Relationship Id="rId4" Type="http://schemas.openxmlformats.org/officeDocument/2006/relationships/image" Target="../media/image850.png"/><Relationship Id="rId9" Type="http://schemas.openxmlformats.org/officeDocument/2006/relationships/image" Target="../media/image900.png"/><Relationship Id="rId14" Type="http://schemas.openxmlformats.org/officeDocument/2006/relationships/image" Target="../media/image95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100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" Type="http://schemas.openxmlformats.org/officeDocument/2006/relationships/image" Target="../media/image83.png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5" Type="http://schemas.openxmlformats.org/officeDocument/2006/relationships/image" Target="../media/image102.png"/><Relationship Id="rId10" Type="http://schemas.openxmlformats.org/officeDocument/2006/relationships/image" Target="../media/image91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14" Type="http://schemas.openxmlformats.org/officeDocument/2006/relationships/image" Target="../media/image101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100.png"/><Relationship Id="rId18" Type="http://schemas.openxmlformats.org/officeDocument/2006/relationships/image" Target="../media/image105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" Type="http://schemas.openxmlformats.org/officeDocument/2006/relationships/image" Target="../media/image83.png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5" Type="http://schemas.openxmlformats.org/officeDocument/2006/relationships/image" Target="../media/image102.png"/><Relationship Id="rId10" Type="http://schemas.openxmlformats.org/officeDocument/2006/relationships/image" Target="../media/image91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14" Type="http://schemas.openxmlformats.org/officeDocument/2006/relationships/image" Target="../media/image101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100.png"/><Relationship Id="rId18" Type="http://schemas.openxmlformats.org/officeDocument/2006/relationships/image" Target="../media/image105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" Type="http://schemas.openxmlformats.org/officeDocument/2006/relationships/image" Target="../media/image83.png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5" Type="http://schemas.openxmlformats.org/officeDocument/2006/relationships/image" Target="../media/image102.png"/><Relationship Id="rId10" Type="http://schemas.openxmlformats.org/officeDocument/2006/relationships/image" Target="../media/image91.png"/><Relationship Id="rId19" Type="http://schemas.openxmlformats.org/officeDocument/2006/relationships/image" Target="../media/image106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14" Type="http://schemas.openxmlformats.org/officeDocument/2006/relationships/image" Target="../media/image101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100.png"/><Relationship Id="rId18" Type="http://schemas.openxmlformats.org/officeDocument/2006/relationships/image" Target="../media/image105.png"/><Relationship Id="rId3" Type="http://schemas.openxmlformats.org/officeDocument/2006/relationships/image" Target="../media/image84.png"/><Relationship Id="rId21" Type="http://schemas.openxmlformats.org/officeDocument/2006/relationships/image" Target="../media/image108.png"/><Relationship Id="rId7" Type="http://schemas.openxmlformats.org/officeDocument/2006/relationships/image" Target="../media/image88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" Type="http://schemas.openxmlformats.org/officeDocument/2006/relationships/image" Target="../media/image83.png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5" Type="http://schemas.openxmlformats.org/officeDocument/2006/relationships/image" Target="../media/image102.png"/><Relationship Id="rId10" Type="http://schemas.openxmlformats.org/officeDocument/2006/relationships/image" Target="../media/image91.png"/><Relationship Id="rId19" Type="http://schemas.openxmlformats.org/officeDocument/2006/relationships/image" Target="../media/image106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14" Type="http://schemas.openxmlformats.org/officeDocument/2006/relationships/image" Target="../media/image101.pn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100.png"/><Relationship Id="rId3" Type="http://schemas.openxmlformats.org/officeDocument/2006/relationships/image" Target="../media/image84.png"/><Relationship Id="rId7" Type="http://schemas.openxmlformats.org/officeDocument/2006/relationships/image" Target="../media/image109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" Type="http://schemas.openxmlformats.org/officeDocument/2006/relationships/image" Target="../media/image83.png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5" Type="http://schemas.openxmlformats.org/officeDocument/2006/relationships/image" Target="../media/image102.png"/><Relationship Id="rId10" Type="http://schemas.openxmlformats.org/officeDocument/2006/relationships/image" Target="../media/image91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14" Type="http://schemas.openxmlformats.org/officeDocument/2006/relationships/image" Target="../media/image101.png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102.png"/><Relationship Id="rId3" Type="http://schemas.openxmlformats.org/officeDocument/2006/relationships/image" Target="../media/image84.png"/><Relationship Id="rId7" Type="http://schemas.openxmlformats.org/officeDocument/2006/relationships/image" Target="../media/image90.png"/><Relationship Id="rId12" Type="http://schemas.openxmlformats.org/officeDocument/2006/relationships/image" Target="../media/image101.png"/><Relationship Id="rId17" Type="http://schemas.openxmlformats.org/officeDocument/2006/relationships/image" Target="../media/image111.png"/><Relationship Id="rId2" Type="http://schemas.openxmlformats.org/officeDocument/2006/relationships/image" Target="../media/image83.png"/><Relationship Id="rId16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11" Type="http://schemas.openxmlformats.org/officeDocument/2006/relationships/image" Target="../media/image100.png"/><Relationship Id="rId5" Type="http://schemas.openxmlformats.org/officeDocument/2006/relationships/image" Target="../media/image86.png"/><Relationship Id="rId15" Type="http://schemas.openxmlformats.org/officeDocument/2006/relationships/image" Target="../media/image104.png"/><Relationship Id="rId10" Type="http://schemas.openxmlformats.org/officeDocument/2006/relationships/image" Target="../media/image99.png"/><Relationship Id="rId4" Type="http://schemas.openxmlformats.org/officeDocument/2006/relationships/image" Target="../media/image85.png"/><Relationship Id="rId9" Type="http://schemas.openxmlformats.org/officeDocument/2006/relationships/image" Target="../media/image92.png"/><Relationship Id="rId14" Type="http://schemas.openxmlformats.org/officeDocument/2006/relationships/image" Target="../media/image103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104.png"/><Relationship Id="rId3" Type="http://schemas.openxmlformats.org/officeDocument/2006/relationships/image" Target="../media/image84.png"/><Relationship Id="rId7" Type="http://schemas.openxmlformats.org/officeDocument/2006/relationships/image" Target="../media/image92.png"/><Relationship Id="rId12" Type="http://schemas.openxmlformats.org/officeDocument/2006/relationships/image" Target="../media/image103.png"/><Relationship Id="rId17" Type="http://schemas.openxmlformats.org/officeDocument/2006/relationships/image" Target="../media/image113.png"/><Relationship Id="rId2" Type="http://schemas.openxmlformats.org/officeDocument/2006/relationships/image" Target="../media/image83.png"/><Relationship Id="rId16" Type="http://schemas.openxmlformats.org/officeDocument/2006/relationships/image" Target="../media/image1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11" Type="http://schemas.openxmlformats.org/officeDocument/2006/relationships/image" Target="../media/image102.png"/><Relationship Id="rId5" Type="http://schemas.openxmlformats.org/officeDocument/2006/relationships/image" Target="../media/image86.png"/><Relationship Id="rId15" Type="http://schemas.openxmlformats.org/officeDocument/2006/relationships/image" Target="../media/image111.png"/><Relationship Id="rId10" Type="http://schemas.openxmlformats.org/officeDocument/2006/relationships/image" Target="../media/image101.png"/><Relationship Id="rId4" Type="http://schemas.openxmlformats.org/officeDocument/2006/relationships/image" Target="../media/image85.png"/><Relationship Id="rId9" Type="http://schemas.openxmlformats.org/officeDocument/2006/relationships/image" Target="../media/image100.png"/><Relationship Id="rId14" Type="http://schemas.openxmlformats.org/officeDocument/2006/relationships/image" Target="../media/image110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11.png"/><Relationship Id="rId3" Type="http://schemas.openxmlformats.org/officeDocument/2006/relationships/image" Target="../media/image84.png"/><Relationship Id="rId7" Type="http://schemas.openxmlformats.org/officeDocument/2006/relationships/image" Target="../media/image100.png"/><Relationship Id="rId12" Type="http://schemas.openxmlformats.org/officeDocument/2006/relationships/image" Target="../media/image110.png"/><Relationship Id="rId17" Type="http://schemas.openxmlformats.org/officeDocument/2006/relationships/image" Target="../media/image115.png"/><Relationship Id="rId2" Type="http://schemas.openxmlformats.org/officeDocument/2006/relationships/image" Target="../media/image83.png"/><Relationship Id="rId16" Type="http://schemas.openxmlformats.org/officeDocument/2006/relationships/image" Target="../media/image1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86.png"/><Relationship Id="rId15" Type="http://schemas.openxmlformats.org/officeDocument/2006/relationships/image" Target="../media/image113.png"/><Relationship Id="rId10" Type="http://schemas.openxmlformats.org/officeDocument/2006/relationships/image" Target="../media/image103.png"/><Relationship Id="rId4" Type="http://schemas.openxmlformats.org/officeDocument/2006/relationships/image" Target="../media/image85.png"/><Relationship Id="rId9" Type="http://schemas.openxmlformats.org/officeDocument/2006/relationships/image" Target="../media/image102.png"/><Relationship Id="rId14" Type="http://schemas.openxmlformats.org/officeDocument/2006/relationships/image" Target="../media/image112.pn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11.png"/><Relationship Id="rId3" Type="http://schemas.openxmlformats.org/officeDocument/2006/relationships/image" Target="../media/image84.png"/><Relationship Id="rId7" Type="http://schemas.openxmlformats.org/officeDocument/2006/relationships/image" Target="../media/image100.png"/><Relationship Id="rId12" Type="http://schemas.openxmlformats.org/officeDocument/2006/relationships/image" Target="../media/image110.png"/><Relationship Id="rId17" Type="http://schemas.openxmlformats.org/officeDocument/2006/relationships/image" Target="../media/image115.png"/><Relationship Id="rId2" Type="http://schemas.openxmlformats.org/officeDocument/2006/relationships/image" Target="../media/image83.png"/><Relationship Id="rId16" Type="http://schemas.openxmlformats.org/officeDocument/2006/relationships/image" Target="../media/image1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86.png"/><Relationship Id="rId15" Type="http://schemas.openxmlformats.org/officeDocument/2006/relationships/image" Target="../media/image113.png"/><Relationship Id="rId10" Type="http://schemas.openxmlformats.org/officeDocument/2006/relationships/image" Target="../media/image103.png"/><Relationship Id="rId4" Type="http://schemas.openxmlformats.org/officeDocument/2006/relationships/image" Target="../media/image85.png"/><Relationship Id="rId9" Type="http://schemas.openxmlformats.org/officeDocument/2006/relationships/image" Target="../media/image102.png"/><Relationship Id="rId14" Type="http://schemas.openxmlformats.org/officeDocument/2006/relationships/image" Target="../media/image112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8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8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8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12" Type="http://schemas.openxmlformats.org/officeDocument/2006/relationships/image" Target="../media/image12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12" Type="http://schemas.openxmlformats.org/officeDocument/2006/relationships/image" Target="../media/image128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11" Type="http://schemas.openxmlformats.org/officeDocument/2006/relationships/image" Target="../media/image138.png"/><Relationship Id="rId5" Type="http://schemas.openxmlformats.org/officeDocument/2006/relationships/image" Target="../media/image13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12" Type="http://schemas.openxmlformats.org/officeDocument/2006/relationships/image" Target="../media/image139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11" Type="http://schemas.openxmlformats.org/officeDocument/2006/relationships/image" Target="../media/image138.png"/><Relationship Id="rId5" Type="http://schemas.openxmlformats.org/officeDocument/2006/relationships/image" Target="../media/image13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11" Type="http://schemas.openxmlformats.org/officeDocument/2006/relationships/image" Target="../media/image1290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11" Type="http://schemas.openxmlformats.org/officeDocument/2006/relationships/image" Target="../media/image1290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12" Type="http://schemas.openxmlformats.org/officeDocument/2006/relationships/image" Target="../media/image140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11" Type="http://schemas.openxmlformats.org/officeDocument/2006/relationships/image" Target="../media/image1290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12" Type="http://schemas.openxmlformats.org/officeDocument/2006/relationships/image" Target="../media/image1310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11" Type="http://schemas.openxmlformats.org/officeDocument/2006/relationships/image" Target="../media/image1290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12" Type="http://schemas.openxmlformats.org/officeDocument/2006/relationships/image" Target="../media/image1320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11" Type="http://schemas.openxmlformats.org/officeDocument/2006/relationships/image" Target="../media/image1290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1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12" Type="http://schemas.openxmlformats.org/officeDocument/2006/relationships/image" Target="../media/image142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11" Type="http://schemas.openxmlformats.org/officeDocument/2006/relationships/image" Target="../media/image141.png"/><Relationship Id="rId5" Type="http://schemas.openxmlformats.org/officeDocument/2006/relationships/image" Target="../media/image13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/Relationships>
</file>

<file path=ppt/slides/_rels/slide1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12" Type="http://schemas.openxmlformats.org/officeDocument/2006/relationships/image" Target="../media/image142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11" Type="http://schemas.openxmlformats.org/officeDocument/2006/relationships/image" Target="../media/image141.png"/><Relationship Id="rId5" Type="http://schemas.openxmlformats.org/officeDocument/2006/relationships/image" Target="../media/image13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12" Type="http://schemas.openxmlformats.org/officeDocument/2006/relationships/image" Target="../media/image142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11" Type="http://schemas.openxmlformats.org/officeDocument/2006/relationships/image" Target="../media/image141.png"/><Relationship Id="rId5" Type="http://schemas.openxmlformats.org/officeDocument/2006/relationships/image" Target="../media/image13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/Relationships>
</file>

<file path=ppt/slides/_rels/slide1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11" Type="http://schemas.openxmlformats.org/officeDocument/2006/relationships/image" Target="../media/image143.png"/><Relationship Id="rId5" Type="http://schemas.openxmlformats.org/officeDocument/2006/relationships/image" Target="../media/image13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/Relationships>
</file>

<file path=ppt/slides/_rels/slide1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12" Type="http://schemas.openxmlformats.org/officeDocument/2006/relationships/image" Target="../media/image144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11" Type="http://schemas.openxmlformats.org/officeDocument/2006/relationships/image" Target="../media/image143.png"/><Relationship Id="rId5" Type="http://schemas.openxmlformats.org/officeDocument/2006/relationships/image" Target="../media/image13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11" Type="http://schemas.openxmlformats.org/officeDocument/2006/relationships/image" Target="../media/image1330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1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11" Type="http://schemas.openxmlformats.org/officeDocument/2006/relationships/image" Target="../media/image1330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1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11" Type="http://schemas.openxmlformats.org/officeDocument/2006/relationships/image" Target="../media/image1330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1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12" Type="http://schemas.openxmlformats.org/officeDocument/2006/relationships/image" Target="../media/image1340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11" Type="http://schemas.openxmlformats.org/officeDocument/2006/relationships/image" Target="../media/image1330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1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12" Type="http://schemas.openxmlformats.org/officeDocument/2006/relationships/image" Target="../media/image146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11" Type="http://schemas.openxmlformats.org/officeDocument/2006/relationships/image" Target="../media/image145.png"/><Relationship Id="rId5" Type="http://schemas.openxmlformats.org/officeDocument/2006/relationships/image" Target="../media/image13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/Relationships>
</file>

<file path=ppt/slides/_rels/slide1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12" Type="http://schemas.openxmlformats.org/officeDocument/2006/relationships/image" Target="../media/image1350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11" Type="http://schemas.openxmlformats.org/officeDocument/2006/relationships/image" Target="../media/image1330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1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12" Type="http://schemas.openxmlformats.org/officeDocument/2006/relationships/image" Target="../media/image147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11" Type="http://schemas.openxmlformats.org/officeDocument/2006/relationships/image" Target="../media/image145.png"/><Relationship Id="rId5" Type="http://schemas.openxmlformats.org/officeDocument/2006/relationships/image" Target="../media/image13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/Relationships>
</file>

<file path=ppt/slides/_rels/slide1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12" Type="http://schemas.openxmlformats.org/officeDocument/2006/relationships/image" Target="../media/image147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11" Type="http://schemas.openxmlformats.org/officeDocument/2006/relationships/image" Target="../media/image145.png"/><Relationship Id="rId5" Type="http://schemas.openxmlformats.org/officeDocument/2006/relationships/image" Target="../media/image13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/Relationships>
</file>

<file path=ppt/slides/_rels/slide1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12" Type="http://schemas.openxmlformats.org/officeDocument/2006/relationships/image" Target="../media/image147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11" Type="http://schemas.openxmlformats.org/officeDocument/2006/relationships/image" Target="../media/image145.png"/><Relationship Id="rId5" Type="http://schemas.openxmlformats.org/officeDocument/2006/relationships/image" Target="../media/image13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/Relationships>
</file>

<file path=ppt/slides/_rels/slide1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12" Type="http://schemas.openxmlformats.org/officeDocument/2006/relationships/image" Target="../media/image1360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11" Type="http://schemas.openxmlformats.org/officeDocument/2006/relationships/image" Target="../media/image1330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1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11" Type="http://schemas.openxmlformats.org/officeDocument/2006/relationships/image" Target="../media/image148.png"/><Relationship Id="rId5" Type="http://schemas.openxmlformats.org/officeDocument/2006/relationships/image" Target="../media/image13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/Relationships>
</file>

<file path=ppt/slides/_rels/slide1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12" Type="http://schemas.openxmlformats.org/officeDocument/2006/relationships/image" Target="../media/image149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11" Type="http://schemas.openxmlformats.org/officeDocument/2006/relationships/image" Target="../media/image148.png"/><Relationship Id="rId5" Type="http://schemas.openxmlformats.org/officeDocument/2006/relationships/image" Target="../media/image13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/Relationships>
</file>

<file path=ppt/slides/_rels/slide1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12" Type="http://schemas.openxmlformats.org/officeDocument/2006/relationships/image" Target="../media/image149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11" Type="http://schemas.openxmlformats.org/officeDocument/2006/relationships/image" Target="../media/image148.png"/><Relationship Id="rId5" Type="http://schemas.openxmlformats.org/officeDocument/2006/relationships/image" Target="../media/image13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/Relationships>
</file>

<file path=ppt/slides/_rels/slide1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12" Type="http://schemas.openxmlformats.org/officeDocument/2006/relationships/image" Target="../media/image149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11" Type="http://schemas.openxmlformats.org/officeDocument/2006/relationships/image" Target="../media/image148.png"/><Relationship Id="rId5" Type="http://schemas.openxmlformats.org/officeDocument/2006/relationships/image" Target="../media/image13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/Relationships>
</file>

<file path=ppt/slides/_rels/slide1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12" Type="http://schemas.openxmlformats.org/officeDocument/2006/relationships/image" Target="../media/image149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11" Type="http://schemas.openxmlformats.org/officeDocument/2006/relationships/image" Target="../media/image148.png"/><Relationship Id="rId5" Type="http://schemas.openxmlformats.org/officeDocument/2006/relationships/image" Target="../media/image13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/Relationships>
</file>

<file path=ppt/slides/_rels/slide1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12" Type="http://schemas.openxmlformats.org/officeDocument/2006/relationships/image" Target="../media/image149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11" Type="http://schemas.openxmlformats.org/officeDocument/2006/relationships/image" Target="../media/image148.png"/><Relationship Id="rId5" Type="http://schemas.openxmlformats.org/officeDocument/2006/relationships/image" Target="../media/image13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1D142-70D3-89D0-5C13-4CF2A36415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Marginal-Conditional Diagrams</a:t>
            </a:r>
          </a:p>
        </p:txBody>
      </p:sp>
    </p:spTree>
    <p:extLst>
      <p:ext uri="{BB962C8B-B14F-4D97-AF65-F5344CB8AC3E}">
        <p14:creationId xmlns:p14="http://schemas.microsoft.com/office/powerpoint/2010/main" val="2515932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1B9623-1CBE-032A-F274-26AF17BE3F73}"/>
              </a:ext>
            </a:extLst>
          </p:cNvPr>
          <p:cNvSpPr txBox="1"/>
          <p:nvPr/>
        </p:nvSpPr>
        <p:spPr>
          <a:xfrm>
            <a:off x="2543175" y="726370"/>
            <a:ext cx="70199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600"/>
              <a:t>Review: the Marginal-Conditional Method</a:t>
            </a:r>
            <a:br>
              <a:rPr lang="en-US" sz="3600"/>
            </a:br>
            <a:endParaRPr lang="en-US" sz="360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600"/>
              <a:t>Marginal-Conditional Diagrams: How to Draw One</a:t>
            </a:r>
            <a:br>
              <a:rPr lang="en-US" sz="3600"/>
            </a:br>
            <a:endParaRPr lang="en-US" sz="360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600"/>
              <a:t>Marginal-Conditional Diagrams: How to Compute with One</a:t>
            </a:r>
          </a:p>
        </p:txBody>
      </p:sp>
    </p:spTree>
    <p:extLst>
      <p:ext uri="{BB962C8B-B14F-4D97-AF65-F5344CB8AC3E}">
        <p14:creationId xmlns:p14="http://schemas.microsoft.com/office/powerpoint/2010/main" val="4238125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9E0BE-E489-61BC-BD11-29E7B432A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6FE615-4594-EFCC-7F13-2CF151CED087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8C9288-687B-153F-FB75-753F4BA25DFB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</p:spTree>
    <p:extLst>
      <p:ext uri="{BB962C8B-B14F-4D97-AF65-F5344CB8AC3E}">
        <p14:creationId xmlns:p14="http://schemas.microsoft.com/office/powerpoint/2010/main" val="2629723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19785-BB1F-354A-540C-7B5F31802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5858D-B239-C590-9859-71D429608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CF8FAD-4196-48CD-402A-9BE855A839F1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E7398C-0EF4-9BCA-3B10-1B88498E3FFC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3C77F0-3B23-A078-E451-A6B371808C20}"/>
              </a:ext>
            </a:extLst>
          </p:cNvPr>
          <p:cNvSpPr txBox="1"/>
          <p:nvPr/>
        </p:nvSpPr>
        <p:spPr>
          <a:xfrm>
            <a:off x="4343400" y="709377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model of these two uncertainties in which a military that would succeed when attempting a coup is more likely to perform well against an opposing force than a military that would fail when attempting a coup.</a:t>
            </a:r>
          </a:p>
        </p:txBody>
      </p:sp>
    </p:spTree>
    <p:extLst>
      <p:ext uri="{BB962C8B-B14F-4D97-AF65-F5344CB8AC3E}">
        <p14:creationId xmlns:p14="http://schemas.microsoft.com/office/powerpoint/2010/main" val="1412295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62DDC-C496-39DB-4DED-98C41E192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3F46E-91B7-8748-8DAD-0EB35EA33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68BB79-C5A5-0137-7390-5C3473C77281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907BC-B14A-705C-1555-55B1F520DBA6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C4CF83-EC92-AC1C-3A8E-41333084BF0C}"/>
              </a:ext>
            </a:extLst>
          </p:cNvPr>
          <p:cNvSpPr txBox="1"/>
          <p:nvPr/>
        </p:nvSpPr>
        <p:spPr>
          <a:xfrm>
            <a:off x="4343400" y="709377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model of these two uncertainties in which a military that would succeed when attempting a coup is more likely to perform well against an opposing force than a military that would fail when attempting a coup.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4C8685-DEFD-4510-2514-E1E44B49CB6E}"/>
              </a:ext>
            </a:extLst>
          </p:cNvPr>
          <p:cNvSpPr txBox="1"/>
          <p:nvPr/>
        </p:nvSpPr>
        <p:spPr>
          <a:xfrm>
            <a:off x="4343400" y="2047875"/>
            <a:ext cx="7038975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Brute Force Approach – JUST SAY NO!!!</a:t>
            </a:r>
          </a:p>
        </p:txBody>
      </p:sp>
    </p:spTree>
    <p:extLst>
      <p:ext uri="{BB962C8B-B14F-4D97-AF65-F5344CB8AC3E}">
        <p14:creationId xmlns:p14="http://schemas.microsoft.com/office/powerpoint/2010/main" val="2083927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96989-06FD-E063-0C5E-5EC9BF518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78BEC-D7D0-7049-4E0F-39B96BE69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9DE105-61EF-5F8D-B136-F67EF1060243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7535C9-1949-132F-AA62-85420A15024C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2CA419-B866-EDAB-0249-949D6A0D5BCC}"/>
              </a:ext>
            </a:extLst>
          </p:cNvPr>
          <p:cNvSpPr txBox="1"/>
          <p:nvPr/>
        </p:nvSpPr>
        <p:spPr>
          <a:xfrm>
            <a:off x="4343400" y="709377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model of these two uncertainties in which a military that would succeed when attempting a coup is more likely to perform well against an opposing force than a military that would fail when attempting a coup.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67C3AF-1AD9-B467-096D-83A6DD0D1324}"/>
              </a:ext>
            </a:extLst>
          </p:cNvPr>
          <p:cNvSpPr txBox="1"/>
          <p:nvPr/>
        </p:nvSpPr>
        <p:spPr>
          <a:xfrm>
            <a:off x="4343400" y="2047875"/>
            <a:ext cx="7038975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Brute Force Approach – JUST SAY NO!!!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5175DF-F375-7DE5-60F6-C8D6E6699F88}"/>
              </a:ext>
            </a:extLst>
          </p:cNvPr>
          <p:cNvSpPr txBox="1"/>
          <p:nvPr/>
        </p:nvSpPr>
        <p:spPr>
          <a:xfrm rot="19677942">
            <a:off x="3133725" y="2822569"/>
            <a:ext cx="2419350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Step 1: Model the joint probabilities with a grid</a:t>
            </a:r>
          </a:p>
        </p:txBody>
      </p:sp>
    </p:spTree>
    <p:extLst>
      <p:ext uri="{BB962C8B-B14F-4D97-AF65-F5344CB8AC3E}">
        <p14:creationId xmlns:p14="http://schemas.microsoft.com/office/powerpoint/2010/main" val="3930292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3BE82-3C34-0F63-C5E3-7F23C4CAB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BC47F-B0A0-CB9A-9737-8750919E2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53D735-99BC-ADF7-8821-9CF32A53E17A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0C812F-4A60-A26D-4E32-F150493279D6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EB3092-C6AB-FE1C-8D28-5C37A369FA06}"/>
              </a:ext>
            </a:extLst>
          </p:cNvPr>
          <p:cNvSpPr txBox="1"/>
          <p:nvPr/>
        </p:nvSpPr>
        <p:spPr>
          <a:xfrm>
            <a:off x="4343400" y="709377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model of these two uncertainties in which a military that would succeed when attempting a coup is more likely to perform well against an opposing force than a military that would fail when attempting a coup.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9ACC13-5033-A969-38F0-0926D42308F3}"/>
              </a:ext>
            </a:extLst>
          </p:cNvPr>
          <p:cNvSpPr txBox="1"/>
          <p:nvPr/>
        </p:nvSpPr>
        <p:spPr>
          <a:xfrm>
            <a:off x="4343400" y="2047875"/>
            <a:ext cx="7038975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Brute Force Approach – JUST SAY NO!!!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579C7F-AB97-1A93-4FC8-27DB35836D23}"/>
              </a:ext>
            </a:extLst>
          </p:cNvPr>
          <p:cNvSpPr txBox="1"/>
          <p:nvPr/>
        </p:nvSpPr>
        <p:spPr>
          <a:xfrm rot="19677942">
            <a:off x="3133725" y="2822569"/>
            <a:ext cx="2419350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Step 1: Model the joint probabilities with a grid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12C0C5-5D7D-E5D0-7575-864BCF399F48}"/>
              </a:ext>
            </a:extLst>
          </p:cNvPr>
          <p:cNvSpPr/>
          <p:nvPr/>
        </p:nvSpPr>
        <p:spPr>
          <a:xfrm>
            <a:off x="6096000" y="3524250"/>
            <a:ext cx="5848350" cy="31146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102E32-3A71-B85F-1E36-AE9938ADE059}"/>
              </a:ext>
            </a:extLst>
          </p:cNvPr>
          <p:cNvSpPr txBox="1"/>
          <p:nvPr/>
        </p:nvSpPr>
        <p:spPr>
          <a:xfrm>
            <a:off x="7053262" y="2555084"/>
            <a:ext cx="3933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how well against an opposing military?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1713A-180F-1979-5895-5F1C6CE79FB7}"/>
              </a:ext>
            </a:extLst>
          </p:cNvPr>
          <p:cNvSpPr txBox="1"/>
          <p:nvPr/>
        </p:nvSpPr>
        <p:spPr>
          <a:xfrm rot="16200000">
            <a:off x="3509815" y="4782769"/>
            <a:ext cx="2886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outcome of a coup attempt?</a:t>
            </a:r>
          </a:p>
        </p:txBody>
      </p:sp>
    </p:spTree>
    <p:extLst>
      <p:ext uri="{BB962C8B-B14F-4D97-AF65-F5344CB8AC3E}">
        <p14:creationId xmlns:p14="http://schemas.microsoft.com/office/powerpoint/2010/main" val="3989793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ADAE4-3612-9A13-B01E-5307AF277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2CC23-C273-F047-DC70-C36CA4EF8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D65BEF-6A29-9A8E-71B9-64C236CA5E17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2A6A52-8B11-48C1-52FC-71FF8DBB7699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7F3D37-144C-4710-30B6-E7B810A7C4C3}"/>
              </a:ext>
            </a:extLst>
          </p:cNvPr>
          <p:cNvSpPr txBox="1"/>
          <p:nvPr/>
        </p:nvSpPr>
        <p:spPr>
          <a:xfrm>
            <a:off x="4343400" y="709377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model of these two uncertainties in which a military that would succeed when attempting a coup is more likely to perform well against an opposing force than a military that would fail when attempting a coup.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F57F7B-21E7-CD42-952C-8982977A743A}"/>
              </a:ext>
            </a:extLst>
          </p:cNvPr>
          <p:cNvSpPr txBox="1"/>
          <p:nvPr/>
        </p:nvSpPr>
        <p:spPr>
          <a:xfrm>
            <a:off x="4343400" y="2047875"/>
            <a:ext cx="7038975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Brute Force Approach – JUST SAY NO!!!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E5D08D-6810-EE85-AC17-025F1E204CAF}"/>
              </a:ext>
            </a:extLst>
          </p:cNvPr>
          <p:cNvSpPr txBox="1"/>
          <p:nvPr/>
        </p:nvSpPr>
        <p:spPr>
          <a:xfrm rot="19677942">
            <a:off x="3133725" y="2822569"/>
            <a:ext cx="2419350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Step 1: Model the joint probabilities with a grid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6C1ADB-6757-ED8D-92E7-A97E94BDAB71}"/>
              </a:ext>
            </a:extLst>
          </p:cNvPr>
          <p:cNvSpPr/>
          <p:nvPr/>
        </p:nvSpPr>
        <p:spPr>
          <a:xfrm>
            <a:off x="6096000" y="3524250"/>
            <a:ext cx="5848350" cy="31146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E1DA2C-8693-902D-C3EA-D114533927A1}"/>
              </a:ext>
            </a:extLst>
          </p:cNvPr>
          <p:cNvSpPr txBox="1"/>
          <p:nvPr/>
        </p:nvSpPr>
        <p:spPr>
          <a:xfrm>
            <a:off x="7053262" y="2555084"/>
            <a:ext cx="3933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how well against an opposing military?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70EA6F-9D0C-5053-443C-50217AF4A17B}"/>
              </a:ext>
            </a:extLst>
          </p:cNvPr>
          <p:cNvSpPr txBox="1"/>
          <p:nvPr/>
        </p:nvSpPr>
        <p:spPr>
          <a:xfrm rot="16200000">
            <a:off x="3509815" y="4782769"/>
            <a:ext cx="2886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outcome of a coup attempt?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8FA9A4-E30E-E057-2E6D-C304B53AA176}"/>
              </a:ext>
            </a:extLst>
          </p:cNvPr>
          <p:cNvSpPr txBox="1"/>
          <p:nvPr/>
        </p:nvSpPr>
        <p:spPr>
          <a:xfrm>
            <a:off x="6205844" y="3145734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abysmal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8A715F-DFC4-0366-BB30-15DE9635F19C}"/>
              </a:ext>
            </a:extLst>
          </p:cNvPr>
          <p:cNvSpPr txBox="1"/>
          <p:nvPr/>
        </p:nvSpPr>
        <p:spPr>
          <a:xfrm>
            <a:off x="7715480" y="2868735"/>
            <a:ext cx="1257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barely acceptable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F38CD6-0D61-7883-8C7F-7AEF16A99BF1}"/>
              </a:ext>
            </a:extLst>
          </p:cNvPr>
          <p:cNvSpPr txBox="1"/>
          <p:nvPr/>
        </p:nvSpPr>
        <p:spPr>
          <a:xfrm>
            <a:off x="9225116" y="3062534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adequate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12D09C-F415-ADDC-DB39-5E43BC05F54F}"/>
              </a:ext>
            </a:extLst>
          </p:cNvPr>
          <p:cNvSpPr txBox="1"/>
          <p:nvPr/>
        </p:nvSpPr>
        <p:spPr>
          <a:xfrm>
            <a:off x="10687050" y="3062534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spectacular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EBDFA1B-D389-AB95-58C8-4CD4085F4A15}"/>
              </a:ext>
            </a:extLst>
          </p:cNvPr>
          <p:cNvCxnSpPr/>
          <p:nvPr/>
        </p:nvCxnSpPr>
        <p:spPr>
          <a:xfrm>
            <a:off x="7463144" y="3515066"/>
            <a:ext cx="14288" cy="31330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1819729-0C7F-0D63-47E5-E23B2E41674A}"/>
              </a:ext>
            </a:extLst>
          </p:cNvPr>
          <p:cNvCxnSpPr/>
          <p:nvPr/>
        </p:nvCxnSpPr>
        <p:spPr>
          <a:xfrm>
            <a:off x="9020174" y="3524249"/>
            <a:ext cx="14288" cy="31330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0B05105-9405-ABB4-3778-E0C8CF07DBD7}"/>
              </a:ext>
            </a:extLst>
          </p:cNvPr>
          <p:cNvCxnSpPr/>
          <p:nvPr/>
        </p:nvCxnSpPr>
        <p:spPr>
          <a:xfrm>
            <a:off x="10577204" y="3533432"/>
            <a:ext cx="14288" cy="31330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753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1E069-9559-AEE8-5DE6-B19F33E11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25998-7604-6E3A-0EDF-3135C4F48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5DC3EB-CCF2-C5B7-DE7B-0C3031CC4B2D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2C67EA-6F44-58BF-1828-F38F47BED99D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067F33-69B4-8650-94F8-B4D04D184A48}"/>
              </a:ext>
            </a:extLst>
          </p:cNvPr>
          <p:cNvSpPr txBox="1"/>
          <p:nvPr/>
        </p:nvSpPr>
        <p:spPr>
          <a:xfrm>
            <a:off x="4343400" y="709377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model of these two uncertainties in which a military that would succeed when attempting a coup is more likely to perform well against an opposing force than a military that would fail when attempting a coup.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D94552-A398-11E4-D228-9BE8F6C0B2E3}"/>
              </a:ext>
            </a:extLst>
          </p:cNvPr>
          <p:cNvSpPr txBox="1"/>
          <p:nvPr/>
        </p:nvSpPr>
        <p:spPr>
          <a:xfrm>
            <a:off x="4343400" y="2047875"/>
            <a:ext cx="7038975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Brute Force Approach – JUST SAY NO!!!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571348-6D9B-F46F-519A-1C89E234AF4F}"/>
              </a:ext>
            </a:extLst>
          </p:cNvPr>
          <p:cNvSpPr txBox="1"/>
          <p:nvPr/>
        </p:nvSpPr>
        <p:spPr>
          <a:xfrm rot="19677942">
            <a:off x="3133725" y="2822569"/>
            <a:ext cx="2419350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Step 1: Model the joint probabilities with a grid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3C0770-852A-7900-A752-D15DE6AEC283}"/>
              </a:ext>
            </a:extLst>
          </p:cNvPr>
          <p:cNvSpPr/>
          <p:nvPr/>
        </p:nvSpPr>
        <p:spPr>
          <a:xfrm>
            <a:off x="6096000" y="3524250"/>
            <a:ext cx="5848350" cy="31146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E97280-7E4C-1D29-55EF-95F5E0DF39D2}"/>
              </a:ext>
            </a:extLst>
          </p:cNvPr>
          <p:cNvSpPr txBox="1"/>
          <p:nvPr/>
        </p:nvSpPr>
        <p:spPr>
          <a:xfrm>
            <a:off x="7053262" y="2555084"/>
            <a:ext cx="3933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how well against an opposing military?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E85564-2B1D-2D07-9B82-9EFFB0AEE72B}"/>
              </a:ext>
            </a:extLst>
          </p:cNvPr>
          <p:cNvSpPr txBox="1"/>
          <p:nvPr/>
        </p:nvSpPr>
        <p:spPr>
          <a:xfrm rot="16200000">
            <a:off x="3509815" y="4782769"/>
            <a:ext cx="2886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outcome of a coup attempt?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F482D2-E140-2962-2541-7EC55A85A937}"/>
              </a:ext>
            </a:extLst>
          </p:cNvPr>
          <p:cNvSpPr txBox="1"/>
          <p:nvPr/>
        </p:nvSpPr>
        <p:spPr>
          <a:xfrm>
            <a:off x="6205844" y="3145734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abysmal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FB9503-4B1C-4E45-5961-20EC7919EB7C}"/>
              </a:ext>
            </a:extLst>
          </p:cNvPr>
          <p:cNvSpPr txBox="1"/>
          <p:nvPr/>
        </p:nvSpPr>
        <p:spPr>
          <a:xfrm>
            <a:off x="7715480" y="2868735"/>
            <a:ext cx="1257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barely acceptable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3AD32F-0187-1BBD-0194-F461BB3145EE}"/>
              </a:ext>
            </a:extLst>
          </p:cNvPr>
          <p:cNvSpPr txBox="1"/>
          <p:nvPr/>
        </p:nvSpPr>
        <p:spPr>
          <a:xfrm>
            <a:off x="9225116" y="3062534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adequate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F82AF4-5C42-3540-61C9-3E971AB706E6}"/>
              </a:ext>
            </a:extLst>
          </p:cNvPr>
          <p:cNvSpPr txBox="1"/>
          <p:nvPr/>
        </p:nvSpPr>
        <p:spPr>
          <a:xfrm>
            <a:off x="10687050" y="3062534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spectacular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1D9A27D-89BF-E187-F632-4B200EC589FB}"/>
              </a:ext>
            </a:extLst>
          </p:cNvPr>
          <p:cNvCxnSpPr/>
          <p:nvPr/>
        </p:nvCxnSpPr>
        <p:spPr>
          <a:xfrm>
            <a:off x="7463144" y="3515066"/>
            <a:ext cx="14288" cy="31330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8A89C2B-BBB6-DF52-7033-140853AC65F0}"/>
              </a:ext>
            </a:extLst>
          </p:cNvPr>
          <p:cNvCxnSpPr/>
          <p:nvPr/>
        </p:nvCxnSpPr>
        <p:spPr>
          <a:xfrm>
            <a:off x="9020174" y="3524249"/>
            <a:ext cx="14288" cy="31330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7947978-8280-599A-74C6-01C07C8BF7B3}"/>
              </a:ext>
            </a:extLst>
          </p:cNvPr>
          <p:cNvCxnSpPr/>
          <p:nvPr/>
        </p:nvCxnSpPr>
        <p:spPr>
          <a:xfrm>
            <a:off x="10577204" y="3533432"/>
            <a:ext cx="14288" cy="31330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3A42766-74E9-30AD-1A4C-50FEB22FEEF1}"/>
              </a:ext>
            </a:extLst>
          </p:cNvPr>
          <p:cNvCxnSpPr>
            <a:stCxn id="8" idx="1"/>
            <a:endCxn id="8" idx="3"/>
          </p:cNvCxnSpPr>
          <p:nvPr/>
        </p:nvCxnSpPr>
        <p:spPr>
          <a:xfrm>
            <a:off x="6096000" y="5081588"/>
            <a:ext cx="58483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F470C40-1028-CB73-C7AD-4C69E4ECCD18}"/>
              </a:ext>
            </a:extLst>
          </p:cNvPr>
          <p:cNvSpPr txBox="1"/>
          <p:nvPr/>
        </p:nvSpPr>
        <p:spPr>
          <a:xfrm rot="16200000">
            <a:off x="5107086" y="4168611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success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23B098-0B22-E13A-7FCB-53B7C7B2144F}"/>
              </a:ext>
            </a:extLst>
          </p:cNvPr>
          <p:cNvSpPr txBox="1"/>
          <p:nvPr/>
        </p:nvSpPr>
        <p:spPr>
          <a:xfrm rot="16200000">
            <a:off x="5170825" y="5686788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failure</a:t>
            </a:r>
          </a:p>
        </p:txBody>
      </p:sp>
    </p:spTree>
    <p:extLst>
      <p:ext uri="{BB962C8B-B14F-4D97-AF65-F5344CB8AC3E}">
        <p14:creationId xmlns:p14="http://schemas.microsoft.com/office/powerpoint/2010/main" val="3005097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9D077-EDAB-1A1D-D144-678591406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12D50-DF12-2BCB-7A2F-C9819C7C7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8A0002-92EC-40A8-67CB-DFB80EB4E413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C1DECC-4764-BD56-0F45-1676DAE86C7E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4BE536-2762-2756-644A-323A05B47193}"/>
              </a:ext>
            </a:extLst>
          </p:cNvPr>
          <p:cNvSpPr txBox="1"/>
          <p:nvPr/>
        </p:nvSpPr>
        <p:spPr>
          <a:xfrm>
            <a:off x="4343400" y="709377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model of these two uncertainties in which a military that would succeed when attempting a coup is more likely to perform well against an opposing force than a military that would fail when attempting a coup.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AE63B2-1159-3213-E5D4-B2122445D574}"/>
              </a:ext>
            </a:extLst>
          </p:cNvPr>
          <p:cNvSpPr txBox="1"/>
          <p:nvPr/>
        </p:nvSpPr>
        <p:spPr>
          <a:xfrm>
            <a:off x="4343400" y="2047875"/>
            <a:ext cx="7038975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Brute Force Approach – JUST SAY NO!!!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215BD-64B3-BBA2-D5F2-711502AD917A}"/>
              </a:ext>
            </a:extLst>
          </p:cNvPr>
          <p:cNvSpPr txBox="1"/>
          <p:nvPr/>
        </p:nvSpPr>
        <p:spPr>
          <a:xfrm rot="19677942">
            <a:off x="3133725" y="2822569"/>
            <a:ext cx="2419350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Step 2: Assign joint probabilities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F45DF3-D8E5-F258-11C1-B4B5DF1637F7}"/>
              </a:ext>
            </a:extLst>
          </p:cNvPr>
          <p:cNvSpPr/>
          <p:nvPr/>
        </p:nvSpPr>
        <p:spPr>
          <a:xfrm>
            <a:off x="6096000" y="3524250"/>
            <a:ext cx="5848350" cy="31146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164B43-BD2B-CF09-5412-C3C174B2219F}"/>
              </a:ext>
            </a:extLst>
          </p:cNvPr>
          <p:cNvSpPr txBox="1"/>
          <p:nvPr/>
        </p:nvSpPr>
        <p:spPr>
          <a:xfrm>
            <a:off x="7053262" y="2555084"/>
            <a:ext cx="3933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how well against an opposing military?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34BF3C-4A27-16EE-A5C2-3976497FB7EE}"/>
              </a:ext>
            </a:extLst>
          </p:cNvPr>
          <p:cNvSpPr txBox="1"/>
          <p:nvPr/>
        </p:nvSpPr>
        <p:spPr>
          <a:xfrm rot="16200000">
            <a:off x="3509815" y="4782769"/>
            <a:ext cx="2886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outcome of a coup attempt?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EA8543-DF5B-4383-BE48-8698AC18341E}"/>
              </a:ext>
            </a:extLst>
          </p:cNvPr>
          <p:cNvSpPr txBox="1"/>
          <p:nvPr/>
        </p:nvSpPr>
        <p:spPr>
          <a:xfrm>
            <a:off x="6205844" y="3145734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abysmal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55D716-3092-D82C-C28A-3127D3AA96F7}"/>
              </a:ext>
            </a:extLst>
          </p:cNvPr>
          <p:cNvSpPr txBox="1"/>
          <p:nvPr/>
        </p:nvSpPr>
        <p:spPr>
          <a:xfrm>
            <a:off x="7715480" y="2868735"/>
            <a:ext cx="1257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barely acceptable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D206C3-70F4-0D03-8232-B9BE5D1E74A7}"/>
              </a:ext>
            </a:extLst>
          </p:cNvPr>
          <p:cNvSpPr txBox="1"/>
          <p:nvPr/>
        </p:nvSpPr>
        <p:spPr>
          <a:xfrm>
            <a:off x="9225116" y="3062534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adequate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32AFE8-57CF-8933-355A-A02E7DDA9FEA}"/>
              </a:ext>
            </a:extLst>
          </p:cNvPr>
          <p:cNvSpPr txBox="1"/>
          <p:nvPr/>
        </p:nvSpPr>
        <p:spPr>
          <a:xfrm>
            <a:off x="10687050" y="3062534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spectacular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0183BC-C5F3-F42E-0F34-134D671611E7}"/>
              </a:ext>
            </a:extLst>
          </p:cNvPr>
          <p:cNvCxnSpPr/>
          <p:nvPr/>
        </p:nvCxnSpPr>
        <p:spPr>
          <a:xfrm>
            <a:off x="7463144" y="3515066"/>
            <a:ext cx="14288" cy="31330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336A204-6841-28F3-5C2E-2DD46F177564}"/>
              </a:ext>
            </a:extLst>
          </p:cNvPr>
          <p:cNvCxnSpPr/>
          <p:nvPr/>
        </p:nvCxnSpPr>
        <p:spPr>
          <a:xfrm>
            <a:off x="9020174" y="3524249"/>
            <a:ext cx="14288" cy="31330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B6E5C45-4298-00CC-AB0B-ECFF0CA90E2F}"/>
              </a:ext>
            </a:extLst>
          </p:cNvPr>
          <p:cNvCxnSpPr/>
          <p:nvPr/>
        </p:nvCxnSpPr>
        <p:spPr>
          <a:xfrm>
            <a:off x="10577204" y="3533432"/>
            <a:ext cx="14288" cy="31330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E91591F-32E5-1D16-12B6-7A8F8F52B683}"/>
              </a:ext>
            </a:extLst>
          </p:cNvPr>
          <p:cNvCxnSpPr>
            <a:stCxn id="8" idx="1"/>
            <a:endCxn id="8" idx="3"/>
          </p:cNvCxnSpPr>
          <p:nvPr/>
        </p:nvCxnSpPr>
        <p:spPr>
          <a:xfrm>
            <a:off x="6096000" y="5081588"/>
            <a:ext cx="58483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FF5C4BD-7DDB-2216-8A12-1F1D7EC28C54}"/>
              </a:ext>
            </a:extLst>
          </p:cNvPr>
          <p:cNvSpPr txBox="1"/>
          <p:nvPr/>
        </p:nvSpPr>
        <p:spPr>
          <a:xfrm rot="16200000">
            <a:off x="5107086" y="4168611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success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DB1E3E-864E-30C5-3AC1-4BE1BF397F07}"/>
              </a:ext>
            </a:extLst>
          </p:cNvPr>
          <p:cNvSpPr txBox="1"/>
          <p:nvPr/>
        </p:nvSpPr>
        <p:spPr>
          <a:xfrm rot="16200000">
            <a:off x="5170825" y="5686788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failure</a:t>
            </a:r>
          </a:p>
        </p:txBody>
      </p:sp>
    </p:spTree>
    <p:extLst>
      <p:ext uri="{BB962C8B-B14F-4D97-AF65-F5344CB8AC3E}">
        <p14:creationId xmlns:p14="http://schemas.microsoft.com/office/powerpoint/2010/main" val="2088823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6EE28-6BC3-6E89-438F-0EA4A6E0D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243F1-F5F3-ED66-9CB3-53BD259DC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4583DA-ED9A-802D-0B53-7682B27E441C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4D96D8-1D65-C501-C86D-76F41A68818F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FD2AA2-A5B9-6A84-49B0-7ED53754410C}"/>
              </a:ext>
            </a:extLst>
          </p:cNvPr>
          <p:cNvSpPr txBox="1"/>
          <p:nvPr/>
        </p:nvSpPr>
        <p:spPr>
          <a:xfrm>
            <a:off x="4343400" y="709377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model of these two uncertainties in which a military that would succeed when attempting a coup is more likely to perform well against an opposing force than a military that would fail when attempting a coup.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33A63C-9D4F-D7C7-5830-5A11B6DD0B4E}"/>
              </a:ext>
            </a:extLst>
          </p:cNvPr>
          <p:cNvSpPr txBox="1"/>
          <p:nvPr/>
        </p:nvSpPr>
        <p:spPr>
          <a:xfrm>
            <a:off x="4343400" y="2047875"/>
            <a:ext cx="7038975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Brute Force Approach – JUST SAY NO!!!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1E990B-ED13-CBAC-9FAC-F6184169D7A2}"/>
              </a:ext>
            </a:extLst>
          </p:cNvPr>
          <p:cNvSpPr txBox="1"/>
          <p:nvPr/>
        </p:nvSpPr>
        <p:spPr>
          <a:xfrm rot="19677942">
            <a:off x="3133725" y="2822569"/>
            <a:ext cx="2419350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Step 2: Assign joint probabilities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57B9F5-7F32-9D07-93DB-6B97298CC5B2}"/>
              </a:ext>
            </a:extLst>
          </p:cNvPr>
          <p:cNvSpPr/>
          <p:nvPr/>
        </p:nvSpPr>
        <p:spPr>
          <a:xfrm>
            <a:off x="6096000" y="3524250"/>
            <a:ext cx="5848350" cy="31146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A89541-9F8F-0B5D-1CC4-4FFF11A52B93}"/>
              </a:ext>
            </a:extLst>
          </p:cNvPr>
          <p:cNvSpPr txBox="1"/>
          <p:nvPr/>
        </p:nvSpPr>
        <p:spPr>
          <a:xfrm>
            <a:off x="7053262" y="2555084"/>
            <a:ext cx="3933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how well against an opposing military?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74AD49-8487-F04A-C553-895CDA4E7650}"/>
              </a:ext>
            </a:extLst>
          </p:cNvPr>
          <p:cNvSpPr txBox="1"/>
          <p:nvPr/>
        </p:nvSpPr>
        <p:spPr>
          <a:xfrm rot="16200000">
            <a:off x="3509815" y="4782769"/>
            <a:ext cx="2886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outcome of a coup attempt?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820450-F3DB-63DF-F884-EC4C6C1A09FB}"/>
              </a:ext>
            </a:extLst>
          </p:cNvPr>
          <p:cNvSpPr txBox="1"/>
          <p:nvPr/>
        </p:nvSpPr>
        <p:spPr>
          <a:xfrm>
            <a:off x="6205844" y="3145734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abysmal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371C16-4CB7-A4E5-B63D-46C6582B3252}"/>
              </a:ext>
            </a:extLst>
          </p:cNvPr>
          <p:cNvSpPr txBox="1"/>
          <p:nvPr/>
        </p:nvSpPr>
        <p:spPr>
          <a:xfrm>
            <a:off x="7715480" y="2868735"/>
            <a:ext cx="1257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barely acceptable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EB03C0-FC8B-5425-7137-B9F0B1C501D1}"/>
              </a:ext>
            </a:extLst>
          </p:cNvPr>
          <p:cNvSpPr txBox="1"/>
          <p:nvPr/>
        </p:nvSpPr>
        <p:spPr>
          <a:xfrm>
            <a:off x="9225116" y="3062534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adequate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C92B61-845F-3256-69EA-A2C45615FA2F}"/>
              </a:ext>
            </a:extLst>
          </p:cNvPr>
          <p:cNvSpPr txBox="1"/>
          <p:nvPr/>
        </p:nvSpPr>
        <p:spPr>
          <a:xfrm>
            <a:off x="10687050" y="3062534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spectacular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8645F09-9619-9529-F4B3-4CA62DB72D9F}"/>
              </a:ext>
            </a:extLst>
          </p:cNvPr>
          <p:cNvCxnSpPr/>
          <p:nvPr/>
        </p:nvCxnSpPr>
        <p:spPr>
          <a:xfrm>
            <a:off x="7463144" y="3515066"/>
            <a:ext cx="14288" cy="31330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ACA6C6B-2D24-B225-A67F-C1E73D845EFC}"/>
              </a:ext>
            </a:extLst>
          </p:cNvPr>
          <p:cNvCxnSpPr/>
          <p:nvPr/>
        </p:nvCxnSpPr>
        <p:spPr>
          <a:xfrm>
            <a:off x="9020174" y="3524249"/>
            <a:ext cx="14288" cy="31330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10252DE-F38C-D211-E9D7-C4B44E41C79A}"/>
              </a:ext>
            </a:extLst>
          </p:cNvPr>
          <p:cNvCxnSpPr/>
          <p:nvPr/>
        </p:nvCxnSpPr>
        <p:spPr>
          <a:xfrm>
            <a:off x="10577204" y="3533432"/>
            <a:ext cx="14288" cy="31330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FF4E549-6437-99BC-9909-0F59AA7C8416}"/>
              </a:ext>
            </a:extLst>
          </p:cNvPr>
          <p:cNvCxnSpPr>
            <a:stCxn id="8" idx="1"/>
            <a:endCxn id="8" idx="3"/>
          </p:cNvCxnSpPr>
          <p:nvPr/>
        </p:nvCxnSpPr>
        <p:spPr>
          <a:xfrm>
            <a:off x="6096000" y="5081588"/>
            <a:ext cx="58483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D8AE637-CADB-AC6E-10AC-2138B64653BF}"/>
              </a:ext>
            </a:extLst>
          </p:cNvPr>
          <p:cNvSpPr txBox="1"/>
          <p:nvPr/>
        </p:nvSpPr>
        <p:spPr>
          <a:xfrm rot="16200000">
            <a:off x="5107086" y="4168611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success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DEB5BE-D7AB-88EA-0444-2172A6FCE2C5}"/>
              </a:ext>
            </a:extLst>
          </p:cNvPr>
          <p:cNvSpPr txBox="1"/>
          <p:nvPr/>
        </p:nvSpPr>
        <p:spPr>
          <a:xfrm rot="16200000">
            <a:off x="5170825" y="5686788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failure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2F684C-2C39-F5E0-2FF4-3CCC14C1350B}"/>
                  </a:ext>
                </a:extLst>
              </p:cNvPr>
              <p:cNvSpPr txBox="1"/>
              <p:nvPr/>
            </p:nvSpPr>
            <p:spPr>
              <a:xfrm>
                <a:off x="6280122" y="5668597"/>
                <a:ext cx="923618" cy="416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2F684C-2C39-F5E0-2FF4-3CCC14C13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122" y="5668597"/>
                <a:ext cx="923618" cy="416204"/>
              </a:xfrm>
              <a:prstGeom prst="rect">
                <a:avLst/>
              </a:prstGeom>
              <a:blipFill>
                <a:blip r:embed="rId2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0A8F0DB-3F04-8ADE-5E62-48B0FAD58B67}"/>
                  </a:ext>
                </a:extLst>
              </p:cNvPr>
              <p:cNvSpPr txBox="1"/>
              <p:nvPr/>
            </p:nvSpPr>
            <p:spPr>
              <a:xfrm>
                <a:off x="7753348" y="5681423"/>
                <a:ext cx="923618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0A8F0DB-3F04-8ADE-5E62-48B0FAD58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3348" y="5681423"/>
                <a:ext cx="923618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1ED9A2A-3664-B040-69B7-FA2C182866FA}"/>
                  </a:ext>
                </a:extLst>
              </p:cNvPr>
              <p:cNvSpPr txBox="1"/>
              <p:nvPr/>
            </p:nvSpPr>
            <p:spPr>
              <a:xfrm>
                <a:off x="9344024" y="5681423"/>
                <a:ext cx="923618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1ED9A2A-3664-B040-69B7-FA2C18286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4024" y="5681423"/>
                <a:ext cx="923618" cy="417358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292CEAE-B0BE-09C8-BAE4-24A1F2A0AC27}"/>
                  </a:ext>
                </a:extLst>
              </p:cNvPr>
              <p:cNvSpPr txBox="1"/>
              <p:nvPr/>
            </p:nvSpPr>
            <p:spPr>
              <a:xfrm>
                <a:off x="10806112" y="5669174"/>
                <a:ext cx="923618" cy="4167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292CEAE-B0BE-09C8-BAE4-24A1F2A0AC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6112" y="5669174"/>
                <a:ext cx="923618" cy="416781"/>
              </a:xfrm>
              <a:prstGeom prst="rect">
                <a:avLst/>
              </a:prstGeom>
              <a:blipFill>
                <a:blip r:embed="rId5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C855836-3752-F842-C29A-751527CD2BB5}"/>
                  </a:ext>
                </a:extLst>
              </p:cNvPr>
              <p:cNvSpPr txBox="1"/>
              <p:nvPr/>
            </p:nvSpPr>
            <p:spPr>
              <a:xfrm>
                <a:off x="10808602" y="4108046"/>
                <a:ext cx="923618" cy="416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C855836-3752-F842-C29A-751527CD2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8602" y="4108046"/>
                <a:ext cx="923618" cy="416204"/>
              </a:xfrm>
              <a:prstGeom prst="rect">
                <a:avLst/>
              </a:prstGeom>
              <a:blipFill>
                <a:blip r:embed="rId2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0A97A94-367C-220C-585B-91892DA1A0E3}"/>
                  </a:ext>
                </a:extLst>
              </p:cNvPr>
              <p:cNvSpPr txBox="1"/>
              <p:nvPr/>
            </p:nvSpPr>
            <p:spPr>
              <a:xfrm>
                <a:off x="9327202" y="4121551"/>
                <a:ext cx="923618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0A97A94-367C-220C-585B-91892DA1A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7202" y="4121551"/>
                <a:ext cx="923618" cy="417358"/>
              </a:xfrm>
              <a:prstGeom prst="rect">
                <a:avLst/>
              </a:prstGeom>
              <a:blipFill>
                <a:blip r:embed="rId6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A8EA84F-B5CE-306C-A7EA-17D0AA1DE514}"/>
                  </a:ext>
                </a:extLst>
              </p:cNvPr>
              <p:cNvSpPr txBox="1"/>
              <p:nvPr/>
            </p:nvSpPr>
            <p:spPr>
              <a:xfrm>
                <a:off x="7803816" y="4107469"/>
                <a:ext cx="923618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A8EA84F-B5CE-306C-A7EA-17D0AA1DE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3816" y="4107469"/>
                <a:ext cx="923618" cy="417358"/>
              </a:xfrm>
              <a:prstGeom prst="rect">
                <a:avLst/>
              </a:prstGeom>
              <a:blipFill>
                <a:blip r:embed="rId7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F8DA4B6-44DB-F0ED-95C7-B1E4AC4E74FE}"/>
                  </a:ext>
                </a:extLst>
              </p:cNvPr>
              <p:cNvSpPr txBox="1"/>
              <p:nvPr/>
            </p:nvSpPr>
            <p:spPr>
              <a:xfrm>
                <a:off x="6309834" y="4107469"/>
                <a:ext cx="923618" cy="4167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F8DA4B6-44DB-F0ED-95C7-B1E4AC4E74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834" y="4107469"/>
                <a:ext cx="923618" cy="416781"/>
              </a:xfrm>
              <a:prstGeom prst="rect">
                <a:avLst/>
              </a:prstGeom>
              <a:blipFill>
                <a:blip r:embed="rId8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0705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1044A-CF3F-4489-0705-CA7765482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DAE92-22CD-CBC3-4238-F86EAA056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09C0B9-DCBB-D62B-D305-5FEA29EBFA2D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E55BF7-9D05-063B-6AEB-64D74DF84784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404B9A-55F1-B45B-7A71-FB8E8E73332D}"/>
              </a:ext>
            </a:extLst>
          </p:cNvPr>
          <p:cNvSpPr txBox="1"/>
          <p:nvPr/>
        </p:nvSpPr>
        <p:spPr>
          <a:xfrm>
            <a:off x="4343400" y="709377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model of these two uncertainties in which a military that would succeed when attempting a coup is more likely to perform well against an opposing force than a military that would fail when attempting a coup.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FBCE46-9648-A71F-2004-C4E740B51DA8}"/>
              </a:ext>
            </a:extLst>
          </p:cNvPr>
          <p:cNvSpPr txBox="1"/>
          <p:nvPr/>
        </p:nvSpPr>
        <p:spPr>
          <a:xfrm>
            <a:off x="4343400" y="1687454"/>
            <a:ext cx="7038975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Marginal-Conditional Method– JUST SAY YES!!!</a:t>
            </a:r>
          </a:p>
        </p:txBody>
      </p:sp>
    </p:spTree>
    <p:extLst>
      <p:ext uri="{BB962C8B-B14F-4D97-AF65-F5344CB8AC3E}">
        <p14:creationId xmlns:p14="http://schemas.microsoft.com/office/powerpoint/2010/main" val="3807339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6DFE9-E901-4C08-34DF-D3802225E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891A4-6B18-A818-542B-EF97721B8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81222F-A39C-49A0-E78A-09E63F694663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AC3108-FD29-89C4-294E-8630979D1314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A5C241-B0FC-02E4-91C4-31AE7FB9CFE3}"/>
              </a:ext>
            </a:extLst>
          </p:cNvPr>
          <p:cNvSpPr txBox="1"/>
          <p:nvPr/>
        </p:nvSpPr>
        <p:spPr>
          <a:xfrm>
            <a:off x="4343400" y="709377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model of these two uncertainties in which a military that would succeed when attempting a coup is more likely to perform well against an opposing force than a military that would fail when attempting a coup.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C0C35D-006D-C7A3-B475-EB3BC9621ABF}"/>
              </a:ext>
            </a:extLst>
          </p:cNvPr>
          <p:cNvSpPr txBox="1"/>
          <p:nvPr/>
        </p:nvSpPr>
        <p:spPr>
          <a:xfrm>
            <a:off x="4343400" y="1687454"/>
            <a:ext cx="7038975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Marginal-Conditional Method– JUST SAY YES!!!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AF49CD-0D83-106E-EAED-71442D00A2F6}"/>
              </a:ext>
            </a:extLst>
          </p:cNvPr>
          <p:cNvSpPr txBox="1"/>
          <p:nvPr/>
        </p:nvSpPr>
        <p:spPr>
          <a:xfrm rot="19677942">
            <a:off x="-270553" y="2622051"/>
            <a:ext cx="5134418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Step 1: Assign marginal probabilities of success/failure in attempted coup</a:t>
            </a:r>
          </a:p>
        </p:txBody>
      </p:sp>
    </p:spTree>
    <p:extLst>
      <p:ext uri="{BB962C8B-B14F-4D97-AF65-F5344CB8AC3E}">
        <p14:creationId xmlns:p14="http://schemas.microsoft.com/office/powerpoint/2010/main" val="3365042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CC38B-F1CC-A9C2-02E1-831E7CB25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F7A5D-AB94-FC24-9E66-E06C73F53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999240-F131-0D30-7981-381DE1D75988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F6D476-A4D9-C6E9-E730-D1B3A2D284EE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B35142-6F7D-C2D8-41CA-4B3E69A06BD7}"/>
              </a:ext>
            </a:extLst>
          </p:cNvPr>
          <p:cNvSpPr txBox="1"/>
          <p:nvPr/>
        </p:nvSpPr>
        <p:spPr>
          <a:xfrm>
            <a:off x="4343400" y="709377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model of these two uncertainties in which a military that would succeed when attempting a coup is more likely to perform well against an opposing force than a military that would fail when attempting a coup.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7B525-BC0A-EABA-3EAE-E30046DC8E86}"/>
              </a:ext>
            </a:extLst>
          </p:cNvPr>
          <p:cNvSpPr txBox="1"/>
          <p:nvPr/>
        </p:nvSpPr>
        <p:spPr>
          <a:xfrm>
            <a:off x="4343400" y="1687454"/>
            <a:ext cx="7038975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Marginal-Conditional Method– JUST SAY YES!!!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57027E-63A1-23A4-F83E-8D3CB6B5D419}"/>
              </a:ext>
            </a:extLst>
          </p:cNvPr>
          <p:cNvSpPr txBox="1"/>
          <p:nvPr/>
        </p:nvSpPr>
        <p:spPr>
          <a:xfrm rot="19677942">
            <a:off x="-270553" y="2622051"/>
            <a:ext cx="5134418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Step 1: Assign marginal probabilities of success/failure in attempted coup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F52112-DABE-6386-D534-BE0A7DA23CD1}"/>
              </a:ext>
            </a:extLst>
          </p:cNvPr>
          <p:cNvCxnSpPr>
            <a:cxnSpLocks/>
          </p:cNvCxnSpPr>
          <p:nvPr/>
        </p:nvCxnSpPr>
        <p:spPr>
          <a:xfrm flipV="1">
            <a:off x="4533144" y="3354838"/>
            <a:ext cx="2200275" cy="1130452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76C932C-F7C3-CE17-2891-7045AED5049F}"/>
              </a:ext>
            </a:extLst>
          </p:cNvPr>
          <p:cNvSpPr txBox="1"/>
          <p:nvPr/>
        </p:nvSpPr>
        <p:spPr>
          <a:xfrm rot="19913270">
            <a:off x="4600155" y="3899264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928F40-6AC6-C16E-C133-67395378DABC}"/>
              </a:ext>
            </a:extLst>
          </p:cNvPr>
          <p:cNvCxnSpPr>
            <a:cxnSpLocks/>
          </p:cNvCxnSpPr>
          <p:nvPr/>
        </p:nvCxnSpPr>
        <p:spPr>
          <a:xfrm>
            <a:off x="4522231" y="4582175"/>
            <a:ext cx="2019300" cy="149147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1224ED5-8E41-FF55-79A6-26A30CBC1316}"/>
              </a:ext>
            </a:extLst>
          </p:cNvPr>
          <p:cNvSpPr txBox="1"/>
          <p:nvPr/>
        </p:nvSpPr>
        <p:spPr>
          <a:xfrm rot="2210112">
            <a:off x="4580614" y="5519727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974253B-67B4-78BE-4E1F-01A2030F5194}"/>
                  </a:ext>
                </a:extLst>
              </p:cNvPr>
              <p:cNvSpPr txBox="1"/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974253B-67B4-78BE-4E1F-01A2030F5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8BBAA47-EF54-9E15-6BB6-BB4A935D9EE4}"/>
                  </a:ext>
                </a:extLst>
              </p:cNvPr>
              <p:cNvSpPr txBox="1"/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8BBAA47-EF54-9E15-6BB6-BB4A935D9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013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97921-D356-B555-055D-953C11D21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4F1A2-0831-20AD-41CD-D8B72876C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A5B34E-477C-8295-E72E-F556421B017F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903E5B-7048-FD19-FEBE-B068C14AC660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935733-AB5C-2DBC-8168-E3C76E85CFC4}"/>
              </a:ext>
            </a:extLst>
          </p:cNvPr>
          <p:cNvSpPr txBox="1"/>
          <p:nvPr/>
        </p:nvSpPr>
        <p:spPr>
          <a:xfrm>
            <a:off x="4343400" y="709377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model of these two uncertainties in which a military that would succeed when attempting a coup is more likely to perform well against an opposing force than a military that would fail when attempting a coup.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D4E7D3-0949-6AC0-8ED7-446E46CBA509}"/>
              </a:ext>
            </a:extLst>
          </p:cNvPr>
          <p:cNvSpPr txBox="1"/>
          <p:nvPr/>
        </p:nvSpPr>
        <p:spPr>
          <a:xfrm>
            <a:off x="4343400" y="1687454"/>
            <a:ext cx="7038975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Marginal-Conditional Method– JUST SAY YES!!!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0816FD-7E9F-41A0-1B95-2F438D4A493D}"/>
              </a:ext>
            </a:extLst>
          </p:cNvPr>
          <p:cNvSpPr txBox="1"/>
          <p:nvPr/>
        </p:nvSpPr>
        <p:spPr>
          <a:xfrm rot="19677942">
            <a:off x="-270553" y="2483552"/>
            <a:ext cx="5134418" cy="92333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Step 2:  Model uncertainty about success against opposing miiltaries, conditional on knowledge of outcome of a coup attempt.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A831640-F375-C996-4423-3A4F074CA727}"/>
              </a:ext>
            </a:extLst>
          </p:cNvPr>
          <p:cNvCxnSpPr>
            <a:cxnSpLocks/>
          </p:cNvCxnSpPr>
          <p:nvPr/>
        </p:nvCxnSpPr>
        <p:spPr>
          <a:xfrm flipV="1">
            <a:off x="4533144" y="3354838"/>
            <a:ext cx="2200275" cy="1130452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D2738FB-C48B-D2CD-FBE4-06800E569606}"/>
              </a:ext>
            </a:extLst>
          </p:cNvPr>
          <p:cNvSpPr txBox="1"/>
          <p:nvPr/>
        </p:nvSpPr>
        <p:spPr>
          <a:xfrm rot="19913270">
            <a:off x="4600155" y="3899264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51F0F4-39AD-9720-30FA-D3A452839BC8}"/>
              </a:ext>
            </a:extLst>
          </p:cNvPr>
          <p:cNvCxnSpPr>
            <a:cxnSpLocks/>
          </p:cNvCxnSpPr>
          <p:nvPr/>
        </p:nvCxnSpPr>
        <p:spPr>
          <a:xfrm>
            <a:off x="4522231" y="4582175"/>
            <a:ext cx="2019300" cy="149147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5B0EEBB-47B0-693F-81A2-73180D5207CB}"/>
              </a:ext>
            </a:extLst>
          </p:cNvPr>
          <p:cNvSpPr txBox="1"/>
          <p:nvPr/>
        </p:nvSpPr>
        <p:spPr>
          <a:xfrm rot="2210112">
            <a:off x="4580614" y="5519727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14DD190-0240-8028-FC77-53D3D1151EAA}"/>
                  </a:ext>
                </a:extLst>
              </p:cNvPr>
              <p:cNvSpPr txBox="1"/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14DD190-0240-8028-FC77-53D3D1151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DEEBED7-1AFD-085D-5296-CEDFF1D04148}"/>
                  </a:ext>
                </a:extLst>
              </p:cNvPr>
              <p:cNvSpPr txBox="1"/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DEEBED7-1AFD-085D-5296-CEDFF1D04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8689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3A952-3014-98D3-982D-F9F15DE9B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E5B46-CC39-84E8-B725-6B19493ED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E3CD09-D9D0-02B4-2E49-4F95C9F066CC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192BC2-1415-ACF5-2BC3-4D9BDD224173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953180-7A47-B9D1-7A81-EE6215879675}"/>
              </a:ext>
            </a:extLst>
          </p:cNvPr>
          <p:cNvSpPr txBox="1"/>
          <p:nvPr/>
        </p:nvSpPr>
        <p:spPr>
          <a:xfrm>
            <a:off x="4343400" y="709377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model of these two uncertainties in which a military that would succeed when attempting a coup is more likely to perform well against an opposing force than a military that would fail when attempting a coup.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EC59D8-2538-8B68-4BB2-10734BA3ED03}"/>
              </a:ext>
            </a:extLst>
          </p:cNvPr>
          <p:cNvSpPr txBox="1"/>
          <p:nvPr/>
        </p:nvSpPr>
        <p:spPr>
          <a:xfrm>
            <a:off x="4343400" y="1687454"/>
            <a:ext cx="7038975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Marginal-Conditional Method– JUST SAY YES!!!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5ED7A6-45B2-36D0-98D5-64452FB14453}"/>
              </a:ext>
            </a:extLst>
          </p:cNvPr>
          <p:cNvSpPr txBox="1"/>
          <p:nvPr/>
        </p:nvSpPr>
        <p:spPr>
          <a:xfrm rot="19677942">
            <a:off x="-270553" y="2483552"/>
            <a:ext cx="5134418" cy="92333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Step 2:  Model uncertainty about success against opposing miiltaries, conditional on knowledge of outcome of a coup attempt.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F327FE-4EFF-DF80-4342-36F11D1A94A3}"/>
              </a:ext>
            </a:extLst>
          </p:cNvPr>
          <p:cNvCxnSpPr>
            <a:cxnSpLocks/>
          </p:cNvCxnSpPr>
          <p:nvPr/>
        </p:nvCxnSpPr>
        <p:spPr>
          <a:xfrm flipV="1">
            <a:off x="4533144" y="3354838"/>
            <a:ext cx="2200275" cy="1130452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5D0DFC0-4A00-91FF-2C2D-8E59D962F9E9}"/>
              </a:ext>
            </a:extLst>
          </p:cNvPr>
          <p:cNvSpPr txBox="1"/>
          <p:nvPr/>
        </p:nvSpPr>
        <p:spPr>
          <a:xfrm rot="19913270">
            <a:off x="4600155" y="3899264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F2D8C2-AA71-B9D4-06AA-46084788CFAD}"/>
              </a:ext>
            </a:extLst>
          </p:cNvPr>
          <p:cNvCxnSpPr>
            <a:cxnSpLocks/>
          </p:cNvCxnSpPr>
          <p:nvPr/>
        </p:nvCxnSpPr>
        <p:spPr>
          <a:xfrm>
            <a:off x="4522231" y="4582175"/>
            <a:ext cx="2019300" cy="149147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EFB9831-7E9A-E1F3-2507-8861E9B152EF}"/>
              </a:ext>
            </a:extLst>
          </p:cNvPr>
          <p:cNvSpPr txBox="1"/>
          <p:nvPr/>
        </p:nvSpPr>
        <p:spPr>
          <a:xfrm rot="2210112">
            <a:off x="4580614" y="5519727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9B606CB-8440-8556-F7E6-E5F7DF927A27}"/>
                  </a:ext>
                </a:extLst>
              </p:cNvPr>
              <p:cNvSpPr txBox="1"/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9B606CB-8440-8556-F7E6-E5F7DF927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36AAE02-F533-73AC-CA73-05C5C00D51B7}"/>
                  </a:ext>
                </a:extLst>
              </p:cNvPr>
              <p:cNvSpPr txBox="1"/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36AAE02-F533-73AC-CA73-05C5C00D5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AF37036-C31C-4F16-C6C6-6E49E4E45058}"/>
              </a:ext>
            </a:extLst>
          </p:cNvPr>
          <p:cNvSpPr txBox="1"/>
          <p:nvPr/>
        </p:nvSpPr>
        <p:spPr>
          <a:xfrm>
            <a:off x="7448550" y="2186704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0AAD5D-8D27-5CE2-0564-7A87AD186ADA}"/>
              </a:ext>
            </a:extLst>
          </p:cNvPr>
          <p:cNvSpPr txBox="1"/>
          <p:nvPr/>
        </p:nvSpPr>
        <p:spPr>
          <a:xfrm>
            <a:off x="7592983" y="2490201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016BDF-220A-F986-7821-E100607F4E93}"/>
              </a:ext>
            </a:extLst>
          </p:cNvPr>
          <p:cNvSpPr txBox="1"/>
          <p:nvPr/>
        </p:nvSpPr>
        <p:spPr>
          <a:xfrm>
            <a:off x="8475566" y="2362783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5B03C0-ACD4-241E-4818-9D8B4D68CDCC}"/>
              </a:ext>
            </a:extLst>
          </p:cNvPr>
          <p:cNvSpPr txBox="1"/>
          <p:nvPr/>
        </p:nvSpPr>
        <p:spPr>
          <a:xfrm>
            <a:off x="9685619" y="2455117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D68093-F272-CAE0-DC06-DF17A5C532E5}"/>
              </a:ext>
            </a:extLst>
          </p:cNvPr>
          <p:cNvSpPr txBox="1"/>
          <p:nvPr/>
        </p:nvSpPr>
        <p:spPr>
          <a:xfrm>
            <a:off x="10705837" y="2463703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7CECD6-D527-BEE8-0A4B-29FFE48C0C12}"/>
              </a:ext>
            </a:extLst>
          </p:cNvPr>
          <p:cNvSpPr/>
          <p:nvPr/>
        </p:nvSpPr>
        <p:spPr>
          <a:xfrm>
            <a:off x="7477432" y="2945216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038D282-5C10-D6BB-451A-C8CC0388731B}"/>
              </a:ext>
            </a:extLst>
          </p:cNvPr>
          <p:cNvCxnSpPr>
            <a:cxnSpLocks/>
          </p:cNvCxnSpPr>
          <p:nvPr/>
        </p:nvCxnSpPr>
        <p:spPr>
          <a:xfrm>
            <a:off x="84226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F79EE17-BB51-E256-E7AF-7DB8FFE74AD1}"/>
              </a:ext>
            </a:extLst>
          </p:cNvPr>
          <p:cNvCxnSpPr>
            <a:cxnSpLocks/>
          </p:cNvCxnSpPr>
          <p:nvPr/>
        </p:nvCxnSpPr>
        <p:spPr>
          <a:xfrm>
            <a:off x="950849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B584075-3FFA-789D-136D-395A42F566E7}"/>
              </a:ext>
            </a:extLst>
          </p:cNvPr>
          <p:cNvCxnSpPr>
            <a:cxnSpLocks/>
          </p:cNvCxnSpPr>
          <p:nvPr/>
        </p:nvCxnSpPr>
        <p:spPr>
          <a:xfrm>
            <a:off x="105943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A0CDEF5-D1B9-62AE-1E0F-566346A634C9}"/>
              </a:ext>
            </a:extLst>
          </p:cNvPr>
          <p:cNvSpPr txBox="1"/>
          <p:nvPr/>
        </p:nvSpPr>
        <p:spPr>
          <a:xfrm rot="16200000">
            <a:off x="6190005" y="3283345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11EF8D-A26E-1E17-9EA1-AD0702537834}"/>
              </a:ext>
            </a:extLst>
          </p:cNvPr>
          <p:cNvSpPr txBox="1"/>
          <p:nvPr/>
        </p:nvSpPr>
        <p:spPr>
          <a:xfrm rot="16200000">
            <a:off x="7038283" y="3585534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7D9E0B-3FA2-B6D6-9715-7190C2F8A529}"/>
              </a:ext>
            </a:extLst>
          </p:cNvPr>
          <p:cNvSpPr txBox="1"/>
          <p:nvPr/>
        </p:nvSpPr>
        <p:spPr>
          <a:xfrm rot="16200000">
            <a:off x="6910639" y="3032087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7791A1-7928-1033-713D-5F4B964C56A8}"/>
              </a:ext>
            </a:extLst>
          </p:cNvPr>
          <p:cNvSpPr/>
          <p:nvPr/>
        </p:nvSpPr>
        <p:spPr>
          <a:xfrm>
            <a:off x="7477432" y="3477211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C03155-BCF9-3828-D144-699A452BFFBC}"/>
              </a:ext>
            </a:extLst>
          </p:cNvPr>
          <p:cNvSpPr txBox="1"/>
          <p:nvPr/>
        </p:nvSpPr>
        <p:spPr>
          <a:xfrm>
            <a:off x="7430826" y="4862143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E11890-2DDB-167D-6297-1016CDFA6DBB}"/>
              </a:ext>
            </a:extLst>
          </p:cNvPr>
          <p:cNvSpPr txBox="1"/>
          <p:nvPr/>
        </p:nvSpPr>
        <p:spPr>
          <a:xfrm>
            <a:off x="7575259" y="5165640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DACC6F-908D-945A-4BF2-64FA4EE9EC2F}"/>
              </a:ext>
            </a:extLst>
          </p:cNvPr>
          <p:cNvSpPr txBox="1"/>
          <p:nvPr/>
        </p:nvSpPr>
        <p:spPr>
          <a:xfrm>
            <a:off x="8457842" y="5038222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1B9DC0-7B6D-6AFA-18E2-9430849C53AF}"/>
              </a:ext>
            </a:extLst>
          </p:cNvPr>
          <p:cNvSpPr txBox="1"/>
          <p:nvPr/>
        </p:nvSpPr>
        <p:spPr>
          <a:xfrm>
            <a:off x="9667895" y="5130556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4D7E76-61F2-CB33-5641-9C96BC26E508}"/>
              </a:ext>
            </a:extLst>
          </p:cNvPr>
          <p:cNvSpPr txBox="1"/>
          <p:nvPr/>
        </p:nvSpPr>
        <p:spPr>
          <a:xfrm>
            <a:off x="10688113" y="5139142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D17885-EEAE-439F-C536-E426B898F272}"/>
              </a:ext>
            </a:extLst>
          </p:cNvPr>
          <p:cNvSpPr/>
          <p:nvPr/>
        </p:nvSpPr>
        <p:spPr>
          <a:xfrm>
            <a:off x="7459708" y="5620655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79E1A62-1A53-0D84-4FEA-7FF3D297A6AA}"/>
              </a:ext>
            </a:extLst>
          </p:cNvPr>
          <p:cNvCxnSpPr>
            <a:cxnSpLocks/>
          </p:cNvCxnSpPr>
          <p:nvPr/>
        </p:nvCxnSpPr>
        <p:spPr>
          <a:xfrm>
            <a:off x="84049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14AB106-4784-244C-1844-0904C718DE49}"/>
              </a:ext>
            </a:extLst>
          </p:cNvPr>
          <p:cNvCxnSpPr>
            <a:cxnSpLocks/>
          </p:cNvCxnSpPr>
          <p:nvPr/>
        </p:nvCxnSpPr>
        <p:spPr>
          <a:xfrm>
            <a:off x="949076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C2ED69F-5FB0-2C7A-0F87-29A42338FC9C}"/>
              </a:ext>
            </a:extLst>
          </p:cNvPr>
          <p:cNvCxnSpPr>
            <a:cxnSpLocks/>
          </p:cNvCxnSpPr>
          <p:nvPr/>
        </p:nvCxnSpPr>
        <p:spPr>
          <a:xfrm>
            <a:off x="105766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0276D3B-18DC-BC79-CF50-75C51A23A4AF}"/>
              </a:ext>
            </a:extLst>
          </p:cNvPr>
          <p:cNvSpPr txBox="1"/>
          <p:nvPr/>
        </p:nvSpPr>
        <p:spPr>
          <a:xfrm rot="16200000">
            <a:off x="6172281" y="595878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8F04C3-3969-3998-2E84-F1A9FD20EE9F}"/>
              </a:ext>
            </a:extLst>
          </p:cNvPr>
          <p:cNvSpPr txBox="1"/>
          <p:nvPr/>
        </p:nvSpPr>
        <p:spPr>
          <a:xfrm rot="16200000">
            <a:off x="7020559" y="6260973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E595C4-78A5-B573-2F04-4A8440BEC104}"/>
              </a:ext>
            </a:extLst>
          </p:cNvPr>
          <p:cNvSpPr txBox="1"/>
          <p:nvPr/>
        </p:nvSpPr>
        <p:spPr>
          <a:xfrm rot="16200000">
            <a:off x="6892915" y="5707526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86E5922-FCB5-B335-1FDB-0473411C035F}"/>
              </a:ext>
            </a:extLst>
          </p:cNvPr>
          <p:cNvSpPr/>
          <p:nvPr/>
        </p:nvSpPr>
        <p:spPr>
          <a:xfrm>
            <a:off x="7459708" y="5612069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12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A88A0-3FF5-4034-B09B-C554A7B6E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96C8-BD15-3C4D-4B9D-40A1645FF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5B43D3-B2F8-E9AF-35DD-EE4B2B794B03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E067F9-06E4-D243-187A-CA425AF35609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BD79F5-DCDE-6135-A173-252863A500EB}"/>
              </a:ext>
            </a:extLst>
          </p:cNvPr>
          <p:cNvSpPr txBox="1"/>
          <p:nvPr/>
        </p:nvSpPr>
        <p:spPr>
          <a:xfrm>
            <a:off x="4343400" y="709377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model of these two uncertainties in which a military that would succeed when attempting a coup is more likely to perform well against an opposing force than a military that would fail when attempting a coup.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4311C1-FA7B-4DCC-B697-A754471B1011}"/>
              </a:ext>
            </a:extLst>
          </p:cNvPr>
          <p:cNvSpPr txBox="1"/>
          <p:nvPr/>
        </p:nvSpPr>
        <p:spPr>
          <a:xfrm>
            <a:off x="4343400" y="1687454"/>
            <a:ext cx="7038975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Marginal-Conditional Method– JUST SAY YES!!!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C81858-2440-9142-35FD-27BC634F2AE0}"/>
              </a:ext>
            </a:extLst>
          </p:cNvPr>
          <p:cNvSpPr txBox="1"/>
          <p:nvPr/>
        </p:nvSpPr>
        <p:spPr>
          <a:xfrm rot="19677942">
            <a:off x="-270553" y="2483552"/>
            <a:ext cx="5134418" cy="92333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Step 2:  Model uncertainty about success against opposing miiltaries, conditional on knowledge of outcome of a coup attempt.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3805ADC-0EF4-F425-E633-9123B2517360}"/>
              </a:ext>
            </a:extLst>
          </p:cNvPr>
          <p:cNvCxnSpPr>
            <a:cxnSpLocks/>
          </p:cNvCxnSpPr>
          <p:nvPr/>
        </p:nvCxnSpPr>
        <p:spPr>
          <a:xfrm flipV="1">
            <a:off x="4533144" y="3354838"/>
            <a:ext cx="2200275" cy="1130452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308B08C-49BC-FAF8-D4A9-E38E2A8C22E2}"/>
              </a:ext>
            </a:extLst>
          </p:cNvPr>
          <p:cNvSpPr txBox="1"/>
          <p:nvPr/>
        </p:nvSpPr>
        <p:spPr>
          <a:xfrm rot="19913270">
            <a:off x="4600155" y="3899264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3159F0B-5830-137C-9AEE-349B51890BEC}"/>
              </a:ext>
            </a:extLst>
          </p:cNvPr>
          <p:cNvCxnSpPr>
            <a:cxnSpLocks/>
          </p:cNvCxnSpPr>
          <p:nvPr/>
        </p:nvCxnSpPr>
        <p:spPr>
          <a:xfrm>
            <a:off x="4522231" y="4582175"/>
            <a:ext cx="2019300" cy="149147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7DFCCC8-895C-52ED-D076-8DFE1EBB2DA0}"/>
              </a:ext>
            </a:extLst>
          </p:cNvPr>
          <p:cNvSpPr txBox="1"/>
          <p:nvPr/>
        </p:nvSpPr>
        <p:spPr>
          <a:xfrm rot="2210112">
            <a:off x="4580614" y="5519727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B957197-7BA4-40E4-BCA2-DA99B7BACDFA}"/>
                  </a:ext>
                </a:extLst>
              </p:cNvPr>
              <p:cNvSpPr txBox="1"/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B957197-7BA4-40E4-BCA2-DA99B7BACD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55228FD-8EBE-034A-713B-623C04D1E54A}"/>
                  </a:ext>
                </a:extLst>
              </p:cNvPr>
              <p:cNvSpPr txBox="1"/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55228FD-8EBE-034A-713B-623C04D1E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5D24ED0-BD79-192D-7A5E-801B7EBB8C0B}"/>
              </a:ext>
            </a:extLst>
          </p:cNvPr>
          <p:cNvSpPr txBox="1"/>
          <p:nvPr/>
        </p:nvSpPr>
        <p:spPr>
          <a:xfrm>
            <a:off x="7448550" y="2186704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E79CF6-425F-C72A-EE03-EA72F85C0DFF}"/>
              </a:ext>
            </a:extLst>
          </p:cNvPr>
          <p:cNvSpPr txBox="1"/>
          <p:nvPr/>
        </p:nvSpPr>
        <p:spPr>
          <a:xfrm>
            <a:off x="7592983" y="2490201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456B1D-C3A6-0F3D-D357-5FD5599B7C9A}"/>
              </a:ext>
            </a:extLst>
          </p:cNvPr>
          <p:cNvSpPr txBox="1"/>
          <p:nvPr/>
        </p:nvSpPr>
        <p:spPr>
          <a:xfrm>
            <a:off x="8475566" y="2362783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2760D0-7A54-4F88-25CA-3E938A84E140}"/>
              </a:ext>
            </a:extLst>
          </p:cNvPr>
          <p:cNvSpPr txBox="1"/>
          <p:nvPr/>
        </p:nvSpPr>
        <p:spPr>
          <a:xfrm>
            <a:off x="9685619" y="2455117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8E8362-48BA-D94C-0A9A-25EA7275AEC8}"/>
              </a:ext>
            </a:extLst>
          </p:cNvPr>
          <p:cNvSpPr txBox="1"/>
          <p:nvPr/>
        </p:nvSpPr>
        <p:spPr>
          <a:xfrm>
            <a:off x="10705837" y="2463703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81039A-5290-0F13-4B33-423B362D742A}"/>
              </a:ext>
            </a:extLst>
          </p:cNvPr>
          <p:cNvSpPr/>
          <p:nvPr/>
        </p:nvSpPr>
        <p:spPr>
          <a:xfrm>
            <a:off x="7477432" y="2945216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7E1FA74-1D49-BCB6-D112-C0DF8DE58F4F}"/>
              </a:ext>
            </a:extLst>
          </p:cNvPr>
          <p:cNvCxnSpPr>
            <a:cxnSpLocks/>
          </p:cNvCxnSpPr>
          <p:nvPr/>
        </p:nvCxnSpPr>
        <p:spPr>
          <a:xfrm>
            <a:off x="84226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F57D691-A41D-A4ED-91C5-611FB69AF02D}"/>
              </a:ext>
            </a:extLst>
          </p:cNvPr>
          <p:cNvCxnSpPr>
            <a:cxnSpLocks/>
          </p:cNvCxnSpPr>
          <p:nvPr/>
        </p:nvCxnSpPr>
        <p:spPr>
          <a:xfrm>
            <a:off x="950849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CEAEA78-8B10-86D5-0F3F-A4245A5EA39E}"/>
              </a:ext>
            </a:extLst>
          </p:cNvPr>
          <p:cNvCxnSpPr>
            <a:cxnSpLocks/>
          </p:cNvCxnSpPr>
          <p:nvPr/>
        </p:nvCxnSpPr>
        <p:spPr>
          <a:xfrm>
            <a:off x="105943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2163775-D46C-96FE-5309-BF97600914B4}"/>
              </a:ext>
            </a:extLst>
          </p:cNvPr>
          <p:cNvSpPr txBox="1"/>
          <p:nvPr/>
        </p:nvSpPr>
        <p:spPr>
          <a:xfrm rot="16200000">
            <a:off x="6190005" y="3283345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4038CF-D039-EA83-8F31-518B8BAB7FAA}"/>
              </a:ext>
            </a:extLst>
          </p:cNvPr>
          <p:cNvSpPr txBox="1"/>
          <p:nvPr/>
        </p:nvSpPr>
        <p:spPr>
          <a:xfrm rot="16200000">
            <a:off x="7038283" y="3585534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C3D92C-0AF1-A775-2DC1-D3A7BF958182}"/>
              </a:ext>
            </a:extLst>
          </p:cNvPr>
          <p:cNvSpPr txBox="1"/>
          <p:nvPr/>
        </p:nvSpPr>
        <p:spPr>
          <a:xfrm rot="16200000">
            <a:off x="6910639" y="3032087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FB20CB-CEFE-82DD-2949-F0C0A8223C38}"/>
              </a:ext>
            </a:extLst>
          </p:cNvPr>
          <p:cNvSpPr/>
          <p:nvPr/>
        </p:nvSpPr>
        <p:spPr>
          <a:xfrm>
            <a:off x="7477432" y="3477211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9980B2-F02C-BEA1-A1C6-76FFBEF0C17C}"/>
              </a:ext>
            </a:extLst>
          </p:cNvPr>
          <p:cNvSpPr txBox="1"/>
          <p:nvPr/>
        </p:nvSpPr>
        <p:spPr>
          <a:xfrm>
            <a:off x="7430826" y="4862143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75DC6D-1352-D83E-F640-A07533C3A7B3}"/>
              </a:ext>
            </a:extLst>
          </p:cNvPr>
          <p:cNvSpPr txBox="1"/>
          <p:nvPr/>
        </p:nvSpPr>
        <p:spPr>
          <a:xfrm>
            <a:off x="7575259" y="5165640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B59766-A965-A833-7445-3CCEAE5DF52B}"/>
              </a:ext>
            </a:extLst>
          </p:cNvPr>
          <p:cNvSpPr txBox="1"/>
          <p:nvPr/>
        </p:nvSpPr>
        <p:spPr>
          <a:xfrm>
            <a:off x="8457842" y="5038222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0DED4B-120F-2F52-9C3C-3697764E8314}"/>
              </a:ext>
            </a:extLst>
          </p:cNvPr>
          <p:cNvSpPr txBox="1"/>
          <p:nvPr/>
        </p:nvSpPr>
        <p:spPr>
          <a:xfrm>
            <a:off x="9667895" y="5130556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F6EED3-1FDF-DCDA-4BF9-9F25FE1357F0}"/>
              </a:ext>
            </a:extLst>
          </p:cNvPr>
          <p:cNvSpPr txBox="1"/>
          <p:nvPr/>
        </p:nvSpPr>
        <p:spPr>
          <a:xfrm>
            <a:off x="10688113" y="5139142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66ECF9-FC6C-6D1E-873D-69B5A4522FCB}"/>
              </a:ext>
            </a:extLst>
          </p:cNvPr>
          <p:cNvSpPr/>
          <p:nvPr/>
        </p:nvSpPr>
        <p:spPr>
          <a:xfrm>
            <a:off x="7459708" y="5620655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01D7678-F064-9D2B-A4FC-8165FBEA06BC}"/>
              </a:ext>
            </a:extLst>
          </p:cNvPr>
          <p:cNvCxnSpPr>
            <a:cxnSpLocks/>
          </p:cNvCxnSpPr>
          <p:nvPr/>
        </p:nvCxnSpPr>
        <p:spPr>
          <a:xfrm>
            <a:off x="84049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C367C61-0FFC-C17E-1F28-42B703CFCB38}"/>
              </a:ext>
            </a:extLst>
          </p:cNvPr>
          <p:cNvCxnSpPr>
            <a:cxnSpLocks/>
          </p:cNvCxnSpPr>
          <p:nvPr/>
        </p:nvCxnSpPr>
        <p:spPr>
          <a:xfrm>
            <a:off x="949076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A55B13D-4A8A-7349-112F-7E0BF97C1704}"/>
              </a:ext>
            </a:extLst>
          </p:cNvPr>
          <p:cNvCxnSpPr>
            <a:cxnSpLocks/>
          </p:cNvCxnSpPr>
          <p:nvPr/>
        </p:nvCxnSpPr>
        <p:spPr>
          <a:xfrm>
            <a:off x="105766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748ED43-A372-2072-B27B-74D4170E1A70}"/>
              </a:ext>
            </a:extLst>
          </p:cNvPr>
          <p:cNvSpPr txBox="1"/>
          <p:nvPr/>
        </p:nvSpPr>
        <p:spPr>
          <a:xfrm rot="16200000">
            <a:off x="6172281" y="595878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7BE07C-AF0A-3D63-3BA8-B1A06BDCA44B}"/>
              </a:ext>
            </a:extLst>
          </p:cNvPr>
          <p:cNvSpPr txBox="1"/>
          <p:nvPr/>
        </p:nvSpPr>
        <p:spPr>
          <a:xfrm rot="16200000">
            <a:off x="7020559" y="6260973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817D02-9B17-BF84-1028-FF1B2F72F6C2}"/>
              </a:ext>
            </a:extLst>
          </p:cNvPr>
          <p:cNvSpPr txBox="1"/>
          <p:nvPr/>
        </p:nvSpPr>
        <p:spPr>
          <a:xfrm rot="16200000">
            <a:off x="6892915" y="5707526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FD46B93-92B8-B2D3-8DED-9B160322C482}"/>
              </a:ext>
            </a:extLst>
          </p:cNvPr>
          <p:cNvSpPr/>
          <p:nvPr/>
        </p:nvSpPr>
        <p:spPr>
          <a:xfrm>
            <a:off x="7459708" y="5612069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A8AD1D8-587A-A7D0-A8CD-18351BDA0878}"/>
              </a:ext>
            </a:extLst>
          </p:cNvPr>
          <p:cNvCxnSpPr/>
          <p:nvPr/>
        </p:nvCxnSpPr>
        <p:spPr>
          <a:xfrm>
            <a:off x="8810625" y="1047750"/>
            <a:ext cx="2362200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CE935AC-65F9-B8B2-E94B-44285AB773EC}"/>
              </a:ext>
            </a:extLst>
          </p:cNvPr>
          <p:cNvCxnSpPr>
            <a:cxnSpLocks/>
          </p:cNvCxnSpPr>
          <p:nvPr/>
        </p:nvCxnSpPr>
        <p:spPr>
          <a:xfrm>
            <a:off x="4389866" y="1309542"/>
            <a:ext cx="69747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806D92F-1F80-1EDD-2F5E-223A9A1DFE38}"/>
              </a:ext>
            </a:extLst>
          </p:cNvPr>
          <p:cNvCxnSpPr>
            <a:cxnSpLocks/>
          </p:cNvCxnSpPr>
          <p:nvPr/>
        </p:nvCxnSpPr>
        <p:spPr>
          <a:xfrm>
            <a:off x="4512365" y="1632707"/>
            <a:ext cx="46125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765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233BA-27F4-D5C6-A327-063C16B5D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6E1B7-B2CD-C649-B579-DF4C70A4E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E8278A-9E6B-DAC2-EF54-A3F08C74AA68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5559A5-6AD3-C9A9-0AAD-C307747D3026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2A0702-CC88-F6AD-8D89-874724CF53CD}"/>
              </a:ext>
            </a:extLst>
          </p:cNvPr>
          <p:cNvSpPr txBox="1"/>
          <p:nvPr/>
        </p:nvSpPr>
        <p:spPr>
          <a:xfrm>
            <a:off x="4343400" y="709377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model of these two uncertainties in which a military that would succeed when attempting a coup is more likely to perform well against an opposing force than a military that would fail when attempting a coup.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514006-FCAE-D7B4-454E-18497165F7AE}"/>
              </a:ext>
            </a:extLst>
          </p:cNvPr>
          <p:cNvSpPr txBox="1"/>
          <p:nvPr/>
        </p:nvSpPr>
        <p:spPr>
          <a:xfrm>
            <a:off x="4343400" y="1687454"/>
            <a:ext cx="7038975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Marginal-Conditional Method– JUST SAY YES!!!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669007-5426-8454-AE8B-0C92EBD53FDD}"/>
              </a:ext>
            </a:extLst>
          </p:cNvPr>
          <p:cNvSpPr txBox="1"/>
          <p:nvPr/>
        </p:nvSpPr>
        <p:spPr>
          <a:xfrm rot="19677942">
            <a:off x="-270553" y="2483552"/>
            <a:ext cx="5134418" cy="92333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Step 2:  Model uncertainty about success against opposing miiltaries, conditional on knowledge of outcome of a coup attempt.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762A013-B797-D7E2-F1DB-B47B115E253A}"/>
              </a:ext>
            </a:extLst>
          </p:cNvPr>
          <p:cNvCxnSpPr>
            <a:cxnSpLocks/>
          </p:cNvCxnSpPr>
          <p:nvPr/>
        </p:nvCxnSpPr>
        <p:spPr>
          <a:xfrm flipV="1">
            <a:off x="4533144" y="3354838"/>
            <a:ext cx="2200275" cy="1130452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56DD040-6D97-83AC-5DCD-C5EFF0A9D9EC}"/>
              </a:ext>
            </a:extLst>
          </p:cNvPr>
          <p:cNvSpPr txBox="1"/>
          <p:nvPr/>
        </p:nvSpPr>
        <p:spPr>
          <a:xfrm rot="19913270">
            <a:off x="4600155" y="3899264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11C4BE-4114-BD73-BDDD-655E5FBDC748}"/>
              </a:ext>
            </a:extLst>
          </p:cNvPr>
          <p:cNvCxnSpPr>
            <a:cxnSpLocks/>
          </p:cNvCxnSpPr>
          <p:nvPr/>
        </p:nvCxnSpPr>
        <p:spPr>
          <a:xfrm>
            <a:off x="4522231" y="4582175"/>
            <a:ext cx="2019300" cy="149147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FCE948F-7B80-A646-92B5-F52D92F0BC13}"/>
              </a:ext>
            </a:extLst>
          </p:cNvPr>
          <p:cNvSpPr txBox="1"/>
          <p:nvPr/>
        </p:nvSpPr>
        <p:spPr>
          <a:xfrm rot="2210112">
            <a:off x="4580614" y="5519727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970D1FC-0507-1BE4-7844-BF5503F41295}"/>
                  </a:ext>
                </a:extLst>
              </p:cNvPr>
              <p:cNvSpPr txBox="1"/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970D1FC-0507-1BE4-7844-BF5503F41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108D9F2-C92F-2974-363F-3CC6AB62DA4E}"/>
                  </a:ext>
                </a:extLst>
              </p:cNvPr>
              <p:cNvSpPr txBox="1"/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108D9F2-C92F-2974-363F-3CC6AB62D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1E0175B-3407-9A66-7D6A-F480E1329A5B}"/>
              </a:ext>
            </a:extLst>
          </p:cNvPr>
          <p:cNvSpPr txBox="1"/>
          <p:nvPr/>
        </p:nvSpPr>
        <p:spPr>
          <a:xfrm>
            <a:off x="7448550" y="2186704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05B58A-F595-9704-5E31-A4CFDA7A3E6D}"/>
              </a:ext>
            </a:extLst>
          </p:cNvPr>
          <p:cNvSpPr txBox="1"/>
          <p:nvPr/>
        </p:nvSpPr>
        <p:spPr>
          <a:xfrm>
            <a:off x="7592983" y="2490201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2707BE-0297-273D-48B8-2EA35313323C}"/>
              </a:ext>
            </a:extLst>
          </p:cNvPr>
          <p:cNvSpPr txBox="1"/>
          <p:nvPr/>
        </p:nvSpPr>
        <p:spPr>
          <a:xfrm>
            <a:off x="8475566" y="2362783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BDDDF4-4E1D-1573-476B-6DB735816D2D}"/>
              </a:ext>
            </a:extLst>
          </p:cNvPr>
          <p:cNvSpPr txBox="1"/>
          <p:nvPr/>
        </p:nvSpPr>
        <p:spPr>
          <a:xfrm>
            <a:off x="9685619" y="2455117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F8D438-B51C-1ADB-A5B3-DEC1E22B3B2E}"/>
              </a:ext>
            </a:extLst>
          </p:cNvPr>
          <p:cNvSpPr txBox="1"/>
          <p:nvPr/>
        </p:nvSpPr>
        <p:spPr>
          <a:xfrm>
            <a:off x="10705837" y="2463703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69E22B-7626-ABB8-C7BB-BF19BCD5FFBF}"/>
              </a:ext>
            </a:extLst>
          </p:cNvPr>
          <p:cNvSpPr/>
          <p:nvPr/>
        </p:nvSpPr>
        <p:spPr>
          <a:xfrm>
            <a:off x="7477432" y="2945216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C2A95D2-86AC-B95A-84C7-9033ADDF69BE}"/>
              </a:ext>
            </a:extLst>
          </p:cNvPr>
          <p:cNvCxnSpPr>
            <a:cxnSpLocks/>
          </p:cNvCxnSpPr>
          <p:nvPr/>
        </p:nvCxnSpPr>
        <p:spPr>
          <a:xfrm>
            <a:off x="84226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D0D34E7-0C10-47FE-85CE-50D1F3345BAA}"/>
              </a:ext>
            </a:extLst>
          </p:cNvPr>
          <p:cNvCxnSpPr>
            <a:cxnSpLocks/>
          </p:cNvCxnSpPr>
          <p:nvPr/>
        </p:nvCxnSpPr>
        <p:spPr>
          <a:xfrm>
            <a:off x="950849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92AA883-C4BA-28D2-1A95-68C4F679D02F}"/>
              </a:ext>
            </a:extLst>
          </p:cNvPr>
          <p:cNvCxnSpPr>
            <a:cxnSpLocks/>
          </p:cNvCxnSpPr>
          <p:nvPr/>
        </p:nvCxnSpPr>
        <p:spPr>
          <a:xfrm>
            <a:off x="105943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9848BBC-A6FA-F0CD-008E-E46F6C25009F}"/>
              </a:ext>
            </a:extLst>
          </p:cNvPr>
          <p:cNvSpPr txBox="1"/>
          <p:nvPr/>
        </p:nvSpPr>
        <p:spPr>
          <a:xfrm rot="16200000">
            <a:off x="6190005" y="3283345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2A56DB-C93C-653D-3305-9B1DBC4344F3}"/>
              </a:ext>
            </a:extLst>
          </p:cNvPr>
          <p:cNvSpPr txBox="1"/>
          <p:nvPr/>
        </p:nvSpPr>
        <p:spPr>
          <a:xfrm rot="16200000">
            <a:off x="7038283" y="3585534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47BBCC-FAA9-482A-1EAD-12144BBF9B31}"/>
              </a:ext>
            </a:extLst>
          </p:cNvPr>
          <p:cNvSpPr txBox="1"/>
          <p:nvPr/>
        </p:nvSpPr>
        <p:spPr>
          <a:xfrm rot="16200000">
            <a:off x="6910639" y="3032087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08DAEC-68DC-996E-C97B-B2F2C097CD8C}"/>
              </a:ext>
            </a:extLst>
          </p:cNvPr>
          <p:cNvSpPr/>
          <p:nvPr/>
        </p:nvSpPr>
        <p:spPr>
          <a:xfrm>
            <a:off x="7477432" y="3477211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AEC902-30AF-F379-CC55-8BBAE1EB361B}"/>
              </a:ext>
            </a:extLst>
          </p:cNvPr>
          <p:cNvSpPr txBox="1"/>
          <p:nvPr/>
        </p:nvSpPr>
        <p:spPr>
          <a:xfrm>
            <a:off x="7430826" y="4862143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48BD66-325B-8C8B-A143-BD18616BA68B}"/>
              </a:ext>
            </a:extLst>
          </p:cNvPr>
          <p:cNvSpPr txBox="1"/>
          <p:nvPr/>
        </p:nvSpPr>
        <p:spPr>
          <a:xfrm>
            <a:off x="7575259" y="5165640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46AF13-66C4-00C5-FFE7-39C794B7697F}"/>
              </a:ext>
            </a:extLst>
          </p:cNvPr>
          <p:cNvSpPr txBox="1"/>
          <p:nvPr/>
        </p:nvSpPr>
        <p:spPr>
          <a:xfrm>
            <a:off x="8457842" y="5038222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DB3040-CD5E-2519-D0D1-936FEBC767D4}"/>
              </a:ext>
            </a:extLst>
          </p:cNvPr>
          <p:cNvSpPr txBox="1"/>
          <p:nvPr/>
        </p:nvSpPr>
        <p:spPr>
          <a:xfrm>
            <a:off x="9667895" y="5130556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E7D7CF-0886-F60A-328B-0DA84B712648}"/>
              </a:ext>
            </a:extLst>
          </p:cNvPr>
          <p:cNvSpPr txBox="1"/>
          <p:nvPr/>
        </p:nvSpPr>
        <p:spPr>
          <a:xfrm>
            <a:off x="10688113" y="5139142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71ED297-7E3E-79BA-DEC9-F72F80BE5352}"/>
              </a:ext>
            </a:extLst>
          </p:cNvPr>
          <p:cNvSpPr/>
          <p:nvPr/>
        </p:nvSpPr>
        <p:spPr>
          <a:xfrm>
            <a:off x="7459708" y="5620655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5AA002D-A08D-F526-292F-328A62393461}"/>
              </a:ext>
            </a:extLst>
          </p:cNvPr>
          <p:cNvCxnSpPr>
            <a:cxnSpLocks/>
          </p:cNvCxnSpPr>
          <p:nvPr/>
        </p:nvCxnSpPr>
        <p:spPr>
          <a:xfrm>
            <a:off x="84049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5E58D74-2096-CB6E-F871-9868B4F8DB78}"/>
              </a:ext>
            </a:extLst>
          </p:cNvPr>
          <p:cNvCxnSpPr>
            <a:cxnSpLocks/>
          </p:cNvCxnSpPr>
          <p:nvPr/>
        </p:nvCxnSpPr>
        <p:spPr>
          <a:xfrm>
            <a:off x="949076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DCF255B-6F11-8832-D7A0-AEADADD7A917}"/>
              </a:ext>
            </a:extLst>
          </p:cNvPr>
          <p:cNvCxnSpPr>
            <a:cxnSpLocks/>
          </p:cNvCxnSpPr>
          <p:nvPr/>
        </p:nvCxnSpPr>
        <p:spPr>
          <a:xfrm>
            <a:off x="105766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869A592-C384-23D7-D500-8083873F360E}"/>
              </a:ext>
            </a:extLst>
          </p:cNvPr>
          <p:cNvSpPr txBox="1"/>
          <p:nvPr/>
        </p:nvSpPr>
        <p:spPr>
          <a:xfrm rot="16200000">
            <a:off x="6172281" y="595878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FF074C-358C-B42E-2224-DF69A0DC4C8C}"/>
              </a:ext>
            </a:extLst>
          </p:cNvPr>
          <p:cNvSpPr txBox="1"/>
          <p:nvPr/>
        </p:nvSpPr>
        <p:spPr>
          <a:xfrm rot="16200000">
            <a:off x="7020559" y="6260973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40D127-4223-4AD9-B31A-2EFAFBEEEBBC}"/>
              </a:ext>
            </a:extLst>
          </p:cNvPr>
          <p:cNvSpPr txBox="1"/>
          <p:nvPr/>
        </p:nvSpPr>
        <p:spPr>
          <a:xfrm rot="16200000">
            <a:off x="6892915" y="5707526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F9AB12A-0E6F-F237-3C47-C91DAEEEB42D}"/>
              </a:ext>
            </a:extLst>
          </p:cNvPr>
          <p:cNvSpPr/>
          <p:nvPr/>
        </p:nvSpPr>
        <p:spPr>
          <a:xfrm>
            <a:off x="7459708" y="5612069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2FF5CC3-762B-DC7B-1D2A-14FBE2F8F0DD}"/>
              </a:ext>
            </a:extLst>
          </p:cNvPr>
          <p:cNvCxnSpPr/>
          <p:nvPr/>
        </p:nvCxnSpPr>
        <p:spPr>
          <a:xfrm>
            <a:off x="8810625" y="1047750"/>
            <a:ext cx="2362200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DF190D8-3A34-C1C5-049B-251FF03CA5E0}"/>
              </a:ext>
            </a:extLst>
          </p:cNvPr>
          <p:cNvCxnSpPr>
            <a:cxnSpLocks/>
          </p:cNvCxnSpPr>
          <p:nvPr/>
        </p:nvCxnSpPr>
        <p:spPr>
          <a:xfrm>
            <a:off x="4389866" y="1309542"/>
            <a:ext cx="69747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DEFC929-3DE5-7180-23E9-A6E493052A3E}"/>
              </a:ext>
            </a:extLst>
          </p:cNvPr>
          <p:cNvCxnSpPr>
            <a:cxnSpLocks/>
          </p:cNvCxnSpPr>
          <p:nvPr/>
        </p:nvCxnSpPr>
        <p:spPr>
          <a:xfrm>
            <a:off x="4512365" y="1632707"/>
            <a:ext cx="46125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8487278B-1FE0-3170-FE3C-E2685AE8AED6}"/>
              </a:ext>
            </a:extLst>
          </p:cNvPr>
          <p:cNvSpPr/>
          <p:nvPr/>
        </p:nvSpPr>
        <p:spPr>
          <a:xfrm>
            <a:off x="0" y="0"/>
            <a:ext cx="12192000" cy="6835141"/>
          </a:xfrm>
          <a:prstGeom prst="rect">
            <a:avLst/>
          </a:prstGeom>
          <a:solidFill>
            <a:srgbClr val="5E5E5E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B264EF4-9D5C-D741-4ED1-8E0ED0D73913}"/>
              </a:ext>
            </a:extLst>
          </p:cNvPr>
          <p:cNvSpPr/>
          <p:nvPr/>
        </p:nvSpPr>
        <p:spPr>
          <a:xfrm>
            <a:off x="1524000" y="709377"/>
            <a:ext cx="9059337" cy="49026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191EBB-87EE-8F90-6689-78FBBEEC0400}"/>
              </a:ext>
            </a:extLst>
          </p:cNvPr>
          <p:cNvSpPr txBox="1"/>
          <p:nvPr/>
        </p:nvSpPr>
        <p:spPr>
          <a:xfrm>
            <a:off x="4028017" y="976556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FE81D08-A064-4DCA-C146-92241A61230D}"/>
              </a:ext>
            </a:extLst>
          </p:cNvPr>
          <p:cNvSpPr txBox="1"/>
          <p:nvPr/>
        </p:nvSpPr>
        <p:spPr>
          <a:xfrm>
            <a:off x="4172450" y="1280053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C22DBA-5C32-00A4-8451-07493776A167}"/>
              </a:ext>
            </a:extLst>
          </p:cNvPr>
          <p:cNvSpPr txBox="1"/>
          <p:nvPr/>
        </p:nvSpPr>
        <p:spPr>
          <a:xfrm>
            <a:off x="5055033" y="1152635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FB3F2B9-7184-29A4-8AF3-143DEAA0CCD5}"/>
              </a:ext>
            </a:extLst>
          </p:cNvPr>
          <p:cNvSpPr txBox="1"/>
          <p:nvPr/>
        </p:nvSpPr>
        <p:spPr>
          <a:xfrm>
            <a:off x="6265086" y="1244969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B72477-5652-27E9-C529-E3EAD5D896B2}"/>
              </a:ext>
            </a:extLst>
          </p:cNvPr>
          <p:cNvSpPr txBox="1"/>
          <p:nvPr/>
        </p:nvSpPr>
        <p:spPr>
          <a:xfrm>
            <a:off x="7285304" y="1253555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9B93FAC-CE00-2917-2AC6-FB2F5524C41E}"/>
              </a:ext>
            </a:extLst>
          </p:cNvPr>
          <p:cNvSpPr/>
          <p:nvPr/>
        </p:nvSpPr>
        <p:spPr>
          <a:xfrm>
            <a:off x="4056899" y="1735068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9DD0E01-B64C-5736-0790-B1ED65EEE16D}"/>
              </a:ext>
            </a:extLst>
          </p:cNvPr>
          <p:cNvCxnSpPr>
            <a:cxnSpLocks/>
          </p:cNvCxnSpPr>
          <p:nvPr/>
        </p:nvCxnSpPr>
        <p:spPr>
          <a:xfrm>
            <a:off x="500210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CA0B6FF-94F8-EEC7-2411-7288A59CF7E0}"/>
              </a:ext>
            </a:extLst>
          </p:cNvPr>
          <p:cNvCxnSpPr>
            <a:cxnSpLocks/>
          </p:cNvCxnSpPr>
          <p:nvPr/>
        </p:nvCxnSpPr>
        <p:spPr>
          <a:xfrm>
            <a:off x="608795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9AE6366-BE23-A7B8-CEAE-EB0EFF497A1B}"/>
              </a:ext>
            </a:extLst>
          </p:cNvPr>
          <p:cNvCxnSpPr>
            <a:cxnSpLocks/>
          </p:cNvCxnSpPr>
          <p:nvPr/>
        </p:nvCxnSpPr>
        <p:spPr>
          <a:xfrm>
            <a:off x="717380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AB549D37-21A9-A5BF-997C-B94E70DDB802}"/>
              </a:ext>
            </a:extLst>
          </p:cNvPr>
          <p:cNvSpPr txBox="1"/>
          <p:nvPr/>
        </p:nvSpPr>
        <p:spPr>
          <a:xfrm rot="16200000">
            <a:off x="2769472" y="2073197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4F8450A-1387-C8A1-A729-DD022896C512}"/>
              </a:ext>
            </a:extLst>
          </p:cNvPr>
          <p:cNvSpPr txBox="1"/>
          <p:nvPr/>
        </p:nvSpPr>
        <p:spPr>
          <a:xfrm rot="16200000">
            <a:off x="3617750" y="2375386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92D4BCC-5979-32A9-13B6-5572FC6E4ABC}"/>
              </a:ext>
            </a:extLst>
          </p:cNvPr>
          <p:cNvSpPr txBox="1"/>
          <p:nvPr/>
        </p:nvSpPr>
        <p:spPr>
          <a:xfrm rot="16200000">
            <a:off x="3490106" y="1821939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EE3216D-5AF7-F800-294C-313F1C29608D}"/>
              </a:ext>
            </a:extLst>
          </p:cNvPr>
          <p:cNvSpPr/>
          <p:nvPr/>
        </p:nvSpPr>
        <p:spPr>
          <a:xfrm>
            <a:off x="4056899" y="2267063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88B5A1-E243-C27C-C651-D55DA52975F6}"/>
              </a:ext>
            </a:extLst>
          </p:cNvPr>
          <p:cNvSpPr txBox="1"/>
          <p:nvPr/>
        </p:nvSpPr>
        <p:spPr>
          <a:xfrm>
            <a:off x="4101741" y="313867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BAF9354-6CBD-B8BD-E51E-041D066AE09D}"/>
              </a:ext>
            </a:extLst>
          </p:cNvPr>
          <p:cNvSpPr txBox="1"/>
          <p:nvPr/>
        </p:nvSpPr>
        <p:spPr>
          <a:xfrm>
            <a:off x="4246174" y="3442172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7AF0565-C015-B0AA-18EE-28D31B8FE5FC}"/>
              </a:ext>
            </a:extLst>
          </p:cNvPr>
          <p:cNvSpPr txBox="1"/>
          <p:nvPr/>
        </p:nvSpPr>
        <p:spPr>
          <a:xfrm>
            <a:off x="5128757" y="331475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AC561E5-4064-7288-6F8D-233E7E8A79E1}"/>
              </a:ext>
            </a:extLst>
          </p:cNvPr>
          <p:cNvSpPr txBox="1"/>
          <p:nvPr/>
        </p:nvSpPr>
        <p:spPr>
          <a:xfrm>
            <a:off x="6338810" y="3407088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A60157B-B7E5-E160-385C-01D6E992A875}"/>
              </a:ext>
            </a:extLst>
          </p:cNvPr>
          <p:cNvSpPr txBox="1"/>
          <p:nvPr/>
        </p:nvSpPr>
        <p:spPr>
          <a:xfrm>
            <a:off x="7359028" y="3415674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34A6FED-0D59-BEE0-DD62-8E9EC8C24677}"/>
              </a:ext>
            </a:extLst>
          </p:cNvPr>
          <p:cNvSpPr/>
          <p:nvPr/>
        </p:nvSpPr>
        <p:spPr>
          <a:xfrm>
            <a:off x="4130623" y="3897187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9127DA0-7101-1368-BDE8-DFF1856B9AA2}"/>
              </a:ext>
            </a:extLst>
          </p:cNvPr>
          <p:cNvCxnSpPr>
            <a:cxnSpLocks/>
          </p:cNvCxnSpPr>
          <p:nvPr/>
        </p:nvCxnSpPr>
        <p:spPr>
          <a:xfrm>
            <a:off x="507583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9AFB1E7-6D39-C43F-A175-44A9B4FD38DE}"/>
              </a:ext>
            </a:extLst>
          </p:cNvPr>
          <p:cNvCxnSpPr>
            <a:cxnSpLocks/>
          </p:cNvCxnSpPr>
          <p:nvPr/>
        </p:nvCxnSpPr>
        <p:spPr>
          <a:xfrm>
            <a:off x="616168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393C3A6-B5E5-138F-2343-EF2F83D38074}"/>
              </a:ext>
            </a:extLst>
          </p:cNvPr>
          <p:cNvCxnSpPr>
            <a:cxnSpLocks/>
          </p:cNvCxnSpPr>
          <p:nvPr/>
        </p:nvCxnSpPr>
        <p:spPr>
          <a:xfrm>
            <a:off x="724753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4352DC1-70C7-C818-CEDF-0147631F512B}"/>
              </a:ext>
            </a:extLst>
          </p:cNvPr>
          <p:cNvSpPr txBox="1"/>
          <p:nvPr/>
        </p:nvSpPr>
        <p:spPr>
          <a:xfrm rot="16200000">
            <a:off x="2843196" y="4235316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67E8D85-6FBA-E5E8-4DC3-55036ECB3F03}"/>
              </a:ext>
            </a:extLst>
          </p:cNvPr>
          <p:cNvSpPr txBox="1"/>
          <p:nvPr/>
        </p:nvSpPr>
        <p:spPr>
          <a:xfrm rot="16200000">
            <a:off x="3691474" y="453750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C0FD4CA-F9D0-FBA0-9D00-28DD2EFB4E3F}"/>
              </a:ext>
            </a:extLst>
          </p:cNvPr>
          <p:cNvSpPr txBox="1"/>
          <p:nvPr/>
        </p:nvSpPr>
        <p:spPr>
          <a:xfrm rot="16200000">
            <a:off x="3563830" y="3984058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D0840FD-BB81-52C6-342C-8F5D286910D0}"/>
              </a:ext>
            </a:extLst>
          </p:cNvPr>
          <p:cNvSpPr/>
          <p:nvPr/>
        </p:nvSpPr>
        <p:spPr>
          <a:xfrm>
            <a:off x="4130623" y="3886484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169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C8DC-01DB-FB04-17D1-DBB0AD77B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85D22-C5B2-9C3A-CBF7-4BB8FD54A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64A547-4E59-AA84-B07F-A03D89EE26EF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18A0F9-FC3F-E61B-A7FA-B1B29B9930E8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B72CE2-7EEA-ABBB-2675-53F6C9A86097}"/>
              </a:ext>
            </a:extLst>
          </p:cNvPr>
          <p:cNvSpPr txBox="1"/>
          <p:nvPr/>
        </p:nvSpPr>
        <p:spPr>
          <a:xfrm>
            <a:off x="4343400" y="709377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model of these two uncertainties in which a military that would succeed when attempting a coup is more likely to perform well against an opposing force than a military that would fail when attempting a coup.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71D682-F943-1BF2-7795-EC655E2AF044}"/>
              </a:ext>
            </a:extLst>
          </p:cNvPr>
          <p:cNvSpPr txBox="1"/>
          <p:nvPr/>
        </p:nvSpPr>
        <p:spPr>
          <a:xfrm>
            <a:off x="4343400" y="1687454"/>
            <a:ext cx="7038975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Marginal-Conditional Method– JUST SAY YES!!!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73F0DC-323A-A35B-FBAA-34E68BA432A1}"/>
              </a:ext>
            </a:extLst>
          </p:cNvPr>
          <p:cNvSpPr txBox="1"/>
          <p:nvPr/>
        </p:nvSpPr>
        <p:spPr>
          <a:xfrm rot="19677942">
            <a:off x="-270553" y="2483552"/>
            <a:ext cx="5134418" cy="92333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Step 2:  Model uncertainty about success against opposing miiltaries, conditional on knowledge of outcome of a coup attempt.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5B622E-CCEF-9106-9A37-BF9AF6055BF0}"/>
              </a:ext>
            </a:extLst>
          </p:cNvPr>
          <p:cNvCxnSpPr>
            <a:cxnSpLocks/>
          </p:cNvCxnSpPr>
          <p:nvPr/>
        </p:nvCxnSpPr>
        <p:spPr>
          <a:xfrm flipV="1">
            <a:off x="4533144" y="3354838"/>
            <a:ext cx="2200275" cy="1130452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6EE0FE9-1E72-7006-FEC1-1C99369D6779}"/>
              </a:ext>
            </a:extLst>
          </p:cNvPr>
          <p:cNvSpPr txBox="1"/>
          <p:nvPr/>
        </p:nvSpPr>
        <p:spPr>
          <a:xfrm rot="19913270">
            <a:off x="4600155" y="3899264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EC748B-B35F-E7E3-053C-8DF151313F75}"/>
              </a:ext>
            </a:extLst>
          </p:cNvPr>
          <p:cNvCxnSpPr>
            <a:cxnSpLocks/>
          </p:cNvCxnSpPr>
          <p:nvPr/>
        </p:nvCxnSpPr>
        <p:spPr>
          <a:xfrm>
            <a:off x="4522231" y="4582175"/>
            <a:ext cx="2019300" cy="149147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51EA8F4-2D83-E024-2CCC-102AC76600F1}"/>
              </a:ext>
            </a:extLst>
          </p:cNvPr>
          <p:cNvSpPr txBox="1"/>
          <p:nvPr/>
        </p:nvSpPr>
        <p:spPr>
          <a:xfrm rot="2210112">
            <a:off x="4580614" y="5519727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4CE5B9C-2624-E153-A75F-3AA5FFA9120A}"/>
                  </a:ext>
                </a:extLst>
              </p:cNvPr>
              <p:cNvSpPr txBox="1"/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4CE5B9C-2624-E153-A75F-3AA5FFA91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54C5A4A-3F8C-B653-7335-22F0D1706A12}"/>
                  </a:ext>
                </a:extLst>
              </p:cNvPr>
              <p:cNvSpPr txBox="1"/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54C5A4A-3F8C-B653-7335-22F0D1706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619FA22-C071-E91C-63CD-74587E5664A6}"/>
              </a:ext>
            </a:extLst>
          </p:cNvPr>
          <p:cNvSpPr txBox="1"/>
          <p:nvPr/>
        </p:nvSpPr>
        <p:spPr>
          <a:xfrm>
            <a:off x="7448550" y="2186704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A973B8-E07D-0820-FB18-8822B763308E}"/>
              </a:ext>
            </a:extLst>
          </p:cNvPr>
          <p:cNvSpPr txBox="1"/>
          <p:nvPr/>
        </p:nvSpPr>
        <p:spPr>
          <a:xfrm>
            <a:off x="7592983" y="2490201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066D59-F144-84B1-85C0-6D72DE9FC55B}"/>
              </a:ext>
            </a:extLst>
          </p:cNvPr>
          <p:cNvSpPr txBox="1"/>
          <p:nvPr/>
        </p:nvSpPr>
        <p:spPr>
          <a:xfrm>
            <a:off x="8475566" y="2362783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9C2550-702A-7FAE-DE53-604230525BEB}"/>
              </a:ext>
            </a:extLst>
          </p:cNvPr>
          <p:cNvSpPr txBox="1"/>
          <p:nvPr/>
        </p:nvSpPr>
        <p:spPr>
          <a:xfrm>
            <a:off x="9685619" y="2455117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2E1E42-044A-0C1E-59BA-FF18ED4CA051}"/>
              </a:ext>
            </a:extLst>
          </p:cNvPr>
          <p:cNvSpPr txBox="1"/>
          <p:nvPr/>
        </p:nvSpPr>
        <p:spPr>
          <a:xfrm>
            <a:off x="10705837" y="2463703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2C9158-F9D9-8735-F1EF-572443A31F02}"/>
              </a:ext>
            </a:extLst>
          </p:cNvPr>
          <p:cNvSpPr/>
          <p:nvPr/>
        </p:nvSpPr>
        <p:spPr>
          <a:xfrm>
            <a:off x="7477432" y="2945216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2580E77-BFF9-F281-D70E-1FF10122C9FB}"/>
              </a:ext>
            </a:extLst>
          </p:cNvPr>
          <p:cNvCxnSpPr>
            <a:cxnSpLocks/>
          </p:cNvCxnSpPr>
          <p:nvPr/>
        </p:nvCxnSpPr>
        <p:spPr>
          <a:xfrm>
            <a:off x="84226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6E298C7-75B7-E73A-C28D-E0D5DB681AC9}"/>
              </a:ext>
            </a:extLst>
          </p:cNvPr>
          <p:cNvCxnSpPr>
            <a:cxnSpLocks/>
          </p:cNvCxnSpPr>
          <p:nvPr/>
        </p:nvCxnSpPr>
        <p:spPr>
          <a:xfrm>
            <a:off x="950849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A8E25B9-4FE9-A8E5-2145-489C0A5FF325}"/>
              </a:ext>
            </a:extLst>
          </p:cNvPr>
          <p:cNvCxnSpPr>
            <a:cxnSpLocks/>
          </p:cNvCxnSpPr>
          <p:nvPr/>
        </p:nvCxnSpPr>
        <p:spPr>
          <a:xfrm>
            <a:off x="105943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73D351B-DB39-C426-E401-5D7BF7F84A1F}"/>
              </a:ext>
            </a:extLst>
          </p:cNvPr>
          <p:cNvSpPr txBox="1"/>
          <p:nvPr/>
        </p:nvSpPr>
        <p:spPr>
          <a:xfrm rot="16200000">
            <a:off x="6190005" y="3283345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3C7D90-F5FC-9D78-3DB0-7BE5D6AF682D}"/>
              </a:ext>
            </a:extLst>
          </p:cNvPr>
          <p:cNvSpPr txBox="1"/>
          <p:nvPr/>
        </p:nvSpPr>
        <p:spPr>
          <a:xfrm rot="16200000">
            <a:off x="7038283" y="3585534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1E0390-2F62-A1D9-5FEC-9466CBCFD1B4}"/>
              </a:ext>
            </a:extLst>
          </p:cNvPr>
          <p:cNvSpPr txBox="1"/>
          <p:nvPr/>
        </p:nvSpPr>
        <p:spPr>
          <a:xfrm rot="16200000">
            <a:off x="6910639" y="3032087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095E7B-CED4-D2C7-A926-48F6CF647E02}"/>
              </a:ext>
            </a:extLst>
          </p:cNvPr>
          <p:cNvSpPr/>
          <p:nvPr/>
        </p:nvSpPr>
        <p:spPr>
          <a:xfrm>
            <a:off x="7477432" y="3477211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07F2E8-E804-675B-8B1D-2A9B3B4A2FF2}"/>
              </a:ext>
            </a:extLst>
          </p:cNvPr>
          <p:cNvSpPr txBox="1"/>
          <p:nvPr/>
        </p:nvSpPr>
        <p:spPr>
          <a:xfrm>
            <a:off x="7430826" y="4862143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CC9640-309E-927D-F9AE-B60F4306D896}"/>
              </a:ext>
            </a:extLst>
          </p:cNvPr>
          <p:cNvSpPr txBox="1"/>
          <p:nvPr/>
        </p:nvSpPr>
        <p:spPr>
          <a:xfrm>
            <a:off x="7575259" y="5165640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C6D826-BC61-1041-41F3-BC90D0691469}"/>
              </a:ext>
            </a:extLst>
          </p:cNvPr>
          <p:cNvSpPr txBox="1"/>
          <p:nvPr/>
        </p:nvSpPr>
        <p:spPr>
          <a:xfrm>
            <a:off x="8457842" y="5038222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2A4F95-2F93-BE12-9B5B-85450772284F}"/>
              </a:ext>
            </a:extLst>
          </p:cNvPr>
          <p:cNvSpPr txBox="1"/>
          <p:nvPr/>
        </p:nvSpPr>
        <p:spPr>
          <a:xfrm>
            <a:off x="9667895" y="5130556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8AFB1C-5087-5298-49CF-94CBE09DAA48}"/>
              </a:ext>
            </a:extLst>
          </p:cNvPr>
          <p:cNvSpPr txBox="1"/>
          <p:nvPr/>
        </p:nvSpPr>
        <p:spPr>
          <a:xfrm>
            <a:off x="10688113" y="5139142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A153FB9-4517-9771-C1E5-F20CE8D392BB}"/>
              </a:ext>
            </a:extLst>
          </p:cNvPr>
          <p:cNvSpPr/>
          <p:nvPr/>
        </p:nvSpPr>
        <p:spPr>
          <a:xfrm>
            <a:off x="7459708" y="5620655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EAF82A3-795C-440E-F434-84D8ECFA456F}"/>
              </a:ext>
            </a:extLst>
          </p:cNvPr>
          <p:cNvCxnSpPr>
            <a:cxnSpLocks/>
          </p:cNvCxnSpPr>
          <p:nvPr/>
        </p:nvCxnSpPr>
        <p:spPr>
          <a:xfrm>
            <a:off x="84049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755F2FD-0E47-E39F-8137-807B2528FD04}"/>
              </a:ext>
            </a:extLst>
          </p:cNvPr>
          <p:cNvCxnSpPr>
            <a:cxnSpLocks/>
          </p:cNvCxnSpPr>
          <p:nvPr/>
        </p:nvCxnSpPr>
        <p:spPr>
          <a:xfrm>
            <a:off x="949076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A3C396D-68AA-D285-672D-C5BB22B51648}"/>
              </a:ext>
            </a:extLst>
          </p:cNvPr>
          <p:cNvCxnSpPr>
            <a:cxnSpLocks/>
          </p:cNvCxnSpPr>
          <p:nvPr/>
        </p:nvCxnSpPr>
        <p:spPr>
          <a:xfrm>
            <a:off x="105766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216E63A-D6E5-27F9-79E5-84F0684390CE}"/>
              </a:ext>
            </a:extLst>
          </p:cNvPr>
          <p:cNvSpPr txBox="1"/>
          <p:nvPr/>
        </p:nvSpPr>
        <p:spPr>
          <a:xfrm rot="16200000">
            <a:off x="6172281" y="595878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9C526E-854E-AE4A-DAC5-D361EA90C7D3}"/>
              </a:ext>
            </a:extLst>
          </p:cNvPr>
          <p:cNvSpPr txBox="1"/>
          <p:nvPr/>
        </p:nvSpPr>
        <p:spPr>
          <a:xfrm rot="16200000">
            <a:off x="7020559" y="6260973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4B452D-5D87-4B41-B07B-F118AFDCE8CB}"/>
              </a:ext>
            </a:extLst>
          </p:cNvPr>
          <p:cNvSpPr txBox="1"/>
          <p:nvPr/>
        </p:nvSpPr>
        <p:spPr>
          <a:xfrm rot="16200000">
            <a:off x="6892915" y="5707526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DB00549-60EE-02DE-8529-B49F30F6BD91}"/>
              </a:ext>
            </a:extLst>
          </p:cNvPr>
          <p:cNvSpPr/>
          <p:nvPr/>
        </p:nvSpPr>
        <p:spPr>
          <a:xfrm>
            <a:off x="7459708" y="5612069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806DC4E-DA8B-5D93-CFCB-CA81D8CC09A2}"/>
              </a:ext>
            </a:extLst>
          </p:cNvPr>
          <p:cNvCxnSpPr/>
          <p:nvPr/>
        </p:nvCxnSpPr>
        <p:spPr>
          <a:xfrm>
            <a:off x="8810625" y="1047750"/>
            <a:ext cx="2362200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95B76E2-425D-09FE-BFE8-9CEBD9B006E5}"/>
              </a:ext>
            </a:extLst>
          </p:cNvPr>
          <p:cNvCxnSpPr>
            <a:cxnSpLocks/>
          </p:cNvCxnSpPr>
          <p:nvPr/>
        </p:nvCxnSpPr>
        <p:spPr>
          <a:xfrm>
            <a:off x="4389866" y="1309542"/>
            <a:ext cx="69747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1118B9F-79C2-11B2-7102-6CBC8A148242}"/>
              </a:ext>
            </a:extLst>
          </p:cNvPr>
          <p:cNvCxnSpPr>
            <a:cxnSpLocks/>
          </p:cNvCxnSpPr>
          <p:nvPr/>
        </p:nvCxnSpPr>
        <p:spPr>
          <a:xfrm>
            <a:off x="4512365" y="1632707"/>
            <a:ext cx="46125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85B67102-E6B5-1D0E-B854-E85B94600B9B}"/>
              </a:ext>
            </a:extLst>
          </p:cNvPr>
          <p:cNvSpPr/>
          <p:nvPr/>
        </p:nvSpPr>
        <p:spPr>
          <a:xfrm>
            <a:off x="0" y="0"/>
            <a:ext cx="12192000" cy="6835141"/>
          </a:xfrm>
          <a:prstGeom prst="rect">
            <a:avLst/>
          </a:prstGeom>
          <a:solidFill>
            <a:srgbClr val="5E5E5E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95E82E4-9426-5F1E-BA89-C7F6E75531B9}"/>
              </a:ext>
            </a:extLst>
          </p:cNvPr>
          <p:cNvSpPr/>
          <p:nvPr/>
        </p:nvSpPr>
        <p:spPr>
          <a:xfrm>
            <a:off x="1524000" y="709377"/>
            <a:ext cx="9059337" cy="49026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1A2DF6-472C-3738-A2A6-06C76ED4B252}"/>
              </a:ext>
            </a:extLst>
          </p:cNvPr>
          <p:cNvSpPr txBox="1"/>
          <p:nvPr/>
        </p:nvSpPr>
        <p:spPr>
          <a:xfrm>
            <a:off x="4028017" y="976556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8503EC-A884-0924-42F8-2C5F6763886A}"/>
              </a:ext>
            </a:extLst>
          </p:cNvPr>
          <p:cNvSpPr txBox="1"/>
          <p:nvPr/>
        </p:nvSpPr>
        <p:spPr>
          <a:xfrm>
            <a:off x="4172450" y="1280053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9A7C77-1FFD-1267-DBB6-AD0E15DB13B2}"/>
              </a:ext>
            </a:extLst>
          </p:cNvPr>
          <p:cNvSpPr txBox="1"/>
          <p:nvPr/>
        </p:nvSpPr>
        <p:spPr>
          <a:xfrm>
            <a:off x="5055033" y="1152635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7706B6-E46F-3B70-17AB-A56EF23E87FD}"/>
              </a:ext>
            </a:extLst>
          </p:cNvPr>
          <p:cNvSpPr txBox="1"/>
          <p:nvPr/>
        </p:nvSpPr>
        <p:spPr>
          <a:xfrm>
            <a:off x="6265086" y="1244969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BB91090-B75F-FAC6-AFCA-B6057E6D92F6}"/>
              </a:ext>
            </a:extLst>
          </p:cNvPr>
          <p:cNvSpPr txBox="1"/>
          <p:nvPr/>
        </p:nvSpPr>
        <p:spPr>
          <a:xfrm>
            <a:off x="7285304" y="1253555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4573CE0-2E2A-123A-1615-653047547B28}"/>
              </a:ext>
            </a:extLst>
          </p:cNvPr>
          <p:cNvSpPr/>
          <p:nvPr/>
        </p:nvSpPr>
        <p:spPr>
          <a:xfrm>
            <a:off x="4056899" y="1735068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F9D32AD-8C5E-807D-731D-4E2725673984}"/>
              </a:ext>
            </a:extLst>
          </p:cNvPr>
          <p:cNvCxnSpPr>
            <a:cxnSpLocks/>
          </p:cNvCxnSpPr>
          <p:nvPr/>
        </p:nvCxnSpPr>
        <p:spPr>
          <a:xfrm>
            <a:off x="500210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187DDB7-05D3-7A77-9BD2-31EDECDE5D97}"/>
              </a:ext>
            </a:extLst>
          </p:cNvPr>
          <p:cNvCxnSpPr>
            <a:cxnSpLocks/>
          </p:cNvCxnSpPr>
          <p:nvPr/>
        </p:nvCxnSpPr>
        <p:spPr>
          <a:xfrm>
            <a:off x="608795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9382DB1-5B9D-3651-0CAE-3A6AA6263D57}"/>
              </a:ext>
            </a:extLst>
          </p:cNvPr>
          <p:cNvCxnSpPr>
            <a:cxnSpLocks/>
          </p:cNvCxnSpPr>
          <p:nvPr/>
        </p:nvCxnSpPr>
        <p:spPr>
          <a:xfrm>
            <a:off x="717380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CD95B5B2-272E-D41E-FCF0-9A5867204E49}"/>
              </a:ext>
            </a:extLst>
          </p:cNvPr>
          <p:cNvSpPr txBox="1"/>
          <p:nvPr/>
        </p:nvSpPr>
        <p:spPr>
          <a:xfrm rot="16200000">
            <a:off x="2769472" y="2073197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4374361-7415-936A-0ADF-6855E3A398B5}"/>
              </a:ext>
            </a:extLst>
          </p:cNvPr>
          <p:cNvSpPr txBox="1"/>
          <p:nvPr/>
        </p:nvSpPr>
        <p:spPr>
          <a:xfrm rot="16200000">
            <a:off x="3617750" y="2375386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5642713-F2ED-8535-692A-2CAB66B86279}"/>
              </a:ext>
            </a:extLst>
          </p:cNvPr>
          <p:cNvSpPr txBox="1"/>
          <p:nvPr/>
        </p:nvSpPr>
        <p:spPr>
          <a:xfrm rot="16200000">
            <a:off x="3490106" y="1821939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657FE2F-7C80-404C-71E4-D9B2F25CD5CE}"/>
              </a:ext>
            </a:extLst>
          </p:cNvPr>
          <p:cNvSpPr/>
          <p:nvPr/>
        </p:nvSpPr>
        <p:spPr>
          <a:xfrm>
            <a:off x="4056899" y="2267063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64086F-5322-7C0A-AB73-08395FE86B5D}"/>
              </a:ext>
            </a:extLst>
          </p:cNvPr>
          <p:cNvSpPr txBox="1"/>
          <p:nvPr/>
        </p:nvSpPr>
        <p:spPr>
          <a:xfrm>
            <a:off x="4101741" y="313867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DDFF374-31B7-49B4-61A7-77787414762D}"/>
              </a:ext>
            </a:extLst>
          </p:cNvPr>
          <p:cNvSpPr txBox="1"/>
          <p:nvPr/>
        </p:nvSpPr>
        <p:spPr>
          <a:xfrm>
            <a:off x="4246174" y="3442172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F98338-390F-95EF-0985-1D951B325897}"/>
              </a:ext>
            </a:extLst>
          </p:cNvPr>
          <p:cNvSpPr txBox="1"/>
          <p:nvPr/>
        </p:nvSpPr>
        <p:spPr>
          <a:xfrm>
            <a:off x="5128757" y="331475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098D204-B722-1E86-6239-C03EB95CB628}"/>
              </a:ext>
            </a:extLst>
          </p:cNvPr>
          <p:cNvSpPr txBox="1"/>
          <p:nvPr/>
        </p:nvSpPr>
        <p:spPr>
          <a:xfrm>
            <a:off x="6338810" y="3407088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36650CF-0011-7FAD-03FE-6054BE205D7F}"/>
              </a:ext>
            </a:extLst>
          </p:cNvPr>
          <p:cNvSpPr txBox="1"/>
          <p:nvPr/>
        </p:nvSpPr>
        <p:spPr>
          <a:xfrm>
            <a:off x="7359028" y="3415674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4751DB7-15E1-7C12-30B8-ED402591EBB6}"/>
              </a:ext>
            </a:extLst>
          </p:cNvPr>
          <p:cNvSpPr/>
          <p:nvPr/>
        </p:nvSpPr>
        <p:spPr>
          <a:xfrm>
            <a:off x="4130623" y="3897187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8C18865-781B-0F69-286D-D409027DCC8B}"/>
              </a:ext>
            </a:extLst>
          </p:cNvPr>
          <p:cNvCxnSpPr>
            <a:cxnSpLocks/>
          </p:cNvCxnSpPr>
          <p:nvPr/>
        </p:nvCxnSpPr>
        <p:spPr>
          <a:xfrm>
            <a:off x="507583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38FFCE3-DC8A-B6AA-C824-B05B769A1AF8}"/>
              </a:ext>
            </a:extLst>
          </p:cNvPr>
          <p:cNvCxnSpPr>
            <a:cxnSpLocks/>
          </p:cNvCxnSpPr>
          <p:nvPr/>
        </p:nvCxnSpPr>
        <p:spPr>
          <a:xfrm>
            <a:off x="616168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FFB9BAE-9AB2-4642-BA76-A8955DA8CD9A}"/>
              </a:ext>
            </a:extLst>
          </p:cNvPr>
          <p:cNvCxnSpPr>
            <a:cxnSpLocks/>
          </p:cNvCxnSpPr>
          <p:nvPr/>
        </p:nvCxnSpPr>
        <p:spPr>
          <a:xfrm>
            <a:off x="724753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8EBDF236-97F7-7926-9534-7F985458083B}"/>
              </a:ext>
            </a:extLst>
          </p:cNvPr>
          <p:cNvSpPr txBox="1"/>
          <p:nvPr/>
        </p:nvSpPr>
        <p:spPr>
          <a:xfrm rot="16200000">
            <a:off x="2843196" y="4235316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001ABEC-307D-75E9-F6DB-9CB75F82A26F}"/>
              </a:ext>
            </a:extLst>
          </p:cNvPr>
          <p:cNvSpPr txBox="1"/>
          <p:nvPr/>
        </p:nvSpPr>
        <p:spPr>
          <a:xfrm rot="16200000">
            <a:off x="3691474" y="453750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48631C7-0698-9FE6-86E4-6724A5FA0799}"/>
              </a:ext>
            </a:extLst>
          </p:cNvPr>
          <p:cNvSpPr txBox="1"/>
          <p:nvPr/>
        </p:nvSpPr>
        <p:spPr>
          <a:xfrm rot="16200000">
            <a:off x="3563830" y="3984058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B6418EA-DB1C-12CC-6FCA-88620E110C43}"/>
              </a:ext>
            </a:extLst>
          </p:cNvPr>
          <p:cNvSpPr/>
          <p:nvPr/>
        </p:nvSpPr>
        <p:spPr>
          <a:xfrm>
            <a:off x="4130623" y="3886484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5A340BD-1DE8-22FF-C28D-0E7522858078}"/>
              </a:ext>
            </a:extLst>
          </p:cNvPr>
          <p:cNvSpPr txBox="1"/>
          <p:nvPr/>
        </p:nvSpPr>
        <p:spPr>
          <a:xfrm>
            <a:off x="8475566" y="1916996"/>
            <a:ext cx="2240495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“More likely to be more successful”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A59B6E7-20BA-E1C9-911E-03EC66697CEA}"/>
              </a:ext>
            </a:extLst>
          </p:cNvPr>
          <p:cNvSpPr txBox="1"/>
          <p:nvPr/>
        </p:nvSpPr>
        <p:spPr>
          <a:xfrm>
            <a:off x="8580052" y="4038210"/>
            <a:ext cx="2240495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“Less likely to be more successful”</a:t>
            </a:r>
          </a:p>
        </p:txBody>
      </p:sp>
    </p:spTree>
    <p:extLst>
      <p:ext uri="{BB962C8B-B14F-4D97-AF65-F5344CB8AC3E}">
        <p14:creationId xmlns:p14="http://schemas.microsoft.com/office/powerpoint/2010/main" val="37129287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8582E-7829-22DC-CD76-DB0C09410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E7493-010E-F2C4-8B03-23AA86C4A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CD79F9-B6E4-7268-BAD5-DB2CE8D6BFB1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18F246-74A9-9C22-82E9-E7076622685C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33803A-0EC5-6C92-FBF3-26ED4953B384}"/>
              </a:ext>
            </a:extLst>
          </p:cNvPr>
          <p:cNvSpPr txBox="1"/>
          <p:nvPr/>
        </p:nvSpPr>
        <p:spPr>
          <a:xfrm>
            <a:off x="4343400" y="709377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model of these two uncertainties in which a military that would succeed when attempting a coup is more likely to perform well against an opposing force than a military that would fail when attempting a coup.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AFFCA3-A946-411F-9864-1DA6432BD9EA}"/>
              </a:ext>
            </a:extLst>
          </p:cNvPr>
          <p:cNvSpPr txBox="1"/>
          <p:nvPr/>
        </p:nvSpPr>
        <p:spPr>
          <a:xfrm>
            <a:off x="4343400" y="1687454"/>
            <a:ext cx="7038975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Marginal-Conditional Method– JUST SAY YES!!!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081E00-7165-0E1E-99A8-003BE9CB8095}"/>
              </a:ext>
            </a:extLst>
          </p:cNvPr>
          <p:cNvSpPr txBox="1"/>
          <p:nvPr/>
        </p:nvSpPr>
        <p:spPr>
          <a:xfrm rot="19677942">
            <a:off x="-270553" y="2483552"/>
            <a:ext cx="5134418" cy="92333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Step 2:  Model uncertainty about success against opposing miiltaries, conditional on knowledge of outcome of a coup attempt.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D987F3C-A808-F907-48E0-91A557B9FF94}"/>
              </a:ext>
            </a:extLst>
          </p:cNvPr>
          <p:cNvCxnSpPr>
            <a:cxnSpLocks/>
          </p:cNvCxnSpPr>
          <p:nvPr/>
        </p:nvCxnSpPr>
        <p:spPr>
          <a:xfrm flipV="1">
            <a:off x="4533144" y="3354838"/>
            <a:ext cx="2200275" cy="1130452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5D554B6-97DB-D517-7D9C-C90DA9E3B92E}"/>
              </a:ext>
            </a:extLst>
          </p:cNvPr>
          <p:cNvSpPr txBox="1"/>
          <p:nvPr/>
        </p:nvSpPr>
        <p:spPr>
          <a:xfrm rot="19913270">
            <a:off x="4600155" y="3899264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B411430-A875-2198-8903-7D3BDC7FF70F}"/>
              </a:ext>
            </a:extLst>
          </p:cNvPr>
          <p:cNvCxnSpPr>
            <a:cxnSpLocks/>
          </p:cNvCxnSpPr>
          <p:nvPr/>
        </p:nvCxnSpPr>
        <p:spPr>
          <a:xfrm>
            <a:off x="4522231" y="4582175"/>
            <a:ext cx="2019300" cy="149147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DBC297B-A0A3-48DB-277F-43300EE9BE82}"/>
              </a:ext>
            </a:extLst>
          </p:cNvPr>
          <p:cNvSpPr txBox="1"/>
          <p:nvPr/>
        </p:nvSpPr>
        <p:spPr>
          <a:xfrm rot="2210112">
            <a:off x="4580614" y="5519727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3BEA92F-A4AB-2A76-E98A-E91C45EA499D}"/>
                  </a:ext>
                </a:extLst>
              </p:cNvPr>
              <p:cNvSpPr txBox="1"/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3BEA92F-A4AB-2A76-E98A-E91C45EA4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CDABB02-12EE-4F1C-5208-E30BFCE1A37B}"/>
                  </a:ext>
                </a:extLst>
              </p:cNvPr>
              <p:cNvSpPr txBox="1"/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CDABB02-12EE-4F1C-5208-E30BFCE1A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4098F37-B435-435B-C1BF-D7438F66333A}"/>
              </a:ext>
            </a:extLst>
          </p:cNvPr>
          <p:cNvSpPr txBox="1"/>
          <p:nvPr/>
        </p:nvSpPr>
        <p:spPr>
          <a:xfrm>
            <a:off x="7448550" y="2186704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431252-8CC1-9F1C-AD12-C4A1C2787B3B}"/>
              </a:ext>
            </a:extLst>
          </p:cNvPr>
          <p:cNvSpPr txBox="1"/>
          <p:nvPr/>
        </p:nvSpPr>
        <p:spPr>
          <a:xfrm>
            <a:off x="7592983" y="2490201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02CA70-8F77-1D32-C92B-7F6CFB63CD4A}"/>
              </a:ext>
            </a:extLst>
          </p:cNvPr>
          <p:cNvSpPr txBox="1"/>
          <p:nvPr/>
        </p:nvSpPr>
        <p:spPr>
          <a:xfrm>
            <a:off x="8475566" y="2362783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DFAFB3-A53E-0AEC-E344-7B434FE33754}"/>
              </a:ext>
            </a:extLst>
          </p:cNvPr>
          <p:cNvSpPr txBox="1"/>
          <p:nvPr/>
        </p:nvSpPr>
        <p:spPr>
          <a:xfrm>
            <a:off x="9685619" y="2455117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2931B6-5129-D3A4-A149-3402E671009D}"/>
              </a:ext>
            </a:extLst>
          </p:cNvPr>
          <p:cNvSpPr txBox="1"/>
          <p:nvPr/>
        </p:nvSpPr>
        <p:spPr>
          <a:xfrm>
            <a:off x="10705837" y="2463703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38C7B7-2E3B-6F63-8AE8-B8CED7080E22}"/>
              </a:ext>
            </a:extLst>
          </p:cNvPr>
          <p:cNvSpPr/>
          <p:nvPr/>
        </p:nvSpPr>
        <p:spPr>
          <a:xfrm>
            <a:off x="7477432" y="2945216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E983FD6-C817-B1C0-18EA-35CCFF9D4600}"/>
              </a:ext>
            </a:extLst>
          </p:cNvPr>
          <p:cNvCxnSpPr>
            <a:cxnSpLocks/>
          </p:cNvCxnSpPr>
          <p:nvPr/>
        </p:nvCxnSpPr>
        <p:spPr>
          <a:xfrm>
            <a:off x="84226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7641EC2-3412-C9E4-B70A-437E98AF9739}"/>
              </a:ext>
            </a:extLst>
          </p:cNvPr>
          <p:cNvCxnSpPr>
            <a:cxnSpLocks/>
          </p:cNvCxnSpPr>
          <p:nvPr/>
        </p:nvCxnSpPr>
        <p:spPr>
          <a:xfrm>
            <a:off x="950849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0F187F8-5606-DE07-206A-6D6A0BB31C17}"/>
              </a:ext>
            </a:extLst>
          </p:cNvPr>
          <p:cNvCxnSpPr>
            <a:cxnSpLocks/>
          </p:cNvCxnSpPr>
          <p:nvPr/>
        </p:nvCxnSpPr>
        <p:spPr>
          <a:xfrm>
            <a:off x="105943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74D2B15-C2F9-2EFB-4114-DF225B79B546}"/>
              </a:ext>
            </a:extLst>
          </p:cNvPr>
          <p:cNvSpPr txBox="1"/>
          <p:nvPr/>
        </p:nvSpPr>
        <p:spPr>
          <a:xfrm rot="16200000">
            <a:off x="6190005" y="3283345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3F3197-DD59-A905-0104-59917EAB0A91}"/>
              </a:ext>
            </a:extLst>
          </p:cNvPr>
          <p:cNvSpPr txBox="1"/>
          <p:nvPr/>
        </p:nvSpPr>
        <p:spPr>
          <a:xfrm rot="16200000">
            <a:off x="7038283" y="3585534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5FCE77-7712-119C-9F49-6D00DE5F9DCD}"/>
              </a:ext>
            </a:extLst>
          </p:cNvPr>
          <p:cNvSpPr txBox="1"/>
          <p:nvPr/>
        </p:nvSpPr>
        <p:spPr>
          <a:xfrm rot="16200000">
            <a:off x="6910639" y="3032087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C65113-B6C9-4020-9871-3B719F9412A0}"/>
              </a:ext>
            </a:extLst>
          </p:cNvPr>
          <p:cNvSpPr/>
          <p:nvPr/>
        </p:nvSpPr>
        <p:spPr>
          <a:xfrm>
            <a:off x="7477432" y="3477211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E950C8-7ACB-AA4B-415D-24DA3EBF2364}"/>
              </a:ext>
            </a:extLst>
          </p:cNvPr>
          <p:cNvSpPr txBox="1"/>
          <p:nvPr/>
        </p:nvSpPr>
        <p:spPr>
          <a:xfrm>
            <a:off x="7430826" y="4862143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FA1651-75D9-23EC-094C-9FBD2C6A07C6}"/>
              </a:ext>
            </a:extLst>
          </p:cNvPr>
          <p:cNvSpPr txBox="1"/>
          <p:nvPr/>
        </p:nvSpPr>
        <p:spPr>
          <a:xfrm>
            <a:off x="7575259" y="5165640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20A01C-4F1A-F283-D25D-1A39249CFA12}"/>
              </a:ext>
            </a:extLst>
          </p:cNvPr>
          <p:cNvSpPr txBox="1"/>
          <p:nvPr/>
        </p:nvSpPr>
        <p:spPr>
          <a:xfrm>
            <a:off x="8457842" y="5038222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22BA80-5F2F-8114-E37D-7523A6E8FF04}"/>
              </a:ext>
            </a:extLst>
          </p:cNvPr>
          <p:cNvSpPr txBox="1"/>
          <p:nvPr/>
        </p:nvSpPr>
        <p:spPr>
          <a:xfrm>
            <a:off x="9667895" y="5130556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7637AA-5A01-C2A1-52B6-0B4E06270A67}"/>
              </a:ext>
            </a:extLst>
          </p:cNvPr>
          <p:cNvSpPr txBox="1"/>
          <p:nvPr/>
        </p:nvSpPr>
        <p:spPr>
          <a:xfrm>
            <a:off x="10688113" y="5139142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6EC59D-7C21-45A1-13FE-DF0E93686820}"/>
              </a:ext>
            </a:extLst>
          </p:cNvPr>
          <p:cNvSpPr/>
          <p:nvPr/>
        </p:nvSpPr>
        <p:spPr>
          <a:xfrm>
            <a:off x="7459708" y="5620655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C66EF3D-81D2-F895-FFE5-B8A03AC36B96}"/>
              </a:ext>
            </a:extLst>
          </p:cNvPr>
          <p:cNvCxnSpPr>
            <a:cxnSpLocks/>
          </p:cNvCxnSpPr>
          <p:nvPr/>
        </p:nvCxnSpPr>
        <p:spPr>
          <a:xfrm>
            <a:off x="84049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8470F9-C564-7628-F00D-B425AEF6D1C0}"/>
              </a:ext>
            </a:extLst>
          </p:cNvPr>
          <p:cNvCxnSpPr>
            <a:cxnSpLocks/>
          </p:cNvCxnSpPr>
          <p:nvPr/>
        </p:nvCxnSpPr>
        <p:spPr>
          <a:xfrm>
            <a:off x="949076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C32B827-C2C6-549B-7EC7-55C32CE389E5}"/>
              </a:ext>
            </a:extLst>
          </p:cNvPr>
          <p:cNvCxnSpPr>
            <a:cxnSpLocks/>
          </p:cNvCxnSpPr>
          <p:nvPr/>
        </p:nvCxnSpPr>
        <p:spPr>
          <a:xfrm>
            <a:off x="105766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E584AAA-2CD2-0694-1C28-CBE139F553A5}"/>
              </a:ext>
            </a:extLst>
          </p:cNvPr>
          <p:cNvSpPr txBox="1"/>
          <p:nvPr/>
        </p:nvSpPr>
        <p:spPr>
          <a:xfrm rot="16200000">
            <a:off x="6172281" y="595878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DEFCE7-EF76-3433-82A4-45B71726CB7B}"/>
              </a:ext>
            </a:extLst>
          </p:cNvPr>
          <p:cNvSpPr txBox="1"/>
          <p:nvPr/>
        </p:nvSpPr>
        <p:spPr>
          <a:xfrm rot="16200000">
            <a:off x="7020559" y="6260973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63A322-1E89-507A-27E6-B05DB9AC842F}"/>
              </a:ext>
            </a:extLst>
          </p:cNvPr>
          <p:cNvSpPr txBox="1"/>
          <p:nvPr/>
        </p:nvSpPr>
        <p:spPr>
          <a:xfrm rot="16200000">
            <a:off x="6892915" y="5707526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CC63848-80D3-5DF0-D794-DAF54272B04E}"/>
              </a:ext>
            </a:extLst>
          </p:cNvPr>
          <p:cNvSpPr/>
          <p:nvPr/>
        </p:nvSpPr>
        <p:spPr>
          <a:xfrm>
            <a:off x="7459708" y="5612069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5CC1A9A-FF5F-A727-E188-9AEE6C486B32}"/>
              </a:ext>
            </a:extLst>
          </p:cNvPr>
          <p:cNvCxnSpPr/>
          <p:nvPr/>
        </p:nvCxnSpPr>
        <p:spPr>
          <a:xfrm>
            <a:off x="8810625" y="1047750"/>
            <a:ext cx="2362200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5F3D350-2A25-AFE0-F4F5-8BA3B2EF5089}"/>
              </a:ext>
            </a:extLst>
          </p:cNvPr>
          <p:cNvCxnSpPr>
            <a:cxnSpLocks/>
          </p:cNvCxnSpPr>
          <p:nvPr/>
        </p:nvCxnSpPr>
        <p:spPr>
          <a:xfrm>
            <a:off x="4389866" y="1309542"/>
            <a:ext cx="69747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F06CEAD-1DB1-F96E-ABB6-6E54FFE47D9B}"/>
              </a:ext>
            </a:extLst>
          </p:cNvPr>
          <p:cNvCxnSpPr>
            <a:cxnSpLocks/>
          </p:cNvCxnSpPr>
          <p:nvPr/>
        </p:nvCxnSpPr>
        <p:spPr>
          <a:xfrm>
            <a:off x="4512365" y="1632707"/>
            <a:ext cx="46125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A4A3D80B-29EC-F63A-A0B4-C4DFE018A343}"/>
              </a:ext>
            </a:extLst>
          </p:cNvPr>
          <p:cNvSpPr/>
          <p:nvPr/>
        </p:nvSpPr>
        <p:spPr>
          <a:xfrm>
            <a:off x="0" y="0"/>
            <a:ext cx="12192000" cy="6835141"/>
          </a:xfrm>
          <a:prstGeom prst="rect">
            <a:avLst/>
          </a:prstGeom>
          <a:solidFill>
            <a:srgbClr val="5E5E5E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C38BA08-FBC1-5BFC-7E03-1F83833457E5}"/>
              </a:ext>
            </a:extLst>
          </p:cNvPr>
          <p:cNvSpPr/>
          <p:nvPr/>
        </p:nvSpPr>
        <p:spPr>
          <a:xfrm>
            <a:off x="1524000" y="709377"/>
            <a:ext cx="9059337" cy="49026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10D7442-A93F-18D5-8DDC-7E5DADEDFEF5}"/>
              </a:ext>
            </a:extLst>
          </p:cNvPr>
          <p:cNvSpPr txBox="1"/>
          <p:nvPr/>
        </p:nvSpPr>
        <p:spPr>
          <a:xfrm>
            <a:off x="4028017" y="976556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904BBEC-F819-1ECA-6ECE-DC7EF3F7574B}"/>
              </a:ext>
            </a:extLst>
          </p:cNvPr>
          <p:cNvSpPr txBox="1"/>
          <p:nvPr/>
        </p:nvSpPr>
        <p:spPr>
          <a:xfrm>
            <a:off x="4172450" y="1280053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F732B7-42FD-0E15-F990-C202A6D85FF4}"/>
              </a:ext>
            </a:extLst>
          </p:cNvPr>
          <p:cNvSpPr txBox="1"/>
          <p:nvPr/>
        </p:nvSpPr>
        <p:spPr>
          <a:xfrm>
            <a:off x="5055033" y="1152635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ACEFC6F-A94B-684B-913D-9F47AF16A3F5}"/>
              </a:ext>
            </a:extLst>
          </p:cNvPr>
          <p:cNvSpPr txBox="1"/>
          <p:nvPr/>
        </p:nvSpPr>
        <p:spPr>
          <a:xfrm>
            <a:off x="6265086" y="1244969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11A6B2F-E1F4-3C47-9D8A-CFF0B206CC91}"/>
              </a:ext>
            </a:extLst>
          </p:cNvPr>
          <p:cNvSpPr txBox="1"/>
          <p:nvPr/>
        </p:nvSpPr>
        <p:spPr>
          <a:xfrm>
            <a:off x="7285304" y="1253555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2D296A-F61F-2335-6116-997A51A5F060}"/>
              </a:ext>
            </a:extLst>
          </p:cNvPr>
          <p:cNvSpPr/>
          <p:nvPr/>
        </p:nvSpPr>
        <p:spPr>
          <a:xfrm>
            <a:off x="4056899" y="1735068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24AD693-C25B-4E10-60BE-13F7E55A0D09}"/>
              </a:ext>
            </a:extLst>
          </p:cNvPr>
          <p:cNvCxnSpPr>
            <a:cxnSpLocks/>
          </p:cNvCxnSpPr>
          <p:nvPr/>
        </p:nvCxnSpPr>
        <p:spPr>
          <a:xfrm>
            <a:off x="500210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C57F24E-72A9-46B6-7366-364866F29306}"/>
              </a:ext>
            </a:extLst>
          </p:cNvPr>
          <p:cNvCxnSpPr>
            <a:cxnSpLocks/>
          </p:cNvCxnSpPr>
          <p:nvPr/>
        </p:nvCxnSpPr>
        <p:spPr>
          <a:xfrm>
            <a:off x="608795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194C809-545C-F872-DD12-50E03C7E5F9D}"/>
              </a:ext>
            </a:extLst>
          </p:cNvPr>
          <p:cNvCxnSpPr>
            <a:cxnSpLocks/>
          </p:cNvCxnSpPr>
          <p:nvPr/>
        </p:nvCxnSpPr>
        <p:spPr>
          <a:xfrm>
            <a:off x="717380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E1A8147A-9BB7-0508-AB04-9F9A5FC37AF8}"/>
              </a:ext>
            </a:extLst>
          </p:cNvPr>
          <p:cNvSpPr txBox="1"/>
          <p:nvPr/>
        </p:nvSpPr>
        <p:spPr>
          <a:xfrm rot="16200000">
            <a:off x="2769472" y="2073197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3474965-249B-74CF-A07F-313ACBEBA8C3}"/>
              </a:ext>
            </a:extLst>
          </p:cNvPr>
          <p:cNvSpPr txBox="1"/>
          <p:nvPr/>
        </p:nvSpPr>
        <p:spPr>
          <a:xfrm rot="16200000">
            <a:off x="3617750" y="2375386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1E9BD8D-7335-0069-66A9-29B11AF04C0B}"/>
              </a:ext>
            </a:extLst>
          </p:cNvPr>
          <p:cNvSpPr txBox="1"/>
          <p:nvPr/>
        </p:nvSpPr>
        <p:spPr>
          <a:xfrm rot="16200000">
            <a:off x="3490106" y="1821939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C3C11D9-9D38-E531-CC67-DB10222B7B0A}"/>
              </a:ext>
            </a:extLst>
          </p:cNvPr>
          <p:cNvSpPr/>
          <p:nvPr/>
        </p:nvSpPr>
        <p:spPr>
          <a:xfrm>
            <a:off x="4056899" y="2267063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A48FF30-F777-6835-1697-BD852DCF7604}"/>
              </a:ext>
            </a:extLst>
          </p:cNvPr>
          <p:cNvSpPr txBox="1"/>
          <p:nvPr/>
        </p:nvSpPr>
        <p:spPr>
          <a:xfrm>
            <a:off x="4101741" y="313867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FEC5B70-FFDF-34D1-BD3B-C8B1EA48D120}"/>
              </a:ext>
            </a:extLst>
          </p:cNvPr>
          <p:cNvSpPr txBox="1"/>
          <p:nvPr/>
        </p:nvSpPr>
        <p:spPr>
          <a:xfrm>
            <a:off x="4246174" y="3442172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AEF3A58-9F4A-F9DF-8AD3-117928F85A1F}"/>
              </a:ext>
            </a:extLst>
          </p:cNvPr>
          <p:cNvSpPr txBox="1"/>
          <p:nvPr/>
        </p:nvSpPr>
        <p:spPr>
          <a:xfrm>
            <a:off x="5128757" y="331475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9680AAD-51E8-CDA9-BEAA-2CEA0DA45468}"/>
              </a:ext>
            </a:extLst>
          </p:cNvPr>
          <p:cNvSpPr txBox="1"/>
          <p:nvPr/>
        </p:nvSpPr>
        <p:spPr>
          <a:xfrm>
            <a:off x="6338810" y="3407088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20915D9-8C23-F482-2525-1320A3885198}"/>
              </a:ext>
            </a:extLst>
          </p:cNvPr>
          <p:cNvSpPr txBox="1"/>
          <p:nvPr/>
        </p:nvSpPr>
        <p:spPr>
          <a:xfrm>
            <a:off x="7359028" y="3415674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7D1C6AC-BA45-EAA3-9B88-80ADF7C71F2F}"/>
              </a:ext>
            </a:extLst>
          </p:cNvPr>
          <p:cNvSpPr/>
          <p:nvPr/>
        </p:nvSpPr>
        <p:spPr>
          <a:xfrm>
            <a:off x="4130623" y="3897187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7B25243-1C94-8A73-CF8D-412D6FE5460A}"/>
              </a:ext>
            </a:extLst>
          </p:cNvPr>
          <p:cNvCxnSpPr>
            <a:cxnSpLocks/>
          </p:cNvCxnSpPr>
          <p:nvPr/>
        </p:nvCxnSpPr>
        <p:spPr>
          <a:xfrm>
            <a:off x="507583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574AC34-CB58-E6AE-31D0-CD278457D34F}"/>
              </a:ext>
            </a:extLst>
          </p:cNvPr>
          <p:cNvCxnSpPr>
            <a:cxnSpLocks/>
          </p:cNvCxnSpPr>
          <p:nvPr/>
        </p:nvCxnSpPr>
        <p:spPr>
          <a:xfrm>
            <a:off x="616168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0BB31C4-4594-1788-82D5-F2544755B684}"/>
              </a:ext>
            </a:extLst>
          </p:cNvPr>
          <p:cNvCxnSpPr>
            <a:cxnSpLocks/>
          </p:cNvCxnSpPr>
          <p:nvPr/>
        </p:nvCxnSpPr>
        <p:spPr>
          <a:xfrm>
            <a:off x="724753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34BE5A8C-B1F4-F0BA-E7C8-FDFCC8A5A23B}"/>
              </a:ext>
            </a:extLst>
          </p:cNvPr>
          <p:cNvSpPr txBox="1"/>
          <p:nvPr/>
        </p:nvSpPr>
        <p:spPr>
          <a:xfrm rot="16200000">
            <a:off x="2843196" y="4235316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C2A751C-BBB3-F3C6-A52A-8F2A1D1B0909}"/>
              </a:ext>
            </a:extLst>
          </p:cNvPr>
          <p:cNvSpPr txBox="1"/>
          <p:nvPr/>
        </p:nvSpPr>
        <p:spPr>
          <a:xfrm rot="16200000">
            <a:off x="3691474" y="453750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7F76156-773A-FFE1-A68D-76E2AA93A99E}"/>
              </a:ext>
            </a:extLst>
          </p:cNvPr>
          <p:cNvSpPr txBox="1"/>
          <p:nvPr/>
        </p:nvSpPr>
        <p:spPr>
          <a:xfrm rot="16200000">
            <a:off x="3563830" y="3984058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5EA85B6-B163-FBF8-B058-D62A45ED6D8D}"/>
              </a:ext>
            </a:extLst>
          </p:cNvPr>
          <p:cNvSpPr/>
          <p:nvPr/>
        </p:nvSpPr>
        <p:spPr>
          <a:xfrm>
            <a:off x="4130623" y="3886484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FBB9CC0-7540-A69C-5A0C-259EA79CBF00}"/>
              </a:ext>
            </a:extLst>
          </p:cNvPr>
          <p:cNvSpPr txBox="1"/>
          <p:nvPr/>
        </p:nvSpPr>
        <p:spPr>
          <a:xfrm>
            <a:off x="8475566" y="1916996"/>
            <a:ext cx="2240495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“More likely to be more successful”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C898794-B8F3-A383-3A6C-5A2992055A08}"/>
              </a:ext>
            </a:extLst>
          </p:cNvPr>
          <p:cNvSpPr txBox="1"/>
          <p:nvPr/>
        </p:nvSpPr>
        <p:spPr>
          <a:xfrm>
            <a:off x="8580052" y="4038210"/>
            <a:ext cx="2240495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“Less likely to be more successful”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4100D99-F424-1AAA-D4F6-71806278A3EC}"/>
              </a:ext>
            </a:extLst>
          </p:cNvPr>
          <p:cNvSpPr txBox="1"/>
          <p:nvPr/>
        </p:nvSpPr>
        <p:spPr>
          <a:xfrm rot="19699172">
            <a:off x="-29169" y="514279"/>
            <a:ext cx="2533654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/>
              <a:t>How do we assign probabilities to model this?</a:t>
            </a:r>
          </a:p>
        </p:txBody>
      </p:sp>
    </p:spTree>
    <p:extLst>
      <p:ext uri="{BB962C8B-B14F-4D97-AF65-F5344CB8AC3E}">
        <p14:creationId xmlns:p14="http://schemas.microsoft.com/office/powerpoint/2010/main" val="14347076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76125-ED2B-119E-86B2-E2706E1A9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79AEF-BD60-A1FE-2299-F73305095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D4731F-CEED-1881-AB06-398BC00FFCE7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A1036F-58F2-4E2B-2620-CFA7DF3BF317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645687-79C7-B189-840B-2200C34CBA7B}"/>
              </a:ext>
            </a:extLst>
          </p:cNvPr>
          <p:cNvSpPr txBox="1"/>
          <p:nvPr/>
        </p:nvSpPr>
        <p:spPr>
          <a:xfrm>
            <a:off x="4343400" y="709377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model of these two uncertainties in which a military that would succeed when attempting a coup is more likely to perform well against an opposing force than a military that would fail when attempting a coup.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9C822A-5930-4CA3-5416-D1D0D3546C68}"/>
              </a:ext>
            </a:extLst>
          </p:cNvPr>
          <p:cNvSpPr txBox="1"/>
          <p:nvPr/>
        </p:nvSpPr>
        <p:spPr>
          <a:xfrm>
            <a:off x="4343400" y="1687454"/>
            <a:ext cx="7038975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Marginal-Conditional Method– JUST SAY YES!!!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D1903C-CD7C-FCA8-549D-476F065F4057}"/>
              </a:ext>
            </a:extLst>
          </p:cNvPr>
          <p:cNvSpPr txBox="1"/>
          <p:nvPr/>
        </p:nvSpPr>
        <p:spPr>
          <a:xfrm rot="19677942">
            <a:off x="-270553" y="2483552"/>
            <a:ext cx="5134418" cy="92333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Step 2:  Model uncertainty about success against opposing miiltaries, conditional on knowledge of outcome of a coup attempt.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3912827-0523-574A-341E-A80508D672B9}"/>
              </a:ext>
            </a:extLst>
          </p:cNvPr>
          <p:cNvCxnSpPr>
            <a:cxnSpLocks/>
          </p:cNvCxnSpPr>
          <p:nvPr/>
        </p:nvCxnSpPr>
        <p:spPr>
          <a:xfrm flipV="1">
            <a:off x="4533144" y="3354838"/>
            <a:ext cx="2200275" cy="1130452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9E6F832-F522-C87E-7133-033A1E99C4B4}"/>
              </a:ext>
            </a:extLst>
          </p:cNvPr>
          <p:cNvSpPr txBox="1"/>
          <p:nvPr/>
        </p:nvSpPr>
        <p:spPr>
          <a:xfrm rot="19913270">
            <a:off x="4600155" y="3899264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B28983-B434-DD16-3AB1-566BB37C2E4B}"/>
              </a:ext>
            </a:extLst>
          </p:cNvPr>
          <p:cNvCxnSpPr>
            <a:cxnSpLocks/>
          </p:cNvCxnSpPr>
          <p:nvPr/>
        </p:nvCxnSpPr>
        <p:spPr>
          <a:xfrm>
            <a:off x="4522231" y="4582175"/>
            <a:ext cx="2019300" cy="149147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952752B-B3E5-B055-792A-DE9035130E6A}"/>
              </a:ext>
            </a:extLst>
          </p:cNvPr>
          <p:cNvSpPr txBox="1"/>
          <p:nvPr/>
        </p:nvSpPr>
        <p:spPr>
          <a:xfrm rot="2210112">
            <a:off x="4580614" y="5519727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8D4A997-F1C1-E532-A2AA-A4A176D98809}"/>
                  </a:ext>
                </a:extLst>
              </p:cNvPr>
              <p:cNvSpPr txBox="1"/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8D4A997-F1C1-E532-A2AA-A4A176D98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4300258-BEAC-CCD8-7176-BE8C71F266D8}"/>
                  </a:ext>
                </a:extLst>
              </p:cNvPr>
              <p:cNvSpPr txBox="1"/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4300258-BEAC-CCD8-7176-BE8C71F26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2BCE187-E169-0AF5-D8CB-10A7723BCB3E}"/>
              </a:ext>
            </a:extLst>
          </p:cNvPr>
          <p:cNvSpPr txBox="1"/>
          <p:nvPr/>
        </p:nvSpPr>
        <p:spPr>
          <a:xfrm>
            <a:off x="7448550" y="2186704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CBA6A2-776A-E97D-64DB-AE12B31D3E3A}"/>
              </a:ext>
            </a:extLst>
          </p:cNvPr>
          <p:cNvSpPr txBox="1"/>
          <p:nvPr/>
        </p:nvSpPr>
        <p:spPr>
          <a:xfrm>
            <a:off x="7592983" y="2490201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6C3892-B36F-040E-0F79-5DC6FF735736}"/>
              </a:ext>
            </a:extLst>
          </p:cNvPr>
          <p:cNvSpPr txBox="1"/>
          <p:nvPr/>
        </p:nvSpPr>
        <p:spPr>
          <a:xfrm>
            <a:off x="8475566" y="2362783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1A5D9B-F80C-E47B-E03A-1C0FBCF46026}"/>
              </a:ext>
            </a:extLst>
          </p:cNvPr>
          <p:cNvSpPr txBox="1"/>
          <p:nvPr/>
        </p:nvSpPr>
        <p:spPr>
          <a:xfrm>
            <a:off x="9685619" y="2455117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5CA731-BD34-FB68-F805-22BCD5C71484}"/>
              </a:ext>
            </a:extLst>
          </p:cNvPr>
          <p:cNvSpPr txBox="1"/>
          <p:nvPr/>
        </p:nvSpPr>
        <p:spPr>
          <a:xfrm>
            <a:off x="10705837" y="2463703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7E63FE-C6A5-3124-C29D-7A1BC7DD4AB2}"/>
              </a:ext>
            </a:extLst>
          </p:cNvPr>
          <p:cNvSpPr/>
          <p:nvPr/>
        </p:nvSpPr>
        <p:spPr>
          <a:xfrm>
            <a:off x="7477432" y="2945216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7F1D74D-40A1-8467-C5B7-48E80FA8E7FF}"/>
              </a:ext>
            </a:extLst>
          </p:cNvPr>
          <p:cNvCxnSpPr>
            <a:cxnSpLocks/>
          </p:cNvCxnSpPr>
          <p:nvPr/>
        </p:nvCxnSpPr>
        <p:spPr>
          <a:xfrm>
            <a:off x="84226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6BB2147-0988-B0C4-9E0B-4D4AA0C2D8B8}"/>
              </a:ext>
            </a:extLst>
          </p:cNvPr>
          <p:cNvCxnSpPr>
            <a:cxnSpLocks/>
          </p:cNvCxnSpPr>
          <p:nvPr/>
        </p:nvCxnSpPr>
        <p:spPr>
          <a:xfrm>
            <a:off x="950849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05A4BC4-51EB-F226-0F09-B533F4679F64}"/>
              </a:ext>
            </a:extLst>
          </p:cNvPr>
          <p:cNvCxnSpPr>
            <a:cxnSpLocks/>
          </p:cNvCxnSpPr>
          <p:nvPr/>
        </p:nvCxnSpPr>
        <p:spPr>
          <a:xfrm>
            <a:off x="105943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0C60A98-4F5D-B4F9-0C54-68B5B2A08370}"/>
              </a:ext>
            </a:extLst>
          </p:cNvPr>
          <p:cNvSpPr txBox="1"/>
          <p:nvPr/>
        </p:nvSpPr>
        <p:spPr>
          <a:xfrm rot="16200000">
            <a:off x="6190005" y="3283345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1EA7A8-5702-2F62-4DB3-9C2ECC000D37}"/>
              </a:ext>
            </a:extLst>
          </p:cNvPr>
          <p:cNvSpPr txBox="1"/>
          <p:nvPr/>
        </p:nvSpPr>
        <p:spPr>
          <a:xfrm rot="16200000">
            <a:off x="7038283" y="3585534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4A26AF-0D07-DC03-050A-80A10B32C5EE}"/>
              </a:ext>
            </a:extLst>
          </p:cNvPr>
          <p:cNvSpPr txBox="1"/>
          <p:nvPr/>
        </p:nvSpPr>
        <p:spPr>
          <a:xfrm rot="16200000">
            <a:off x="6910639" y="3032087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A084F0-5796-DA7C-7A9F-693C5E40B31C}"/>
              </a:ext>
            </a:extLst>
          </p:cNvPr>
          <p:cNvSpPr/>
          <p:nvPr/>
        </p:nvSpPr>
        <p:spPr>
          <a:xfrm>
            <a:off x="7477432" y="3477211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28F3D6-67EC-A5C0-43EB-F6F6C175A616}"/>
              </a:ext>
            </a:extLst>
          </p:cNvPr>
          <p:cNvSpPr txBox="1"/>
          <p:nvPr/>
        </p:nvSpPr>
        <p:spPr>
          <a:xfrm>
            <a:off x="7430826" y="4862143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22673B-3B1A-AEAC-3556-B9D1BE3DEFA8}"/>
              </a:ext>
            </a:extLst>
          </p:cNvPr>
          <p:cNvSpPr txBox="1"/>
          <p:nvPr/>
        </p:nvSpPr>
        <p:spPr>
          <a:xfrm>
            <a:off x="7575259" y="5165640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58DFCF-0045-5412-20D0-70F6ACE738CD}"/>
              </a:ext>
            </a:extLst>
          </p:cNvPr>
          <p:cNvSpPr txBox="1"/>
          <p:nvPr/>
        </p:nvSpPr>
        <p:spPr>
          <a:xfrm>
            <a:off x="8457842" y="5038222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1AFF69-BD74-232A-FE28-3220ED318544}"/>
              </a:ext>
            </a:extLst>
          </p:cNvPr>
          <p:cNvSpPr txBox="1"/>
          <p:nvPr/>
        </p:nvSpPr>
        <p:spPr>
          <a:xfrm>
            <a:off x="9667895" y="5130556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28F302-1043-6F71-7543-26F2743016F0}"/>
              </a:ext>
            </a:extLst>
          </p:cNvPr>
          <p:cNvSpPr txBox="1"/>
          <p:nvPr/>
        </p:nvSpPr>
        <p:spPr>
          <a:xfrm>
            <a:off x="10688113" y="5139142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D80D8CD-36E2-FB7E-3E8F-309A4A6A9B47}"/>
              </a:ext>
            </a:extLst>
          </p:cNvPr>
          <p:cNvSpPr/>
          <p:nvPr/>
        </p:nvSpPr>
        <p:spPr>
          <a:xfrm>
            <a:off x="7459708" y="5620655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0886B02-BEBE-1EEE-D33F-4763F0805759}"/>
              </a:ext>
            </a:extLst>
          </p:cNvPr>
          <p:cNvCxnSpPr>
            <a:cxnSpLocks/>
          </p:cNvCxnSpPr>
          <p:nvPr/>
        </p:nvCxnSpPr>
        <p:spPr>
          <a:xfrm>
            <a:off x="84049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CF0A404-2DD9-48E0-7C2D-502DFA583471}"/>
              </a:ext>
            </a:extLst>
          </p:cNvPr>
          <p:cNvCxnSpPr>
            <a:cxnSpLocks/>
          </p:cNvCxnSpPr>
          <p:nvPr/>
        </p:nvCxnSpPr>
        <p:spPr>
          <a:xfrm>
            <a:off x="949076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E9FE6FD-2C1A-2F20-A007-F97602FD05F9}"/>
              </a:ext>
            </a:extLst>
          </p:cNvPr>
          <p:cNvCxnSpPr>
            <a:cxnSpLocks/>
          </p:cNvCxnSpPr>
          <p:nvPr/>
        </p:nvCxnSpPr>
        <p:spPr>
          <a:xfrm>
            <a:off x="105766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834337F-EDB5-ACE7-CA26-614C970EF222}"/>
              </a:ext>
            </a:extLst>
          </p:cNvPr>
          <p:cNvSpPr txBox="1"/>
          <p:nvPr/>
        </p:nvSpPr>
        <p:spPr>
          <a:xfrm rot="16200000">
            <a:off x="6172281" y="595878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D4D3B3-CF66-974B-B8C3-C9D656232B7C}"/>
              </a:ext>
            </a:extLst>
          </p:cNvPr>
          <p:cNvSpPr txBox="1"/>
          <p:nvPr/>
        </p:nvSpPr>
        <p:spPr>
          <a:xfrm rot="16200000">
            <a:off x="7020559" y="6260973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8FBC29-C519-C388-806A-0C1D58907956}"/>
              </a:ext>
            </a:extLst>
          </p:cNvPr>
          <p:cNvSpPr txBox="1"/>
          <p:nvPr/>
        </p:nvSpPr>
        <p:spPr>
          <a:xfrm rot="16200000">
            <a:off x="6892915" y="5707526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E803074-E126-13A1-4D2E-CE99F937B3D1}"/>
              </a:ext>
            </a:extLst>
          </p:cNvPr>
          <p:cNvSpPr/>
          <p:nvPr/>
        </p:nvSpPr>
        <p:spPr>
          <a:xfrm>
            <a:off x="7459708" y="5612069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9FDEE20-51AD-F93B-2BAF-92914C0C736A}"/>
              </a:ext>
            </a:extLst>
          </p:cNvPr>
          <p:cNvCxnSpPr/>
          <p:nvPr/>
        </p:nvCxnSpPr>
        <p:spPr>
          <a:xfrm>
            <a:off x="8810625" y="1047750"/>
            <a:ext cx="2362200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1A714D3-DD64-4DE8-5E9A-AB5AFAF5F8D0}"/>
              </a:ext>
            </a:extLst>
          </p:cNvPr>
          <p:cNvCxnSpPr>
            <a:cxnSpLocks/>
          </p:cNvCxnSpPr>
          <p:nvPr/>
        </p:nvCxnSpPr>
        <p:spPr>
          <a:xfrm>
            <a:off x="4389866" y="1309542"/>
            <a:ext cx="69747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F140FD9-FCAD-3B4E-1583-FA55D9B11366}"/>
              </a:ext>
            </a:extLst>
          </p:cNvPr>
          <p:cNvCxnSpPr>
            <a:cxnSpLocks/>
          </p:cNvCxnSpPr>
          <p:nvPr/>
        </p:nvCxnSpPr>
        <p:spPr>
          <a:xfrm>
            <a:off x="4512365" y="1632707"/>
            <a:ext cx="46125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113F402E-BFD2-84C8-52EA-6A8BB143BD19}"/>
              </a:ext>
            </a:extLst>
          </p:cNvPr>
          <p:cNvSpPr/>
          <p:nvPr/>
        </p:nvSpPr>
        <p:spPr>
          <a:xfrm>
            <a:off x="0" y="0"/>
            <a:ext cx="12192000" cy="6835141"/>
          </a:xfrm>
          <a:prstGeom prst="rect">
            <a:avLst/>
          </a:prstGeom>
          <a:solidFill>
            <a:srgbClr val="5E5E5E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5C585B7-200A-AEBF-76F3-6AB447FA4B2A}"/>
              </a:ext>
            </a:extLst>
          </p:cNvPr>
          <p:cNvSpPr/>
          <p:nvPr/>
        </p:nvSpPr>
        <p:spPr>
          <a:xfrm>
            <a:off x="1524000" y="709377"/>
            <a:ext cx="9059337" cy="49026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B8661E1-E266-99FA-5B67-6DB62C53213B}"/>
              </a:ext>
            </a:extLst>
          </p:cNvPr>
          <p:cNvSpPr txBox="1"/>
          <p:nvPr/>
        </p:nvSpPr>
        <p:spPr>
          <a:xfrm>
            <a:off x="4028017" y="976556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F92B95-2BF3-66D4-60D2-8B0340A16757}"/>
              </a:ext>
            </a:extLst>
          </p:cNvPr>
          <p:cNvSpPr txBox="1"/>
          <p:nvPr/>
        </p:nvSpPr>
        <p:spPr>
          <a:xfrm>
            <a:off x="4172450" y="1280053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8850DC-E66E-53EE-B7B5-90EB4A257713}"/>
              </a:ext>
            </a:extLst>
          </p:cNvPr>
          <p:cNvSpPr txBox="1"/>
          <p:nvPr/>
        </p:nvSpPr>
        <p:spPr>
          <a:xfrm>
            <a:off x="5055033" y="1152635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E0C77DB-DB88-34C7-D431-0F0E726A3321}"/>
              </a:ext>
            </a:extLst>
          </p:cNvPr>
          <p:cNvSpPr txBox="1"/>
          <p:nvPr/>
        </p:nvSpPr>
        <p:spPr>
          <a:xfrm>
            <a:off x="6265086" y="1244969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4738AB2-829A-880C-5FC3-13B9F7A6B73B}"/>
              </a:ext>
            </a:extLst>
          </p:cNvPr>
          <p:cNvSpPr txBox="1"/>
          <p:nvPr/>
        </p:nvSpPr>
        <p:spPr>
          <a:xfrm>
            <a:off x="7285304" y="1253555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EF82CDC-853C-9FCE-A628-4D8137198D8D}"/>
              </a:ext>
            </a:extLst>
          </p:cNvPr>
          <p:cNvSpPr/>
          <p:nvPr/>
        </p:nvSpPr>
        <p:spPr>
          <a:xfrm>
            <a:off x="4056899" y="1735068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7428DF3-395B-6492-2437-C921A2598EC4}"/>
              </a:ext>
            </a:extLst>
          </p:cNvPr>
          <p:cNvCxnSpPr>
            <a:cxnSpLocks/>
          </p:cNvCxnSpPr>
          <p:nvPr/>
        </p:nvCxnSpPr>
        <p:spPr>
          <a:xfrm>
            <a:off x="500210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9297D15-28FF-CC75-AA02-BB6C8728145B}"/>
              </a:ext>
            </a:extLst>
          </p:cNvPr>
          <p:cNvCxnSpPr>
            <a:cxnSpLocks/>
          </p:cNvCxnSpPr>
          <p:nvPr/>
        </p:nvCxnSpPr>
        <p:spPr>
          <a:xfrm>
            <a:off x="608795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03FBD75-D7C0-4745-278E-926D977D5E3C}"/>
              </a:ext>
            </a:extLst>
          </p:cNvPr>
          <p:cNvCxnSpPr>
            <a:cxnSpLocks/>
          </p:cNvCxnSpPr>
          <p:nvPr/>
        </p:nvCxnSpPr>
        <p:spPr>
          <a:xfrm>
            <a:off x="717380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39347289-1AFA-2F7A-B6D1-6A97ED9D222E}"/>
              </a:ext>
            </a:extLst>
          </p:cNvPr>
          <p:cNvSpPr txBox="1"/>
          <p:nvPr/>
        </p:nvSpPr>
        <p:spPr>
          <a:xfrm rot="16200000">
            <a:off x="2769472" y="2073197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AC2DFB-9A38-34D5-3E84-C2F7C8A54116}"/>
              </a:ext>
            </a:extLst>
          </p:cNvPr>
          <p:cNvSpPr txBox="1"/>
          <p:nvPr/>
        </p:nvSpPr>
        <p:spPr>
          <a:xfrm rot="16200000">
            <a:off x="3617750" y="2375386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C3AE1E-7A28-E8BD-00CB-E27E2188731D}"/>
              </a:ext>
            </a:extLst>
          </p:cNvPr>
          <p:cNvSpPr txBox="1"/>
          <p:nvPr/>
        </p:nvSpPr>
        <p:spPr>
          <a:xfrm rot="16200000">
            <a:off x="3490106" y="1821939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82CD362-FDE1-DDB3-4F09-75983D6455F5}"/>
              </a:ext>
            </a:extLst>
          </p:cNvPr>
          <p:cNvSpPr/>
          <p:nvPr/>
        </p:nvSpPr>
        <p:spPr>
          <a:xfrm>
            <a:off x="4056899" y="2267063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6532875-2E42-5D7C-46E8-C2F3ED91CFFC}"/>
              </a:ext>
            </a:extLst>
          </p:cNvPr>
          <p:cNvSpPr txBox="1"/>
          <p:nvPr/>
        </p:nvSpPr>
        <p:spPr>
          <a:xfrm>
            <a:off x="4101741" y="313867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FB2442D-AA97-75B6-D148-29657CBB9A99}"/>
              </a:ext>
            </a:extLst>
          </p:cNvPr>
          <p:cNvSpPr txBox="1"/>
          <p:nvPr/>
        </p:nvSpPr>
        <p:spPr>
          <a:xfrm>
            <a:off x="4246174" y="3442172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1AF71B2-1595-1415-3F6A-CDC15FD65C3C}"/>
              </a:ext>
            </a:extLst>
          </p:cNvPr>
          <p:cNvSpPr txBox="1"/>
          <p:nvPr/>
        </p:nvSpPr>
        <p:spPr>
          <a:xfrm>
            <a:off x="5128757" y="331475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5EB1F8F-1472-A4AC-D9E1-0679FFC0DE18}"/>
              </a:ext>
            </a:extLst>
          </p:cNvPr>
          <p:cNvSpPr txBox="1"/>
          <p:nvPr/>
        </p:nvSpPr>
        <p:spPr>
          <a:xfrm>
            <a:off x="6338810" y="3407088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7FDC0E3-F311-B645-087A-38B0EDE0D786}"/>
              </a:ext>
            </a:extLst>
          </p:cNvPr>
          <p:cNvSpPr txBox="1"/>
          <p:nvPr/>
        </p:nvSpPr>
        <p:spPr>
          <a:xfrm>
            <a:off x="7359028" y="3415674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3DBC5D1-4825-1A77-EBB8-06D3AACBA545}"/>
              </a:ext>
            </a:extLst>
          </p:cNvPr>
          <p:cNvSpPr/>
          <p:nvPr/>
        </p:nvSpPr>
        <p:spPr>
          <a:xfrm>
            <a:off x="4130623" y="3897187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F8520B6-F51B-0BEB-08FA-6025038C0D4B}"/>
              </a:ext>
            </a:extLst>
          </p:cNvPr>
          <p:cNvCxnSpPr>
            <a:cxnSpLocks/>
          </p:cNvCxnSpPr>
          <p:nvPr/>
        </p:nvCxnSpPr>
        <p:spPr>
          <a:xfrm>
            <a:off x="507583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5F6ECE8-A6B7-AA76-6F22-ED1BDFD0E758}"/>
              </a:ext>
            </a:extLst>
          </p:cNvPr>
          <p:cNvCxnSpPr>
            <a:cxnSpLocks/>
          </p:cNvCxnSpPr>
          <p:nvPr/>
        </p:nvCxnSpPr>
        <p:spPr>
          <a:xfrm>
            <a:off x="616168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B71459E-1B07-0653-217A-F9D44CE3C6DE}"/>
              </a:ext>
            </a:extLst>
          </p:cNvPr>
          <p:cNvCxnSpPr>
            <a:cxnSpLocks/>
          </p:cNvCxnSpPr>
          <p:nvPr/>
        </p:nvCxnSpPr>
        <p:spPr>
          <a:xfrm>
            <a:off x="724753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AF0A7375-C864-5FF1-7FB8-AD8A8442DF11}"/>
              </a:ext>
            </a:extLst>
          </p:cNvPr>
          <p:cNvSpPr txBox="1"/>
          <p:nvPr/>
        </p:nvSpPr>
        <p:spPr>
          <a:xfrm rot="16200000">
            <a:off x="2843196" y="4235316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77390E8-1E58-4602-D4BE-778B0C55CE9E}"/>
              </a:ext>
            </a:extLst>
          </p:cNvPr>
          <p:cNvSpPr txBox="1"/>
          <p:nvPr/>
        </p:nvSpPr>
        <p:spPr>
          <a:xfrm rot="16200000">
            <a:off x="3691474" y="453750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7CE7EF2-379E-4150-7B1F-EF52A148410C}"/>
              </a:ext>
            </a:extLst>
          </p:cNvPr>
          <p:cNvSpPr txBox="1"/>
          <p:nvPr/>
        </p:nvSpPr>
        <p:spPr>
          <a:xfrm rot="16200000">
            <a:off x="3563830" y="3984058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A3D466A-5E50-625F-A31A-CE11E172F478}"/>
              </a:ext>
            </a:extLst>
          </p:cNvPr>
          <p:cNvSpPr/>
          <p:nvPr/>
        </p:nvSpPr>
        <p:spPr>
          <a:xfrm>
            <a:off x="4130623" y="3886484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ABD2A1D-74D7-5F35-C8CB-73ADEDDDC667}"/>
              </a:ext>
            </a:extLst>
          </p:cNvPr>
          <p:cNvSpPr txBox="1"/>
          <p:nvPr/>
        </p:nvSpPr>
        <p:spPr>
          <a:xfrm>
            <a:off x="8475566" y="1916996"/>
            <a:ext cx="2240495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“More likely to be more successful”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385B5DD-35E2-FC93-EF33-FA4E607AC2B2}"/>
              </a:ext>
            </a:extLst>
          </p:cNvPr>
          <p:cNvSpPr txBox="1"/>
          <p:nvPr/>
        </p:nvSpPr>
        <p:spPr>
          <a:xfrm>
            <a:off x="8580052" y="4038210"/>
            <a:ext cx="2240495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“Less likely to be more successful”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1851384-BA9A-1637-0664-DF026CC0C243}"/>
              </a:ext>
            </a:extLst>
          </p:cNvPr>
          <p:cNvSpPr txBox="1"/>
          <p:nvPr/>
        </p:nvSpPr>
        <p:spPr>
          <a:xfrm rot="19699172">
            <a:off x="-29169" y="514279"/>
            <a:ext cx="2533654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/>
              <a:t>How do we assign probabilities to model this?</a:t>
            </a:r>
          </a:p>
        </p:txBody>
      </p:sp>
      <p:pic>
        <p:nvPicPr>
          <p:cNvPr id="75" name="Picture 74" descr="A jar of peanut butter&#10;&#10;Description automatically generated">
            <a:extLst>
              <a:ext uri="{FF2B5EF4-FFF2-40B4-BE49-F238E27FC236}">
                <a16:creationId xmlns:a16="http://schemas.microsoft.com/office/drawing/2014/main" id="{22B6578A-F881-68BF-0C54-3C5CCA61BC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9297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D7BE2-17A6-BC1E-152F-76F1A269E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8D4A5-ABFF-5398-28BC-0C7120F5A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B2082A-7611-D5A7-7079-735E46F65B8D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89B407-EA81-88B6-4A18-EB9162192460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C844DD-5A4A-B9C0-88DD-13BD0E2120A5}"/>
              </a:ext>
            </a:extLst>
          </p:cNvPr>
          <p:cNvSpPr txBox="1"/>
          <p:nvPr/>
        </p:nvSpPr>
        <p:spPr>
          <a:xfrm>
            <a:off x="4343400" y="709377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model of these two uncertainties in which a military that would succeed when attempting a coup is more likely to perform well against an opposing force than a military that would fail when attempting a coup.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FA0A31-A333-8294-71ED-B692CFE047B7}"/>
              </a:ext>
            </a:extLst>
          </p:cNvPr>
          <p:cNvSpPr txBox="1"/>
          <p:nvPr/>
        </p:nvSpPr>
        <p:spPr>
          <a:xfrm>
            <a:off x="4343400" y="1687454"/>
            <a:ext cx="7038975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Marginal-Conditional Method– JUST SAY YES!!!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76EFB8-5B78-AE64-84D8-C4041A5AE5CC}"/>
              </a:ext>
            </a:extLst>
          </p:cNvPr>
          <p:cNvSpPr txBox="1"/>
          <p:nvPr/>
        </p:nvSpPr>
        <p:spPr>
          <a:xfrm rot="19677942">
            <a:off x="-270553" y="2483552"/>
            <a:ext cx="5134418" cy="92333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Step 2:  Model uncertainty about success against opposing miiltaries, conditional on knowledge of outcome of a coup attempt.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A254F8A-F571-AE7E-D8CB-4CA5EFD56B61}"/>
              </a:ext>
            </a:extLst>
          </p:cNvPr>
          <p:cNvCxnSpPr>
            <a:cxnSpLocks/>
          </p:cNvCxnSpPr>
          <p:nvPr/>
        </p:nvCxnSpPr>
        <p:spPr>
          <a:xfrm flipV="1">
            <a:off x="4533144" y="3354838"/>
            <a:ext cx="2200275" cy="1130452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2889B48-BB72-8848-F2D8-5E09A22A3745}"/>
              </a:ext>
            </a:extLst>
          </p:cNvPr>
          <p:cNvSpPr txBox="1"/>
          <p:nvPr/>
        </p:nvSpPr>
        <p:spPr>
          <a:xfrm rot="19913270">
            <a:off x="4600155" y="3899264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089375C-ECC8-8ACD-01F0-0DBE5193EFA3}"/>
              </a:ext>
            </a:extLst>
          </p:cNvPr>
          <p:cNvCxnSpPr>
            <a:cxnSpLocks/>
          </p:cNvCxnSpPr>
          <p:nvPr/>
        </p:nvCxnSpPr>
        <p:spPr>
          <a:xfrm>
            <a:off x="4522231" y="4582175"/>
            <a:ext cx="2019300" cy="149147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1DDA858-2B00-822B-10AB-57A7FD412169}"/>
              </a:ext>
            </a:extLst>
          </p:cNvPr>
          <p:cNvSpPr txBox="1"/>
          <p:nvPr/>
        </p:nvSpPr>
        <p:spPr>
          <a:xfrm rot="2210112">
            <a:off x="4580614" y="5519727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A45071D-9488-FFC5-92C0-678A59B43778}"/>
                  </a:ext>
                </a:extLst>
              </p:cNvPr>
              <p:cNvSpPr txBox="1"/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A45071D-9488-FFC5-92C0-678A59B43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A9E6C0C-1C82-9153-9FEE-6AC463CEE9D2}"/>
                  </a:ext>
                </a:extLst>
              </p:cNvPr>
              <p:cNvSpPr txBox="1"/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A9E6C0C-1C82-9153-9FEE-6AC463CEE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537AB15-9CEB-44C8-28ED-1C4F3FA7D47A}"/>
              </a:ext>
            </a:extLst>
          </p:cNvPr>
          <p:cNvSpPr txBox="1"/>
          <p:nvPr/>
        </p:nvSpPr>
        <p:spPr>
          <a:xfrm>
            <a:off x="7448550" y="2186704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9C19F0-6346-0FE8-9C10-C987950812D5}"/>
              </a:ext>
            </a:extLst>
          </p:cNvPr>
          <p:cNvSpPr txBox="1"/>
          <p:nvPr/>
        </p:nvSpPr>
        <p:spPr>
          <a:xfrm>
            <a:off x="7592983" y="2490201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50820-4F9D-8BBF-A790-BFB83F1CA136}"/>
              </a:ext>
            </a:extLst>
          </p:cNvPr>
          <p:cNvSpPr txBox="1"/>
          <p:nvPr/>
        </p:nvSpPr>
        <p:spPr>
          <a:xfrm>
            <a:off x="8475566" y="2362783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7D77C1-0E8E-2DCE-E668-4FF1B4A493B1}"/>
              </a:ext>
            </a:extLst>
          </p:cNvPr>
          <p:cNvSpPr txBox="1"/>
          <p:nvPr/>
        </p:nvSpPr>
        <p:spPr>
          <a:xfrm>
            <a:off x="9685619" y="2455117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776CF1-3B74-1741-548C-A00629E2FABE}"/>
              </a:ext>
            </a:extLst>
          </p:cNvPr>
          <p:cNvSpPr txBox="1"/>
          <p:nvPr/>
        </p:nvSpPr>
        <p:spPr>
          <a:xfrm>
            <a:off x="10705837" y="2463703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0F699F-A0C2-135E-807D-3EC4121AB56F}"/>
              </a:ext>
            </a:extLst>
          </p:cNvPr>
          <p:cNvSpPr/>
          <p:nvPr/>
        </p:nvSpPr>
        <p:spPr>
          <a:xfrm>
            <a:off x="7477432" y="2945216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74EE453-5757-DE9F-A9CE-E75C6DD1DAAC}"/>
              </a:ext>
            </a:extLst>
          </p:cNvPr>
          <p:cNvCxnSpPr>
            <a:cxnSpLocks/>
          </p:cNvCxnSpPr>
          <p:nvPr/>
        </p:nvCxnSpPr>
        <p:spPr>
          <a:xfrm>
            <a:off x="84226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E718A1E-441D-268E-062F-CD0878F90F0A}"/>
              </a:ext>
            </a:extLst>
          </p:cNvPr>
          <p:cNvCxnSpPr>
            <a:cxnSpLocks/>
          </p:cNvCxnSpPr>
          <p:nvPr/>
        </p:nvCxnSpPr>
        <p:spPr>
          <a:xfrm>
            <a:off x="950849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73B7E82-F8E6-3D5F-139D-9B1FC6EF32E3}"/>
              </a:ext>
            </a:extLst>
          </p:cNvPr>
          <p:cNvCxnSpPr>
            <a:cxnSpLocks/>
          </p:cNvCxnSpPr>
          <p:nvPr/>
        </p:nvCxnSpPr>
        <p:spPr>
          <a:xfrm>
            <a:off x="105943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0369FF2-AC9E-6211-CDB7-41D2F0BC2AE4}"/>
              </a:ext>
            </a:extLst>
          </p:cNvPr>
          <p:cNvSpPr txBox="1"/>
          <p:nvPr/>
        </p:nvSpPr>
        <p:spPr>
          <a:xfrm rot="16200000">
            <a:off x="6190005" y="3283345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FD034B-4D61-8E5E-B268-72C2438C5BAA}"/>
              </a:ext>
            </a:extLst>
          </p:cNvPr>
          <p:cNvSpPr txBox="1"/>
          <p:nvPr/>
        </p:nvSpPr>
        <p:spPr>
          <a:xfrm rot="16200000">
            <a:off x="7038283" y="3585534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C51287-B2D9-A126-9165-D52DE50781D4}"/>
              </a:ext>
            </a:extLst>
          </p:cNvPr>
          <p:cNvSpPr txBox="1"/>
          <p:nvPr/>
        </p:nvSpPr>
        <p:spPr>
          <a:xfrm rot="16200000">
            <a:off x="6910639" y="3032087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7CC53B7-9B4B-E611-FC2C-FC6739539AAB}"/>
              </a:ext>
            </a:extLst>
          </p:cNvPr>
          <p:cNvSpPr/>
          <p:nvPr/>
        </p:nvSpPr>
        <p:spPr>
          <a:xfrm>
            <a:off x="7477432" y="3477211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26EDCB-8C81-D8D7-3785-DE103CB5C362}"/>
              </a:ext>
            </a:extLst>
          </p:cNvPr>
          <p:cNvSpPr txBox="1"/>
          <p:nvPr/>
        </p:nvSpPr>
        <p:spPr>
          <a:xfrm>
            <a:off x="7430826" y="4862143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21E29D-62BD-3DB1-F8BF-22709E13FEA3}"/>
              </a:ext>
            </a:extLst>
          </p:cNvPr>
          <p:cNvSpPr txBox="1"/>
          <p:nvPr/>
        </p:nvSpPr>
        <p:spPr>
          <a:xfrm>
            <a:off x="7575259" y="5165640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6E6A65-8E11-0066-4478-9BA81F26D1E5}"/>
              </a:ext>
            </a:extLst>
          </p:cNvPr>
          <p:cNvSpPr txBox="1"/>
          <p:nvPr/>
        </p:nvSpPr>
        <p:spPr>
          <a:xfrm>
            <a:off x="8457842" y="5038222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D220A0-B566-B556-D58B-8D39FEFF4DAE}"/>
              </a:ext>
            </a:extLst>
          </p:cNvPr>
          <p:cNvSpPr txBox="1"/>
          <p:nvPr/>
        </p:nvSpPr>
        <p:spPr>
          <a:xfrm>
            <a:off x="9667895" y="5130556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7D0564-21F8-FEEF-1B3C-6CC47FB612A3}"/>
              </a:ext>
            </a:extLst>
          </p:cNvPr>
          <p:cNvSpPr txBox="1"/>
          <p:nvPr/>
        </p:nvSpPr>
        <p:spPr>
          <a:xfrm>
            <a:off x="10688113" y="5139142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EED3359-FB31-9C81-2538-0C8A362E06DD}"/>
              </a:ext>
            </a:extLst>
          </p:cNvPr>
          <p:cNvSpPr/>
          <p:nvPr/>
        </p:nvSpPr>
        <p:spPr>
          <a:xfrm>
            <a:off x="7459708" y="5620655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0B7EB80-9944-3A29-0694-471674627091}"/>
              </a:ext>
            </a:extLst>
          </p:cNvPr>
          <p:cNvCxnSpPr>
            <a:cxnSpLocks/>
          </p:cNvCxnSpPr>
          <p:nvPr/>
        </p:nvCxnSpPr>
        <p:spPr>
          <a:xfrm>
            <a:off x="84049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EB961A0-73E8-7D04-29BD-F8EE1B4E7113}"/>
              </a:ext>
            </a:extLst>
          </p:cNvPr>
          <p:cNvCxnSpPr>
            <a:cxnSpLocks/>
          </p:cNvCxnSpPr>
          <p:nvPr/>
        </p:nvCxnSpPr>
        <p:spPr>
          <a:xfrm>
            <a:off x="949076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D229D93-251A-9C15-1DBE-6830F796EB87}"/>
              </a:ext>
            </a:extLst>
          </p:cNvPr>
          <p:cNvCxnSpPr>
            <a:cxnSpLocks/>
          </p:cNvCxnSpPr>
          <p:nvPr/>
        </p:nvCxnSpPr>
        <p:spPr>
          <a:xfrm>
            <a:off x="105766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BCA6646-B4A8-C030-07CE-D4CFF9E8D066}"/>
              </a:ext>
            </a:extLst>
          </p:cNvPr>
          <p:cNvSpPr txBox="1"/>
          <p:nvPr/>
        </p:nvSpPr>
        <p:spPr>
          <a:xfrm rot="16200000">
            <a:off x="6172281" y="595878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384164-50BB-6F10-766A-90B45C526618}"/>
              </a:ext>
            </a:extLst>
          </p:cNvPr>
          <p:cNvSpPr txBox="1"/>
          <p:nvPr/>
        </p:nvSpPr>
        <p:spPr>
          <a:xfrm rot="16200000">
            <a:off x="7020559" y="6260973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BBEB3B-E49F-D449-0A18-8B2D6E7E9C22}"/>
              </a:ext>
            </a:extLst>
          </p:cNvPr>
          <p:cNvSpPr txBox="1"/>
          <p:nvPr/>
        </p:nvSpPr>
        <p:spPr>
          <a:xfrm rot="16200000">
            <a:off x="6892915" y="5707526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83B5C95-E401-266B-89B5-D89370A032ED}"/>
              </a:ext>
            </a:extLst>
          </p:cNvPr>
          <p:cNvSpPr/>
          <p:nvPr/>
        </p:nvSpPr>
        <p:spPr>
          <a:xfrm>
            <a:off x="7459708" y="5612069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2A137F8-D95D-CB56-D394-8D2ECC2654F6}"/>
              </a:ext>
            </a:extLst>
          </p:cNvPr>
          <p:cNvCxnSpPr/>
          <p:nvPr/>
        </p:nvCxnSpPr>
        <p:spPr>
          <a:xfrm>
            <a:off x="8810625" y="1047750"/>
            <a:ext cx="2362200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34B9E23-005E-85FA-D416-893F3239669B}"/>
              </a:ext>
            </a:extLst>
          </p:cNvPr>
          <p:cNvCxnSpPr>
            <a:cxnSpLocks/>
          </p:cNvCxnSpPr>
          <p:nvPr/>
        </p:nvCxnSpPr>
        <p:spPr>
          <a:xfrm>
            <a:off x="4389866" y="1309542"/>
            <a:ext cx="69747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8C8E6B8-DFFB-88C5-4455-3F734519ABD3}"/>
              </a:ext>
            </a:extLst>
          </p:cNvPr>
          <p:cNvCxnSpPr>
            <a:cxnSpLocks/>
          </p:cNvCxnSpPr>
          <p:nvPr/>
        </p:nvCxnSpPr>
        <p:spPr>
          <a:xfrm>
            <a:off x="4512365" y="1632707"/>
            <a:ext cx="46125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AA71CC7B-C4AA-388C-1030-7BC1B08895C3}"/>
              </a:ext>
            </a:extLst>
          </p:cNvPr>
          <p:cNvSpPr/>
          <p:nvPr/>
        </p:nvSpPr>
        <p:spPr>
          <a:xfrm>
            <a:off x="0" y="0"/>
            <a:ext cx="12192000" cy="6835141"/>
          </a:xfrm>
          <a:prstGeom prst="rect">
            <a:avLst/>
          </a:prstGeom>
          <a:solidFill>
            <a:srgbClr val="5E5E5E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8F582E6-1579-0D99-B191-E632F0722819}"/>
              </a:ext>
            </a:extLst>
          </p:cNvPr>
          <p:cNvSpPr/>
          <p:nvPr/>
        </p:nvSpPr>
        <p:spPr>
          <a:xfrm>
            <a:off x="1524000" y="709377"/>
            <a:ext cx="9059337" cy="49026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FFAE55A-D11E-DDC1-B21D-982DE5D3E00C}"/>
              </a:ext>
            </a:extLst>
          </p:cNvPr>
          <p:cNvSpPr txBox="1"/>
          <p:nvPr/>
        </p:nvSpPr>
        <p:spPr>
          <a:xfrm>
            <a:off x="4028017" y="976556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7E9884D-CF6C-CDCA-D9FB-A71E102609D7}"/>
              </a:ext>
            </a:extLst>
          </p:cNvPr>
          <p:cNvSpPr txBox="1"/>
          <p:nvPr/>
        </p:nvSpPr>
        <p:spPr>
          <a:xfrm>
            <a:off x="4172450" y="1280053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47DE210-8F6B-5AF5-F035-421BF61C862A}"/>
              </a:ext>
            </a:extLst>
          </p:cNvPr>
          <p:cNvSpPr txBox="1"/>
          <p:nvPr/>
        </p:nvSpPr>
        <p:spPr>
          <a:xfrm>
            <a:off x="5055033" y="1152635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0C9966-26DC-42BB-82BC-86E2279E67F3}"/>
              </a:ext>
            </a:extLst>
          </p:cNvPr>
          <p:cNvSpPr txBox="1"/>
          <p:nvPr/>
        </p:nvSpPr>
        <p:spPr>
          <a:xfrm>
            <a:off x="6265086" y="1244969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6021C3A-8A3E-E1F2-838B-FD329789D65A}"/>
              </a:ext>
            </a:extLst>
          </p:cNvPr>
          <p:cNvSpPr txBox="1"/>
          <p:nvPr/>
        </p:nvSpPr>
        <p:spPr>
          <a:xfrm>
            <a:off x="7285304" y="1253555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F0324D6-1205-1925-6564-AE84C5681E58}"/>
              </a:ext>
            </a:extLst>
          </p:cNvPr>
          <p:cNvSpPr/>
          <p:nvPr/>
        </p:nvSpPr>
        <p:spPr>
          <a:xfrm>
            <a:off x="4056899" y="1735068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9441543-A02C-BF85-B04E-6EB893D1713C}"/>
              </a:ext>
            </a:extLst>
          </p:cNvPr>
          <p:cNvCxnSpPr>
            <a:cxnSpLocks/>
          </p:cNvCxnSpPr>
          <p:nvPr/>
        </p:nvCxnSpPr>
        <p:spPr>
          <a:xfrm>
            <a:off x="500210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1EDA9DF-CA10-A437-2FBF-7424F6116E1E}"/>
              </a:ext>
            </a:extLst>
          </p:cNvPr>
          <p:cNvCxnSpPr>
            <a:cxnSpLocks/>
          </p:cNvCxnSpPr>
          <p:nvPr/>
        </p:nvCxnSpPr>
        <p:spPr>
          <a:xfrm>
            <a:off x="608795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8A5CAB6-10A7-05C6-70AE-5E671D404B27}"/>
              </a:ext>
            </a:extLst>
          </p:cNvPr>
          <p:cNvCxnSpPr>
            <a:cxnSpLocks/>
          </p:cNvCxnSpPr>
          <p:nvPr/>
        </p:nvCxnSpPr>
        <p:spPr>
          <a:xfrm>
            <a:off x="717380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AA88027-07B9-DEF5-494C-5F3CC3F834C9}"/>
              </a:ext>
            </a:extLst>
          </p:cNvPr>
          <p:cNvSpPr txBox="1"/>
          <p:nvPr/>
        </p:nvSpPr>
        <p:spPr>
          <a:xfrm rot="16200000">
            <a:off x="2769472" y="2073197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A2483D3-74FA-D2C7-9A80-9D2D9695A44E}"/>
              </a:ext>
            </a:extLst>
          </p:cNvPr>
          <p:cNvSpPr txBox="1"/>
          <p:nvPr/>
        </p:nvSpPr>
        <p:spPr>
          <a:xfrm rot="16200000">
            <a:off x="3617750" y="2375386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3B6EB0B-1362-7A8D-5C1D-48AECC27F085}"/>
              </a:ext>
            </a:extLst>
          </p:cNvPr>
          <p:cNvSpPr txBox="1"/>
          <p:nvPr/>
        </p:nvSpPr>
        <p:spPr>
          <a:xfrm rot="16200000">
            <a:off x="3490106" y="1821939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DC17D8B-37D5-1DA8-F077-C572D5BED904}"/>
              </a:ext>
            </a:extLst>
          </p:cNvPr>
          <p:cNvSpPr/>
          <p:nvPr/>
        </p:nvSpPr>
        <p:spPr>
          <a:xfrm>
            <a:off x="4056899" y="2267063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AA51E13-3123-9B64-79F9-7AD7B54A6FBD}"/>
              </a:ext>
            </a:extLst>
          </p:cNvPr>
          <p:cNvSpPr txBox="1"/>
          <p:nvPr/>
        </p:nvSpPr>
        <p:spPr>
          <a:xfrm>
            <a:off x="4101741" y="313867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7938DA7-51D2-0667-CFD6-B5978678BA9C}"/>
              </a:ext>
            </a:extLst>
          </p:cNvPr>
          <p:cNvSpPr txBox="1"/>
          <p:nvPr/>
        </p:nvSpPr>
        <p:spPr>
          <a:xfrm>
            <a:off x="4246174" y="3442172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112DAF2-6FC3-8534-0F9C-ABCE494D2C8A}"/>
              </a:ext>
            </a:extLst>
          </p:cNvPr>
          <p:cNvSpPr txBox="1"/>
          <p:nvPr/>
        </p:nvSpPr>
        <p:spPr>
          <a:xfrm>
            <a:off x="5128757" y="331475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8F83EE4-0E14-DCDB-BA9C-2A5EA9165062}"/>
              </a:ext>
            </a:extLst>
          </p:cNvPr>
          <p:cNvSpPr txBox="1"/>
          <p:nvPr/>
        </p:nvSpPr>
        <p:spPr>
          <a:xfrm>
            <a:off x="6338810" y="3407088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C4F8327-C9D8-7714-CDDA-5CC8C6EADA91}"/>
              </a:ext>
            </a:extLst>
          </p:cNvPr>
          <p:cNvSpPr txBox="1"/>
          <p:nvPr/>
        </p:nvSpPr>
        <p:spPr>
          <a:xfrm>
            <a:off x="7359028" y="3415674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367DE6A-48BB-E9D1-DD84-5087CA4F969C}"/>
              </a:ext>
            </a:extLst>
          </p:cNvPr>
          <p:cNvSpPr/>
          <p:nvPr/>
        </p:nvSpPr>
        <p:spPr>
          <a:xfrm>
            <a:off x="4130623" y="3897187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C5B212B-317F-129B-6F66-933504339EF3}"/>
              </a:ext>
            </a:extLst>
          </p:cNvPr>
          <p:cNvCxnSpPr>
            <a:cxnSpLocks/>
          </p:cNvCxnSpPr>
          <p:nvPr/>
        </p:nvCxnSpPr>
        <p:spPr>
          <a:xfrm>
            <a:off x="507583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77DCF67-0CD9-0514-7535-DBEAE7D3ED7A}"/>
              </a:ext>
            </a:extLst>
          </p:cNvPr>
          <p:cNvCxnSpPr>
            <a:cxnSpLocks/>
          </p:cNvCxnSpPr>
          <p:nvPr/>
        </p:nvCxnSpPr>
        <p:spPr>
          <a:xfrm>
            <a:off x="616168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7E2B5A1-D8DE-5E5A-B282-622AAE6881C5}"/>
              </a:ext>
            </a:extLst>
          </p:cNvPr>
          <p:cNvCxnSpPr>
            <a:cxnSpLocks/>
          </p:cNvCxnSpPr>
          <p:nvPr/>
        </p:nvCxnSpPr>
        <p:spPr>
          <a:xfrm>
            <a:off x="724753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1BF8A0DE-A467-9FF4-7B14-4A1E2EEEFFCC}"/>
              </a:ext>
            </a:extLst>
          </p:cNvPr>
          <p:cNvSpPr txBox="1"/>
          <p:nvPr/>
        </p:nvSpPr>
        <p:spPr>
          <a:xfrm rot="16200000">
            <a:off x="2843196" y="4235316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A029917-4D64-028A-5023-EE48FAF60C6D}"/>
              </a:ext>
            </a:extLst>
          </p:cNvPr>
          <p:cNvSpPr txBox="1"/>
          <p:nvPr/>
        </p:nvSpPr>
        <p:spPr>
          <a:xfrm rot="16200000">
            <a:off x="3691474" y="453750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FB3C5F3-ACEB-959D-CE90-00C5902850FE}"/>
              </a:ext>
            </a:extLst>
          </p:cNvPr>
          <p:cNvSpPr txBox="1"/>
          <p:nvPr/>
        </p:nvSpPr>
        <p:spPr>
          <a:xfrm rot="16200000">
            <a:off x="3563830" y="3984058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0C779F1-C4E2-2C1C-2170-7F07BD60D422}"/>
              </a:ext>
            </a:extLst>
          </p:cNvPr>
          <p:cNvSpPr/>
          <p:nvPr/>
        </p:nvSpPr>
        <p:spPr>
          <a:xfrm>
            <a:off x="4130623" y="3886484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7CEA73F-DD9D-6290-9FD5-C1F7F90FDD72}"/>
              </a:ext>
            </a:extLst>
          </p:cNvPr>
          <p:cNvSpPr txBox="1"/>
          <p:nvPr/>
        </p:nvSpPr>
        <p:spPr>
          <a:xfrm>
            <a:off x="8475566" y="1916996"/>
            <a:ext cx="2240495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“More likely to be more successful”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945C74A-681B-3845-A1B8-3AF0AB1E2768}"/>
              </a:ext>
            </a:extLst>
          </p:cNvPr>
          <p:cNvSpPr txBox="1"/>
          <p:nvPr/>
        </p:nvSpPr>
        <p:spPr>
          <a:xfrm>
            <a:off x="8580052" y="4038210"/>
            <a:ext cx="2240495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“Less likely to be more successful”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D3FCC1F-051C-4AC8-AECF-B934D731569B}"/>
              </a:ext>
            </a:extLst>
          </p:cNvPr>
          <p:cNvSpPr txBox="1"/>
          <p:nvPr/>
        </p:nvSpPr>
        <p:spPr>
          <a:xfrm rot="19699172">
            <a:off x="-29169" y="514279"/>
            <a:ext cx="2533654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/>
              <a:t>How do we assign probabilities to model this?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B43CDC24-AE95-C1D6-7C59-CE4BEE29FE75}"/>
              </a:ext>
            </a:extLst>
          </p:cNvPr>
          <p:cNvSpPr/>
          <p:nvPr/>
        </p:nvSpPr>
        <p:spPr>
          <a:xfrm>
            <a:off x="3933825" y="1530554"/>
            <a:ext cx="1142007" cy="933147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4569538-6455-6D31-6894-3F68F32833A6}"/>
              </a:ext>
            </a:extLst>
          </p:cNvPr>
          <p:cNvSpPr/>
          <p:nvPr/>
        </p:nvSpPr>
        <p:spPr>
          <a:xfrm>
            <a:off x="4029363" y="4197119"/>
            <a:ext cx="1142007" cy="933147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FC4F769-05FD-A287-3E0F-129DD6262D5A}"/>
              </a:ext>
            </a:extLst>
          </p:cNvPr>
          <p:cNvSpPr txBox="1"/>
          <p:nvPr/>
        </p:nvSpPr>
        <p:spPr>
          <a:xfrm rot="19357102">
            <a:off x="3312942" y="1522777"/>
            <a:ext cx="743865" cy="3679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less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4564A22-B668-9058-F64C-ABBBAAE99199}"/>
              </a:ext>
            </a:extLst>
          </p:cNvPr>
          <p:cNvSpPr txBox="1"/>
          <p:nvPr/>
        </p:nvSpPr>
        <p:spPr>
          <a:xfrm rot="19357102">
            <a:off x="3276628" y="4320356"/>
            <a:ext cx="743865" cy="3679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more</a:t>
            </a:r>
          </a:p>
        </p:txBody>
      </p:sp>
    </p:spTree>
    <p:extLst>
      <p:ext uri="{BB962C8B-B14F-4D97-AF65-F5344CB8AC3E}">
        <p14:creationId xmlns:p14="http://schemas.microsoft.com/office/powerpoint/2010/main" val="14028845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1FAF3-649A-0F43-C156-0B2729AF3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87242-DEAD-9D0B-C132-0245AD9C6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63C202-D787-44EB-ACCC-60D71AECD1CA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797411-BD63-42CC-C4D7-ECA358855369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8AFF4B-F438-20CD-E103-564BEB9539FF}"/>
              </a:ext>
            </a:extLst>
          </p:cNvPr>
          <p:cNvSpPr txBox="1"/>
          <p:nvPr/>
        </p:nvSpPr>
        <p:spPr>
          <a:xfrm>
            <a:off x="4343400" y="709377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model of these two uncertainties in which a military that would succeed when attempting a coup is more likely to perform well against an opposing force than a military that would fail when attempting a coup.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5A2C8C-80A8-A818-10DF-2ABD15ECCD70}"/>
              </a:ext>
            </a:extLst>
          </p:cNvPr>
          <p:cNvSpPr txBox="1"/>
          <p:nvPr/>
        </p:nvSpPr>
        <p:spPr>
          <a:xfrm>
            <a:off x="4343400" y="1687454"/>
            <a:ext cx="7038975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Marginal-Conditional Method– JUST SAY YES!!!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3EC8AE-E246-2A18-4C5C-D1F0AD2EEDCC}"/>
              </a:ext>
            </a:extLst>
          </p:cNvPr>
          <p:cNvSpPr txBox="1"/>
          <p:nvPr/>
        </p:nvSpPr>
        <p:spPr>
          <a:xfrm rot="19677942">
            <a:off x="-270553" y="2483552"/>
            <a:ext cx="5134418" cy="92333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Step 2:  Model uncertainty about success against opposing miiltaries, conditional on knowledge of outcome of a coup attempt.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F59CE7A-0D7A-AC72-BEA6-C65EF8A954CF}"/>
              </a:ext>
            </a:extLst>
          </p:cNvPr>
          <p:cNvCxnSpPr>
            <a:cxnSpLocks/>
          </p:cNvCxnSpPr>
          <p:nvPr/>
        </p:nvCxnSpPr>
        <p:spPr>
          <a:xfrm flipV="1">
            <a:off x="4533144" y="3354838"/>
            <a:ext cx="2200275" cy="1130452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88C2697-DF1F-5E3E-2607-02B8A4A4043B}"/>
              </a:ext>
            </a:extLst>
          </p:cNvPr>
          <p:cNvSpPr txBox="1"/>
          <p:nvPr/>
        </p:nvSpPr>
        <p:spPr>
          <a:xfrm rot="19913270">
            <a:off x="4600155" y="3899264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3F0D356-A61E-FC38-6BD8-EFF31B1B79FD}"/>
              </a:ext>
            </a:extLst>
          </p:cNvPr>
          <p:cNvCxnSpPr>
            <a:cxnSpLocks/>
          </p:cNvCxnSpPr>
          <p:nvPr/>
        </p:nvCxnSpPr>
        <p:spPr>
          <a:xfrm>
            <a:off x="4522231" y="4582175"/>
            <a:ext cx="2019300" cy="149147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2E943DA-D900-915F-CC1F-370F3F2F062E}"/>
              </a:ext>
            </a:extLst>
          </p:cNvPr>
          <p:cNvSpPr txBox="1"/>
          <p:nvPr/>
        </p:nvSpPr>
        <p:spPr>
          <a:xfrm rot="2210112">
            <a:off x="4580614" y="5519727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930D035-C0A5-3667-E1F1-6E7AABAC30AD}"/>
                  </a:ext>
                </a:extLst>
              </p:cNvPr>
              <p:cNvSpPr txBox="1"/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930D035-C0A5-3667-E1F1-6E7AABAC3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86997A7-32EB-F029-2826-DBEB51E92D37}"/>
                  </a:ext>
                </a:extLst>
              </p:cNvPr>
              <p:cNvSpPr txBox="1"/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86997A7-32EB-F029-2826-DBEB51E92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5BF0007-A2A4-75EB-7A40-C2CC2653F2AC}"/>
              </a:ext>
            </a:extLst>
          </p:cNvPr>
          <p:cNvSpPr txBox="1"/>
          <p:nvPr/>
        </p:nvSpPr>
        <p:spPr>
          <a:xfrm>
            <a:off x="7448550" y="2186704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0A1B25-D5AA-FCF5-222E-DFA6270C9D2A}"/>
              </a:ext>
            </a:extLst>
          </p:cNvPr>
          <p:cNvSpPr txBox="1"/>
          <p:nvPr/>
        </p:nvSpPr>
        <p:spPr>
          <a:xfrm>
            <a:off x="7592983" y="2490201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C527ED-9319-5AFB-B1AA-1D9A88D179D9}"/>
              </a:ext>
            </a:extLst>
          </p:cNvPr>
          <p:cNvSpPr txBox="1"/>
          <p:nvPr/>
        </p:nvSpPr>
        <p:spPr>
          <a:xfrm>
            <a:off x="8475566" y="2362783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BDEDFD-6A63-312A-E951-6342FA719003}"/>
              </a:ext>
            </a:extLst>
          </p:cNvPr>
          <p:cNvSpPr txBox="1"/>
          <p:nvPr/>
        </p:nvSpPr>
        <p:spPr>
          <a:xfrm>
            <a:off x="9685619" y="2455117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CCCEE5-DA94-53A1-FD35-0EB8D1429B12}"/>
              </a:ext>
            </a:extLst>
          </p:cNvPr>
          <p:cNvSpPr txBox="1"/>
          <p:nvPr/>
        </p:nvSpPr>
        <p:spPr>
          <a:xfrm>
            <a:off x="10705837" y="2463703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510824-6F85-C14E-C65F-6C7865FD1764}"/>
              </a:ext>
            </a:extLst>
          </p:cNvPr>
          <p:cNvSpPr/>
          <p:nvPr/>
        </p:nvSpPr>
        <p:spPr>
          <a:xfrm>
            <a:off x="7477432" y="2945216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5A59F48-71B5-9B40-2B6C-6FF91C10F290}"/>
              </a:ext>
            </a:extLst>
          </p:cNvPr>
          <p:cNvCxnSpPr>
            <a:cxnSpLocks/>
          </p:cNvCxnSpPr>
          <p:nvPr/>
        </p:nvCxnSpPr>
        <p:spPr>
          <a:xfrm>
            <a:off x="84226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1531BB8-AC80-D0F9-86B2-94A4F64BB7A7}"/>
              </a:ext>
            </a:extLst>
          </p:cNvPr>
          <p:cNvCxnSpPr>
            <a:cxnSpLocks/>
          </p:cNvCxnSpPr>
          <p:nvPr/>
        </p:nvCxnSpPr>
        <p:spPr>
          <a:xfrm>
            <a:off x="950849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FFE7F20-84ED-A372-7803-051539DA3D18}"/>
              </a:ext>
            </a:extLst>
          </p:cNvPr>
          <p:cNvCxnSpPr>
            <a:cxnSpLocks/>
          </p:cNvCxnSpPr>
          <p:nvPr/>
        </p:nvCxnSpPr>
        <p:spPr>
          <a:xfrm>
            <a:off x="105943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A6795DA-6082-03C1-AF5A-51B1081C363F}"/>
              </a:ext>
            </a:extLst>
          </p:cNvPr>
          <p:cNvSpPr txBox="1"/>
          <p:nvPr/>
        </p:nvSpPr>
        <p:spPr>
          <a:xfrm rot="16200000">
            <a:off x="6190005" y="3283345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A25EBE-1A0E-C6CC-40F6-04EAB23C8E51}"/>
              </a:ext>
            </a:extLst>
          </p:cNvPr>
          <p:cNvSpPr txBox="1"/>
          <p:nvPr/>
        </p:nvSpPr>
        <p:spPr>
          <a:xfrm rot="16200000">
            <a:off x="7038283" y="3585534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B50FB7-431C-5F83-00D4-1C78B90868DB}"/>
              </a:ext>
            </a:extLst>
          </p:cNvPr>
          <p:cNvSpPr txBox="1"/>
          <p:nvPr/>
        </p:nvSpPr>
        <p:spPr>
          <a:xfrm rot="16200000">
            <a:off x="6910639" y="3032087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0CC93B-1454-79A5-7EFA-1A4C2F758386}"/>
              </a:ext>
            </a:extLst>
          </p:cNvPr>
          <p:cNvSpPr/>
          <p:nvPr/>
        </p:nvSpPr>
        <p:spPr>
          <a:xfrm>
            <a:off x="7477432" y="3477211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268633-FEFC-68F0-2A09-C392C50CED66}"/>
              </a:ext>
            </a:extLst>
          </p:cNvPr>
          <p:cNvSpPr txBox="1"/>
          <p:nvPr/>
        </p:nvSpPr>
        <p:spPr>
          <a:xfrm>
            <a:off x="7430826" y="4862143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EF00A5-F805-901D-F4FE-4280F0C5289C}"/>
              </a:ext>
            </a:extLst>
          </p:cNvPr>
          <p:cNvSpPr txBox="1"/>
          <p:nvPr/>
        </p:nvSpPr>
        <p:spPr>
          <a:xfrm>
            <a:off x="7575259" y="5165640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933D57-2E76-FD2C-DE8E-8B151EFC000B}"/>
              </a:ext>
            </a:extLst>
          </p:cNvPr>
          <p:cNvSpPr txBox="1"/>
          <p:nvPr/>
        </p:nvSpPr>
        <p:spPr>
          <a:xfrm>
            <a:off x="8457842" y="5038222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02CA79-758C-4159-84F3-EE3D59EB0BFD}"/>
              </a:ext>
            </a:extLst>
          </p:cNvPr>
          <p:cNvSpPr txBox="1"/>
          <p:nvPr/>
        </p:nvSpPr>
        <p:spPr>
          <a:xfrm>
            <a:off x="9667895" y="5130556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E773A1-A22F-DC61-7288-DAFF238AF3CB}"/>
              </a:ext>
            </a:extLst>
          </p:cNvPr>
          <p:cNvSpPr txBox="1"/>
          <p:nvPr/>
        </p:nvSpPr>
        <p:spPr>
          <a:xfrm>
            <a:off x="10688113" y="5139142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A3A612-E298-6E61-7B51-C2BFF33A86E2}"/>
              </a:ext>
            </a:extLst>
          </p:cNvPr>
          <p:cNvSpPr/>
          <p:nvPr/>
        </p:nvSpPr>
        <p:spPr>
          <a:xfrm>
            <a:off x="7459708" y="5620655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D5836A2-6737-7225-F29A-985BC0C91006}"/>
              </a:ext>
            </a:extLst>
          </p:cNvPr>
          <p:cNvCxnSpPr>
            <a:cxnSpLocks/>
          </p:cNvCxnSpPr>
          <p:nvPr/>
        </p:nvCxnSpPr>
        <p:spPr>
          <a:xfrm>
            <a:off x="84049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27E959C-5026-0004-3625-D7285EAFB367}"/>
              </a:ext>
            </a:extLst>
          </p:cNvPr>
          <p:cNvCxnSpPr>
            <a:cxnSpLocks/>
          </p:cNvCxnSpPr>
          <p:nvPr/>
        </p:nvCxnSpPr>
        <p:spPr>
          <a:xfrm>
            <a:off x="949076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AF55FC-E5C1-39D9-2F32-2C68EBD2F495}"/>
              </a:ext>
            </a:extLst>
          </p:cNvPr>
          <p:cNvCxnSpPr>
            <a:cxnSpLocks/>
          </p:cNvCxnSpPr>
          <p:nvPr/>
        </p:nvCxnSpPr>
        <p:spPr>
          <a:xfrm>
            <a:off x="105766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9BCC923-2B68-53C0-79E4-452FF935B242}"/>
              </a:ext>
            </a:extLst>
          </p:cNvPr>
          <p:cNvSpPr txBox="1"/>
          <p:nvPr/>
        </p:nvSpPr>
        <p:spPr>
          <a:xfrm rot="16200000">
            <a:off x="6172281" y="595878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D81EAE-444A-059A-4B08-F74FE3DC8F18}"/>
              </a:ext>
            </a:extLst>
          </p:cNvPr>
          <p:cNvSpPr txBox="1"/>
          <p:nvPr/>
        </p:nvSpPr>
        <p:spPr>
          <a:xfrm rot="16200000">
            <a:off x="7020559" y="6260973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7B542C-FABC-55EF-7624-01967E6A5037}"/>
              </a:ext>
            </a:extLst>
          </p:cNvPr>
          <p:cNvSpPr txBox="1"/>
          <p:nvPr/>
        </p:nvSpPr>
        <p:spPr>
          <a:xfrm rot="16200000">
            <a:off x="6892915" y="5707526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B29F19C-E738-BEE3-B046-44DC02F03F62}"/>
              </a:ext>
            </a:extLst>
          </p:cNvPr>
          <p:cNvSpPr/>
          <p:nvPr/>
        </p:nvSpPr>
        <p:spPr>
          <a:xfrm>
            <a:off x="7459708" y="5612069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B5A73D6-0298-67F6-BCE6-DA2693199375}"/>
              </a:ext>
            </a:extLst>
          </p:cNvPr>
          <p:cNvCxnSpPr/>
          <p:nvPr/>
        </p:nvCxnSpPr>
        <p:spPr>
          <a:xfrm>
            <a:off x="8810625" y="1047750"/>
            <a:ext cx="2362200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5654E72-D42D-68D6-A3DC-E328FFFAB545}"/>
              </a:ext>
            </a:extLst>
          </p:cNvPr>
          <p:cNvCxnSpPr>
            <a:cxnSpLocks/>
          </p:cNvCxnSpPr>
          <p:nvPr/>
        </p:nvCxnSpPr>
        <p:spPr>
          <a:xfrm>
            <a:off x="4389866" y="1309542"/>
            <a:ext cx="69747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BFFB13E-FDD9-4CF7-C798-86BFE0AD3635}"/>
              </a:ext>
            </a:extLst>
          </p:cNvPr>
          <p:cNvCxnSpPr>
            <a:cxnSpLocks/>
          </p:cNvCxnSpPr>
          <p:nvPr/>
        </p:nvCxnSpPr>
        <p:spPr>
          <a:xfrm>
            <a:off x="4512365" y="1632707"/>
            <a:ext cx="46125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DF26D236-3257-45E6-A659-BE7EB525DFB4}"/>
              </a:ext>
            </a:extLst>
          </p:cNvPr>
          <p:cNvSpPr/>
          <p:nvPr/>
        </p:nvSpPr>
        <p:spPr>
          <a:xfrm>
            <a:off x="0" y="0"/>
            <a:ext cx="12192000" cy="6835141"/>
          </a:xfrm>
          <a:prstGeom prst="rect">
            <a:avLst/>
          </a:prstGeom>
          <a:solidFill>
            <a:srgbClr val="5E5E5E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EE68CE3-5AC5-0736-6EC2-11B293A1B493}"/>
              </a:ext>
            </a:extLst>
          </p:cNvPr>
          <p:cNvSpPr/>
          <p:nvPr/>
        </p:nvSpPr>
        <p:spPr>
          <a:xfrm>
            <a:off x="1524000" y="709377"/>
            <a:ext cx="9059337" cy="49026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B35F664-08DD-60FB-6F8E-9DB63FB00E60}"/>
              </a:ext>
            </a:extLst>
          </p:cNvPr>
          <p:cNvSpPr txBox="1"/>
          <p:nvPr/>
        </p:nvSpPr>
        <p:spPr>
          <a:xfrm>
            <a:off x="4028017" y="976556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815EA8C-8337-E54B-7CE5-BDC670BDA73C}"/>
              </a:ext>
            </a:extLst>
          </p:cNvPr>
          <p:cNvSpPr txBox="1"/>
          <p:nvPr/>
        </p:nvSpPr>
        <p:spPr>
          <a:xfrm>
            <a:off x="4172450" y="1280053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2E1301C-F9B2-834C-4E0F-4B379D1F52E1}"/>
              </a:ext>
            </a:extLst>
          </p:cNvPr>
          <p:cNvSpPr txBox="1"/>
          <p:nvPr/>
        </p:nvSpPr>
        <p:spPr>
          <a:xfrm>
            <a:off x="5055033" y="1152635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1F5C7B-40C4-FC3E-2FA4-302A7A8AD034}"/>
              </a:ext>
            </a:extLst>
          </p:cNvPr>
          <p:cNvSpPr txBox="1"/>
          <p:nvPr/>
        </p:nvSpPr>
        <p:spPr>
          <a:xfrm>
            <a:off x="6265086" y="1244969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B390C1A-1D28-9C8A-E5DE-18C15B282818}"/>
              </a:ext>
            </a:extLst>
          </p:cNvPr>
          <p:cNvSpPr txBox="1"/>
          <p:nvPr/>
        </p:nvSpPr>
        <p:spPr>
          <a:xfrm>
            <a:off x="7285304" y="1253555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DDD302E-261C-B820-1AF9-74EAF5CE1958}"/>
              </a:ext>
            </a:extLst>
          </p:cNvPr>
          <p:cNvSpPr/>
          <p:nvPr/>
        </p:nvSpPr>
        <p:spPr>
          <a:xfrm>
            <a:off x="4056899" y="1735068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6B7DD00-FD3A-E7F9-F8DB-6AEA089DD232}"/>
              </a:ext>
            </a:extLst>
          </p:cNvPr>
          <p:cNvCxnSpPr>
            <a:cxnSpLocks/>
          </p:cNvCxnSpPr>
          <p:nvPr/>
        </p:nvCxnSpPr>
        <p:spPr>
          <a:xfrm>
            <a:off x="500210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8830F8D-5051-F306-2234-28218565FE11}"/>
              </a:ext>
            </a:extLst>
          </p:cNvPr>
          <p:cNvCxnSpPr>
            <a:cxnSpLocks/>
          </p:cNvCxnSpPr>
          <p:nvPr/>
        </p:nvCxnSpPr>
        <p:spPr>
          <a:xfrm>
            <a:off x="608795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7434920-2AD7-E2DE-4D53-30D577936111}"/>
              </a:ext>
            </a:extLst>
          </p:cNvPr>
          <p:cNvCxnSpPr>
            <a:cxnSpLocks/>
          </p:cNvCxnSpPr>
          <p:nvPr/>
        </p:nvCxnSpPr>
        <p:spPr>
          <a:xfrm>
            <a:off x="717380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A11F1251-C74F-70B2-038A-0D2DFE5235C9}"/>
              </a:ext>
            </a:extLst>
          </p:cNvPr>
          <p:cNvSpPr txBox="1"/>
          <p:nvPr/>
        </p:nvSpPr>
        <p:spPr>
          <a:xfrm rot="16200000">
            <a:off x="2769472" y="2073197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3716978-DF1C-CF51-F904-BC4778769442}"/>
              </a:ext>
            </a:extLst>
          </p:cNvPr>
          <p:cNvSpPr txBox="1"/>
          <p:nvPr/>
        </p:nvSpPr>
        <p:spPr>
          <a:xfrm rot="16200000">
            <a:off x="3617750" y="2375386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A1CB7C2-EA2C-7321-9899-0636248E5D8E}"/>
              </a:ext>
            </a:extLst>
          </p:cNvPr>
          <p:cNvSpPr txBox="1"/>
          <p:nvPr/>
        </p:nvSpPr>
        <p:spPr>
          <a:xfrm rot="16200000">
            <a:off x="3490106" y="1821939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99A79E5-6D57-2237-B556-92B02BCEC1E5}"/>
              </a:ext>
            </a:extLst>
          </p:cNvPr>
          <p:cNvSpPr/>
          <p:nvPr/>
        </p:nvSpPr>
        <p:spPr>
          <a:xfrm>
            <a:off x="4056899" y="2267063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5DA1B44-C3BE-CB52-67CE-4CA1F82897A8}"/>
              </a:ext>
            </a:extLst>
          </p:cNvPr>
          <p:cNvSpPr txBox="1"/>
          <p:nvPr/>
        </p:nvSpPr>
        <p:spPr>
          <a:xfrm>
            <a:off x="4101741" y="313867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E6DC7B4-F206-55AC-B88B-7E1208599E75}"/>
              </a:ext>
            </a:extLst>
          </p:cNvPr>
          <p:cNvSpPr txBox="1"/>
          <p:nvPr/>
        </p:nvSpPr>
        <p:spPr>
          <a:xfrm>
            <a:off x="4246174" y="3442172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E6ACC37-58E9-3F1E-53DA-C3C908C6ECEA}"/>
              </a:ext>
            </a:extLst>
          </p:cNvPr>
          <p:cNvSpPr txBox="1"/>
          <p:nvPr/>
        </p:nvSpPr>
        <p:spPr>
          <a:xfrm>
            <a:off x="5128757" y="331475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F00FA93-865F-265F-9F36-EB1A7A706474}"/>
              </a:ext>
            </a:extLst>
          </p:cNvPr>
          <p:cNvSpPr txBox="1"/>
          <p:nvPr/>
        </p:nvSpPr>
        <p:spPr>
          <a:xfrm>
            <a:off x="6338810" y="3407088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DDFC72F-C0F8-F607-71B3-E8AF75AF15FB}"/>
              </a:ext>
            </a:extLst>
          </p:cNvPr>
          <p:cNvSpPr txBox="1"/>
          <p:nvPr/>
        </p:nvSpPr>
        <p:spPr>
          <a:xfrm>
            <a:off x="7359028" y="3415674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E6A8E19-3C17-C6B6-CDD1-8F3EC3406F21}"/>
              </a:ext>
            </a:extLst>
          </p:cNvPr>
          <p:cNvSpPr/>
          <p:nvPr/>
        </p:nvSpPr>
        <p:spPr>
          <a:xfrm>
            <a:off x="4130623" y="3897187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9C67BFF-E12F-837D-3016-9F401044B7B0}"/>
              </a:ext>
            </a:extLst>
          </p:cNvPr>
          <p:cNvCxnSpPr>
            <a:cxnSpLocks/>
          </p:cNvCxnSpPr>
          <p:nvPr/>
        </p:nvCxnSpPr>
        <p:spPr>
          <a:xfrm>
            <a:off x="507583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CB2BCC2-5BBB-89B5-69A2-F202B98AC70E}"/>
              </a:ext>
            </a:extLst>
          </p:cNvPr>
          <p:cNvCxnSpPr>
            <a:cxnSpLocks/>
          </p:cNvCxnSpPr>
          <p:nvPr/>
        </p:nvCxnSpPr>
        <p:spPr>
          <a:xfrm>
            <a:off x="616168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9CBBA5F-1F23-3D5D-043F-87D1682F1E07}"/>
              </a:ext>
            </a:extLst>
          </p:cNvPr>
          <p:cNvCxnSpPr>
            <a:cxnSpLocks/>
          </p:cNvCxnSpPr>
          <p:nvPr/>
        </p:nvCxnSpPr>
        <p:spPr>
          <a:xfrm>
            <a:off x="724753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948A7BE5-FECA-9D30-2B47-820D42FC6C30}"/>
              </a:ext>
            </a:extLst>
          </p:cNvPr>
          <p:cNvSpPr txBox="1"/>
          <p:nvPr/>
        </p:nvSpPr>
        <p:spPr>
          <a:xfrm rot="16200000">
            <a:off x="2843196" y="4235316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77AE63A-A310-0E1B-53BE-402F1E46C71A}"/>
              </a:ext>
            </a:extLst>
          </p:cNvPr>
          <p:cNvSpPr txBox="1"/>
          <p:nvPr/>
        </p:nvSpPr>
        <p:spPr>
          <a:xfrm rot="16200000">
            <a:off x="3691474" y="453750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D6B6D81-5FA5-5162-651C-481AA9850E87}"/>
              </a:ext>
            </a:extLst>
          </p:cNvPr>
          <p:cNvSpPr txBox="1"/>
          <p:nvPr/>
        </p:nvSpPr>
        <p:spPr>
          <a:xfrm rot="16200000">
            <a:off x="3563830" y="3984058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D3979EF-B0A3-A67D-DFBD-C47FBE87175B}"/>
              </a:ext>
            </a:extLst>
          </p:cNvPr>
          <p:cNvSpPr/>
          <p:nvPr/>
        </p:nvSpPr>
        <p:spPr>
          <a:xfrm>
            <a:off x="4130623" y="3886484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B04E197-CD44-E817-0F87-95F4A32D1B61}"/>
              </a:ext>
            </a:extLst>
          </p:cNvPr>
          <p:cNvSpPr txBox="1"/>
          <p:nvPr/>
        </p:nvSpPr>
        <p:spPr>
          <a:xfrm>
            <a:off x="8475566" y="1916996"/>
            <a:ext cx="2240495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“More likely to be more successful”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720119F-55FD-0120-332D-0686E2690F14}"/>
              </a:ext>
            </a:extLst>
          </p:cNvPr>
          <p:cNvSpPr txBox="1"/>
          <p:nvPr/>
        </p:nvSpPr>
        <p:spPr>
          <a:xfrm>
            <a:off x="8580052" y="4038210"/>
            <a:ext cx="2240495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“Less likely to be more successful”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495708E-1D94-B063-4991-5E769D7E27DB}"/>
              </a:ext>
            </a:extLst>
          </p:cNvPr>
          <p:cNvSpPr txBox="1"/>
          <p:nvPr/>
        </p:nvSpPr>
        <p:spPr>
          <a:xfrm rot="19699172">
            <a:off x="-29169" y="514279"/>
            <a:ext cx="2533654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/>
              <a:t>How do we assign probabilities to model this?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B9E698F5-405A-622C-6533-2CB17834CE53}"/>
              </a:ext>
            </a:extLst>
          </p:cNvPr>
          <p:cNvSpPr/>
          <p:nvPr/>
        </p:nvSpPr>
        <p:spPr>
          <a:xfrm>
            <a:off x="3933825" y="1530554"/>
            <a:ext cx="1142007" cy="933147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C341715-12FC-879B-DD04-808FCF2E6D61}"/>
              </a:ext>
            </a:extLst>
          </p:cNvPr>
          <p:cNvSpPr/>
          <p:nvPr/>
        </p:nvSpPr>
        <p:spPr>
          <a:xfrm>
            <a:off x="4029363" y="4197119"/>
            <a:ext cx="1142007" cy="933147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3A8B68C-F94F-6C1D-061F-1AB075081037}"/>
              </a:ext>
            </a:extLst>
          </p:cNvPr>
          <p:cNvSpPr txBox="1"/>
          <p:nvPr/>
        </p:nvSpPr>
        <p:spPr>
          <a:xfrm rot="19357102">
            <a:off x="3312942" y="1522777"/>
            <a:ext cx="743865" cy="3679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less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CF55171-1FDE-99C2-D73B-2726C9D66E21}"/>
              </a:ext>
            </a:extLst>
          </p:cNvPr>
          <p:cNvSpPr txBox="1"/>
          <p:nvPr/>
        </p:nvSpPr>
        <p:spPr>
          <a:xfrm rot="19357102">
            <a:off x="3276628" y="4320356"/>
            <a:ext cx="743865" cy="3679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more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0D419F24-9580-E342-8D52-D032D99D7DCC}"/>
              </a:ext>
            </a:extLst>
          </p:cNvPr>
          <p:cNvSpPr/>
          <p:nvPr/>
        </p:nvSpPr>
        <p:spPr>
          <a:xfrm>
            <a:off x="4006507" y="1660450"/>
            <a:ext cx="2146711" cy="706004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0AF77543-D8B8-DC4B-4CBF-4F9717A538C6}"/>
              </a:ext>
            </a:extLst>
          </p:cNvPr>
          <p:cNvSpPr/>
          <p:nvPr/>
        </p:nvSpPr>
        <p:spPr>
          <a:xfrm>
            <a:off x="4035087" y="4336706"/>
            <a:ext cx="2146711" cy="706004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9C4C858-33F2-A0C0-5D0C-FAE9E55A4033}"/>
              </a:ext>
            </a:extLst>
          </p:cNvPr>
          <p:cNvSpPr txBox="1"/>
          <p:nvPr/>
        </p:nvSpPr>
        <p:spPr>
          <a:xfrm rot="19357102">
            <a:off x="5682136" y="1244135"/>
            <a:ext cx="743865" cy="3679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less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7FA8CBB-CCA3-9501-D907-4BAC9580B9BC}"/>
              </a:ext>
            </a:extLst>
          </p:cNvPr>
          <p:cNvSpPr txBox="1"/>
          <p:nvPr/>
        </p:nvSpPr>
        <p:spPr>
          <a:xfrm rot="19357102">
            <a:off x="5109676" y="5120169"/>
            <a:ext cx="743865" cy="3679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more</a:t>
            </a:r>
          </a:p>
        </p:txBody>
      </p:sp>
    </p:spTree>
    <p:extLst>
      <p:ext uri="{BB962C8B-B14F-4D97-AF65-F5344CB8AC3E}">
        <p14:creationId xmlns:p14="http://schemas.microsoft.com/office/powerpoint/2010/main" val="33194362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CED5B-F180-636C-9BCA-C58424EC4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5F229-6DF0-3806-AD57-BD71B0AB2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7630C3-A5A4-32C8-B442-9E0CEFD61060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069ACE-A61C-BF77-C774-56BEB99D651D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32B9E8-CC2C-5D21-90F6-4DDCAD80DBC7}"/>
              </a:ext>
            </a:extLst>
          </p:cNvPr>
          <p:cNvSpPr txBox="1"/>
          <p:nvPr/>
        </p:nvSpPr>
        <p:spPr>
          <a:xfrm>
            <a:off x="4343400" y="709377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model of these two uncertainties in which a military that would succeed when attempting a coup is more likely to perform well against an opposing force than a military that would fail when attempting a coup.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9D14CB-6797-267B-6499-5B864B796F97}"/>
              </a:ext>
            </a:extLst>
          </p:cNvPr>
          <p:cNvSpPr txBox="1"/>
          <p:nvPr/>
        </p:nvSpPr>
        <p:spPr>
          <a:xfrm>
            <a:off x="4343400" y="1687454"/>
            <a:ext cx="7038975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Marginal-Conditional Method– JUST SAY YES!!!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035578-1460-EBF3-706E-72DA2BEA9AC2}"/>
              </a:ext>
            </a:extLst>
          </p:cNvPr>
          <p:cNvSpPr txBox="1"/>
          <p:nvPr/>
        </p:nvSpPr>
        <p:spPr>
          <a:xfrm rot="19677942">
            <a:off x="-270553" y="2483552"/>
            <a:ext cx="5134418" cy="92333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Step 2:  Model uncertainty about success against opposing miiltaries, conditional on knowledge of outcome of a coup attempt.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AB4E3D-84DD-3482-968F-07989C4C98D9}"/>
              </a:ext>
            </a:extLst>
          </p:cNvPr>
          <p:cNvCxnSpPr>
            <a:cxnSpLocks/>
          </p:cNvCxnSpPr>
          <p:nvPr/>
        </p:nvCxnSpPr>
        <p:spPr>
          <a:xfrm flipV="1">
            <a:off x="4533144" y="3354838"/>
            <a:ext cx="2200275" cy="1130452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D361DD7-630C-7222-E1CD-F5973E11A35C}"/>
              </a:ext>
            </a:extLst>
          </p:cNvPr>
          <p:cNvSpPr txBox="1"/>
          <p:nvPr/>
        </p:nvSpPr>
        <p:spPr>
          <a:xfrm rot="19913270">
            <a:off x="4600155" y="3899264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9A4CB01-22ED-545B-04F2-9DF9107EE709}"/>
              </a:ext>
            </a:extLst>
          </p:cNvPr>
          <p:cNvCxnSpPr>
            <a:cxnSpLocks/>
          </p:cNvCxnSpPr>
          <p:nvPr/>
        </p:nvCxnSpPr>
        <p:spPr>
          <a:xfrm>
            <a:off x="4522231" y="4582175"/>
            <a:ext cx="2019300" cy="149147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661F9F7-2A59-B063-3127-C9BEF70CEF14}"/>
              </a:ext>
            </a:extLst>
          </p:cNvPr>
          <p:cNvSpPr txBox="1"/>
          <p:nvPr/>
        </p:nvSpPr>
        <p:spPr>
          <a:xfrm rot="2210112">
            <a:off x="4580614" y="5519727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7E9FE66-44CE-9EE1-4BC9-5853EB0ECB4D}"/>
                  </a:ext>
                </a:extLst>
              </p:cNvPr>
              <p:cNvSpPr txBox="1"/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7E9FE66-44CE-9EE1-4BC9-5853EB0EC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12383DD-26FE-1699-7A4A-5159999778D5}"/>
                  </a:ext>
                </a:extLst>
              </p:cNvPr>
              <p:cNvSpPr txBox="1"/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12383DD-26FE-1699-7A4A-515999977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A8CAF75-CF3C-AED3-9EA1-F07D6CD0A03E}"/>
              </a:ext>
            </a:extLst>
          </p:cNvPr>
          <p:cNvSpPr txBox="1"/>
          <p:nvPr/>
        </p:nvSpPr>
        <p:spPr>
          <a:xfrm>
            <a:off x="7448550" y="2186704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2BBE87-AB82-A424-AE3B-F3C8D83C8FB4}"/>
              </a:ext>
            </a:extLst>
          </p:cNvPr>
          <p:cNvSpPr txBox="1"/>
          <p:nvPr/>
        </p:nvSpPr>
        <p:spPr>
          <a:xfrm>
            <a:off x="7592983" y="2490201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4952BE-3F9A-DB8E-B8C4-739A83EC5C1E}"/>
              </a:ext>
            </a:extLst>
          </p:cNvPr>
          <p:cNvSpPr txBox="1"/>
          <p:nvPr/>
        </p:nvSpPr>
        <p:spPr>
          <a:xfrm>
            <a:off x="8475566" y="2362783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3B6D4B-9EEF-F800-AEC2-69027118C73B}"/>
              </a:ext>
            </a:extLst>
          </p:cNvPr>
          <p:cNvSpPr txBox="1"/>
          <p:nvPr/>
        </p:nvSpPr>
        <p:spPr>
          <a:xfrm>
            <a:off x="9685619" y="2455117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84BCA8-AA39-6E1C-A609-FE1EAD1490C1}"/>
              </a:ext>
            </a:extLst>
          </p:cNvPr>
          <p:cNvSpPr txBox="1"/>
          <p:nvPr/>
        </p:nvSpPr>
        <p:spPr>
          <a:xfrm>
            <a:off x="10705837" y="2463703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DA180C-AF97-2A3B-9ADC-51309CFF8BC0}"/>
              </a:ext>
            </a:extLst>
          </p:cNvPr>
          <p:cNvSpPr/>
          <p:nvPr/>
        </p:nvSpPr>
        <p:spPr>
          <a:xfrm>
            <a:off x="7477432" y="2945216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39E1012-456D-41A2-2A03-CE6C10558474}"/>
              </a:ext>
            </a:extLst>
          </p:cNvPr>
          <p:cNvCxnSpPr>
            <a:cxnSpLocks/>
          </p:cNvCxnSpPr>
          <p:nvPr/>
        </p:nvCxnSpPr>
        <p:spPr>
          <a:xfrm>
            <a:off x="84226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EB5455-0614-EC6F-3460-35194133C03D}"/>
              </a:ext>
            </a:extLst>
          </p:cNvPr>
          <p:cNvCxnSpPr>
            <a:cxnSpLocks/>
          </p:cNvCxnSpPr>
          <p:nvPr/>
        </p:nvCxnSpPr>
        <p:spPr>
          <a:xfrm>
            <a:off x="950849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85CA7A4-BB3E-ECCC-D187-F26849B9EC84}"/>
              </a:ext>
            </a:extLst>
          </p:cNvPr>
          <p:cNvCxnSpPr>
            <a:cxnSpLocks/>
          </p:cNvCxnSpPr>
          <p:nvPr/>
        </p:nvCxnSpPr>
        <p:spPr>
          <a:xfrm>
            <a:off x="105943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372650A-E687-CFB2-F10F-87CB39C79326}"/>
              </a:ext>
            </a:extLst>
          </p:cNvPr>
          <p:cNvSpPr txBox="1"/>
          <p:nvPr/>
        </p:nvSpPr>
        <p:spPr>
          <a:xfrm rot="16200000">
            <a:off x="6190005" y="3283345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D26B66-34DA-C458-4BA9-22FDAFC7D4E6}"/>
              </a:ext>
            </a:extLst>
          </p:cNvPr>
          <p:cNvSpPr txBox="1"/>
          <p:nvPr/>
        </p:nvSpPr>
        <p:spPr>
          <a:xfrm rot="16200000">
            <a:off x="7038283" y="3585534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A2A154-AD14-139D-C184-059D7E5EEEBF}"/>
              </a:ext>
            </a:extLst>
          </p:cNvPr>
          <p:cNvSpPr txBox="1"/>
          <p:nvPr/>
        </p:nvSpPr>
        <p:spPr>
          <a:xfrm rot="16200000">
            <a:off x="6910639" y="3032087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F62FD43-A8D2-739E-522E-CB17CFE2B5E6}"/>
              </a:ext>
            </a:extLst>
          </p:cNvPr>
          <p:cNvSpPr/>
          <p:nvPr/>
        </p:nvSpPr>
        <p:spPr>
          <a:xfrm>
            <a:off x="7477432" y="3477211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7019F2-CD6A-9F11-0B16-16B4081F4389}"/>
              </a:ext>
            </a:extLst>
          </p:cNvPr>
          <p:cNvSpPr txBox="1"/>
          <p:nvPr/>
        </p:nvSpPr>
        <p:spPr>
          <a:xfrm>
            <a:off x="7430826" y="4862143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431B39-8EAF-3C01-62BD-DA1F8275C029}"/>
              </a:ext>
            </a:extLst>
          </p:cNvPr>
          <p:cNvSpPr txBox="1"/>
          <p:nvPr/>
        </p:nvSpPr>
        <p:spPr>
          <a:xfrm>
            <a:off x="7575259" y="5165640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640931-62BF-4461-26F3-92CE6D7AE898}"/>
              </a:ext>
            </a:extLst>
          </p:cNvPr>
          <p:cNvSpPr txBox="1"/>
          <p:nvPr/>
        </p:nvSpPr>
        <p:spPr>
          <a:xfrm>
            <a:off x="8457842" y="5038222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C12DAA-C1D1-7EA5-5E84-04C4A8EAE8C7}"/>
              </a:ext>
            </a:extLst>
          </p:cNvPr>
          <p:cNvSpPr txBox="1"/>
          <p:nvPr/>
        </p:nvSpPr>
        <p:spPr>
          <a:xfrm>
            <a:off x="9667895" y="5130556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AB7CB0-6172-8733-0980-80F0353071C1}"/>
              </a:ext>
            </a:extLst>
          </p:cNvPr>
          <p:cNvSpPr txBox="1"/>
          <p:nvPr/>
        </p:nvSpPr>
        <p:spPr>
          <a:xfrm>
            <a:off x="10688113" y="5139142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E4441A4-EE3A-CE6A-ECC5-A1EF45859BCD}"/>
              </a:ext>
            </a:extLst>
          </p:cNvPr>
          <p:cNvSpPr/>
          <p:nvPr/>
        </p:nvSpPr>
        <p:spPr>
          <a:xfrm>
            <a:off x="7459708" y="5620655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226DB3F-D2DD-B23D-6BD3-2450B29B434A}"/>
              </a:ext>
            </a:extLst>
          </p:cNvPr>
          <p:cNvCxnSpPr>
            <a:cxnSpLocks/>
          </p:cNvCxnSpPr>
          <p:nvPr/>
        </p:nvCxnSpPr>
        <p:spPr>
          <a:xfrm>
            <a:off x="84049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F7E4D0E-E19D-A00D-AAAF-36402C08E164}"/>
              </a:ext>
            </a:extLst>
          </p:cNvPr>
          <p:cNvCxnSpPr>
            <a:cxnSpLocks/>
          </p:cNvCxnSpPr>
          <p:nvPr/>
        </p:nvCxnSpPr>
        <p:spPr>
          <a:xfrm>
            <a:off x="949076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A6B55B8-BD37-98B1-B8AF-CC11B2C197A6}"/>
              </a:ext>
            </a:extLst>
          </p:cNvPr>
          <p:cNvCxnSpPr>
            <a:cxnSpLocks/>
          </p:cNvCxnSpPr>
          <p:nvPr/>
        </p:nvCxnSpPr>
        <p:spPr>
          <a:xfrm>
            <a:off x="105766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E381F77-8761-5F59-E852-18BD2BAF4A0A}"/>
              </a:ext>
            </a:extLst>
          </p:cNvPr>
          <p:cNvSpPr txBox="1"/>
          <p:nvPr/>
        </p:nvSpPr>
        <p:spPr>
          <a:xfrm rot="16200000">
            <a:off x="6172281" y="595878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36542D-5442-72C2-9254-6653A7F5A802}"/>
              </a:ext>
            </a:extLst>
          </p:cNvPr>
          <p:cNvSpPr txBox="1"/>
          <p:nvPr/>
        </p:nvSpPr>
        <p:spPr>
          <a:xfrm rot="16200000">
            <a:off x="7020559" y="6260973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0DDA0B-2F24-F13F-6D65-1C7CBC658CC3}"/>
              </a:ext>
            </a:extLst>
          </p:cNvPr>
          <p:cNvSpPr txBox="1"/>
          <p:nvPr/>
        </p:nvSpPr>
        <p:spPr>
          <a:xfrm rot="16200000">
            <a:off x="6892915" y="5707526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0A9B45A-EF57-97CD-B215-B05A0DB4F1A3}"/>
              </a:ext>
            </a:extLst>
          </p:cNvPr>
          <p:cNvSpPr/>
          <p:nvPr/>
        </p:nvSpPr>
        <p:spPr>
          <a:xfrm>
            <a:off x="7459708" y="5612069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B95C46A-0A7B-587A-0430-BF7131522732}"/>
              </a:ext>
            </a:extLst>
          </p:cNvPr>
          <p:cNvCxnSpPr/>
          <p:nvPr/>
        </p:nvCxnSpPr>
        <p:spPr>
          <a:xfrm>
            <a:off x="8810625" y="1047750"/>
            <a:ext cx="2362200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CF1079F-E0E2-8483-2D69-B8EDF162A4D2}"/>
              </a:ext>
            </a:extLst>
          </p:cNvPr>
          <p:cNvCxnSpPr>
            <a:cxnSpLocks/>
          </p:cNvCxnSpPr>
          <p:nvPr/>
        </p:nvCxnSpPr>
        <p:spPr>
          <a:xfrm>
            <a:off x="4389866" y="1309542"/>
            <a:ext cx="69747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5EAD2B8-0486-630E-24DA-690B4964ED20}"/>
              </a:ext>
            </a:extLst>
          </p:cNvPr>
          <p:cNvCxnSpPr>
            <a:cxnSpLocks/>
          </p:cNvCxnSpPr>
          <p:nvPr/>
        </p:nvCxnSpPr>
        <p:spPr>
          <a:xfrm>
            <a:off x="4512365" y="1632707"/>
            <a:ext cx="46125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D65DD6CC-922D-D6C2-9F56-3A2809E47CBC}"/>
              </a:ext>
            </a:extLst>
          </p:cNvPr>
          <p:cNvSpPr/>
          <p:nvPr/>
        </p:nvSpPr>
        <p:spPr>
          <a:xfrm>
            <a:off x="0" y="0"/>
            <a:ext cx="12192000" cy="6835141"/>
          </a:xfrm>
          <a:prstGeom prst="rect">
            <a:avLst/>
          </a:prstGeom>
          <a:solidFill>
            <a:srgbClr val="5E5E5E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A08124B-8097-80FC-694E-1914F03856B7}"/>
              </a:ext>
            </a:extLst>
          </p:cNvPr>
          <p:cNvSpPr/>
          <p:nvPr/>
        </p:nvSpPr>
        <p:spPr>
          <a:xfrm>
            <a:off x="1524000" y="709377"/>
            <a:ext cx="9059337" cy="49026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E06AEC2-4DFE-D2CA-3145-5A349BE0BCC5}"/>
              </a:ext>
            </a:extLst>
          </p:cNvPr>
          <p:cNvSpPr txBox="1"/>
          <p:nvPr/>
        </p:nvSpPr>
        <p:spPr>
          <a:xfrm>
            <a:off x="4028017" y="976556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F75905-C1BF-97E4-A529-CB4341AF5CFC}"/>
              </a:ext>
            </a:extLst>
          </p:cNvPr>
          <p:cNvSpPr txBox="1"/>
          <p:nvPr/>
        </p:nvSpPr>
        <p:spPr>
          <a:xfrm>
            <a:off x="4172450" y="1280053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89DC7D-451A-C49F-1784-73131873C3D2}"/>
              </a:ext>
            </a:extLst>
          </p:cNvPr>
          <p:cNvSpPr txBox="1"/>
          <p:nvPr/>
        </p:nvSpPr>
        <p:spPr>
          <a:xfrm>
            <a:off x="5055033" y="1152635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16A03A8-63D3-B431-B519-AC718EED043E}"/>
              </a:ext>
            </a:extLst>
          </p:cNvPr>
          <p:cNvSpPr txBox="1"/>
          <p:nvPr/>
        </p:nvSpPr>
        <p:spPr>
          <a:xfrm>
            <a:off x="6265086" y="1244969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6E5D63B-BD92-F9B1-DCE8-B92788C1B105}"/>
              </a:ext>
            </a:extLst>
          </p:cNvPr>
          <p:cNvSpPr txBox="1"/>
          <p:nvPr/>
        </p:nvSpPr>
        <p:spPr>
          <a:xfrm>
            <a:off x="7285304" y="1253555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3A67C21-4E5F-DAC4-DBCC-D8B1F72666F3}"/>
              </a:ext>
            </a:extLst>
          </p:cNvPr>
          <p:cNvSpPr/>
          <p:nvPr/>
        </p:nvSpPr>
        <p:spPr>
          <a:xfrm>
            <a:off x="4056899" y="1735068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1BA392F-66F3-28A2-3A57-7341A320EEA9}"/>
              </a:ext>
            </a:extLst>
          </p:cNvPr>
          <p:cNvCxnSpPr>
            <a:cxnSpLocks/>
          </p:cNvCxnSpPr>
          <p:nvPr/>
        </p:nvCxnSpPr>
        <p:spPr>
          <a:xfrm>
            <a:off x="500210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BB8D985-3E7F-9D59-1AA6-0023BDE05C25}"/>
              </a:ext>
            </a:extLst>
          </p:cNvPr>
          <p:cNvCxnSpPr>
            <a:cxnSpLocks/>
          </p:cNvCxnSpPr>
          <p:nvPr/>
        </p:nvCxnSpPr>
        <p:spPr>
          <a:xfrm>
            <a:off x="608795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31D6198-50BF-D9DD-26F7-CC88CA5958C5}"/>
              </a:ext>
            </a:extLst>
          </p:cNvPr>
          <p:cNvCxnSpPr>
            <a:cxnSpLocks/>
          </p:cNvCxnSpPr>
          <p:nvPr/>
        </p:nvCxnSpPr>
        <p:spPr>
          <a:xfrm>
            <a:off x="717380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312F8E7-F461-DE80-7914-460C72AF189D}"/>
              </a:ext>
            </a:extLst>
          </p:cNvPr>
          <p:cNvSpPr txBox="1"/>
          <p:nvPr/>
        </p:nvSpPr>
        <p:spPr>
          <a:xfrm rot="16200000">
            <a:off x="2769472" y="2073197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CBAFF21-A27D-53B3-155C-A130673A48E6}"/>
              </a:ext>
            </a:extLst>
          </p:cNvPr>
          <p:cNvSpPr txBox="1"/>
          <p:nvPr/>
        </p:nvSpPr>
        <p:spPr>
          <a:xfrm rot="16200000">
            <a:off x="3617750" y="2375386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068DDF3-2ECE-D167-54FB-9A9DFFF6BD15}"/>
              </a:ext>
            </a:extLst>
          </p:cNvPr>
          <p:cNvSpPr txBox="1"/>
          <p:nvPr/>
        </p:nvSpPr>
        <p:spPr>
          <a:xfrm rot="16200000">
            <a:off x="3490106" y="1821939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F00EC53-F82E-DE2A-75DD-7B0310B1F879}"/>
              </a:ext>
            </a:extLst>
          </p:cNvPr>
          <p:cNvSpPr/>
          <p:nvPr/>
        </p:nvSpPr>
        <p:spPr>
          <a:xfrm>
            <a:off x="4056899" y="2267063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B10CDA-ED4F-EEC5-6EEE-17E8AA52B1C5}"/>
              </a:ext>
            </a:extLst>
          </p:cNvPr>
          <p:cNvSpPr txBox="1"/>
          <p:nvPr/>
        </p:nvSpPr>
        <p:spPr>
          <a:xfrm>
            <a:off x="4101741" y="313867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D570989-5BCF-26D3-DEEF-E3E4AC24E96F}"/>
              </a:ext>
            </a:extLst>
          </p:cNvPr>
          <p:cNvSpPr txBox="1"/>
          <p:nvPr/>
        </p:nvSpPr>
        <p:spPr>
          <a:xfrm>
            <a:off x="4246174" y="3442172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53ECBEB-F467-ED2B-282F-5FEBB3BFF89A}"/>
              </a:ext>
            </a:extLst>
          </p:cNvPr>
          <p:cNvSpPr txBox="1"/>
          <p:nvPr/>
        </p:nvSpPr>
        <p:spPr>
          <a:xfrm>
            <a:off x="5128757" y="331475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5A23A8E-F97F-FF8F-4194-C85DBF5188F0}"/>
              </a:ext>
            </a:extLst>
          </p:cNvPr>
          <p:cNvSpPr txBox="1"/>
          <p:nvPr/>
        </p:nvSpPr>
        <p:spPr>
          <a:xfrm>
            <a:off x="6338810" y="3407088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9276480-A051-7CD6-E540-E6081E71EF9E}"/>
              </a:ext>
            </a:extLst>
          </p:cNvPr>
          <p:cNvSpPr txBox="1"/>
          <p:nvPr/>
        </p:nvSpPr>
        <p:spPr>
          <a:xfrm>
            <a:off x="7359028" y="3415674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9441A40-3E45-EE88-ABA4-CE80C424AD87}"/>
              </a:ext>
            </a:extLst>
          </p:cNvPr>
          <p:cNvSpPr/>
          <p:nvPr/>
        </p:nvSpPr>
        <p:spPr>
          <a:xfrm>
            <a:off x="4130623" y="3897187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4C2C146-D0FB-0B39-E2D8-300EADDF0852}"/>
              </a:ext>
            </a:extLst>
          </p:cNvPr>
          <p:cNvCxnSpPr>
            <a:cxnSpLocks/>
          </p:cNvCxnSpPr>
          <p:nvPr/>
        </p:nvCxnSpPr>
        <p:spPr>
          <a:xfrm>
            <a:off x="507583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9644D40-155E-3DDA-A984-1F7C15DD7C4B}"/>
              </a:ext>
            </a:extLst>
          </p:cNvPr>
          <p:cNvCxnSpPr>
            <a:cxnSpLocks/>
          </p:cNvCxnSpPr>
          <p:nvPr/>
        </p:nvCxnSpPr>
        <p:spPr>
          <a:xfrm>
            <a:off x="616168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B9005E94-3352-FBBC-75A3-0B8D2E6307A1}"/>
              </a:ext>
            </a:extLst>
          </p:cNvPr>
          <p:cNvCxnSpPr>
            <a:cxnSpLocks/>
          </p:cNvCxnSpPr>
          <p:nvPr/>
        </p:nvCxnSpPr>
        <p:spPr>
          <a:xfrm>
            <a:off x="724753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8B177ABD-CC84-FA9D-C85F-D6B9C3648CBA}"/>
              </a:ext>
            </a:extLst>
          </p:cNvPr>
          <p:cNvSpPr txBox="1"/>
          <p:nvPr/>
        </p:nvSpPr>
        <p:spPr>
          <a:xfrm rot="16200000">
            <a:off x="2843196" y="4235316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9235D63-9C5F-605E-1FB1-EE6363192CD7}"/>
              </a:ext>
            </a:extLst>
          </p:cNvPr>
          <p:cNvSpPr txBox="1"/>
          <p:nvPr/>
        </p:nvSpPr>
        <p:spPr>
          <a:xfrm rot="16200000">
            <a:off x="3691474" y="453750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5D053FD-686A-27C3-54BE-44BD1DD1343A}"/>
              </a:ext>
            </a:extLst>
          </p:cNvPr>
          <p:cNvSpPr txBox="1"/>
          <p:nvPr/>
        </p:nvSpPr>
        <p:spPr>
          <a:xfrm rot="16200000">
            <a:off x="3563830" y="3984058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441FEDE-ED90-08E0-662B-B7D06B88D846}"/>
              </a:ext>
            </a:extLst>
          </p:cNvPr>
          <p:cNvSpPr/>
          <p:nvPr/>
        </p:nvSpPr>
        <p:spPr>
          <a:xfrm>
            <a:off x="4130623" y="3886484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5AF9E04-3604-E92C-9C9A-86A7F56AA84F}"/>
              </a:ext>
            </a:extLst>
          </p:cNvPr>
          <p:cNvSpPr txBox="1"/>
          <p:nvPr/>
        </p:nvSpPr>
        <p:spPr>
          <a:xfrm>
            <a:off x="8475566" y="1916996"/>
            <a:ext cx="2240495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“More likely to be more successful”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D8A8752-C76D-D63D-F5FB-5BAAB1CDBE7D}"/>
              </a:ext>
            </a:extLst>
          </p:cNvPr>
          <p:cNvSpPr txBox="1"/>
          <p:nvPr/>
        </p:nvSpPr>
        <p:spPr>
          <a:xfrm>
            <a:off x="8580052" y="4038210"/>
            <a:ext cx="2240495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“Less likely to be more successful”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87F5574-91EB-CFAD-9862-F12DE2C27CCF}"/>
              </a:ext>
            </a:extLst>
          </p:cNvPr>
          <p:cNvSpPr txBox="1"/>
          <p:nvPr/>
        </p:nvSpPr>
        <p:spPr>
          <a:xfrm rot="19699172">
            <a:off x="-29169" y="514279"/>
            <a:ext cx="2533654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/>
              <a:t>How do we assign probabilities to model this?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C8D37F8-EEC0-E41F-7BD7-828FE0AA7ED2}"/>
              </a:ext>
            </a:extLst>
          </p:cNvPr>
          <p:cNvSpPr/>
          <p:nvPr/>
        </p:nvSpPr>
        <p:spPr>
          <a:xfrm>
            <a:off x="3933825" y="1530554"/>
            <a:ext cx="1142007" cy="933147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3A5C4762-784F-A787-7F37-5EFD4A4C21FC}"/>
              </a:ext>
            </a:extLst>
          </p:cNvPr>
          <p:cNvSpPr/>
          <p:nvPr/>
        </p:nvSpPr>
        <p:spPr>
          <a:xfrm>
            <a:off x="4029363" y="4197119"/>
            <a:ext cx="1142007" cy="933147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80FA344-87F9-DE18-0BC4-F4FD4BEABAC9}"/>
              </a:ext>
            </a:extLst>
          </p:cNvPr>
          <p:cNvSpPr txBox="1"/>
          <p:nvPr/>
        </p:nvSpPr>
        <p:spPr>
          <a:xfrm rot="19357102">
            <a:off x="3312942" y="1522777"/>
            <a:ext cx="743865" cy="3679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less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6AD2908-115D-5842-ED81-88459CC4A4AA}"/>
              </a:ext>
            </a:extLst>
          </p:cNvPr>
          <p:cNvSpPr txBox="1"/>
          <p:nvPr/>
        </p:nvSpPr>
        <p:spPr>
          <a:xfrm rot="19357102">
            <a:off x="3276628" y="4320356"/>
            <a:ext cx="743865" cy="3679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more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F7C25446-0813-916C-7208-F1BE49E0016A}"/>
              </a:ext>
            </a:extLst>
          </p:cNvPr>
          <p:cNvSpPr/>
          <p:nvPr/>
        </p:nvSpPr>
        <p:spPr>
          <a:xfrm>
            <a:off x="4006507" y="1660450"/>
            <a:ext cx="2146711" cy="706004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1A777E8F-2445-680D-A04F-C2E4206FA5BC}"/>
              </a:ext>
            </a:extLst>
          </p:cNvPr>
          <p:cNvSpPr/>
          <p:nvPr/>
        </p:nvSpPr>
        <p:spPr>
          <a:xfrm>
            <a:off x="4035087" y="4336706"/>
            <a:ext cx="2146711" cy="706004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7AA5896-28B1-1171-AE81-3792791767D9}"/>
              </a:ext>
            </a:extLst>
          </p:cNvPr>
          <p:cNvSpPr txBox="1"/>
          <p:nvPr/>
        </p:nvSpPr>
        <p:spPr>
          <a:xfrm rot="19357102">
            <a:off x="5682136" y="1244135"/>
            <a:ext cx="743865" cy="3679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less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DCC856B-3B55-EF48-1965-786F97181547}"/>
              </a:ext>
            </a:extLst>
          </p:cNvPr>
          <p:cNvSpPr txBox="1"/>
          <p:nvPr/>
        </p:nvSpPr>
        <p:spPr>
          <a:xfrm rot="19357102">
            <a:off x="5109676" y="5120169"/>
            <a:ext cx="743865" cy="3679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more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0752339B-CB45-164D-D0D8-2CD0B2C2C340}"/>
              </a:ext>
            </a:extLst>
          </p:cNvPr>
          <p:cNvSpPr/>
          <p:nvPr/>
        </p:nvSpPr>
        <p:spPr>
          <a:xfrm>
            <a:off x="3969785" y="1679405"/>
            <a:ext cx="3241555" cy="706004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1A1CD5D5-B9EF-46D8-ABF7-87F12190E860}"/>
              </a:ext>
            </a:extLst>
          </p:cNvPr>
          <p:cNvSpPr/>
          <p:nvPr/>
        </p:nvSpPr>
        <p:spPr>
          <a:xfrm>
            <a:off x="4085069" y="4337941"/>
            <a:ext cx="3241555" cy="706004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4EF164D-6ACF-1809-6505-CD2C58F4CA3B}"/>
              </a:ext>
            </a:extLst>
          </p:cNvPr>
          <p:cNvSpPr txBox="1"/>
          <p:nvPr/>
        </p:nvSpPr>
        <p:spPr>
          <a:xfrm rot="19357102">
            <a:off x="6576272" y="5033863"/>
            <a:ext cx="743865" cy="36793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more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BDD235B-93FE-5143-4A70-245F4C42754F}"/>
              </a:ext>
            </a:extLst>
          </p:cNvPr>
          <p:cNvSpPr txBox="1"/>
          <p:nvPr/>
        </p:nvSpPr>
        <p:spPr>
          <a:xfrm rot="19357102">
            <a:off x="6661860" y="1358421"/>
            <a:ext cx="743865" cy="36793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less</a:t>
            </a:r>
          </a:p>
        </p:txBody>
      </p:sp>
    </p:spTree>
    <p:extLst>
      <p:ext uri="{BB962C8B-B14F-4D97-AF65-F5344CB8AC3E}">
        <p14:creationId xmlns:p14="http://schemas.microsoft.com/office/powerpoint/2010/main" val="6550314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CB152-FC42-CB12-5EFA-50D44CDE2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B6B4E-8507-79C0-9909-658CF251C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9F9F65-9181-F7C5-9BB2-2DFDAAFBC5ED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0C14A-BCF6-E340-FF5A-1A115E4F0400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761A72-484C-90F2-E0E8-B23140EC4833}"/>
              </a:ext>
            </a:extLst>
          </p:cNvPr>
          <p:cNvSpPr txBox="1"/>
          <p:nvPr/>
        </p:nvSpPr>
        <p:spPr>
          <a:xfrm>
            <a:off x="4343400" y="709377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model of these two uncertainties in which a military that would succeed when attempting a coup is more likely to perform well against an opposing force than a military that would fail when attempting a coup.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D170AB-E4EB-F045-2D99-60727161929D}"/>
              </a:ext>
            </a:extLst>
          </p:cNvPr>
          <p:cNvSpPr txBox="1"/>
          <p:nvPr/>
        </p:nvSpPr>
        <p:spPr>
          <a:xfrm>
            <a:off x="4343400" y="1687454"/>
            <a:ext cx="7038975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Marginal-Conditional Method– JUST SAY YES!!!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BC0FF9-E533-D32A-2D13-7B120ACA29A8}"/>
              </a:ext>
            </a:extLst>
          </p:cNvPr>
          <p:cNvSpPr txBox="1"/>
          <p:nvPr/>
        </p:nvSpPr>
        <p:spPr>
          <a:xfrm rot="19677942">
            <a:off x="-270553" y="2483552"/>
            <a:ext cx="5134418" cy="92333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Step 2:  Model uncertainty about success against opposing miiltaries, conditional on knowledge of outcome of a coup attempt.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D5C690-0B6B-3DED-8F98-9FA8AE7458B9}"/>
              </a:ext>
            </a:extLst>
          </p:cNvPr>
          <p:cNvCxnSpPr>
            <a:cxnSpLocks/>
          </p:cNvCxnSpPr>
          <p:nvPr/>
        </p:nvCxnSpPr>
        <p:spPr>
          <a:xfrm flipV="1">
            <a:off x="4533144" y="3354838"/>
            <a:ext cx="2200275" cy="1130452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2639882-C3A2-F272-1B10-2EB015C1BFAF}"/>
              </a:ext>
            </a:extLst>
          </p:cNvPr>
          <p:cNvSpPr txBox="1"/>
          <p:nvPr/>
        </p:nvSpPr>
        <p:spPr>
          <a:xfrm rot="19913270">
            <a:off x="4600155" y="3899264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5F59CC8-3AFF-2A84-AA05-B5D2FB64529D}"/>
              </a:ext>
            </a:extLst>
          </p:cNvPr>
          <p:cNvCxnSpPr>
            <a:cxnSpLocks/>
          </p:cNvCxnSpPr>
          <p:nvPr/>
        </p:nvCxnSpPr>
        <p:spPr>
          <a:xfrm>
            <a:off x="4522231" y="4582175"/>
            <a:ext cx="2019300" cy="149147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F788231-4951-7451-25CB-3F2C2D650DAD}"/>
              </a:ext>
            </a:extLst>
          </p:cNvPr>
          <p:cNvSpPr txBox="1"/>
          <p:nvPr/>
        </p:nvSpPr>
        <p:spPr>
          <a:xfrm rot="2210112">
            <a:off x="4580614" y="5519727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3E4CF96-F3B8-7CFA-1EAD-C4E3C58886B1}"/>
                  </a:ext>
                </a:extLst>
              </p:cNvPr>
              <p:cNvSpPr txBox="1"/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3E4CF96-F3B8-7CFA-1EAD-C4E3C5888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1870B76-844F-EF6A-52D3-07F72CFC95B2}"/>
                  </a:ext>
                </a:extLst>
              </p:cNvPr>
              <p:cNvSpPr txBox="1"/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1870B76-844F-EF6A-52D3-07F72CFC9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3614FB4-0BF1-5746-67AB-B02162FAEFCB}"/>
              </a:ext>
            </a:extLst>
          </p:cNvPr>
          <p:cNvSpPr txBox="1"/>
          <p:nvPr/>
        </p:nvSpPr>
        <p:spPr>
          <a:xfrm>
            <a:off x="7448550" y="2186704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B94871-B6C8-AD41-2C04-35E8DF1D91CB}"/>
              </a:ext>
            </a:extLst>
          </p:cNvPr>
          <p:cNvSpPr txBox="1"/>
          <p:nvPr/>
        </p:nvSpPr>
        <p:spPr>
          <a:xfrm>
            <a:off x="7592983" y="2490201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0462DD-C584-07D7-8E2F-9CA58FE85552}"/>
              </a:ext>
            </a:extLst>
          </p:cNvPr>
          <p:cNvSpPr txBox="1"/>
          <p:nvPr/>
        </p:nvSpPr>
        <p:spPr>
          <a:xfrm>
            <a:off x="8475566" y="2362783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D84A9B-ABBD-EB9C-A591-72C7EC1033D8}"/>
              </a:ext>
            </a:extLst>
          </p:cNvPr>
          <p:cNvSpPr txBox="1"/>
          <p:nvPr/>
        </p:nvSpPr>
        <p:spPr>
          <a:xfrm>
            <a:off x="9685619" y="2455117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9B7A16-DEA4-A4E7-58E8-75993EEC75AE}"/>
              </a:ext>
            </a:extLst>
          </p:cNvPr>
          <p:cNvSpPr txBox="1"/>
          <p:nvPr/>
        </p:nvSpPr>
        <p:spPr>
          <a:xfrm>
            <a:off x="10705837" y="2463703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77350D-CF9F-6474-38F3-E2AF150CD91F}"/>
              </a:ext>
            </a:extLst>
          </p:cNvPr>
          <p:cNvSpPr/>
          <p:nvPr/>
        </p:nvSpPr>
        <p:spPr>
          <a:xfrm>
            <a:off x="7477432" y="2945216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26A5542-39F2-C276-CCDA-E3457F5BD7C1}"/>
              </a:ext>
            </a:extLst>
          </p:cNvPr>
          <p:cNvCxnSpPr>
            <a:cxnSpLocks/>
          </p:cNvCxnSpPr>
          <p:nvPr/>
        </p:nvCxnSpPr>
        <p:spPr>
          <a:xfrm>
            <a:off x="84226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F63C224-2E31-ECB6-B490-E0823A0E007A}"/>
              </a:ext>
            </a:extLst>
          </p:cNvPr>
          <p:cNvCxnSpPr>
            <a:cxnSpLocks/>
          </p:cNvCxnSpPr>
          <p:nvPr/>
        </p:nvCxnSpPr>
        <p:spPr>
          <a:xfrm>
            <a:off x="950849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63457E3-310C-A550-DD32-53F8DEF37034}"/>
              </a:ext>
            </a:extLst>
          </p:cNvPr>
          <p:cNvCxnSpPr>
            <a:cxnSpLocks/>
          </p:cNvCxnSpPr>
          <p:nvPr/>
        </p:nvCxnSpPr>
        <p:spPr>
          <a:xfrm>
            <a:off x="105943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438FEB3-8840-DA7B-CB64-24B72CA1A2BE}"/>
              </a:ext>
            </a:extLst>
          </p:cNvPr>
          <p:cNvSpPr txBox="1"/>
          <p:nvPr/>
        </p:nvSpPr>
        <p:spPr>
          <a:xfrm rot="16200000">
            <a:off x="6190005" y="3283345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F3105D-2D9E-5CD7-C113-CDF19EC4D125}"/>
              </a:ext>
            </a:extLst>
          </p:cNvPr>
          <p:cNvSpPr txBox="1"/>
          <p:nvPr/>
        </p:nvSpPr>
        <p:spPr>
          <a:xfrm rot="16200000">
            <a:off x="7038283" y="3585534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35F767-69A7-BADC-D037-1AE4798BECCF}"/>
              </a:ext>
            </a:extLst>
          </p:cNvPr>
          <p:cNvSpPr txBox="1"/>
          <p:nvPr/>
        </p:nvSpPr>
        <p:spPr>
          <a:xfrm rot="16200000">
            <a:off x="6910639" y="3032087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DEC8DD-5184-8C20-58D0-37E8E806E7F6}"/>
              </a:ext>
            </a:extLst>
          </p:cNvPr>
          <p:cNvSpPr/>
          <p:nvPr/>
        </p:nvSpPr>
        <p:spPr>
          <a:xfrm>
            <a:off x="7477432" y="3477211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4BB444-08DD-0C01-8C01-1DF0F788842A}"/>
              </a:ext>
            </a:extLst>
          </p:cNvPr>
          <p:cNvSpPr txBox="1"/>
          <p:nvPr/>
        </p:nvSpPr>
        <p:spPr>
          <a:xfrm>
            <a:off x="7430826" y="4862143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864EEE-FBCB-966F-772B-0B2456E66A46}"/>
              </a:ext>
            </a:extLst>
          </p:cNvPr>
          <p:cNvSpPr txBox="1"/>
          <p:nvPr/>
        </p:nvSpPr>
        <p:spPr>
          <a:xfrm>
            <a:off x="7575259" y="5165640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A718BE-329A-6252-E37B-34C54940D0A7}"/>
              </a:ext>
            </a:extLst>
          </p:cNvPr>
          <p:cNvSpPr txBox="1"/>
          <p:nvPr/>
        </p:nvSpPr>
        <p:spPr>
          <a:xfrm>
            <a:off x="8457842" y="5038222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4438B7-2A93-ED56-4045-791510EAFF2F}"/>
              </a:ext>
            </a:extLst>
          </p:cNvPr>
          <p:cNvSpPr txBox="1"/>
          <p:nvPr/>
        </p:nvSpPr>
        <p:spPr>
          <a:xfrm>
            <a:off x="9667895" y="5130556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C4F048-5F2E-EC3E-EA91-FF9C99173CD1}"/>
              </a:ext>
            </a:extLst>
          </p:cNvPr>
          <p:cNvSpPr txBox="1"/>
          <p:nvPr/>
        </p:nvSpPr>
        <p:spPr>
          <a:xfrm>
            <a:off x="10688113" y="5139142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92D3E7A-61E3-1164-2B6C-911AAFC4CC48}"/>
              </a:ext>
            </a:extLst>
          </p:cNvPr>
          <p:cNvSpPr/>
          <p:nvPr/>
        </p:nvSpPr>
        <p:spPr>
          <a:xfrm>
            <a:off x="7459708" y="5620655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D6138BD-71F0-A4BF-FD6A-00093E4AE3EE}"/>
              </a:ext>
            </a:extLst>
          </p:cNvPr>
          <p:cNvCxnSpPr>
            <a:cxnSpLocks/>
          </p:cNvCxnSpPr>
          <p:nvPr/>
        </p:nvCxnSpPr>
        <p:spPr>
          <a:xfrm>
            <a:off x="84049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892F581-7891-DA8E-97A8-AA53954691B3}"/>
              </a:ext>
            </a:extLst>
          </p:cNvPr>
          <p:cNvCxnSpPr>
            <a:cxnSpLocks/>
          </p:cNvCxnSpPr>
          <p:nvPr/>
        </p:nvCxnSpPr>
        <p:spPr>
          <a:xfrm>
            <a:off x="949076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BEECE74-EF29-02B5-4CDC-EFF631703A4E}"/>
              </a:ext>
            </a:extLst>
          </p:cNvPr>
          <p:cNvCxnSpPr>
            <a:cxnSpLocks/>
          </p:cNvCxnSpPr>
          <p:nvPr/>
        </p:nvCxnSpPr>
        <p:spPr>
          <a:xfrm>
            <a:off x="105766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71B161F-9751-2F6C-6B9A-9FF9E2BA2BC2}"/>
              </a:ext>
            </a:extLst>
          </p:cNvPr>
          <p:cNvSpPr txBox="1"/>
          <p:nvPr/>
        </p:nvSpPr>
        <p:spPr>
          <a:xfrm rot="16200000">
            <a:off x="6172281" y="595878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F03549-21D2-DFA2-2C3D-ECFF9316B1FB}"/>
              </a:ext>
            </a:extLst>
          </p:cNvPr>
          <p:cNvSpPr txBox="1"/>
          <p:nvPr/>
        </p:nvSpPr>
        <p:spPr>
          <a:xfrm rot="16200000">
            <a:off x="7020559" y="6260973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2C53D2-4938-6B99-CABD-0157E16A850B}"/>
              </a:ext>
            </a:extLst>
          </p:cNvPr>
          <p:cNvSpPr txBox="1"/>
          <p:nvPr/>
        </p:nvSpPr>
        <p:spPr>
          <a:xfrm rot="16200000">
            <a:off x="6892915" y="5707526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43B75ED-ED51-2800-3114-81ACE53BA082}"/>
              </a:ext>
            </a:extLst>
          </p:cNvPr>
          <p:cNvSpPr/>
          <p:nvPr/>
        </p:nvSpPr>
        <p:spPr>
          <a:xfrm>
            <a:off x="7459708" y="5612069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4156C69-4E44-4F18-8CAF-CAD3B75C6285}"/>
              </a:ext>
            </a:extLst>
          </p:cNvPr>
          <p:cNvCxnSpPr/>
          <p:nvPr/>
        </p:nvCxnSpPr>
        <p:spPr>
          <a:xfrm>
            <a:off x="8810625" y="1047750"/>
            <a:ext cx="2362200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C8D6F2B-8251-9B55-4D6C-F39A11D2DF58}"/>
              </a:ext>
            </a:extLst>
          </p:cNvPr>
          <p:cNvCxnSpPr>
            <a:cxnSpLocks/>
          </p:cNvCxnSpPr>
          <p:nvPr/>
        </p:nvCxnSpPr>
        <p:spPr>
          <a:xfrm>
            <a:off x="4389866" y="1309542"/>
            <a:ext cx="69747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A62BD54-D9A4-FF8E-E8B9-2A54D76AAC72}"/>
              </a:ext>
            </a:extLst>
          </p:cNvPr>
          <p:cNvCxnSpPr>
            <a:cxnSpLocks/>
          </p:cNvCxnSpPr>
          <p:nvPr/>
        </p:nvCxnSpPr>
        <p:spPr>
          <a:xfrm>
            <a:off x="4512365" y="1632707"/>
            <a:ext cx="46125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4A4A4B2-E5F9-D026-B16D-00550DC7BB99}"/>
              </a:ext>
            </a:extLst>
          </p:cNvPr>
          <p:cNvSpPr/>
          <p:nvPr/>
        </p:nvSpPr>
        <p:spPr>
          <a:xfrm>
            <a:off x="0" y="0"/>
            <a:ext cx="12192000" cy="6835141"/>
          </a:xfrm>
          <a:prstGeom prst="rect">
            <a:avLst/>
          </a:prstGeom>
          <a:solidFill>
            <a:srgbClr val="5E5E5E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2EDD816-BEB3-685B-514E-69845802593C}"/>
              </a:ext>
            </a:extLst>
          </p:cNvPr>
          <p:cNvSpPr/>
          <p:nvPr/>
        </p:nvSpPr>
        <p:spPr>
          <a:xfrm>
            <a:off x="1524000" y="709377"/>
            <a:ext cx="9059337" cy="49026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14616F-3BB2-48A9-9799-B78033642C20}"/>
              </a:ext>
            </a:extLst>
          </p:cNvPr>
          <p:cNvSpPr txBox="1"/>
          <p:nvPr/>
        </p:nvSpPr>
        <p:spPr>
          <a:xfrm>
            <a:off x="4028017" y="976556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1E567C-B5A9-C0AF-2642-925207518348}"/>
              </a:ext>
            </a:extLst>
          </p:cNvPr>
          <p:cNvSpPr txBox="1"/>
          <p:nvPr/>
        </p:nvSpPr>
        <p:spPr>
          <a:xfrm>
            <a:off x="4172450" y="1280053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43CBD8-8372-5CE2-C7AF-C0CCD5A25AC6}"/>
              </a:ext>
            </a:extLst>
          </p:cNvPr>
          <p:cNvSpPr txBox="1"/>
          <p:nvPr/>
        </p:nvSpPr>
        <p:spPr>
          <a:xfrm>
            <a:off x="5055033" y="1152635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D493DD-5F3A-B029-789F-3B81C106635E}"/>
              </a:ext>
            </a:extLst>
          </p:cNvPr>
          <p:cNvSpPr txBox="1"/>
          <p:nvPr/>
        </p:nvSpPr>
        <p:spPr>
          <a:xfrm>
            <a:off x="6265086" y="1244969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4404AE5-C3F2-1E35-D86A-0FCD6A653B7A}"/>
              </a:ext>
            </a:extLst>
          </p:cNvPr>
          <p:cNvSpPr txBox="1"/>
          <p:nvPr/>
        </p:nvSpPr>
        <p:spPr>
          <a:xfrm>
            <a:off x="7285304" y="1253555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BC86770-50A8-D8BE-3828-22EFA7DF84DC}"/>
              </a:ext>
            </a:extLst>
          </p:cNvPr>
          <p:cNvSpPr/>
          <p:nvPr/>
        </p:nvSpPr>
        <p:spPr>
          <a:xfrm>
            <a:off x="4056899" y="1735068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08B77C8-6C62-C35A-9400-CEF694141C76}"/>
              </a:ext>
            </a:extLst>
          </p:cNvPr>
          <p:cNvCxnSpPr>
            <a:cxnSpLocks/>
          </p:cNvCxnSpPr>
          <p:nvPr/>
        </p:nvCxnSpPr>
        <p:spPr>
          <a:xfrm>
            <a:off x="500210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F13C663-FD33-304F-FD67-81B278B4DCF5}"/>
              </a:ext>
            </a:extLst>
          </p:cNvPr>
          <p:cNvCxnSpPr>
            <a:cxnSpLocks/>
          </p:cNvCxnSpPr>
          <p:nvPr/>
        </p:nvCxnSpPr>
        <p:spPr>
          <a:xfrm>
            <a:off x="608795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402C305-5C28-A7E4-B4AF-E555E500716C}"/>
              </a:ext>
            </a:extLst>
          </p:cNvPr>
          <p:cNvCxnSpPr>
            <a:cxnSpLocks/>
          </p:cNvCxnSpPr>
          <p:nvPr/>
        </p:nvCxnSpPr>
        <p:spPr>
          <a:xfrm>
            <a:off x="717380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0EDF761B-5015-1F5D-F7B0-8A65CAD3AE57}"/>
              </a:ext>
            </a:extLst>
          </p:cNvPr>
          <p:cNvSpPr txBox="1"/>
          <p:nvPr/>
        </p:nvSpPr>
        <p:spPr>
          <a:xfrm rot="16200000">
            <a:off x="2769472" y="2073197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DED3661-C657-1D60-7C86-9666CB9C48D7}"/>
              </a:ext>
            </a:extLst>
          </p:cNvPr>
          <p:cNvSpPr txBox="1"/>
          <p:nvPr/>
        </p:nvSpPr>
        <p:spPr>
          <a:xfrm rot="16200000">
            <a:off x="3617750" y="2375386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08D1C8F-31DC-50F9-55CD-1A7F6A3F840A}"/>
              </a:ext>
            </a:extLst>
          </p:cNvPr>
          <p:cNvSpPr txBox="1"/>
          <p:nvPr/>
        </p:nvSpPr>
        <p:spPr>
          <a:xfrm rot="16200000">
            <a:off x="3490106" y="1821939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97785D0-060B-892F-CA1D-CCEF09D599E0}"/>
              </a:ext>
            </a:extLst>
          </p:cNvPr>
          <p:cNvSpPr/>
          <p:nvPr/>
        </p:nvSpPr>
        <p:spPr>
          <a:xfrm>
            <a:off x="4056899" y="2267063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752C69-B3EA-CD23-7825-E7544719271B}"/>
              </a:ext>
            </a:extLst>
          </p:cNvPr>
          <p:cNvSpPr txBox="1"/>
          <p:nvPr/>
        </p:nvSpPr>
        <p:spPr>
          <a:xfrm>
            <a:off x="4101741" y="313867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21FA1A-B752-86E1-C3B3-409D1E8889B3}"/>
              </a:ext>
            </a:extLst>
          </p:cNvPr>
          <p:cNvSpPr txBox="1"/>
          <p:nvPr/>
        </p:nvSpPr>
        <p:spPr>
          <a:xfrm>
            <a:off x="4246174" y="3442172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C670672-8BFC-6374-5102-AACDD57E37B2}"/>
              </a:ext>
            </a:extLst>
          </p:cNvPr>
          <p:cNvSpPr txBox="1"/>
          <p:nvPr/>
        </p:nvSpPr>
        <p:spPr>
          <a:xfrm>
            <a:off x="5128757" y="331475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2D869C0-51D5-8219-C36E-C5948D0BE5E4}"/>
              </a:ext>
            </a:extLst>
          </p:cNvPr>
          <p:cNvSpPr txBox="1"/>
          <p:nvPr/>
        </p:nvSpPr>
        <p:spPr>
          <a:xfrm>
            <a:off x="6338810" y="3407088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576512E-787C-41B3-BAFA-5C1EC04E368B}"/>
              </a:ext>
            </a:extLst>
          </p:cNvPr>
          <p:cNvSpPr txBox="1"/>
          <p:nvPr/>
        </p:nvSpPr>
        <p:spPr>
          <a:xfrm>
            <a:off x="7359028" y="3415674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E3BA70F-7F16-FE04-7F7C-50C8DEE42C0E}"/>
              </a:ext>
            </a:extLst>
          </p:cNvPr>
          <p:cNvSpPr/>
          <p:nvPr/>
        </p:nvSpPr>
        <p:spPr>
          <a:xfrm>
            <a:off x="4130623" y="3897187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32E4519-4FD3-443C-2324-8D3F096D6ACE}"/>
              </a:ext>
            </a:extLst>
          </p:cNvPr>
          <p:cNvCxnSpPr>
            <a:cxnSpLocks/>
          </p:cNvCxnSpPr>
          <p:nvPr/>
        </p:nvCxnSpPr>
        <p:spPr>
          <a:xfrm>
            <a:off x="507583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29E5957-2DC7-8F85-61DA-332E02F01EF7}"/>
              </a:ext>
            </a:extLst>
          </p:cNvPr>
          <p:cNvCxnSpPr>
            <a:cxnSpLocks/>
          </p:cNvCxnSpPr>
          <p:nvPr/>
        </p:nvCxnSpPr>
        <p:spPr>
          <a:xfrm>
            <a:off x="616168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C75062D-07BD-CB21-ECDA-523D7A74765B}"/>
              </a:ext>
            </a:extLst>
          </p:cNvPr>
          <p:cNvCxnSpPr>
            <a:cxnSpLocks/>
          </p:cNvCxnSpPr>
          <p:nvPr/>
        </p:nvCxnSpPr>
        <p:spPr>
          <a:xfrm>
            <a:off x="724753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C790F1E-3E9E-76FD-2362-EA635DE588BD}"/>
              </a:ext>
            </a:extLst>
          </p:cNvPr>
          <p:cNvSpPr txBox="1"/>
          <p:nvPr/>
        </p:nvSpPr>
        <p:spPr>
          <a:xfrm rot="16200000">
            <a:off x="2843196" y="4235316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0E5A56B-0731-69B2-7467-8F2974386B3C}"/>
              </a:ext>
            </a:extLst>
          </p:cNvPr>
          <p:cNvSpPr txBox="1"/>
          <p:nvPr/>
        </p:nvSpPr>
        <p:spPr>
          <a:xfrm rot="16200000">
            <a:off x="3691474" y="453750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1A228C8-2CFF-3C7D-CAAC-97DA81BC41CF}"/>
              </a:ext>
            </a:extLst>
          </p:cNvPr>
          <p:cNvSpPr txBox="1"/>
          <p:nvPr/>
        </p:nvSpPr>
        <p:spPr>
          <a:xfrm rot="16200000">
            <a:off x="3563830" y="3984058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CAA6568-0B20-56B8-4D11-327B5B9C774D}"/>
              </a:ext>
            </a:extLst>
          </p:cNvPr>
          <p:cNvSpPr/>
          <p:nvPr/>
        </p:nvSpPr>
        <p:spPr>
          <a:xfrm>
            <a:off x="4130623" y="3886484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92E2CF0-DE09-DAAB-5424-F1A1200A5359}"/>
              </a:ext>
            </a:extLst>
          </p:cNvPr>
          <p:cNvSpPr txBox="1"/>
          <p:nvPr/>
        </p:nvSpPr>
        <p:spPr>
          <a:xfrm>
            <a:off x="8475566" y="1916996"/>
            <a:ext cx="2240495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“More likely to be more successful”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66C2240-95A5-048D-D936-708EB426967F}"/>
              </a:ext>
            </a:extLst>
          </p:cNvPr>
          <p:cNvSpPr txBox="1"/>
          <p:nvPr/>
        </p:nvSpPr>
        <p:spPr>
          <a:xfrm>
            <a:off x="8580052" y="4038210"/>
            <a:ext cx="2240495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“Less likely to be more successful”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1D461B6-EA5D-D8C4-A9D2-7F48D5733F9E}"/>
              </a:ext>
            </a:extLst>
          </p:cNvPr>
          <p:cNvSpPr txBox="1"/>
          <p:nvPr/>
        </p:nvSpPr>
        <p:spPr>
          <a:xfrm rot="19699172">
            <a:off x="-29169" y="514279"/>
            <a:ext cx="2533654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/>
              <a:t>How do we assign probabilities to model this?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D8EB0826-865C-0A2C-E54B-9ED99C6A73F7}"/>
              </a:ext>
            </a:extLst>
          </p:cNvPr>
          <p:cNvSpPr/>
          <p:nvPr/>
        </p:nvSpPr>
        <p:spPr>
          <a:xfrm>
            <a:off x="3933825" y="1530554"/>
            <a:ext cx="1142007" cy="933147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6F80497-EF87-9E28-6D05-BF25E18D8D36}"/>
              </a:ext>
            </a:extLst>
          </p:cNvPr>
          <p:cNvSpPr/>
          <p:nvPr/>
        </p:nvSpPr>
        <p:spPr>
          <a:xfrm>
            <a:off x="4029363" y="4197119"/>
            <a:ext cx="1142007" cy="933147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74CC0FF-D7A1-E199-CF5F-CAA7D0D9E25D}"/>
              </a:ext>
            </a:extLst>
          </p:cNvPr>
          <p:cNvSpPr txBox="1"/>
          <p:nvPr/>
        </p:nvSpPr>
        <p:spPr>
          <a:xfrm rot="19357102">
            <a:off x="3312942" y="1522777"/>
            <a:ext cx="743865" cy="3679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less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2EEFC9A-959D-66A3-8CEC-7C803607D85A}"/>
              </a:ext>
            </a:extLst>
          </p:cNvPr>
          <p:cNvSpPr txBox="1"/>
          <p:nvPr/>
        </p:nvSpPr>
        <p:spPr>
          <a:xfrm rot="19357102">
            <a:off x="3276628" y="4320356"/>
            <a:ext cx="743865" cy="3679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more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9A70C9E8-2732-F5D3-FDAB-0997630F9ED5}"/>
              </a:ext>
            </a:extLst>
          </p:cNvPr>
          <p:cNvSpPr/>
          <p:nvPr/>
        </p:nvSpPr>
        <p:spPr>
          <a:xfrm>
            <a:off x="4006507" y="1660450"/>
            <a:ext cx="2146711" cy="706004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DA01A36D-8D22-73FA-A617-0B2BA3CD44B1}"/>
              </a:ext>
            </a:extLst>
          </p:cNvPr>
          <p:cNvSpPr/>
          <p:nvPr/>
        </p:nvSpPr>
        <p:spPr>
          <a:xfrm>
            <a:off x="4035087" y="4336706"/>
            <a:ext cx="2146711" cy="706004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7DA9A4F-6D81-FF35-A268-5971E58321C5}"/>
              </a:ext>
            </a:extLst>
          </p:cNvPr>
          <p:cNvSpPr txBox="1"/>
          <p:nvPr/>
        </p:nvSpPr>
        <p:spPr>
          <a:xfrm rot="19357102">
            <a:off x="5682136" y="1244135"/>
            <a:ext cx="743865" cy="3679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less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81B1DAD-439B-2C20-79F3-4AEABACF4D81}"/>
              </a:ext>
            </a:extLst>
          </p:cNvPr>
          <p:cNvSpPr txBox="1"/>
          <p:nvPr/>
        </p:nvSpPr>
        <p:spPr>
          <a:xfrm rot="19357102">
            <a:off x="5109676" y="5120169"/>
            <a:ext cx="743865" cy="3679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more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9F4574C7-7D73-08C1-A997-6AA3AF172347}"/>
              </a:ext>
            </a:extLst>
          </p:cNvPr>
          <p:cNvSpPr/>
          <p:nvPr/>
        </p:nvSpPr>
        <p:spPr>
          <a:xfrm>
            <a:off x="3969785" y="1679405"/>
            <a:ext cx="3241555" cy="706004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7B69584C-DAC5-8FF4-514E-F6865C26F40D}"/>
              </a:ext>
            </a:extLst>
          </p:cNvPr>
          <p:cNvSpPr/>
          <p:nvPr/>
        </p:nvSpPr>
        <p:spPr>
          <a:xfrm>
            <a:off x="4085069" y="4337941"/>
            <a:ext cx="3241555" cy="706004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E48224B-F69B-7C2C-E2CD-2FA43EAF4ADC}"/>
              </a:ext>
            </a:extLst>
          </p:cNvPr>
          <p:cNvSpPr txBox="1"/>
          <p:nvPr/>
        </p:nvSpPr>
        <p:spPr>
          <a:xfrm rot="19357102">
            <a:off x="6576272" y="5033863"/>
            <a:ext cx="743865" cy="36793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more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145C580-B32D-610D-2970-CE6B784CEEB5}"/>
              </a:ext>
            </a:extLst>
          </p:cNvPr>
          <p:cNvSpPr txBox="1"/>
          <p:nvPr/>
        </p:nvSpPr>
        <p:spPr>
          <a:xfrm rot="19357102">
            <a:off x="6661860" y="1358421"/>
            <a:ext cx="743865" cy="36793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less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C4B6FAC4-1FC8-4B3F-FE82-C93CC7C6808B}"/>
                  </a:ext>
                </a:extLst>
              </p:cNvPr>
              <p:cNvSpPr txBox="1"/>
              <p:nvPr/>
            </p:nvSpPr>
            <p:spPr>
              <a:xfrm>
                <a:off x="4314043" y="1808373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C4B6FAC4-1FC8-4B3F-FE82-C93CC7C68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043" y="1808373"/>
                <a:ext cx="419100" cy="4299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BAB5F22D-83E5-7C31-F53A-80526F53D9FA}"/>
                  </a:ext>
                </a:extLst>
              </p:cNvPr>
              <p:cNvSpPr txBox="1"/>
              <p:nvPr/>
            </p:nvSpPr>
            <p:spPr>
              <a:xfrm>
                <a:off x="7512495" y="1808373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BAB5F22D-83E5-7C31-F53A-80526F53D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495" y="1808373"/>
                <a:ext cx="419100" cy="4299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D91F500-095C-8094-1F15-E44989E1E2B0}"/>
                  </a:ext>
                </a:extLst>
              </p:cNvPr>
              <p:cNvSpPr txBox="1"/>
              <p:nvPr/>
            </p:nvSpPr>
            <p:spPr>
              <a:xfrm>
                <a:off x="5296218" y="1819932"/>
                <a:ext cx="419100" cy="41447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D91F500-095C-8094-1F15-E44989E1E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6218" y="1819932"/>
                <a:ext cx="419100" cy="414472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54926EF9-8C93-4C7F-A57C-43497E36395C}"/>
                  </a:ext>
                </a:extLst>
              </p:cNvPr>
              <p:cNvSpPr txBox="1"/>
              <p:nvPr/>
            </p:nvSpPr>
            <p:spPr>
              <a:xfrm>
                <a:off x="6383351" y="1810949"/>
                <a:ext cx="419100" cy="41562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54926EF9-8C93-4C7F-A57C-43497E363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351" y="1810949"/>
                <a:ext cx="419100" cy="415627"/>
              </a:xfrm>
              <a:prstGeom prst="rect">
                <a:avLst/>
              </a:prstGeom>
              <a:blipFill>
                <a:blip r:embed="rId7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85659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EC082-33DC-8D4B-CE04-E13CD7696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71EE0-F384-2DA0-893A-9A3F77414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4E125-0B1F-5D8E-0769-96E0C74AD35F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D30C76-3B94-2669-0D99-9925DF9E38AB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9C01A2-0349-DD8D-5620-0CD576C9830D}"/>
              </a:ext>
            </a:extLst>
          </p:cNvPr>
          <p:cNvSpPr txBox="1"/>
          <p:nvPr/>
        </p:nvSpPr>
        <p:spPr>
          <a:xfrm>
            <a:off x="4343400" y="709377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model of these two uncertainties in which a military that would succeed when attempting a coup is more likely to perform well against an opposing force than a military that would fail when attempting a coup.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81C161-120C-9806-E138-CEECDC2BA2D4}"/>
              </a:ext>
            </a:extLst>
          </p:cNvPr>
          <p:cNvSpPr txBox="1"/>
          <p:nvPr/>
        </p:nvSpPr>
        <p:spPr>
          <a:xfrm>
            <a:off x="4343400" y="1687454"/>
            <a:ext cx="7038975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Marginal-Conditional Method– JUST SAY YES!!!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DA6331-9A11-6E52-7260-403B8AA32477}"/>
              </a:ext>
            </a:extLst>
          </p:cNvPr>
          <p:cNvSpPr txBox="1"/>
          <p:nvPr/>
        </p:nvSpPr>
        <p:spPr>
          <a:xfrm rot="19677942">
            <a:off x="-270553" y="2483552"/>
            <a:ext cx="5134418" cy="92333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Step 2:  Model uncertainty about success against opposing miiltaries, conditional on knowledge of outcome of a coup attempt.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E42C74-D40C-E7D6-6D6D-FE4BE968B0E3}"/>
              </a:ext>
            </a:extLst>
          </p:cNvPr>
          <p:cNvCxnSpPr>
            <a:cxnSpLocks/>
          </p:cNvCxnSpPr>
          <p:nvPr/>
        </p:nvCxnSpPr>
        <p:spPr>
          <a:xfrm flipV="1">
            <a:off x="4533144" y="3354838"/>
            <a:ext cx="2200275" cy="1130452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F9D53E7-FF3C-73BA-5AA2-BBB4A293CE07}"/>
              </a:ext>
            </a:extLst>
          </p:cNvPr>
          <p:cNvSpPr txBox="1"/>
          <p:nvPr/>
        </p:nvSpPr>
        <p:spPr>
          <a:xfrm rot="19913270">
            <a:off x="4600155" y="3899264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50C38DC-B0B9-D99E-ADF5-7F53C8240637}"/>
              </a:ext>
            </a:extLst>
          </p:cNvPr>
          <p:cNvCxnSpPr>
            <a:cxnSpLocks/>
          </p:cNvCxnSpPr>
          <p:nvPr/>
        </p:nvCxnSpPr>
        <p:spPr>
          <a:xfrm>
            <a:off x="4522231" y="4582175"/>
            <a:ext cx="2019300" cy="149147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5A16228-406B-92FC-421C-E5846A21800D}"/>
              </a:ext>
            </a:extLst>
          </p:cNvPr>
          <p:cNvSpPr txBox="1"/>
          <p:nvPr/>
        </p:nvSpPr>
        <p:spPr>
          <a:xfrm rot="2210112">
            <a:off x="4580614" y="5519727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DDE6B96-2088-C11A-BDF4-848F0D81DE01}"/>
                  </a:ext>
                </a:extLst>
              </p:cNvPr>
              <p:cNvSpPr txBox="1"/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DDE6B96-2088-C11A-BDF4-848F0D81D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CBD3879-CE35-24A0-4DEC-D8A831D08DA6}"/>
                  </a:ext>
                </a:extLst>
              </p:cNvPr>
              <p:cNvSpPr txBox="1"/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CBD3879-CE35-24A0-4DEC-D8A831D08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B4F145D-EBF8-8851-54B5-F8BD1D54273F}"/>
              </a:ext>
            </a:extLst>
          </p:cNvPr>
          <p:cNvSpPr txBox="1"/>
          <p:nvPr/>
        </p:nvSpPr>
        <p:spPr>
          <a:xfrm>
            <a:off x="7448550" y="2186704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60E734-F4D4-3633-F8B5-8899116973C9}"/>
              </a:ext>
            </a:extLst>
          </p:cNvPr>
          <p:cNvSpPr txBox="1"/>
          <p:nvPr/>
        </p:nvSpPr>
        <p:spPr>
          <a:xfrm>
            <a:off x="7592983" y="2490201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1DA679-C89C-48CC-E227-5A12DD50D310}"/>
              </a:ext>
            </a:extLst>
          </p:cNvPr>
          <p:cNvSpPr txBox="1"/>
          <p:nvPr/>
        </p:nvSpPr>
        <p:spPr>
          <a:xfrm>
            <a:off x="8475566" y="2362783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0CCC78-17C7-5388-7B5F-499FC317F7B2}"/>
              </a:ext>
            </a:extLst>
          </p:cNvPr>
          <p:cNvSpPr txBox="1"/>
          <p:nvPr/>
        </p:nvSpPr>
        <p:spPr>
          <a:xfrm>
            <a:off x="9685619" y="2455117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3E7555-D39B-D8CE-A17B-2380B2CC8732}"/>
              </a:ext>
            </a:extLst>
          </p:cNvPr>
          <p:cNvSpPr txBox="1"/>
          <p:nvPr/>
        </p:nvSpPr>
        <p:spPr>
          <a:xfrm>
            <a:off x="10705837" y="2463703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4FE089-A2A7-92F1-9646-FEAF22AC67A8}"/>
              </a:ext>
            </a:extLst>
          </p:cNvPr>
          <p:cNvSpPr/>
          <p:nvPr/>
        </p:nvSpPr>
        <p:spPr>
          <a:xfrm>
            <a:off x="7477432" y="2945216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72A2EE5-6E69-0F3F-E01F-EDADEFBA7FF5}"/>
              </a:ext>
            </a:extLst>
          </p:cNvPr>
          <p:cNvCxnSpPr>
            <a:cxnSpLocks/>
          </p:cNvCxnSpPr>
          <p:nvPr/>
        </p:nvCxnSpPr>
        <p:spPr>
          <a:xfrm>
            <a:off x="84226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887D8B1-E4E7-BDD1-FF21-97595EAAE0A6}"/>
              </a:ext>
            </a:extLst>
          </p:cNvPr>
          <p:cNvCxnSpPr>
            <a:cxnSpLocks/>
          </p:cNvCxnSpPr>
          <p:nvPr/>
        </p:nvCxnSpPr>
        <p:spPr>
          <a:xfrm>
            <a:off x="950849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413B5EC-4A64-5E84-6F57-DBF4674A60FE}"/>
              </a:ext>
            </a:extLst>
          </p:cNvPr>
          <p:cNvCxnSpPr>
            <a:cxnSpLocks/>
          </p:cNvCxnSpPr>
          <p:nvPr/>
        </p:nvCxnSpPr>
        <p:spPr>
          <a:xfrm>
            <a:off x="105943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14F37E7-E9FE-07FC-4CA5-EA3ABA84ACAC}"/>
              </a:ext>
            </a:extLst>
          </p:cNvPr>
          <p:cNvSpPr txBox="1"/>
          <p:nvPr/>
        </p:nvSpPr>
        <p:spPr>
          <a:xfrm rot="16200000">
            <a:off x="6190005" y="3283345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658A6D-4790-1610-D8AB-E3B7274B5FEF}"/>
              </a:ext>
            </a:extLst>
          </p:cNvPr>
          <p:cNvSpPr txBox="1"/>
          <p:nvPr/>
        </p:nvSpPr>
        <p:spPr>
          <a:xfrm rot="16200000">
            <a:off x="7038283" y="3585534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84EDDB-912D-D89C-7CBE-867DC5F6414B}"/>
              </a:ext>
            </a:extLst>
          </p:cNvPr>
          <p:cNvSpPr txBox="1"/>
          <p:nvPr/>
        </p:nvSpPr>
        <p:spPr>
          <a:xfrm rot="16200000">
            <a:off x="6910639" y="3032087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707E0C-3668-8B10-3A43-94AEB37B68BE}"/>
              </a:ext>
            </a:extLst>
          </p:cNvPr>
          <p:cNvSpPr/>
          <p:nvPr/>
        </p:nvSpPr>
        <p:spPr>
          <a:xfrm>
            <a:off x="7477432" y="3477211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AE66B9-5C44-F200-36DC-FB89F71C9CD8}"/>
              </a:ext>
            </a:extLst>
          </p:cNvPr>
          <p:cNvSpPr txBox="1"/>
          <p:nvPr/>
        </p:nvSpPr>
        <p:spPr>
          <a:xfrm>
            <a:off x="7430826" y="4862143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25F80E-8E11-1C54-DE15-A3DA46BC4582}"/>
              </a:ext>
            </a:extLst>
          </p:cNvPr>
          <p:cNvSpPr txBox="1"/>
          <p:nvPr/>
        </p:nvSpPr>
        <p:spPr>
          <a:xfrm>
            <a:off x="7575259" y="5165640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FF3B6A-DA39-2375-9DB1-EECE12934EAD}"/>
              </a:ext>
            </a:extLst>
          </p:cNvPr>
          <p:cNvSpPr txBox="1"/>
          <p:nvPr/>
        </p:nvSpPr>
        <p:spPr>
          <a:xfrm>
            <a:off x="8457842" y="5038222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0AF26E-DC8D-43B5-D796-A150613C8B8F}"/>
              </a:ext>
            </a:extLst>
          </p:cNvPr>
          <p:cNvSpPr txBox="1"/>
          <p:nvPr/>
        </p:nvSpPr>
        <p:spPr>
          <a:xfrm>
            <a:off x="9667895" y="5130556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48E185-2FD2-8C44-5EF8-9D8020F9B9B6}"/>
              </a:ext>
            </a:extLst>
          </p:cNvPr>
          <p:cNvSpPr txBox="1"/>
          <p:nvPr/>
        </p:nvSpPr>
        <p:spPr>
          <a:xfrm>
            <a:off x="10688113" y="5139142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4D9E4C-F3C1-824F-2348-867EEDB00686}"/>
              </a:ext>
            </a:extLst>
          </p:cNvPr>
          <p:cNvSpPr/>
          <p:nvPr/>
        </p:nvSpPr>
        <p:spPr>
          <a:xfrm>
            <a:off x="7459708" y="5620655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1793C3E-A0B2-CC4B-8C71-BDCD971D8110}"/>
              </a:ext>
            </a:extLst>
          </p:cNvPr>
          <p:cNvCxnSpPr>
            <a:cxnSpLocks/>
          </p:cNvCxnSpPr>
          <p:nvPr/>
        </p:nvCxnSpPr>
        <p:spPr>
          <a:xfrm>
            <a:off x="84049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F38F9B6-376C-5F88-3C4F-3845F4EE27C1}"/>
              </a:ext>
            </a:extLst>
          </p:cNvPr>
          <p:cNvCxnSpPr>
            <a:cxnSpLocks/>
          </p:cNvCxnSpPr>
          <p:nvPr/>
        </p:nvCxnSpPr>
        <p:spPr>
          <a:xfrm>
            <a:off x="949076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9A47CF2-1526-1F3E-ED8C-020DB41FC6D6}"/>
              </a:ext>
            </a:extLst>
          </p:cNvPr>
          <p:cNvCxnSpPr>
            <a:cxnSpLocks/>
          </p:cNvCxnSpPr>
          <p:nvPr/>
        </p:nvCxnSpPr>
        <p:spPr>
          <a:xfrm>
            <a:off x="105766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32E2043-A5FC-5909-FD6C-B040DBF6D651}"/>
              </a:ext>
            </a:extLst>
          </p:cNvPr>
          <p:cNvSpPr txBox="1"/>
          <p:nvPr/>
        </p:nvSpPr>
        <p:spPr>
          <a:xfrm rot="16200000">
            <a:off x="6172281" y="595878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F1A486-8435-AE03-66B6-42282A9089D2}"/>
              </a:ext>
            </a:extLst>
          </p:cNvPr>
          <p:cNvSpPr txBox="1"/>
          <p:nvPr/>
        </p:nvSpPr>
        <p:spPr>
          <a:xfrm rot="16200000">
            <a:off x="7020559" y="6260973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249610-1AE4-9945-B9C3-C70DA198F180}"/>
              </a:ext>
            </a:extLst>
          </p:cNvPr>
          <p:cNvSpPr txBox="1"/>
          <p:nvPr/>
        </p:nvSpPr>
        <p:spPr>
          <a:xfrm rot="16200000">
            <a:off x="6892915" y="5707526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9421C9-BA86-FA54-8E51-4CBB8FFD946B}"/>
              </a:ext>
            </a:extLst>
          </p:cNvPr>
          <p:cNvSpPr/>
          <p:nvPr/>
        </p:nvSpPr>
        <p:spPr>
          <a:xfrm>
            <a:off x="7459708" y="5612069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D24A22A-B1F5-04FC-508B-B9DCDC231D14}"/>
              </a:ext>
            </a:extLst>
          </p:cNvPr>
          <p:cNvCxnSpPr/>
          <p:nvPr/>
        </p:nvCxnSpPr>
        <p:spPr>
          <a:xfrm>
            <a:off x="8810625" y="1047750"/>
            <a:ext cx="2362200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E0F0C99-C2FB-2BEF-8F7C-A32240201AAF}"/>
              </a:ext>
            </a:extLst>
          </p:cNvPr>
          <p:cNvCxnSpPr>
            <a:cxnSpLocks/>
          </p:cNvCxnSpPr>
          <p:nvPr/>
        </p:nvCxnSpPr>
        <p:spPr>
          <a:xfrm>
            <a:off x="4389866" y="1309542"/>
            <a:ext cx="69747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5E90C68-D1EC-A270-B197-200AFEA48F67}"/>
              </a:ext>
            </a:extLst>
          </p:cNvPr>
          <p:cNvCxnSpPr>
            <a:cxnSpLocks/>
          </p:cNvCxnSpPr>
          <p:nvPr/>
        </p:nvCxnSpPr>
        <p:spPr>
          <a:xfrm>
            <a:off x="4512365" y="1632707"/>
            <a:ext cx="46125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9047BFF4-2A7E-DCB5-A47E-A286960EC4FE}"/>
              </a:ext>
            </a:extLst>
          </p:cNvPr>
          <p:cNvSpPr/>
          <p:nvPr/>
        </p:nvSpPr>
        <p:spPr>
          <a:xfrm>
            <a:off x="0" y="0"/>
            <a:ext cx="12192000" cy="6835141"/>
          </a:xfrm>
          <a:prstGeom prst="rect">
            <a:avLst/>
          </a:prstGeom>
          <a:solidFill>
            <a:srgbClr val="5E5E5E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6DC0D20-3100-75C2-AA01-38E74D46B1FE}"/>
              </a:ext>
            </a:extLst>
          </p:cNvPr>
          <p:cNvSpPr/>
          <p:nvPr/>
        </p:nvSpPr>
        <p:spPr>
          <a:xfrm>
            <a:off x="1524000" y="709377"/>
            <a:ext cx="9059337" cy="49026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A735D97-9CD3-A395-7B46-C1E8D7BEF780}"/>
              </a:ext>
            </a:extLst>
          </p:cNvPr>
          <p:cNvSpPr txBox="1"/>
          <p:nvPr/>
        </p:nvSpPr>
        <p:spPr>
          <a:xfrm>
            <a:off x="4028017" y="976556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497FB25-6818-EA53-86B3-B0E37E5642C4}"/>
              </a:ext>
            </a:extLst>
          </p:cNvPr>
          <p:cNvSpPr txBox="1"/>
          <p:nvPr/>
        </p:nvSpPr>
        <p:spPr>
          <a:xfrm>
            <a:off x="4172450" y="1280053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66CC379-6913-A5A5-BDF1-D4893B8D1918}"/>
              </a:ext>
            </a:extLst>
          </p:cNvPr>
          <p:cNvSpPr txBox="1"/>
          <p:nvPr/>
        </p:nvSpPr>
        <p:spPr>
          <a:xfrm>
            <a:off x="5055033" y="1152635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0EFC18-6A53-7164-C30B-FCF75390D936}"/>
              </a:ext>
            </a:extLst>
          </p:cNvPr>
          <p:cNvSpPr txBox="1"/>
          <p:nvPr/>
        </p:nvSpPr>
        <p:spPr>
          <a:xfrm>
            <a:off x="6265086" y="1244969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92BF570-3CA5-F402-BD99-2B6AF187E8F0}"/>
              </a:ext>
            </a:extLst>
          </p:cNvPr>
          <p:cNvSpPr txBox="1"/>
          <p:nvPr/>
        </p:nvSpPr>
        <p:spPr>
          <a:xfrm>
            <a:off x="7285304" y="1253555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EED83AE-B5AE-1BDB-C9BE-ADAFC8D13D76}"/>
              </a:ext>
            </a:extLst>
          </p:cNvPr>
          <p:cNvSpPr/>
          <p:nvPr/>
        </p:nvSpPr>
        <p:spPr>
          <a:xfrm>
            <a:off x="4056899" y="1735068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97EF0FB-065A-8CD5-31A0-1AAF717AE43E}"/>
              </a:ext>
            </a:extLst>
          </p:cNvPr>
          <p:cNvCxnSpPr>
            <a:cxnSpLocks/>
          </p:cNvCxnSpPr>
          <p:nvPr/>
        </p:nvCxnSpPr>
        <p:spPr>
          <a:xfrm>
            <a:off x="500210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E23255F-5D1C-519F-F451-0E4B77DD5FC5}"/>
              </a:ext>
            </a:extLst>
          </p:cNvPr>
          <p:cNvCxnSpPr>
            <a:cxnSpLocks/>
          </p:cNvCxnSpPr>
          <p:nvPr/>
        </p:nvCxnSpPr>
        <p:spPr>
          <a:xfrm>
            <a:off x="608795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14562AB-5956-B00C-ACC9-ADE57F17F59B}"/>
              </a:ext>
            </a:extLst>
          </p:cNvPr>
          <p:cNvCxnSpPr>
            <a:cxnSpLocks/>
          </p:cNvCxnSpPr>
          <p:nvPr/>
        </p:nvCxnSpPr>
        <p:spPr>
          <a:xfrm>
            <a:off x="717380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9A2190C-5DE5-100D-7AD6-4C1E95F38DFB}"/>
              </a:ext>
            </a:extLst>
          </p:cNvPr>
          <p:cNvSpPr txBox="1"/>
          <p:nvPr/>
        </p:nvSpPr>
        <p:spPr>
          <a:xfrm rot="16200000">
            <a:off x="2769472" y="2073197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5B4CE6C-8C58-A8BE-3A72-7AC633803BCE}"/>
              </a:ext>
            </a:extLst>
          </p:cNvPr>
          <p:cNvSpPr txBox="1"/>
          <p:nvPr/>
        </p:nvSpPr>
        <p:spPr>
          <a:xfrm rot="16200000">
            <a:off x="3617750" y="2375386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CD4BA51-2387-D555-64F0-3BA255EED3E8}"/>
              </a:ext>
            </a:extLst>
          </p:cNvPr>
          <p:cNvSpPr txBox="1"/>
          <p:nvPr/>
        </p:nvSpPr>
        <p:spPr>
          <a:xfrm rot="16200000">
            <a:off x="3490106" y="1821939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CE8C0FC-E10E-B6B7-7474-8ABA0C3D93EB}"/>
              </a:ext>
            </a:extLst>
          </p:cNvPr>
          <p:cNvSpPr/>
          <p:nvPr/>
        </p:nvSpPr>
        <p:spPr>
          <a:xfrm>
            <a:off x="4056899" y="2267063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7DC587-E8AA-AD70-0870-C31CB9B90774}"/>
              </a:ext>
            </a:extLst>
          </p:cNvPr>
          <p:cNvSpPr txBox="1"/>
          <p:nvPr/>
        </p:nvSpPr>
        <p:spPr>
          <a:xfrm>
            <a:off x="4101741" y="313867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1A67176-72EA-B5C5-4115-705C519B0373}"/>
              </a:ext>
            </a:extLst>
          </p:cNvPr>
          <p:cNvSpPr txBox="1"/>
          <p:nvPr/>
        </p:nvSpPr>
        <p:spPr>
          <a:xfrm>
            <a:off x="4246174" y="3442172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8291938-B8A6-2DFC-0923-65E5F7F80E14}"/>
              </a:ext>
            </a:extLst>
          </p:cNvPr>
          <p:cNvSpPr txBox="1"/>
          <p:nvPr/>
        </p:nvSpPr>
        <p:spPr>
          <a:xfrm>
            <a:off x="5128757" y="331475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87A078A-4330-D988-B21B-D71BFA0BDC5D}"/>
              </a:ext>
            </a:extLst>
          </p:cNvPr>
          <p:cNvSpPr txBox="1"/>
          <p:nvPr/>
        </p:nvSpPr>
        <p:spPr>
          <a:xfrm>
            <a:off x="6338810" y="3407088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11C6828-400F-979D-4581-8A5080480130}"/>
              </a:ext>
            </a:extLst>
          </p:cNvPr>
          <p:cNvSpPr txBox="1"/>
          <p:nvPr/>
        </p:nvSpPr>
        <p:spPr>
          <a:xfrm>
            <a:off x="7359028" y="3415674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8CD0769-ECD0-D714-5D54-9041473D52B0}"/>
              </a:ext>
            </a:extLst>
          </p:cNvPr>
          <p:cNvSpPr/>
          <p:nvPr/>
        </p:nvSpPr>
        <p:spPr>
          <a:xfrm>
            <a:off x="4130623" y="3897187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1989717-BCD5-93BD-FBBA-E3A4DC7E3C67}"/>
              </a:ext>
            </a:extLst>
          </p:cNvPr>
          <p:cNvCxnSpPr>
            <a:cxnSpLocks/>
          </p:cNvCxnSpPr>
          <p:nvPr/>
        </p:nvCxnSpPr>
        <p:spPr>
          <a:xfrm>
            <a:off x="507583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8E3F345-D6DF-1C5C-D2EE-0E13486CE308}"/>
              </a:ext>
            </a:extLst>
          </p:cNvPr>
          <p:cNvCxnSpPr>
            <a:cxnSpLocks/>
          </p:cNvCxnSpPr>
          <p:nvPr/>
        </p:nvCxnSpPr>
        <p:spPr>
          <a:xfrm>
            <a:off x="616168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24B2C16-FC69-8529-D801-5D7682686F18}"/>
              </a:ext>
            </a:extLst>
          </p:cNvPr>
          <p:cNvCxnSpPr>
            <a:cxnSpLocks/>
          </p:cNvCxnSpPr>
          <p:nvPr/>
        </p:nvCxnSpPr>
        <p:spPr>
          <a:xfrm>
            <a:off x="724753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707853E7-0583-2180-B772-21FB7E3612E9}"/>
              </a:ext>
            </a:extLst>
          </p:cNvPr>
          <p:cNvSpPr txBox="1"/>
          <p:nvPr/>
        </p:nvSpPr>
        <p:spPr>
          <a:xfrm rot="16200000">
            <a:off x="2843196" y="4235316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B4EC1DD-DBC5-00FC-8ECC-1CD2A82A4EEB}"/>
              </a:ext>
            </a:extLst>
          </p:cNvPr>
          <p:cNvSpPr txBox="1"/>
          <p:nvPr/>
        </p:nvSpPr>
        <p:spPr>
          <a:xfrm rot="16200000">
            <a:off x="3691474" y="453750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ECA8CA9-8DE2-A8FA-E18E-8D2E27AA8C6E}"/>
              </a:ext>
            </a:extLst>
          </p:cNvPr>
          <p:cNvSpPr txBox="1"/>
          <p:nvPr/>
        </p:nvSpPr>
        <p:spPr>
          <a:xfrm rot="16200000">
            <a:off x="3563830" y="3984058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5C9A046-1236-7C19-309C-07B70D74D165}"/>
              </a:ext>
            </a:extLst>
          </p:cNvPr>
          <p:cNvSpPr/>
          <p:nvPr/>
        </p:nvSpPr>
        <p:spPr>
          <a:xfrm>
            <a:off x="4130623" y="3886484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B07B670-C227-31FE-197F-D948F798F47D}"/>
              </a:ext>
            </a:extLst>
          </p:cNvPr>
          <p:cNvSpPr txBox="1"/>
          <p:nvPr/>
        </p:nvSpPr>
        <p:spPr>
          <a:xfrm>
            <a:off x="8475566" y="1916996"/>
            <a:ext cx="2240495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“More likely to be more successful”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D676D9C-7641-36F1-7474-352393D27441}"/>
              </a:ext>
            </a:extLst>
          </p:cNvPr>
          <p:cNvSpPr txBox="1"/>
          <p:nvPr/>
        </p:nvSpPr>
        <p:spPr>
          <a:xfrm>
            <a:off x="8580052" y="4038210"/>
            <a:ext cx="2240495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“Less likely to be more successful”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FF6D907-AB3F-C2E1-A0A3-5511ED22B7EF}"/>
              </a:ext>
            </a:extLst>
          </p:cNvPr>
          <p:cNvSpPr txBox="1"/>
          <p:nvPr/>
        </p:nvSpPr>
        <p:spPr>
          <a:xfrm rot="19699172">
            <a:off x="-29169" y="514279"/>
            <a:ext cx="2533654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/>
              <a:t>How do we assign probabilities to model this?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5EAA4C2-D4EB-9758-81C7-BAB94FEACC1D}"/>
              </a:ext>
            </a:extLst>
          </p:cNvPr>
          <p:cNvSpPr/>
          <p:nvPr/>
        </p:nvSpPr>
        <p:spPr>
          <a:xfrm>
            <a:off x="3933825" y="1530554"/>
            <a:ext cx="1142007" cy="933147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1BFC549F-1063-4CCF-EBBA-BF85397C1FBD}"/>
              </a:ext>
            </a:extLst>
          </p:cNvPr>
          <p:cNvSpPr/>
          <p:nvPr/>
        </p:nvSpPr>
        <p:spPr>
          <a:xfrm>
            <a:off x="4029363" y="4197119"/>
            <a:ext cx="1142007" cy="933147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4724E13-2BEB-B202-7389-CCE62F212D43}"/>
              </a:ext>
            </a:extLst>
          </p:cNvPr>
          <p:cNvSpPr txBox="1"/>
          <p:nvPr/>
        </p:nvSpPr>
        <p:spPr>
          <a:xfrm rot="19357102">
            <a:off x="3312942" y="1522777"/>
            <a:ext cx="743865" cy="3679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less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7A9783B-AD18-3032-7865-74478074ED3A}"/>
              </a:ext>
            </a:extLst>
          </p:cNvPr>
          <p:cNvSpPr txBox="1"/>
          <p:nvPr/>
        </p:nvSpPr>
        <p:spPr>
          <a:xfrm rot="19357102">
            <a:off x="3276628" y="4320356"/>
            <a:ext cx="743865" cy="3679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more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1BD612D0-09A6-F2A3-45E9-AD1A8CAE6AC6}"/>
              </a:ext>
            </a:extLst>
          </p:cNvPr>
          <p:cNvSpPr/>
          <p:nvPr/>
        </p:nvSpPr>
        <p:spPr>
          <a:xfrm>
            <a:off x="4006507" y="1660450"/>
            <a:ext cx="2146711" cy="706004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D4E8C33A-D789-4721-1801-3025CE984ED3}"/>
              </a:ext>
            </a:extLst>
          </p:cNvPr>
          <p:cNvSpPr/>
          <p:nvPr/>
        </p:nvSpPr>
        <p:spPr>
          <a:xfrm>
            <a:off x="4035087" y="4336706"/>
            <a:ext cx="2146711" cy="706004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6F930AB-0F64-DC58-C725-4E156D40447A}"/>
              </a:ext>
            </a:extLst>
          </p:cNvPr>
          <p:cNvSpPr txBox="1"/>
          <p:nvPr/>
        </p:nvSpPr>
        <p:spPr>
          <a:xfrm rot="19357102">
            <a:off x="5682136" y="1244135"/>
            <a:ext cx="743865" cy="3679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less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C062056-3651-11E9-F7F5-D5CB6B6C99F2}"/>
              </a:ext>
            </a:extLst>
          </p:cNvPr>
          <p:cNvSpPr txBox="1"/>
          <p:nvPr/>
        </p:nvSpPr>
        <p:spPr>
          <a:xfrm rot="19357102">
            <a:off x="5109676" y="5120169"/>
            <a:ext cx="743865" cy="3679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more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033B45B9-D722-46EF-511A-472ABD5A8A0D}"/>
              </a:ext>
            </a:extLst>
          </p:cNvPr>
          <p:cNvSpPr/>
          <p:nvPr/>
        </p:nvSpPr>
        <p:spPr>
          <a:xfrm>
            <a:off x="3969785" y="1679405"/>
            <a:ext cx="3241555" cy="706004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24548302-C23B-B18C-272B-A87B9BC08EFA}"/>
              </a:ext>
            </a:extLst>
          </p:cNvPr>
          <p:cNvSpPr/>
          <p:nvPr/>
        </p:nvSpPr>
        <p:spPr>
          <a:xfrm>
            <a:off x="4085069" y="4337941"/>
            <a:ext cx="3241555" cy="706004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39BE12D-A356-B76A-75BC-A75187889A98}"/>
              </a:ext>
            </a:extLst>
          </p:cNvPr>
          <p:cNvSpPr txBox="1"/>
          <p:nvPr/>
        </p:nvSpPr>
        <p:spPr>
          <a:xfrm rot="19357102">
            <a:off x="6576272" y="5033863"/>
            <a:ext cx="743865" cy="36793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more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75C4A8B-D46E-82B1-9527-87D0829C6B9A}"/>
              </a:ext>
            </a:extLst>
          </p:cNvPr>
          <p:cNvSpPr txBox="1"/>
          <p:nvPr/>
        </p:nvSpPr>
        <p:spPr>
          <a:xfrm rot="19357102">
            <a:off x="6661860" y="1358421"/>
            <a:ext cx="743865" cy="36793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less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C6C7B6F-1313-1F35-C92F-CE4C19B0A5B5}"/>
                  </a:ext>
                </a:extLst>
              </p:cNvPr>
              <p:cNvSpPr txBox="1"/>
              <p:nvPr/>
            </p:nvSpPr>
            <p:spPr>
              <a:xfrm>
                <a:off x="4314043" y="1808373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C6C7B6F-1313-1F35-C92F-CE4C19B0A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043" y="1808373"/>
                <a:ext cx="419100" cy="4299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D16F073-5982-49C6-672D-B0BBF75AC032}"/>
                  </a:ext>
                </a:extLst>
              </p:cNvPr>
              <p:cNvSpPr txBox="1"/>
              <p:nvPr/>
            </p:nvSpPr>
            <p:spPr>
              <a:xfrm>
                <a:off x="7512495" y="1808373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D16F073-5982-49C6-672D-B0BBF75AC0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495" y="1808373"/>
                <a:ext cx="419100" cy="4299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54E4458C-240B-5E17-815C-2797A5AF68D1}"/>
                  </a:ext>
                </a:extLst>
              </p:cNvPr>
              <p:cNvSpPr txBox="1"/>
              <p:nvPr/>
            </p:nvSpPr>
            <p:spPr>
              <a:xfrm>
                <a:off x="5296218" y="1819932"/>
                <a:ext cx="419100" cy="41447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54E4458C-240B-5E17-815C-2797A5AF6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6218" y="1819932"/>
                <a:ext cx="419100" cy="414472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04F75628-0BB1-A405-D362-895FFFAC8EE0}"/>
                  </a:ext>
                </a:extLst>
              </p:cNvPr>
              <p:cNvSpPr txBox="1"/>
              <p:nvPr/>
            </p:nvSpPr>
            <p:spPr>
              <a:xfrm>
                <a:off x="6383351" y="1810949"/>
                <a:ext cx="419100" cy="41562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04F75628-0BB1-A405-D362-895FFFAC8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351" y="1810949"/>
                <a:ext cx="419100" cy="415627"/>
              </a:xfrm>
              <a:prstGeom prst="rect">
                <a:avLst/>
              </a:prstGeom>
              <a:blipFill>
                <a:blip r:embed="rId7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2672F3A-DBB4-0F8E-BDA1-882B8CB3B4DA}"/>
                  </a:ext>
                </a:extLst>
              </p:cNvPr>
              <p:cNvSpPr txBox="1"/>
              <p:nvPr/>
            </p:nvSpPr>
            <p:spPr>
              <a:xfrm>
                <a:off x="4417343" y="4474992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2672F3A-DBB4-0F8E-BDA1-882B8CB3B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343" y="4474992"/>
                <a:ext cx="419100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80199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60684-BB71-F3A4-D129-9A36F1E71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C5032-F96C-A54A-CFD1-9DC28060E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6CD93D-2B19-8910-452F-698C4DF366DF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045958-55A6-F96F-2009-484F005FE521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6E13A8-F6F5-B182-EAE3-31E17503E920}"/>
              </a:ext>
            </a:extLst>
          </p:cNvPr>
          <p:cNvSpPr txBox="1"/>
          <p:nvPr/>
        </p:nvSpPr>
        <p:spPr>
          <a:xfrm>
            <a:off x="4343400" y="709377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model of these two uncertainties in which a military that would succeed when attempting a coup is more likely to perform well against an opposing force than a military that would fail when attempting a coup.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781396-7AED-2EE2-4B71-9723C069F7C0}"/>
              </a:ext>
            </a:extLst>
          </p:cNvPr>
          <p:cNvSpPr txBox="1"/>
          <p:nvPr/>
        </p:nvSpPr>
        <p:spPr>
          <a:xfrm>
            <a:off x="4343400" y="1687454"/>
            <a:ext cx="7038975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Marginal-Conditional Method– JUST SAY YES!!!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1AFB1B-BC85-93D1-91D7-8EA146994BA2}"/>
              </a:ext>
            </a:extLst>
          </p:cNvPr>
          <p:cNvSpPr txBox="1"/>
          <p:nvPr/>
        </p:nvSpPr>
        <p:spPr>
          <a:xfrm rot="19677942">
            <a:off x="-270553" y="2483552"/>
            <a:ext cx="5134418" cy="92333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Step 2:  Model uncertainty about success against opposing miiltaries, conditional on knowledge of outcome of a coup attempt.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B08A0ED-2D71-0657-1FFE-096C49AC6C9D}"/>
              </a:ext>
            </a:extLst>
          </p:cNvPr>
          <p:cNvCxnSpPr>
            <a:cxnSpLocks/>
          </p:cNvCxnSpPr>
          <p:nvPr/>
        </p:nvCxnSpPr>
        <p:spPr>
          <a:xfrm flipV="1">
            <a:off x="4533144" y="3354838"/>
            <a:ext cx="2200275" cy="1130452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F960B65-133F-ECA1-F830-135AB907374E}"/>
              </a:ext>
            </a:extLst>
          </p:cNvPr>
          <p:cNvSpPr txBox="1"/>
          <p:nvPr/>
        </p:nvSpPr>
        <p:spPr>
          <a:xfrm rot="19913270">
            <a:off x="4600155" y="3899264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EDB462-F703-2ACF-29F4-58027F9C4ACD}"/>
              </a:ext>
            </a:extLst>
          </p:cNvPr>
          <p:cNvCxnSpPr>
            <a:cxnSpLocks/>
          </p:cNvCxnSpPr>
          <p:nvPr/>
        </p:nvCxnSpPr>
        <p:spPr>
          <a:xfrm>
            <a:off x="4522231" y="4582175"/>
            <a:ext cx="2019300" cy="149147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BC369FB-84F7-CFD6-DA26-99FA08137A00}"/>
              </a:ext>
            </a:extLst>
          </p:cNvPr>
          <p:cNvSpPr txBox="1"/>
          <p:nvPr/>
        </p:nvSpPr>
        <p:spPr>
          <a:xfrm rot="2210112">
            <a:off x="4580614" y="5519727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8CFA214-E48D-AC80-5ECC-10D380C07A86}"/>
                  </a:ext>
                </a:extLst>
              </p:cNvPr>
              <p:cNvSpPr txBox="1"/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8CFA214-E48D-AC80-5ECC-10D380C07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4F8B54C-A6DA-39C8-DEEA-7FB43F49F874}"/>
                  </a:ext>
                </a:extLst>
              </p:cNvPr>
              <p:cNvSpPr txBox="1"/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4F8B54C-A6DA-39C8-DEEA-7FB43F49F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9A2618B-5D4D-8379-A501-9B435EA61C2C}"/>
              </a:ext>
            </a:extLst>
          </p:cNvPr>
          <p:cNvSpPr txBox="1"/>
          <p:nvPr/>
        </p:nvSpPr>
        <p:spPr>
          <a:xfrm>
            <a:off x="7448550" y="2186704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905FFE-B790-44D4-B1ED-D93D3E6C52F9}"/>
              </a:ext>
            </a:extLst>
          </p:cNvPr>
          <p:cNvSpPr txBox="1"/>
          <p:nvPr/>
        </p:nvSpPr>
        <p:spPr>
          <a:xfrm>
            <a:off x="7592983" y="2490201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FE22BA-F65B-3229-3E1D-45A58869EFAB}"/>
              </a:ext>
            </a:extLst>
          </p:cNvPr>
          <p:cNvSpPr txBox="1"/>
          <p:nvPr/>
        </p:nvSpPr>
        <p:spPr>
          <a:xfrm>
            <a:off x="8475566" y="2362783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69B06B-5DF6-A828-227A-38B19E0EC424}"/>
              </a:ext>
            </a:extLst>
          </p:cNvPr>
          <p:cNvSpPr txBox="1"/>
          <p:nvPr/>
        </p:nvSpPr>
        <p:spPr>
          <a:xfrm>
            <a:off x="9685619" y="2455117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7758CC-3AEB-CF55-4516-5457F73D5382}"/>
              </a:ext>
            </a:extLst>
          </p:cNvPr>
          <p:cNvSpPr txBox="1"/>
          <p:nvPr/>
        </p:nvSpPr>
        <p:spPr>
          <a:xfrm>
            <a:off x="10705837" y="2463703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A22675-CEBB-F208-3074-50B1B3E82E08}"/>
              </a:ext>
            </a:extLst>
          </p:cNvPr>
          <p:cNvSpPr/>
          <p:nvPr/>
        </p:nvSpPr>
        <p:spPr>
          <a:xfrm>
            <a:off x="7477432" y="2945216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994975B-A75F-99CF-633F-6217ADC643D0}"/>
              </a:ext>
            </a:extLst>
          </p:cNvPr>
          <p:cNvCxnSpPr>
            <a:cxnSpLocks/>
          </p:cNvCxnSpPr>
          <p:nvPr/>
        </p:nvCxnSpPr>
        <p:spPr>
          <a:xfrm>
            <a:off x="84226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C572695-7999-A17F-D918-AEB7CB854363}"/>
              </a:ext>
            </a:extLst>
          </p:cNvPr>
          <p:cNvCxnSpPr>
            <a:cxnSpLocks/>
          </p:cNvCxnSpPr>
          <p:nvPr/>
        </p:nvCxnSpPr>
        <p:spPr>
          <a:xfrm>
            <a:off x="950849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E567EEE-48B6-CDA9-F426-1CFFE03981FB}"/>
              </a:ext>
            </a:extLst>
          </p:cNvPr>
          <p:cNvCxnSpPr>
            <a:cxnSpLocks/>
          </p:cNvCxnSpPr>
          <p:nvPr/>
        </p:nvCxnSpPr>
        <p:spPr>
          <a:xfrm>
            <a:off x="105943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EDDA6B1-D2BD-99D9-7748-603339A4AACA}"/>
              </a:ext>
            </a:extLst>
          </p:cNvPr>
          <p:cNvSpPr txBox="1"/>
          <p:nvPr/>
        </p:nvSpPr>
        <p:spPr>
          <a:xfrm rot="16200000">
            <a:off x="6190005" y="3283345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403FEC-B50C-1819-A221-C7AA79C4EFED}"/>
              </a:ext>
            </a:extLst>
          </p:cNvPr>
          <p:cNvSpPr txBox="1"/>
          <p:nvPr/>
        </p:nvSpPr>
        <p:spPr>
          <a:xfrm rot="16200000">
            <a:off x="7038283" y="3585534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B408C0-D037-0704-9377-C630226F9ABD}"/>
              </a:ext>
            </a:extLst>
          </p:cNvPr>
          <p:cNvSpPr txBox="1"/>
          <p:nvPr/>
        </p:nvSpPr>
        <p:spPr>
          <a:xfrm rot="16200000">
            <a:off x="6910639" y="3032087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E1BF65-E4DF-DAFE-1340-2879FEDC6C57}"/>
              </a:ext>
            </a:extLst>
          </p:cNvPr>
          <p:cNvSpPr/>
          <p:nvPr/>
        </p:nvSpPr>
        <p:spPr>
          <a:xfrm>
            <a:off x="7477432" y="3477211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617F12-A3CD-216B-561A-A2371EBDFF9C}"/>
              </a:ext>
            </a:extLst>
          </p:cNvPr>
          <p:cNvSpPr txBox="1"/>
          <p:nvPr/>
        </p:nvSpPr>
        <p:spPr>
          <a:xfrm>
            <a:off x="7430826" y="4862143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90E1F5-9F2F-C0B7-134F-A64468B74E23}"/>
              </a:ext>
            </a:extLst>
          </p:cNvPr>
          <p:cNvSpPr txBox="1"/>
          <p:nvPr/>
        </p:nvSpPr>
        <p:spPr>
          <a:xfrm>
            <a:off x="7575259" y="5165640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87BF78-459E-CDEC-C355-7C210FD15054}"/>
              </a:ext>
            </a:extLst>
          </p:cNvPr>
          <p:cNvSpPr txBox="1"/>
          <p:nvPr/>
        </p:nvSpPr>
        <p:spPr>
          <a:xfrm>
            <a:off x="8457842" y="5038222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B1B5E1-81CF-CF46-5ABF-E4D6E3238D0E}"/>
              </a:ext>
            </a:extLst>
          </p:cNvPr>
          <p:cNvSpPr txBox="1"/>
          <p:nvPr/>
        </p:nvSpPr>
        <p:spPr>
          <a:xfrm>
            <a:off x="9667895" y="5130556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5F5230-69A2-2E56-5976-CB4D019DEFD6}"/>
              </a:ext>
            </a:extLst>
          </p:cNvPr>
          <p:cNvSpPr txBox="1"/>
          <p:nvPr/>
        </p:nvSpPr>
        <p:spPr>
          <a:xfrm>
            <a:off x="10688113" y="5139142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8B7C271-DD11-E84B-96B6-8D0B2FE72A1C}"/>
              </a:ext>
            </a:extLst>
          </p:cNvPr>
          <p:cNvSpPr/>
          <p:nvPr/>
        </p:nvSpPr>
        <p:spPr>
          <a:xfrm>
            <a:off x="7459708" y="5620655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B71D58E-D7FD-4A20-8B7E-24EB19A720AE}"/>
              </a:ext>
            </a:extLst>
          </p:cNvPr>
          <p:cNvCxnSpPr>
            <a:cxnSpLocks/>
          </p:cNvCxnSpPr>
          <p:nvPr/>
        </p:nvCxnSpPr>
        <p:spPr>
          <a:xfrm>
            <a:off x="84049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8298274-7F2C-1070-0B28-C55062A45363}"/>
              </a:ext>
            </a:extLst>
          </p:cNvPr>
          <p:cNvCxnSpPr>
            <a:cxnSpLocks/>
          </p:cNvCxnSpPr>
          <p:nvPr/>
        </p:nvCxnSpPr>
        <p:spPr>
          <a:xfrm>
            <a:off x="949076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F7D2AC0-78B5-B2EA-ED02-2D249852DDA2}"/>
              </a:ext>
            </a:extLst>
          </p:cNvPr>
          <p:cNvCxnSpPr>
            <a:cxnSpLocks/>
          </p:cNvCxnSpPr>
          <p:nvPr/>
        </p:nvCxnSpPr>
        <p:spPr>
          <a:xfrm>
            <a:off x="105766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4B5396E-CA42-56AF-A160-969970C33D25}"/>
              </a:ext>
            </a:extLst>
          </p:cNvPr>
          <p:cNvSpPr txBox="1"/>
          <p:nvPr/>
        </p:nvSpPr>
        <p:spPr>
          <a:xfrm rot="16200000">
            <a:off x="6172281" y="595878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A364E9-8008-C09C-27B6-545E71E95B36}"/>
              </a:ext>
            </a:extLst>
          </p:cNvPr>
          <p:cNvSpPr txBox="1"/>
          <p:nvPr/>
        </p:nvSpPr>
        <p:spPr>
          <a:xfrm rot="16200000">
            <a:off x="7020559" y="6260973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C59500C-0429-92D0-918B-944ACD6FB6D9}"/>
              </a:ext>
            </a:extLst>
          </p:cNvPr>
          <p:cNvSpPr txBox="1"/>
          <p:nvPr/>
        </p:nvSpPr>
        <p:spPr>
          <a:xfrm rot="16200000">
            <a:off x="6892915" y="5707526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6309B46-96B6-9581-C209-D567CA96AE13}"/>
              </a:ext>
            </a:extLst>
          </p:cNvPr>
          <p:cNvSpPr/>
          <p:nvPr/>
        </p:nvSpPr>
        <p:spPr>
          <a:xfrm>
            <a:off x="7459708" y="5612069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F59E583-0747-2BD5-1E08-835247B195D2}"/>
              </a:ext>
            </a:extLst>
          </p:cNvPr>
          <p:cNvCxnSpPr/>
          <p:nvPr/>
        </p:nvCxnSpPr>
        <p:spPr>
          <a:xfrm>
            <a:off x="8810625" y="1047750"/>
            <a:ext cx="2362200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082C07C-F33F-05ED-920C-F7AA33F57C25}"/>
              </a:ext>
            </a:extLst>
          </p:cNvPr>
          <p:cNvCxnSpPr>
            <a:cxnSpLocks/>
          </p:cNvCxnSpPr>
          <p:nvPr/>
        </p:nvCxnSpPr>
        <p:spPr>
          <a:xfrm>
            <a:off x="4389866" y="1309542"/>
            <a:ext cx="69747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3088E61-A17E-A645-7889-4AF5B9FDECAA}"/>
              </a:ext>
            </a:extLst>
          </p:cNvPr>
          <p:cNvCxnSpPr>
            <a:cxnSpLocks/>
          </p:cNvCxnSpPr>
          <p:nvPr/>
        </p:nvCxnSpPr>
        <p:spPr>
          <a:xfrm>
            <a:off x="4512365" y="1632707"/>
            <a:ext cx="46125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8787899D-1B07-C4BF-1FF8-6C9A89C1EDE1}"/>
              </a:ext>
            </a:extLst>
          </p:cNvPr>
          <p:cNvSpPr/>
          <p:nvPr/>
        </p:nvSpPr>
        <p:spPr>
          <a:xfrm>
            <a:off x="0" y="0"/>
            <a:ext cx="12192000" cy="6835141"/>
          </a:xfrm>
          <a:prstGeom prst="rect">
            <a:avLst/>
          </a:prstGeom>
          <a:solidFill>
            <a:srgbClr val="5E5E5E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9F9C949-A700-55D0-438C-A521ABC296B6}"/>
              </a:ext>
            </a:extLst>
          </p:cNvPr>
          <p:cNvSpPr/>
          <p:nvPr/>
        </p:nvSpPr>
        <p:spPr>
          <a:xfrm>
            <a:off x="1524000" y="709377"/>
            <a:ext cx="9059337" cy="49026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6AE657E-25E4-4542-35F6-EF2E981AB2C8}"/>
              </a:ext>
            </a:extLst>
          </p:cNvPr>
          <p:cNvSpPr txBox="1"/>
          <p:nvPr/>
        </p:nvSpPr>
        <p:spPr>
          <a:xfrm>
            <a:off x="4028017" y="976556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646EB36-8438-416E-36AB-EAC80F22C1B0}"/>
              </a:ext>
            </a:extLst>
          </p:cNvPr>
          <p:cNvSpPr txBox="1"/>
          <p:nvPr/>
        </p:nvSpPr>
        <p:spPr>
          <a:xfrm>
            <a:off x="4172450" y="1280053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19959B5-920B-FA9E-84FD-7C4E4C2C4706}"/>
              </a:ext>
            </a:extLst>
          </p:cNvPr>
          <p:cNvSpPr txBox="1"/>
          <p:nvPr/>
        </p:nvSpPr>
        <p:spPr>
          <a:xfrm>
            <a:off x="5055033" y="1152635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3BF3333-EA4B-8E89-3BF1-23E55073D183}"/>
              </a:ext>
            </a:extLst>
          </p:cNvPr>
          <p:cNvSpPr txBox="1"/>
          <p:nvPr/>
        </p:nvSpPr>
        <p:spPr>
          <a:xfrm>
            <a:off x="6265086" y="1244969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75AE3C0-C4BB-0A43-9379-B384A4DBB846}"/>
              </a:ext>
            </a:extLst>
          </p:cNvPr>
          <p:cNvSpPr txBox="1"/>
          <p:nvPr/>
        </p:nvSpPr>
        <p:spPr>
          <a:xfrm>
            <a:off x="7285304" y="1253555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F7BBDBE-049B-9C93-88D2-FA31BC6C8C10}"/>
              </a:ext>
            </a:extLst>
          </p:cNvPr>
          <p:cNvSpPr/>
          <p:nvPr/>
        </p:nvSpPr>
        <p:spPr>
          <a:xfrm>
            <a:off x="4056899" y="1735068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73C91D7-8DFE-FF69-FC88-83E27BDD1CBB}"/>
              </a:ext>
            </a:extLst>
          </p:cNvPr>
          <p:cNvCxnSpPr>
            <a:cxnSpLocks/>
          </p:cNvCxnSpPr>
          <p:nvPr/>
        </p:nvCxnSpPr>
        <p:spPr>
          <a:xfrm>
            <a:off x="500210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A0D84FE-4F41-B411-FA42-E1B296995ABA}"/>
              </a:ext>
            </a:extLst>
          </p:cNvPr>
          <p:cNvCxnSpPr>
            <a:cxnSpLocks/>
          </p:cNvCxnSpPr>
          <p:nvPr/>
        </p:nvCxnSpPr>
        <p:spPr>
          <a:xfrm>
            <a:off x="608795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F5BBCA1-4D6D-6001-3DED-0D98C926B345}"/>
              </a:ext>
            </a:extLst>
          </p:cNvPr>
          <p:cNvCxnSpPr>
            <a:cxnSpLocks/>
          </p:cNvCxnSpPr>
          <p:nvPr/>
        </p:nvCxnSpPr>
        <p:spPr>
          <a:xfrm>
            <a:off x="717380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64781304-2CC0-F62E-EF9A-395AD3832FEB}"/>
              </a:ext>
            </a:extLst>
          </p:cNvPr>
          <p:cNvSpPr txBox="1"/>
          <p:nvPr/>
        </p:nvSpPr>
        <p:spPr>
          <a:xfrm rot="16200000">
            <a:off x="2769472" y="2073197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9D714B-E1AD-8AFC-AF33-D5C63790D25D}"/>
              </a:ext>
            </a:extLst>
          </p:cNvPr>
          <p:cNvSpPr txBox="1"/>
          <p:nvPr/>
        </p:nvSpPr>
        <p:spPr>
          <a:xfrm rot="16200000">
            <a:off x="3617750" y="2375386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0D969C8-0605-325A-44A6-A831CDEB6584}"/>
              </a:ext>
            </a:extLst>
          </p:cNvPr>
          <p:cNvSpPr txBox="1"/>
          <p:nvPr/>
        </p:nvSpPr>
        <p:spPr>
          <a:xfrm rot="16200000">
            <a:off x="3490106" y="1821939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AA77EF6-24B3-22D2-936F-907B206AFB46}"/>
              </a:ext>
            </a:extLst>
          </p:cNvPr>
          <p:cNvSpPr/>
          <p:nvPr/>
        </p:nvSpPr>
        <p:spPr>
          <a:xfrm>
            <a:off x="4056899" y="2267063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24E78EB-3F38-931C-D8D0-2CAD8C067AE6}"/>
              </a:ext>
            </a:extLst>
          </p:cNvPr>
          <p:cNvSpPr txBox="1"/>
          <p:nvPr/>
        </p:nvSpPr>
        <p:spPr>
          <a:xfrm>
            <a:off x="4101741" y="313867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32E77B8-995D-AA20-E492-5F66213913F7}"/>
              </a:ext>
            </a:extLst>
          </p:cNvPr>
          <p:cNvSpPr txBox="1"/>
          <p:nvPr/>
        </p:nvSpPr>
        <p:spPr>
          <a:xfrm>
            <a:off x="4246174" y="3442172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A99D05B-44B6-DCDD-FC13-D69CB515BF55}"/>
              </a:ext>
            </a:extLst>
          </p:cNvPr>
          <p:cNvSpPr txBox="1"/>
          <p:nvPr/>
        </p:nvSpPr>
        <p:spPr>
          <a:xfrm>
            <a:off x="5128757" y="331475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47422C0-CDF4-D58C-86EB-C5289F209898}"/>
              </a:ext>
            </a:extLst>
          </p:cNvPr>
          <p:cNvSpPr txBox="1"/>
          <p:nvPr/>
        </p:nvSpPr>
        <p:spPr>
          <a:xfrm>
            <a:off x="6338810" y="3407088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4CF8168-D9AA-F446-748A-D904F558913E}"/>
              </a:ext>
            </a:extLst>
          </p:cNvPr>
          <p:cNvSpPr txBox="1"/>
          <p:nvPr/>
        </p:nvSpPr>
        <p:spPr>
          <a:xfrm>
            <a:off x="7359028" y="3415674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F92191D-3E0B-2E64-1C37-EFEB45504491}"/>
              </a:ext>
            </a:extLst>
          </p:cNvPr>
          <p:cNvSpPr/>
          <p:nvPr/>
        </p:nvSpPr>
        <p:spPr>
          <a:xfrm>
            <a:off x="4130623" y="3897187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9D91880-CA33-00B8-C2F1-930CABE23AB6}"/>
              </a:ext>
            </a:extLst>
          </p:cNvPr>
          <p:cNvCxnSpPr>
            <a:cxnSpLocks/>
          </p:cNvCxnSpPr>
          <p:nvPr/>
        </p:nvCxnSpPr>
        <p:spPr>
          <a:xfrm>
            <a:off x="507583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95B842D-F231-6736-BA90-29BE63D60019}"/>
              </a:ext>
            </a:extLst>
          </p:cNvPr>
          <p:cNvCxnSpPr>
            <a:cxnSpLocks/>
          </p:cNvCxnSpPr>
          <p:nvPr/>
        </p:nvCxnSpPr>
        <p:spPr>
          <a:xfrm>
            <a:off x="616168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8D9A6E9-4EC0-36E0-25B9-F0428A01DFFE}"/>
              </a:ext>
            </a:extLst>
          </p:cNvPr>
          <p:cNvCxnSpPr>
            <a:cxnSpLocks/>
          </p:cNvCxnSpPr>
          <p:nvPr/>
        </p:nvCxnSpPr>
        <p:spPr>
          <a:xfrm>
            <a:off x="724753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860C883F-C9F9-EE0E-F564-02FE89EDF4FC}"/>
              </a:ext>
            </a:extLst>
          </p:cNvPr>
          <p:cNvSpPr txBox="1"/>
          <p:nvPr/>
        </p:nvSpPr>
        <p:spPr>
          <a:xfrm rot="16200000">
            <a:off x="2843196" y="4235316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26A7354-3ED9-21AD-9136-03EC27D39372}"/>
              </a:ext>
            </a:extLst>
          </p:cNvPr>
          <p:cNvSpPr txBox="1"/>
          <p:nvPr/>
        </p:nvSpPr>
        <p:spPr>
          <a:xfrm rot="16200000">
            <a:off x="3691474" y="453750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F6E592B-FEEF-B2DC-E010-B5446962536E}"/>
              </a:ext>
            </a:extLst>
          </p:cNvPr>
          <p:cNvSpPr txBox="1"/>
          <p:nvPr/>
        </p:nvSpPr>
        <p:spPr>
          <a:xfrm rot="16200000">
            <a:off x="3563830" y="3984058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E385697-6FD7-D434-981F-FCCADF2CD0BA}"/>
              </a:ext>
            </a:extLst>
          </p:cNvPr>
          <p:cNvSpPr/>
          <p:nvPr/>
        </p:nvSpPr>
        <p:spPr>
          <a:xfrm>
            <a:off x="4130623" y="3886484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0BEA50A-8E03-776F-3C84-21CABC56A621}"/>
              </a:ext>
            </a:extLst>
          </p:cNvPr>
          <p:cNvSpPr txBox="1"/>
          <p:nvPr/>
        </p:nvSpPr>
        <p:spPr>
          <a:xfrm>
            <a:off x="8475566" y="1916996"/>
            <a:ext cx="2240495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“More likely to be more successful”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A5B92C5-4F72-A5DF-4A2F-5C9D8AF071C0}"/>
              </a:ext>
            </a:extLst>
          </p:cNvPr>
          <p:cNvSpPr txBox="1"/>
          <p:nvPr/>
        </p:nvSpPr>
        <p:spPr>
          <a:xfrm>
            <a:off x="8580052" y="4038210"/>
            <a:ext cx="2240495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“Less likely to be more successful”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4C0605C-AE24-B01C-CA1B-C477F630B687}"/>
              </a:ext>
            </a:extLst>
          </p:cNvPr>
          <p:cNvSpPr txBox="1"/>
          <p:nvPr/>
        </p:nvSpPr>
        <p:spPr>
          <a:xfrm rot="19699172">
            <a:off x="-29169" y="514279"/>
            <a:ext cx="2533654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/>
              <a:t>How do we assign probabilities to model this?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D833531-D4AC-09D3-E82E-CA614904282C}"/>
              </a:ext>
            </a:extLst>
          </p:cNvPr>
          <p:cNvSpPr/>
          <p:nvPr/>
        </p:nvSpPr>
        <p:spPr>
          <a:xfrm>
            <a:off x="3933825" y="1530554"/>
            <a:ext cx="1142007" cy="933147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442EF383-F07B-B1AD-C228-0549FDDBE996}"/>
              </a:ext>
            </a:extLst>
          </p:cNvPr>
          <p:cNvSpPr/>
          <p:nvPr/>
        </p:nvSpPr>
        <p:spPr>
          <a:xfrm>
            <a:off x="4029363" y="4197119"/>
            <a:ext cx="1142007" cy="933147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A2199B0-D7A4-FDD0-9438-DCCF6213AEA4}"/>
              </a:ext>
            </a:extLst>
          </p:cNvPr>
          <p:cNvSpPr txBox="1"/>
          <p:nvPr/>
        </p:nvSpPr>
        <p:spPr>
          <a:xfrm rot="19357102">
            <a:off x="3312942" y="1522777"/>
            <a:ext cx="743865" cy="3679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less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12266DF-DBAD-73EA-3D85-9E6232697DFE}"/>
              </a:ext>
            </a:extLst>
          </p:cNvPr>
          <p:cNvSpPr txBox="1"/>
          <p:nvPr/>
        </p:nvSpPr>
        <p:spPr>
          <a:xfrm rot="19357102">
            <a:off x="3276628" y="4320356"/>
            <a:ext cx="743865" cy="3679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more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1CDFABF8-B61E-F437-8044-8EAA087EA35D}"/>
              </a:ext>
            </a:extLst>
          </p:cNvPr>
          <p:cNvSpPr/>
          <p:nvPr/>
        </p:nvSpPr>
        <p:spPr>
          <a:xfrm>
            <a:off x="4006507" y="1660450"/>
            <a:ext cx="2146711" cy="706004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89FC8F5-0F4C-5187-5920-3ABE62DB6B40}"/>
              </a:ext>
            </a:extLst>
          </p:cNvPr>
          <p:cNvSpPr/>
          <p:nvPr/>
        </p:nvSpPr>
        <p:spPr>
          <a:xfrm>
            <a:off x="4035087" y="4336706"/>
            <a:ext cx="2146711" cy="706004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1BD997F-8EAA-F332-BA69-D4FD68A5E551}"/>
              </a:ext>
            </a:extLst>
          </p:cNvPr>
          <p:cNvSpPr txBox="1"/>
          <p:nvPr/>
        </p:nvSpPr>
        <p:spPr>
          <a:xfrm rot="19357102">
            <a:off x="5682136" y="1244135"/>
            <a:ext cx="743865" cy="3679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less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8FFB1E1-2C58-6AC6-EF63-ABCD058A5089}"/>
              </a:ext>
            </a:extLst>
          </p:cNvPr>
          <p:cNvSpPr txBox="1"/>
          <p:nvPr/>
        </p:nvSpPr>
        <p:spPr>
          <a:xfrm rot="19357102">
            <a:off x="5109676" y="5120169"/>
            <a:ext cx="743865" cy="3679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more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79404B3E-E501-F8C1-2AEF-E4439856CB4E}"/>
              </a:ext>
            </a:extLst>
          </p:cNvPr>
          <p:cNvSpPr/>
          <p:nvPr/>
        </p:nvSpPr>
        <p:spPr>
          <a:xfrm>
            <a:off x="3969785" y="1679405"/>
            <a:ext cx="3241555" cy="706004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9BE493B0-0190-7E01-8A13-AA66D293726A}"/>
              </a:ext>
            </a:extLst>
          </p:cNvPr>
          <p:cNvSpPr/>
          <p:nvPr/>
        </p:nvSpPr>
        <p:spPr>
          <a:xfrm>
            <a:off x="4085069" y="4337941"/>
            <a:ext cx="3241555" cy="706004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A09DDB9-B65D-7604-A9F6-22DC92ACD6A0}"/>
              </a:ext>
            </a:extLst>
          </p:cNvPr>
          <p:cNvSpPr txBox="1"/>
          <p:nvPr/>
        </p:nvSpPr>
        <p:spPr>
          <a:xfrm rot="19357102">
            <a:off x="6576272" y="5033863"/>
            <a:ext cx="743865" cy="36793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more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7BDDAE0-878B-6A2F-9B76-34CDF3187E2A}"/>
              </a:ext>
            </a:extLst>
          </p:cNvPr>
          <p:cNvSpPr txBox="1"/>
          <p:nvPr/>
        </p:nvSpPr>
        <p:spPr>
          <a:xfrm rot="19357102">
            <a:off x="6661860" y="1358421"/>
            <a:ext cx="743865" cy="36793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less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24F7729-9307-F72F-729A-BA08C8073982}"/>
                  </a:ext>
                </a:extLst>
              </p:cNvPr>
              <p:cNvSpPr txBox="1"/>
              <p:nvPr/>
            </p:nvSpPr>
            <p:spPr>
              <a:xfrm>
                <a:off x="4314043" y="1808373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24F7729-9307-F72F-729A-BA08C8073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043" y="1808373"/>
                <a:ext cx="419100" cy="4299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E7B9E969-9653-76FD-34D2-17BBC36D03D2}"/>
                  </a:ext>
                </a:extLst>
              </p:cNvPr>
              <p:cNvSpPr txBox="1"/>
              <p:nvPr/>
            </p:nvSpPr>
            <p:spPr>
              <a:xfrm>
                <a:off x="7512495" y="1808373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E7B9E969-9653-76FD-34D2-17BBC36D0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495" y="1808373"/>
                <a:ext cx="419100" cy="4299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31DB7F35-B7F3-B980-2DCB-06634856C84E}"/>
                  </a:ext>
                </a:extLst>
              </p:cNvPr>
              <p:cNvSpPr txBox="1"/>
              <p:nvPr/>
            </p:nvSpPr>
            <p:spPr>
              <a:xfrm>
                <a:off x="5296218" y="1819932"/>
                <a:ext cx="419100" cy="41447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31DB7F35-B7F3-B980-2DCB-06634856C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6218" y="1819932"/>
                <a:ext cx="419100" cy="414472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F94912E-A185-08D7-26C8-AFCB8312CA73}"/>
                  </a:ext>
                </a:extLst>
              </p:cNvPr>
              <p:cNvSpPr txBox="1"/>
              <p:nvPr/>
            </p:nvSpPr>
            <p:spPr>
              <a:xfrm>
                <a:off x="6383351" y="1810949"/>
                <a:ext cx="419100" cy="41562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F94912E-A185-08D7-26C8-AFCB8312C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351" y="1810949"/>
                <a:ext cx="419100" cy="415627"/>
              </a:xfrm>
              <a:prstGeom prst="rect">
                <a:avLst/>
              </a:prstGeom>
              <a:blipFill>
                <a:blip r:embed="rId7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71F7762-5AE5-7A03-4AF3-03AD0147593C}"/>
                  </a:ext>
                </a:extLst>
              </p:cNvPr>
              <p:cNvSpPr txBox="1"/>
              <p:nvPr/>
            </p:nvSpPr>
            <p:spPr>
              <a:xfrm>
                <a:off x="4417343" y="4474992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71F7762-5AE5-7A03-4AF3-03AD01475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343" y="4474992"/>
                <a:ext cx="419100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93E8E217-62C4-DE08-E615-AA8DAD279F06}"/>
                  </a:ext>
                </a:extLst>
              </p:cNvPr>
              <p:cNvSpPr txBox="1"/>
              <p:nvPr/>
            </p:nvSpPr>
            <p:spPr>
              <a:xfrm>
                <a:off x="5296222" y="4476153"/>
                <a:ext cx="419100" cy="41953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93E8E217-62C4-DE08-E615-AA8DAD279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6222" y="4476153"/>
                <a:ext cx="419100" cy="419538"/>
              </a:xfrm>
              <a:prstGeom prst="rect">
                <a:avLst/>
              </a:prstGeom>
              <a:blipFill>
                <a:blip r:embed="rId9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13439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C420A-994F-0823-EE58-E4614821E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B65B5-F025-138A-B91D-7FBBFCF5B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92C374-2EB2-8133-A533-FCE7094838BF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FB306B-CE5F-12B9-F385-C1F4674B060C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F0A557-8430-2873-31B3-18D7453A74E4}"/>
              </a:ext>
            </a:extLst>
          </p:cNvPr>
          <p:cNvSpPr txBox="1"/>
          <p:nvPr/>
        </p:nvSpPr>
        <p:spPr>
          <a:xfrm>
            <a:off x="4343400" y="709377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model of these two uncertainties in which a military that would succeed when attempting a coup is more likely to perform well against an opposing force than a military that would fail when attempting a coup.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95864C-EEA8-AF04-63A8-18844194F821}"/>
              </a:ext>
            </a:extLst>
          </p:cNvPr>
          <p:cNvSpPr txBox="1"/>
          <p:nvPr/>
        </p:nvSpPr>
        <p:spPr>
          <a:xfrm>
            <a:off x="4343400" y="1687454"/>
            <a:ext cx="7038975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Marginal-Conditional Method– JUST SAY YES!!!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94BBBC-D7A2-B75B-4611-E569DF1AF33F}"/>
              </a:ext>
            </a:extLst>
          </p:cNvPr>
          <p:cNvSpPr txBox="1"/>
          <p:nvPr/>
        </p:nvSpPr>
        <p:spPr>
          <a:xfrm rot="19677942">
            <a:off x="-270553" y="2483552"/>
            <a:ext cx="5134418" cy="92333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Step 2:  Model uncertainty about success against opposing miiltaries, conditional on knowledge of outcome of a coup attempt.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B5A5989-311E-A025-CA29-E75673D2FB87}"/>
              </a:ext>
            </a:extLst>
          </p:cNvPr>
          <p:cNvCxnSpPr>
            <a:cxnSpLocks/>
          </p:cNvCxnSpPr>
          <p:nvPr/>
        </p:nvCxnSpPr>
        <p:spPr>
          <a:xfrm flipV="1">
            <a:off x="4533144" y="3354838"/>
            <a:ext cx="2200275" cy="1130452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06BEAF4-6681-5F19-1C23-D10325293769}"/>
              </a:ext>
            </a:extLst>
          </p:cNvPr>
          <p:cNvSpPr txBox="1"/>
          <p:nvPr/>
        </p:nvSpPr>
        <p:spPr>
          <a:xfrm rot="19913270">
            <a:off x="4600155" y="3899264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E4BF9D5-7AE3-EE4A-DDAC-A03DEB12E5DA}"/>
              </a:ext>
            </a:extLst>
          </p:cNvPr>
          <p:cNvCxnSpPr>
            <a:cxnSpLocks/>
          </p:cNvCxnSpPr>
          <p:nvPr/>
        </p:nvCxnSpPr>
        <p:spPr>
          <a:xfrm>
            <a:off x="4522231" y="4582175"/>
            <a:ext cx="2019300" cy="149147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E739F3C-5F50-9BDA-8428-601C9F6E8E87}"/>
              </a:ext>
            </a:extLst>
          </p:cNvPr>
          <p:cNvSpPr txBox="1"/>
          <p:nvPr/>
        </p:nvSpPr>
        <p:spPr>
          <a:xfrm rot="2210112">
            <a:off x="4580614" y="5519727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1B54E57-25CC-A1DC-1D66-9CE05800DD98}"/>
                  </a:ext>
                </a:extLst>
              </p:cNvPr>
              <p:cNvSpPr txBox="1"/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1B54E57-25CC-A1DC-1D66-9CE05800D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186FA9B-E34A-703E-A452-182F0F36A163}"/>
                  </a:ext>
                </a:extLst>
              </p:cNvPr>
              <p:cNvSpPr txBox="1"/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186FA9B-E34A-703E-A452-182F0F36A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53A5430-CCAD-F0B1-1B38-EC5BCB00BA43}"/>
              </a:ext>
            </a:extLst>
          </p:cNvPr>
          <p:cNvSpPr txBox="1"/>
          <p:nvPr/>
        </p:nvSpPr>
        <p:spPr>
          <a:xfrm>
            <a:off x="7448550" y="2186704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9F439B-B9B8-9E96-B010-FDB15DB52CBD}"/>
              </a:ext>
            </a:extLst>
          </p:cNvPr>
          <p:cNvSpPr txBox="1"/>
          <p:nvPr/>
        </p:nvSpPr>
        <p:spPr>
          <a:xfrm>
            <a:off x="7592983" y="2490201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04B5A5-A2A7-2F3D-B0AA-3B71890B44C7}"/>
              </a:ext>
            </a:extLst>
          </p:cNvPr>
          <p:cNvSpPr txBox="1"/>
          <p:nvPr/>
        </p:nvSpPr>
        <p:spPr>
          <a:xfrm>
            <a:off x="8475566" y="2362783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E4F826-BFCC-C596-F9F7-1DB26CD7CCD3}"/>
              </a:ext>
            </a:extLst>
          </p:cNvPr>
          <p:cNvSpPr txBox="1"/>
          <p:nvPr/>
        </p:nvSpPr>
        <p:spPr>
          <a:xfrm>
            <a:off x="9685619" y="2455117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610D09-4EFE-1800-4CFB-F3E9CC6255CB}"/>
              </a:ext>
            </a:extLst>
          </p:cNvPr>
          <p:cNvSpPr txBox="1"/>
          <p:nvPr/>
        </p:nvSpPr>
        <p:spPr>
          <a:xfrm>
            <a:off x="10705837" y="2463703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89B1B6-E6DB-837D-B9CA-AC5C9935B173}"/>
              </a:ext>
            </a:extLst>
          </p:cNvPr>
          <p:cNvSpPr/>
          <p:nvPr/>
        </p:nvSpPr>
        <p:spPr>
          <a:xfrm>
            <a:off x="7477432" y="2945216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25CCE0C-73AF-5C15-1A22-45285A5CEDE8}"/>
              </a:ext>
            </a:extLst>
          </p:cNvPr>
          <p:cNvCxnSpPr>
            <a:cxnSpLocks/>
          </p:cNvCxnSpPr>
          <p:nvPr/>
        </p:nvCxnSpPr>
        <p:spPr>
          <a:xfrm>
            <a:off x="84226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33E72D6-C80C-4E20-EC08-E8995F20578E}"/>
              </a:ext>
            </a:extLst>
          </p:cNvPr>
          <p:cNvCxnSpPr>
            <a:cxnSpLocks/>
          </p:cNvCxnSpPr>
          <p:nvPr/>
        </p:nvCxnSpPr>
        <p:spPr>
          <a:xfrm>
            <a:off x="950849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5A1ADBB-1FD7-BA55-FB25-6177CCB485C8}"/>
              </a:ext>
            </a:extLst>
          </p:cNvPr>
          <p:cNvCxnSpPr>
            <a:cxnSpLocks/>
          </p:cNvCxnSpPr>
          <p:nvPr/>
        </p:nvCxnSpPr>
        <p:spPr>
          <a:xfrm>
            <a:off x="105943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6C39338-9DBB-71CA-76CA-42A13ABEDA1E}"/>
              </a:ext>
            </a:extLst>
          </p:cNvPr>
          <p:cNvSpPr txBox="1"/>
          <p:nvPr/>
        </p:nvSpPr>
        <p:spPr>
          <a:xfrm rot="16200000">
            <a:off x="6190005" y="3283345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2092F0-FEAD-33A5-0E15-C1D86240F334}"/>
              </a:ext>
            </a:extLst>
          </p:cNvPr>
          <p:cNvSpPr txBox="1"/>
          <p:nvPr/>
        </p:nvSpPr>
        <p:spPr>
          <a:xfrm rot="16200000">
            <a:off x="7038283" y="3585534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B881CA-FB5E-F6D7-7B2A-5669BED5B3F2}"/>
              </a:ext>
            </a:extLst>
          </p:cNvPr>
          <p:cNvSpPr txBox="1"/>
          <p:nvPr/>
        </p:nvSpPr>
        <p:spPr>
          <a:xfrm rot="16200000">
            <a:off x="6910639" y="3032087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F15B63-080C-F6BF-2E8E-2399A00BBABB}"/>
              </a:ext>
            </a:extLst>
          </p:cNvPr>
          <p:cNvSpPr/>
          <p:nvPr/>
        </p:nvSpPr>
        <p:spPr>
          <a:xfrm>
            <a:off x="7477432" y="3477211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ACAC67-D56C-15F0-953D-54A16C1AC83C}"/>
              </a:ext>
            </a:extLst>
          </p:cNvPr>
          <p:cNvSpPr txBox="1"/>
          <p:nvPr/>
        </p:nvSpPr>
        <p:spPr>
          <a:xfrm>
            <a:off x="7430826" y="4862143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D3599C-6FF3-B973-0F4E-597B9A2292AC}"/>
              </a:ext>
            </a:extLst>
          </p:cNvPr>
          <p:cNvSpPr txBox="1"/>
          <p:nvPr/>
        </p:nvSpPr>
        <p:spPr>
          <a:xfrm>
            <a:off x="7575259" y="5165640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580356-C051-343B-8F68-6AB2C26BCEB7}"/>
              </a:ext>
            </a:extLst>
          </p:cNvPr>
          <p:cNvSpPr txBox="1"/>
          <p:nvPr/>
        </p:nvSpPr>
        <p:spPr>
          <a:xfrm>
            <a:off x="8457842" y="5038222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1BCF81-2608-F7CC-CDD9-FF57340D078A}"/>
              </a:ext>
            </a:extLst>
          </p:cNvPr>
          <p:cNvSpPr txBox="1"/>
          <p:nvPr/>
        </p:nvSpPr>
        <p:spPr>
          <a:xfrm>
            <a:off x="9667895" y="5130556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699362-6393-119F-3609-DBC81F3C8C78}"/>
              </a:ext>
            </a:extLst>
          </p:cNvPr>
          <p:cNvSpPr txBox="1"/>
          <p:nvPr/>
        </p:nvSpPr>
        <p:spPr>
          <a:xfrm>
            <a:off x="10688113" y="5139142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CB036B9-B24F-3131-A598-9F94BCB02748}"/>
              </a:ext>
            </a:extLst>
          </p:cNvPr>
          <p:cNvSpPr/>
          <p:nvPr/>
        </p:nvSpPr>
        <p:spPr>
          <a:xfrm>
            <a:off x="7459708" y="5620655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5033862-2473-E8CF-C81D-A2F4F98F0612}"/>
              </a:ext>
            </a:extLst>
          </p:cNvPr>
          <p:cNvCxnSpPr>
            <a:cxnSpLocks/>
          </p:cNvCxnSpPr>
          <p:nvPr/>
        </p:nvCxnSpPr>
        <p:spPr>
          <a:xfrm>
            <a:off x="84049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BC785CE-2A06-618F-CFB5-39CFAA411F55}"/>
              </a:ext>
            </a:extLst>
          </p:cNvPr>
          <p:cNvCxnSpPr>
            <a:cxnSpLocks/>
          </p:cNvCxnSpPr>
          <p:nvPr/>
        </p:nvCxnSpPr>
        <p:spPr>
          <a:xfrm>
            <a:off x="949076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8D44C8B-C108-F361-BF58-EFA80654B3B8}"/>
              </a:ext>
            </a:extLst>
          </p:cNvPr>
          <p:cNvCxnSpPr>
            <a:cxnSpLocks/>
          </p:cNvCxnSpPr>
          <p:nvPr/>
        </p:nvCxnSpPr>
        <p:spPr>
          <a:xfrm>
            <a:off x="105766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AAAA716-CC08-F918-A7F3-B8BE93E7852A}"/>
              </a:ext>
            </a:extLst>
          </p:cNvPr>
          <p:cNvSpPr txBox="1"/>
          <p:nvPr/>
        </p:nvSpPr>
        <p:spPr>
          <a:xfrm rot="16200000">
            <a:off x="6172281" y="595878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29C4C8-9786-5242-9AB3-C3E6942CEBC1}"/>
              </a:ext>
            </a:extLst>
          </p:cNvPr>
          <p:cNvSpPr txBox="1"/>
          <p:nvPr/>
        </p:nvSpPr>
        <p:spPr>
          <a:xfrm rot="16200000">
            <a:off x="7020559" y="6260973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0A300CB-72DA-D9F1-D71B-0040A19D9526}"/>
              </a:ext>
            </a:extLst>
          </p:cNvPr>
          <p:cNvSpPr txBox="1"/>
          <p:nvPr/>
        </p:nvSpPr>
        <p:spPr>
          <a:xfrm rot="16200000">
            <a:off x="6892915" y="5707526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DF5AC9C-9307-E83B-DEAD-9E839D14D918}"/>
              </a:ext>
            </a:extLst>
          </p:cNvPr>
          <p:cNvSpPr/>
          <p:nvPr/>
        </p:nvSpPr>
        <p:spPr>
          <a:xfrm>
            <a:off x="7459708" y="5612069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543E079-2A19-609A-8879-1EF227C5EB81}"/>
              </a:ext>
            </a:extLst>
          </p:cNvPr>
          <p:cNvCxnSpPr/>
          <p:nvPr/>
        </p:nvCxnSpPr>
        <p:spPr>
          <a:xfrm>
            <a:off x="8810625" y="1047750"/>
            <a:ext cx="2362200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342B1EC-348C-0172-DDAB-E8A51DFC0A14}"/>
              </a:ext>
            </a:extLst>
          </p:cNvPr>
          <p:cNvCxnSpPr>
            <a:cxnSpLocks/>
          </p:cNvCxnSpPr>
          <p:nvPr/>
        </p:nvCxnSpPr>
        <p:spPr>
          <a:xfrm>
            <a:off x="4389866" y="1309542"/>
            <a:ext cx="69747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E444AA1-C79C-6A98-7B32-C37E5E9F5B52}"/>
              </a:ext>
            </a:extLst>
          </p:cNvPr>
          <p:cNvCxnSpPr>
            <a:cxnSpLocks/>
          </p:cNvCxnSpPr>
          <p:nvPr/>
        </p:nvCxnSpPr>
        <p:spPr>
          <a:xfrm>
            <a:off x="4512365" y="1632707"/>
            <a:ext cx="46125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4368802-A043-F040-A482-A79B0749415C}"/>
              </a:ext>
            </a:extLst>
          </p:cNvPr>
          <p:cNvSpPr/>
          <p:nvPr/>
        </p:nvSpPr>
        <p:spPr>
          <a:xfrm>
            <a:off x="0" y="0"/>
            <a:ext cx="12192000" cy="6835141"/>
          </a:xfrm>
          <a:prstGeom prst="rect">
            <a:avLst/>
          </a:prstGeom>
          <a:solidFill>
            <a:srgbClr val="5E5E5E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B940BED-FD73-B282-8C1C-F407D37CBBC3}"/>
              </a:ext>
            </a:extLst>
          </p:cNvPr>
          <p:cNvSpPr/>
          <p:nvPr/>
        </p:nvSpPr>
        <p:spPr>
          <a:xfrm>
            <a:off x="1524000" y="709377"/>
            <a:ext cx="9059337" cy="49026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6E6F62-A0FE-21AA-C0AB-D888EE761AFB}"/>
              </a:ext>
            </a:extLst>
          </p:cNvPr>
          <p:cNvSpPr txBox="1"/>
          <p:nvPr/>
        </p:nvSpPr>
        <p:spPr>
          <a:xfrm>
            <a:off x="4028017" y="976556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36AB26-7BB0-2B85-E58C-6B885A520ED8}"/>
              </a:ext>
            </a:extLst>
          </p:cNvPr>
          <p:cNvSpPr txBox="1"/>
          <p:nvPr/>
        </p:nvSpPr>
        <p:spPr>
          <a:xfrm>
            <a:off x="4172450" y="1280053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40C20B7-87CC-6883-6575-E5EDF9E0AC00}"/>
              </a:ext>
            </a:extLst>
          </p:cNvPr>
          <p:cNvSpPr txBox="1"/>
          <p:nvPr/>
        </p:nvSpPr>
        <p:spPr>
          <a:xfrm>
            <a:off x="5055033" y="1152635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1D4A13B-AB56-772F-DE96-844A1F1A1A35}"/>
              </a:ext>
            </a:extLst>
          </p:cNvPr>
          <p:cNvSpPr txBox="1"/>
          <p:nvPr/>
        </p:nvSpPr>
        <p:spPr>
          <a:xfrm>
            <a:off x="6265086" y="1244969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A56B752-52E8-8768-B643-A35B14432D80}"/>
              </a:ext>
            </a:extLst>
          </p:cNvPr>
          <p:cNvSpPr txBox="1"/>
          <p:nvPr/>
        </p:nvSpPr>
        <p:spPr>
          <a:xfrm>
            <a:off x="7285304" y="1253555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F6D76D3-A3D3-CB2C-D0F4-95A04D7A7372}"/>
              </a:ext>
            </a:extLst>
          </p:cNvPr>
          <p:cNvSpPr/>
          <p:nvPr/>
        </p:nvSpPr>
        <p:spPr>
          <a:xfrm>
            <a:off x="4056899" y="1735068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7B16B4B-8A41-F7CD-3832-231964818632}"/>
              </a:ext>
            </a:extLst>
          </p:cNvPr>
          <p:cNvCxnSpPr>
            <a:cxnSpLocks/>
          </p:cNvCxnSpPr>
          <p:nvPr/>
        </p:nvCxnSpPr>
        <p:spPr>
          <a:xfrm>
            <a:off x="500210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6D67B71-DCDD-E214-56C5-19E224C922CD}"/>
              </a:ext>
            </a:extLst>
          </p:cNvPr>
          <p:cNvCxnSpPr>
            <a:cxnSpLocks/>
          </p:cNvCxnSpPr>
          <p:nvPr/>
        </p:nvCxnSpPr>
        <p:spPr>
          <a:xfrm>
            <a:off x="608795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E8AC0C5-7DAC-B72F-6572-E3C9EDBFE861}"/>
              </a:ext>
            </a:extLst>
          </p:cNvPr>
          <p:cNvCxnSpPr>
            <a:cxnSpLocks/>
          </p:cNvCxnSpPr>
          <p:nvPr/>
        </p:nvCxnSpPr>
        <p:spPr>
          <a:xfrm>
            <a:off x="717380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67D0D2BB-F5B0-9459-8AAE-AAE44B8B11C1}"/>
              </a:ext>
            </a:extLst>
          </p:cNvPr>
          <p:cNvSpPr txBox="1"/>
          <p:nvPr/>
        </p:nvSpPr>
        <p:spPr>
          <a:xfrm rot="16200000">
            <a:off x="2769472" y="2073197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A775B8E-92B6-189E-7A1A-E6D1E827693C}"/>
              </a:ext>
            </a:extLst>
          </p:cNvPr>
          <p:cNvSpPr txBox="1"/>
          <p:nvPr/>
        </p:nvSpPr>
        <p:spPr>
          <a:xfrm rot="16200000">
            <a:off x="3617750" y="2375386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D10CDE-56FE-FA40-AC73-355D015C1AE8}"/>
              </a:ext>
            </a:extLst>
          </p:cNvPr>
          <p:cNvSpPr txBox="1"/>
          <p:nvPr/>
        </p:nvSpPr>
        <p:spPr>
          <a:xfrm rot="16200000">
            <a:off x="3490106" y="1821939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AAADE27-F596-71D8-AC64-53276C8CCB0C}"/>
              </a:ext>
            </a:extLst>
          </p:cNvPr>
          <p:cNvSpPr/>
          <p:nvPr/>
        </p:nvSpPr>
        <p:spPr>
          <a:xfrm>
            <a:off x="4056899" y="2267063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9F32F71-C8D2-A5EF-B9C8-2787C5471000}"/>
              </a:ext>
            </a:extLst>
          </p:cNvPr>
          <p:cNvSpPr txBox="1"/>
          <p:nvPr/>
        </p:nvSpPr>
        <p:spPr>
          <a:xfrm>
            <a:off x="4101741" y="313867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363622E-119D-EAC6-62C4-F4D7652F9FF6}"/>
              </a:ext>
            </a:extLst>
          </p:cNvPr>
          <p:cNvSpPr txBox="1"/>
          <p:nvPr/>
        </p:nvSpPr>
        <p:spPr>
          <a:xfrm>
            <a:off x="4246174" y="3442172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892FC7D-41F8-F919-78FB-8E59819FAB17}"/>
              </a:ext>
            </a:extLst>
          </p:cNvPr>
          <p:cNvSpPr txBox="1"/>
          <p:nvPr/>
        </p:nvSpPr>
        <p:spPr>
          <a:xfrm>
            <a:off x="5128757" y="331475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D8C1DFC-7281-FD73-DCEE-7C08ACA18DE5}"/>
              </a:ext>
            </a:extLst>
          </p:cNvPr>
          <p:cNvSpPr txBox="1"/>
          <p:nvPr/>
        </p:nvSpPr>
        <p:spPr>
          <a:xfrm>
            <a:off x="6338810" y="3407088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8DFA2B9-6B1E-87B0-C807-A4D14685D633}"/>
              </a:ext>
            </a:extLst>
          </p:cNvPr>
          <p:cNvSpPr txBox="1"/>
          <p:nvPr/>
        </p:nvSpPr>
        <p:spPr>
          <a:xfrm>
            <a:off x="7359028" y="3415674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9771838-58E7-D5FB-CF39-D314E3810493}"/>
              </a:ext>
            </a:extLst>
          </p:cNvPr>
          <p:cNvSpPr/>
          <p:nvPr/>
        </p:nvSpPr>
        <p:spPr>
          <a:xfrm>
            <a:off x="4130623" y="3897187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D352CA8-E5FA-9292-ACF2-B075868BE1F3}"/>
              </a:ext>
            </a:extLst>
          </p:cNvPr>
          <p:cNvCxnSpPr>
            <a:cxnSpLocks/>
          </p:cNvCxnSpPr>
          <p:nvPr/>
        </p:nvCxnSpPr>
        <p:spPr>
          <a:xfrm>
            <a:off x="507583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4F40AB2-CC21-4625-CB3F-C885A84459EA}"/>
              </a:ext>
            </a:extLst>
          </p:cNvPr>
          <p:cNvCxnSpPr>
            <a:cxnSpLocks/>
          </p:cNvCxnSpPr>
          <p:nvPr/>
        </p:nvCxnSpPr>
        <p:spPr>
          <a:xfrm>
            <a:off x="616168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89498A9-2D14-2DAC-41F1-ED1A047FACC6}"/>
              </a:ext>
            </a:extLst>
          </p:cNvPr>
          <p:cNvCxnSpPr>
            <a:cxnSpLocks/>
          </p:cNvCxnSpPr>
          <p:nvPr/>
        </p:nvCxnSpPr>
        <p:spPr>
          <a:xfrm>
            <a:off x="724753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EE56244E-AE20-5463-AB88-132E67ECD37F}"/>
              </a:ext>
            </a:extLst>
          </p:cNvPr>
          <p:cNvSpPr txBox="1"/>
          <p:nvPr/>
        </p:nvSpPr>
        <p:spPr>
          <a:xfrm rot="16200000">
            <a:off x="2843196" y="4235316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7332A0A-9977-57A3-24F3-A16847D6860E}"/>
              </a:ext>
            </a:extLst>
          </p:cNvPr>
          <p:cNvSpPr txBox="1"/>
          <p:nvPr/>
        </p:nvSpPr>
        <p:spPr>
          <a:xfrm rot="16200000">
            <a:off x="3691474" y="453750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A7564CD-5C90-FFB1-D7C7-4BE124F1CB71}"/>
              </a:ext>
            </a:extLst>
          </p:cNvPr>
          <p:cNvSpPr txBox="1"/>
          <p:nvPr/>
        </p:nvSpPr>
        <p:spPr>
          <a:xfrm rot="16200000">
            <a:off x="3563830" y="3984058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6308642-ACCB-B80C-1511-588FC8260503}"/>
              </a:ext>
            </a:extLst>
          </p:cNvPr>
          <p:cNvSpPr/>
          <p:nvPr/>
        </p:nvSpPr>
        <p:spPr>
          <a:xfrm>
            <a:off x="4130623" y="3886484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284B78E-AF6B-458A-9A7B-455A84B1F3B2}"/>
              </a:ext>
            </a:extLst>
          </p:cNvPr>
          <p:cNvSpPr txBox="1"/>
          <p:nvPr/>
        </p:nvSpPr>
        <p:spPr>
          <a:xfrm>
            <a:off x="8475566" y="1916996"/>
            <a:ext cx="2240495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“More likely to be more successful”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DBCCBAF-1061-C721-F978-6C219C689152}"/>
              </a:ext>
            </a:extLst>
          </p:cNvPr>
          <p:cNvSpPr txBox="1"/>
          <p:nvPr/>
        </p:nvSpPr>
        <p:spPr>
          <a:xfrm>
            <a:off x="8580052" y="4038210"/>
            <a:ext cx="2240495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“Less likely to be more successful”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D281FB6-0172-9FA8-B3CF-E828D37E3505}"/>
              </a:ext>
            </a:extLst>
          </p:cNvPr>
          <p:cNvSpPr txBox="1"/>
          <p:nvPr/>
        </p:nvSpPr>
        <p:spPr>
          <a:xfrm rot="19699172">
            <a:off x="-29169" y="514279"/>
            <a:ext cx="2533654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/>
              <a:t>How do we assign probabilities to model this?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12FBD53-EC9C-7A2B-D68B-05AD8593801F}"/>
              </a:ext>
            </a:extLst>
          </p:cNvPr>
          <p:cNvSpPr/>
          <p:nvPr/>
        </p:nvSpPr>
        <p:spPr>
          <a:xfrm>
            <a:off x="3933825" y="1530554"/>
            <a:ext cx="1142007" cy="933147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429EF130-3314-D43F-0F93-B0BCF06D9DBF}"/>
              </a:ext>
            </a:extLst>
          </p:cNvPr>
          <p:cNvSpPr/>
          <p:nvPr/>
        </p:nvSpPr>
        <p:spPr>
          <a:xfrm>
            <a:off x="4029363" y="4197119"/>
            <a:ext cx="1142007" cy="933147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468A0B8-B595-C3C1-85FF-83A5AB8CF61E}"/>
              </a:ext>
            </a:extLst>
          </p:cNvPr>
          <p:cNvSpPr txBox="1"/>
          <p:nvPr/>
        </p:nvSpPr>
        <p:spPr>
          <a:xfrm rot="19357102">
            <a:off x="3312942" y="1522777"/>
            <a:ext cx="743865" cy="3679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less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B5FDEEE-E0DC-3EDF-83C7-DF82C48D1499}"/>
              </a:ext>
            </a:extLst>
          </p:cNvPr>
          <p:cNvSpPr txBox="1"/>
          <p:nvPr/>
        </p:nvSpPr>
        <p:spPr>
          <a:xfrm rot="19357102">
            <a:off x="3276628" y="4320356"/>
            <a:ext cx="743865" cy="3679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more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90BF7B88-D6F6-2135-05EC-593051445214}"/>
              </a:ext>
            </a:extLst>
          </p:cNvPr>
          <p:cNvSpPr/>
          <p:nvPr/>
        </p:nvSpPr>
        <p:spPr>
          <a:xfrm>
            <a:off x="4006507" y="1660450"/>
            <a:ext cx="2146711" cy="706004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962DF8F8-7099-911E-F7CB-69C698460DB0}"/>
              </a:ext>
            </a:extLst>
          </p:cNvPr>
          <p:cNvSpPr/>
          <p:nvPr/>
        </p:nvSpPr>
        <p:spPr>
          <a:xfrm>
            <a:off x="4035087" y="4336706"/>
            <a:ext cx="2146711" cy="706004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0CA56FF-766D-DC26-3150-E7B05BEEE4D5}"/>
              </a:ext>
            </a:extLst>
          </p:cNvPr>
          <p:cNvSpPr txBox="1"/>
          <p:nvPr/>
        </p:nvSpPr>
        <p:spPr>
          <a:xfrm rot="19357102">
            <a:off x="5682136" y="1244135"/>
            <a:ext cx="743865" cy="3679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less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8C5403C-07C4-1114-891C-6BEA21F8B3CB}"/>
              </a:ext>
            </a:extLst>
          </p:cNvPr>
          <p:cNvSpPr txBox="1"/>
          <p:nvPr/>
        </p:nvSpPr>
        <p:spPr>
          <a:xfrm rot="19357102">
            <a:off x="5109676" y="5120169"/>
            <a:ext cx="743865" cy="3679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more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3D09C55-E1F8-2073-B1B2-19A060AAA5E5}"/>
              </a:ext>
            </a:extLst>
          </p:cNvPr>
          <p:cNvSpPr/>
          <p:nvPr/>
        </p:nvSpPr>
        <p:spPr>
          <a:xfrm>
            <a:off x="3969785" y="1679405"/>
            <a:ext cx="3241555" cy="706004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B259688D-2C8C-E7EB-A101-6CDFC8847851}"/>
              </a:ext>
            </a:extLst>
          </p:cNvPr>
          <p:cNvSpPr/>
          <p:nvPr/>
        </p:nvSpPr>
        <p:spPr>
          <a:xfrm>
            <a:off x="4085069" y="4337941"/>
            <a:ext cx="3241555" cy="706004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722A3BD-5A14-B857-6052-EB640D8BDBA7}"/>
              </a:ext>
            </a:extLst>
          </p:cNvPr>
          <p:cNvSpPr txBox="1"/>
          <p:nvPr/>
        </p:nvSpPr>
        <p:spPr>
          <a:xfrm rot="19357102">
            <a:off x="6576272" y="5033863"/>
            <a:ext cx="743865" cy="36793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more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6744B8D-B44C-B69E-13D3-5C2EA920F33E}"/>
              </a:ext>
            </a:extLst>
          </p:cNvPr>
          <p:cNvSpPr txBox="1"/>
          <p:nvPr/>
        </p:nvSpPr>
        <p:spPr>
          <a:xfrm rot="19357102">
            <a:off x="6661860" y="1358421"/>
            <a:ext cx="743865" cy="36793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less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9C24AEE-4ADC-2DD0-97DB-3F666FBC5370}"/>
                  </a:ext>
                </a:extLst>
              </p:cNvPr>
              <p:cNvSpPr txBox="1"/>
              <p:nvPr/>
            </p:nvSpPr>
            <p:spPr>
              <a:xfrm>
                <a:off x="4314043" y="1808373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9C24AEE-4ADC-2DD0-97DB-3F666FBC5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043" y="1808373"/>
                <a:ext cx="419100" cy="4299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84B0A38-4262-32D0-D2B7-FDB7F746E58E}"/>
                  </a:ext>
                </a:extLst>
              </p:cNvPr>
              <p:cNvSpPr txBox="1"/>
              <p:nvPr/>
            </p:nvSpPr>
            <p:spPr>
              <a:xfrm>
                <a:off x="7512495" y="1808373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84B0A38-4262-32D0-D2B7-FDB7F746E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495" y="1808373"/>
                <a:ext cx="419100" cy="4299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48874738-FF8D-E164-54EC-DF762AEF2DE8}"/>
                  </a:ext>
                </a:extLst>
              </p:cNvPr>
              <p:cNvSpPr txBox="1"/>
              <p:nvPr/>
            </p:nvSpPr>
            <p:spPr>
              <a:xfrm>
                <a:off x="5296218" y="1819932"/>
                <a:ext cx="419100" cy="41447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48874738-FF8D-E164-54EC-DF762AEF2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6218" y="1819932"/>
                <a:ext cx="419100" cy="414472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1E1C27F-843E-9A5A-50C4-EF9941EEE4BD}"/>
                  </a:ext>
                </a:extLst>
              </p:cNvPr>
              <p:cNvSpPr txBox="1"/>
              <p:nvPr/>
            </p:nvSpPr>
            <p:spPr>
              <a:xfrm>
                <a:off x="6383351" y="1810949"/>
                <a:ext cx="419100" cy="41562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1E1C27F-843E-9A5A-50C4-EF9941EEE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351" y="1810949"/>
                <a:ext cx="419100" cy="415627"/>
              </a:xfrm>
              <a:prstGeom prst="rect">
                <a:avLst/>
              </a:prstGeom>
              <a:blipFill>
                <a:blip r:embed="rId7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19E4FCAA-AAA4-4939-57A0-E4BF2B975F42}"/>
                  </a:ext>
                </a:extLst>
              </p:cNvPr>
              <p:cNvSpPr txBox="1"/>
              <p:nvPr/>
            </p:nvSpPr>
            <p:spPr>
              <a:xfrm>
                <a:off x="4417343" y="4474992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19E4FCAA-AAA4-4939-57A0-E4BF2B97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343" y="4474992"/>
                <a:ext cx="419100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67CE06DE-1E35-74F6-DAE1-4594D5371F80}"/>
                  </a:ext>
                </a:extLst>
              </p:cNvPr>
              <p:cNvSpPr txBox="1"/>
              <p:nvPr/>
            </p:nvSpPr>
            <p:spPr>
              <a:xfrm>
                <a:off x="5296222" y="4476153"/>
                <a:ext cx="419100" cy="41953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67CE06DE-1E35-74F6-DAE1-4594D5371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6222" y="4476153"/>
                <a:ext cx="419100" cy="419538"/>
              </a:xfrm>
              <a:prstGeom prst="rect">
                <a:avLst/>
              </a:prstGeom>
              <a:blipFill>
                <a:blip r:embed="rId9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7C9106C8-4B0C-A190-C341-1EC66FB9890B}"/>
                  </a:ext>
                </a:extLst>
              </p:cNvPr>
              <p:cNvSpPr txBox="1"/>
              <p:nvPr/>
            </p:nvSpPr>
            <p:spPr>
              <a:xfrm>
                <a:off x="6429745" y="4476467"/>
                <a:ext cx="419100" cy="41953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7C9106C8-4B0C-A190-C341-1EC66FB98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745" y="4476467"/>
                <a:ext cx="419100" cy="419538"/>
              </a:xfrm>
              <a:prstGeom prst="rect">
                <a:avLst/>
              </a:prstGeom>
              <a:blipFill>
                <a:blip r:embed="rId10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67271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9F6EF-FBA1-544F-F9AC-9F4CABAD3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1A4C0-B898-6851-B792-D964BB782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659A5-A9B3-5581-5F8A-6DFA5A86879D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C4C890-6EE7-E34F-438F-6FC00C60BE6A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B112A9-3EB0-5A81-839C-159E5EA1B4EC}"/>
              </a:ext>
            </a:extLst>
          </p:cNvPr>
          <p:cNvSpPr txBox="1"/>
          <p:nvPr/>
        </p:nvSpPr>
        <p:spPr>
          <a:xfrm>
            <a:off x="4343400" y="709377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model of these two uncertainties in which a military that would succeed when attempting a coup is more likely to perform well against an opposing force than a military that would fail when attempting a coup.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3D0669-3F8E-9978-4A4D-DEB934ACAB02}"/>
              </a:ext>
            </a:extLst>
          </p:cNvPr>
          <p:cNvSpPr txBox="1"/>
          <p:nvPr/>
        </p:nvSpPr>
        <p:spPr>
          <a:xfrm>
            <a:off x="4343400" y="1687454"/>
            <a:ext cx="7038975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Marginal-Conditional Method– JUST SAY YES!!!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CD978E-A402-8D5C-1649-DBD1A81485CD}"/>
              </a:ext>
            </a:extLst>
          </p:cNvPr>
          <p:cNvSpPr txBox="1"/>
          <p:nvPr/>
        </p:nvSpPr>
        <p:spPr>
          <a:xfrm rot="19677942">
            <a:off x="-270553" y="2483552"/>
            <a:ext cx="5134418" cy="92333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Step 2:  Model uncertainty about success against opposing miiltaries, conditional on knowledge of outcome of a coup attempt.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B335BBB-E5A1-5BB4-DC73-BBFA96FB0A0A}"/>
              </a:ext>
            </a:extLst>
          </p:cNvPr>
          <p:cNvCxnSpPr>
            <a:cxnSpLocks/>
          </p:cNvCxnSpPr>
          <p:nvPr/>
        </p:nvCxnSpPr>
        <p:spPr>
          <a:xfrm flipV="1">
            <a:off x="4533144" y="3354838"/>
            <a:ext cx="2200275" cy="1130452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3F1C91C-E635-CB75-708A-C3CA29950478}"/>
              </a:ext>
            </a:extLst>
          </p:cNvPr>
          <p:cNvSpPr txBox="1"/>
          <p:nvPr/>
        </p:nvSpPr>
        <p:spPr>
          <a:xfrm rot="19913270">
            <a:off x="4600155" y="3899264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5C06880-8343-5EF8-F3A0-EE7341A211C5}"/>
              </a:ext>
            </a:extLst>
          </p:cNvPr>
          <p:cNvCxnSpPr>
            <a:cxnSpLocks/>
          </p:cNvCxnSpPr>
          <p:nvPr/>
        </p:nvCxnSpPr>
        <p:spPr>
          <a:xfrm>
            <a:off x="4522231" y="4582175"/>
            <a:ext cx="2019300" cy="149147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3F0B79D-9C2C-E346-1142-72167E63F50C}"/>
              </a:ext>
            </a:extLst>
          </p:cNvPr>
          <p:cNvSpPr txBox="1"/>
          <p:nvPr/>
        </p:nvSpPr>
        <p:spPr>
          <a:xfrm rot="2210112">
            <a:off x="4580614" y="5519727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A629C19-44EA-5EA7-9BB7-0820D0568322}"/>
                  </a:ext>
                </a:extLst>
              </p:cNvPr>
              <p:cNvSpPr txBox="1"/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A629C19-44EA-5EA7-9BB7-0820D0568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599B5D8-2BA3-1220-C6E3-D9F160C175BF}"/>
                  </a:ext>
                </a:extLst>
              </p:cNvPr>
              <p:cNvSpPr txBox="1"/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599B5D8-2BA3-1220-C6E3-D9F160C17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6FDC85A-54CF-5093-B007-5D7227AD09D8}"/>
              </a:ext>
            </a:extLst>
          </p:cNvPr>
          <p:cNvSpPr txBox="1"/>
          <p:nvPr/>
        </p:nvSpPr>
        <p:spPr>
          <a:xfrm>
            <a:off x="7448550" y="2186704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8B3CAC-CF3A-CF0B-A229-C39DED486897}"/>
              </a:ext>
            </a:extLst>
          </p:cNvPr>
          <p:cNvSpPr txBox="1"/>
          <p:nvPr/>
        </p:nvSpPr>
        <p:spPr>
          <a:xfrm>
            <a:off x="7592983" y="2490201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DCF364-9301-CE86-9770-DE001EE2A0CC}"/>
              </a:ext>
            </a:extLst>
          </p:cNvPr>
          <p:cNvSpPr txBox="1"/>
          <p:nvPr/>
        </p:nvSpPr>
        <p:spPr>
          <a:xfrm>
            <a:off x="8475566" y="2362783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1069EC-B68E-7AFD-B241-15CA2F6C0F28}"/>
              </a:ext>
            </a:extLst>
          </p:cNvPr>
          <p:cNvSpPr txBox="1"/>
          <p:nvPr/>
        </p:nvSpPr>
        <p:spPr>
          <a:xfrm>
            <a:off x="9685619" y="2455117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AEC236-8C04-B609-91F5-FD7E673024C4}"/>
              </a:ext>
            </a:extLst>
          </p:cNvPr>
          <p:cNvSpPr txBox="1"/>
          <p:nvPr/>
        </p:nvSpPr>
        <p:spPr>
          <a:xfrm>
            <a:off x="10705837" y="2463703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96D5CF-C3E8-4EA6-566C-48976FAE121B}"/>
              </a:ext>
            </a:extLst>
          </p:cNvPr>
          <p:cNvSpPr/>
          <p:nvPr/>
        </p:nvSpPr>
        <p:spPr>
          <a:xfrm>
            <a:off x="7477432" y="2945216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E141E49-F569-CB8A-CA31-2691500D47A9}"/>
              </a:ext>
            </a:extLst>
          </p:cNvPr>
          <p:cNvCxnSpPr>
            <a:cxnSpLocks/>
          </p:cNvCxnSpPr>
          <p:nvPr/>
        </p:nvCxnSpPr>
        <p:spPr>
          <a:xfrm>
            <a:off x="84226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15C2BF6-588B-9EB4-9F57-D82926B116DE}"/>
              </a:ext>
            </a:extLst>
          </p:cNvPr>
          <p:cNvCxnSpPr>
            <a:cxnSpLocks/>
          </p:cNvCxnSpPr>
          <p:nvPr/>
        </p:nvCxnSpPr>
        <p:spPr>
          <a:xfrm>
            <a:off x="950849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28221F8-D8F3-AE58-0F6F-0CAB63980218}"/>
              </a:ext>
            </a:extLst>
          </p:cNvPr>
          <p:cNvCxnSpPr>
            <a:cxnSpLocks/>
          </p:cNvCxnSpPr>
          <p:nvPr/>
        </p:nvCxnSpPr>
        <p:spPr>
          <a:xfrm>
            <a:off x="105943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5863EF5-03EE-AE4E-E1FC-9E6FB6CA685C}"/>
              </a:ext>
            </a:extLst>
          </p:cNvPr>
          <p:cNvSpPr txBox="1"/>
          <p:nvPr/>
        </p:nvSpPr>
        <p:spPr>
          <a:xfrm rot="16200000">
            <a:off x="6190005" y="3283345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9F0FAA-BBC3-10F9-7D5F-3F8A2A9ECACE}"/>
              </a:ext>
            </a:extLst>
          </p:cNvPr>
          <p:cNvSpPr txBox="1"/>
          <p:nvPr/>
        </p:nvSpPr>
        <p:spPr>
          <a:xfrm rot="16200000">
            <a:off x="7038283" y="3585534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5DD8A0-4A0B-87BA-3040-0F3C81E6EB02}"/>
              </a:ext>
            </a:extLst>
          </p:cNvPr>
          <p:cNvSpPr txBox="1"/>
          <p:nvPr/>
        </p:nvSpPr>
        <p:spPr>
          <a:xfrm rot="16200000">
            <a:off x="6910639" y="3032087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085914-C531-3B9B-CAC5-E9D94917EB22}"/>
              </a:ext>
            </a:extLst>
          </p:cNvPr>
          <p:cNvSpPr/>
          <p:nvPr/>
        </p:nvSpPr>
        <p:spPr>
          <a:xfrm>
            <a:off x="7477432" y="3477211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0D195E-4B57-6D4E-3764-14601CC77BB0}"/>
              </a:ext>
            </a:extLst>
          </p:cNvPr>
          <p:cNvSpPr txBox="1"/>
          <p:nvPr/>
        </p:nvSpPr>
        <p:spPr>
          <a:xfrm>
            <a:off x="7430826" y="4862143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7B9BBC-709F-EE25-C1E4-FE9CFBB83F6F}"/>
              </a:ext>
            </a:extLst>
          </p:cNvPr>
          <p:cNvSpPr txBox="1"/>
          <p:nvPr/>
        </p:nvSpPr>
        <p:spPr>
          <a:xfrm>
            <a:off x="7575259" y="5165640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4660BA-8B00-6505-CABB-24FF36576253}"/>
              </a:ext>
            </a:extLst>
          </p:cNvPr>
          <p:cNvSpPr txBox="1"/>
          <p:nvPr/>
        </p:nvSpPr>
        <p:spPr>
          <a:xfrm>
            <a:off x="8457842" y="5038222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E01D76-69EF-0D93-1993-AD1BEC96F3A8}"/>
              </a:ext>
            </a:extLst>
          </p:cNvPr>
          <p:cNvSpPr txBox="1"/>
          <p:nvPr/>
        </p:nvSpPr>
        <p:spPr>
          <a:xfrm>
            <a:off x="9667895" y="5130556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CBAA9B-D181-3413-ECE0-DBCB55EFD259}"/>
              </a:ext>
            </a:extLst>
          </p:cNvPr>
          <p:cNvSpPr txBox="1"/>
          <p:nvPr/>
        </p:nvSpPr>
        <p:spPr>
          <a:xfrm>
            <a:off x="10688113" y="5139142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7B7EB0-EEE2-D9A1-40ED-23FF650F0B3F}"/>
              </a:ext>
            </a:extLst>
          </p:cNvPr>
          <p:cNvSpPr/>
          <p:nvPr/>
        </p:nvSpPr>
        <p:spPr>
          <a:xfrm>
            <a:off x="7459708" y="5620655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CBA71FF-8FCD-A36E-C60B-1A43A4BA46E8}"/>
              </a:ext>
            </a:extLst>
          </p:cNvPr>
          <p:cNvCxnSpPr>
            <a:cxnSpLocks/>
          </p:cNvCxnSpPr>
          <p:nvPr/>
        </p:nvCxnSpPr>
        <p:spPr>
          <a:xfrm>
            <a:off x="84049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B4231D2-00F4-EA09-DE5C-CF8CCBBA06F8}"/>
              </a:ext>
            </a:extLst>
          </p:cNvPr>
          <p:cNvCxnSpPr>
            <a:cxnSpLocks/>
          </p:cNvCxnSpPr>
          <p:nvPr/>
        </p:nvCxnSpPr>
        <p:spPr>
          <a:xfrm>
            <a:off x="949076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3E4F851-55E4-4460-3089-CBD32CF40408}"/>
              </a:ext>
            </a:extLst>
          </p:cNvPr>
          <p:cNvCxnSpPr>
            <a:cxnSpLocks/>
          </p:cNvCxnSpPr>
          <p:nvPr/>
        </p:nvCxnSpPr>
        <p:spPr>
          <a:xfrm>
            <a:off x="105766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99B2348-91EB-32A4-512C-6097B2BEF354}"/>
              </a:ext>
            </a:extLst>
          </p:cNvPr>
          <p:cNvSpPr txBox="1"/>
          <p:nvPr/>
        </p:nvSpPr>
        <p:spPr>
          <a:xfrm rot="16200000">
            <a:off x="6172281" y="595878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0E2F78-9136-F295-2680-8FBB1C5C7B7D}"/>
              </a:ext>
            </a:extLst>
          </p:cNvPr>
          <p:cNvSpPr txBox="1"/>
          <p:nvPr/>
        </p:nvSpPr>
        <p:spPr>
          <a:xfrm rot="16200000">
            <a:off x="7020559" y="6260973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94FF4C-6C38-6E92-781E-159455DB750B}"/>
              </a:ext>
            </a:extLst>
          </p:cNvPr>
          <p:cNvSpPr txBox="1"/>
          <p:nvPr/>
        </p:nvSpPr>
        <p:spPr>
          <a:xfrm rot="16200000">
            <a:off x="6892915" y="5707526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AD32911-F427-A899-9A2D-7D836579C393}"/>
              </a:ext>
            </a:extLst>
          </p:cNvPr>
          <p:cNvSpPr/>
          <p:nvPr/>
        </p:nvSpPr>
        <p:spPr>
          <a:xfrm>
            <a:off x="7459708" y="5612069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3B00ED6-07A2-99E9-BB0E-EE0EEEDB6150}"/>
              </a:ext>
            </a:extLst>
          </p:cNvPr>
          <p:cNvCxnSpPr/>
          <p:nvPr/>
        </p:nvCxnSpPr>
        <p:spPr>
          <a:xfrm>
            <a:off x="8810625" y="1047750"/>
            <a:ext cx="2362200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AF36693-E7E3-5319-76FC-D85BD364AF1D}"/>
              </a:ext>
            </a:extLst>
          </p:cNvPr>
          <p:cNvCxnSpPr>
            <a:cxnSpLocks/>
          </p:cNvCxnSpPr>
          <p:nvPr/>
        </p:nvCxnSpPr>
        <p:spPr>
          <a:xfrm>
            <a:off x="4389866" y="1309542"/>
            <a:ext cx="69747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28A0C3A-4109-4F04-F7C7-FBE91FEBF99D}"/>
              </a:ext>
            </a:extLst>
          </p:cNvPr>
          <p:cNvCxnSpPr>
            <a:cxnSpLocks/>
          </p:cNvCxnSpPr>
          <p:nvPr/>
        </p:nvCxnSpPr>
        <p:spPr>
          <a:xfrm>
            <a:off x="4512365" y="1632707"/>
            <a:ext cx="46125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3F5D8B42-1F6D-C3E8-92E0-FBCAA8E3DDDE}"/>
              </a:ext>
            </a:extLst>
          </p:cNvPr>
          <p:cNvSpPr/>
          <p:nvPr/>
        </p:nvSpPr>
        <p:spPr>
          <a:xfrm>
            <a:off x="0" y="0"/>
            <a:ext cx="12192000" cy="6835141"/>
          </a:xfrm>
          <a:prstGeom prst="rect">
            <a:avLst/>
          </a:prstGeom>
          <a:solidFill>
            <a:srgbClr val="5E5E5E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442FBE7-D98A-2444-A69F-298C2E4BA409}"/>
              </a:ext>
            </a:extLst>
          </p:cNvPr>
          <p:cNvSpPr/>
          <p:nvPr/>
        </p:nvSpPr>
        <p:spPr>
          <a:xfrm>
            <a:off x="1524000" y="709377"/>
            <a:ext cx="9059337" cy="49026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2DF96AC-D002-C2C7-C2E4-B70A76B33E30}"/>
              </a:ext>
            </a:extLst>
          </p:cNvPr>
          <p:cNvSpPr txBox="1"/>
          <p:nvPr/>
        </p:nvSpPr>
        <p:spPr>
          <a:xfrm>
            <a:off x="4028017" y="976556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B4E93F-CA9A-BBD8-C09D-CA882E37AA88}"/>
              </a:ext>
            </a:extLst>
          </p:cNvPr>
          <p:cNvSpPr txBox="1"/>
          <p:nvPr/>
        </p:nvSpPr>
        <p:spPr>
          <a:xfrm>
            <a:off x="4172450" y="1280053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B2C50E-F810-EB8B-CE84-1159521DB09A}"/>
              </a:ext>
            </a:extLst>
          </p:cNvPr>
          <p:cNvSpPr txBox="1"/>
          <p:nvPr/>
        </p:nvSpPr>
        <p:spPr>
          <a:xfrm>
            <a:off x="5055033" y="1152635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2097A01-0610-6334-148C-D4340EA54313}"/>
              </a:ext>
            </a:extLst>
          </p:cNvPr>
          <p:cNvSpPr txBox="1"/>
          <p:nvPr/>
        </p:nvSpPr>
        <p:spPr>
          <a:xfrm>
            <a:off x="6265086" y="1244969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F0A5B3-AC46-2EA4-558F-3AFF2627B1B5}"/>
              </a:ext>
            </a:extLst>
          </p:cNvPr>
          <p:cNvSpPr txBox="1"/>
          <p:nvPr/>
        </p:nvSpPr>
        <p:spPr>
          <a:xfrm>
            <a:off x="7285304" y="1253555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E6375CE-9F7D-FF04-2998-E53E5D735B26}"/>
              </a:ext>
            </a:extLst>
          </p:cNvPr>
          <p:cNvSpPr/>
          <p:nvPr/>
        </p:nvSpPr>
        <p:spPr>
          <a:xfrm>
            <a:off x="4056899" y="1735068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1124E12-9907-169E-8B6A-09A9E186E93D}"/>
              </a:ext>
            </a:extLst>
          </p:cNvPr>
          <p:cNvCxnSpPr>
            <a:cxnSpLocks/>
          </p:cNvCxnSpPr>
          <p:nvPr/>
        </p:nvCxnSpPr>
        <p:spPr>
          <a:xfrm>
            <a:off x="500210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EDE8993-B9B0-8371-B0AF-71242D07E159}"/>
              </a:ext>
            </a:extLst>
          </p:cNvPr>
          <p:cNvCxnSpPr>
            <a:cxnSpLocks/>
          </p:cNvCxnSpPr>
          <p:nvPr/>
        </p:nvCxnSpPr>
        <p:spPr>
          <a:xfrm>
            <a:off x="608795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6A5E9BB-A031-A992-AE65-EF356C9FCF1E}"/>
              </a:ext>
            </a:extLst>
          </p:cNvPr>
          <p:cNvCxnSpPr>
            <a:cxnSpLocks/>
          </p:cNvCxnSpPr>
          <p:nvPr/>
        </p:nvCxnSpPr>
        <p:spPr>
          <a:xfrm>
            <a:off x="717380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50E550E-980F-C6AD-4C6B-72AED7CC94CF}"/>
              </a:ext>
            </a:extLst>
          </p:cNvPr>
          <p:cNvSpPr txBox="1"/>
          <p:nvPr/>
        </p:nvSpPr>
        <p:spPr>
          <a:xfrm rot="16200000">
            <a:off x="2769472" y="2073197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8476F50-1D39-D7DD-C1EF-E4BFD945F835}"/>
              </a:ext>
            </a:extLst>
          </p:cNvPr>
          <p:cNvSpPr txBox="1"/>
          <p:nvPr/>
        </p:nvSpPr>
        <p:spPr>
          <a:xfrm rot="16200000">
            <a:off x="3617750" y="2375386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E0B62F8-EE2C-5B23-4D50-0CFA401F0E8D}"/>
              </a:ext>
            </a:extLst>
          </p:cNvPr>
          <p:cNvSpPr txBox="1"/>
          <p:nvPr/>
        </p:nvSpPr>
        <p:spPr>
          <a:xfrm rot="16200000">
            <a:off x="3490106" y="1821939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D90FB86-94A2-7DE4-8E46-C30DF66F7A46}"/>
              </a:ext>
            </a:extLst>
          </p:cNvPr>
          <p:cNvSpPr/>
          <p:nvPr/>
        </p:nvSpPr>
        <p:spPr>
          <a:xfrm>
            <a:off x="4056899" y="2267063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1603D9A-19BB-BCFC-0594-7B074331DA8F}"/>
              </a:ext>
            </a:extLst>
          </p:cNvPr>
          <p:cNvSpPr txBox="1"/>
          <p:nvPr/>
        </p:nvSpPr>
        <p:spPr>
          <a:xfrm>
            <a:off x="4101741" y="313867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FA205FA-839F-9975-1C54-0F1EF7F7A183}"/>
              </a:ext>
            </a:extLst>
          </p:cNvPr>
          <p:cNvSpPr txBox="1"/>
          <p:nvPr/>
        </p:nvSpPr>
        <p:spPr>
          <a:xfrm>
            <a:off x="4246174" y="3442172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CE4F28A-5DBC-5C6B-8DAA-F654DE229D76}"/>
              </a:ext>
            </a:extLst>
          </p:cNvPr>
          <p:cNvSpPr txBox="1"/>
          <p:nvPr/>
        </p:nvSpPr>
        <p:spPr>
          <a:xfrm>
            <a:off x="5128757" y="331475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0297492-7D64-8AD4-E43A-4F55DAD87E12}"/>
              </a:ext>
            </a:extLst>
          </p:cNvPr>
          <p:cNvSpPr txBox="1"/>
          <p:nvPr/>
        </p:nvSpPr>
        <p:spPr>
          <a:xfrm>
            <a:off x="6338810" y="3407088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1FA9326-F3B8-E821-28E9-8E487314FF36}"/>
              </a:ext>
            </a:extLst>
          </p:cNvPr>
          <p:cNvSpPr txBox="1"/>
          <p:nvPr/>
        </p:nvSpPr>
        <p:spPr>
          <a:xfrm>
            <a:off x="7359028" y="3415674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222EF48-B43C-C99F-C654-B42B10CDC4A3}"/>
              </a:ext>
            </a:extLst>
          </p:cNvPr>
          <p:cNvSpPr/>
          <p:nvPr/>
        </p:nvSpPr>
        <p:spPr>
          <a:xfrm>
            <a:off x="4130623" y="3897187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9F33D3C-295D-F7B5-58C2-15DA254A50C7}"/>
              </a:ext>
            </a:extLst>
          </p:cNvPr>
          <p:cNvCxnSpPr>
            <a:cxnSpLocks/>
          </p:cNvCxnSpPr>
          <p:nvPr/>
        </p:nvCxnSpPr>
        <p:spPr>
          <a:xfrm>
            <a:off x="507583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7520B21-7242-2F20-0D69-7F306C7719D5}"/>
              </a:ext>
            </a:extLst>
          </p:cNvPr>
          <p:cNvCxnSpPr>
            <a:cxnSpLocks/>
          </p:cNvCxnSpPr>
          <p:nvPr/>
        </p:nvCxnSpPr>
        <p:spPr>
          <a:xfrm>
            <a:off x="616168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BA74DEE-60C8-C88A-F503-D3D4FC6F0C8C}"/>
              </a:ext>
            </a:extLst>
          </p:cNvPr>
          <p:cNvCxnSpPr>
            <a:cxnSpLocks/>
          </p:cNvCxnSpPr>
          <p:nvPr/>
        </p:nvCxnSpPr>
        <p:spPr>
          <a:xfrm>
            <a:off x="724753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D5AB2589-A5E4-3598-BB05-482B8BF385AD}"/>
              </a:ext>
            </a:extLst>
          </p:cNvPr>
          <p:cNvSpPr txBox="1"/>
          <p:nvPr/>
        </p:nvSpPr>
        <p:spPr>
          <a:xfrm rot="16200000">
            <a:off x="2843196" y="4235316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C23A560-F7CA-22EC-5EA3-F5E52DB176D9}"/>
              </a:ext>
            </a:extLst>
          </p:cNvPr>
          <p:cNvSpPr txBox="1"/>
          <p:nvPr/>
        </p:nvSpPr>
        <p:spPr>
          <a:xfrm rot="16200000">
            <a:off x="3691474" y="453750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B85E2E1-A9F7-0222-B9F5-83A659C4FBB3}"/>
              </a:ext>
            </a:extLst>
          </p:cNvPr>
          <p:cNvSpPr txBox="1"/>
          <p:nvPr/>
        </p:nvSpPr>
        <p:spPr>
          <a:xfrm rot="16200000">
            <a:off x="3563830" y="3984058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7FA3B70-38A9-5579-8F51-E1B22A463EEC}"/>
              </a:ext>
            </a:extLst>
          </p:cNvPr>
          <p:cNvSpPr/>
          <p:nvPr/>
        </p:nvSpPr>
        <p:spPr>
          <a:xfrm>
            <a:off x="4130623" y="3886484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413BA64-E824-36C0-B608-22CF477939D3}"/>
              </a:ext>
            </a:extLst>
          </p:cNvPr>
          <p:cNvSpPr txBox="1"/>
          <p:nvPr/>
        </p:nvSpPr>
        <p:spPr>
          <a:xfrm>
            <a:off x="8475566" y="1916996"/>
            <a:ext cx="2240495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“More likely to be more successful”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E4F2968-04B9-A487-19EA-A67621580614}"/>
              </a:ext>
            </a:extLst>
          </p:cNvPr>
          <p:cNvSpPr txBox="1"/>
          <p:nvPr/>
        </p:nvSpPr>
        <p:spPr>
          <a:xfrm>
            <a:off x="8580052" y="4038210"/>
            <a:ext cx="2240495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“Less likely to be more successful”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D6605D0-46F2-7B62-DBE1-A74AABCC969C}"/>
              </a:ext>
            </a:extLst>
          </p:cNvPr>
          <p:cNvSpPr txBox="1"/>
          <p:nvPr/>
        </p:nvSpPr>
        <p:spPr>
          <a:xfrm rot="19699172">
            <a:off x="-29169" y="514279"/>
            <a:ext cx="2533654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/>
              <a:t>How do we assign probabilities to model this?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44009220-2699-D45E-D8F1-889343FE0721}"/>
              </a:ext>
            </a:extLst>
          </p:cNvPr>
          <p:cNvSpPr/>
          <p:nvPr/>
        </p:nvSpPr>
        <p:spPr>
          <a:xfrm>
            <a:off x="3933825" y="1530554"/>
            <a:ext cx="1142007" cy="933147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57AFC0B-F386-206A-6774-4F05CEC77F07}"/>
              </a:ext>
            </a:extLst>
          </p:cNvPr>
          <p:cNvSpPr/>
          <p:nvPr/>
        </p:nvSpPr>
        <p:spPr>
          <a:xfrm>
            <a:off x="4029363" y="4197119"/>
            <a:ext cx="1142007" cy="933147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0DDC8BC-3AFC-AE7C-2950-217AC2D3A781}"/>
              </a:ext>
            </a:extLst>
          </p:cNvPr>
          <p:cNvSpPr txBox="1"/>
          <p:nvPr/>
        </p:nvSpPr>
        <p:spPr>
          <a:xfrm rot="19357102">
            <a:off x="3312942" y="1522777"/>
            <a:ext cx="743865" cy="3679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less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B692086-F833-E124-00BF-E0CB55201E47}"/>
              </a:ext>
            </a:extLst>
          </p:cNvPr>
          <p:cNvSpPr txBox="1"/>
          <p:nvPr/>
        </p:nvSpPr>
        <p:spPr>
          <a:xfrm rot="19357102">
            <a:off x="3276628" y="4320356"/>
            <a:ext cx="743865" cy="3679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more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4EF1420A-F04E-2D95-5F65-50233E1DDE61}"/>
              </a:ext>
            </a:extLst>
          </p:cNvPr>
          <p:cNvSpPr/>
          <p:nvPr/>
        </p:nvSpPr>
        <p:spPr>
          <a:xfrm>
            <a:off x="4006507" y="1660450"/>
            <a:ext cx="2146711" cy="706004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9837329E-E799-3951-2650-B29A54D936DB}"/>
              </a:ext>
            </a:extLst>
          </p:cNvPr>
          <p:cNvSpPr/>
          <p:nvPr/>
        </p:nvSpPr>
        <p:spPr>
          <a:xfrm>
            <a:off x="4035087" y="4336706"/>
            <a:ext cx="2146711" cy="706004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C96C562-EDC6-2222-F695-01A3F863F440}"/>
              </a:ext>
            </a:extLst>
          </p:cNvPr>
          <p:cNvSpPr txBox="1"/>
          <p:nvPr/>
        </p:nvSpPr>
        <p:spPr>
          <a:xfrm rot="19357102">
            <a:off x="5682136" y="1244135"/>
            <a:ext cx="743865" cy="3679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less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822522E-7AB0-BD57-8371-780BA6E8F048}"/>
              </a:ext>
            </a:extLst>
          </p:cNvPr>
          <p:cNvSpPr txBox="1"/>
          <p:nvPr/>
        </p:nvSpPr>
        <p:spPr>
          <a:xfrm rot="19357102">
            <a:off x="5109676" y="5120169"/>
            <a:ext cx="743865" cy="3679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more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9FDD57D-1AAB-5001-2649-EAD84A682023}"/>
              </a:ext>
            </a:extLst>
          </p:cNvPr>
          <p:cNvSpPr/>
          <p:nvPr/>
        </p:nvSpPr>
        <p:spPr>
          <a:xfrm>
            <a:off x="3969785" y="1679405"/>
            <a:ext cx="3241555" cy="706004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393515F1-423F-CF6E-C3C2-32EE7BB99851}"/>
              </a:ext>
            </a:extLst>
          </p:cNvPr>
          <p:cNvSpPr/>
          <p:nvPr/>
        </p:nvSpPr>
        <p:spPr>
          <a:xfrm>
            <a:off x="4085069" y="4337941"/>
            <a:ext cx="3241555" cy="706004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A2E1A8D-D72A-2B21-94E3-D3C9A0401129}"/>
              </a:ext>
            </a:extLst>
          </p:cNvPr>
          <p:cNvSpPr txBox="1"/>
          <p:nvPr/>
        </p:nvSpPr>
        <p:spPr>
          <a:xfrm rot="19357102">
            <a:off x="6576272" y="5033863"/>
            <a:ext cx="743865" cy="36793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more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0FB17AA-4854-0E6D-1FD0-F80287A1BC4D}"/>
              </a:ext>
            </a:extLst>
          </p:cNvPr>
          <p:cNvSpPr txBox="1"/>
          <p:nvPr/>
        </p:nvSpPr>
        <p:spPr>
          <a:xfrm rot="19357102">
            <a:off x="6661860" y="1358421"/>
            <a:ext cx="743865" cy="36793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less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25500FC-2845-81BD-2B13-9280B9C3100C}"/>
                  </a:ext>
                </a:extLst>
              </p:cNvPr>
              <p:cNvSpPr txBox="1"/>
              <p:nvPr/>
            </p:nvSpPr>
            <p:spPr>
              <a:xfrm>
                <a:off x="4314043" y="1808373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25500FC-2845-81BD-2B13-9280B9C31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043" y="1808373"/>
                <a:ext cx="419100" cy="4299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CB3022D-887B-CBF3-A9A9-57EB6833F213}"/>
                  </a:ext>
                </a:extLst>
              </p:cNvPr>
              <p:cNvSpPr txBox="1"/>
              <p:nvPr/>
            </p:nvSpPr>
            <p:spPr>
              <a:xfrm>
                <a:off x="7512495" y="1808373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CB3022D-887B-CBF3-A9A9-57EB6833F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495" y="1808373"/>
                <a:ext cx="419100" cy="4299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50B4BDC-1786-DCB7-022B-C48D5F27E640}"/>
                  </a:ext>
                </a:extLst>
              </p:cNvPr>
              <p:cNvSpPr txBox="1"/>
              <p:nvPr/>
            </p:nvSpPr>
            <p:spPr>
              <a:xfrm>
                <a:off x="5296218" y="1819932"/>
                <a:ext cx="419100" cy="41447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50B4BDC-1786-DCB7-022B-C48D5F27E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6218" y="1819932"/>
                <a:ext cx="419100" cy="414472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0DF59ADD-5CD3-EF7A-DC3C-540E9A35B4BA}"/>
                  </a:ext>
                </a:extLst>
              </p:cNvPr>
              <p:cNvSpPr txBox="1"/>
              <p:nvPr/>
            </p:nvSpPr>
            <p:spPr>
              <a:xfrm>
                <a:off x="6383351" y="1810949"/>
                <a:ext cx="419100" cy="41562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0DF59ADD-5CD3-EF7A-DC3C-540E9A35B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351" y="1810949"/>
                <a:ext cx="419100" cy="415627"/>
              </a:xfrm>
              <a:prstGeom prst="rect">
                <a:avLst/>
              </a:prstGeom>
              <a:blipFill>
                <a:blip r:embed="rId7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CC3259C7-7DC7-FEE7-6DDB-800BF779635B}"/>
                  </a:ext>
                </a:extLst>
              </p:cNvPr>
              <p:cNvSpPr txBox="1"/>
              <p:nvPr/>
            </p:nvSpPr>
            <p:spPr>
              <a:xfrm>
                <a:off x="4417343" y="4474992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CC3259C7-7DC7-FEE7-6DDB-800BF7796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343" y="4474992"/>
                <a:ext cx="419100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A712289-0DD3-978A-D494-27B203DAB609}"/>
                  </a:ext>
                </a:extLst>
              </p:cNvPr>
              <p:cNvSpPr txBox="1"/>
              <p:nvPr/>
            </p:nvSpPr>
            <p:spPr>
              <a:xfrm>
                <a:off x="5296222" y="4476153"/>
                <a:ext cx="419100" cy="41953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A712289-0DD3-978A-D494-27B203DAB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6222" y="4476153"/>
                <a:ext cx="419100" cy="419538"/>
              </a:xfrm>
              <a:prstGeom prst="rect">
                <a:avLst/>
              </a:prstGeom>
              <a:blipFill>
                <a:blip r:embed="rId9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F7AA983-FAE0-6996-7A53-C911EBD6AFFB}"/>
                  </a:ext>
                </a:extLst>
              </p:cNvPr>
              <p:cNvSpPr txBox="1"/>
              <p:nvPr/>
            </p:nvSpPr>
            <p:spPr>
              <a:xfrm>
                <a:off x="6429745" y="4476467"/>
                <a:ext cx="419100" cy="41953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F7AA983-FAE0-6996-7A53-C911EBD6A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745" y="4476467"/>
                <a:ext cx="419100" cy="419538"/>
              </a:xfrm>
              <a:prstGeom prst="rect">
                <a:avLst/>
              </a:prstGeom>
              <a:blipFill>
                <a:blip r:embed="rId10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3F70171D-DC47-5F32-62CB-98BBC52D3564}"/>
                  </a:ext>
                </a:extLst>
              </p:cNvPr>
              <p:cNvSpPr txBox="1"/>
              <p:nvPr/>
            </p:nvSpPr>
            <p:spPr>
              <a:xfrm>
                <a:off x="7635371" y="4476130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3F70171D-DC47-5F32-62CB-98BBC52D3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371" y="4476130"/>
                <a:ext cx="419100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61814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3D753-DDA5-232D-A303-7701A1F96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E0A6E-A584-AC6F-7686-7D3D39CA5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287894-62FD-56DB-6FCD-CD0489E7E324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788AF8-E7C4-B5DE-DE8D-F0C0FE4E8A50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919195-2E4E-09E8-4B10-DE98F5F3CFBC}"/>
              </a:ext>
            </a:extLst>
          </p:cNvPr>
          <p:cNvSpPr txBox="1"/>
          <p:nvPr/>
        </p:nvSpPr>
        <p:spPr>
          <a:xfrm>
            <a:off x="4343400" y="709377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model of these two uncertainties in which a military that would succeed when attempting a coup is more likely to perform well against an opposing force than a military that would fail when attempting a coup.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CE2A0F-E227-7600-472F-57BC4462D67E}"/>
              </a:ext>
            </a:extLst>
          </p:cNvPr>
          <p:cNvSpPr txBox="1"/>
          <p:nvPr/>
        </p:nvSpPr>
        <p:spPr>
          <a:xfrm>
            <a:off x="4343400" y="1687454"/>
            <a:ext cx="7038975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Marginal-Conditional Method– JUST SAY YES!!!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ADE50E-9A9F-E4FD-08DE-9EE60DDCA537}"/>
              </a:ext>
            </a:extLst>
          </p:cNvPr>
          <p:cNvSpPr txBox="1"/>
          <p:nvPr/>
        </p:nvSpPr>
        <p:spPr>
          <a:xfrm rot="19677942">
            <a:off x="-270553" y="2483552"/>
            <a:ext cx="5134418" cy="92333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Step 2:  Model uncertainty about success against opposing miiltaries, conditional on knowledge of outcome of a coup attempt.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18158C4-1F56-C19E-1D5B-5E943082C682}"/>
              </a:ext>
            </a:extLst>
          </p:cNvPr>
          <p:cNvCxnSpPr>
            <a:cxnSpLocks/>
          </p:cNvCxnSpPr>
          <p:nvPr/>
        </p:nvCxnSpPr>
        <p:spPr>
          <a:xfrm flipV="1">
            <a:off x="4533144" y="3354838"/>
            <a:ext cx="2200275" cy="1130452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28A8484-0A55-75EA-71D1-485CACA26264}"/>
              </a:ext>
            </a:extLst>
          </p:cNvPr>
          <p:cNvSpPr txBox="1"/>
          <p:nvPr/>
        </p:nvSpPr>
        <p:spPr>
          <a:xfrm rot="19913270">
            <a:off x="4600155" y="3899264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D599B51-CB90-C766-44FC-716723FA1C84}"/>
              </a:ext>
            </a:extLst>
          </p:cNvPr>
          <p:cNvCxnSpPr>
            <a:cxnSpLocks/>
          </p:cNvCxnSpPr>
          <p:nvPr/>
        </p:nvCxnSpPr>
        <p:spPr>
          <a:xfrm>
            <a:off x="4522231" y="4582175"/>
            <a:ext cx="2019300" cy="149147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C2CC8C0-955A-B0B2-3F60-E4A20AF2CA1F}"/>
              </a:ext>
            </a:extLst>
          </p:cNvPr>
          <p:cNvSpPr txBox="1"/>
          <p:nvPr/>
        </p:nvSpPr>
        <p:spPr>
          <a:xfrm rot="2210112">
            <a:off x="4580614" y="5519727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3A764EF-2A87-E0AF-9923-B8A4DC8CB8F1}"/>
                  </a:ext>
                </a:extLst>
              </p:cNvPr>
              <p:cNvSpPr txBox="1"/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3A764EF-2A87-E0AF-9923-B8A4DC8CB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9466EB0-DA1E-5CD3-2B5C-3F49B8A815B4}"/>
                  </a:ext>
                </a:extLst>
              </p:cNvPr>
              <p:cNvSpPr txBox="1"/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9466EB0-DA1E-5CD3-2B5C-3F49B8A81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8F0763C-B032-4826-5880-F7B1FCD326E9}"/>
              </a:ext>
            </a:extLst>
          </p:cNvPr>
          <p:cNvSpPr txBox="1"/>
          <p:nvPr/>
        </p:nvSpPr>
        <p:spPr>
          <a:xfrm>
            <a:off x="7448550" y="2186704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00A884-0AAC-552E-3581-CEBBF7FD05C2}"/>
              </a:ext>
            </a:extLst>
          </p:cNvPr>
          <p:cNvSpPr txBox="1"/>
          <p:nvPr/>
        </p:nvSpPr>
        <p:spPr>
          <a:xfrm>
            <a:off x="7592983" y="2490201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879C13-AC7E-DA81-E9BC-6D5359BD744C}"/>
              </a:ext>
            </a:extLst>
          </p:cNvPr>
          <p:cNvSpPr txBox="1"/>
          <p:nvPr/>
        </p:nvSpPr>
        <p:spPr>
          <a:xfrm>
            <a:off x="8475566" y="2362783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226144-C2B7-EDCF-D5A1-7AE906D426DF}"/>
              </a:ext>
            </a:extLst>
          </p:cNvPr>
          <p:cNvSpPr txBox="1"/>
          <p:nvPr/>
        </p:nvSpPr>
        <p:spPr>
          <a:xfrm>
            <a:off x="9685619" y="2455117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33BF36-A25A-AC56-577B-3B4C5E6CF2D7}"/>
              </a:ext>
            </a:extLst>
          </p:cNvPr>
          <p:cNvSpPr txBox="1"/>
          <p:nvPr/>
        </p:nvSpPr>
        <p:spPr>
          <a:xfrm>
            <a:off x="10705837" y="2463703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6D861B-58C9-BBDA-757D-E7355ED4CF3E}"/>
              </a:ext>
            </a:extLst>
          </p:cNvPr>
          <p:cNvSpPr/>
          <p:nvPr/>
        </p:nvSpPr>
        <p:spPr>
          <a:xfrm>
            <a:off x="7477432" y="2945216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645CC46-C01A-056C-3CE5-272B4CEFFBC2}"/>
              </a:ext>
            </a:extLst>
          </p:cNvPr>
          <p:cNvCxnSpPr>
            <a:cxnSpLocks/>
          </p:cNvCxnSpPr>
          <p:nvPr/>
        </p:nvCxnSpPr>
        <p:spPr>
          <a:xfrm>
            <a:off x="84226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909357B-5AF9-EFD4-0C45-FD2666B417E8}"/>
              </a:ext>
            </a:extLst>
          </p:cNvPr>
          <p:cNvCxnSpPr>
            <a:cxnSpLocks/>
          </p:cNvCxnSpPr>
          <p:nvPr/>
        </p:nvCxnSpPr>
        <p:spPr>
          <a:xfrm>
            <a:off x="950849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C9857B0-CCAA-4052-24AB-68A269CFBAA3}"/>
              </a:ext>
            </a:extLst>
          </p:cNvPr>
          <p:cNvCxnSpPr>
            <a:cxnSpLocks/>
          </p:cNvCxnSpPr>
          <p:nvPr/>
        </p:nvCxnSpPr>
        <p:spPr>
          <a:xfrm>
            <a:off x="105943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94A99D6-8D7E-282A-7BED-6A49A53D3CAE}"/>
              </a:ext>
            </a:extLst>
          </p:cNvPr>
          <p:cNvSpPr txBox="1"/>
          <p:nvPr/>
        </p:nvSpPr>
        <p:spPr>
          <a:xfrm rot="16200000">
            <a:off x="6190005" y="3283345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4400B9-439A-5B26-61A2-2402AF16E5D2}"/>
              </a:ext>
            </a:extLst>
          </p:cNvPr>
          <p:cNvSpPr txBox="1"/>
          <p:nvPr/>
        </p:nvSpPr>
        <p:spPr>
          <a:xfrm rot="16200000">
            <a:off x="7038283" y="3585534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6C9C62-2550-8B75-BB0A-CD5D74EA2683}"/>
              </a:ext>
            </a:extLst>
          </p:cNvPr>
          <p:cNvSpPr txBox="1"/>
          <p:nvPr/>
        </p:nvSpPr>
        <p:spPr>
          <a:xfrm rot="16200000">
            <a:off x="6910639" y="3032087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6CFA26-9398-0DCF-A003-BD10E2E95769}"/>
              </a:ext>
            </a:extLst>
          </p:cNvPr>
          <p:cNvSpPr/>
          <p:nvPr/>
        </p:nvSpPr>
        <p:spPr>
          <a:xfrm>
            <a:off x="7477432" y="3477211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012066-05ED-1009-230F-EA274AC2D5D5}"/>
              </a:ext>
            </a:extLst>
          </p:cNvPr>
          <p:cNvSpPr txBox="1"/>
          <p:nvPr/>
        </p:nvSpPr>
        <p:spPr>
          <a:xfrm>
            <a:off x="7430826" y="4862143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338EE6-87E5-86AB-95F8-ADF0C72DE8D3}"/>
              </a:ext>
            </a:extLst>
          </p:cNvPr>
          <p:cNvSpPr txBox="1"/>
          <p:nvPr/>
        </p:nvSpPr>
        <p:spPr>
          <a:xfrm>
            <a:off x="7575259" y="5165640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1E71EC-3034-869E-B5BD-7480DEB6D936}"/>
              </a:ext>
            </a:extLst>
          </p:cNvPr>
          <p:cNvSpPr txBox="1"/>
          <p:nvPr/>
        </p:nvSpPr>
        <p:spPr>
          <a:xfrm>
            <a:off x="8457842" y="5038222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C34EB0-AD75-3016-D10C-AE404E82E160}"/>
              </a:ext>
            </a:extLst>
          </p:cNvPr>
          <p:cNvSpPr txBox="1"/>
          <p:nvPr/>
        </p:nvSpPr>
        <p:spPr>
          <a:xfrm>
            <a:off x="9667895" y="5130556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5A6A82-7C26-92C4-B2FB-BD3B15D9EF82}"/>
              </a:ext>
            </a:extLst>
          </p:cNvPr>
          <p:cNvSpPr txBox="1"/>
          <p:nvPr/>
        </p:nvSpPr>
        <p:spPr>
          <a:xfrm>
            <a:off x="10688113" y="5139142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3B65A5-A095-E324-3EB9-F3CFB795856C}"/>
              </a:ext>
            </a:extLst>
          </p:cNvPr>
          <p:cNvSpPr/>
          <p:nvPr/>
        </p:nvSpPr>
        <p:spPr>
          <a:xfrm>
            <a:off x="7459708" y="5620655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23D623A-8A80-FF5C-E6FE-963DCAE24408}"/>
              </a:ext>
            </a:extLst>
          </p:cNvPr>
          <p:cNvCxnSpPr>
            <a:cxnSpLocks/>
          </p:cNvCxnSpPr>
          <p:nvPr/>
        </p:nvCxnSpPr>
        <p:spPr>
          <a:xfrm>
            <a:off x="84049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3CAF50A-5671-9739-1F41-AA373A943E1E}"/>
              </a:ext>
            </a:extLst>
          </p:cNvPr>
          <p:cNvCxnSpPr>
            <a:cxnSpLocks/>
          </p:cNvCxnSpPr>
          <p:nvPr/>
        </p:nvCxnSpPr>
        <p:spPr>
          <a:xfrm>
            <a:off x="949076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7692CA4-6E9E-B414-79CA-8C0C7E84BE1A}"/>
              </a:ext>
            </a:extLst>
          </p:cNvPr>
          <p:cNvCxnSpPr>
            <a:cxnSpLocks/>
          </p:cNvCxnSpPr>
          <p:nvPr/>
        </p:nvCxnSpPr>
        <p:spPr>
          <a:xfrm>
            <a:off x="105766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6CB48F6-C362-4DEA-6A49-1A13BF3138D9}"/>
              </a:ext>
            </a:extLst>
          </p:cNvPr>
          <p:cNvSpPr txBox="1"/>
          <p:nvPr/>
        </p:nvSpPr>
        <p:spPr>
          <a:xfrm rot="16200000">
            <a:off x="6172281" y="595878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B965E9-4124-C04C-C0CC-55F7B1B62BD2}"/>
              </a:ext>
            </a:extLst>
          </p:cNvPr>
          <p:cNvSpPr txBox="1"/>
          <p:nvPr/>
        </p:nvSpPr>
        <p:spPr>
          <a:xfrm rot="16200000">
            <a:off x="7020559" y="6260973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A7B866-B94D-499C-89FD-244C0D25222C}"/>
              </a:ext>
            </a:extLst>
          </p:cNvPr>
          <p:cNvSpPr txBox="1"/>
          <p:nvPr/>
        </p:nvSpPr>
        <p:spPr>
          <a:xfrm rot="16200000">
            <a:off x="6892915" y="5707526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505151C-D66B-AAA9-073C-9FA2D2E4CE5A}"/>
              </a:ext>
            </a:extLst>
          </p:cNvPr>
          <p:cNvSpPr/>
          <p:nvPr/>
        </p:nvSpPr>
        <p:spPr>
          <a:xfrm>
            <a:off x="7459708" y="5612069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DCA12D5-87A6-7EB1-0FFB-7B95935CCEB5}"/>
              </a:ext>
            </a:extLst>
          </p:cNvPr>
          <p:cNvCxnSpPr/>
          <p:nvPr/>
        </p:nvCxnSpPr>
        <p:spPr>
          <a:xfrm>
            <a:off x="8810625" y="1047750"/>
            <a:ext cx="2362200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DB84F12-F567-85CB-6FEA-D3C2C58589C3}"/>
              </a:ext>
            </a:extLst>
          </p:cNvPr>
          <p:cNvCxnSpPr>
            <a:cxnSpLocks/>
          </p:cNvCxnSpPr>
          <p:nvPr/>
        </p:nvCxnSpPr>
        <p:spPr>
          <a:xfrm>
            <a:off x="4389866" y="1309542"/>
            <a:ext cx="69747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EFE700F-1A13-A3F1-ECE9-400208614762}"/>
              </a:ext>
            </a:extLst>
          </p:cNvPr>
          <p:cNvCxnSpPr>
            <a:cxnSpLocks/>
          </p:cNvCxnSpPr>
          <p:nvPr/>
        </p:nvCxnSpPr>
        <p:spPr>
          <a:xfrm>
            <a:off x="4512365" y="1632707"/>
            <a:ext cx="46125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26C6137D-37D6-C7F8-EC2E-166565FF549C}"/>
              </a:ext>
            </a:extLst>
          </p:cNvPr>
          <p:cNvSpPr/>
          <p:nvPr/>
        </p:nvSpPr>
        <p:spPr>
          <a:xfrm>
            <a:off x="0" y="0"/>
            <a:ext cx="12192000" cy="6835141"/>
          </a:xfrm>
          <a:prstGeom prst="rect">
            <a:avLst/>
          </a:prstGeom>
          <a:solidFill>
            <a:srgbClr val="5E5E5E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68D653F-92C7-7140-E72B-E9CF2ED4A0C2}"/>
              </a:ext>
            </a:extLst>
          </p:cNvPr>
          <p:cNvSpPr/>
          <p:nvPr/>
        </p:nvSpPr>
        <p:spPr>
          <a:xfrm>
            <a:off x="1524000" y="709377"/>
            <a:ext cx="9059337" cy="49026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D4AB32-007D-CA2B-7163-85C726C24BF5}"/>
              </a:ext>
            </a:extLst>
          </p:cNvPr>
          <p:cNvSpPr txBox="1"/>
          <p:nvPr/>
        </p:nvSpPr>
        <p:spPr>
          <a:xfrm>
            <a:off x="4028017" y="976556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FE3D79-3D61-1AAB-3C27-C1AE864ABF19}"/>
              </a:ext>
            </a:extLst>
          </p:cNvPr>
          <p:cNvSpPr txBox="1"/>
          <p:nvPr/>
        </p:nvSpPr>
        <p:spPr>
          <a:xfrm>
            <a:off x="4172450" y="1280053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8116EA8-4F38-32D9-3986-E93743ECA3E8}"/>
              </a:ext>
            </a:extLst>
          </p:cNvPr>
          <p:cNvSpPr txBox="1"/>
          <p:nvPr/>
        </p:nvSpPr>
        <p:spPr>
          <a:xfrm>
            <a:off x="5055033" y="1152635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46AB93B-556C-03F6-7EBC-8C3D9FC6B36A}"/>
              </a:ext>
            </a:extLst>
          </p:cNvPr>
          <p:cNvSpPr txBox="1"/>
          <p:nvPr/>
        </p:nvSpPr>
        <p:spPr>
          <a:xfrm>
            <a:off x="6265086" y="1244969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0142DF6-FA37-7F3D-774F-94155CC695CC}"/>
              </a:ext>
            </a:extLst>
          </p:cNvPr>
          <p:cNvSpPr txBox="1"/>
          <p:nvPr/>
        </p:nvSpPr>
        <p:spPr>
          <a:xfrm>
            <a:off x="7285304" y="1253555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450C8D9-B415-458C-C250-6AA79F6BCF23}"/>
              </a:ext>
            </a:extLst>
          </p:cNvPr>
          <p:cNvSpPr/>
          <p:nvPr/>
        </p:nvSpPr>
        <p:spPr>
          <a:xfrm>
            <a:off x="4056899" y="1735068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1A71CD8-0833-DEE9-F21B-B98A47909DCD}"/>
              </a:ext>
            </a:extLst>
          </p:cNvPr>
          <p:cNvCxnSpPr>
            <a:cxnSpLocks/>
          </p:cNvCxnSpPr>
          <p:nvPr/>
        </p:nvCxnSpPr>
        <p:spPr>
          <a:xfrm>
            <a:off x="500210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54EF10B-624E-6D41-FC23-F11D7A69CEDB}"/>
              </a:ext>
            </a:extLst>
          </p:cNvPr>
          <p:cNvCxnSpPr>
            <a:cxnSpLocks/>
          </p:cNvCxnSpPr>
          <p:nvPr/>
        </p:nvCxnSpPr>
        <p:spPr>
          <a:xfrm>
            <a:off x="608795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30663CE-D00A-0AEC-8D78-C650DDEEA412}"/>
              </a:ext>
            </a:extLst>
          </p:cNvPr>
          <p:cNvCxnSpPr>
            <a:cxnSpLocks/>
          </p:cNvCxnSpPr>
          <p:nvPr/>
        </p:nvCxnSpPr>
        <p:spPr>
          <a:xfrm>
            <a:off x="717380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3CA3850E-E30C-8F0C-6C3A-849EE0F5B55E}"/>
              </a:ext>
            </a:extLst>
          </p:cNvPr>
          <p:cNvSpPr txBox="1"/>
          <p:nvPr/>
        </p:nvSpPr>
        <p:spPr>
          <a:xfrm rot="16200000">
            <a:off x="2769472" y="2073197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1C48C39-B164-6AB6-6CAB-525914D6B931}"/>
              </a:ext>
            </a:extLst>
          </p:cNvPr>
          <p:cNvSpPr txBox="1"/>
          <p:nvPr/>
        </p:nvSpPr>
        <p:spPr>
          <a:xfrm rot="16200000">
            <a:off x="3617750" y="2375386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CE58051-7CCE-98A8-FA0E-F49773C21D47}"/>
              </a:ext>
            </a:extLst>
          </p:cNvPr>
          <p:cNvSpPr txBox="1"/>
          <p:nvPr/>
        </p:nvSpPr>
        <p:spPr>
          <a:xfrm rot="16200000">
            <a:off x="3490106" y="1821939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81F9038-2963-7A75-1B94-4186B9C87C85}"/>
              </a:ext>
            </a:extLst>
          </p:cNvPr>
          <p:cNvSpPr/>
          <p:nvPr/>
        </p:nvSpPr>
        <p:spPr>
          <a:xfrm>
            <a:off x="4056899" y="2267063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BDD5D1F-E8EC-9794-C82E-BDCAFBBEFAB9}"/>
              </a:ext>
            </a:extLst>
          </p:cNvPr>
          <p:cNvSpPr txBox="1"/>
          <p:nvPr/>
        </p:nvSpPr>
        <p:spPr>
          <a:xfrm>
            <a:off x="4101741" y="313867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E050F1E-F9B5-1049-8C69-4786B67867AF}"/>
              </a:ext>
            </a:extLst>
          </p:cNvPr>
          <p:cNvSpPr txBox="1"/>
          <p:nvPr/>
        </p:nvSpPr>
        <p:spPr>
          <a:xfrm>
            <a:off x="4246174" y="3442172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FC363C6-DDA9-C17F-5914-6D5E98589F43}"/>
              </a:ext>
            </a:extLst>
          </p:cNvPr>
          <p:cNvSpPr txBox="1"/>
          <p:nvPr/>
        </p:nvSpPr>
        <p:spPr>
          <a:xfrm>
            <a:off x="5128757" y="331475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4A80A7-37A3-ACD0-B7E2-3827DC43CA01}"/>
              </a:ext>
            </a:extLst>
          </p:cNvPr>
          <p:cNvSpPr txBox="1"/>
          <p:nvPr/>
        </p:nvSpPr>
        <p:spPr>
          <a:xfrm>
            <a:off x="6338810" y="3407088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0AB6E87-8F11-C434-F57D-31A9CF5F700B}"/>
              </a:ext>
            </a:extLst>
          </p:cNvPr>
          <p:cNvSpPr txBox="1"/>
          <p:nvPr/>
        </p:nvSpPr>
        <p:spPr>
          <a:xfrm>
            <a:off x="7359028" y="3415674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A332418-FA0B-6165-2B54-575C1A26A2FD}"/>
              </a:ext>
            </a:extLst>
          </p:cNvPr>
          <p:cNvSpPr/>
          <p:nvPr/>
        </p:nvSpPr>
        <p:spPr>
          <a:xfrm>
            <a:off x="4130623" y="3897187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66FAC9F-D258-0BF8-F8E4-165B2D4A6075}"/>
              </a:ext>
            </a:extLst>
          </p:cNvPr>
          <p:cNvCxnSpPr>
            <a:cxnSpLocks/>
          </p:cNvCxnSpPr>
          <p:nvPr/>
        </p:nvCxnSpPr>
        <p:spPr>
          <a:xfrm>
            <a:off x="507583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B7C69A4-9D1F-0296-02AA-BF872FCF3DAF}"/>
              </a:ext>
            </a:extLst>
          </p:cNvPr>
          <p:cNvCxnSpPr>
            <a:cxnSpLocks/>
          </p:cNvCxnSpPr>
          <p:nvPr/>
        </p:nvCxnSpPr>
        <p:spPr>
          <a:xfrm>
            <a:off x="616168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2FB7C8E-84F0-E8D3-4806-A9DAD5A44A6A}"/>
              </a:ext>
            </a:extLst>
          </p:cNvPr>
          <p:cNvCxnSpPr>
            <a:cxnSpLocks/>
          </p:cNvCxnSpPr>
          <p:nvPr/>
        </p:nvCxnSpPr>
        <p:spPr>
          <a:xfrm>
            <a:off x="724753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28699316-8E61-BEB2-2EF0-CE0879316904}"/>
              </a:ext>
            </a:extLst>
          </p:cNvPr>
          <p:cNvSpPr txBox="1"/>
          <p:nvPr/>
        </p:nvSpPr>
        <p:spPr>
          <a:xfrm rot="16200000">
            <a:off x="2843196" y="4235316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F53076B-7706-7A16-7C1E-0FA5D2921CDC}"/>
              </a:ext>
            </a:extLst>
          </p:cNvPr>
          <p:cNvSpPr txBox="1"/>
          <p:nvPr/>
        </p:nvSpPr>
        <p:spPr>
          <a:xfrm rot="16200000">
            <a:off x="3691474" y="453750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741648B-F422-9218-AA24-C2F95A2FE3FF}"/>
              </a:ext>
            </a:extLst>
          </p:cNvPr>
          <p:cNvSpPr txBox="1"/>
          <p:nvPr/>
        </p:nvSpPr>
        <p:spPr>
          <a:xfrm rot="16200000">
            <a:off x="3563830" y="3984058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F81ECFA-183F-B83B-EAA9-8653A8DBE2D3}"/>
              </a:ext>
            </a:extLst>
          </p:cNvPr>
          <p:cNvSpPr/>
          <p:nvPr/>
        </p:nvSpPr>
        <p:spPr>
          <a:xfrm>
            <a:off x="4130623" y="3886484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28FBCC0-F9B0-FF3D-2739-3EB23705D64E}"/>
              </a:ext>
            </a:extLst>
          </p:cNvPr>
          <p:cNvSpPr txBox="1"/>
          <p:nvPr/>
        </p:nvSpPr>
        <p:spPr>
          <a:xfrm>
            <a:off x="8475566" y="1916996"/>
            <a:ext cx="2240495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“More likely to be more successful”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FC55CAD-60FC-5B07-D806-E7E328C611D5}"/>
              </a:ext>
            </a:extLst>
          </p:cNvPr>
          <p:cNvSpPr txBox="1"/>
          <p:nvPr/>
        </p:nvSpPr>
        <p:spPr>
          <a:xfrm>
            <a:off x="8580052" y="4038210"/>
            <a:ext cx="2240495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“Less likely to be more successful”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A4CF5A4-6144-2E53-3EE1-DFE4B1DAAD1D}"/>
              </a:ext>
            </a:extLst>
          </p:cNvPr>
          <p:cNvSpPr txBox="1"/>
          <p:nvPr/>
        </p:nvSpPr>
        <p:spPr>
          <a:xfrm rot="19699172">
            <a:off x="-29169" y="514279"/>
            <a:ext cx="2533654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/>
              <a:t>How do we assign probabilities to model this?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F13E026-EFB1-3502-54B3-17721B09AF89}"/>
              </a:ext>
            </a:extLst>
          </p:cNvPr>
          <p:cNvSpPr/>
          <p:nvPr/>
        </p:nvSpPr>
        <p:spPr>
          <a:xfrm>
            <a:off x="3933825" y="1530554"/>
            <a:ext cx="1142007" cy="933147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8616D35A-491A-ECAA-F33A-7CC26AA50A3A}"/>
              </a:ext>
            </a:extLst>
          </p:cNvPr>
          <p:cNvSpPr/>
          <p:nvPr/>
        </p:nvSpPr>
        <p:spPr>
          <a:xfrm>
            <a:off x="4029363" y="4197119"/>
            <a:ext cx="1142007" cy="933147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FFD3B2B-DC67-8A22-E2B0-5EB265EC5F37}"/>
              </a:ext>
            </a:extLst>
          </p:cNvPr>
          <p:cNvSpPr txBox="1"/>
          <p:nvPr/>
        </p:nvSpPr>
        <p:spPr>
          <a:xfrm rot="19357102">
            <a:off x="3312942" y="1522777"/>
            <a:ext cx="743865" cy="3679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less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5F177E7-9B67-17FA-8E08-39B4D408432F}"/>
              </a:ext>
            </a:extLst>
          </p:cNvPr>
          <p:cNvSpPr txBox="1"/>
          <p:nvPr/>
        </p:nvSpPr>
        <p:spPr>
          <a:xfrm rot="19357102">
            <a:off x="3276628" y="4320356"/>
            <a:ext cx="743865" cy="3679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more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E182FAB4-7080-E12C-0F66-96DEFA2ABDFE}"/>
              </a:ext>
            </a:extLst>
          </p:cNvPr>
          <p:cNvSpPr/>
          <p:nvPr/>
        </p:nvSpPr>
        <p:spPr>
          <a:xfrm>
            <a:off x="4006507" y="1660450"/>
            <a:ext cx="2146711" cy="706004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B149E253-DCA4-C1D3-A7DC-B2FEB1B0F7E4}"/>
              </a:ext>
            </a:extLst>
          </p:cNvPr>
          <p:cNvSpPr/>
          <p:nvPr/>
        </p:nvSpPr>
        <p:spPr>
          <a:xfrm>
            <a:off x="4035087" y="4336706"/>
            <a:ext cx="2146711" cy="706004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DB31C86-0A97-A783-0E2F-351F204075E3}"/>
              </a:ext>
            </a:extLst>
          </p:cNvPr>
          <p:cNvSpPr txBox="1"/>
          <p:nvPr/>
        </p:nvSpPr>
        <p:spPr>
          <a:xfrm rot="19357102">
            <a:off x="5682136" y="1244135"/>
            <a:ext cx="743865" cy="3679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less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C605F40-5CFE-53FC-16F3-93AE1CC68659}"/>
              </a:ext>
            </a:extLst>
          </p:cNvPr>
          <p:cNvSpPr txBox="1"/>
          <p:nvPr/>
        </p:nvSpPr>
        <p:spPr>
          <a:xfrm rot="19357102">
            <a:off x="5109676" y="5120169"/>
            <a:ext cx="743865" cy="3679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more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A2F7CADD-D641-12AD-68C5-B91331E36A8E}"/>
              </a:ext>
            </a:extLst>
          </p:cNvPr>
          <p:cNvSpPr/>
          <p:nvPr/>
        </p:nvSpPr>
        <p:spPr>
          <a:xfrm>
            <a:off x="3969785" y="1679405"/>
            <a:ext cx="3241555" cy="706004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5288AC72-A069-7FCA-ABC4-B462B6CC15FF}"/>
              </a:ext>
            </a:extLst>
          </p:cNvPr>
          <p:cNvSpPr/>
          <p:nvPr/>
        </p:nvSpPr>
        <p:spPr>
          <a:xfrm>
            <a:off x="4085069" y="4337941"/>
            <a:ext cx="3241555" cy="706004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31E8214-212B-5382-F5AE-4753C959478A}"/>
              </a:ext>
            </a:extLst>
          </p:cNvPr>
          <p:cNvSpPr txBox="1"/>
          <p:nvPr/>
        </p:nvSpPr>
        <p:spPr>
          <a:xfrm rot="19357102">
            <a:off x="6576272" y="5033863"/>
            <a:ext cx="743865" cy="36793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more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99D3D99-82AF-9EE9-5BEE-C4180A14CAE5}"/>
              </a:ext>
            </a:extLst>
          </p:cNvPr>
          <p:cNvSpPr txBox="1"/>
          <p:nvPr/>
        </p:nvSpPr>
        <p:spPr>
          <a:xfrm rot="19357102">
            <a:off x="6661860" y="1358421"/>
            <a:ext cx="743865" cy="36793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less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B39EFF7-1653-028D-BA3E-B2D0811D8712}"/>
                  </a:ext>
                </a:extLst>
              </p:cNvPr>
              <p:cNvSpPr txBox="1"/>
              <p:nvPr/>
            </p:nvSpPr>
            <p:spPr>
              <a:xfrm>
                <a:off x="4314043" y="1808373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B39EFF7-1653-028D-BA3E-B2D0811D87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043" y="1808373"/>
                <a:ext cx="419100" cy="4299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D1B522D-864D-8CCC-5946-C474C50B9F8C}"/>
                  </a:ext>
                </a:extLst>
              </p:cNvPr>
              <p:cNvSpPr txBox="1"/>
              <p:nvPr/>
            </p:nvSpPr>
            <p:spPr>
              <a:xfrm>
                <a:off x="7512495" y="1808373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D1B522D-864D-8CCC-5946-C474C50B9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495" y="1808373"/>
                <a:ext cx="419100" cy="4299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02482920-C34C-3B2C-40A8-A0AEC8D9C954}"/>
                  </a:ext>
                </a:extLst>
              </p:cNvPr>
              <p:cNvSpPr txBox="1"/>
              <p:nvPr/>
            </p:nvSpPr>
            <p:spPr>
              <a:xfrm>
                <a:off x="5296218" y="1819932"/>
                <a:ext cx="419100" cy="41447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02482920-C34C-3B2C-40A8-A0AEC8D9C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6218" y="1819932"/>
                <a:ext cx="419100" cy="414472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62F4F97-74CC-A20E-3AED-05DDC962834C}"/>
                  </a:ext>
                </a:extLst>
              </p:cNvPr>
              <p:cNvSpPr txBox="1"/>
              <p:nvPr/>
            </p:nvSpPr>
            <p:spPr>
              <a:xfrm>
                <a:off x="6383351" y="1810949"/>
                <a:ext cx="419100" cy="41562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62F4F97-74CC-A20E-3AED-05DDC9628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351" y="1810949"/>
                <a:ext cx="419100" cy="415627"/>
              </a:xfrm>
              <a:prstGeom prst="rect">
                <a:avLst/>
              </a:prstGeom>
              <a:blipFill>
                <a:blip r:embed="rId7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93DF503-DCF0-0399-72F9-A85BC2FFD409}"/>
                  </a:ext>
                </a:extLst>
              </p:cNvPr>
              <p:cNvSpPr txBox="1"/>
              <p:nvPr/>
            </p:nvSpPr>
            <p:spPr>
              <a:xfrm>
                <a:off x="4417343" y="4474992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93DF503-DCF0-0399-72F9-A85BC2FFD4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343" y="4474992"/>
                <a:ext cx="419100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31A12D5-A28B-90C3-C97B-0B45CEC8C3DF}"/>
                  </a:ext>
                </a:extLst>
              </p:cNvPr>
              <p:cNvSpPr txBox="1"/>
              <p:nvPr/>
            </p:nvSpPr>
            <p:spPr>
              <a:xfrm>
                <a:off x="5296222" y="4476153"/>
                <a:ext cx="419100" cy="41953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31A12D5-A28B-90C3-C97B-0B45CEC8C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6222" y="4476153"/>
                <a:ext cx="419100" cy="419538"/>
              </a:xfrm>
              <a:prstGeom prst="rect">
                <a:avLst/>
              </a:prstGeom>
              <a:blipFill>
                <a:blip r:embed="rId9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2F2A9978-5251-D93E-7D26-5DC36E7E5278}"/>
                  </a:ext>
                </a:extLst>
              </p:cNvPr>
              <p:cNvSpPr txBox="1"/>
              <p:nvPr/>
            </p:nvSpPr>
            <p:spPr>
              <a:xfrm>
                <a:off x="6429745" y="4476467"/>
                <a:ext cx="419100" cy="41953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2F2A9978-5251-D93E-7D26-5DC36E7E5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745" y="4476467"/>
                <a:ext cx="419100" cy="419538"/>
              </a:xfrm>
              <a:prstGeom prst="rect">
                <a:avLst/>
              </a:prstGeom>
              <a:blipFill>
                <a:blip r:embed="rId10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B2B7F07C-F5A3-6F7E-239B-21D0BEEEE39A}"/>
                  </a:ext>
                </a:extLst>
              </p:cNvPr>
              <p:cNvSpPr txBox="1"/>
              <p:nvPr/>
            </p:nvSpPr>
            <p:spPr>
              <a:xfrm>
                <a:off x="7635371" y="4476130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B2B7F07C-F5A3-6F7E-239B-21D0BEEEE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371" y="4476130"/>
                <a:ext cx="419100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690FDF6B-BB5A-082E-C453-0BE03F9B7525}"/>
              </a:ext>
            </a:extLst>
          </p:cNvPr>
          <p:cNvSpPr txBox="1"/>
          <p:nvPr/>
        </p:nvSpPr>
        <p:spPr>
          <a:xfrm rot="2522472">
            <a:off x="8794268" y="3100460"/>
            <a:ext cx="2780220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Here we’ve modeled the difference as VERY SLIGHT</a:t>
            </a:r>
          </a:p>
        </p:txBody>
      </p:sp>
    </p:spTree>
    <p:extLst>
      <p:ext uri="{BB962C8B-B14F-4D97-AF65-F5344CB8AC3E}">
        <p14:creationId xmlns:p14="http://schemas.microsoft.com/office/powerpoint/2010/main" val="7795515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9DF0E-00EB-D071-56FD-957883843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3FC0D-20F6-7160-29F7-CB47EF0D8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23978B-C84E-FE7F-9215-3419ED8D7AD2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059F45-9959-B080-5D3E-32118086C145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11FE40-5671-2E12-F159-03893868F6D7}"/>
              </a:ext>
            </a:extLst>
          </p:cNvPr>
          <p:cNvSpPr txBox="1"/>
          <p:nvPr/>
        </p:nvSpPr>
        <p:spPr>
          <a:xfrm>
            <a:off x="4343400" y="709377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model of these two uncertainties in which a military that would succeed when attempting a coup is more likely to perform well against an opposing force than a military that would fail when attempting a coup.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E2CFF4-D420-55E8-8399-F0A9E2C64206}"/>
              </a:ext>
            </a:extLst>
          </p:cNvPr>
          <p:cNvSpPr txBox="1"/>
          <p:nvPr/>
        </p:nvSpPr>
        <p:spPr>
          <a:xfrm>
            <a:off x="4343400" y="1687454"/>
            <a:ext cx="7038975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Marginal-Conditional Method– JUST SAY YES!!!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264B53-6AD7-33C0-5755-2E3D2FC6821E}"/>
              </a:ext>
            </a:extLst>
          </p:cNvPr>
          <p:cNvSpPr txBox="1"/>
          <p:nvPr/>
        </p:nvSpPr>
        <p:spPr>
          <a:xfrm rot="19677942">
            <a:off x="-270553" y="2483552"/>
            <a:ext cx="5134418" cy="92333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Step 2:  Model uncertainty about success against opposing miiltaries, conditional on knowledge of outcome of a coup attempt.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75884E-AFCC-80F4-618E-C12C7FEE8897}"/>
              </a:ext>
            </a:extLst>
          </p:cNvPr>
          <p:cNvCxnSpPr>
            <a:cxnSpLocks/>
          </p:cNvCxnSpPr>
          <p:nvPr/>
        </p:nvCxnSpPr>
        <p:spPr>
          <a:xfrm flipV="1">
            <a:off x="4533144" y="3354838"/>
            <a:ext cx="2200275" cy="1130452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29A40C2-8C8F-7DE8-A11E-508CCE2A9B08}"/>
              </a:ext>
            </a:extLst>
          </p:cNvPr>
          <p:cNvSpPr txBox="1"/>
          <p:nvPr/>
        </p:nvSpPr>
        <p:spPr>
          <a:xfrm rot="19913270">
            <a:off x="4600155" y="3899264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75488F-0986-AB3C-8CC3-113688C95F32}"/>
              </a:ext>
            </a:extLst>
          </p:cNvPr>
          <p:cNvCxnSpPr>
            <a:cxnSpLocks/>
          </p:cNvCxnSpPr>
          <p:nvPr/>
        </p:nvCxnSpPr>
        <p:spPr>
          <a:xfrm>
            <a:off x="4522231" y="4582175"/>
            <a:ext cx="2019300" cy="149147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F6FB23B-2078-AAA4-4CA6-EADB6CE6B990}"/>
              </a:ext>
            </a:extLst>
          </p:cNvPr>
          <p:cNvSpPr txBox="1"/>
          <p:nvPr/>
        </p:nvSpPr>
        <p:spPr>
          <a:xfrm rot="2210112">
            <a:off x="4580614" y="5519727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FB38A7F-263F-8551-A3F9-509F8ED5AA34}"/>
                  </a:ext>
                </a:extLst>
              </p:cNvPr>
              <p:cNvSpPr txBox="1"/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FB38A7F-263F-8551-A3F9-509F8ED5A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4FEDB05-5D26-CFF8-9D5C-432563333E4D}"/>
                  </a:ext>
                </a:extLst>
              </p:cNvPr>
              <p:cNvSpPr txBox="1"/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4FEDB05-5D26-CFF8-9D5C-432563333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C7BFEB8-D222-137A-0BD8-FB548EC1588F}"/>
              </a:ext>
            </a:extLst>
          </p:cNvPr>
          <p:cNvSpPr txBox="1"/>
          <p:nvPr/>
        </p:nvSpPr>
        <p:spPr>
          <a:xfrm>
            <a:off x="7448550" y="2186704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57C077-E072-A360-8349-E98BF86AEEAB}"/>
              </a:ext>
            </a:extLst>
          </p:cNvPr>
          <p:cNvSpPr txBox="1"/>
          <p:nvPr/>
        </p:nvSpPr>
        <p:spPr>
          <a:xfrm>
            <a:off x="7592983" y="2490201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CC0059-EC82-069C-52CD-A8EC37DB1EE3}"/>
              </a:ext>
            </a:extLst>
          </p:cNvPr>
          <p:cNvSpPr txBox="1"/>
          <p:nvPr/>
        </p:nvSpPr>
        <p:spPr>
          <a:xfrm>
            <a:off x="8475566" y="2362783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4C6A0A-21EF-433B-796E-77EBD14587EC}"/>
              </a:ext>
            </a:extLst>
          </p:cNvPr>
          <p:cNvSpPr txBox="1"/>
          <p:nvPr/>
        </p:nvSpPr>
        <p:spPr>
          <a:xfrm>
            <a:off x="9685619" y="2455117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4099A7-1B8F-ED81-387C-81C6D49E4605}"/>
              </a:ext>
            </a:extLst>
          </p:cNvPr>
          <p:cNvSpPr txBox="1"/>
          <p:nvPr/>
        </p:nvSpPr>
        <p:spPr>
          <a:xfrm>
            <a:off x="10705837" y="2463703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4902B5-7A50-59AD-8EF1-67714EF26CE2}"/>
              </a:ext>
            </a:extLst>
          </p:cNvPr>
          <p:cNvSpPr/>
          <p:nvPr/>
        </p:nvSpPr>
        <p:spPr>
          <a:xfrm>
            <a:off x="7477432" y="2945216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AD61008-00B0-7855-1F62-EE15C4495DD6}"/>
              </a:ext>
            </a:extLst>
          </p:cNvPr>
          <p:cNvCxnSpPr>
            <a:cxnSpLocks/>
          </p:cNvCxnSpPr>
          <p:nvPr/>
        </p:nvCxnSpPr>
        <p:spPr>
          <a:xfrm>
            <a:off x="84226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3E5F37-9E7A-D1FB-41C9-7E7A347570EC}"/>
              </a:ext>
            </a:extLst>
          </p:cNvPr>
          <p:cNvCxnSpPr>
            <a:cxnSpLocks/>
          </p:cNvCxnSpPr>
          <p:nvPr/>
        </p:nvCxnSpPr>
        <p:spPr>
          <a:xfrm>
            <a:off x="950849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66B84A2-E333-5508-43BE-F670263BDDF0}"/>
              </a:ext>
            </a:extLst>
          </p:cNvPr>
          <p:cNvCxnSpPr>
            <a:cxnSpLocks/>
          </p:cNvCxnSpPr>
          <p:nvPr/>
        </p:nvCxnSpPr>
        <p:spPr>
          <a:xfrm>
            <a:off x="105943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21AD028-CA7B-73F5-CAB6-0560C023776B}"/>
              </a:ext>
            </a:extLst>
          </p:cNvPr>
          <p:cNvSpPr txBox="1"/>
          <p:nvPr/>
        </p:nvSpPr>
        <p:spPr>
          <a:xfrm rot="16200000">
            <a:off x="6190005" y="3283345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0E3E68-1343-D76B-64FD-FE0CA5D98189}"/>
              </a:ext>
            </a:extLst>
          </p:cNvPr>
          <p:cNvSpPr txBox="1"/>
          <p:nvPr/>
        </p:nvSpPr>
        <p:spPr>
          <a:xfrm rot="16200000">
            <a:off x="7038283" y="3585534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F88446-5D5D-BBA9-E6FE-58836BF4BF9B}"/>
              </a:ext>
            </a:extLst>
          </p:cNvPr>
          <p:cNvSpPr txBox="1"/>
          <p:nvPr/>
        </p:nvSpPr>
        <p:spPr>
          <a:xfrm rot="16200000">
            <a:off x="6910639" y="3032087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DB3C15-69A7-B426-73DF-2C6E7B746776}"/>
              </a:ext>
            </a:extLst>
          </p:cNvPr>
          <p:cNvSpPr/>
          <p:nvPr/>
        </p:nvSpPr>
        <p:spPr>
          <a:xfrm>
            <a:off x="7477432" y="3477211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AA768E-6400-7320-B18F-D1B1CEB00FBF}"/>
              </a:ext>
            </a:extLst>
          </p:cNvPr>
          <p:cNvSpPr txBox="1"/>
          <p:nvPr/>
        </p:nvSpPr>
        <p:spPr>
          <a:xfrm>
            <a:off x="7430826" y="4862143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A7E71F-F74F-6FB9-0A00-C84679E1088C}"/>
              </a:ext>
            </a:extLst>
          </p:cNvPr>
          <p:cNvSpPr txBox="1"/>
          <p:nvPr/>
        </p:nvSpPr>
        <p:spPr>
          <a:xfrm>
            <a:off x="7575259" y="5165640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38CFF3-DB53-40B4-3BD6-1ECC2BB5315A}"/>
              </a:ext>
            </a:extLst>
          </p:cNvPr>
          <p:cNvSpPr txBox="1"/>
          <p:nvPr/>
        </p:nvSpPr>
        <p:spPr>
          <a:xfrm>
            <a:off x="8457842" y="5038222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ECFCF5-B57E-AFE4-E02F-C31590A9E1D4}"/>
              </a:ext>
            </a:extLst>
          </p:cNvPr>
          <p:cNvSpPr txBox="1"/>
          <p:nvPr/>
        </p:nvSpPr>
        <p:spPr>
          <a:xfrm>
            <a:off x="9667895" y="5130556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69172F-2C97-E5CD-140D-F80EE61B6CEF}"/>
              </a:ext>
            </a:extLst>
          </p:cNvPr>
          <p:cNvSpPr txBox="1"/>
          <p:nvPr/>
        </p:nvSpPr>
        <p:spPr>
          <a:xfrm>
            <a:off x="10688113" y="5139142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9AC571-E76F-E6E9-0006-F67DF3523199}"/>
              </a:ext>
            </a:extLst>
          </p:cNvPr>
          <p:cNvSpPr/>
          <p:nvPr/>
        </p:nvSpPr>
        <p:spPr>
          <a:xfrm>
            <a:off x="7459708" y="5620655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2825A23-874E-BFA1-B284-F0ADA30D8AC9}"/>
              </a:ext>
            </a:extLst>
          </p:cNvPr>
          <p:cNvCxnSpPr>
            <a:cxnSpLocks/>
          </p:cNvCxnSpPr>
          <p:nvPr/>
        </p:nvCxnSpPr>
        <p:spPr>
          <a:xfrm>
            <a:off x="84049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484A98-A732-B37E-E1B0-9E05905C46CB}"/>
              </a:ext>
            </a:extLst>
          </p:cNvPr>
          <p:cNvCxnSpPr>
            <a:cxnSpLocks/>
          </p:cNvCxnSpPr>
          <p:nvPr/>
        </p:nvCxnSpPr>
        <p:spPr>
          <a:xfrm>
            <a:off x="949076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A14170C-627B-BE71-9B9A-1926BA0A3190}"/>
              </a:ext>
            </a:extLst>
          </p:cNvPr>
          <p:cNvCxnSpPr>
            <a:cxnSpLocks/>
          </p:cNvCxnSpPr>
          <p:nvPr/>
        </p:nvCxnSpPr>
        <p:spPr>
          <a:xfrm>
            <a:off x="105766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5BDA61D-9371-723A-8508-BA73BC21A177}"/>
              </a:ext>
            </a:extLst>
          </p:cNvPr>
          <p:cNvSpPr txBox="1"/>
          <p:nvPr/>
        </p:nvSpPr>
        <p:spPr>
          <a:xfrm rot="16200000">
            <a:off x="6172281" y="595878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0B15C1-10DE-4019-CDD7-6A9DDB54D8B5}"/>
              </a:ext>
            </a:extLst>
          </p:cNvPr>
          <p:cNvSpPr txBox="1"/>
          <p:nvPr/>
        </p:nvSpPr>
        <p:spPr>
          <a:xfrm rot="16200000">
            <a:off x="7020559" y="6260973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50FEF5F-9E31-E8ED-F1E5-17B9B6F540C5}"/>
              </a:ext>
            </a:extLst>
          </p:cNvPr>
          <p:cNvSpPr txBox="1"/>
          <p:nvPr/>
        </p:nvSpPr>
        <p:spPr>
          <a:xfrm rot="16200000">
            <a:off x="6892915" y="5707526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6192576-1F1A-3C86-2B50-694520C9404D}"/>
              </a:ext>
            </a:extLst>
          </p:cNvPr>
          <p:cNvSpPr/>
          <p:nvPr/>
        </p:nvSpPr>
        <p:spPr>
          <a:xfrm>
            <a:off x="7459708" y="5612069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C323BDB-AA72-B14D-E410-5C1DA3440BCD}"/>
              </a:ext>
            </a:extLst>
          </p:cNvPr>
          <p:cNvCxnSpPr/>
          <p:nvPr/>
        </p:nvCxnSpPr>
        <p:spPr>
          <a:xfrm>
            <a:off x="8810625" y="1047750"/>
            <a:ext cx="2362200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90DF93F-03ED-0BF8-3700-69B1D36F8596}"/>
              </a:ext>
            </a:extLst>
          </p:cNvPr>
          <p:cNvCxnSpPr>
            <a:cxnSpLocks/>
          </p:cNvCxnSpPr>
          <p:nvPr/>
        </p:nvCxnSpPr>
        <p:spPr>
          <a:xfrm>
            <a:off x="4389866" y="1309542"/>
            <a:ext cx="69747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CA825C1-DE8C-639F-4F29-EDE236B4030F}"/>
              </a:ext>
            </a:extLst>
          </p:cNvPr>
          <p:cNvCxnSpPr>
            <a:cxnSpLocks/>
          </p:cNvCxnSpPr>
          <p:nvPr/>
        </p:nvCxnSpPr>
        <p:spPr>
          <a:xfrm>
            <a:off x="4512365" y="1632707"/>
            <a:ext cx="46125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3306B4A3-170C-80ED-9C8A-9E0D10ABAF00}"/>
              </a:ext>
            </a:extLst>
          </p:cNvPr>
          <p:cNvSpPr/>
          <p:nvPr/>
        </p:nvSpPr>
        <p:spPr>
          <a:xfrm>
            <a:off x="0" y="0"/>
            <a:ext cx="12192000" cy="6835141"/>
          </a:xfrm>
          <a:prstGeom prst="rect">
            <a:avLst/>
          </a:prstGeom>
          <a:solidFill>
            <a:srgbClr val="5E5E5E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6B626C0-18AC-76BD-644D-1B251A8E0C0B}"/>
              </a:ext>
            </a:extLst>
          </p:cNvPr>
          <p:cNvSpPr/>
          <p:nvPr/>
        </p:nvSpPr>
        <p:spPr>
          <a:xfrm>
            <a:off x="1524000" y="709377"/>
            <a:ext cx="9059337" cy="49026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E92AE26-79E8-EFA7-557C-120094B15C6B}"/>
              </a:ext>
            </a:extLst>
          </p:cNvPr>
          <p:cNvSpPr txBox="1"/>
          <p:nvPr/>
        </p:nvSpPr>
        <p:spPr>
          <a:xfrm>
            <a:off x="4028017" y="976556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3190F5-AE68-776A-F66A-948E7AAE348C}"/>
              </a:ext>
            </a:extLst>
          </p:cNvPr>
          <p:cNvSpPr txBox="1"/>
          <p:nvPr/>
        </p:nvSpPr>
        <p:spPr>
          <a:xfrm>
            <a:off x="4172450" y="1280053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C4917D5-176D-5526-B418-CB629524674F}"/>
              </a:ext>
            </a:extLst>
          </p:cNvPr>
          <p:cNvSpPr txBox="1"/>
          <p:nvPr/>
        </p:nvSpPr>
        <p:spPr>
          <a:xfrm>
            <a:off x="5055033" y="1152635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9A12E72-C799-5898-2B86-3760D7329AC8}"/>
              </a:ext>
            </a:extLst>
          </p:cNvPr>
          <p:cNvSpPr txBox="1"/>
          <p:nvPr/>
        </p:nvSpPr>
        <p:spPr>
          <a:xfrm>
            <a:off x="6265086" y="1244969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D16F249-8DA8-FF5B-B4D7-79E8C84A3CF6}"/>
              </a:ext>
            </a:extLst>
          </p:cNvPr>
          <p:cNvSpPr txBox="1"/>
          <p:nvPr/>
        </p:nvSpPr>
        <p:spPr>
          <a:xfrm>
            <a:off x="7285304" y="1253555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FCB4B9D-0040-F579-50EB-66F94008BEF7}"/>
              </a:ext>
            </a:extLst>
          </p:cNvPr>
          <p:cNvSpPr/>
          <p:nvPr/>
        </p:nvSpPr>
        <p:spPr>
          <a:xfrm>
            <a:off x="4056899" y="1735068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4B8BE91-8463-3E61-552F-0712751E61F1}"/>
              </a:ext>
            </a:extLst>
          </p:cNvPr>
          <p:cNvCxnSpPr>
            <a:cxnSpLocks/>
          </p:cNvCxnSpPr>
          <p:nvPr/>
        </p:nvCxnSpPr>
        <p:spPr>
          <a:xfrm>
            <a:off x="500210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6E01173-40DA-6DD1-08F1-0DCEBC57089C}"/>
              </a:ext>
            </a:extLst>
          </p:cNvPr>
          <p:cNvCxnSpPr>
            <a:cxnSpLocks/>
          </p:cNvCxnSpPr>
          <p:nvPr/>
        </p:nvCxnSpPr>
        <p:spPr>
          <a:xfrm>
            <a:off x="608795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21EC870-336B-31D6-306D-B73F040C72CC}"/>
              </a:ext>
            </a:extLst>
          </p:cNvPr>
          <p:cNvCxnSpPr>
            <a:cxnSpLocks/>
          </p:cNvCxnSpPr>
          <p:nvPr/>
        </p:nvCxnSpPr>
        <p:spPr>
          <a:xfrm>
            <a:off x="717380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03B10BF6-A824-2BF5-1B52-516A665DD81E}"/>
              </a:ext>
            </a:extLst>
          </p:cNvPr>
          <p:cNvSpPr txBox="1"/>
          <p:nvPr/>
        </p:nvSpPr>
        <p:spPr>
          <a:xfrm rot="16200000">
            <a:off x="2769472" y="2073197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D6EF92-C583-A866-3265-A2427C7DBFA0}"/>
              </a:ext>
            </a:extLst>
          </p:cNvPr>
          <p:cNvSpPr txBox="1"/>
          <p:nvPr/>
        </p:nvSpPr>
        <p:spPr>
          <a:xfrm rot="16200000">
            <a:off x="3617750" y="2375386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824C961-6ABF-A686-EDBA-AB5F698DE6A2}"/>
              </a:ext>
            </a:extLst>
          </p:cNvPr>
          <p:cNvSpPr txBox="1"/>
          <p:nvPr/>
        </p:nvSpPr>
        <p:spPr>
          <a:xfrm rot="16200000">
            <a:off x="3490106" y="1821939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575FCE0-AC42-7514-03C6-72FB55305558}"/>
              </a:ext>
            </a:extLst>
          </p:cNvPr>
          <p:cNvSpPr/>
          <p:nvPr/>
        </p:nvSpPr>
        <p:spPr>
          <a:xfrm>
            <a:off x="4056899" y="2267063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2F3D5A3-2AB4-DB8C-B697-F104FBFDBB15}"/>
              </a:ext>
            </a:extLst>
          </p:cNvPr>
          <p:cNvSpPr txBox="1"/>
          <p:nvPr/>
        </p:nvSpPr>
        <p:spPr>
          <a:xfrm>
            <a:off x="4101741" y="313867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1682FCB-C426-7412-3AF2-14B0193FB34B}"/>
              </a:ext>
            </a:extLst>
          </p:cNvPr>
          <p:cNvSpPr txBox="1"/>
          <p:nvPr/>
        </p:nvSpPr>
        <p:spPr>
          <a:xfrm>
            <a:off x="4246174" y="3442172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EF20028-6378-5873-FD26-86F8A6E4E71D}"/>
              </a:ext>
            </a:extLst>
          </p:cNvPr>
          <p:cNvSpPr txBox="1"/>
          <p:nvPr/>
        </p:nvSpPr>
        <p:spPr>
          <a:xfrm>
            <a:off x="5128757" y="331475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D57F159-C939-1EDC-887E-FB09F0F260AC}"/>
              </a:ext>
            </a:extLst>
          </p:cNvPr>
          <p:cNvSpPr txBox="1"/>
          <p:nvPr/>
        </p:nvSpPr>
        <p:spPr>
          <a:xfrm>
            <a:off x="6338810" y="3407088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2EA7191-D1C9-0B39-8D92-D7A37763AF5B}"/>
              </a:ext>
            </a:extLst>
          </p:cNvPr>
          <p:cNvSpPr txBox="1"/>
          <p:nvPr/>
        </p:nvSpPr>
        <p:spPr>
          <a:xfrm>
            <a:off x="7359028" y="3415674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8A79FC6-4AF1-0140-F984-5AF7F6A0C7F4}"/>
              </a:ext>
            </a:extLst>
          </p:cNvPr>
          <p:cNvSpPr/>
          <p:nvPr/>
        </p:nvSpPr>
        <p:spPr>
          <a:xfrm>
            <a:off x="4130623" y="3897187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3CCE323-4E72-3794-8EED-9F002B3185B6}"/>
              </a:ext>
            </a:extLst>
          </p:cNvPr>
          <p:cNvCxnSpPr>
            <a:cxnSpLocks/>
          </p:cNvCxnSpPr>
          <p:nvPr/>
        </p:nvCxnSpPr>
        <p:spPr>
          <a:xfrm>
            <a:off x="507583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2F736CF-A2F0-7824-67BC-EB1C6CBEA411}"/>
              </a:ext>
            </a:extLst>
          </p:cNvPr>
          <p:cNvCxnSpPr>
            <a:cxnSpLocks/>
          </p:cNvCxnSpPr>
          <p:nvPr/>
        </p:nvCxnSpPr>
        <p:spPr>
          <a:xfrm>
            <a:off x="616168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639F0C6-5687-3149-F36B-5D207A7C6BCE}"/>
              </a:ext>
            </a:extLst>
          </p:cNvPr>
          <p:cNvCxnSpPr>
            <a:cxnSpLocks/>
          </p:cNvCxnSpPr>
          <p:nvPr/>
        </p:nvCxnSpPr>
        <p:spPr>
          <a:xfrm>
            <a:off x="724753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88FB6086-7042-1653-6E9D-6C780D506AAC}"/>
              </a:ext>
            </a:extLst>
          </p:cNvPr>
          <p:cNvSpPr txBox="1"/>
          <p:nvPr/>
        </p:nvSpPr>
        <p:spPr>
          <a:xfrm rot="16200000">
            <a:off x="2843196" y="4235316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4F2BA78-66B2-9A05-7F3D-03620AC9ADD6}"/>
              </a:ext>
            </a:extLst>
          </p:cNvPr>
          <p:cNvSpPr txBox="1"/>
          <p:nvPr/>
        </p:nvSpPr>
        <p:spPr>
          <a:xfrm rot="16200000">
            <a:off x="3691474" y="453750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0437613-86FB-76ED-D12F-DB8C570F2E7A}"/>
              </a:ext>
            </a:extLst>
          </p:cNvPr>
          <p:cNvSpPr txBox="1"/>
          <p:nvPr/>
        </p:nvSpPr>
        <p:spPr>
          <a:xfrm rot="16200000">
            <a:off x="3563830" y="3984058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9FD91A8-89B3-D8D0-F9F2-0BE3D0601FFB}"/>
              </a:ext>
            </a:extLst>
          </p:cNvPr>
          <p:cNvSpPr/>
          <p:nvPr/>
        </p:nvSpPr>
        <p:spPr>
          <a:xfrm>
            <a:off x="4130623" y="3886484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9F9CBFD-D93B-1526-FCE6-3199A09B64C3}"/>
              </a:ext>
            </a:extLst>
          </p:cNvPr>
          <p:cNvSpPr txBox="1"/>
          <p:nvPr/>
        </p:nvSpPr>
        <p:spPr>
          <a:xfrm>
            <a:off x="8475566" y="1916996"/>
            <a:ext cx="2240495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“More likely to be more successful”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5FA30B9-74DC-AA6E-6399-D0ACB67CD751}"/>
              </a:ext>
            </a:extLst>
          </p:cNvPr>
          <p:cNvSpPr txBox="1"/>
          <p:nvPr/>
        </p:nvSpPr>
        <p:spPr>
          <a:xfrm>
            <a:off x="8580052" y="4038210"/>
            <a:ext cx="2240495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“Less likely to be more successful”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1D43984-E614-3E5A-9D7A-E893BE80808B}"/>
              </a:ext>
            </a:extLst>
          </p:cNvPr>
          <p:cNvSpPr txBox="1"/>
          <p:nvPr/>
        </p:nvSpPr>
        <p:spPr>
          <a:xfrm rot="19699172">
            <a:off x="-29169" y="514279"/>
            <a:ext cx="2533654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/>
              <a:t>How do we assign probabilities to model this?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CD6F268-55D6-6FE5-129A-8E895295586D}"/>
              </a:ext>
            </a:extLst>
          </p:cNvPr>
          <p:cNvSpPr/>
          <p:nvPr/>
        </p:nvSpPr>
        <p:spPr>
          <a:xfrm>
            <a:off x="3933825" y="1530554"/>
            <a:ext cx="1142007" cy="933147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0B5A1C25-9F46-7058-4FE4-63D935E8282A}"/>
              </a:ext>
            </a:extLst>
          </p:cNvPr>
          <p:cNvSpPr/>
          <p:nvPr/>
        </p:nvSpPr>
        <p:spPr>
          <a:xfrm>
            <a:off x="4029363" y="4197119"/>
            <a:ext cx="1142007" cy="933147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70FB116-3A07-E003-FD68-F7980F7D0007}"/>
              </a:ext>
            </a:extLst>
          </p:cNvPr>
          <p:cNvSpPr txBox="1"/>
          <p:nvPr/>
        </p:nvSpPr>
        <p:spPr>
          <a:xfrm rot="19357102">
            <a:off x="3312942" y="1522777"/>
            <a:ext cx="743865" cy="3679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less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5F110F9-D17D-3B8F-0A71-888832C029EB}"/>
              </a:ext>
            </a:extLst>
          </p:cNvPr>
          <p:cNvSpPr txBox="1"/>
          <p:nvPr/>
        </p:nvSpPr>
        <p:spPr>
          <a:xfrm rot="19357102">
            <a:off x="3276628" y="4320356"/>
            <a:ext cx="743865" cy="3679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more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B996D69-5722-F9F2-6FFD-7252E347202B}"/>
              </a:ext>
            </a:extLst>
          </p:cNvPr>
          <p:cNvSpPr/>
          <p:nvPr/>
        </p:nvSpPr>
        <p:spPr>
          <a:xfrm>
            <a:off x="4006507" y="1660450"/>
            <a:ext cx="2146711" cy="706004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0052D2C-0F26-D946-6469-483C0885F4C4}"/>
              </a:ext>
            </a:extLst>
          </p:cNvPr>
          <p:cNvSpPr/>
          <p:nvPr/>
        </p:nvSpPr>
        <p:spPr>
          <a:xfrm>
            <a:off x="4035087" y="4336706"/>
            <a:ext cx="2146711" cy="706004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CAFF38D-28FA-64E9-84B2-9C9842C76A37}"/>
              </a:ext>
            </a:extLst>
          </p:cNvPr>
          <p:cNvSpPr txBox="1"/>
          <p:nvPr/>
        </p:nvSpPr>
        <p:spPr>
          <a:xfrm rot="19357102">
            <a:off x="5682136" y="1244135"/>
            <a:ext cx="743865" cy="3679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less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0946817-A237-7E8E-7648-044F4A7D39EC}"/>
              </a:ext>
            </a:extLst>
          </p:cNvPr>
          <p:cNvSpPr txBox="1"/>
          <p:nvPr/>
        </p:nvSpPr>
        <p:spPr>
          <a:xfrm rot="19357102">
            <a:off x="5109676" y="5120169"/>
            <a:ext cx="743865" cy="3679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more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7B72ED50-9E23-09DB-5CC3-9A3319F345C7}"/>
              </a:ext>
            </a:extLst>
          </p:cNvPr>
          <p:cNvSpPr/>
          <p:nvPr/>
        </p:nvSpPr>
        <p:spPr>
          <a:xfrm>
            <a:off x="3969785" y="1679405"/>
            <a:ext cx="3241555" cy="706004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07A2B0C4-89B2-8319-B6DD-139A50B0959A}"/>
              </a:ext>
            </a:extLst>
          </p:cNvPr>
          <p:cNvSpPr/>
          <p:nvPr/>
        </p:nvSpPr>
        <p:spPr>
          <a:xfrm>
            <a:off x="4085069" y="4337941"/>
            <a:ext cx="3241555" cy="706004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BE7AD85-8379-7B84-650E-D95681DDA57E}"/>
              </a:ext>
            </a:extLst>
          </p:cNvPr>
          <p:cNvSpPr txBox="1"/>
          <p:nvPr/>
        </p:nvSpPr>
        <p:spPr>
          <a:xfrm rot="19357102">
            <a:off x="6576272" y="5033863"/>
            <a:ext cx="743865" cy="36793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more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FA26A52-1F1B-E60E-E25C-082A212BF5A5}"/>
              </a:ext>
            </a:extLst>
          </p:cNvPr>
          <p:cNvSpPr txBox="1"/>
          <p:nvPr/>
        </p:nvSpPr>
        <p:spPr>
          <a:xfrm rot="19357102">
            <a:off x="6661860" y="1358421"/>
            <a:ext cx="743865" cy="36793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less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4F956A8-464D-7981-FD58-CD3306536433}"/>
                  </a:ext>
                </a:extLst>
              </p:cNvPr>
              <p:cNvSpPr txBox="1"/>
              <p:nvPr/>
            </p:nvSpPr>
            <p:spPr>
              <a:xfrm>
                <a:off x="4314043" y="1808373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4F956A8-464D-7981-FD58-CD3306536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043" y="1808373"/>
                <a:ext cx="419100" cy="4299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5985CD6-864C-4E60-1CAB-B01540719D8B}"/>
                  </a:ext>
                </a:extLst>
              </p:cNvPr>
              <p:cNvSpPr txBox="1"/>
              <p:nvPr/>
            </p:nvSpPr>
            <p:spPr>
              <a:xfrm>
                <a:off x="7512495" y="1808373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5985CD6-864C-4E60-1CAB-B01540719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495" y="1808373"/>
                <a:ext cx="419100" cy="4299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DAAB1AFB-65AE-D10B-C0E7-5E7C3FDA5866}"/>
                  </a:ext>
                </a:extLst>
              </p:cNvPr>
              <p:cNvSpPr txBox="1"/>
              <p:nvPr/>
            </p:nvSpPr>
            <p:spPr>
              <a:xfrm>
                <a:off x="5296218" y="1819932"/>
                <a:ext cx="419100" cy="41447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DAAB1AFB-65AE-D10B-C0E7-5E7C3FDA5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6218" y="1819932"/>
                <a:ext cx="419100" cy="414472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446720F-BC66-F4B2-DD7F-6662F586326B}"/>
                  </a:ext>
                </a:extLst>
              </p:cNvPr>
              <p:cNvSpPr txBox="1"/>
              <p:nvPr/>
            </p:nvSpPr>
            <p:spPr>
              <a:xfrm>
                <a:off x="6383351" y="1810949"/>
                <a:ext cx="419100" cy="41562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446720F-BC66-F4B2-DD7F-6662F5863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351" y="1810949"/>
                <a:ext cx="419100" cy="415627"/>
              </a:xfrm>
              <a:prstGeom prst="rect">
                <a:avLst/>
              </a:prstGeom>
              <a:blipFill>
                <a:blip r:embed="rId7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AA0C699-031D-A150-BF7C-FE45D80B7BEC}"/>
                  </a:ext>
                </a:extLst>
              </p:cNvPr>
              <p:cNvSpPr txBox="1"/>
              <p:nvPr/>
            </p:nvSpPr>
            <p:spPr>
              <a:xfrm>
                <a:off x="4417343" y="4474992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AA0C699-031D-A150-BF7C-FE45D80B7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343" y="4474992"/>
                <a:ext cx="419100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9DC3B7D1-1458-5F9A-1E0B-6BF3B4C906DC}"/>
                  </a:ext>
                </a:extLst>
              </p:cNvPr>
              <p:cNvSpPr txBox="1"/>
              <p:nvPr/>
            </p:nvSpPr>
            <p:spPr>
              <a:xfrm>
                <a:off x="5296222" y="4476153"/>
                <a:ext cx="419100" cy="41953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9DC3B7D1-1458-5F9A-1E0B-6BF3B4C90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6222" y="4476153"/>
                <a:ext cx="419100" cy="419538"/>
              </a:xfrm>
              <a:prstGeom prst="rect">
                <a:avLst/>
              </a:prstGeom>
              <a:blipFill>
                <a:blip r:embed="rId9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A804DE99-B614-277A-D46A-2AEA48061023}"/>
                  </a:ext>
                </a:extLst>
              </p:cNvPr>
              <p:cNvSpPr txBox="1"/>
              <p:nvPr/>
            </p:nvSpPr>
            <p:spPr>
              <a:xfrm>
                <a:off x="6429745" y="4476467"/>
                <a:ext cx="419100" cy="41953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A804DE99-B614-277A-D46A-2AEA48061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745" y="4476467"/>
                <a:ext cx="419100" cy="419538"/>
              </a:xfrm>
              <a:prstGeom prst="rect">
                <a:avLst/>
              </a:prstGeom>
              <a:blipFill>
                <a:blip r:embed="rId10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994761A-1163-39DC-22B8-68B47538D99C}"/>
                  </a:ext>
                </a:extLst>
              </p:cNvPr>
              <p:cNvSpPr txBox="1"/>
              <p:nvPr/>
            </p:nvSpPr>
            <p:spPr>
              <a:xfrm>
                <a:off x="7635371" y="4476130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994761A-1163-39DC-22B8-68B47538D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371" y="4476130"/>
                <a:ext cx="419100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0F7090C3-3088-744A-246B-19D75B7C1039}"/>
              </a:ext>
            </a:extLst>
          </p:cNvPr>
          <p:cNvSpPr txBox="1"/>
          <p:nvPr/>
        </p:nvSpPr>
        <p:spPr>
          <a:xfrm rot="2522472">
            <a:off x="8794268" y="3100460"/>
            <a:ext cx="2780220" cy="64633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What if we want to make the difference very severe?</a:t>
            </a:r>
          </a:p>
        </p:txBody>
      </p:sp>
    </p:spTree>
    <p:extLst>
      <p:ext uri="{BB962C8B-B14F-4D97-AF65-F5344CB8AC3E}">
        <p14:creationId xmlns:p14="http://schemas.microsoft.com/office/powerpoint/2010/main" val="32981878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DE39F-B440-849C-CF7A-E2DFAAC55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B4A45-32A7-D3B6-1F14-E933DBAD6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4B9A50-EB0F-0AA6-60E7-6C43D554C758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206A61-A7E5-E480-B522-86867303F199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58A6DA-A1C3-D96B-4C62-9263CA45F18E}"/>
              </a:ext>
            </a:extLst>
          </p:cNvPr>
          <p:cNvSpPr txBox="1"/>
          <p:nvPr/>
        </p:nvSpPr>
        <p:spPr>
          <a:xfrm>
            <a:off x="4343400" y="709377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model of these two uncertainties in which a military that would succeed when attempting a coup is more likely to perform well against an opposing force than a military that would fail when attempting a coup.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6A2A51-63BE-5B3C-F255-523838959276}"/>
              </a:ext>
            </a:extLst>
          </p:cNvPr>
          <p:cNvSpPr txBox="1"/>
          <p:nvPr/>
        </p:nvSpPr>
        <p:spPr>
          <a:xfrm>
            <a:off x="4343400" y="1687454"/>
            <a:ext cx="7038975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Marginal-Conditional Method– JUST SAY YES!!!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3F4960-AE40-471F-542F-526BA64B4EB7}"/>
              </a:ext>
            </a:extLst>
          </p:cNvPr>
          <p:cNvSpPr txBox="1"/>
          <p:nvPr/>
        </p:nvSpPr>
        <p:spPr>
          <a:xfrm rot="19677942">
            <a:off x="-270553" y="2483552"/>
            <a:ext cx="5134418" cy="92333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Step 2:  Model uncertainty about success against opposing miiltaries, conditional on knowledge of outcome of a coup attempt.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BDAB8B-AC42-0EB0-8A1B-7D1BDDFAB9F4}"/>
              </a:ext>
            </a:extLst>
          </p:cNvPr>
          <p:cNvCxnSpPr>
            <a:cxnSpLocks/>
          </p:cNvCxnSpPr>
          <p:nvPr/>
        </p:nvCxnSpPr>
        <p:spPr>
          <a:xfrm flipV="1">
            <a:off x="4533144" y="3354838"/>
            <a:ext cx="2200275" cy="1130452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2C39F79-5D60-9602-57D6-F4E763E3DADF}"/>
              </a:ext>
            </a:extLst>
          </p:cNvPr>
          <p:cNvSpPr txBox="1"/>
          <p:nvPr/>
        </p:nvSpPr>
        <p:spPr>
          <a:xfrm rot="19913270">
            <a:off x="4600155" y="3899264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F66286C-2510-3D10-92E1-BE86CEA1B629}"/>
              </a:ext>
            </a:extLst>
          </p:cNvPr>
          <p:cNvCxnSpPr>
            <a:cxnSpLocks/>
          </p:cNvCxnSpPr>
          <p:nvPr/>
        </p:nvCxnSpPr>
        <p:spPr>
          <a:xfrm>
            <a:off x="4522231" y="4582175"/>
            <a:ext cx="2019300" cy="149147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97236E4-D2C6-C588-8C10-7A31DE9FBACA}"/>
              </a:ext>
            </a:extLst>
          </p:cNvPr>
          <p:cNvSpPr txBox="1"/>
          <p:nvPr/>
        </p:nvSpPr>
        <p:spPr>
          <a:xfrm rot="2210112">
            <a:off x="4580614" y="5519727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D74ADFB-5A0D-4757-D99C-9CF5CA62C07B}"/>
                  </a:ext>
                </a:extLst>
              </p:cNvPr>
              <p:cNvSpPr txBox="1"/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D74ADFB-5A0D-4757-D99C-9CF5CA62C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03D5C8A-45BF-8809-B00D-2718D850158A}"/>
                  </a:ext>
                </a:extLst>
              </p:cNvPr>
              <p:cNvSpPr txBox="1"/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03D5C8A-45BF-8809-B00D-2718D8501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7D28E00-A5A7-E60C-14D0-E2D79BAF945C}"/>
              </a:ext>
            </a:extLst>
          </p:cNvPr>
          <p:cNvSpPr txBox="1"/>
          <p:nvPr/>
        </p:nvSpPr>
        <p:spPr>
          <a:xfrm>
            <a:off x="7448550" y="2186704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1CBEE2-6AD2-9B14-C483-E4B96FE028CF}"/>
              </a:ext>
            </a:extLst>
          </p:cNvPr>
          <p:cNvSpPr txBox="1"/>
          <p:nvPr/>
        </p:nvSpPr>
        <p:spPr>
          <a:xfrm>
            <a:off x="7592983" y="2490201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4B5DF5-649D-9621-BA8F-31E9681ED531}"/>
              </a:ext>
            </a:extLst>
          </p:cNvPr>
          <p:cNvSpPr txBox="1"/>
          <p:nvPr/>
        </p:nvSpPr>
        <p:spPr>
          <a:xfrm>
            <a:off x="8475566" y="2362783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8CD1C0-7DA1-FE9D-0C3E-DB3742E6EA99}"/>
              </a:ext>
            </a:extLst>
          </p:cNvPr>
          <p:cNvSpPr txBox="1"/>
          <p:nvPr/>
        </p:nvSpPr>
        <p:spPr>
          <a:xfrm>
            <a:off x="9685619" y="2455117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1CE1C3-8BF8-D04A-ED1C-A466299006B5}"/>
              </a:ext>
            </a:extLst>
          </p:cNvPr>
          <p:cNvSpPr txBox="1"/>
          <p:nvPr/>
        </p:nvSpPr>
        <p:spPr>
          <a:xfrm>
            <a:off x="10705837" y="2463703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4A8B03-851A-C98D-1084-D282C931283B}"/>
              </a:ext>
            </a:extLst>
          </p:cNvPr>
          <p:cNvSpPr/>
          <p:nvPr/>
        </p:nvSpPr>
        <p:spPr>
          <a:xfrm>
            <a:off x="7477432" y="2945216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FFD1272-EC26-9BF7-4EF4-5ABC74739875}"/>
              </a:ext>
            </a:extLst>
          </p:cNvPr>
          <p:cNvCxnSpPr>
            <a:cxnSpLocks/>
          </p:cNvCxnSpPr>
          <p:nvPr/>
        </p:nvCxnSpPr>
        <p:spPr>
          <a:xfrm>
            <a:off x="84226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09264BE-CCAB-2344-1973-6B82BB685F05}"/>
              </a:ext>
            </a:extLst>
          </p:cNvPr>
          <p:cNvCxnSpPr>
            <a:cxnSpLocks/>
          </p:cNvCxnSpPr>
          <p:nvPr/>
        </p:nvCxnSpPr>
        <p:spPr>
          <a:xfrm>
            <a:off x="950849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8F826AD-A8AC-08B8-6166-6AD12BBCD64D}"/>
              </a:ext>
            </a:extLst>
          </p:cNvPr>
          <p:cNvCxnSpPr>
            <a:cxnSpLocks/>
          </p:cNvCxnSpPr>
          <p:nvPr/>
        </p:nvCxnSpPr>
        <p:spPr>
          <a:xfrm>
            <a:off x="105943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3A49D55-6855-C8C2-74B1-20C3186FA024}"/>
              </a:ext>
            </a:extLst>
          </p:cNvPr>
          <p:cNvSpPr txBox="1"/>
          <p:nvPr/>
        </p:nvSpPr>
        <p:spPr>
          <a:xfrm rot="16200000">
            <a:off x="6190005" y="3283345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E4F881-E9E4-04C7-AC86-388FD0609067}"/>
              </a:ext>
            </a:extLst>
          </p:cNvPr>
          <p:cNvSpPr txBox="1"/>
          <p:nvPr/>
        </p:nvSpPr>
        <p:spPr>
          <a:xfrm rot="16200000">
            <a:off x="7038283" y="3585534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B732F9-A244-A9D8-C4C5-DA4D20D522FF}"/>
              </a:ext>
            </a:extLst>
          </p:cNvPr>
          <p:cNvSpPr txBox="1"/>
          <p:nvPr/>
        </p:nvSpPr>
        <p:spPr>
          <a:xfrm rot="16200000">
            <a:off x="6910639" y="3032087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7F7D86-A8B2-A5BF-7D0C-7D38A803B588}"/>
              </a:ext>
            </a:extLst>
          </p:cNvPr>
          <p:cNvSpPr/>
          <p:nvPr/>
        </p:nvSpPr>
        <p:spPr>
          <a:xfrm>
            <a:off x="7477432" y="3477211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A67D56-7907-0A88-50AC-C25CEE2A4EE8}"/>
              </a:ext>
            </a:extLst>
          </p:cNvPr>
          <p:cNvSpPr txBox="1"/>
          <p:nvPr/>
        </p:nvSpPr>
        <p:spPr>
          <a:xfrm>
            <a:off x="7430826" y="4862143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177D01-7CDA-B24F-37DB-FC47554DC8F5}"/>
              </a:ext>
            </a:extLst>
          </p:cNvPr>
          <p:cNvSpPr txBox="1"/>
          <p:nvPr/>
        </p:nvSpPr>
        <p:spPr>
          <a:xfrm>
            <a:off x="7575259" y="5165640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AB6B8F-DFF2-94DB-D1F9-53379F157F29}"/>
              </a:ext>
            </a:extLst>
          </p:cNvPr>
          <p:cNvSpPr txBox="1"/>
          <p:nvPr/>
        </p:nvSpPr>
        <p:spPr>
          <a:xfrm>
            <a:off x="8457842" y="5038222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0321FD-97AA-867A-E0B2-5B6A03E5A440}"/>
              </a:ext>
            </a:extLst>
          </p:cNvPr>
          <p:cNvSpPr txBox="1"/>
          <p:nvPr/>
        </p:nvSpPr>
        <p:spPr>
          <a:xfrm>
            <a:off x="9667895" y="5130556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0E792C-A67A-D116-A7ED-53A89308DAF5}"/>
              </a:ext>
            </a:extLst>
          </p:cNvPr>
          <p:cNvSpPr txBox="1"/>
          <p:nvPr/>
        </p:nvSpPr>
        <p:spPr>
          <a:xfrm>
            <a:off x="10688113" y="5139142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E311AE-01AA-83B9-028D-99D3A32BB88B}"/>
              </a:ext>
            </a:extLst>
          </p:cNvPr>
          <p:cNvSpPr/>
          <p:nvPr/>
        </p:nvSpPr>
        <p:spPr>
          <a:xfrm>
            <a:off x="7459708" y="5620655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A4947EB-C8BB-6363-2E3F-7A8B55F4BE9D}"/>
              </a:ext>
            </a:extLst>
          </p:cNvPr>
          <p:cNvCxnSpPr>
            <a:cxnSpLocks/>
          </p:cNvCxnSpPr>
          <p:nvPr/>
        </p:nvCxnSpPr>
        <p:spPr>
          <a:xfrm>
            <a:off x="84049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0CA3B40-029C-A34E-9375-CF3157CE775B}"/>
              </a:ext>
            </a:extLst>
          </p:cNvPr>
          <p:cNvCxnSpPr>
            <a:cxnSpLocks/>
          </p:cNvCxnSpPr>
          <p:nvPr/>
        </p:nvCxnSpPr>
        <p:spPr>
          <a:xfrm>
            <a:off x="949076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503F063-4C98-26C8-4A68-051DF1269AA6}"/>
              </a:ext>
            </a:extLst>
          </p:cNvPr>
          <p:cNvCxnSpPr>
            <a:cxnSpLocks/>
          </p:cNvCxnSpPr>
          <p:nvPr/>
        </p:nvCxnSpPr>
        <p:spPr>
          <a:xfrm>
            <a:off x="105766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7E1DC84-0351-8E94-88FB-046B2CD7585D}"/>
              </a:ext>
            </a:extLst>
          </p:cNvPr>
          <p:cNvSpPr txBox="1"/>
          <p:nvPr/>
        </p:nvSpPr>
        <p:spPr>
          <a:xfrm rot="16200000">
            <a:off x="6172281" y="595878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0E55B0-6F95-86AA-6DC8-74E09F14A3E8}"/>
              </a:ext>
            </a:extLst>
          </p:cNvPr>
          <p:cNvSpPr txBox="1"/>
          <p:nvPr/>
        </p:nvSpPr>
        <p:spPr>
          <a:xfrm rot="16200000">
            <a:off x="7020559" y="6260973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58562F-1C3E-3185-C33E-D8AAA6195441}"/>
              </a:ext>
            </a:extLst>
          </p:cNvPr>
          <p:cNvSpPr txBox="1"/>
          <p:nvPr/>
        </p:nvSpPr>
        <p:spPr>
          <a:xfrm rot="16200000">
            <a:off x="6892915" y="5707526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9251F7D-8E32-6ECB-A8F1-E50698602D46}"/>
              </a:ext>
            </a:extLst>
          </p:cNvPr>
          <p:cNvSpPr/>
          <p:nvPr/>
        </p:nvSpPr>
        <p:spPr>
          <a:xfrm>
            <a:off x="7459708" y="5612069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BFBDF6D-AA51-7E22-1E3F-1DDBD089D209}"/>
              </a:ext>
            </a:extLst>
          </p:cNvPr>
          <p:cNvCxnSpPr/>
          <p:nvPr/>
        </p:nvCxnSpPr>
        <p:spPr>
          <a:xfrm>
            <a:off x="8810625" y="1047750"/>
            <a:ext cx="2362200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CE5A443-1D44-E546-220A-715B3866527D}"/>
              </a:ext>
            </a:extLst>
          </p:cNvPr>
          <p:cNvCxnSpPr>
            <a:cxnSpLocks/>
          </p:cNvCxnSpPr>
          <p:nvPr/>
        </p:nvCxnSpPr>
        <p:spPr>
          <a:xfrm>
            <a:off x="4389866" y="1309542"/>
            <a:ext cx="69747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F2DBC65-E0B3-0540-944A-C027420F8229}"/>
              </a:ext>
            </a:extLst>
          </p:cNvPr>
          <p:cNvCxnSpPr>
            <a:cxnSpLocks/>
          </p:cNvCxnSpPr>
          <p:nvPr/>
        </p:nvCxnSpPr>
        <p:spPr>
          <a:xfrm>
            <a:off x="4512365" y="1632707"/>
            <a:ext cx="46125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77C81B3-A89E-A294-23D9-C57530B940DD}"/>
              </a:ext>
            </a:extLst>
          </p:cNvPr>
          <p:cNvSpPr/>
          <p:nvPr/>
        </p:nvSpPr>
        <p:spPr>
          <a:xfrm>
            <a:off x="0" y="0"/>
            <a:ext cx="12192000" cy="6835141"/>
          </a:xfrm>
          <a:prstGeom prst="rect">
            <a:avLst/>
          </a:prstGeom>
          <a:solidFill>
            <a:srgbClr val="5E5E5E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C34844F-028A-E155-1CED-2526C3DCCD91}"/>
              </a:ext>
            </a:extLst>
          </p:cNvPr>
          <p:cNvSpPr/>
          <p:nvPr/>
        </p:nvSpPr>
        <p:spPr>
          <a:xfrm>
            <a:off x="1524000" y="709377"/>
            <a:ext cx="9059337" cy="49026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1DC1E14-9C85-18A2-8E2D-7BECB61E4611}"/>
              </a:ext>
            </a:extLst>
          </p:cNvPr>
          <p:cNvSpPr txBox="1"/>
          <p:nvPr/>
        </p:nvSpPr>
        <p:spPr>
          <a:xfrm>
            <a:off x="4028017" y="976556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5992EEA-1D18-F7C8-1453-5FCDBA212651}"/>
              </a:ext>
            </a:extLst>
          </p:cNvPr>
          <p:cNvSpPr txBox="1"/>
          <p:nvPr/>
        </p:nvSpPr>
        <p:spPr>
          <a:xfrm>
            <a:off x="4172450" y="1280053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44ECDF-2A8B-7A71-60F1-0B04DB35D565}"/>
              </a:ext>
            </a:extLst>
          </p:cNvPr>
          <p:cNvSpPr txBox="1"/>
          <p:nvPr/>
        </p:nvSpPr>
        <p:spPr>
          <a:xfrm>
            <a:off x="5055033" y="1152635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E6BD883-A8D0-A09E-BFEE-C7F542925578}"/>
              </a:ext>
            </a:extLst>
          </p:cNvPr>
          <p:cNvSpPr txBox="1"/>
          <p:nvPr/>
        </p:nvSpPr>
        <p:spPr>
          <a:xfrm>
            <a:off x="6265086" y="1244969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E80448-B81C-DCAA-787D-79398870D324}"/>
              </a:ext>
            </a:extLst>
          </p:cNvPr>
          <p:cNvSpPr txBox="1"/>
          <p:nvPr/>
        </p:nvSpPr>
        <p:spPr>
          <a:xfrm>
            <a:off x="7285304" y="1253555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19D544B-EBF2-4CB9-59DA-CAA664CB9135}"/>
              </a:ext>
            </a:extLst>
          </p:cNvPr>
          <p:cNvSpPr/>
          <p:nvPr/>
        </p:nvSpPr>
        <p:spPr>
          <a:xfrm>
            <a:off x="4056899" y="1735068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1306656-6CEE-9E4E-C692-7D4DCC152B52}"/>
              </a:ext>
            </a:extLst>
          </p:cNvPr>
          <p:cNvCxnSpPr>
            <a:cxnSpLocks/>
          </p:cNvCxnSpPr>
          <p:nvPr/>
        </p:nvCxnSpPr>
        <p:spPr>
          <a:xfrm>
            <a:off x="500210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55CACBA-891D-731B-9A8E-1B6352921B89}"/>
              </a:ext>
            </a:extLst>
          </p:cNvPr>
          <p:cNvCxnSpPr>
            <a:cxnSpLocks/>
          </p:cNvCxnSpPr>
          <p:nvPr/>
        </p:nvCxnSpPr>
        <p:spPr>
          <a:xfrm>
            <a:off x="608795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B881BBC-F9FB-D82E-8381-82FE2FC7306D}"/>
              </a:ext>
            </a:extLst>
          </p:cNvPr>
          <p:cNvCxnSpPr>
            <a:cxnSpLocks/>
          </p:cNvCxnSpPr>
          <p:nvPr/>
        </p:nvCxnSpPr>
        <p:spPr>
          <a:xfrm>
            <a:off x="7173808" y="173506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21F48AC-BB9C-F8D6-18BB-81AE42A23C70}"/>
              </a:ext>
            </a:extLst>
          </p:cNvPr>
          <p:cNvSpPr txBox="1"/>
          <p:nvPr/>
        </p:nvSpPr>
        <p:spPr>
          <a:xfrm rot="16200000">
            <a:off x="2769472" y="2073197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0FAFFA9-4794-50D1-C852-7F4D374A241A}"/>
              </a:ext>
            </a:extLst>
          </p:cNvPr>
          <p:cNvSpPr txBox="1"/>
          <p:nvPr/>
        </p:nvSpPr>
        <p:spPr>
          <a:xfrm rot="16200000">
            <a:off x="3617750" y="2375386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5E0A0BE-7217-7859-9B95-46BCE94FA0A4}"/>
              </a:ext>
            </a:extLst>
          </p:cNvPr>
          <p:cNvSpPr txBox="1"/>
          <p:nvPr/>
        </p:nvSpPr>
        <p:spPr>
          <a:xfrm rot="16200000">
            <a:off x="3490106" y="1821939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BDCB242-F82F-4C27-C235-FE13D6F73A35}"/>
              </a:ext>
            </a:extLst>
          </p:cNvPr>
          <p:cNvSpPr/>
          <p:nvPr/>
        </p:nvSpPr>
        <p:spPr>
          <a:xfrm>
            <a:off x="4056899" y="2267063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EB47D5D-C80E-0522-4003-5424DA22020F}"/>
              </a:ext>
            </a:extLst>
          </p:cNvPr>
          <p:cNvSpPr txBox="1"/>
          <p:nvPr/>
        </p:nvSpPr>
        <p:spPr>
          <a:xfrm>
            <a:off x="4101741" y="313867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461A70A-D4C7-4064-C2A5-DC3D45FFAF2E}"/>
              </a:ext>
            </a:extLst>
          </p:cNvPr>
          <p:cNvSpPr txBox="1"/>
          <p:nvPr/>
        </p:nvSpPr>
        <p:spPr>
          <a:xfrm>
            <a:off x="4246174" y="3442172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A54126C-2802-466C-86D5-66CB81031A85}"/>
              </a:ext>
            </a:extLst>
          </p:cNvPr>
          <p:cNvSpPr txBox="1"/>
          <p:nvPr/>
        </p:nvSpPr>
        <p:spPr>
          <a:xfrm>
            <a:off x="5128757" y="331475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3604734-FDD5-15F4-8CC6-7DD412B8E2EF}"/>
              </a:ext>
            </a:extLst>
          </p:cNvPr>
          <p:cNvSpPr txBox="1"/>
          <p:nvPr/>
        </p:nvSpPr>
        <p:spPr>
          <a:xfrm>
            <a:off x="6338810" y="3407088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E709392-4F57-EB05-B0CC-19E0E3D455C9}"/>
              </a:ext>
            </a:extLst>
          </p:cNvPr>
          <p:cNvSpPr txBox="1"/>
          <p:nvPr/>
        </p:nvSpPr>
        <p:spPr>
          <a:xfrm>
            <a:off x="7359028" y="3415674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1B91BBD-F227-763B-1BEC-AC788990EB93}"/>
              </a:ext>
            </a:extLst>
          </p:cNvPr>
          <p:cNvSpPr/>
          <p:nvPr/>
        </p:nvSpPr>
        <p:spPr>
          <a:xfrm>
            <a:off x="4130623" y="3897187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714E8BE-C3FC-1F48-1312-072A73FFB27A}"/>
              </a:ext>
            </a:extLst>
          </p:cNvPr>
          <p:cNvCxnSpPr>
            <a:cxnSpLocks/>
          </p:cNvCxnSpPr>
          <p:nvPr/>
        </p:nvCxnSpPr>
        <p:spPr>
          <a:xfrm>
            <a:off x="507583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FE5A31D-3B46-6234-0810-79014347FC3B}"/>
              </a:ext>
            </a:extLst>
          </p:cNvPr>
          <p:cNvCxnSpPr>
            <a:cxnSpLocks/>
          </p:cNvCxnSpPr>
          <p:nvPr/>
        </p:nvCxnSpPr>
        <p:spPr>
          <a:xfrm>
            <a:off x="616168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C2819DF-4ECE-D529-9A09-2D997CD4F1FE}"/>
              </a:ext>
            </a:extLst>
          </p:cNvPr>
          <p:cNvCxnSpPr>
            <a:cxnSpLocks/>
          </p:cNvCxnSpPr>
          <p:nvPr/>
        </p:nvCxnSpPr>
        <p:spPr>
          <a:xfrm>
            <a:off x="7247532" y="3897187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05B7688F-AADB-BF71-BE66-613ED921ECD6}"/>
              </a:ext>
            </a:extLst>
          </p:cNvPr>
          <p:cNvSpPr txBox="1"/>
          <p:nvPr/>
        </p:nvSpPr>
        <p:spPr>
          <a:xfrm rot="16200000">
            <a:off x="2843196" y="4235316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6C18634-76E3-4F50-A0D4-FCC4733B2FD4}"/>
              </a:ext>
            </a:extLst>
          </p:cNvPr>
          <p:cNvSpPr txBox="1"/>
          <p:nvPr/>
        </p:nvSpPr>
        <p:spPr>
          <a:xfrm rot="16200000">
            <a:off x="3691474" y="453750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39C3976-622C-E3D3-F22C-B8ADF69B46B7}"/>
              </a:ext>
            </a:extLst>
          </p:cNvPr>
          <p:cNvSpPr txBox="1"/>
          <p:nvPr/>
        </p:nvSpPr>
        <p:spPr>
          <a:xfrm rot="16200000">
            <a:off x="3563830" y="3984058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8372A18-C654-4932-A22B-9FC6F19EAF1C}"/>
              </a:ext>
            </a:extLst>
          </p:cNvPr>
          <p:cNvSpPr/>
          <p:nvPr/>
        </p:nvSpPr>
        <p:spPr>
          <a:xfrm>
            <a:off x="4130623" y="3886484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CD0115D-D6A8-0D17-ABC4-4B05BBD5F095}"/>
              </a:ext>
            </a:extLst>
          </p:cNvPr>
          <p:cNvSpPr txBox="1"/>
          <p:nvPr/>
        </p:nvSpPr>
        <p:spPr>
          <a:xfrm>
            <a:off x="8475566" y="1916996"/>
            <a:ext cx="2240495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“More likely to be more successful”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3EB2DBC-CCCB-98D8-C537-EE4EF31D4FEA}"/>
              </a:ext>
            </a:extLst>
          </p:cNvPr>
          <p:cNvSpPr txBox="1"/>
          <p:nvPr/>
        </p:nvSpPr>
        <p:spPr>
          <a:xfrm>
            <a:off x="8580052" y="4038210"/>
            <a:ext cx="2240495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“Less likely to be more successful”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8C9638D-C4BB-1020-BBAD-9899E82518D2}"/>
              </a:ext>
            </a:extLst>
          </p:cNvPr>
          <p:cNvSpPr txBox="1"/>
          <p:nvPr/>
        </p:nvSpPr>
        <p:spPr>
          <a:xfrm rot="19699172">
            <a:off x="-29169" y="514279"/>
            <a:ext cx="2533654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/>
              <a:t>How do we assign probabilities to model this?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ADB881A-7C1F-6F03-C348-54AE154FFED9}"/>
              </a:ext>
            </a:extLst>
          </p:cNvPr>
          <p:cNvSpPr/>
          <p:nvPr/>
        </p:nvSpPr>
        <p:spPr>
          <a:xfrm>
            <a:off x="3933825" y="1530554"/>
            <a:ext cx="1142007" cy="933147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ACC8F532-51A0-2FC9-D643-D5C0120D27F7}"/>
              </a:ext>
            </a:extLst>
          </p:cNvPr>
          <p:cNvSpPr/>
          <p:nvPr/>
        </p:nvSpPr>
        <p:spPr>
          <a:xfrm>
            <a:off x="4029363" y="4197119"/>
            <a:ext cx="1142007" cy="933147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8029CDE-B79B-712B-71BF-40FCAD12567E}"/>
              </a:ext>
            </a:extLst>
          </p:cNvPr>
          <p:cNvSpPr txBox="1"/>
          <p:nvPr/>
        </p:nvSpPr>
        <p:spPr>
          <a:xfrm rot="19357102">
            <a:off x="3312942" y="1522777"/>
            <a:ext cx="743865" cy="3679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less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0047615-1F82-ADE4-92A4-DB47EB8194D7}"/>
              </a:ext>
            </a:extLst>
          </p:cNvPr>
          <p:cNvSpPr txBox="1"/>
          <p:nvPr/>
        </p:nvSpPr>
        <p:spPr>
          <a:xfrm rot="19357102">
            <a:off x="3276628" y="4320356"/>
            <a:ext cx="743865" cy="3679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more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36F44420-14A5-9585-225E-B97DC2280E68}"/>
              </a:ext>
            </a:extLst>
          </p:cNvPr>
          <p:cNvSpPr/>
          <p:nvPr/>
        </p:nvSpPr>
        <p:spPr>
          <a:xfrm>
            <a:off x="4006507" y="1660450"/>
            <a:ext cx="2146711" cy="706004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0CBC7F7B-A72B-FF99-B31A-AA8EC79915C2}"/>
              </a:ext>
            </a:extLst>
          </p:cNvPr>
          <p:cNvSpPr/>
          <p:nvPr/>
        </p:nvSpPr>
        <p:spPr>
          <a:xfrm>
            <a:off x="4035087" y="4336706"/>
            <a:ext cx="2146711" cy="706004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F34734B-829B-C1EB-0157-C0BEBB3207DB}"/>
              </a:ext>
            </a:extLst>
          </p:cNvPr>
          <p:cNvSpPr txBox="1"/>
          <p:nvPr/>
        </p:nvSpPr>
        <p:spPr>
          <a:xfrm rot="19357102">
            <a:off x="5682136" y="1244135"/>
            <a:ext cx="743865" cy="3679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less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1D84C1F-229E-A4F8-1D1D-8E4CFB6DF7D2}"/>
              </a:ext>
            </a:extLst>
          </p:cNvPr>
          <p:cNvSpPr txBox="1"/>
          <p:nvPr/>
        </p:nvSpPr>
        <p:spPr>
          <a:xfrm rot="19357102">
            <a:off x="5109676" y="5120169"/>
            <a:ext cx="743865" cy="3679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more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D043C2A0-50FA-4142-E09A-DFDBEBAD035E}"/>
              </a:ext>
            </a:extLst>
          </p:cNvPr>
          <p:cNvSpPr/>
          <p:nvPr/>
        </p:nvSpPr>
        <p:spPr>
          <a:xfrm>
            <a:off x="3969785" y="1679405"/>
            <a:ext cx="3241555" cy="706004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15B8007-F166-3A90-266D-6A6F6BED546E}"/>
              </a:ext>
            </a:extLst>
          </p:cNvPr>
          <p:cNvSpPr/>
          <p:nvPr/>
        </p:nvSpPr>
        <p:spPr>
          <a:xfrm>
            <a:off x="4085069" y="4337941"/>
            <a:ext cx="3241555" cy="706004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F5ABB41-20C2-2956-02C8-10CD95F880AF}"/>
              </a:ext>
            </a:extLst>
          </p:cNvPr>
          <p:cNvSpPr txBox="1"/>
          <p:nvPr/>
        </p:nvSpPr>
        <p:spPr>
          <a:xfrm rot="19357102">
            <a:off x="6576272" y="5033863"/>
            <a:ext cx="743865" cy="36793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more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6E6F482-A54D-BB65-116B-25493BCE590D}"/>
              </a:ext>
            </a:extLst>
          </p:cNvPr>
          <p:cNvSpPr txBox="1"/>
          <p:nvPr/>
        </p:nvSpPr>
        <p:spPr>
          <a:xfrm rot="19357102">
            <a:off x="6661860" y="1358421"/>
            <a:ext cx="743865" cy="36793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less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B96BD37-F05D-C176-29C8-A0365A40635E}"/>
                  </a:ext>
                </a:extLst>
              </p:cNvPr>
              <p:cNvSpPr txBox="1"/>
              <p:nvPr/>
            </p:nvSpPr>
            <p:spPr>
              <a:xfrm>
                <a:off x="4417343" y="4474992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B96BD37-F05D-C176-29C8-A0365A406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343" y="4474992"/>
                <a:ext cx="4191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9A4B27E-483B-ABA3-405F-6BF7841BD213}"/>
                  </a:ext>
                </a:extLst>
              </p:cNvPr>
              <p:cNvSpPr txBox="1"/>
              <p:nvPr/>
            </p:nvSpPr>
            <p:spPr>
              <a:xfrm>
                <a:off x="5296222" y="4476153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9A4B27E-483B-ABA3-405F-6BF7841BD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6222" y="4476153"/>
                <a:ext cx="4191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25FF4B17-DB9A-3886-3D49-6BBC37758725}"/>
              </a:ext>
            </a:extLst>
          </p:cNvPr>
          <p:cNvSpPr txBox="1"/>
          <p:nvPr/>
        </p:nvSpPr>
        <p:spPr>
          <a:xfrm rot="2522472">
            <a:off x="8794268" y="3100460"/>
            <a:ext cx="2780220" cy="64633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What if we want to make the difference very severe?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27B787C1-3EF8-F548-B9D6-FD7EB3A982D8}"/>
                  </a:ext>
                </a:extLst>
              </p:cNvPr>
              <p:cNvSpPr txBox="1"/>
              <p:nvPr/>
            </p:nvSpPr>
            <p:spPr>
              <a:xfrm>
                <a:off x="6498095" y="4512106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27B787C1-3EF8-F548-B9D6-FD7EB3A982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8095" y="4512106"/>
                <a:ext cx="4191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3C285A93-7998-B825-A86C-752C6749D451}"/>
                  </a:ext>
                </a:extLst>
              </p:cNvPr>
              <p:cNvSpPr txBox="1"/>
              <p:nvPr/>
            </p:nvSpPr>
            <p:spPr>
              <a:xfrm>
                <a:off x="7699968" y="4548059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3C285A93-7998-B825-A86C-752C6749D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9968" y="4548059"/>
                <a:ext cx="4191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CB58C38-221C-CEC4-B02F-B73145AD2CAE}"/>
                  </a:ext>
                </a:extLst>
              </p:cNvPr>
              <p:cNvSpPr txBox="1"/>
              <p:nvPr/>
            </p:nvSpPr>
            <p:spPr>
              <a:xfrm>
                <a:off x="7592983" y="1796978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CB58C38-221C-CEC4-B02F-B73145AD2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2983" y="1796978"/>
                <a:ext cx="4191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731CF592-B9F1-867A-8071-BE6CED548D87}"/>
                  </a:ext>
                </a:extLst>
              </p:cNvPr>
              <p:cNvSpPr txBox="1"/>
              <p:nvPr/>
            </p:nvSpPr>
            <p:spPr>
              <a:xfrm>
                <a:off x="6362700" y="1853720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731CF592-B9F1-867A-8071-BE6CED548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2700" y="1853720"/>
                <a:ext cx="41910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1F3363CD-5EDD-C194-C288-BCD05C3A1ABC}"/>
                  </a:ext>
                </a:extLst>
              </p:cNvPr>
              <p:cNvSpPr txBox="1"/>
              <p:nvPr/>
            </p:nvSpPr>
            <p:spPr>
              <a:xfrm>
                <a:off x="5294666" y="1825705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1F3363CD-5EDD-C194-C288-BCD05C3A1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4666" y="1825705"/>
                <a:ext cx="41910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E11816B0-B278-213E-6628-C3FFDD1AE166}"/>
                  </a:ext>
                </a:extLst>
              </p:cNvPr>
              <p:cNvSpPr txBox="1"/>
              <p:nvPr/>
            </p:nvSpPr>
            <p:spPr>
              <a:xfrm>
                <a:off x="4226632" y="1797690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E11816B0-B278-213E-6628-C3FFDD1AE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6632" y="1797690"/>
                <a:ext cx="4191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95752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F21BA-603B-5EF4-0999-553DF2086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41BAF-B5E0-7CE4-5525-4702972CC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B37ACE-AA81-801D-8FA7-F8359A9BFC68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67556D-360B-E5E9-2DFD-A064745EB720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the military attempts a coup, will it succeed?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conflict with an opposing military force, how well will the military perform?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D08F4B-135F-C99F-1591-DDE7F3DF5EF2}"/>
              </a:ext>
            </a:extLst>
          </p:cNvPr>
          <p:cNvSpPr txBox="1"/>
          <p:nvPr/>
        </p:nvSpPr>
        <p:spPr>
          <a:xfrm>
            <a:off x="4343400" y="709377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model of these two uncertainties in which a military that would succeed when attempting a coup is more likely to perform well against an opposing force than a military that would fail when attempting a coup.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8F6B2-4289-AD6E-F60D-D681626DAFC6}"/>
              </a:ext>
            </a:extLst>
          </p:cNvPr>
          <p:cNvSpPr txBox="1"/>
          <p:nvPr/>
        </p:nvSpPr>
        <p:spPr>
          <a:xfrm>
            <a:off x="4343400" y="1687454"/>
            <a:ext cx="7038975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Marginal-Conditional Method– JUST SAY YES!!!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E90D2E-15AC-0A1C-5C06-473C8086207B}"/>
              </a:ext>
            </a:extLst>
          </p:cNvPr>
          <p:cNvSpPr txBox="1"/>
          <p:nvPr/>
        </p:nvSpPr>
        <p:spPr>
          <a:xfrm rot="19677942">
            <a:off x="-270553" y="2483552"/>
            <a:ext cx="5134418" cy="92333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Step 2:  Model uncertainty about success against opposing miiltaries, conditional on knowledge of outcome of a coup attempt.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F30B61-735F-2CEE-ABBB-9E3522FEF52F}"/>
              </a:ext>
            </a:extLst>
          </p:cNvPr>
          <p:cNvCxnSpPr>
            <a:cxnSpLocks/>
          </p:cNvCxnSpPr>
          <p:nvPr/>
        </p:nvCxnSpPr>
        <p:spPr>
          <a:xfrm flipV="1">
            <a:off x="4533144" y="3354838"/>
            <a:ext cx="2200275" cy="1130452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CF33994-EE23-C43A-D9C4-8C7ECEEACD7B}"/>
              </a:ext>
            </a:extLst>
          </p:cNvPr>
          <p:cNvSpPr txBox="1"/>
          <p:nvPr/>
        </p:nvSpPr>
        <p:spPr>
          <a:xfrm rot="19913270">
            <a:off x="4600155" y="3899264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D74A8C-F6BB-6EBE-B299-0F7878F9C3D7}"/>
              </a:ext>
            </a:extLst>
          </p:cNvPr>
          <p:cNvCxnSpPr>
            <a:cxnSpLocks/>
          </p:cNvCxnSpPr>
          <p:nvPr/>
        </p:nvCxnSpPr>
        <p:spPr>
          <a:xfrm>
            <a:off x="4522231" y="4582175"/>
            <a:ext cx="2019300" cy="149147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5405362-2A2B-92D3-7209-D035B822FB3F}"/>
              </a:ext>
            </a:extLst>
          </p:cNvPr>
          <p:cNvSpPr txBox="1"/>
          <p:nvPr/>
        </p:nvSpPr>
        <p:spPr>
          <a:xfrm rot="2210112">
            <a:off x="4580614" y="5519727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25AF557-0E07-0909-C71B-800861AA6DEE}"/>
                  </a:ext>
                </a:extLst>
              </p:cNvPr>
              <p:cNvSpPr txBox="1"/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25AF557-0E07-0909-C71B-800861AA6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591" y="3313221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4D22B4C-A9A8-3BC7-FAC5-D5F451E94C73}"/>
                  </a:ext>
                </a:extLst>
              </p:cNvPr>
              <p:cNvSpPr txBox="1"/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4D22B4C-A9A8-3BC7-FAC5-D5F451E94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041" y="5388720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30D5E4D-240C-588E-354A-6C4D9DCCB320}"/>
              </a:ext>
            </a:extLst>
          </p:cNvPr>
          <p:cNvSpPr txBox="1"/>
          <p:nvPr/>
        </p:nvSpPr>
        <p:spPr>
          <a:xfrm>
            <a:off x="7448550" y="2186704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CE382B-4C1E-DDAA-15BB-86C5D40618C7}"/>
              </a:ext>
            </a:extLst>
          </p:cNvPr>
          <p:cNvSpPr txBox="1"/>
          <p:nvPr/>
        </p:nvSpPr>
        <p:spPr>
          <a:xfrm>
            <a:off x="7592983" y="2490201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B9298D-1FF9-D682-13FB-EF0ED90CE653}"/>
              </a:ext>
            </a:extLst>
          </p:cNvPr>
          <p:cNvSpPr txBox="1"/>
          <p:nvPr/>
        </p:nvSpPr>
        <p:spPr>
          <a:xfrm>
            <a:off x="8475566" y="2362783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9BE0A5-ED3B-2EE1-46DB-829EDC18DA90}"/>
              </a:ext>
            </a:extLst>
          </p:cNvPr>
          <p:cNvSpPr txBox="1"/>
          <p:nvPr/>
        </p:nvSpPr>
        <p:spPr>
          <a:xfrm>
            <a:off x="9685619" y="2455117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0B31EF-EB7D-1D80-7C49-EA560BB454D0}"/>
              </a:ext>
            </a:extLst>
          </p:cNvPr>
          <p:cNvSpPr txBox="1"/>
          <p:nvPr/>
        </p:nvSpPr>
        <p:spPr>
          <a:xfrm>
            <a:off x="10705837" y="2463703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668FA2-7ACA-1953-115A-215AC14F0EA4}"/>
              </a:ext>
            </a:extLst>
          </p:cNvPr>
          <p:cNvSpPr/>
          <p:nvPr/>
        </p:nvSpPr>
        <p:spPr>
          <a:xfrm>
            <a:off x="7477432" y="2945216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F394D3D-A0AF-208C-2EC2-064440C7B700}"/>
              </a:ext>
            </a:extLst>
          </p:cNvPr>
          <p:cNvCxnSpPr>
            <a:cxnSpLocks/>
          </p:cNvCxnSpPr>
          <p:nvPr/>
        </p:nvCxnSpPr>
        <p:spPr>
          <a:xfrm>
            <a:off x="84226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87F02D-5B44-3CE4-90E0-4E0210FCABCD}"/>
              </a:ext>
            </a:extLst>
          </p:cNvPr>
          <p:cNvCxnSpPr>
            <a:cxnSpLocks/>
          </p:cNvCxnSpPr>
          <p:nvPr/>
        </p:nvCxnSpPr>
        <p:spPr>
          <a:xfrm>
            <a:off x="950849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976D15E-02C0-C244-FFAF-3069996AE31B}"/>
              </a:ext>
            </a:extLst>
          </p:cNvPr>
          <p:cNvCxnSpPr>
            <a:cxnSpLocks/>
          </p:cNvCxnSpPr>
          <p:nvPr/>
        </p:nvCxnSpPr>
        <p:spPr>
          <a:xfrm>
            <a:off x="10594341" y="294521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49A18C6-F715-E59E-A62B-B48BC2576C2A}"/>
              </a:ext>
            </a:extLst>
          </p:cNvPr>
          <p:cNvSpPr txBox="1"/>
          <p:nvPr/>
        </p:nvSpPr>
        <p:spPr>
          <a:xfrm rot="16200000">
            <a:off x="6190005" y="3283345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46ECDB-3FE8-B63C-C58B-FFB93660D34C}"/>
              </a:ext>
            </a:extLst>
          </p:cNvPr>
          <p:cNvSpPr txBox="1"/>
          <p:nvPr/>
        </p:nvSpPr>
        <p:spPr>
          <a:xfrm rot="16200000">
            <a:off x="7038283" y="3585534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C07369-3BB2-FD2D-3304-78B74EB3D5B2}"/>
              </a:ext>
            </a:extLst>
          </p:cNvPr>
          <p:cNvSpPr txBox="1"/>
          <p:nvPr/>
        </p:nvSpPr>
        <p:spPr>
          <a:xfrm rot="16200000">
            <a:off x="6910639" y="3032087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3D8F66-DB68-3079-21A8-E29D29D1A818}"/>
              </a:ext>
            </a:extLst>
          </p:cNvPr>
          <p:cNvSpPr/>
          <p:nvPr/>
        </p:nvSpPr>
        <p:spPr>
          <a:xfrm>
            <a:off x="7477432" y="3477211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08CF52-3AA4-5615-C002-EA161A17650A}"/>
              </a:ext>
            </a:extLst>
          </p:cNvPr>
          <p:cNvSpPr txBox="1"/>
          <p:nvPr/>
        </p:nvSpPr>
        <p:spPr>
          <a:xfrm>
            <a:off x="7430826" y="4862143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D5C4B8-BECB-BD6D-FA14-F977F64B63BB}"/>
              </a:ext>
            </a:extLst>
          </p:cNvPr>
          <p:cNvSpPr txBox="1"/>
          <p:nvPr/>
        </p:nvSpPr>
        <p:spPr>
          <a:xfrm>
            <a:off x="7575259" y="5165640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F4D468-4318-2337-5099-C3F0B9BBF99D}"/>
              </a:ext>
            </a:extLst>
          </p:cNvPr>
          <p:cNvSpPr txBox="1"/>
          <p:nvPr/>
        </p:nvSpPr>
        <p:spPr>
          <a:xfrm>
            <a:off x="8457842" y="5038222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3E83F9-B870-47B7-EA9A-219196E2C9FF}"/>
              </a:ext>
            </a:extLst>
          </p:cNvPr>
          <p:cNvSpPr txBox="1"/>
          <p:nvPr/>
        </p:nvSpPr>
        <p:spPr>
          <a:xfrm>
            <a:off x="9667895" y="5130556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34990B-8F1C-D39A-4F46-562222A583C8}"/>
              </a:ext>
            </a:extLst>
          </p:cNvPr>
          <p:cNvSpPr txBox="1"/>
          <p:nvPr/>
        </p:nvSpPr>
        <p:spPr>
          <a:xfrm>
            <a:off x="10688113" y="5139142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95314B7-E0F1-74C2-9966-C277239B2568}"/>
              </a:ext>
            </a:extLst>
          </p:cNvPr>
          <p:cNvSpPr/>
          <p:nvPr/>
        </p:nvSpPr>
        <p:spPr>
          <a:xfrm>
            <a:off x="7459708" y="5620655"/>
            <a:ext cx="4285943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F570B7A-EF96-8CF2-FD32-C9504070CD19}"/>
              </a:ext>
            </a:extLst>
          </p:cNvPr>
          <p:cNvCxnSpPr>
            <a:cxnSpLocks/>
          </p:cNvCxnSpPr>
          <p:nvPr/>
        </p:nvCxnSpPr>
        <p:spPr>
          <a:xfrm>
            <a:off x="84049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D63EC01-6027-143F-97DA-EBECC86F98D5}"/>
              </a:ext>
            </a:extLst>
          </p:cNvPr>
          <p:cNvCxnSpPr>
            <a:cxnSpLocks/>
          </p:cNvCxnSpPr>
          <p:nvPr/>
        </p:nvCxnSpPr>
        <p:spPr>
          <a:xfrm>
            <a:off x="949076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1A26B6B-82EE-59A9-3D0D-4CDE080B0A45}"/>
              </a:ext>
            </a:extLst>
          </p:cNvPr>
          <p:cNvCxnSpPr>
            <a:cxnSpLocks/>
          </p:cNvCxnSpPr>
          <p:nvPr/>
        </p:nvCxnSpPr>
        <p:spPr>
          <a:xfrm>
            <a:off x="10576617" y="5620655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14E4580-9AF5-5AF4-711D-79D914E49BF9}"/>
              </a:ext>
            </a:extLst>
          </p:cNvPr>
          <p:cNvSpPr txBox="1"/>
          <p:nvPr/>
        </p:nvSpPr>
        <p:spPr>
          <a:xfrm rot="16200000">
            <a:off x="6172281" y="595878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BCA7DE-2932-46AD-31FE-6035C8EAD643}"/>
              </a:ext>
            </a:extLst>
          </p:cNvPr>
          <p:cNvSpPr txBox="1"/>
          <p:nvPr/>
        </p:nvSpPr>
        <p:spPr>
          <a:xfrm rot="16200000">
            <a:off x="7020559" y="6260973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3FF9EF-1F1D-50FD-2821-02DE6DA969B2}"/>
              </a:ext>
            </a:extLst>
          </p:cNvPr>
          <p:cNvSpPr txBox="1"/>
          <p:nvPr/>
        </p:nvSpPr>
        <p:spPr>
          <a:xfrm rot="16200000">
            <a:off x="6892915" y="5707526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8B3AA59-0535-E89B-DEAE-D123DEDD0DA3}"/>
              </a:ext>
            </a:extLst>
          </p:cNvPr>
          <p:cNvSpPr/>
          <p:nvPr/>
        </p:nvSpPr>
        <p:spPr>
          <a:xfrm>
            <a:off x="7459708" y="5612069"/>
            <a:ext cx="4285941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5ADA22C-F29D-31A3-1355-42699549FB99}"/>
              </a:ext>
            </a:extLst>
          </p:cNvPr>
          <p:cNvCxnSpPr/>
          <p:nvPr/>
        </p:nvCxnSpPr>
        <p:spPr>
          <a:xfrm>
            <a:off x="8810625" y="1047750"/>
            <a:ext cx="2362200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D176017-5D4F-9022-3D88-2885E93C66E3}"/>
              </a:ext>
            </a:extLst>
          </p:cNvPr>
          <p:cNvCxnSpPr>
            <a:cxnSpLocks/>
          </p:cNvCxnSpPr>
          <p:nvPr/>
        </p:nvCxnSpPr>
        <p:spPr>
          <a:xfrm>
            <a:off x="4389866" y="1309542"/>
            <a:ext cx="69747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D539407-62D9-2175-1AA0-494EB8EB41F4}"/>
              </a:ext>
            </a:extLst>
          </p:cNvPr>
          <p:cNvCxnSpPr>
            <a:cxnSpLocks/>
          </p:cNvCxnSpPr>
          <p:nvPr/>
        </p:nvCxnSpPr>
        <p:spPr>
          <a:xfrm>
            <a:off x="4512365" y="1632707"/>
            <a:ext cx="4612585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018669F-7D72-1A59-6606-601C74600ABC}"/>
                  </a:ext>
                </a:extLst>
              </p:cNvPr>
              <p:cNvSpPr txBox="1"/>
              <p:nvPr/>
            </p:nvSpPr>
            <p:spPr>
              <a:xfrm>
                <a:off x="7716926" y="2999010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018669F-7D72-1A59-6606-601C74600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6926" y="2999010"/>
                <a:ext cx="419100" cy="4305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3E367C7-1E46-8E35-9282-C5F2FD30189F}"/>
                  </a:ext>
                </a:extLst>
              </p:cNvPr>
              <p:cNvSpPr txBox="1"/>
              <p:nvPr/>
            </p:nvSpPr>
            <p:spPr>
              <a:xfrm>
                <a:off x="8709257" y="2991277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3E367C7-1E46-8E35-9282-C5F2FD301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9257" y="2991277"/>
                <a:ext cx="419100" cy="417358"/>
              </a:xfrm>
              <a:prstGeom prst="rect">
                <a:avLst/>
              </a:prstGeom>
              <a:blipFill>
                <a:blip r:embed="rId5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1476ED3-8699-605F-C8B6-33542957251D}"/>
                  </a:ext>
                </a:extLst>
              </p:cNvPr>
              <p:cNvSpPr txBox="1"/>
              <p:nvPr/>
            </p:nvSpPr>
            <p:spPr>
              <a:xfrm>
                <a:off x="9701588" y="2983544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1476ED3-8699-605F-C8B6-335429572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1588" y="2983544"/>
                <a:ext cx="419100" cy="416781"/>
              </a:xfrm>
              <a:prstGeom prst="rect">
                <a:avLst/>
              </a:prstGeom>
              <a:blipFill>
                <a:blip r:embed="rId6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535D166-C2B8-EE39-4B9B-4B3BEF3DDD40}"/>
                  </a:ext>
                </a:extLst>
              </p:cNvPr>
              <p:cNvSpPr txBox="1"/>
              <p:nvPr/>
            </p:nvSpPr>
            <p:spPr>
              <a:xfrm>
                <a:off x="10923626" y="2995932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535D166-C2B8-EE39-4B9B-4B3BEF3DD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3626" y="2995932"/>
                <a:ext cx="419100" cy="416781"/>
              </a:xfrm>
              <a:prstGeom prst="rect">
                <a:avLst/>
              </a:prstGeom>
              <a:blipFill>
                <a:blip r:embed="rId6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A9BA96C-2F7C-872B-468D-5C5FC76E74DF}"/>
                  </a:ext>
                </a:extLst>
              </p:cNvPr>
              <p:cNvSpPr txBox="1"/>
              <p:nvPr/>
            </p:nvSpPr>
            <p:spPr>
              <a:xfrm>
                <a:off x="7697831" y="6227865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A9BA96C-2F7C-872B-468D-5C5FC76E7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7831" y="6227865"/>
                <a:ext cx="419100" cy="4305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6ADF7F4-28DA-4A7B-DD1B-B48DB2FD5B97}"/>
                  </a:ext>
                </a:extLst>
              </p:cNvPr>
              <p:cNvSpPr txBox="1"/>
              <p:nvPr/>
            </p:nvSpPr>
            <p:spPr>
              <a:xfrm>
                <a:off x="8697475" y="6199076"/>
                <a:ext cx="419100" cy="41575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6ADF7F4-28DA-4A7B-DD1B-B48DB2FD5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7475" y="6199076"/>
                <a:ext cx="419100" cy="415755"/>
              </a:xfrm>
              <a:prstGeom prst="rect">
                <a:avLst/>
              </a:prstGeom>
              <a:blipFill>
                <a:blip r:embed="rId8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2D4E7C1-047A-1B5F-71E5-303F1680B548}"/>
                  </a:ext>
                </a:extLst>
              </p:cNvPr>
              <p:cNvSpPr txBox="1"/>
              <p:nvPr/>
            </p:nvSpPr>
            <p:spPr>
              <a:xfrm>
                <a:off x="9697119" y="6170287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2D4E7C1-047A-1B5F-71E5-303F1680B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7119" y="6170287"/>
                <a:ext cx="419100" cy="416781"/>
              </a:xfrm>
              <a:prstGeom prst="rect">
                <a:avLst/>
              </a:prstGeom>
              <a:blipFill>
                <a:blip r:embed="rId9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11EB8EE-D81F-35B8-7352-7D1CF2F9CFCA}"/>
                  </a:ext>
                </a:extLst>
              </p:cNvPr>
              <p:cNvSpPr txBox="1"/>
              <p:nvPr/>
            </p:nvSpPr>
            <p:spPr>
              <a:xfrm>
                <a:off x="10923626" y="6217736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11EB8EE-D81F-35B8-7352-7D1CF2F9C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3626" y="6217736"/>
                <a:ext cx="41910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89579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3395E-3818-4989-B420-9F0C8207B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A5C9D-06C6-5D85-1B72-AD5231214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979AE4-E3E9-4213-7571-B1EA9D774683}"/>
              </a:ext>
            </a:extLst>
          </p:cNvPr>
          <p:cNvSpPr txBox="1"/>
          <p:nvPr/>
        </p:nvSpPr>
        <p:spPr>
          <a:xfrm>
            <a:off x="6322295" y="679691"/>
            <a:ext cx="3093167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try it</a:t>
            </a:r>
          </a:p>
        </p:txBody>
      </p:sp>
    </p:spTree>
    <p:extLst>
      <p:ext uri="{BB962C8B-B14F-4D97-AF65-F5344CB8AC3E}">
        <p14:creationId xmlns:p14="http://schemas.microsoft.com/office/powerpoint/2010/main" val="1992769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AB45A-4304-0D23-56C9-754BE97FC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BDF6C-3187-D64C-3D86-95A5B49E1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2C92E9-2C56-1BC2-18A9-118AE112725F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9A4031-7097-6283-4A4D-3C2775CBEE5E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much independent political power will the Commissioner of Sanitation amass?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satisfied will residents be with the cleanliness of city streets and sidewalks?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C243DC-B010-8464-BD45-3CF11F32AB89}"/>
              </a:ext>
            </a:extLst>
          </p:cNvPr>
          <p:cNvSpPr txBox="1"/>
          <p:nvPr/>
        </p:nvSpPr>
        <p:spPr>
          <a:xfrm>
            <a:off x="6322295" y="679691"/>
            <a:ext cx="3093167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try it</a:t>
            </a:r>
          </a:p>
        </p:txBody>
      </p:sp>
    </p:spTree>
    <p:extLst>
      <p:ext uri="{BB962C8B-B14F-4D97-AF65-F5344CB8AC3E}">
        <p14:creationId xmlns:p14="http://schemas.microsoft.com/office/powerpoint/2010/main" val="38017397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3D54-D86B-E802-09DD-C38B33AFF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1E526-F495-9BDA-F0EC-EA82C16FF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6D56D3-0C6E-DE50-3F42-9703D052C8C9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E2035D-B046-336F-1411-443124D4DC53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much independent political power will the Commissioner of Sanitation amass?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satisfied will residents be with the cleanliness of city streets and sidewalks?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B89DF5-B6F7-7529-0B92-C9CA9720CA3C}"/>
              </a:ext>
            </a:extLst>
          </p:cNvPr>
          <p:cNvSpPr txBox="1"/>
          <p:nvPr/>
        </p:nvSpPr>
        <p:spPr>
          <a:xfrm>
            <a:off x="4343400" y="1232852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Use the marginal-conditional method to build a model of these two uncertainties in which a the more satisfied residents are, the more likely the Commissioner is to amass more power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C8E214-80A2-FFED-9061-5A8B336EB978}"/>
              </a:ext>
            </a:extLst>
          </p:cNvPr>
          <p:cNvSpPr txBox="1"/>
          <p:nvPr/>
        </p:nvSpPr>
        <p:spPr>
          <a:xfrm>
            <a:off x="6322295" y="679691"/>
            <a:ext cx="3093167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try it</a:t>
            </a:r>
          </a:p>
        </p:txBody>
      </p:sp>
    </p:spTree>
    <p:extLst>
      <p:ext uri="{BB962C8B-B14F-4D97-AF65-F5344CB8AC3E}">
        <p14:creationId xmlns:p14="http://schemas.microsoft.com/office/powerpoint/2010/main" val="18074031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85A53-AD6F-B38E-955D-6078CBE7A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40BDA-6563-1D6F-A1CA-D2CA78849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244CD9-B89F-54EA-2121-F9C814970A24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BE0F45-1BC2-64BF-7CA6-01D57AF25773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much independent political power will the Commissioner of Sanitation amass?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satisfied will residents be with the cleanliness of city streets and sidewalks?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724FBC-FA3B-E3EA-7B82-776C5888E7A0}"/>
              </a:ext>
            </a:extLst>
          </p:cNvPr>
          <p:cNvSpPr txBox="1"/>
          <p:nvPr/>
        </p:nvSpPr>
        <p:spPr>
          <a:xfrm>
            <a:off x="4343400" y="1232852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Use the marginal-conditional method to build a model of these two uncertainties in which a the more satisfied residents are, the more likely the Commissioner is to amass more power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8F8628-9784-E477-63AF-0B09FF05D6DD}"/>
              </a:ext>
            </a:extLst>
          </p:cNvPr>
          <p:cNvSpPr txBox="1"/>
          <p:nvPr/>
        </p:nvSpPr>
        <p:spPr>
          <a:xfrm>
            <a:off x="6322295" y="679691"/>
            <a:ext cx="3093167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try it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EE60698-5765-42F6-3512-C9A3661476E3}"/>
              </a:ext>
            </a:extLst>
          </p:cNvPr>
          <p:cNvCxnSpPr>
            <a:cxnSpLocks/>
          </p:cNvCxnSpPr>
          <p:nvPr/>
        </p:nvCxnSpPr>
        <p:spPr>
          <a:xfrm>
            <a:off x="4391025" y="2146657"/>
            <a:ext cx="1921584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D6D630A-53F2-76D9-C753-EA57F2EB55E3}"/>
              </a:ext>
            </a:extLst>
          </p:cNvPr>
          <p:cNvCxnSpPr>
            <a:cxnSpLocks/>
          </p:cNvCxnSpPr>
          <p:nvPr/>
        </p:nvCxnSpPr>
        <p:spPr>
          <a:xfrm>
            <a:off x="4389866" y="1833017"/>
            <a:ext cx="6770851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9717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51C5B-775D-0855-ECA7-ED0FD9A01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A2D0D-7597-8636-FEBD-415185C30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793960-3C22-A5A1-6DF9-2AB20A9DA5AB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0ADD65-ADDF-F40E-D541-D26F3A1B796A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much independent political power will the Commissioner of Sanitation amass?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satisfied will residents be with the cleanliness of city streets and sidewalks?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2A1FDA-945A-797E-FDA6-53F4AB73F002}"/>
              </a:ext>
            </a:extLst>
          </p:cNvPr>
          <p:cNvSpPr txBox="1"/>
          <p:nvPr/>
        </p:nvSpPr>
        <p:spPr>
          <a:xfrm>
            <a:off x="4343400" y="1232852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Use the marginal-conditional method to build a model of these two uncertainties in which a the more satisfied residents are, the more likely the Commissioner is to amass more power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AD22B8-04F4-E7B0-17A6-47903EC0DEF5}"/>
              </a:ext>
            </a:extLst>
          </p:cNvPr>
          <p:cNvSpPr txBox="1"/>
          <p:nvPr/>
        </p:nvSpPr>
        <p:spPr>
          <a:xfrm>
            <a:off x="6322295" y="679691"/>
            <a:ext cx="3093167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try it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85BF59F-FB22-015A-749F-D9E3088C34EC}"/>
              </a:ext>
            </a:extLst>
          </p:cNvPr>
          <p:cNvCxnSpPr>
            <a:cxnSpLocks/>
          </p:cNvCxnSpPr>
          <p:nvPr/>
        </p:nvCxnSpPr>
        <p:spPr>
          <a:xfrm>
            <a:off x="4391025" y="2146657"/>
            <a:ext cx="1921584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04CF63F-86F1-D84A-A828-1D8BB4D5CBDE}"/>
              </a:ext>
            </a:extLst>
          </p:cNvPr>
          <p:cNvCxnSpPr>
            <a:cxnSpLocks/>
          </p:cNvCxnSpPr>
          <p:nvPr/>
        </p:nvCxnSpPr>
        <p:spPr>
          <a:xfrm>
            <a:off x="4389866" y="1833017"/>
            <a:ext cx="6770851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73BCFF3-19EB-627C-7C1A-A3BD1E713353}"/>
              </a:ext>
            </a:extLst>
          </p:cNvPr>
          <p:cNvSpPr txBox="1"/>
          <p:nvPr/>
        </p:nvSpPr>
        <p:spPr>
          <a:xfrm>
            <a:off x="3905250" y="2940552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satisfaction 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BF35A9-88C9-8FB6-65AF-AFC7E06EA921}"/>
              </a:ext>
            </a:extLst>
          </p:cNvPr>
          <p:cNvSpPr txBox="1"/>
          <p:nvPr/>
        </p:nvSpPr>
        <p:spPr>
          <a:xfrm>
            <a:off x="3790950" y="4514585"/>
            <a:ext cx="2038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satisfaction medium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29802F-CC02-2602-D0F7-70727A28D3E8}"/>
              </a:ext>
            </a:extLst>
          </p:cNvPr>
          <p:cNvSpPr txBox="1"/>
          <p:nvPr/>
        </p:nvSpPr>
        <p:spPr>
          <a:xfrm>
            <a:off x="3790950" y="6123533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satisfaction high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44A78E4-BF5C-126A-4A15-EF0716B5ABDF}"/>
              </a:ext>
            </a:extLst>
          </p:cNvPr>
          <p:cNvCxnSpPr>
            <a:cxnSpLocks/>
          </p:cNvCxnSpPr>
          <p:nvPr/>
        </p:nvCxnSpPr>
        <p:spPr>
          <a:xfrm flipV="1">
            <a:off x="1962150" y="3517134"/>
            <a:ext cx="1638300" cy="1366783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2FBCE3A-8391-B1D4-2053-B2984B7C566E}"/>
              </a:ext>
            </a:extLst>
          </p:cNvPr>
          <p:cNvCxnSpPr>
            <a:cxnSpLocks/>
          </p:cNvCxnSpPr>
          <p:nvPr/>
        </p:nvCxnSpPr>
        <p:spPr>
          <a:xfrm>
            <a:off x="3600450" y="3473040"/>
            <a:ext cx="2809875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6971937-7F06-AE54-A863-1CBA436655D6}"/>
              </a:ext>
            </a:extLst>
          </p:cNvPr>
          <p:cNvCxnSpPr>
            <a:cxnSpLocks/>
          </p:cNvCxnSpPr>
          <p:nvPr/>
        </p:nvCxnSpPr>
        <p:spPr>
          <a:xfrm>
            <a:off x="1962150" y="4883917"/>
            <a:ext cx="4400553" cy="44093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8C0E6EF-F740-5A00-959B-CC81B87B02DA}"/>
              </a:ext>
            </a:extLst>
          </p:cNvPr>
          <p:cNvCxnSpPr>
            <a:cxnSpLocks/>
          </p:cNvCxnSpPr>
          <p:nvPr/>
        </p:nvCxnSpPr>
        <p:spPr>
          <a:xfrm>
            <a:off x="1962150" y="4905963"/>
            <a:ext cx="1638300" cy="1723437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055FA26-C472-4666-A339-17CB3B12943C}"/>
              </a:ext>
            </a:extLst>
          </p:cNvPr>
          <p:cNvCxnSpPr>
            <a:cxnSpLocks/>
          </p:cNvCxnSpPr>
          <p:nvPr/>
        </p:nvCxnSpPr>
        <p:spPr>
          <a:xfrm>
            <a:off x="3429000" y="6511327"/>
            <a:ext cx="2883609" cy="3584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9A5B793-95B3-7448-5F26-3ED37E588CD5}"/>
                  </a:ext>
                </a:extLst>
              </p:cNvPr>
              <p:cNvSpPr txBox="1"/>
              <p:nvPr/>
            </p:nvSpPr>
            <p:spPr>
              <a:xfrm>
                <a:off x="5619749" y="2858384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9A5B793-95B3-7448-5F26-3ED37E588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749" y="2858384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2442B20-399B-FD8A-2082-E7258B8A233E}"/>
                  </a:ext>
                </a:extLst>
              </p:cNvPr>
              <p:cNvSpPr txBox="1"/>
              <p:nvPr/>
            </p:nvSpPr>
            <p:spPr>
              <a:xfrm>
                <a:off x="5829299" y="4363389"/>
                <a:ext cx="419100" cy="41562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2442B20-399B-FD8A-2082-E7258B8A2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299" y="4363389"/>
                <a:ext cx="419100" cy="415627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EBF07B8-F1BF-EA8F-E49F-4A4276CC834A}"/>
                  </a:ext>
                </a:extLst>
              </p:cNvPr>
              <p:cNvSpPr txBox="1"/>
              <p:nvPr/>
            </p:nvSpPr>
            <p:spPr>
              <a:xfrm>
                <a:off x="5676900" y="5982078"/>
                <a:ext cx="419100" cy="41562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EBF07B8-F1BF-EA8F-E49F-4A4276CC8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900" y="5982078"/>
                <a:ext cx="419100" cy="415627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66145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D7993-BA02-2424-F8FA-81CAE1D75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D487A-9859-DBB1-5B96-2E72FC052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AEF342-57E9-DB3E-8E19-DDE66CDE6924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28047C-C374-3781-3F29-A0F71F4E3DC3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much independent political power will the Commissioner of Sanitation amass?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satisfied will residents be with the cleanliness of city streets and sidewalks?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941061-DDF5-2E38-21D1-FED7FF9A7F09}"/>
              </a:ext>
            </a:extLst>
          </p:cNvPr>
          <p:cNvSpPr txBox="1"/>
          <p:nvPr/>
        </p:nvSpPr>
        <p:spPr>
          <a:xfrm>
            <a:off x="4343400" y="1232852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Use the marginal-conditional method to build a model of these two uncertainties in which a the more satisfied residents are, the more likely the Commissioner is to amass more power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0D8C3D-4534-25A5-B43D-E9ED4A2E98F7}"/>
              </a:ext>
            </a:extLst>
          </p:cNvPr>
          <p:cNvSpPr txBox="1"/>
          <p:nvPr/>
        </p:nvSpPr>
        <p:spPr>
          <a:xfrm>
            <a:off x="6322295" y="679691"/>
            <a:ext cx="3093167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try it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4FBAD69-9052-8377-41A8-FDDB0EE54C9A}"/>
              </a:ext>
            </a:extLst>
          </p:cNvPr>
          <p:cNvCxnSpPr>
            <a:cxnSpLocks/>
          </p:cNvCxnSpPr>
          <p:nvPr/>
        </p:nvCxnSpPr>
        <p:spPr>
          <a:xfrm>
            <a:off x="4391025" y="2146657"/>
            <a:ext cx="1921584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1770051-E33A-F62F-3CAA-080D2C20741D}"/>
              </a:ext>
            </a:extLst>
          </p:cNvPr>
          <p:cNvCxnSpPr>
            <a:cxnSpLocks/>
          </p:cNvCxnSpPr>
          <p:nvPr/>
        </p:nvCxnSpPr>
        <p:spPr>
          <a:xfrm>
            <a:off x="4389866" y="1833017"/>
            <a:ext cx="6770851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161598B-134A-FFFF-EAEB-32F3386BCBE5}"/>
              </a:ext>
            </a:extLst>
          </p:cNvPr>
          <p:cNvSpPr txBox="1"/>
          <p:nvPr/>
        </p:nvSpPr>
        <p:spPr>
          <a:xfrm>
            <a:off x="3905250" y="2940552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satisfaction 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8293D7-9685-EA98-FF82-2AF5DB23B503}"/>
              </a:ext>
            </a:extLst>
          </p:cNvPr>
          <p:cNvSpPr txBox="1"/>
          <p:nvPr/>
        </p:nvSpPr>
        <p:spPr>
          <a:xfrm>
            <a:off x="3790950" y="4514585"/>
            <a:ext cx="2038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satisfaction medium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B528B8-EDFC-BF32-E119-A767E22D04BB}"/>
              </a:ext>
            </a:extLst>
          </p:cNvPr>
          <p:cNvSpPr txBox="1"/>
          <p:nvPr/>
        </p:nvSpPr>
        <p:spPr>
          <a:xfrm>
            <a:off x="3790950" y="6123533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satisfaction high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12E4B16-C6CB-7E58-7FF2-9F596B48C6BE}"/>
              </a:ext>
            </a:extLst>
          </p:cNvPr>
          <p:cNvCxnSpPr>
            <a:cxnSpLocks/>
          </p:cNvCxnSpPr>
          <p:nvPr/>
        </p:nvCxnSpPr>
        <p:spPr>
          <a:xfrm flipV="1">
            <a:off x="1962150" y="3517134"/>
            <a:ext cx="1638300" cy="1366783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B586773-74DF-5C14-7EBA-29CC378D4899}"/>
              </a:ext>
            </a:extLst>
          </p:cNvPr>
          <p:cNvCxnSpPr>
            <a:cxnSpLocks/>
          </p:cNvCxnSpPr>
          <p:nvPr/>
        </p:nvCxnSpPr>
        <p:spPr>
          <a:xfrm>
            <a:off x="3600450" y="3473040"/>
            <a:ext cx="2809875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FA824F-A455-8973-C2D1-D8812A0B21F0}"/>
              </a:ext>
            </a:extLst>
          </p:cNvPr>
          <p:cNvCxnSpPr>
            <a:cxnSpLocks/>
          </p:cNvCxnSpPr>
          <p:nvPr/>
        </p:nvCxnSpPr>
        <p:spPr>
          <a:xfrm>
            <a:off x="1962150" y="4883917"/>
            <a:ext cx="4400553" cy="44093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0840B2-0B6A-B582-55A5-B9462BAD30E6}"/>
              </a:ext>
            </a:extLst>
          </p:cNvPr>
          <p:cNvCxnSpPr>
            <a:cxnSpLocks/>
          </p:cNvCxnSpPr>
          <p:nvPr/>
        </p:nvCxnSpPr>
        <p:spPr>
          <a:xfrm>
            <a:off x="1962150" y="4905963"/>
            <a:ext cx="1638300" cy="1723437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0F789C2-6170-3220-F796-5CB86B785FEE}"/>
              </a:ext>
            </a:extLst>
          </p:cNvPr>
          <p:cNvCxnSpPr>
            <a:cxnSpLocks/>
          </p:cNvCxnSpPr>
          <p:nvPr/>
        </p:nvCxnSpPr>
        <p:spPr>
          <a:xfrm>
            <a:off x="3429000" y="6511327"/>
            <a:ext cx="2883609" cy="3584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2A52890-BC6F-1B0A-393F-0A6FE9B44A0C}"/>
                  </a:ext>
                </a:extLst>
              </p:cNvPr>
              <p:cNvSpPr txBox="1"/>
              <p:nvPr/>
            </p:nvSpPr>
            <p:spPr>
              <a:xfrm>
                <a:off x="5619749" y="2858384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2A52890-BC6F-1B0A-393F-0A6FE9B44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749" y="2858384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945C0D2-E58D-F182-F9DD-6010209410E1}"/>
                  </a:ext>
                </a:extLst>
              </p:cNvPr>
              <p:cNvSpPr txBox="1"/>
              <p:nvPr/>
            </p:nvSpPr>
            <p:spPr>
              <a:xfrm>
                <a:off x="5829299" y="4363389"/>
                <a:ext cx="419100" cy="41562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945C0D2-E58D-F182-F9DD-601020941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299" y="4363389"/>
                <a:ext cx="419100" cy="415627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8B2F942-D115-DAD9-044A-3A90ECEDE3CF}"/>
                  </a:ext>
                </a:extLst>
              </p:cNvPr>
              <p:cNvSpPr txBox="1"/>
              <p:nvPr/>
            </p:nvSpPr>
            <p:spPr>
              <a:xfrm>
                <a:off x="5676900" y="5982078"/>
                <a:ext cx="419100" cy="41562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8B2F942-D115-DAD9-044A-3A90ECEDE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900" y="5982078"/>
                <a:ext cx="419100" cy="415627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F0E8EB68-02E0-0BA4-C9D0-8ED63F891887}"/>
              </a:ext>
            </a:extLst>
          </p:cNvPr>
          <p:cNvSpPr/>
          <p:nvPr/>
        </p:nvSpPr>
        <p:spPr>
          <a:xfrm>
            <a:off x="7591425" y="2858384"/>
            <a:ext cx="4476750" cy="1008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4B130F-5E82-FE00-026A-88F8A6F424EE}"/>
              </a:ext>
            </a:extLst>
          </p:cNvPr>
          <p:cNvSpPr txBox="1"/>
          <p:nvPr/>
        </p:nvSpPr>
        <p:spPr>
          <a:xfrm>
            <a:off x="9244012" y="2199505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satisfied?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341067-A8A7-997A-21F0-31F5690815B4}"/>
              </a:ext>
            </a:extLst>
          </p:cNvPr>
          <p:cNvSpPr txBox="1"/>
          <p:nvPr/>
        </p:nvSpPr>
        <p:spPr>
          <a:xfrm>
            <a:off x="7900987" y="2507282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low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62638F-6454-123F-03A1-A1FAD9D34DE4}"/>
              </a:ext>
            </a:extLst>
          </p:cNvPr>
          <p:cNvSpPr txBox="1"/>
          <p:nvPr/>
        </p:nvSpPr>
        <p:spPr>
          <a:xfrm>
            <a:off x="9382125" y="2507282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medium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881ADE-06C0-A8C3-9434-1A0430D4D805}"/>
              </a:ext>
            </a:extLst>
          </p:cNvPr>
          <p:cNvSpPr txBox="1"/>
          <p:nvPr/>
        </p:nvSpPr>
        <p:spPr>
          <a:xfrm>
            <a:off x="11039475" y="2485559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high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B412609-8BD7-3D1E-3A23-E438AE310D61}"/>
              </a:ext>
            </a:extLst>
          </p:cNvPr>
          <p:cNvCxnSpPr/>
          <p:nvPr/>
        </p:nvCxnSpPr>
        <p:spPr>
          <a:xfrm>
            <a:off x="9043987" y="2858384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51EB10A-BE1B-61B2-1577-54983CD8A5A4}"/>
              </a:ext>
            </a:extLst>
          </p:cNvPr>
          <p:cNvCxnSpPr/>
          <p:nvPr/>
        </p:nvCxnSpPr>
        <p:spPr>
          <a:xfrm>
            <a:off x="10682287" y="2858383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1EE4F3F-7AD5-5985-9AF9-B98BEBBBCA9A}"/>
              </a:ext>
            </a:extLst>
          </p:cNvPr>
          <p:cNvSpPr txBox="1"/>
          <p:nvPr/>
        </p:nvSpPr>
        <p:spPr>
          <a:xfrm rot="16200000">
            <a:off x="6142137" y="3208875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powerful?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7589FF8-641B-0F1C-64E6-BD0D7F6B263C}"/>
              </a:ext>
            </a:extLst>
          </p:cNvPr>
          <p:cNvCxnSpPr>
            <a:cxnSpLocks/>
            <a:stCxn id="10" idx="1"/>
            <a:endCxn id="10" idx="3"/>
          </p:cNvCxnSpPr>
          <p:nvPr/>
        </p:nvCxnSpPr>
        <p:spPr>
          <a:xfrm>
            <a:off x="7591425" y="3362764"/>
            <a:ext cx="44767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CC449DE-F672-BEF6-3C72-10A1ADF2948C}"/>
              </a:ext>
            </a:extLst>
          </p:cNvPr>
          <p:cNvSpPr txBox="1"/>
          <p:nvPr/>
        </p:nvSpPr>
        <p:spPr>
          <a:xfrm rot="16200000">
            <a:off x="6949379" y="2933233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very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CC4D5A-DCD6-FC9B-257D-0C68FE53705B}"/>
              </a:ext>
            </a:extLst>
          </p:cNvPr>
          <p:cNvSpPr txBox="1"/>
          <p:nvPr/>
        </p:nvSpPr>
        <p:spPr>
          <a:xfrm rot="16200000">
            <a:off x="6956523" y="3537781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not much</a:t>
            </a:r>
          </a:p>
        </p:txBody>
      </p:sp>
    </p:spTree>
    <p:extLst>
      <p:ext uri="{BB962C8B-B14F-4D97-AF65-F5344CB8AC3E}">
        <p14:creationId xmlns:p14="http://schemas.microsoft.com/office/powerpoint/2010/main" val="37023102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14783-06D0-4CFF-5F49-CAE1DD94C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85C6B-2BAC-0368-BFCA-A7C327D45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66C745-CB42-9F79-8DF8-216EF7E8400F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CFB2DC-C63D-6283-39DB-75886D20CDA0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much independent political power will the Commissioner of Sanitation amass?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satisfied will residents be with the cleanliness of city streets and sidewalks?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DF2978-0175-85F6-9E7A-1FBEE7710430}"/>
              </a:ext>
            </a:extLst>
          </p:cNvPr>
          <p:cNvSpPr txBox="1"/>
          <p:nvPr/>
        </p:nvSpPr>
        <p:spPr>
          <a:xfrm>
            <a:off x="4343400" y="1232852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Use the marginal-conditional method to build a model of these two uncertainties in which a the more satisfied residents are, the more likely the Commissioner is to amass more power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1D89BB-9AD8-70DD-3DA4-026B2B8760F7}"/>
              </a:ext>
            </a:extLst>
          </p:cNvPr>
          <p:cNvSpPr txBox="1"/>
          <p:nvPr/>
        </p:nvSpPr>
        <p:spPr>
          <a:xfrm>
            <a:off x="6322295" y="679691"/>
            <a:ext cx="3093167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try it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F12B3F8-3F68-BC24-C374-FB44F7CB2D8A}"/>
              </a:ext>
            </a:extLst>
          </p:cNvPr>
          <p:cNvCxnSpPr>
            <a:cxnSpLocks/>
          </p:cNvCxnSpPr>
          <p:nvPr/>
        </p:nvCxnSpPr>
        <p:spPr>
          <a:xfrm>
            <a:off x="4391025" y="2146657"/>
            <a:ext cx="1921584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BBB8E59-8178-3ABD-A183-5A2E5149B1D5}"/>
              </a:ext>
            </a:extLst>
          </p:cNvPr>
          <p:cNvCxnSpPr>
            <a:cxnSpLocks/>
          </p:cNvCxnSpPr>
          <p:nvPr/>
        </p:nvCxnSpPr>
        <p:spPr>
          <a:xfrm>
            <a:off x="4389866" y="1833017"/>
            <a:ext cx="6770851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90AD94B-2CA2-CECC-E065-129C327EC2DF}"/>
              </a:ext>
            </a:extLst>
          </p:cNvPr>
          <p:cNvSpPr txBox="1"/>
          <p:nvPr/>
        </p:nvSpPr>
        <p:spPr>
          <a:xfrm>
            <a:off x="3905250" y="2940552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satisfaction 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A6598C-AD6D-7AE4-AA9D-5F69848DE4C1}"/>
              </a:ext>
            </a:extLst>
          </p:cNvPr>
          <p:cNvSpPr txBox="1"/>
          <p:nvPr/>
        </p:nvSpPr>
        <p:spPr>
          <a:xfrm>
            <a:off x="3790950" y="4514585"/>
            <a:ext cx="2038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satisfaction medium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0601C8-40E3-DD87-2BA9-96BBA1E38069}"/>
              </a:ext>
            </a:extLst>
          </p:cNvPr>
          <p:cNvSpPr txBox="1"/>
          <p:nvPr/>
        </p:nvSpPr>
        <p:spPr>
          <a:xfrm>
            <a:off x="3790950" y="6123533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satisfaction high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DFA997-9C55-96E2-D3E1-AAA3A8D63E85}"/>
              </a:ext>
            </a:extLst>
          </p:cNvPr>
          <p:cNvCxnSpPr>
            <a:cxnSpLocks/>
          </p:cNvCxnSpPr>
          <p:nvPr/>
        </p:nvCxnSpPr>
        <p:spPr>
          <a:xfrm flipV="1">
            <a:off x="1962150" y="3517134"/>
            <a:ext cx="1638300" cy="1366783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CDDF4F-51DF-4B82-C773-E4E1DDA2AEAB}"/>
              </a:ext>
            </a:extLst>
          </p:cNvPr>
          <p:cNvCxnSpPr>
            <a:cxnSpLocks/>
          </p:cNvCxnSpPr>
          <p:nvPr/>
        </p:nvCxnSpPr>
        <p:spPr>
          <a:xfrm>
            <a:off x="3600450" y="3473040"/>
            <a:ext cx="2809875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FE444DC-C92F-D06A-6272-58DE10E66628}"/>
              </a:ext>
            </a:extLst>
          </p:cNvPr>
          <p:cNvCxnSpPr>
            <a:cxnSpLocks/>
          </p:cNvCxnSpPr>
          <p:nvPr/>
        </p:nvCxnSpPr>
        <p:spPr>
          <a:xfrm>
            <a:off x="1962150" y="4883917"/>
            <a:ext cx="4400553" cy="44093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8A25D3C-39F4-5863-BBB0-FCE8ED000EF2}"/>
              </a:ext>
            </a:extLst>
          </p:cNvPr>
          <p:cNvCxnSpPr>
            <a:cxnSpLocks/>
          </p:cNvCxnSpPr>
          <p:nvPr/>
        </p:nvCxnSpPr>
        <p:spPr>
          <a:xfrm>
            <a:off x="1962150" y="4905963"/>
            <a:ext cx="1638300" cy="1723437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47DE13E-D970-50DB-E975-6A1DCEC05A10}"/>
              </a:ext>
            </a:extLst>
          </p:cNvPr>
          <p:cNvCxnSpPr>
            <a:cxnSpLocks/>
          </p:cNvCxnSpPr>
          <p:nvPr/>
        </p:nvCxnSpPr>
        <p:spPr>
          <a:xfrm>
            <a:off x="3429000" y="6511327"/>
            <a:ext cx="2883609" cy="3584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3B714EF-C0DF-FBF1-4112-0C5DEFF3F133}"/>
                  </a:ext>
                </a:extLst>
              </p:cNvPr>
              <p:cNvSpPr txBox="1"/>
              <p:nvPr/>
            </p:nvSpPr>
            <p:spPr>
              <a:xfrm>
                <a:off x="5619749" y="2858384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3B714EF-C0DF-FBF1-4112-0C5DEFF3F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749" y="2858384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B8F1C94-8684-5E65-9AAA-E187F2DD1AB0}"/>
                  </a:ext>
                </a:extLst>
              </p:cNvPr>
              <p:cNvSpPr txBox="1"/>
              <p:nvPr/>
            </p:nvSpPr>
            <p:spPr>
              <a:xfrm>
                <a:off x="5829299" y="4363389"/>
                <a:ext cx="419100" cy="41562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B8F1C94-8684-5E65-9AAA-E187F2DD1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299" y="4363389"/>
                <a:ext cx="419100" cy="415627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5E56655-5EC6-06F1-6102-C82E100FD0A6}"/>
                  </a:ext>
                </a:extLst>
              </p:cNvPr>
              <p:cNvSpPr txBox="1"/>
              <p:nvPr/>
            </p:nvSpPr>
            <p:spPr>
              <a:xfrm>
                <a:off x="5676900" y="5982078"/>
                <a:ext cx="419100" cy="41562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5E56655-5EC6-06F1-6102-C82E100FD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900" y="5982078"/>
                <a:ext cx="419100" cy="415627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2FBE7AF0-7947-5249-AB6A-96D1EF963D17}"/>
              </a:ext>
            </a:extLst>
          </p:cNvPr>
          <p:cNvSpPr/>
          <p:nvPr/>
        </p:nvSpPr>
        <p:spPr>
          <a:xfrm>
            <a:off x="7553130" y="2538264"/>
            <a:ext cx="4476750" cy="1008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17FD8E-8B38-9A3B-C72A-B728547EA1D9}"/>
              </a:ext>
            </a:extLst>
          </p:cNvPr>
          <p:cNvSpPr txBox="1"/>
          <p:nvPr/>
        </p:nvSpPr>
        <p:spPr>
          <a:xfrm>
            <a:off x="9079315" y="1962289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satisfied?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EFE27B-7852-6E5D-6F18-94A7FFBBD86C}"/>
              </a:ext>
            </a:extLst>
          </p:cNvPr>
          <p:cNvSpPr txBox="1"/>
          <p:nvPr/>
        </p:nvSpPr>
        <p:spPr>
          <a:xfrm>
            <a:off x="7862692" y="2187162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low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70DE96-F1A4-7195-C526-32AB50BE288F}"/>
              </a:ext>
            </a:extLst>
          </p:cNvPr>
          <p:cNvSpPr txBox="1"/>
          <p:nvPr/>
        </p:nvSpPr>
        <p:spPr>
          <a:xfrm>
            <a:off x="9343830" y="2187162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medium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F0EBC9-45D3-48BE-DCD6-85B7C6B715E1}"/>
              </a:ext>
            </a:extLst>
          </p:cNvPr>
          <p:cNvSpPr txBox="1"/>
          <p:nvPr/>
        </p:nvSpPr>
        <p:spPr>
          <a:xfrm>
            <a:off x="11001180" y="2165439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high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8A5907C-4982-65E0-CDCC-2AEA69A1F933}"/>
              </a:ext>
            </a:extLst>
          </p:cNvPr>
          <p:cNvCxnSpPr/>
          <p:nvPr/>
        </p:nvCxnSpPr>
        <p:spPr>
          <a:xfrm>
            <a:off x="9005692" y="2538264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58367FA-1563-3135-F5DA-53D6B5E740CA}"/>
              </a:ext>
            </a:extLst>
          </p:cNvPr>
          <p:cNvCxnSpPr/>
          <p:nvPr/>
        </p:nvCxnSpPr>
        <p:spPr>
          <a:xfrm>
            <a:off x="10643992" y="2538263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D7774C3-2113-FE40-814F-E75DA55417DF}"/>
              </a:ext>
            </a:extLst>
          </p:cNvPr>
          <p:cNvSpPr txBox="1"/>
          <p:nvPr/>
        </p:nvSpPr>
        <p:spPr>
          <a:xfrm rot="16200000">
            <a:off x="6103842" y="2888755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powerful?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1F428B6-3A13-A42A-F1BF-39001FCF8075}"/>
              </a:ext>
            </a:extLst>
          </p:cNvPr>
          <p:cNvCxnSpPr>
            <a:cxnSpLocks/>
            <a:stCxn id="10" idx="1"/>
            <a:endCxn id="10" idx="3"/>
          </p:cNvCxnSpPr>
          <p:nvPr/>
        </p:nvCxnSpPr>
        <p:spPr>
          <a:xfrm>
            <a:off x="7553130" y="3042644"/>
            <a:ext cx="44767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7EB0CFE-44F6-50E3-D188-41B195D53A8C}"/>
              </a:ext>
            </a:extLst>
          </p:cNvPr>
          <p:cNvSpPr txBox="1"/>
          <p:nvPr/>
        </p:nvSpPr>
        <p:spPr>
          <a:xfrm rot="16200000">
            <a:off x="6911084" y="2613113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very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5B67B6-2ED6-0EB2-BB4D-857534851841}"/>
              </a:ext>
            </a:extLst>
          </p:cNvPr>
          <p:cNvSpPr txBox="1"/>
          <p:nvPr/>
        </p:nvSpPr>
        <p:spPr>
          <a:xfrm rot="16200000">
            <a:off x="6918228" y="3217661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not much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09E377-A155-4429-65A4-D4CF953A5701}"/>
              </a:ext>
            </a:extLst>
          </p:cNvPr>
          <p:cNvSpPr/>
          <p:nvPr/>
        </p:nvSpPr>
        <p:spPr>
          <a:xfrm>
            <a:off x="7553130" y="4301602"/>
            <a:ext cx="4476750" cy="1008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2EF9A9-3855-C91A-19F8-DD84A3D15CF0}"/>
              </a:ext>
            </a:extLst>
          </p:cNvPr>
          <p:cNvSpPr txBox="1"/>
          <p:nvPr/>
        </p:nvSpPr>
        <p:spPr>
          <a:xfrm>
            <a:off x="9205717" y="3642723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satisfied?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A0BEB9-62D5-E3F3-9BDD-FAD6E9EC9ED0}"/>
              </a:ext>
            </a:extLst>
          </p:cNvPr>
          <p:cNvSpPr txBox="1"/>
          <p:nvPr/>
        </p:nvSpPr>
        <p:spPr>
          <a:xfrm>
            <a:off x="7862692" y="3926734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low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C83FB3-BC1D-B2E9-390D-A0543398DB0A}"/>
              </a:ext>
            </a:extLst>
          </p:cNvPr>
          <p:cNvSpPr txBox="1"/>
          <p:nvPr/>
        </p:nvSpPr>
        <p:spPr>
          <a:xfrm>
            <a:off x="9343830" y="3950500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medium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3D5FCA-B6E4-C2C7-0B88-CCFF75C98714}"/>
              </a:ext>
            </a:extLst>
          </p:cNvPr>
          <p:cNvSpPr txBox="1"/>
          <p:nvPr/>
        </p:nvSpPr>
        <p:spPr>
          <a:xfrm>
            <a:off x="11001180" y="3928777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high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F3B0F40-831D-7E6D-33AC-455909ABF87D}"/>
              </a:ext>
            </a:extLst>
          </p:cNvPr>
          <p:cNvCxnSpPr/>
          <p:nvPr/>
        </p:nvCxnSpPr>
        <p:spPr>
          <a:xfrm>
            <a:off x="9072366" y="4326333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B2D745E-653D-C39B-E068-C4D0F763235B}"/>
              </a:ext>
            </a:extLst>
          </p:cNvPr>
          <p:cNvCxnSpPr/>
          <p:nvPr/>
        </p:nvCxnSpPr>
        <p:spPr>
          <a:xfrm>
            <a:off x="10643992" y="4301601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D332643-C0B5-BACF-5467-BF831392FA57}"/>
              </a:ext>
            </a:extLst>
          </p:cNvPr>
          <p:cNvSpPr txBox="1"/>
          <p:nvPr/>
        </p:nvSpPr>
        <p:spPr>
          <a:xfrm rot="16200000">
            <a:off x="6103842" y="4652093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powerful?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21B2152-23B0-C30F-C140-B5702E359A73}"/>
              </a:ext>
            </a:extLst>
          </p:cNvPr>
          <p:cNvCxnSpPr>
            <a:cxnSpLocks/>
            <a:stCxn id="18" idx="1"/>
            <a:endCxn id="18" idx="3"/>
          </p:cNvCxnSpPr>
          <p:nvPr/>
        </p:nvCxnSpPr>
        <p:spPr>
          <a:xfrm>
            <a:off x="7553130" y="4805982"/>
            <a:ext cx="44767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F5C35D1-786B-C73A-48A5-508FF4B3364B}"/>
              </a:ext>
            </a:extLst>
          </p:cNvPr>
          <p:cNvSpPr txBox="1"/>
          <p:nvPr/>
        </p:nvSpPr>
        <p:spPr>
          <a:xfrm rot="16200000">
            <a:off x="6911084" y="4376451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very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633C0F9-3E34-7D69-243A-F7308E5F5AAC}"/>
              </a:ext>
            </a:extLst>
          </p:cNvPr>
          <p:cNvSpPr txBox="1"/>
          <p:nvPr/>
        </p:nvSpPr>
        <p:spPr>
          <a:xfrm rot="16200000">
            <a:off x="6918228" y="4980999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not much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7A4982A-DFCF-30CD-9ACA-64730F022B9E}"/>
              </a:ext>
            </a:extLst>
          </p:cNvPr>
          <p:cNvSpPr/>
          <p:nvPr/>
        </p:nvSpPr>
        <p:spPr>
          <a:xfrm>
            <a:off x="7512648" y="5846755"/>
            <a:ext cx="4476750" cy="1008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1F0083-85B3-1F00-5F29-5403D72FCA6D}"/>
              </a:ext>
            </a:extLst>
          </p:cNvPr>
          <p:cNvSpPr txBox="1"/>
          <p:nvPr/>
        </p:nvSpPr>
        <p:spPr>
          <a:xfrm>
            <a:off x="9195996" y="5309241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satisfied?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0A57751-01A9-F9A7-3A85-981B5FF44C3B}"/>
              </a:ext>
            </a:extLst>
          </p:cNvPr>
          <p:cNvSpPr txBox="1"/>
          <p:nvPr/>
        </p:nvSpPr>
        <p:spPr>
          <a:xfrm>
            <a:off x="7822210" y="5495653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low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FB7192-C688-41B7-191A-7DEA3E57E056}"/>
              </a:ext>
            </a:extLst>
          </p:cNvPr>
          <p:cNvSpPr txBox="1"/>
          <p:nvPr/>
        </p:nvSpPr>
        <p:spPr>
          <a:xfrm>
            <a:off x="9303348" y="5495653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medium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1EEB3E2-D37C-E095-58DD-605E15889ACB}"/>
              </a:ext>
            </a:extLst>
          </p:cNvPr>
          <p:cNvSpPr txBox="1"/>
          <p:nvPr/>
        </p:nvSpPr>
        <p:spPr>
          <a:xfrm>
            <a:off x="10960698" y="5473930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high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356B5C1-3E13-5522-996F-338A9B5BCFE8}"/>
              </a:ext>
            </a:extLst>
          </p:cNvPr>
          <p:cNvCxnSpPr/>
          <p:nvPr/>
        </p:nvCxnSpPr>
        <p:spPr>
          <a:xfrm>
            <a:off x="8965210" y="5846755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F673CF2-37F3-A1F9-A1D1-65570F0304AE}"/>
              </a:ext>
            </a:extLst>
          </p:cNvPr>
          <p:cNvCxnSpPr/>
          <p:nvPr/>
        </p:nvCxnSpPr>
        <p:spPr>
          <a:xfrm>
            <a:off x="10603510" y="5846754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A8EAD8F-BDCA-CEB1-A342-F41EC22329D3}"/>
              </a:ext>
            </a:extLst>
          </p:cNvPr>
          <p:cNvSpPr txBox="1"/>
          <p:nvPr/>
        </p:nvSpPr>
        <p:spPr>
          <a:xfrm rot="16200000">
            <a:off x="6063360" y="6197246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powerful?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33F4DD4-F1B7-2F51-6075-24628C319ECB}"/>
              </a:ext>
            </a:extLst>
          </p:cNvPr>
          <p:cNvCxnSpPr>
            <a:cxnSpLocks/>
            <a:stCxn id="42" idx="1"/>
            <a:endCxn id="42" idx="3"/>
          </p:cNvCxnSpPr>
          <p:nvPr/>
        </p:nvCxnSpPr>
        <p:spPr>
          <a:xfrm>
            <a:off x="7512648" y="6351135"/>
            <a:ext cx="44767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20EA4ACE-916E-2E5F-7A59-D64C7E462E92}"/>
              </a:ext>
            </a:extLst>
          </p:cNvPr>
          <p:cNvSpPr txBox="1"/>
          <p:nvPr/>
        </p:nvSpPr>
        <p:spPr>
          <a:xfrm rot="16200000">
            <a:off x="6870602" y="5921604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very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DF72E24-271E-7596-9026-859662A40241}"/>
              </a:ext>
            </a:extLst>
          </p:cNvPr>
          <p:cNvSpPr txBox="1"/>
          <p:nvPr/>
        </p:nvSpPr>
        <p:spPr>
          <a:xfrm rot="16200000">
            <a:off x="6877746" y="6526152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not much</a:t>
            </a:r>
          </a:p>
        </p:txBody>
      </p:sp>
    </p:spTree>
    <p:extLst>
      <p:ext uri="{BB962C8B-B14F-4D97-AF65-F5344CB8AC3E}">
        <p14:creationId xmlns:p14="http://schemas.microsoft.com/office/powerpoint/2010/main" val="23610879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95294-4D66-476B-6578-DFA53BCF7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77D4B-C9B0-B9F4-DCC2-29A13857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7564CE-8274-F1F0-338B-F889414D2C45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7A731A-96B0-DEA4-6D3A-CD05FC6AE027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much independent political power will the Commissioner of Sanitation amass?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satisfied will residents be with the cleanliness of city streets and sidewalks?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0166F4-FB46-599A-496B-D5ABDA800751}"/>
              </a:ext>
            </a:extLst>
          </p:cNvPr>
          <p:cNvSpPr txBox="1"/>
          <p:nvPr/>
        </p:nvSpPr>
        <p:spPr>
          <a:xfrm>
            <a:off x="4343400" y="1232852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Use the marginal-conditional method to build a model of these two uncertainties in which a the more satisfied residents are, the more likely the Commissioner is to amass more power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1DC980-19F4-729C-CDD7-C59773CC324B}"/>
              </a:ext>
            </a:extLst>
          </p:cNvPr>
          <p:cNvSpPr txBox="1"/>
          <p:nvPr/>
        </p:nvSpPr>
        <p:spPr>
          <a:xfrm>
            <a:off x="6322295" y="679691"/>
            <a:ext cx="3093167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try it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6223F4E-7376-85C3-3EBB-106F9AA5F492}"/>
              </a:ext>
            </a:extLst>
          </p:cNvPr>
          <p:cNvCxnSpPr>
            <a:cxnSpLocks/>
          </p:cNvCxnSpPr>
          <p:nvPr/>
        </p:nvCxnSpPr>
        <p:spPr>
          <a:xfrm>
            <a:off x="4391025" y="2146657"/>
            <a:ext cx="1921584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7917A61-6281-9171-EBE7-D437288EF93E}"/>
              </a:ext>
            </a:extLst>
          </p:cNvPr>
          <p:cNvCxnSpPr>
            <a:cxnSpLocks/>
          </p:cNvCxnSpPr>
          <p:nvPr/>
        </p:nvCxnSpPr>
        <p:spPr>
          <a:xfrm>
            <a:off x="4389866" y="1833017"/>
            <a:ext cx="6770851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AED9C22-3E04-8381-5B80-9175824C986F}"/>
              </a:ext>
            </a:extLst>
          </p:cNvPr>
          <p:cNvSpPr txBox="1"/>
          <p:nvPr/>
        </p:nvSpPr>
        <p:spPr>
          <a:xfrm>
            <a:off x="3905250" y="2940552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satisfaction 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E45DDF-CDB3-329A-012E-D8CB0242CA63}"/>
              </a:ext>
            </a:extLst>
          </p:cNvPr>
          <p:cNvSpPr txBox="1"/>
          <p:nvPr/>
        </p:nvSpPr>
        <p:spPr>
          <a:xfrm>
            <a:off x="3790950" y="4514585"/>
            <a:ext cx="2038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satisfaction medium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63A428-4270-F36A-5CB0-76C9B08F2E50}"/>
              </a:ext>
            </a:extLst>
          </p:cNvPr>
          <p:cNvSpPr txBox="1"/>
          <p:nvPr/>
        </p:nvSpPr>
        <p:spPr>
          <a:xfrm>
            <a:off x="3790950" y="6123533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satisfaction high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419FBF9-439A-5E50-BA15-F152285F5E0F}"/>
              </a:ext>
            </a:extLst>
          </p:cNvPr>
          <p:cNvCxnSpPr>
            <a:cxnSpLocks/>
          </p:cNvCxnSpPr>
          <p:nvPr/>
        </p:nvCxnSpPr>
        <p:spPr>
          <a:xfrm flipV="1">
            <a:off x="1962150" y="3517134"/>
            <a:ext cx="1638300" cy="1366783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706902-4EAF-7D5D-DF58-9F332E53AD4B}"/>
              </a:ext>
            </a:extLst>
          </p:cNvPr>
          <p:cNvCxnSpPr>
            <a:cxnSpLocks/>
          </p:cNvCxnSpPr>
          <p:nvPr/>
        </p:nvCxnSpPr>
        <p:spPr>
          <a:xfrm>
            <a:off x="3600450" y="3473040"/>
            <a:ext cx="2809875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9021399-F72B-63B0-ABEF-D5CD03DEA8E3}"/>
              </a:ext>
            </a:extLst>
          </p:cNvPr>
          <p:cNvCxnSpPr>
            <a:cxnSpLocks/>
          </p:cNvCxnSpPr>
          <p:nvPr/>
        </p:nvCxnSpPr>
        <p:spPr>
          <a:xfrm>
            <a:off x="1962150" y="4883917"/>
            <a:ext cx="4400553" cy="44093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8A96334-572A-DD3E-3E49-3ED120355751}"/>
              </a:ext>
            </a:extLst>
          </p:cNvPr>
          <p:cNvCxnSpPr>
            <a:cxnSpLocks/>
          </p:cNvCxnSpPr>
          <p:nvPr/>
        </p:nvCxnSpPr>
        <p:spPr>
          <a:xfrm>
            <a:off x="1962150" y="4905963"/>
            <a:ext cx="1638300" cy="1723437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B135A20-80E6-EAE7-215C-134E4142F419}"/>
              </a:ext>
            </a:extLst>
          </p:cNvPr>
          <p:cNvCxnSpPr>
            <a:cxnSpLocks/>
          </p:cNvCxnSpPr>
          <p:nvPr/>
        </p:nvCxnSpPr>
        <p:spPr>
          <a:xfrm>
            <a:off x="3429000" y="6511327"/>
            <a:ext cx="2883609" cy="3584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7B8F028-9063-5F14-030E-84FC8C9562B8}"/>
                  </a:ext>
                </a:extLst>
              </p:cNvPr>
              <p:cNvSpPr txBox="1"/>
              <p:nvPr/>
            </p:nvSpPr>
            <p:spPr>
              <a:xfrm>
                <a:off x="5619749" y="2858384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7B8F028-9063-5F14-030E-84FC8C956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749" y="2858384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98CAE36-830A-6273-E798-7020B3953D10}"/>
                  </a:ext>
                </a:extLst>
              </p:cNvPr>
              <p:cNvSpPr txBox="1"/>
              <p:nvPr/>
            </p:nvSpPr>
            <p:spPr>
              <a:xfrm>
                <a:off x="5829299" y="4363389"/>
                <a:ext cx="419100" cy="41562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98CAE36-830A-6273-E798-7020B3953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299" y="4363389"/>
                <a:ext cx="419100" cy="415627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65BAFFD-A7C9-9F8B-3D4F-DCBBBACBFF14}"/>
                  </a:ext>
                </a:extLst>
              </p:cNvPr>
              <p:cNvSpPr txBox="1"/>
              <p:nvPr/>
            </p:nvSpPr>
            <p:spPr>
              <a:xfrm>
                <a:off x="5676900" y="5982078"/>
                <a:ext cx="419100" cy="41562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65BAFFD-A7C9-9F8B-3D4F-DCBBBACBF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900" y="5982078"/>
                <a:ext cx="419100" cy="415627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4FE19773-2A9F-CF03-B411-9CF9BD938F7D}"/>
              </a:ext>
            </a:extLst>
          </p:cNvPr>
          <p:cNvSpPr/>
          <p:nvPr/>
        </p:nvSpPr>
        <p:spPr>
          <a:xfrm>
            <a:off x="7553130" y="2538264"/>
            <a:ext cx="4476750" cy="1008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CEFE03-B365-B5EA-3899-55AB66881D9E}"/>
              </a:ext>
            </a:extLst>
          </p:cNvPr>
          <p:cNvSpPr txBox="1"/>
          <p:nvPr/>
        </p:nvSpPr>
        <p:spPr>
          <a:xfrm>
            <a:off x="9079315" y="1962289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satisfied?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7359B4-B427-4559-3E23-C22B44FEA25C}"/>
              </a:ext>
            </a:extLst>
          </p:cNvPr>
          <p:cNvSpPr txBox="1"/>
          <p:nvPr/>
        </p:nvSpPr>
        <p:spPr>
          <a:xfrm>
            <a:off x="7862692" y="2187162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low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106B04-D1B7-4B42-3289-D53D864A3DB6}"/>
              </a:ext>
            </a:extLst>
          </p:cNvPr>
          <p:cNvSpPr txBox="1"/>
          <p:nvPr/>
        </p:nvSpPr>
        <p:spPr>
          <a:xfrm>
            <a:off x="9343830" y="2187162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medium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5D4188-B2A8-7C2D-C6F8-ED0C6C919AA3}"/>
              </a:ext>
            </a:extLst>
          </p:cNvPr>
          <p:cNvSpPr txBox="1"/>
          <p:nvPr/>
        </p:nvSpPr>
        <p:spPr>
          <a:xfrm>
            <a:off x="11001180" y="2165439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high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C0E000D-719F-83A2-442A-832FAA63E83F}"/>
              </a:ext>
            </a:extLst>
          </p:cNvPr>
          <p:cNvCxnSpPr/>
          <p:nvPr/>
        </p:nvCxnSpPr>
        <p:spPr>
          <a:xfrm>
            <a:off x="9005692" y="2538264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BE75F37-EC34-3D63-17C6-9738D6FF9CC0}"/>
              </a:ext>
            </a:extLst>
          </p:cNvPr>
          <p:cNvCxnSpPr/>
          <p:nvPr/>
        </p:nvCxnSpPr>
        <p:spPr>
          <a:xfrm>
            <a:off x="10643992" y="2538263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2C4A577-6D74-B028-5358-C5E0768F877B}"/>
              </a:ext>
            </a:extLst>
          </p:cNvPr>
          <p:cNvSpPr txBox="1"/>
          <p:nvPr/>
        </p:nvSpPr>
        <p:spPr>
          <a:xfrm rot="16200000">
            <a:off x="6103842" y="2888755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powerful?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71A801D-5749-2F18-2933-5D4727E58597}"/>
              </a:ext>
            </a:extLst>
          </p:cNvPr>
          <p:cNvCxnSpPr>
            <a:cxnSpLocks/>
            <a:stCxn id="10" idx="1"/>
            <a:endCxn id="10" idx="3"/>
          </p:cNvCxnSpPr>
          <p:nvPr/>
        </p:nvCxnSpPr>
        <p:spPr>
          <a:xfrm>
            <a:off x="7553130" y="3042644"/>
            <a:ext cx="44767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25778CA-5B42-10C4-4C54-9ABEFE372171}"/>
              </a:ext>
            </a:extLst>
          </p:cNvPr>
          <p:cNvSpPr txBox="1"/>
          <p:nvPr/>
        </p:nvSpPr>
        <p:spPr>
          <a:xfrm rot="16200000">
            <a:off x="6911084" y="2613113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very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AFB2A8-4E9B-2173-1A33-28547700A41C}"/>
              </a:ext>
            </a:extLst>
          </p:cNvPr>
          <p:cNvSpPr txBox="1"/>
          <p:nvPr/>
        </p:nvSpPr>
        <p:spPr>
          <a:xfrm rot="16200000">
            <a:off x="6918228" y="3217661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not much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9A952F-AEA1-7A67-F5E1-A26A31D0EF4F}"/>
              </a:ext>
            </a:extLst>
          </p:cNvPr>
          <p:cNvSpPr/>
          <p:nvPr/>
        </p:nvSpPr>
        <p:spPr>
          <a:xfrm>
            <a:off x="7553130" y="4301602"/>
            <a:ext cx="4476750" cy="1008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7869F8-41DB-1D50-40B1-9E673F39D64A}"/>
              </a:ext>
            </a:extLst>
          </p:cNvPr>
          <p:cNvSpPr txBox="1"/>
          <p:nvPr/>
        </p:nvSpPr>
        <p:spPr>
          <a:xfrm>
            <a:off x="9205717" y="3642723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satisfied?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10B5DA-15BD-C334-4AF7-08390D43F323}"/>
              </a:ext>
            </a:extLst>
          </p:cNvPr>
          <p:cNvSpPr txBox="1"/>
          <p:nvPr/>
        </p:nvSpPr>
        <p:spPr>
          <a:xfrm>
            <a:off x="7862692" y="3926734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low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C47FC7-B615-0212-8E34-66D0C3992351}"/>
              </a:ext>
            </a:extLst>
          </p:cNvPr>
          <p:cNvSpPr txBox="1"/>
          <p:nvPr/>
        </p:nvSpPr>
        <p:spPr>
          <a:xfrm>
            <a:off x="9343830" y="3950500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medium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8C375A-B693-E11F-B6A5-DA75763256E8}"/>
              </a:ext>
            </a:extLst>
          </p:cNvPr>
          <p:cNvSpPr txBox="1"/>
          <p:nvPr/>
        </p:nvSpPr>
        <p:spPr>
          <a:xfrm>
            <a:off x="11001180" y="3928777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high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9D9ACE-D74F-B709-BF93-C6B90300143F}"/>
              </a:ext>
            </a:extLst>
          </p:cNvPr>
          <p:cNvCxnSpPr/>
          <p:nvPr/>
        </p:nvCxnSpPr>
        <p:spPr>
          <a:xfrm>
            <a:off x="9072366" y="4326333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451ED0D-EA49-25DD-0068-345B97C5E2DC}"/>
              </a:ext>
            </a:extLst>
          </p:cNvPr>
          <p:cNvCxnSpPr/>
          <p:nvPr/>
        </p:nvCxnSpPr>
        <p:spPr>
          <a:xfrm>
            <a:off x="10643992" y="4301601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9A6639D-1300-61E4-AA87-418F58BAFFC0}"/>
              </a:ext>
            </a:extLst>
          </p:cNvPr>
          <p:cNvSpPr txBox="1"/>
          <p:nvPr/>
        </p:nvSpPr>
        <p:spPr>
          <a:xfrm rot="16200000">
            <a:off x="6103842" y="4652093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powerful?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158A7D5-AE1B-D669-72FB-FC598054DFEE}"/>
              </a:ext>
            </a:extLst>
          </p:cNvPr>
          <p:cNvCxnSpPr>
            <a:cxnSpLocks/>
            <a:stCxn id="18" idx="1"/>
            <a:endCxn id="18" idx="3"/>
          </p:cNvCxnSpPr>
          <p:nvPr/>
        </p:nvCxnSpPr>
        <p:spPr>
          <a:xfrm>
            <a:off x="7553130" y="4805982"/>
            <a:ext cx="44767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8587F33-ADE4-F72D-A90B-923029126BD0}"/>
              </a:ext>
            </a:extLst>
          </p:cNvPr>
          <p:cNvSpPr txBox="1"/>
          <p:nvPr/>
        </p:nvSpPr>
        <p:spPr>
          <a:xfrm rot="16200000">
            <a:off x="6911084" y="4376451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very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FA00B6-AD9B-0894-0600-C1A8618BEA0C}"/>
              </a:ext>
            </a:extLst>
          </p:cNvPr>
          <p:cNvSpPr txBox="1"/>
          <p:nvPr/>
        </p:nvSpPr>
        <p:spPr>
          <a:xfrm rot="16200000">
            <a:off x="6918228" y="4980999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not much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21DE6D6-0B80-8B3E-2DE3-E734FBFDB10B}"/>
              </a:ext>
            </a:extLst>
          </p:cNvPr>
          <p:cNvSpPr/>
          <p:nvPr/>
        </p:nvSpPr>
        <p:spPr>
          <a:xfrm>
            <a:off x="7512648" y="5846755"/>
            <a:ext cx="4476750" cy="1008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54A619-C9D8-CE7E-A803-454FE1CB0FA2}"/>
              </a:ext>
            </a:extLst>
          </p:cNvPr>
          <p:cNvSpPr txBox="1"/>
          <p:nvPr/>
        </p:nvSpPr>
        <p:spPr>
          <a:xfrm>
            <a:off x="9195996" y="5309241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satisfied?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EDF626-8361-96C4-CC62-9991134E1158}"/>
              </a:ext>
            </a:extLst>
          </p:cNvPr>
          <p:cNvSpPr txBox="1"/>
          <p:nvPr/>
        </p:nvSpPr>
        <p:spPr>
          <a:xfrm>
            <a:off x="7822210" y="5495653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low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05B19B-4786-FC06-309B-7D8DB5C52FCF}"/>
              </a:ext>
            </a:extLst>
          </p:cNvPr>
          <p:cNvSpPr txBox="1"/>
          <p:nvPr/>
        </p:nvSpPr>
        <p:spPr>
          <a:xfrm>
            <a:off x="9303348" y="5495653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medium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1FB6120-AFEE-96FC-9097-3A90FA595048}"/>
              </a:ext>
            </a:extLst>
          </p:cNvPr>
          <p:cNvSpPr txBox="1"/>
          <p:nvPr/>
        </p:nvSpPr>
        <p:spPr>
          <a:xfrm>
            <a:off x="10960698" y="5473930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high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0801AD1-B42F-2531-40CA-6BDC7DC2499D}"/>
              </a:ext>
            </a:extLst>
          </p:cNvPr>
          <p:cNvCxnSpPr/>
          <p:nvPr/>
        </p:nvCxnSpPr>
        <p:spPr>
          <a:xfrm>
            <a:off x="8965210" y="5846755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3213090-4806-F356-C9FA-342E70B518F1}"/>
              </a:ext>
            </a:extLst>
          </p:cNvPr>
          <p:cNvCxnSpPr/>
          <p:nvPr/>
        </p:nvCxnSpPr>
        <p:spPr>
          <a:xfrm>
            <a:off x="10603510" y="5846754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3D2643A-34BD-56F0-D278-D39B73A25135}"/>
              </a:ext>
            </a:extLst>
          </p:cNvPr>
          <p:cNvSpPr txBox="1"/>
          <p:nvPr/>
        </p:nvSpPr>
        <p:spPr>
          <a:xfrm rot="16200000">
            <a:off x="6063360" y="6197246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powerful?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EFA9150-C095-A3DF-8135-B2FB724D94C0}"/>
              </a:ext>
            </a:extLst>
          </p:cNvPr>
          <p:cNvCxnSpPr>
            <a:cxnSpLocks/>
            <a:stCxn id="42" idx="1"/>
            <a:endCxn id="42" idx="3"/>
          </p:cNvCxnSpPr>
          <p:nvPr/>
        </p:nvCxnSpPr>
        <p:spPr>
          <a:xfrm>
            <a:off x="7512648" y="6351135"/>
            <a:ext cx="44767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8C0E074-702B-B214-BC7D-CE3C172640B4}"/>
              </a:ext>
            </a:extLst>
          </p:cNvPr>
          <p:cNvSpPr txBox="1"/>
          <p:nvPr/>
        </p:nvSpPr>
        <p:spPr>
          <a:xfrm rot="16200000">
            <a:off x="6870602" y="5921604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very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574A653-B798-3F44-D2E1-04F614B4DA84}"/>
              </a:ext>
            </a:extLst>
          </p:cNvPr>
          <p:cNvSpPr txBox="1"/>
          <p:nvPr/>
        </p:nvSpPr>
        <p:spPr>
          <a:xfrm rot="16200000">
            <a:off x="6877746" y="6526152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not much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5ED00D4-7C80-0258-8C04-7F36B3CB7398}"/>
              </a:ext>
            </a:extLst>
          </p:cNvPr>
          <p:cNvSpPr/>
          <p:nvPr/>
        </p:nvSpPr>
        <p:spPr>
          <a:xfrm>
            <a:off x="9005692" y="2538263"/>
            <a:ext cx="1604957" cy="997448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19FE4A9-BAEC-BC25-4480-EEBFBBF55F71}"/>
              </a:ext>
            </a:extLst>
          </p:cNvPr>
          <p:cNvSpPr/>
          <p:nvPr/>
        </p:nvSpPr>
        <p:spPr>
          <a:xfrm>
            <a:off x="10643993" y="2538263"/>
            <a:ext cx="1339534" cy="997448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7D3A683-F29D-5836-6585-E10E612814BD}"/>
              </a:ext>
            </a:extLst>
          </p:cNvPr>
          <p:cNvSpPr/>
          <p:nvPr/>
        </p:nvSpPr>
        <p:spPr>
          <a:xfrm>
            <a:off x="10684475" y="4328921"/>
            <a:ext cx="1339534" cy="997448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BDE1AA8-4EE6-9A13-80BC-1459BD944A06}"/>
              </a:ext>
            </a:extLst>
          </p:cNvPr>
          <p:cNvSpPr/>
          <p:nvPr/>
        </p:nvSpPr>
        <p:spPr>
          <a:xfrm>
            <a:off x="7553129" y="4320918"/>
            <a:ext cx="1478753" cy="997448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B2767E4-51C1-B8EF-C027-40D41A5FF3E6}"/>
              </a:ext>
            </a:extLst>
          </p:cNvPr>
          <p:cNvSpPr/>
          <p:nvPr/>
        </p:nvSpPr>
        <p:spPr>
          <a:xfrm>
            <a:off x="7526938" y="5854759"/>
            <a:ext cx="1478753" cy="997448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E7D19F2-3E62-6312-9247-5E02A6F430A2}"/>
              </a:ext>
            </a:extLst>
          </p:cNvPr>
          <p:cNvSpPr/>
          <p:nvPr/>
        </p:nvSpPr>
        <p:spPr>
          <a:xfrm>
            <a:off x="9019981" y="5854821"/>
            <a:ext cx="1583529" cy="997448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5532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FC651-FA61-1AEA-3AF3-2E2D17DA7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E4916-45E2-A333-2B06-10BEF173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900ED9-DC66-D1B4-EACF-3F0530CDB0E2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687561-8145-E9E2-8106-7A6B6607D10C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much independent political power will the Commissioner of Sanitation amass?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satisfied will residents be with the cleanliness of city streets and sidewalks?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12904-1AF6-C168-62B8-0E13C1CA2B70}"/>
              </a:ext>
            </a:extLst>
          </p:cNvPr>
          <p:cNvSpPr txBox="1"/>
          <p:nvPr/>
        </p:nvSpPr>
        <p:spPr>
          <a:xfrm>
            <a:off x="4343400" y="1232852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Use the marginal-conditional method to build a model of these two uncertainties in which a the more satisfied residents are, the more likely the Commissioner is to amass more power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B97E48-B5FB-0D89-28E8-7F994F45E22E}"/>
              </a:ext>
            </a:extLst>
          </p:cNvPr>
          <p:cNvSpPr txBox="1"/>
          <p:nvPr/>
        </p:nvSpPr>
        <p:spPr>
          <a:xfrm>
            <a:off x="6322295" y="679691"/>
            <a:ext cx="3093167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try it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B1E48E5-54D8-0DC6-6939-96842D1DB032}"/>
              </a:ext>
            </a:extLst>
          </p:cNvPr>
          <p:cNvCxnSpPr>
            <a:cxnSpLocks/>
          </p:cNvCxnSpPr>
          <p:nvPr/>
        </p:nvCxnSpPr>
        <p:spPr>
          <a:xfrm>
            <a:off x="4391025" y="2146657"/>
            <a:ext cx="1921584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1506E11-1275-4BDC-7D52-AA84EAE73104}"/>
              </a:ext>
            </a:extLst>
          </p:cNvPr>
          <p:cNvCxnSpPr>
            <a:cxnSpLocks/>
          </p:cNvCxnSpPr>
          <p:nvPr/>
        </p:nvCxnSpPr>
        <p:spPr>
          <a:xfrm>
            <a:off x="4389866" y="1833017"/>
            <a:ext cx="6770851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1716CF4-921C-BF92-01B9-E9566296B958}"/>
              </a:ext>
            </a:extLst>
          </p:cNvPr>
          <p:cNvSpPr txBox="1"/>
          <p:nvPr/>
        </p:nvSpPr>
        <p:spPr>
          <a:xfrm>
            <a:off x="3905250" y="2940552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satisfaction 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CAE142-AD10-16F6-B67D-C6838F217F1B}"/>
              </a:ext>
            </a:extLst>
          </p:cNvPr>
          <p:cNvSpPr txBox="1"/>
          <p:nvPr/>
        </p:nvSpPr>
        <p:spPr>
          <a:xfrm>
            <a:off x="3790950" y="4514585"/>
            <a:ext cx="2038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satisfaction medium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BE2A1C-CCD2-6EDB-4BB5-D9471D5A48B6}"/>
              </a:ext>
            </a:extLst>
          </p:cNvPr>
          <p:cNvSpPr txBox="1"/>
          <p:nvPr/>
        </p:nvSpPr>
        <p:spPr>
          <a:xfrm>
            <a:off x="3790950" y="6123533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satisfaction high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CB4AC9-8116-D363-3523-5DE878DD45FF}"/>
              </a:ext>
            </a:extLst>
          </p:cNvPr>
          <p:cNvCxnSpPr>
            <a:cxnSpLocks/>
          </p:cNvCxnSpPr>
          <p:nvPr/>
        </p:nvCxnSpPr>
        <p:spPr>
          <a:xfrm flipV="1">
            <a:off x="1962150" y="3517134"/>
            <a:ext cx="1638300" cy="1366783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C6DF9A-9E87-FA93-2D2C-7BB441380286}"/>
              </a:ext>
            </a:extLst>
          </p:cNvPr>
          <p:cNvCxnSpPr>
            <a:cxnSpLocks/>
          </p:cNvCxnSpPr>
          <p:nvPr/>
        </p:nvCxnSpPr>
        <p:spPr>
          <a:xfrm>
            <a:off x="3600450" y="3473040"/>
            <a:ext cx="2809875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53DD790-A36F-BECA-6724-FF6AB525F9D7}"/>
              </a:ext>
            </a:extLst>
          </p:cNvPr>
          <p:cNvCxnSpPr>
            <a:cxnSpLocks/>
          </p:cNvCxnSpPr>
          <p:nvPr/>
        </p:nvCxnSpPr>
        <p:spPr>
          <a:xfrm>
            <a:off x="1962150" y="4883917"/>
            <a:ext cx="4400553" cy="44093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D1EF034-C707-9CE1-66DC-9ED77560531B}"/>
              </a:ext>
            </a:extLst>
          </p:cNvPr>
          <p:cNvCxnSpPr>
            <a:cxnSpLocks/>
          </p:cNvCxnSpPr>
          <p:nvPr/>
        </p:nvCxnSpPr>
        <p:spPr>
          <a:xfrm>
            <a:off x="1962150" y="4905963"/>
            <a:ext cx="1638300" cy="1723437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F8A6637-75FF-AF89-62CD-7C1B7A0DACC5}"/>
              </a:ext>
            </a:extLst>
          </p:cNvPr>
          <p:cNvCxnSpPr>
            <a:cxnSpLocks/>
          </p:cNvCxnSpPr>
          <p:nvPr/>
        </p:nvCxnSpPr>
        <p:spPr>
          <a:xfrm>
            <a:off x="3429000" y="6511327"/>
            <a:ext cx="2883609" cy="3584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6C37496-91B8-E893-7866-C83B33AFE420}"/>
                  </a:ext>
                </a:extLst>
              </p:cNvPr>
              <p:cNvSpPr txBox="1"/>
              <p:nvPr/>
            </p:nvSpPr>
            <p:spPr>
              <a:xfrm>
                <a:off x="5619749" y="2858384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6C37496-91B8-E893-7866-C83B33AFE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749" y="2858384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0A832AD-3F0B-8910-27A8-A71FB05061C9}"/>
                  </a:ext>
                </a:extLst>
              </p:cNvPr>
              <p:cNvSpPr txBox="1"/>
              <p:nvPr/>
            </p:nvSpPr>
            <p:spPr>
              <a:xfrm>
                <a:off x="5829299" y="4363389"/>
                <a:ext cx="419100" cy="41562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0A832AD-3F0B-8910-27A8-A71FB05061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299" y="4363389"/>
                <a:ext cx="419100" cy="415627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ACFDD93-92F4-E80A-09EE-82CB07200121}"/>
                  </a:ext>
                </a:extLst>
              </p:cNvPr>
              <p:cNvSpPr txBox="1"/>
              <p:nvPr/>
            </p:nvSpPr>
            <p:spPr>
              <a:xfrm>
                <a:off x="5676900" y="5982078"/>
                <a:ext cx="419100" cy="41562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ACFDD93-92F4-E80A-09EE-82CB07200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900" y="5982078"/>
                <a:ext cx="419100" cy="415627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34E1F895-D53F-53FF-634E-C8BB84D18E3D}"/>
              </a:ext>
            </a:extLst>
          </p:cNvPr>
          <p:cNvSpPr/>
          <p:nvPr/>
        </p:nvSpPr>
        <p:spPr>
          <a:xfrm>
            <a:off x="7553130" y="2538264"/>
            <a:ext cx="4476750" cy="1008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87479B-D28C-5478-296A-CA6F9291F204}"/>
              </a:ext>
            </a:extLst>
          </p:cNvPr>
          <p:cNvSpPr txBox="1"/>
          <p:nvPr/>
        </p:nvSpPr>
        <p:spPr>
          <a:xfrm>
            <a:off x="9079315" y="1962289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satisfied?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FA5291-A717-DD9D-64FF-405D3C7BC975}"/>
              </a:ext>
            </a:extLst>
          </p:cNvPr>
          <p:cNvSpPr txBox="1"/>
          <p:nvPr/>
        </p:nvSpPr>
        <p:spPr>
          <a:xfrm>
            <a:off x="7862692" y="2187162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low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2E35C4-F2F4-E95E-49D1-99BB2547285A}"/>
              </a:ext>
            </a:extLst>
          </p:cNvPr>
          <p:cNvSpPr txBox="1"/>
          <p:nvPr/>
        </p:nvSpPr>
        <p:spPr>
          <a:xfrm>
            <a:off x="9343830" y="2187162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medium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B9AFF7-AF38-DF3F-5329-C07BD8BE45AB}"/>
              </a:ext>
            </a:extLst>
          </p:cNvPr>
          <p:cNvSpPr txBox="1"/>
          <p:nvPr/>
        </p:nvSpPr>
        <p:spPr>
          <a:xfrm>
            <a:off x="11001180" y="2165439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high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3C778A5-1AAA-7E84-32CD-93003B3654C8}"/>
              </a:ext>
            </a:extLst>
          </p:cNvPr>
          <p:cNvCxnSpPr/>
          <p:nvPr/>
        </p:nvCxnSpPr>
        <p:spPr>
          <a:xfrm>
            <a:off x="9005692" y="2538264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354AB8A-5350-7AA4-5EE6-5DCA917542F8}"/>
              </a:ext>
            </a:extLst>
          </p:cNvPr>
          <p:cNvCxnSpPr/>
          <p:nvPr/>
        </p:nvCxnSpPr>
        <p:spPr>
          <a:xfrm>
            <a:off x="10643992" y="2538263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3D3632F-B993-5F10-61E4-D6124D0A2DE4}"/>
              </a:ext>
            </a:extLst>
          </p:cNvPr>
          <p:cNvSpPr txBox="1"/>
          <p:nvPr/>
        </p:nvSpPr>
        <p:spPr>
          <a:xfrm rot="16200000">
            <a:off x="6103842" y="2888755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powerful?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0C36D53-E5AB-9263-FF8C-D1107A4630EF}"/>
              </a:ext>
            </a:extLst>
          </p:cNvPr>
          <p:cNvCxnSpPr>
            <a:cxnSpLocks/>
            <a:stCxn id="10" idx="1"/>
            <a:endCxn id="10" idx="3"/>
          </p:cNvCxnSpPr>
          <p:nvPr/>
        </p:nvCxnSpPr>
        <p:spPr>
          <a:xfrm>
            <a:off x="7553130" y="3042644"/>
            <a:ext cx="44767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B6E43B2-FDA1-E886-9BD9-283A298934B9}"/>
              </a:ext>
            </a:extLst>
          </p:cNvPr>
          <p:cNvSpPr txBox="1"/>
          <p:nvPr/>
        </p:nvSpPr>
        <p:spPr>
          <a:xfrm rot="16200000">
            <a:off x="6911084" y="2613113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very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333C7B-F323-5E97-7980-110DC4AC8D55}"/>
              </a:ext>
            </a:extLst>
          </p:cNvPr>
          <p:cNvSpPr txBox="1"/>
          <p:nvPr/>
        </p:nvSpPr>
        <p:spPr>
          <a:xfrm rot="16200000">
            <a:off x="6918228" y="3217661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not much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A2CEB6-3316-E74D-A978-4B892DE25E18}"/>
              </a:ext>
            </a:extLst>
          </p:cNvPr>
          <p:cNvSpPr/>
          <p:nvPr/>
        </p:nvSpPr>
        <p:spPr>
          <a:xfrm>
            <a:off x="7553130" y="4301602"/>
            <a:ext cx="4476750" cy="1008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4E3A77-8369-EABC-9F0E-E3697C753704}"/>
              </a:ext>
            </a:extLst>
          </p:cNvPr>
          <p:cNvSpPr txBox="1"/>
          <p:nvPr/>
        </p:nvSpPr>
        <p:spPr>
          <a:xfrm>
            <a:off x="9205717" y="3642723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satisfied?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0E2271-A311-B89D-23ED-CDAD90F8FFF8}"/>
              </a:ext>
            </a:extLst>
          </p:cNvPr>
          <p:cNvSpPr txBox="1"/>
          <p:nvPr/>
        </p:nvSpPr>
        <p:spPr>
          <a:xfrm>
            <a:off x="7862692" y="3926734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low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0E463F-0542-62E3-E9BE-171668052196}"/>
              </a:ext>
            </a:extLst>
          </p:cNvPr>
          <p:cNvSpPr txBox="1"/>
          <p:nvPr/>
        </p:nvSpPr>
        <p:spPr>
          <a:xfrm>
            <a:off x="9343830" y="3950500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medium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111871-DE38-6A38-02C0-7B150198BE0F}"/>
              </a:ext>
            </a:extLst>
          </p:cNvPr>
          <p:cNvSpPr txBox="1"/>
          <p:nvPr/>
        </p:nvSpPr>
        <p:spPr>
          <a:xfrm>
            <a:off x="11001180" y="3928777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high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84DCFC1-FCD6-F384-8328-700A9BA14E31}"/>
              </a:ext>
            </a:extLst>
          </p:cNvPr>
          <p:cNvCxnSpPr/>
          <p:nvPr/>
        </p:nvCxnSpPr>
        <p:spPr>
          <a:xfrm>
            <a:off x="9072366" y="4326333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2C58E72-BF66-D264-AFC3-0D276B9D09B5}"/>
              </a:ext>
            </a:extLst>
          </p:cNvPr>
          <p:cNvCxnSpPr/>
          <p:nvPr/>
        </p:nvCxnSpPr>
        <p:spPr>
          <a:xfrm>
            <a:off x="10643992" y="4301601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647F201-BFE5-F4E1-49F3-79F00B93FB54}"/>
              </a:ext>
            </a:extLst>
          </p:cNvPr>
          <p:cNvSpPr txBox="1"/>
          <p:nvPr/>
        </p:nvSpPr>
        <p:spPr>
          <a:xfrm rot="16200000">
            <a:off x="6103842" y="4652093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powerful?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BCEAA53-6DD9-132B-CB30-332BE8522B68}"/>
              </a:ext>
            </a:extLst>
          </p:cNvPr>
          <p:cNvCxnSpPr>
            <a:cxnSpLocks/>
            <a:stCxn id="18" idx="1"/>
            <a:endCxn id="18" idx="3"/>
          </p:cNvCxnSpPr>
          <p:nvPr/>
        </p:nvCxnSpPr>
        <p:spPr>
          <a:xfrm>
            <a:off x="7553130" y="4805982"/>
            <a:ext cx="44767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AF906BB-CB04-1FFA-A998-E6AE4FDFD234}"/>
              </a:ext>
            </a:extLst>
          </p:cNvPr>
          <p:cNvSpPr txBox="1"/>
          <p:nvPr/>
        </p:nvSpPr>
        <p:spPr>
          <a:xfrm rot="16200000">
            <a:off x="6911084" y="4376451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very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6FF7C9E-6083-05D2-EA74-A424F8024D07}"/>
              </a:ext>
            </a:extLst>
          </p:cNvPr>
          <p:cNvSpPr txBox="1"/>
          <p:nvPr/>
        </p:nvSpPr>
        <p:spPr>
          <a:xfrm rot="16200000">
            <a:off x="6918228" y="4980999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not much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9FC0031-528E-5E5D-A70E-2BF31C9A036C}"/>
              </a:ext>
            </a:extLst>
          </p:cNvPr>
          <p:cNvSpPr/>
          <p:nvPr/>
        </p:nvSpPr>
        <p:spPr>
          <a:xfrm>
            <a:off x="7512648" y="5846755"/>
            <a:ext cx="4476750" cy="1008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4262B2-0402-EA02-689A-5DA1A22109D1}"/>
              </a:ext>
            </a:extLst>
          </p:cNvPr>
          <p:cNvSpPr txBox="1"/>
          <p:nvPr/>
        </p:nvSpPr>
        <p:spPr>
          <a:xfrm>
            <a:off x="9195996" y="5309241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satisfied?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A1577A7-389B-43B2-2EB4-879290BF3577}"/>
              </a:ext>
            </a:extLst>
          </p:cNvPr>
          <p:cNvSpPr txBox="1"/>
          <p:nvPr/>
        </p:nvSpPr>
        <p:spPr>
          <a:xfrm>
            <a:off x="7822210" y="5495653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low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3856FB-5117-BB77-7BC8-3C1827C2CA24}"/>
              </a:ext>
            </a:extLst>
          </p:cNvPr>
          <p:cNvSpPr txBox="1"/>
          <p:nvPr/>
        </p:nvSpPr>
        <p:spPr>
          <a:xfrm>
            <a:off x="9303348" y="5495653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medium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1F1FE63-17C0-6A89-8CBF-98270CE91724}"/>
              </a:ext>
            </a:extLst>
          </p:cNvPr>
          <p:cNvSpPr txBox="1"/>
          <p:nvPr/>
        </p:nvSpPr>
        <p:spPr>
          <a:xfrm>
            <a:off x="10960698" y="5473930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high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6B65364-F387-8F1F-D146-CDD7C64EFCD8}"/>
              </a:ext>
            </a:extLst>
          </p:cNvPr>
          <p:cNvCxnSpPr/>
          <p:nvPr/>
        </p:nvCxnSpPr>
        <p:spPr>
          <a:xfrm>
            <a:off x="8965210" y="5846755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ADC329E-C1B8-E897-5228-4AC6BF53FFAE}"/>
              </a:ext>
            </a:extLst>
          </p:cNvPr>
          <p:cNvCxnSpPr/>
          <p:nvPr/>
        </p:nvCxnSpPr>
        <p:spPr>
          <a:xfrm>
            <a:off x="10603510" y="5846754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CE6894C0-9EFB-67C2-A676-A20065278461}"/>
              </a:ext>
            </a:extLst>
          </p:cNvPr>
          <p:cNvSpPr txBox="1"/>
          <p:nvPr/>
        </p:nvSpPr>
        <p:spPr>
          <a:xfrm rot="16200000">
            <a:off x="6063360" y="6197246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powerful?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B614C7A-D52B-B326-C87F-DEDEF80D3BB9}"/>
              </a:ext>
            </a:extLst>
          </p:cNvPr>
          <p:cNvCxnSpPr>
            <a:cxnSpLocks/>
            <a:stCxn id="42" idx="1"/>
            <a:endCxn id="42" idx="3"/>
          </p:cNvCxnSpPr>
          <p:nvPr/>
        </p:nvCxnSpPr>
        <p:spPr>
          <a:xfrm>
            <a:off x="7512648" y="6351135"/>
            <a:ext cx="44767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6CDD4F65-1C3D-8952-438A-0C0DCC6922BB}"/>
              </a:ext>
            </a:extLst>
          </p:cNvPr>
          <p:cNvSpPr txBox="1"/>
          <p:nvPr/>
        </p:nvSpPr>
        <p:spPr>
          <a:xfrm rot="16200000">
            <a:off x="6870602" y="5921604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very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51C6D0-3669-6610-1300-B91B757CC491}"/>
              </a:ext>
            </a:extLst>
          </p:cNvPr>
          <p:cNvSpPr txBox="1"/>
          <p:nvPr/>
        </p:nvSpPr>
        <p:spPr>
          <a:xfrm rot="16200000">
            <a:off x="6877746" y="6526152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not much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8755D62-EE8D-EEB7-23D5-60C658E00F07}"/>
              </a:ext>
            </a:extLst>
          </p:cNvPr>
          <p:cNvSpPr/>
          <p:nvPr/>
        </p:nvSpPr>
        <p:spPr>
          <a:xfrm>
            <a:off x="9005692" y="2538263"/>
            <a:ext cx="1604957" cy="997448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1200502-42B6-5065-8D53-2C5BD5C11087}"/>
              </a:ext>
            </a:extLst>
          </p:cNvPr>
          <p:cNvSpPr/>
          <p:nvPr/>
        </p:nvSpPr>
        <p:spPr>
          <a:xfrm>
            <a:off x="10643993" y="2538263"/>
            <a:ext cx="1339534" cy="997448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F9D7ECD-01CA-6313-1ABE-FCAF2F903318}"/>
              </a:ext>
            </a:extLst>
          </p:cNvPr>
          <p:cNvSpPr/>
          <p:nvPr/>
        </p:nvSpPr>
        <p:spPr>
          <a:xfrm>
            <a:off x="10684475" y="4328921"/>
            <a:ext cx="1339534" cy="997448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6C16A95-CB0B-79EC-F900-453A61FBF3E9}"/>
              </a:ext>
            </a:extLst>
          </p:cNvPr>
          <p:cNvSpPr/>
          <p:nvPr/>
        </p:nvSpPr>
        <p:spPr>
          <a:xfrm>
            <a:off x="7553129" y="4320918"/>
            <a:ext cx="1478753" cy="997448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6D01CD1-CF3E-6173-3FDB-33BB3DE86FEE}"/>
              </a:ext>
            </a:extLst>
          </p:cNvPr>
          <p:cNvSpPr/>
          <p:nvPr/>
        </p:nvSpPr>
        <p:spPr>
          <a:xfrm>
            <a:off x="7526938" y="5854759"/>
            <a:ext cx="1478753" cy="997448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3A2C1B3-5382-7B3C-35D1-D49CF0ACBE69}"/>
              </a:ext>
            </a:extLst>
          </p:cNvPr>
          <p:cNvSpPr/>
          <p:nvPr/>
        </p:nvSpPr>
        <p:spPr>
          <a:xfrm>
            <a:off x="9019981" y="5854821"/>
            <a:ext cx="1583529" cy="997448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11CC965-C563-A5E0-E78F-650DC4017456}"/>
                  </a:ext>
                </a:extLst>
              </p:cNvPr>
              <p:cNvSpPr txBox="1"/>
              <p:nvPr/>
            </p:nvSpPr>
            <p:spPr>
              <a:xfrm>
                <a:off x="8045259" y="3084167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11CC965-C563-A5E0-E78F-650DC4017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5259" y="3084167"/>
                <a:ext cx="4191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C03BFCB-42CD-D94D-310F-0BC419ABD247}"/>
                  </a:ext>
                </a:extLst>
              </p:cNvPr>
              <p:cNvSpPr txBox="1"/>
              <p:nvPr/>
            </p:nvSpPr>
            <p:spPr>
              <a:xfrm>
                <a:off x="11160717" y="5920809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C03BFCB-42CD-D94D-310F-0BC419ABD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0717" y="5920809"/>
                <a:ext cx="4191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B0A0DFB-2301-579E-068A-609E5318C2EA}"/>
                  </a:ext>
                </a:extLst>
              </p:cNvPr>
              <p:cNvSpPr txBox="1"/>
              <p:nvPr/>
            </p:nvSpPr>
            <p:spPr>
              <a:xfrm>
                <a:off x="11167659" y="6444734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B0A0DFB-2301-579E-068A-609E5318C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7659" y="6444734"/>
                <a:ext cx="4191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0F241F4-22D2-F589-8B00-DF6D33E315EB}"/>
                  </a:ext>
                </a:extLst>
              </p:cNvPr>
              <p:cNvSpPr txBox="1"/>
              <p:nvPr/>
            </p:nvSpPr>
            <p:spPr>
              <a:xfrm>
                <a:off x="8047842" y="2578471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0F241F4-22D2-F589-8B00-DF6D33E31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7842" y="2578471"/>
                <a:ext cx="4191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1DC77F7-06BF-49A4-1F52-215F8B622F87}"/>
                  </a:ext>
                </a:extLst>
              </p:cNvPr>
              <p:cNvSpPr txBox="1"/>
              <p:nvPr/>
            </p:nvSpPr>
            <p:spPr>
              <a:xfrm>
                <a:off x="9628387" y="4343510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1DC77F7-06BF-49A4-1F52-215F8B622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8387" y="4343510"/>
                <a:ext cx="419100" cy="42999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0BFF4FE-F400-520B-814E-0D80BA1FE952}"/>
                  </a:ext>
                </a:extLst>
              </p:cNvPr>
              <p:cNvSpPr txBox="1"/>
              <p:nvPr/>
            </p:nvSpPr>
            <p:spPr>
              <a:xfrm>
                <a:off x="9608144" y="4846635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0BFF4FE-F400-520B-814E-0D80BA1FE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8144" y="4846635"/>
                <a:ext cx="419100" cy="42999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92863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06113-FCCB-7F60-8D0A-E1E0E492B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0081F0-53BB-7AAE-1B60-9AE064730D96}"/>
              </a:ext>
            </a:extLst>
          </p:cNvPr>
          <p:cNvSpPr txBox="1"/>
          <p:nvPr/>
        </p:nvSpPr>
        <p:spPr>
          <a:xfrm>
            <a:off x="2543175" y="726370"/>
            <a:ext cx="70199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600"/>
              <a:t>Review: the Marginal-Conditional Method</a:t>
            </a:r>
            <a:br>
              <a:rPr lang="en-US" sz="3600"/>
            </a:br>
            <a:endParaRPr lang="en-US" sz="360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600"/>
              <a:t>Marginal-Conditional Diagrams: How to Draw One</a:t>
            </a:r>
            <a:br>
              <a:rPr lang="en-US" sz="3600"/>
            </a:br>
            <a:endParaRPr lang="en-US" sz="360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600"/>
              <a:t>Marginal-Conditional Diagrams: How to Compute with One</a:t>
            </a:r>
          </a:p>
        </p:txBody>
      </p:sp>
      <p:pic>
        <p:nvPicPr>
          <p:cNvPr id="3" name="Graphic 2" descr="Checkmark with solid fill">
            <a:extLst>
              <a:ext uri="{FF2B5EF4-FFF2-40B4-BE49-F238E27FC236}">
                <a16:creationId xmlns:a16="http://schemas.microsoft.com/office/drawing/2014/main" id="{86D5B60D-842F-B319-3C8B-F398E9FDE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57450" y="3429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7497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3FA7A43-4770-34D8-7248-5F9D0A7844B0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</p:spTree>
    <p:extLst>
      <p:ext uri="{BB962C8B-B14F-4D97-AF65-F5344CB8AC3E}">
        <p14:creationId xmlns:p14="http://schemas.microsoft.com/office/powerpoint/2010/main" val="34432319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8A5DA-0045-074D-EB2B-CA3291CF2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C6A582D-7F86-0A3F-5641-2144C3E87691}"/>
              </a:ext>
            </a:extLst>
          </p:cNvPr>
          <p:cNvCxnSpPr>
            <a:cxnSpLocks/>
          </p:cNvCxnSpPr>
          <p:nvPr/>
        </p:nvCxnSpPr>
        <p:spPr>
          <a:xfrm>
            <a:off x="1815229" y="5597734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4D00483-93F8-6260-1C30-1419068545A5}"/>
              </a:ext>
            </a:extLst>
          </p:cNvPr>
          <p:cNvCxnSpPr>
            <a:cxnSpLocks/>
          </p:cNvCxnSpPr>
          <p:nvPr/>
        </p:nvCxnSpPr>
        <p:spPr>
          <a:xfrm>
            <a:off x="2601968" y="5572671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209A454-4303-DEBB-2E9E-13A99F2C71D3}"/>
              </a:ext>
            </a:extLst>
          </p:cNvPr>
          <p:cNvCxnSpPr>
            <a:cxnSpLocks/>
          </p:cNvCxnSpPr>
          <p:nvPr/>
        </p:nvCxnSpPr>
        <p:spPr>
          <a:xfrm>
            <a:off x="3388707" y="554760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F23953C-4052-4239-CD19-F5E25A0CA4D4}"/>
              </a:ext>
            </a:extLst>
          </p:cNvPr>
          <p:cNvCxnSpPr>
            <a:cxnSpLocks/>
          </p:cNvCxnSpPr>
          <p:nvPr/>
        </p:nvCxnSpPr>
        <p:spPr>
          <a:xfrm>
            <a:off x="1919474" y="1144512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3EB2DDA-CD5E-A6DD-3C74-20E51F44FB1A}"/>
              </a:ext>
            </a:extLst>
          </p:cNvPr>
          <p:cNvCxnSpPr>
            <a:cxnSpLocks/>
          </p:cNvCxnSpPr>
          <p:nvPr/>
        </p:nvCxnSpPr>
        <p:spPr>
          <a:xfrm>
            <a:off x="2706213" y="1119449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3FF6524-D65D-5661-6193-DD4EA74216CC}"/>
              </a:ext>
            </a:extLst>
          </p:cNvPr>
          <p:cNvCxnSpPr>
            <a:cxnSpLocks/>
          </p:cNvCxnSpPr>
          <p:nvPr/>
        </p:nvCxnSpPr>
        <p:spPr>
          <a:xfrm>
            <a:off x="3492952" y="109438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17AEE618-335B-90A6-A89A-18AA3E11B9B2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BF9B6B3-C415-0832-D523-D36E472A5198}"/>
              </a:ext>
            </a:extLst>
          </p:cNvPr>
          <p:cNvCxnSpPr>
            <a:cxnSpLocks/>
          </p:cNvCxnSpPr>
          <p:nvPr/>
        </p:nvCxnSpPr>
        <p:spPr>
          <a:xfrm flipV="1">
            <a:off x="49545" y="1386604"/>
            <a:ext cx="1242557" cy="2325386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E7D1D09-048B-772D-E901-3E6719DC9BF4}"/>
              </a:ext>
            </a:extLst>
          </p:cNvPr>
          <p:cNvSpPr txBox="1"/>
          <p:nvPr/>
        </p:nvSpPr>
        <p:spPr>
          <a:xfrm rot="17851316">
            <a:off x="-726784" y="2245968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71E5B62-DC10-F771-5E26-1A69E82F8547}"/>
              </a:ext>
            </a:extLst>
          </p:cNvPr>
          <p:cNvCxnSpPr>
            <a:cxnSpLocks/>
          </p:cNvCxnSpPr>
          <p:nvPr/>
        </p:nvCxnSpPr>
        <p:spPr>
          <a:xfrm>
            <a:off x="47916" y="3782075"/>
            <a:ext cx="1184502" cy="240474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F17CE21-E054-B996-C482-12BAC9247C3B}"/>
              </a:ext>
            </a:extLst>
          </p:cNvPr>
          <p:cNvSpPr txBox="1"/>
          <p:nvPr/>
        </p:nvSpPr>
        <p:spPr>
          <a:xfrm rot="3887054">
            <a:off x="-994915" y="5509268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228F5C-7838-D40E-BA6C-E6124FA05C0B}"/>
                  </a:ext>
                </a:extLst>
              </p:cNvPr>
              <p:cNvSpPr txBox="1"/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228F5C-7838-D40E-BA6C-E6124FA05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194D3B-BCF0-EF0F-6947-7B217C295FDE}"/>
                  </a:ext>
                </a:extLst>
              </p:cNvPr>
              <p:cNvSpPr txBox="1"/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194D3B-BCF0-EF0F-6947-7B217C295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5483C7B-3713-ABDF-81A2-2ECDF9F001EC}"/>
              </a:ext>
            </a:extLst>
          </p:cNvPr>
          <p:cNvSpPr txBox="1"/>
          <p:nvPr/>
        </p:nvSpPr>
        <p:spPr>
          <a:xfrm>
            <a:off x="737080" y="49071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564FC8-1B08-C759-D83B-B817447914E9}"/>
              </a:ext>
            </a:extLst>
          </p:cNvPr>
          <p:cNvSpPr txBox="1"/>
          <p:nvPr/>
        </p:nvSpPr>
        <p:spPr>
          <a:xfrm>
            <a:off x="1819204" y="62921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38BB1B-10DB-D6DF-CB59-2E2BF52C3AA7}"/>
              </a:ext>
            </a:extLst>
          </p:cNvPr>
          <p:cNvSpPr txBox="1"/>
          <p:nvPr/>
        </p:nvSpPr>
        <p:spPr>
          <a:xfrm>
            <a:off x="2703992" y="767713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294211-2039-BE4D-B683-573FB70BBEDB}"/>
              </a:ext>
            </a:extLst>
          </p:cNvPr>
          <p:cNvSpPr txBox="1"/>
          <p:nvPr/>
        </p:nvSpPr>
        <p:spPr>
          <a:xfrm>
            <a:off x="3369005" y="738989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365CC0-2F3E-3A96-BC6A-0D6C5535D5A9}"/>
              </a:ext>
            </a:extLst>
          </p:cNvPr>
          <p:cNvSpPr/>
          <p:nvPr/>
        </p:nvSpPr>
        <p:spPr>
          <a:xfrm>
            <a:off x="1351608" y="1123972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2E18FA-CBE9-725F-B08F-9BA46AFB5079}"/>
              </a:ext>
            </a:extLst>
          </p:cNvPr>
          <p:cNvSpPr txBox="1"/>
          <p:nvPr/>
        </p:nvSpPr>
        <p:spPr>
          <a:xfrm rot="5400000">
            <a:off x="3849085" y="1558632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F55D0A-FAD9-4201-8709-A4C1C40295CE}"/>
              </a:ext>
            </a:extLst>
          </p:cNvPr>
          <p:cNvSpPr txBox="1"/>
          <p:nvPr/>
        </p:nvSpPr>
        <p:spPr>
          <a:xfrm rot="5400000">
            <a:off x="4144906" y="182318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5801B3-3230-9A7C-DD4D-93309A788D51}"/>
              </a:ext>
            </a:extLst>
          </p:cNvPr>
          <p:cNvSpPr txBox="1"/>
          <p:nvPr/>
        </p:nvSpPr>
        <p:spPr>
          <a:xfrm rot="5400000">
            <a:off x="4002989" y="1307950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03BF5F-19EB-A385-9721-82BEC8EE4BB6}"/>
              </a:ext>
            </a:extLst>
          </p:cNvPr>
          <p:cNvSpPr/>
          <p:nvPr/>
        </p:nvSpPr>
        <p:spPr>
          <a:xfrm>
            <a:off x="1343356" y="1656741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FD0A5D2-6049-2E4C-3E9C-1FFA0422BFB6}"/>
                  </a:ext>
                </a:extLst>
              </p:cNvPr>
              <p:cNvSpPr txBox="1"/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FD0A5D2-6049-2E4C-3E9C-1FFA0422B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A568BD3-C25E-4C80-3061-0129EBFEE8D8}"/>
                  </a:ext>
                </a:extLst>
              </p:cNvPr>
              <p:cNvSpPr txBox="1"/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A568BD3-C25E-4C80-3061-0129EBFEE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4C3E067-A9D9-131A-1670-D230A8EC1732}"/>
                  </a:ext>
                </a:extLst>
              </p:cNvPr>
              <p:cNvSpPr txBox="1"/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4C3E067-A9D9-131A-1670-D230A8EC1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23B2D2D-5325-178A-0F26-C45939109447}"/>
                  </a:ext>
                </a:extLst>
              </p:cNvPr>
              <p:cNvSpPr txBox="1"/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23B2D2D-5325-178A-0F26-C45939109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blipFill>
                <a:blip r:embed="rId7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3C8059D-0D02-4F53-7787-182B02FB37F1}"/>
                  </a:ext>
                </a:extLst>
              </p:cNvPr>
              <p:cNvSpPr txBox="1"/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3C8059D-0D02-4F53-7787-182B02FB3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51F1571-E092-A184-E570-14356CE7F1BD}"/>
                  </a:ext>
                </a:extLst>
              </p:cNvPr>
              <p:cNvSpPr txBox="1"/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51F1571-E092-A184-E570-14356CE7F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blipFill>
                <a:blip r:embed="rId9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07FD7B2-5B7E-F0A5-682A-6677671CF9F9}"/>
                  </a:ext>
                </a:extLst>
              </p:cNvPr>
              <p:cNvSpPr txBox="1"/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07FD7B2-5B7E-F0A5-682A-6677671CF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blipFill>
                <a:blip r:embed="rId10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188E6DC-AE04-8AD4-DAA3-C7FBBFB3AA58}"/>
                  </a:ext>
                </a:extLst>
              </p:cNvPr>
              <p:cNvSpPr txBox="1"/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188E6DC-AE04-8AD4-DAA3-C7FBBFB3A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2268B86F-F87C-38B7-D52C-BB1859446944}"/>
              </a:ext>
            </a:extLst>
          </p:cNvPr>
          <p:cNvSpPr txBox="1"/>
          <p:nvPr/>
        </p:nvSpPr>
        <p:spPr>
          <a:xfrm>
            <a:off x="1274075" y="791604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29604C-B911-629A-FFDF-D466E4C6AA1C}"/>
              </a:ext>
            </a:extLst>
          </p:cNvPr>
          <p:cNvSpPr txBox="1"/>
          <p:nvPr/>
        </p:nvSpPr>
        <p:spPr>
          <a:xfrm>
            <a:off x="632835" y="4943937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7895FCA-EDA4-0E33-C6AD-30749840CF08}"/>
              </a:ext>
            </a:extLst>
          </p:cNvPr>
          <p:cNvSpPr txBox="1"/>
          <p:nvPr/>
        </p:nvSpPr>
        <p:spPr>
          <a:xfrm>
            <a:off x="1714959" y="5082436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F98916D-2C4B-0B4C-B7B6-6DA8D34FD28D}"/>
              </a:ext>
            </a:extLst>
          </p:cNvPr>
          <p:cNvSpPr txBox="1"/>
          <p:nvPr/>
        </p:nvSpPr>
        <p:spPr>
          <a:xfrm>
            <a:off x="2599747" y="5220935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81D59D7-E476-6D69-4BBA-6C287CC7021E}"/>
              </a:ext>
            </a:extLst>
          </p:cNvPr>
          <p:cNvSpPr txBox="1"/>
          <p:nvPr/>
        </p:nvSpPr>
        <p:spPr>
          <a:xfrm>
            <a:off x="3264760" y="5192211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270799C-4167-A6BA-B734-FC1E9AACB202}"/>
              </a:ext>
            </a:extLst>
          </p:cNvPr>
          <p:cNvSpPr/>
          <p:nvPr/>
        </p:nvSpPr>
        <p:spPr>
          <a:xfrm>
            <a:off x="1247363" y="5577194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2A6F77-9E63-2C52-8DCF-57FF010C0F2E}"/>
              </a:ext>
            </a:extLst>
          </p:cNvPr>
          <p:cNvSpPr txBox="1"/>
          <p:nvPr/>
        </p:nvSpPr>
        <p:spPr>
          <a:xfrm rot="5400000">
            <a:off x="3744840" y="601185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49CF671-2E8A-3784-C34F-F50EA213D400}"/>
              </a:ext>
            </a:extLst>
          </p:cNvPr>
          <p:cNvSpPr txBox="1"/>
          <p:nvPr/>
        </p:nvSpPr>
        <p:spPr>
          <a:xfrm rot="5400000">
            <a:off x="4040661" y="6276407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F16A8D1-0E36-A8EC-88A7-742CFF106CA6}"/>
              </a:ext>
            </a:extLst>
          </p:cNvPr>
          <p:cNvSpPr txBox="1"/>
          <p:nvPr/>
        </p:nvSpPr>
        <p:spPr>
          <a:xfrm rot="5400000">
            <a:off x="3898744" y="5761172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253250D-5C1E-E5B6-6A07-490A8DD8D13A}"/>
              </a:ext>
            </a:extLst>
          </p:cNvPr>
          <p:cNvSpPr/>
          <p:nvPr/>
        </p:nvSpPr>
        <p:spPr>
          <a:xfrm>
            <a:off x="1196109" y="5559175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F645531-3136-514A-81CD-D5739BBFCB86}"/>
              </a:ext>
            </a:extLst>
          </p:cNvPr>
          <p:cNvSpPr txBox="1"/>
          <p:nvPr/>
        </p:nvSpPr>
        <p:spPr>
          <a:xfrm>
            <a:off x="1169830" y="5244826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</p:spTree>
    <p:extLst>
      <p:ext uri="{BB962C8B-B14F-4D97-AF65-F5344CB8AC3E}">
        <p14:creationId xmlns:p14="http://schemas.microsoft.com/office/powerpoint/2010/main" val="37693565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BE683-E28C-E6A2-FFFD-CF3FD155F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95C9F78-1222-2E28-99F2-349A45FA17F6}"/>
              </a:ext>
            </a:extLst>
          </p:cNvPr>
          <p:cNvCxnSpPr>
            <a:cxnSpLocks/>
          </p:cNvCxnSpPr>
          <p:nvPr/>
        </p:nvCxnSpPr>
        <p:spPr>
          <a:xfrm>
            <a:off x="1815229" y="5597734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C3FA786-C27A-7A94-4CB0-616979BDED29}"/>
              </a:ext>
            </a:extLst>
          </p:cNvPr>
          <p:cNvCxnSpPr>
            <a:cxnSpLocks/>
          </p:cNvCxnSpPr>
          <p:nvPr/>
        </p:nvCxnSpPr>
        <p:spPr>
          <a:xfrm>
            <a:off x="2601968" y="5572671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3E3E44A-459D-B84B-9465-C1FAD5FC0892}"/>
              </a:ext>
            </a:extLst>
          </p:cNvPr>
          <p:cNvCxnSpPr>
            <a:cxnSpLocks/>
          </p:cNvCxnSpPr>
          <p:nvPr/>
        </p:nvCxnSpPr>
        <p:spPr>
          <a:xfrm>
            <a:off x="3388707" y="554760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9F2FF76-061A-73B3-5B96-B2C996380045}"/>
              </a:ext>
            </a:extLst>
          </p:cNvPr>
          <p:cNvCxnSpPr>
            <a:cxnSpLocks/>
          </p:cNvCxnSpPr>
          <p:nvPr/>
        </p:nvCxnSpPr>
        <p:spPr>
          <a:xfrm>
            <a:off x="1919474" y="1144512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B246A65-DF69-20E6-3657-D88D615777AA}"/>
              </a:ext>
            </a:extLst>
          </p:cNvPr>
          <p:cNvCxnSpPr>
            <a:cxnSpLocks/>
          </p:cNvCxnSpPr>
          <p:nvPr/>
        </p:nvCxnSpPr>
        <p:spPr>
          <a:xfrm>
            <a:off x="2706213" y="1119449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43ABAD2-5EEB-C43F-CA55-345CAECB145E}"/>
              </a:ext>
            </a:extLst>
          </p:cNvPr>
          <p:cNvCxnSpPr>
            <a:cxnSpLocks/>
          </p:cNvCxnSpPr>
          <p:nvPr/>
        </p:nvCxnSpPr>
        <p:spPr>
          <a:xfrm>
            <a:off x="3492952" y="109438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5E425F4B-764F-E73C-E815-DFBABEFEA728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6A598D8-02DD-5DB1-DBDE-CD9C92A7CF65}"/>
              </a:ext>
            </a:extLst>
          </p:cNvPr>
          <p:cNvCxnSpPr>
            <a:cxnSpLocks/>
          </p:cNvCxnSpPr>
          <p:nvPr/>
        </p:nvCxnSpPr>
        <p:spPr>
          <a:xfrm flipV="1">
            <a:off x="49545" y="1386604"/>
            <a:ext cx="1242557" cy="2325386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2AC1833-2317-AD25-69CF-E44EEEF518C1}"/>
              </a:ext>
            </a:extLst>
          </p:cNvPr>
          <p:cNvSpPr txBox="1"/>
          <p:nvPr/>
        </p:nvSpPr>
        <p:spPr>
          <a:xfrm rot="17851316">
            <a:off x="-726784" y="2245968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79DE73-9EFC-DFB1-0D9B-5BC8E12BCECB}"/>
              </a:ext>
            </a:extLst>
          </p:cNvPr>
          <p:cNvCxnSpPr>
            <a:cxnSpLocks/>
          </p:cNvCxnSpPr>
          <p:nvPr/>
        </p:nvCxnSpPr>
        <p:spPr>
          <a:xfrm>
            <a:off x="47916" y="3782075"/>
            <a:ext cx="1184502" cy="240474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F33BD3B-C24B-1D4C-C800-A7ACE1B41BA2}"/>
              </a:ext>
            </a:extLst>
          </p:cNvPr>
          <p:cNvSpPr txBox="1"/>
          <p:nvPr/>
        </p:nvSpPr>
        <p:spPr>
          <a:xfrm rot="3887054">
            <a:off x="-994915" y="5509268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1682EE-D92B-4AD3-874A-2CE9A9E107F1}"/>
                  </a:ext>
                </a:extLst>
              </p:cNvPr>
              <p:cNvSpPr txBox="1"/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1682EE-D92B-4AD3-874A-2CE9A9E10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E359E3-9EEA-F2E8-2D4D-472E0D514D71}"/>
                  </a:ext>
                </a:extLst>
              </p:cNvPr>
              <p:cNvSpPr txBox="1"/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E359E3-9EEA-F2E8-2D4D-472E0D514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B72916D-A1BB-0326-075A-9AB052A48791}"/>
              </a:ext>
            </a:extLst>
          </p:cNvPr>
          <p:cNvSpPr txBox="1"/>
          <p:nvPr/>
        </p:nvSpPr>
        <p:spPr>
          <a:xfrm>
            <a:off x="737080" y="49071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B2C8B5-7089-5D16-6711-376274AB5816}"/>
              </a:ext>
            </a:extLst>
          </p:cNvPr>
          <p:cNvSpPr txBox="1"/>
          <p:nvPr/>
        </p:nvSpPr>
        <p:spPr>
          <a:xfrm>
            <a:off x="1819204" y="62921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3C728A-C797-6AE6-9C36-7D5D7284B33C}"/>
              </a:ext>
            </a:extLst>
          </p:cNvPr>
          <p:cNvSpPr txBox="1"/>
          <p:nvPr/>
        </p:nvSpPr>
        <p:spPr>
          <a:xfrm>
            <a:off x="2703992" y="767713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2FDF55-49A3-89BB-26AD-6E5BCC1DFF4A}"/>
              </a:ext>
            </a:extLst>
          </p:cNvPr>
          <p:cNvSpPr txBox="1"/>
          <p:nvPr/>
        </p:nvSpPr>
        <p:spPr>
          <a:xfrm>
            <a:off x="3369005" y="738989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0CE523-E82D-743D-5E42-1FBAEF43B48B}"/>
              </a:ext>
            </a:extLst>
          </p:cNvPr>
          <p:cNvSpPr/>
          <p:nvPr/>
        </p:nvSpPr>
        <p:spPr>
          <a:xfrm>
            <a:off x="1351608" y="1123972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BFABFB-E22E-3675-C26D-F43DA92F4D38}"/>
              </a:ext>
            </a:extLst>
          </p:cNvPr>
          <p:cNvSpPr txBox="1"/>
          <p:nvPr/>
        </p:nvSpPr>
        <p:spPr>
          <a:xfrm rot="5400000">
            <a:off x="3849085" y="1558632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80502D-11C3-D8F7-B280-082EB8EC7C17}"/>
              </a:ext>
            </a:extLst>
          </p:cNvPr>
          <p:cNvSpPr txBox="1"/>
          <p:nvPr/>
        </p:nvSpPr>
        <p:spPr>
          <a:xfrm rot="5400000">
            <a:off x="4144906" y="182318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919D17-AAEF-A5C2-BAD0-2F9D445F6729}"/>
              </a:ext>
            </a:extLst>
          </p:cNvPr>
          <p:cNvSpPr txBox="1"/>
          <p:nvPr/>
        </p:nvSpPr>
        <p:spPr>
          <a:xfrm rot="5400000">
            <a:off x="4002989" y="1307950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2D1A1A-53EB-7DA4-0478-4A2AC89809D6}"/>
              </a:ext>
            </a:extLst>
          </p:cNvPr>
          <p:cNvSpPr/>
          <p:nvPr/>
        </p:nvSpPr>
        <p:spPr>
          <a:xfrm>
            <a:off x="1343356" y="1656741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9E263D1-2231-B3C4-18A6-E7067D76AF23}"/>
                  </a:ext>
                </a:extLst>
              </p:cNvPr>
              <p:cNvSpPr txBox="1"/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9E263D1-2231-B3C4-18A6-E7067D76A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B0079DB-334D-1FA3-51BB-E239714112E1}"/>
                  </a:ext>
                </a:extLst>
              </p:cNvPr>
              <p:cNvSpPr txBox="1"/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B0079DB-334D-1FA3-51BB-E23971411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584E334-670B-F167-32D1-5D012C1BEF11}"/>
                  </a:ext>
                </a:extLst>
              </p:cNvPr>
              <p:cNvSpPr txBox="1"/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584E334-670B-F167-32D1-5D012C1BE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CA6244B-C13B-D815-8079-18FF28473075}"/>
                  </a:ext>
                </a:extLst>
              </p:cNvPr>
              <p:cNvSpPr txBox="1"/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CA6244B-C13B-D815-8079-18FF28473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blipFill>
                <a:blip r:embed="rId7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BC5839B-E56C-35F9-D410-0612BAA65AFE}"/>
                  </a:ext>
                </a:extLst>
              </p:cNvPr>
              <p:cNvSpPr txBox="1"/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BC5839B-E56C-35F9-D410-0612BAA65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E56004A-6EAE-2DC2-2611-8002581EE395}"/>
                  </a:ext>
                </a:extLst>
              </p:cNvPr>
              <p:cNvSpPr txBox="1"/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E56004A-6EAE-2DC2-2611-8002581EE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blipFill>
                <a:blip r:embed="rId9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D27E838-B95A-9CA1-6694-CAD8ED6E245F}"/>
                  </a:ext>
                </a:extLst>
              </p:cNvPr>
              <p:cNvSpPr txBox="1"/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D27E838-B95A-9CA1-6694-CAD8ED6E2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blipFill>
                <a:blip r:embed="rId10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715DA32-A71D-7433-F628-F6B35A24C02A}"/>
                  </a:ext>
                </a:extLst>
              </p:cNvPr>
              <p:cNvSpPr txBox="1"/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715DA32-A71D-7433-F628-F6B35A24C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C06E6D7F-ACA1-0DDD-E875-9E78BB90A5CB}"/>
              </a:ext>
            </a:extLst>
          </p:cNvPr>
          <p:cNvSpPr txBox="1"/>
          <p:nvPr/>
        </p:nvSpPr>
        <p:spPr>
          <a:xfrm>
            <a:off x="1274075" y="791604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33CB01C-C550-A0EE-013F-CFEED8174D88}"/>
              </a:ext>
            </a:extLst>
          </p:cNvPr>
          <p:cNvSpPr txBox="1"/>
          <p:nvPr/>
        </p:nvSpPr>
        <p:spPr>
          <a:xfrm>
            <a:off x="632835" y="4943937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9D355BB-DCEA-82FA-84E1-7BBA53B53B5B}"/>
              </a:ext>
            </a:extLst>
          </p:cNvPr>
          <p:cNvSpPr txBox="1"/>
          <p:nvPr/>
        </p:nvSpPr>
        <p:spPr>
          <a:xfrm>
            <a:off x="1714959" y="5082436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F3D376-9978-7761-ABDA-A2E1964E3DD1}"/>
              </a:ext>
            </a:extLst>
          </p:cNvPr>
          <p:cNvSpPr txBox="1"/>
          <p:nvPr/>
        </p:nvSpPr>
        <p:spPr>
          <a:xfrm>
            <a:off x="2599747" y="5220935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2649CCC-3957-2347-287B-139A17082B6C}"/>
              </a:ext>
            </a:extLst>
          </p:cNvPr>
          <p:cNvSpPr txBox="1"/>
          <p:nvPr/>
        </p:nvSpPr>
        <p:spPr>
          <a:xfrm>
            <a:off x="3264760" y="5192211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9285F69-DF7B-1890-48BB-AF53C705F8F9}"/>
              </a:ext>
            </a:extLst>
          </p:cNvPr>
          <p:cNvSpPr/>
          <p:nvPr/>
        </p:nvSpPr>
        <p:spPr>
          <a:xfrm>
            <a:off x="1247363" y="5577194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98DFE4E-E73A-07BB-F57F-2F0697BEB4A9}"/>
              </a:ext>
            </a:extLst>
          </p:cNvPr>
          <p:cNvSpPr txBox="1"/>
          <p:nvPr/>
        </p:nvSpPr>
        <p:spPr>
          <a:xfrm rot="5400000">
            <a:off x="3744840" y="601185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38D18BC-41F2-5668-0A29-1C67020F3BAF}"/>
              </a:ext>
            </a:extLst>
          </p:cNvPr>
          <p:cNvSpPr txBox="1"/>
          <p:nvPr/>
        </p:nvSpPr>
        <p:spPr>
          <a:xfrm rot="5400000">
            <a:off x="4040661" y="6276407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1905CBF-FCD7-C26B-A113-FA1A872CEB9F}"/>
              </a:ext>
            </a:extLst>
          </p:cNvPr>
          <p:cNvSpPr txBox="1"/>
          <p:nvPr/>
        </p:nvSpPr>
        <p:spPr>
          <a:xfrm rot="5400000">
            <a:off x="3898744" y="5761172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21009DB-2C3A-2CB0-9870-141900C6D0D4}"/>
              </a:ext>
            </a:extLst>
          </p:cNvPr>
          <p:cNvSpPr/>
          <p:nvPr/>
        </p:nvSpPr>
        <p:spPr>
          <a:xfrm>
            <a:off x="1196109" y="5559175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4B38500-3879-DFE3-C5EE-34FE60C45D0A}"/>
              </a:ext>
            </a:extLst>
          </p:cNvPr>
          <p:cNvSpPr txBox="1"/>
          <p:nvPr/>
        </p:nvSpPr>
        <p:spPr>
          <a:xfrm>
            <a:off x="1169830" y="5244826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38771D-39F4-8B80-2C4D-C81E32F43386}"/>
              </a:ext>
            </a:extLst>
          </p:cNvPr>
          <p:cNvSpPr txBox="1"/>
          <p:nvPr/>
        </p:nvSpPr>
        <p:spPr>
          <a:xfrm>
            <a:off x="5804034" y="629214"/>
            <a:ext cx="5769624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Step 1: Draw a rectangle</a:t>
            </a:r>
          </a:p>
        </p:txBody>
      </p:sp>
    </p:spTree>
    <p:extLst>
      <p:ext uri="{BB962C8B-B14F-4D97-AF65-F5344CB8AC3E}">
        <p14:creationId xmlns:p14="http://schemas.microsoft.com/office/powerpoint/2010/main" val="18873434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138A4-EE1B-B703-1CF9-6617963E9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DC7DDBF-2161-B214-B865-1FE762F22AEF}"/>
              </a:ext>
            </a:extLst>
          </p:cNvPr>
          <p:cNvCxnSpPr>
            <a:cxnSpLocks/>
          </p:cNvCxnSpPr>
          <p:nvPr/>
        </p:nvCxnSpPr>
        <p:spPr>
          <a:xfrm>
            <a:off x="1815229" y="5597734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4E78106-C1F6-77DC-FDC8-FA19EC5BC882}"/>
              </a:ext>
            </a:extLst>
          </p:cNvPr>
          <p:cNvCxnSpPr>
            <a:cxnSpLocks/>
          </p:cNvCxnSpPr>
          <p:nvPr/>
        </p:nvCxnSpPr>
        <p:spPr>
          <a:xfrm>
            <a:off x="2601968" y="5572671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CDECB05-D2BD-57D3-9744-BCE9403AC4DD}"/>
              </a:ext>
            </a:extLst>
          </p:cNvPr>
          <p:cNvCxnSpPr>
            <a:cxnSpLocks/>
          </p:cNvCxnSpPr>
          <p:nvPr/>
        </p:nvCxnSpPr>
        <p:spPr>
          <a:xfrm>
            <a:off x="3388707" y="554760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16C14E3-EAD6-573D-0F82-ED92567FDC60}"/>
              </a:ext>
            </a:extLst>
          </p:cNvPr>
          <p:cNvCxnSpPr>
            <a:cxnSpLocks/>
          </p:cNvCxnSpPr>
          <p:nvPr/>
        </p:nvCxnSpPr>
        <p:spPr>
          <a:xfrm>
            <a:off x="1919474" y="1144512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19C999B-17B7-6E49-19A2-EA296E5849D7}"/>
              </a:ext>
            </a:extLst>
          </p:cNvPr>
          <p:cNvCxnSpPr>
            <a:cxnSpLocks/>
          </p:cNvCxnSpPr>
          <p:nvPr/>
        </p:nvCxnSpPr>
        <p:spPr>
          <a:xfrm>
            <a:off x="2706213" y="1119449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34F51A5-682D-9BE3-FFD0-0D431266B98C}"/>
              </a:ext>
            </a:extLst>
          </p:cNvPr>
          <p:cNvCxnSpPr>
            <a:cxnSpLocks/>
          </p:cNvCxnSpPr>
          <p:nvPr/>
        </p:nvCxnSpPr>
        <p:spPr>
          <a:xfrm>
            <a:off x="3492952" y="109438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CD1A228C-B544-89DF-F7DC-5AC5222B245B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D782046-52C6-FCDB-6035-9FF5FFE880BC}"/>
              </a:ext>
            </a:extLst>
          </p:cNvPr>
          <p:cNvCxnSpPr>
            <a:cxnSpLocks/>
          </p:cNvCxnSpPr>
          <p:nvPr/>
        </p:nvCxnSpPr>
        <p:spPr>
          <a:xfrm flipV="1">
            <a:off x="49545" y="1386604"/>
            <a:ext cx="1242557" cy="2325386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06506B8-9DCA-092E-6073-18ED0B5BD904}"/>
              </a:ext>
            </a:extLst>
          </p:cNvPr>
          <p:cNvSpPr txBox="1"/>
          <p:nvPr/>
        </p:nvSpPr>
        <p:spPr>
          <a:xfrm rot="17851316">
            <a:off x="-726784" y="2245968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ACF997-7710-CDED-4D64-2260CDDC5E4E}"/>
              </a:ext>
            </a:extLst>
          </p:cNvPr>
          <p:cNvCxnSpPr>
            <a:cxnSpLocks/>
          </p:cNvCxnSpPr>
          <p:nvPr/>
        </p:nvCxnSpPr>
        <p:spPr>
          <a:xfrm>
            <a:off x="47916" y="3782075"/>
            <a:ext cx="1184502" cy="240474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7E7E082-1CED-48B2-C942-99DB66997D28}"/>
              </a:ext>
            </a:extLst>
          </p:cNvPr>
          <p:cNvSpPr txBox="1"/>
          <p:nvPr/>
        </p:nvSpPr>
        <p:spPr>
          <a:xfrm rot="3887054">
            <a:off x="-994915" y="5509268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2E7F2D-FF0B-AE9E-CB7B-2BB547CDFB18}"/>
                  </a:ext>
                </a:extLst>
              </p:cNvPr>
              <p:cNvSpPr txBox="1"/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2E7F2D-FF0B-AE9E-CB7B-2BB547CDF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93641B-066C-5DF8-A749-76F3CEB3FE9C}"/>
                  </a:ext>
                </a:extLst>
              </p:cNvPr>
              <p:cNvSpPr txBox="1"/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93641B-066C-5DF8-A749-76F3CEB3F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E69388C-6D5E-888D-A0B0-1780B73BCA8E}"/>
              </a:ext>
            </a:extLst>
          </p:cNvPr>
          <p:cNvSpPr txBox="1"/>
          <p:nvPr/>
        </p:nvSpPr>
        <p:spPr>
          <a:xfrm>
            <a:off x="737080" y="49071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694218-FBB5-E67B-9DB4-673F85AF869C}"/>
              </a:ext>
            </a:extLst>
          </p:cNvPr>
          <p:cNvSpPr txBox="1"/>
          <p:nvPr/>
        </p:nvSpPr>
        <p:spPr>
          <a:xfrm>
            <a:off x="1819204" y="62921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96AB22-6F14-2946-1DFF-D645DB203509}"/>
              </a:ext>
            </a:extLst>
          </p:cNvPr>
          <p:cNvSpPr txBox="1"/>
          <p:nvPr/>
        </p:nvSpPr>
        <p:spPr>
          <a:xfrm>
            <a:off x="2703992" y="767713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25E462-8D1C-7AE1-E84C-8C9B270CDEC7}"/>
              </a:ext>
            </a:extLst>
          </p:cNvPr>
          <p:cNvSpPr txBox="1"/>
          <p:nvPr/>
        </p:nvSpPr>
        <p:spPr>
          <a:xfrm>
            <a:off x="3369005" y="738989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CD1366-743F-1D49-7549-23A6D63EAC04}"/>
              </a:ext>
            </a:extLst>
          </p:cNvPr>
          <p:cNvSpPr/>
          <p:nvPr/>
        </p:nvSpPr>
        <p:spPr>
          <a:xfrm>
            <a:off x="1351608" y="1123972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8B3EF8-3E04-940C-2CDA-83A52C43504A}"/>
              </a:ext>
            </a:extLst>
          </p:cNvPr>
          <p:cNvSpPr txBox="1"/>
          <p:nvPr/>
        </p:nvSpPr>
        <p:spPr>
          <a:xfrm rot="5400000">
            <a:off x="3849085" y="1558632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DB5A23-1DE9-851B-943B-9DE34CCD2F1D}"/>
              </a:ext>
            </a:extLst>
          </p:cNvPr>
          <p:cNvSpPr txBox="1"/>
          <p:nvPr/>
        </p:nvSpPr>
        <p:spPr>
          <a:xfrm rot="5400000">
            <a:off x="4144906" y="182318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F0B9CB-74EB-F922-2AE1-3C1AB5AA849C}"/>
              </a:ext>
            </a:extLst>
          </p:cNvPr>
          <p:cNvSpPr txBox="1"/>
          <p:nvPr/>
        </p:nvSpPr>
        <p:spPr>
          <a:xfrm rot="5400000">
            <a:off x="4002989" y="1307950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74D5F3-669B-AD44-EA9E-64E7C072C7A1}"/>
              </a:ext>
            </a:extLst>
          </p:cNvPr>
          <p:cNvSpPr/>
          <p:nvPr/>
        </p:nvSpPr>
        <p:spPr>
          <a:xfrm>
            <a:off x="1343356" y="1656741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6238DB4-8B49-BB15-27C8-578C55E9832B}"/>
                  </a:ext>
                </a:extLst>
              </p:cNvPr>
              <p:cNvSpPr txBox="1"/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6238DB4-8B49-BB15-27C8-578C55E98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1CB4151-1064-78D9-ED32-B85E9615C5A4}"/>
                  </a:ext>
                </a:extLst>
              </p:cNvPr>
              <p:cNvSpPr txBox="1"/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1CB4151-1064-78D9-ED32-B85E9615C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1984477-95ED-0046-188D-ACC8EC020826}"/>
                  </a:ext>
                </a:extLst>
              </p:cNvPr>
              <p:cNvSpPr txBox="1"/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1984477-95ED-0046-188D-ACC8EC020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7009D82-011F-BE9A-1381-08195491B166}"/>
                  </a:ext>
                </a:extLst>
              </p:cNvPr>
              <p:cNvSpPr txBox="1"/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7009D82-011F-BE9A-1381-08195491B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blipFill>
                <a:blip r:embed="rId7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AEF117D-69B1-7B78-5AD2-C2590CBE7B65}"/>
                  </a:ext>
                </a:extLst>
              </p:cNvPr>
              <p:cNvSpPr txBox="1"/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AEF117D-69B1-7B78-5AD2-C2590CBE7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D914D4-6CFF-6B6F-1D5B-3987A30C4239}"/>
                  </a:ext>
                </a:extLst>
              </p:cNvPr>
              <p:cNvSpPr txBox="1"/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D914D4-6CFF-6B6F-1D5B-3987A30C4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blipFill>
                <a:blip r:embed="rId9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C5A78D-85DA-6462-105F-AEFB848D015F}"/>
                  </a:ext>
                </a:extLst>
              </p:cNvPr>
              <p:cNvSpPr txBox="1"/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C5A78D-85DA-6462-105F-AEFB848D01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blipFill>
                <a:blip r:embed="rId10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AD9CB30-6D28-1A64-7099-3DF3D89BD47A}"/>
                  </a:ext>
                </a:extLst>
              </p:cNvPr>
              <p:cNvSpPr txBox="1"/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AD9CB30-6D28-1A64-7099-3DF3D89BD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B1E51FC7-8049-6CBF-CC25-0A826C500A4B}"/>
              </a:ext>
            </a:extLst>
          </p:cNvPr>
          <p:cNvSpPr txBox="1"/>
          <p:nvPr/>
        </p:nvSpPr>
        <p:spPr>
          <a:xfrm>
            <a:off x="1274075" y="791604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3B4BBDA-7574-CE25-681B-6D302FAB1485}"/>
              </a:ext>
            </a:extLst>
          </p:cNvPr>
          <p:cNvSpPr txBox="1"/>
          <p:nvPr/>
        </p:nvSpPr>
        <p:spPr>
          <a:xfrm>
            <a:off x="632835" y="4943937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0808674-6479-3714-0D06-5D6F9B6D62FF}"/>
              </a:ext>
            </a:extLst>
          </p:cNvPr>
          <p:cNvSpPr txBox="1"/>
          <p:nvPr/>
        </p:nvSpPr>
        <p:spPr>
          <a:xfrm>
            <a:off x="1714959" y="5082436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641D4C9-D472-8918-53F4-A026D16B8B91}"/>
              </a:ext>
            </a:extLst>
          </p:cNvPr>
          <p:cNvSpPr txBox="1"/>
          <p:nvPr/>
        </p:nvSpPr>
        <p:spPr>
          <a:xfrm>
            <a:off x="2599747" y="5220935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58AA905-72F3-1C0A-C3E7-04182D6A85EB}"/>
              </a:ext>
            </a:extLst>
          </p:cNvPr>
          <p:cNvSpPr txBox="1"/>
          <p:nvPr/>
        </p:nvSpPr>
        <p:spPr>
          <a:xfrm>
            <a:off x="3264760" y="5192211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60803F5-43C8-2DEA-CA72-99560E902AF3}"/>
              </a:ext>
            </a:extLst>
          </p:cNvPr>
          <p:cNvSpPr/>
          <p:nvPr/>
        </p:nvSpPr>
        <p:spPr>
          <a:xfrm>
            <a:off x="1247363" y="5577194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F545E2B-82AB-9ABE-EA39-0E30CD1EAFB2}"/>
              </a:ext>
            </a:extLst>
          </p:cNvPr>
          <p:cNvSpPr txBox="1"/>
          <p:nvPr/>
        </p:nvSpPr>
        <p:spPr>
          <a:xfrm rot="5400000">
            <a:off x="3744840" y="601185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9E36301-75EB-BEA2-3757-C3B1FE340EA3}"/>
              </a:ext>
            </a:extLst>
          </p:cNvPr>
          <p:cNvSpPr txBox="1"/>
          <p:nvPr/>
        </p:nvSpPr>
        <p:spPr>
          <a:xfrm rot="5400000">
            <a:off x="4040661" y="6276407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06E1B1C-5561-3097-61F9-C9FC88E2BF97}"/>
              </a:ext>
            </a:extLst>
          </p:cNvPr>
          <p:cNvSpPr txBox="1"/>
          <p:nvPr/>
        </p:nvSpPr>
        <p:spPr>
          <a:xfrm rot="5400000">
            <a:off x="3898744" y="5761172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FC21CC6-858F-7051-745A-5E770DD5F4BE}"/>
              </a:ext>
            </a:extLst>
          </p:cNvPr>
          <p:cNvSpPr/>
          <p:nvPr/>
        </p:nvSpPr>
        <p:spPr>
          <a:xfrm>
            <a:off x="1196109" y="5559175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95C6477-FE83-C3CA-AC01-A226BEDE2ADF}"/>
              </a:ext>
            </a:extLst>
          </p:cNvPr>
          <p:cNvSpPr txBox="1"/>
          <p:nvPr/>
        </p:nvSpPr>
        <p:spPr>
          <a:xfrm>
            <a:off x="1169830" y="5244826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76C7CC-687C-5D84-FC61-86EE8A804E8A}"/>
              </a:ext>
            </a:extLst>
          </p:cNvPr>
          <p:cNvSpPr txBox="1"/>
          <p:nvPr/>
        </p:nvSpPr>
        <p:spPr>
          <a:xfrm>
            <a:off x="5804034" y="629214"/>
            <a:ext cx="5769624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Step 1: Draw a rectangle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C23045-D21E-BF2D-7134-A794F3C4DA4A}"/>
              </a:ext>
            </a:extLst>
          </p:cNvPr>
          <p:cNvSpPr/>
          <p:nvPr/>
        </p:nvSpPr>
        <p:spPr>
          <a:xfrm>
            <a:off x="6333423" y="2069432"/>
            <a:ext cx="5769624" cy="45922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89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D299F-16B8-C3E3-154D-6FCFA7F4B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1241956-5F87-754A-F13C-9AD1F4A3F1CE}"/>
              </a:ext>
            </a:extLst>
          </p:cNvPr>
          <p:cNvCxnSpPr>
            <a:cxnSpLocks/>
          </p:cNvCxnSpPr>
          <p:nvPr/>
        </p:nvCxnSpPr>
        <p:spPr>
          <a:xfrm>
            <a:off x="1815229" y="5597734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35769EF-0B48-04FF-5E2A-017E76E34B74}"/>
              </a:ext>
            </a:extLst>
          </p:cNvPr>
          <p:cNvCxnSpPr>
            <a:cxnSpLocks/>
          </p:cNvCxnSpPr>
          <p:nvPr/>
        </p:nvCxnSpPr>
        <p:spPr>
          <a:xfrm>
            <a:off x="2601968" y="5572671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BB4B486-EE23-B574-B9B4-46B3FF82B9AA}"/>
              </a:ext>
            </a:extLst>
          </p:cNvPr>
          <p:cNvCxnSpPr>
            <a:cxnSpLocks/>
          </p:cNvCxnSpPr>
          <p:nvPr/>
        </p:nvCxnSpPr>
        <p:spPr>
          <a:xfrm>
            <a:off x="3388707" y="554760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1E219D9-0E9C-1DBB-19A7-8CB622CC6E2A}"/>
              </a:ext>
            </a:extLst>
          </p:cNvPr>
          <p:cNvCxnSpPr>
            <a:cxnSpLocks/>
          </p:cNvCxnSpPr>
          <p:nvPr/>
        </p:nvCxnSpPr>
        <p:spPr>
          <a:xfrm>
            <a:off x="1919474" y="1144512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6967E43-80FB-46F6-D090-479080894A43}"/>
              </a:ext>
            </a:extLst>
          </p:cNvPr>
          <p:cNvCxnSpPr>
            <a:cxnSpLocks/>
          </p:cNvCxnSpPr>
          <p:nvPr/>
        </p:nvCxnSpPr>
        <p:spPr>
          <a:xfrm>
            <a:off x="2706213" y="1119449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2125EFE-BB93-873C-C1FC-0410603CEFD4}"/>
              </a:ext>
            </a:extLst>
          </p:cNvPr>
          <p:cNvCxnSpPr>
            <a:cxnSpLocks/>
          </p:cNvCxnSpPr>
          <p:nvPr/>
        </p:nvCxnSpPr>
        <p:spPr>
          <a:xfrm>
            <a:off x="3492952" y="109438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522077C0-C4E0-51D8-C6A4-80ABCECF1BC2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A854BC-2EFC-1056-3953-7D87557C79F0}"/>
              </a:ext>
            </a:extLst>
          </p:cNvPr>
          <p:cNvCxnSpPr>
            <a:cxnSpLocks/>
          </p:cNvCxnSpPr>
          <p:nvPr/>
        </p:nvCxnSpPr>
        <p:spPr>
          <a:xfrm flipV="1">
            <a:off x="49545" y="1386604"/>
            <a:ext cx="1242557" cy="2325386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F024A1F-D5FB-B532-91CD-5CE8FDAC25B7}"/>
              </a:ext>
            </a:extLst>
          </p:cNvPr>
          <p:cNvSpPr txBox="1"/>
          <p:nvPr/>
        </p:nvSpPr>
        <p:spPr>
          <a:xfrm rot="17851316">
            <a:off x="-726784" y="2245968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0BAA6-14B0-B3AC-7867-93D2A8B1635F}"/>
              </a:ext>
            </a:extLst>
          </p:cNvPr>
          <p:cNvCxnSpPr>
            <a:cxnSpLocks/>
          </p:cNvCxnSpPr>
          <p:nvPr/>
        </p:nvCxnSpPr>
        <p:spPr>
          <a:xfrm>
            <a:off x="47916" y="3782075"/>
            <a:ext cx="1184502" cy="240474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22770DD-E5C8-AF88-9F87-23EC9142BFDE}"/>
              </a:ext>
            </a:extLst>
          </p:cNvPr>
          <p:cNvSpPr txBox="1"/>
          <p:nvPr/>
        </p:nvSpPr>
        <p:spPr>
          <a:xfrm rot="3887054">
            <a:off x="-994915" y="5509268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067D01-9427-CA9C-7E31-B9224A1F0A45}"/>
                  </a:ext>
                </a:extLst>
              </p:cNvPr>
              <p:cNvSpPr txBox="1"/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067D01-9427-CA9C-7E31-B9224A1F0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7ACDA8-5D12-F372-C29C-A51764FA4350}"/>
                  </a:ext>
                </a:extLst>
              </p:cNvPr>
              <p:cNvSpPr txBox="1"/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7ACDA8-5D12-F372-C29C-A51764FA4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13DF7B3-D7B4-B0A0-89C9-56557C7D8F88}"/>
              </a:ext>
            </a:extLst>
          </p:cNvPr>
          <p:cNvSpPr txBox="1"/>
          <p:nvPr/>
        </p:nvSpPr>
        <p:spPr>
          <a:xfrm>
            <a:off x="737080" y="49071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638703-511C-7FA5-A899-D42522C6DCBB}"/>
              </a:ext>
            </a:extLst>
          </p:cNvPr>
          <p:cNvSpPr txBox="1"/>
          <p:nvPr/>
        </p:nvSpPr>
        <p:spPr>
          <a:xfrm>
            <a:off x="1819204" y="62921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0115E4-5003-C99F-E489-4AB4A5CC9B4C}"/>
              </a:ext>
            </a:extLst>
          </p:cNvPr>
          <p:cNvSpPr txBox="1"/>
          <p:nvPr/>
        </p:nvSpPr>
        <p:spPr>
          <a:xfrm>
            <a:off x="2703992" y="767713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916C1-47E9-3160-3F5C-C24038120E63}"/>
              </a:ext>
            </a:extLst>
          </p:cNvPr>
          <p:cNvSpPr txBox="1"/>
          <p:nvPr/>
        </p:nvSpPr>
        <p:spPr>
          <a:xfrm>
            <a:off x="3369005" y="738989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E73E44-E3ED-7AC6-AFDB-26BE9ED2BA2B}"/>
              </a:ext>
            </a:extLst>
          </p:cNvPr>
          <p:cNvSpPr/>
          <p:nvPr/>
        </p:nvSpPr>
        <p:spPr>
          <a:xfrm>
            <a:off x="1351608" y="1123972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2F1E97-3A0F-D93F-7638-D304D5252371}"/>
              </a:ext>
            </a:extLst>
          </p:cNvPr>
          <p:cNvSpPr txBox="1"/>
          <p:nvPr/>
        </p:nvSpPr>
        <p:spPr>
          <a:xfrm rot="5400000">
            <a:off x="3849085" y="1558632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361EA8-B3A6-4280-9002-A711A62133A8}"/>
              </a:ext>
            </a:extLst>
          </p:cNvPr>
          <p:cNvSpPr txBox="1"/>
          <p:nvPr/>
        </p:nvSpPr>
        <p:spPr>
          <a:xfrm rot="5400000">
            <a:off x="4144906" y="182318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2A8DC3-46A1-A2EC-53EB-013673387F52}"/>
              </a:ext>
            </a:extLst>
          </p:cNvPr>
          <p:cNvSpPr txBox="1"/>
          <p:nvPr/>
        </p:nvSpPr>
        <p:spPr>
          <a:xfrm rot="5400000">
            <a:off x="4002989" y="1307950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316585-93DF-CBA1-76C0-802D4CF9B11A}"/>
              </a:ext>
            </a:extLst>
          </p:cNvPr>
          <p:cNvSpPr/>
          <p:nvPr/>
        </p:nvSpPr>
        <p:spPr>
          <a:xfrm>
            <a:off x="1343356" y="1656741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5CDF646-ECAD-F4F6-72C3-33B5D71D0C05}"/>
                  </a:ext>
                </a:extLst>
              </p:cNvPr>
              <p:cNvSpPr txBox="1"/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5CDF646-ECAD-F4F6-72C3-33B5D71D0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8D7F0B1-DDF7-B0BF-1C30-F10F7B11317E}"/>
                  </a:ext>
                </a:extLst>
              </p:cNvPr>
              <p:cNvSpPr txBox="1"/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8D7F0B1-DDF7-B0BF-1C30-F10F7B113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371C4AE-B35B-C0B9-93AD-0C7DE5B062C5}"/>
                  </a:ext>
                </a:extLst>
              </p:cNvPr>
              <p:cNvSpPr txBox="1"/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371C4AE-B35B-C0B9-93AD-0C7DE5B06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9ABD970-BB33-545F-FD02-14EFC1AA17BB}"/>
                  </a:ext>
                </a:extLst>
              </p:cNvPr>
              <p:cNvSpPr txBox="1"/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9ABD970-BB33-545F-FD02-14EFC1AA1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blipFill>
                <a:blip r:embed="rId7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82F58B8-0BA5-5430-3F38-DB5F110BB025}"/>
                  </a:ext>
                </a:extLst>
              </p:cNvPr>
              <p:cNvSpPr txBox="1"/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82F58B8-0BA5-5430-3F38-DB5F110BB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987331F-EB8E-88B5-77BC-5ABA3D1C3ECD}"/>
                  </a:ext>
                </a:extLst>
              </p:cNvPr>
              <p:cNvSpPr txBox="1"/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987331F-EB8E-88B5-77BC-5ABA3D1C3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blipFill>
                <a:blip r:embed="rId9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2E17BC7-B90B-8A82-4657-4E51FC11F600}"/>
                  </a:ext>
                </a:extLst>
              </p:cNvPr>
              <p:cNvSpPr txBox="1"/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2E17BC7-B90B-8A82-4657-4E51FC11F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blipFill>
                <a:blip r:embed="rId10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E6C40C2-5EAD-18F5-F215-E03DD7135E3E}"/>
                  </a:ext>
                </a:extLst>
              </p:cNvPr>
              <p:cNvSpPr txBox="1"/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E6C40C2-5EAD-18F5-F215-E03DD7135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B6AED5CE-1E71-FBB1-0E62-866DC087AEBA}"/>
              </a:ext>
            </a:extLst>
          </p:cNvPr>
          <p:cNvSpPr txBox="1"/>
          <p:nvPr/>
        </p:nvSpPr>
        <p:spPr>
          <a:xfrm>
            <a:off x="1274075" y="791604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DE5DF90-A1EE-C340-EF67-9AD3C8B3E38F}"/>
              </a:ext>
            </a:extLst>
          </p:cNvPr>
          <p:cNvSpPr txBox="1"/>
          <p:nvPr/>
        </p:nvSpPr>
        <p:spPr>
          <a:xfrm>
            <a:off x="632835" y="4943937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BA120BA-EE97-9C79-42EC-0F16D50A958A}"/>
              </a:ext>
            </a:extLst>
          </p:cNvPr>
          <p:cNvSpPr txBox="1"/>
          <p:nvPr/>
        </p:nvSpPr>
        <p:spPr>
          <a:xfrm>
            <a:off x="1714959" y="5082436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16B5490-4D50-F3E7-A3F9-84E195FAC8E0}"/>
              </a:ext>
            </a:extLst>
          </p:cNvPr>
          <p:cNvSpPr txBox="1"/>
          <p:nvPr/>
        </p:nvSpPr>
        <p:spPr>
          <a:xfrm>
            <a:off x="2599747" y="5220935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55EF3C0-9734-C6D1-A3D5-2E442CDCEC99}"/>
              </a:ext>
            </a:extLst>
          </p:cNvPr>
          <p:cNvSpPr txBox="1"/>
          <p:nvPr/>
        </p:nvSpPr>
        <p:spPr>
          <a:xfrm>
            <a:off x="3264760" y="5192211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719ECE5-C99B-C227-2FF8-C684556A735C}"/>
              </a:ext>
            </a:extLst>
          </p:cNvPr>
          <p:cNvSpPr/>
          <p:nvPr/>
        </p:nvSpPr>
        <p:spPr>
          <a:xfrm>
            <a:off x="1247363" y="5577194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598FD20-7357-4C8F-643B-A83975F36999}"/>
              </a:ext>
            </a:extLst>
          </p:cNvPr>
          <p:cNvSpPr txBox="1"/>
          <p:nvPr/>
        </p:nvSpPr>
        <p:spPr>
          <a:xfrm rot="5400000">
            <a:off x="3744840" y="601185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7C06FFF-9858-F02D-F952-0C898C037B2C}"/>
              </a:ext>
            </a:extLst>
          </p:cNvPr>
          <p:cNvSpPr txBox="1"/>
          <p:nvPr/>
        </p:nvSpPr>
        <p:spPr>
          <a:xfrm rot="5400000">
            <a:off x="4040661" y="6276407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13D8D67-C14A-118E-5F98-22BDDF5350A5}"/>
              </a:ext>
            </a:extLst>
          </p:cNvPr>
          <p:cNvSpPr txBox="1"/>
          <p:nvPr/>
        </p:nvSpPr>
        <p:spPr>
          <a:xfrm rot="5400000">
            <a:off x="3898744" y="5761172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2289BA2-7A88-38DF-9937-E3E9B8D2A463}"/>
              </a:ext>
            </a:extLst>
          </p:cNvPr>
          <p:cNvSpPr/>
          <p:nvPr/>
        </p:nvSpPr>
        <p:spPr>
          <a:xfrm>
            <a:off x="1196109" y="5559175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2D17586-CD58-30E1-9E47-29DDB1E9CDF7}"/>
              </a:ext>
            </a:extLst>
          </p:cNvPr>
          <p:cNvSpPr txBox="1"/>
          <p:nvPr/>
        </p:nvSpPr>
        <p:spPr>
          <a:xfrm>
            <a:off x="1169830" y="5244826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143201-ED69-0C5E-0ED8-70001047C606}"/>
              </a:ext>
            </a:extLst>
          </p:cNvPr>
          <p:cNvSpPr txBox="1"/>
          <p:nvPr/>
        </p:nvSpPr>
        <p:spPr>
          <a:xfrm>
            <a:off x="6152153" y="536880"/>
            <a:ext cx="5769624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Step 2: Label and divide the horizontal axis to show </a:t>
            </a:r>
            <a:r>
              <a:rPr lang="en-US" b="1"/>
              <a:t>marginal</a:t>
            </a:r>
            <a:r>
              <a:rPr lang="en-US"/>
              <a:t> uncertainty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C6DC1A-5F32-2972-DA9D-64F63EB01C67}"/>
              </a:ext>
            </a:extLst>
          </p:cNvPr>
          <p:cNvSpPr/>
          <p:nvPr/>
        </p:nvSpPr>
        <p:spPr>
          <a:xfrm>
            <a:off x="6333423" y="2069432"/>
            <a:ext cx="5769624" cy="45922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0766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FAE12-D891-2BB2-6717-D636C5CD1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0AEC03E-12D0-F8FC-CA79-C1AE2BF599B2}"/>
              </a:ext>
            </a:extLst>
          </p:cNvPr>
          <p:cNvCxnSpPr>
            <a:cxnSpLocks/>
          </p:cNvCxnSpPr>
          <p:nvPr/>
        </p:nvCxnSpPr>
        <p:spPr>
          <a:xfrm>
            <a:off x="1815229" y="5597734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5F8A878-FE93-1535-6551-8B355BF8A1C8}"/>
              </a:ext>
            </a:extLst>
          </p:cNvPr>
          <p:cNvCxnSpPr>
            <a:cxnSpLocks/>
          </p:cNvCxnSpPr>
          <p:nvPr/>
        </p:nvCxnSpPr>
        <p:spPr>
          <a:xfrm>
            <a:off x="2601968" y="5572671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341CF99-DFA2-9B1F-44E6-1F0C493369F1}"/>
              </a:ext>
            </a:extLst>
          </p:cNvPr>
          <p:cNvCxnSpPr>
            <a:cxnSpLocks/>
          </p:cNvCxnSpPr>
          <p:nvPr/>
        </p:nvCxnSpPr>
        <p:spPr>
          <a:xfrm>
            <a:off x="3388707" y="554760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84DE6AC-2A2B-5DF7-F941-2030DBC64386}"/>
              </a:ext>
            </a:extLst>
          </p:cNvPr>
          <p:cNvCxnSpPr>
            <a:cxnSpLocks/>
          </p:cNvCxnSpPr>
          <p:nvPr/>
        </p:nvCxnSpPr>
        <p:spPr>
          <a:xfrm>
            <a:off x="1919474" y="1144512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DAB5F10-AD2A-E1EE-DD99-3FF559189162}"/>
              </a:ext>
            </a:extLst>
          </p:cNvPr>
          <p:cNvCxnSpPr>
            <a:cxnSpLocks/>
          </p:cNvCxnSpPr>
          <p:nvPr/>
        </p:nvCxnSpPr>
        <p:spPr>
          <a:xfrm>
            <a:off x="2706213" y="1119449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09E506E-3B05-6592-670A-B403E59F999A}"/>
              </a:ext>
            </a:extLst>
          </p:cNvPr>
          <p:cNvCxnSpPr>
            <a:cxnSpLocks/>
          </p:cNvCxnSpPr>
          <p:nvPr/>
        </p:nvCxnSpPr>
        <p:spPr>
          <a:xfrm>
            <a:off x="3492952" y="109438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BFC11610-AC5E-140D-2B09-C69C456C65DB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F74879C-215B-E185-AEE2-1ED164B5F6C7}"/>
              </a:ext>
            </a:extLst>
          </p:cNvPr>
          <p:cNvCxnSpPr>
            <a:cxnSpLocks/>
          </p:cNvCxnSpPr>
          <p:nvPr/>
        </p:nvCxnSpPr>
        <p:spPr>
          <a:xfrm flipV="1">
            <a:off x="49545" y="1386604"/>
            <a:ext cx="1242557" cy="2325386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2EC1FB1-7AFF-9BC8-5334-D5BD2FDB8C90}"/>
              </a:ext>
            </a:extLst>
          </p:cNvPr>
          <p:cNvSpPr txBox="1"/>
          <p:nvPr/>
        </p:nvSpPr>
        <p:spPr>
          <a:xfrm rot="17851316">
            <a:off x="-726784" y="2245968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4CC37F6-C1AC-A3D2-E451-FCA7BB4AEF1C}"/>
              </a:ext>
            </a:extLst>
          </p:cNvPr>
          <p:cNvCxnSpPr>
            <a:cxnSpLocks/>
          </p:cNvCxnSpPr>
          <p:nvPr/>
        </p:nvCxnSpPr>
        <p:spPr>
          <a:xfrm>
            <a:off x="47916" y="3782075"/>
            <a:ext cx="1184502" cy="240474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B67DED0-5531-2626-0679-E298F137BF25}"/>
              </a:ext>
            </a:extLst>
          </p:cNvPr>
          <p:cNvSpPr txBox="1"/>
          <p:nvPr/>
        </p:nvSpPr>
        <p:spPr>
          <a:xfrm rot="3887054">
            <a:off x="-994915" y="5509268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7FBD31-0D5B-1F35-3F2A-1E83B6AB5E43}"/>
                  </a:ext>
                </a:extLst>
              </p:cNvPr>
              <p:cNvSpPr txBox="1"/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7FBD31-0D5B-1F35-3F2A-1E83B6AB5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314C20E-057D-ADA7-ED6C-680428D44657}"/>
                  </a:ext>
                </a:extLst>
              </p:cNvPr>
              <p:cNvSpPr txBox="1"/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314C20E-057D-ADA7-ED6C-680428D44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60BBE94-1307-7291-92AB-FBE176FBF248}"/>
              </a:ext>
            </a:extLst>
          </p:cNvPr>
          <p:cNvSpPr txBox="1"/>
          <p:nvPr/>
        </p:nvSpPr>
        <p:spPr>
          <a:xfrm>
            <a:off x="737080" y="49071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842E96-5D99-7161-E441-51DF71991DE3}"/>
              </a:ext>
            </a:extLst>
          </p:cNvPr>
          <p:cNvSpPr txBox="1"/>
          <p:nvPr/>
        </p:nvSpPr>
        <p:spPr>
          <a:xfrm>
            <a:off x="1819204" y="62921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4E71D1-4445-E066-E706-8C08E2000003}"/>
              </a:ext>
            </a:extLst>
          </p:cNvPr>
          <p:cNvSpPr txBox="1"/>
          <p:nvPr/>
        </p:nvSpPr>
        <p:spPr>
          <a:xfrm>
            <a:off x="2703992" y="767713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D6A879-C709-ECA2-8089-051DC00F78E3}"/>
              </a:ext>
            </a:extLst>
          </p:cNvPr>
          <p:cNvSpPr txBox="1"/>
          <p:nvPr/>
        </p:nvSpPr>
        <p:spPr>
          <a:xfrm>
            <a:off x="3369005" y="738989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831908-4E85-21CC-69B9-AC5198A680B9}"/>
              </a:ext>
            </a:extLst>
          </p:cNvPr>
          <p:cNvSpPr/>
          <p:nvPr/>
        </p:nvSpPr>
        <p:spPr>
          <a:xfrm>
            <a:off x="1351608" y="1123972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157EDD-9E35-4625-ACA6-2A4746BC7E2D}"/>
              </a:ext>
            </a:extLst>
          </p:cNvPr>
          <p:cNvSpPr txBox="1"/>
          <p:nvPr/>
        </p:nvSpPr>
        <p:spPr>
          <a:xfrm rot="5400000">
            <a:off x="3849085" y="1558632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F7F00B-C5B7-C910-5CEC-4A205CED217E}"/>
              </a:ext>
            </a:extLst>
          </p:cNvPr>
          <p:cNvSpPr txBox="1"/>
          <p:nvPr/>
        </p:nvSpPr>
        <p:spPr>
          <a:xfrm rot="5400000">
            <a:off x="4144906" y="182318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AD8AA7-A5D8-DEA5-3E1B-32BB93B6F6A8}"/>
              </a:ext>
            </a:extLst>
          </p:cNvPr>
          <p:cNvSpPr txBox="1"/>
          <p:nvPr/>
        </p:nvSpPr>
        <p:spPr>
          <a:xfrm rot="5400000">
            <a:off x="4002989" y="1307950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24897A-A1A7-065F-1857-89D462708F3E}"/>
              </a:ext>
            </a:extLst>
          </p:cNvPr>
          <p:cNvSpPr/>
          <p:nvPr/>
        </p:nvSpPr>
        <p:spPr>
          <a:xfrm>
            <a:off x="1343356" y="1656741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C1F864C-0C9B-BA45-A1ED-5F17212F6BA0}"/>
                  </a:ext>
                </a:extLst>
              </p:cNvPr>
              <p:cNvSpPr txBox="1"/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C1F864C-0C9B-BA45-A1ED-5F17212F6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2965636-3109-40F4-D755-3B58566011E3}"/>
                  </a:ext>
                </a:extLst>
              </p:cNvPr>
              <p:cNvSpPr txBox="1"/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2965636-3109-40F4-D755-3B5856601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F908591-A01C-67A0-1F0B-6987E86CE296}"/>
                  </a:ext>
                </a:extLst>
              </p:cNvPr>
              <p:cNvSpPr txBox="1"/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F908591-A01C-67A0-1F0B-6987E86CE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E833339-9CA3-55B8-63AB-774402F20137}"/>
                  </a:ext>
                </a:extLst>
              </p:cNvPr>
              <p:cNvSpPr txBox="1"/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E833339-9CA3-55B8-63AB-774402F20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blipFill>
                <a:blip r:embed="rId7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7B4D767-6279-01A2-5C0B-5358733ED3AF}"/>
                  </a:ext>
                </a:extLst>
              </p:cNvPr>
              <p:cNvSpPr txBox="1"/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7B4D767-6279-01A2-5C0B-5358733ED3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5C6B2E7-073F-FCE0-4937-854AB25494D0}"/>
                  </a:ext>
                </a:extLst>
              </p:cNvPr>
              <p:cNvSpPr txBox="1"/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5C6B2E7-073F-FCE0-4937-854AB2549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blipFill>
                <a:blip r:embed="rId9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F53551B-A892-4427-3F30-3880329C9C35}"/>
                  </a:ext>
                </a:extLst>
              </p:cNvPr>
              <p:cNvSpPr txBox="1"/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F53551B-A892-4427-3F30-3880329C9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blipFill>
                <a:blip r:embed="rId10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9B4B234-C401-1E02-FECD-824ADF89A4E1}"/>
                  </a:ext>
                </a:extLst>
              </p:cNvPr>
              <p:cNvSpPr txBox="1"/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9B4B234-C401-1E02-FECD-824ADF89A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615FBDB1-6601-C5A4-7BE9-F77DC769A317}"/>
              </a:ext>
            </a:extLst>
          </p:cNvPr>
          <p:cNvSpPr txBox="1"/>
          <p:nvPr/>
        </p:nvSpPr>
        <p:spPr>
          <a:xfrm>
            <a:off x="1274075" y="791604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E243764-EEFE-8804-CF63-EB83E78F05AE}"/>
              </a:ext>
            </a:extLst>
          </p:cNvPr>
          <p:cNvSpPr txBox="1"/>
          <p:nvPr/>
        </p:nvSpPr>
        <p:spPr>
          <a:xfrm>
            <a:off x="632835" y="4943937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59ABFF0-F52B-D12E-BBD4-DCE4FC68E1B0}"/>
              </a:ext>
            </a:extLst>
          </p:cNvPr>
          <p:cNvSpPr txBox="1"/>
          <p:nvPr/>
        </p:nvSpPr>
        <p:spPr>
          <a:xfrm>
            <a:off x="1714959" y="5082436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71E0FC0-7CA9-5C24-BFA9-123AEF309E05}"/>
              </a:ext>
            </a:extLst>
          </p:cNvPr>
          <p:cNvSpPr txBox="1"/>
          <p:nvPr/>
        </p:nvSpPr>
        <p:spPr>
          <a:xfrm>
            <a:off x="2599747" y="5220935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3FB18A1-155B-79FD-371C-94DBD0792D13}"/>
              </a:ext>
            </a:extLst>
          </p:cNvPr>
          <p:cNvSpPr txBox="1"/>
          <p:nvPr/>
        </p:nvSpPr>
        <p:spPr>
          <a:xfrm>
            <a:off x="3264760" y="5192211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626EE70-6529-7D37-CB6C-857E04D0AD9F}"/>
              </a:ext>
            </a:extLst>
          </p:cNvPr>
          <p:cNvSpPr/>
          <p:nvPr/>
        </p:nvSpPr>
        <p:spPr>
          <a:xfrm>
            <a:off x="1247363" y="5577194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51A66C0-1F43-ACB2-2A6C-EA3725DE77BC}"/>
              </a:ext>
            </a:extLst>
          </p:cNvPr>
          <p:cNvSpPr txBox="1"/>
          <p:nvPr/>
        </p:nvSpPr>
        <p:spPr>
          <a:xfrm rot="5400000">
            <a:off x="3744840" y="601185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D3B7B5E-AB5A-2F93-532E-F3C194D32C63}"/>
              </a:ext>
            </a:extLst>
          </p:cNvPr>
          <p:cNvSpPr txBox="1"/>
          <p:nvPr/>
        </p:nvSpPr>
        <p:spPr>
          <a:xfrm rot="5400000">
            <a:off x="4040661" y="6276407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B3A05B3-5C5F-B414-94D0-D439CD99009D}"/>
              </a:ext>
            </a:extLst>
          </p:cNvPr>
          <p:cNvSpPr txBox="1"/>
          <p:nvPr/>
        </p:nvSpPr>
        <p:spPr>
          <a:xfrm rot="5400000">
            <a:off x="3898744" y="5761172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F1C0B86-74CF-21FF-CA7C-148A35251B51}"/>
              </a:ext>
            </a:extLst>
          </p:cNvPr>
          <p:cNvSpPr/>
          <p:nvPr/>
        </p:nvSpPr>
        <p:spPr>
          <a:xfrm>
            <a:off x="1196109" y="5559175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DD17851-EA90-AD70-FFF4-7403C0362BA5}"/>
              </a:ext>
            </a:extLst>
          </p:cNvPr>
          <p:cNvSpPr txBox="1"/>
          <p:nvPr/>
        </p:nvSpPr>
        <p:spPr>
          <a:xfrm>
            <a:off x="1169830" y="5244826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92B155-98DB-CCFB-53DC-B2F8D2EA5840}"/>
              </a:ext>
            </a:extLst>
          </p:cNvPr>
          <p:cNvSpPr txBox="1"/>
          <p:nvPr/>
        </p:nvSpPr>
        <p:spPr>
          <a:xfrm>
            <a:off x="6152153" y="536880"/>
            <a:ext cx="5769624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Step 2: Label and divide the horizontal axis to show </a:t>
            </a:r>
            <a:r>
              <a:rPr lang="en-US" b="1"/>
              <a:t>marginal</a:t>
            </a:r>
            <a:r>
              <a:rPr lang="en-US"/>
              <a:t> uncertainty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EC0122-9AE0-443E-E211-50F4F8138C29}"/>
              </a:ext>
            </a:extLst>
          </p:cNvPr>
          <p:cNvSpPr/>
          <p:nvPr/>
        </p:nvSpPr>
        <p:spPr>
          <a:xfrm>
            <a:off x="6333423" y="2069432"/>
            <a:ext cx="5769624" cy="45922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B07C160-13FA-736E-F040-8A9D0E50683F}"/>
              </a:ext>
            </a:extLst>
          </p:cNvPr>
          <p:cNvSpPr/>
          <p:nvPr/>
        </p:nvSpPr>
        <p:spPr>
          <a:xfrm rot="17672199">
            <a:off x="-1363848" y="1612408"/>
            <a:ext cx="4003300" cy="93799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E6196EC-C5ED-0A14-34F8-D89744D93DB4}"/>
              </a:ext>
            </a:extLst>
          </p:cNvPr>
          <p:cNvSpPr/>
          <p:nvPr/>
        </p:nvSpPr>
        <p:spPr>
          <a:xfrm rot="4395478">
            <a:off x="-1591836" y="4538199"/>
            <a:ext cx="4003300" cy="93799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9895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52EF8-DD5B-65B2-F2AD-55B2DDDE7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07633B8-14B9-B45F-D755-43EFAD696A6C}"/>
              </a:ext>
            </a:extLst>
          </p:cNvPr>
          <p:cNvCxnSpPr>
            <a:cxnSpLocks/>
          </p:cNvCxnSpPr>
          <p:nvPr/>
        </p:nvCxnSpPr>
        <p:spPr>
          <a:xfrm>
            <a:off x="1815229" y="5597734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2FD2872-14CA-73B4-A001-EA034A02A4DF}"/>
              </a:ext>
            </a:extLst>
          </p:cNvPr>
          <p:cNvCxnSpPr>
            <a:cxnSpLocks/>
          </p:cNvCxnSpPr>
          <p:nvPr/>
        </p:nvCxnSpPr>
        <p:spPr>
          <a:xfrm>
            <a:off x="2601968" y="5572671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D9DFCB9-55FD-2A09-D29C-5593844D11CA}"/>
              </a:ext>
            </a:extLst>
          </p:cNvPr>
          <p:cNvCxnSpPr>
            <a:cxnSpLocks/>
          </p:cNvCxnSpPr>
          <p:nvPr/>
        </p:nvCxnSpPr>
        <p:spPr>
          <a:xfrm>
            <a:off x="3388707" y="554760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0A3CA28-84FD-F02D-4C03-F70A463B9618}"/>
              </a:ext>
            </a:extLst>
          </p:cNvPr>
          <p:cNvCxnSpPr>
            <a:cxnSpLocks/>
          </p:cNvCxnSpPr>
          <p:nvPr/>
        </p:nvCxnSpPr>
        <p:spPr>
          <a:xfrm>
            <a:off x="1919474" y="1144512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3513E0E-6399-6CAF-D7D6-BFE55FF3EC2F}"/>
              </a:ext>
            </a:extLst>
          </p:cNvPr>
          <p:cNvCxnSpPr>
            <a:cxnSpLocks/>
          </p:cNvCxnSpPr>
          <p:nvPr/>
        </p:nvCxnSpPr>
        <p:spPr>
          <a:xfrm>
            <a:off x="2706213" y="1119449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060652B-2E97-A645-1E72-91EAD889C768}"/>
              </a:ext>
            </a:extLst>
          </p:cNvPr>
          <p:cNvCxnSpPr>
            <a:cxnSpLocks/>
          </p:cNvCxnSpPr>
          <p:nvPr/>
        </p:nvCxnSpPr>
        <p:spPr>
          <a:xfrm>
            <a:off x="3492952" y="109438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478352E8-1E4D-081C-17B5-DE22E1E5C07F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3CC7DA1-98C7-2668-F3D7-39F9E220A574}"/>
              </a:ext>
            </a:extLst>
          </p:cNvPr>
          <p:cNvCxnSpPr>
            <a:cxnSpLocks/>
          </p:cNvCxnSpPr>
          <p:nvPr/>
        </p:nvCxnSpPr>
        <p:spPr>
          <a:xfrm flipV="1">
            <a:off x="49545" y="1386604"/>
            <a:ext cx="1242557" cy="2325386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2592C10-FC47-CDB9-2EA0-70178A3BB0E1}"/>
              </a:ext>
            </a:extLst>
          </p:cNvPr>
          <p:cNvSpPr txBox="1"/>
          <p:nvPr/>
        </p:nvSpPr>
        <p:spPr>
          <a:xfrm rot="17851316">
            <a:off x="-726784" y="2245968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D25CC4-8621-A5B4-F673-EB5817935508}"/>
              </a:ext>
            </a:extLst>
          </p:cNvPr>
          <p:cNvCxnSpPr>
            <a:cxnSpLocks/>
          </p:cNvCxnSpPr>
          <p:nvPr/>
        </p:nvCxnSpPr>
        <p:spPr>
          <a:xfrm>
            <a:off x="47916" y="3782075"/>
            <a:ext cx="1184502" cy="240474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840708C-9D09-D20A-BACA-A006C6BFE1CE}"/>
              </a:ext>
            </a:extLst>
          </p:cNvPr>
          <p:cNvSpPr txBox="1"/>
          <p:nvPr/>
        </p:nvSpPr>
        <p:spPr>
          <a:xfrm rot="3887054">
            <a:off x="-994915" y="5509268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7694F1-0DD9-24A4-ABF3-7785B7A5FA05}"/>
                  </a:ext>
                </a:extLst>
              </p:cNvPr>
              <p:cNvSpPr txBox="1"/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7694F1-0DD9-24A4-ABF3-7785B7A5F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711639-53E2-3DEF-6427-0FD4F0FF6FF5}"/>
                  </a:ext>
                </a:extLst>
              </p:cNvPr>
              <p:cNvSpPr txBox="1"/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711639-53E2-3DEF-6427-0FD4F0FF6F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DEBA994-5ED2-7B5B-9619-4EA3158A0AC9}"/>
              </a:ext>
            </a:extLst>
          </p:cNvPr>
          <p:cNvSpPr txBox="1"/>
          <p:nvPr/>
        </p:nvSpPr>
        <p:spPr>
          <a:xfrm>
            <a:off x="737080" y="49071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9DD30D-6849-660D-4820-BBAD2390B988}"/>
              </a:ext>
            </a:extLst>
          </p:cNvPr>
          <p:cNvSpPr txBox="1"/>
          <p:nvPr/>
        </p:nvSpPr>
        <p:spPr>
          <a:xfrm>
            <a:off x="1819204" y="62921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4383CC-5FEB-FC21-FAD8-3AFC78198A22}"/>
              </a:ext>
            </a:extLst>
          </p:cNvPr>
          <p:cNvSpPr txBox="1"/>
          <p:nvPr/>
        </p:nvSpPr>
        <p:spPr>
          <a:xfrm>
            <a:off x="2703992" y="767713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A29127-0D51-7DE9-E7EC-891C791B8080}"/>
              </a:ext>
            </a:extLst>
          </p:cNvPr>
          <p:cNvSpPr txBox="1"/>
          <p:nvPr/>
        </p:nvSpPr>
        <p:spPr>
          <a:xfrm>
            <a:off x="3369005" y="738989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F950CA-6D10-3AA5-DD70-E3B44464D470}"/>
              </a:ext>
            </a:extLst>
          </p:cNvPr>
          <p:cNvSpPr/>
          <p:nvPr/>
        </p:nvSpPr>
        <p:spPr>
          <a:xfrm>
            <a:off x="1351608" y="1123972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C9B94E-1729-E30B-C56C-F2CABAEDA71F}"/>
              </a:ext>
            </a:extLst>
          </p:cNvPr>
          <p:cNvSpPr txBox="1"/>
          <p:nvPr/>
        </p:nvSpPr>
        <p:spPr>
          <a:xfrm rot="5400000">
            <a:off x="3849085" y="1558632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CFBCA7-CF48-6D67-19AC-A69CE32396C8}"/>
              </a:ext>
            </a:extLst>
          </p:cNvPr>
          <p:cNvSpPr txBox="1"/>
          <p:nvPr/>
        </p:nvSpPr>
        <p:spPr>
          <a:xfrm rot="5400000">
            <a:off x="4144906" y="182318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12CA14-4B04-C7F5-9771-13AB08650EC1}"/>
              </a:ext>
            </a:extLst>
          </p:cNvPr>
          <p:cNvSpPr txBox="1"/>
          <p:nvPr/>
        </p:nvSpPr>
        <p:spPr>
          <a:xfrm rot="5400000">
            <a:off x="4002989" y="1307950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544AD4-D550-D1C5-907C-97E846E39505}"/>
              </a:ext>
            </a:extLst>
          </p:cNvPr>
          <p:cNvSpPr/>
          <p:nvPr/>
        </p:nvSpPr>
        <p:spPr>
          <a:xfrm>
            <a:off x="1343356" y="1656741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5F4C26E-C3B1-E991-6A55-6852EC64E14E}"/>
                  </a:ext>
                </a:extLst>
              </p:cNvPr>
              <p:cNvSpPr txBox="1"/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5F4C26E-C3B1-E991-6A55-6852EC64E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D054F4B-00A9-AC20-FE21-051C0CF9F06D}"/>
                  </a:ext>
                </a:extLst>
              </p:cNvPr>
              <p:cNvSpPr txBox="1"/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D054F4B-00A9-AC20-FE21-051C0CF9F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593F202-3B75-AE27-B9BD-119D2DA1C02B}"/>
                  </a:ext>
                </a:extLst>
              </p:cNvPr>
              <p:cNvSpPr txBox="1"/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593F202-3B75-AE27-B9BD-119D2DA1C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08D663E-D987-7AD9-CDBC-F6FD9EC23B3A}"/>
                  </a:ext>
                </a:extLst>
              </p:cNvPr>
              <p:cNvSpPr txBox="1"/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08D663E-D987-7AD9-CDBC-F6FD9EC23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blipFill>
                <a:blip r:embed="rId7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E35A6CA-0C4F-BD00-8666-82192CF2A07F}"/>
                  </a:ext>
                </a:extLst>
              </p:cNvPr>
              <p:cNvSpPr txBox="1"/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E35A6CA-0C4F-BD00-8666-82192CF2A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33DECBB-B425-A3AB-8A47-910C6CD7895E}"/>
                  </a:ext>
                </a:extLst>
              </p:cNvPr>
              <p:cNvSpPr txBox="1"/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33DECBB-B425-A3AB-8A47-910C6CD78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blipFill>
                <a:blip r:embed="rId9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2DFA38D-66FE-FD4C-3552-67A269F5A8AD}"/>
                  </a:ext>
                </a:extLst>
              </p:cNvPr>
              <p:cNvSpPr txBox="1"/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2DFA38D-66FE-FD4C-3552-67A269F5A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blipFill>
                <a:blip r:embed="rId10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1211652-3E25-46E4-9662-53EE6B539E54}"/>
                  </a:ext>
                </a:extLst>
              </p:cNvPr>
              <p:cNvSpPr txBox="1"/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1211652-3E25-46E4-9662-53EE6B539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4E53DC87-DBDB-AB51-D024-7E85C1E03D2C}"/>
              </a:ext>
            </a:extLst>
          </p:cNvPr>
          <p:cNvSpPr txBox="1"/>
          <p:nvPr/>
        </p:nvSpPr>
        <p:spPr>
          <a:xfrm>
            <a:off x="1274075" y="791604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F2F1E5-495B-1264-9F6B-A20F5C1EF7E2}"/>
              </a:ext>
            </a:extLst>
          </p:cNvPr>
          <p:cNvSpPr txBox="1"/>
          <p:nvPr/>
        </p:nvSpPr>
        <p:spPr>
          <a:xfrm>
            <a:off x="632835" y="4943937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AB0A7BD-E26D-FE92-0574-BC90C112375A}"/>
              </a:ext>
            </a:extLst>
          </p:cNvPr>
          <p:cNvSpPr txBox="1"/>
          <p:nvPr/>
        </p:nvSpPr>
        <p:spPr>
          <a:xfrm>
            <a:off x="1714959" y="5082436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BA81AA2-9599-AEB0-6011-1CB9D5312C60}"/>
              </a:ext>
            </a:extLst>
          </p:cNvPr>
          <p:cNvSpPr txBox="1"/>
          <p:nvPr/>
        </p:nvSpPr>
        <p:spPr>
          <a:xfrm>
            <a:off x="2599747" y="5220935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FBBB40F-B728-D96D-9843-6A73D8C341EA}"/>
              </a:ext>
            </a:extLst>
          </p:cNvPr>
          <p:cNvSpPr txBox="1"/>
          <p:nvPr/>
        </p:nvSpPr>
        <p:spPr>
          <a:xfrm>
            <a:off x="3264760" y="5192211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418BD83-90FD-CDE6-4D5C-ED1FE39C5D9A}"/>
              </a:ext>
            </a:extLst>
          </p:cNvPr>
          <p:cNvSpPr/>
          <p:nvPr/>
        </p:nvSpPr>
        <p:spPr>
          <a:xfrm>
            <a:off x="1247363" y="5577194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7990C78-6BC3-07A4-00B5-061D8E339733}"/>
              </a:ext>
            </a:extLst>
          </p:cNvPr>
          <p:cNvSpPr txBox="1"/>
          <p:nvPr/>
        </p:nvSpPr>
        <p:spPr>
          <a:xfrm rot="5400000">
            <a:off x="3744840" y="601185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EBA0392-3EDC-09A2-4F1B-4DB5226E725F}"/>
              </a:ext>
            </a:extLst>
          </p:cNvPr>
          <p:cNvSpPr txBox="1"/>
          <p:nvPr/>
        </p:nvSpPr>
        <p:spPr>
          <a:xfrm rot="5400000">
            <a:off x="4040661" y="6276407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EB71148-74E3-BDC5-2177-317A65614119}"/>
              </a:ext>
            </a:extLst>
          </p:cNvPr>
          <p:cNvSpPr txBox="1"/>
          <p:nvPr/>
        </p:nvSpPr>
        <p:spPr>
          <a:xfrm rot="5400000">
            <a:off x="3898744" y="5761172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73A7B51-EA5A-6FE4-A9A0-374E55DF9E2E}"/>
              </a:ext>
            </a:extLst>
          </p:cNvPr>
          <p:cNvSpPr/>
          <p:nvPr/>
        </p:nvSpPr>
        <p:spPr>
          <a:xfrm>
            <a:off x="1196109" y="5559175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10AC585-6393-A06A-7865-AAD07DC6D56F}"/>
              </a:ext>
            </a:extLst>
          </p:cNvPr>
          <p:cNvSpPr txBox="1"/>
          <p:nvPr/>
        </p:nvSpPr>
        <p:spPr>
          <a:xfrm>
            <a:off x="1169830" y="5244826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EC8172-8613-19EC-CB5E-40B1277F6C18}"/>
              </a:ext>
            </a:extLst>
          </p:cNvPr>
          <p:cNvSpPr txBox="1"/>
          <p:nvPr/>
        </p:nvSpPr>
        <p:spPr>
          <a:xfrm>
            <a:off x="6152153" y="536880"/>
            <a:ext cx="5769624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Step 2: Label and divide the </a:t>
            </a:r>
            <a:r>
              <a:rPr lang="en-US" b="1"/>
              <a:t>horizontal</a:t>
            </a:r>
            <a:r>
              <a:rPr lang="en-US"/>
              <a:t> axis to show </a:t>
            </a:r>
            <a:r>
              <a:rPr lang="en-US" b="1"/>
              <a:t>marginal</a:t>
            </a:r>
            <a:r>
              <a:rPr lang="en-US"/>
              <a:t> uncertainty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55666D-01CA-5678-D1D2-8CE81755F7F1}"/>
              </a:ext>
            </a:extLst>
          </p:cNvPr>
          <p:cNvSpPr/>
          <p:nvPr/>
        </p:nvSpPr>
        <p:spPr>
          <a:xfrm>
            <a:off x="6333423" y="2069432"/>
            <a:ext cx="5769624" cy="45922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CED6029-4B60-928E-5763-F7A971C10200}"/>
              </a:ext>
            </a:extLst>
          </p:cNvPr>
          <p:cNvSpPr/>
          <p:nvPr/>
        </p:nvSpPr>
        <p:spPr>
          <a:xfrm rot="17672199">
            <a:off x="-1363848" y="1612408"/>
            <a:ext cx="4003300" cy="93799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82F8C64-5710-22D7-17DF-FA28C0BEDE0F}"/>
              </a:ext>
            </a:extLst>
          </p:cNvPr>
          <p:cNvSpPr/>
          <p:nvPr/>
        </p:nvSpPr>
        <p:spPr>
          <a:xfrm rot="4395478">
            <a:off x="-1591836" y="4538199"/>
            <a:ext cx="4003300" cy="93799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260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17EC5-8699-F0C4-1F59-40962FF22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3D39176-3409-EEAF-6CF9-EB452418A2D7}"/>
              </a:ext>
            </a:extLst>
          </p:cNvPr>
          <p:cNvCxnSpPr>
            <a:cxnSpLocks/>
          </p:cNvCxnSpPr>
          <p:nvPr/>
        </p:nvCxnSpPr>
        <p:spPr>
          <a:xfrm>
            <a:off x="1815229" y="5597734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45A6E68-7106-1704-F368-145808E68E6B}"/>
              </a:ext>
            </a:extLst>
          </p:cNvPr>
          <p:cNvCxnSpPr>
            <a:cxnSpLocks/>
          </p:cNvCxnSpPr>
          <p:nvPr/>
        </p:nvCxnSpPr>
        <p:spPr>
          <a:xfrm>
            <a:off x="2601968" y="5572671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91213D6-C142-60B5-EF2F-1649C80CE1DA}"/>
              </a:ext>
            </a:extLst>
          </p:cNvPr>
          <p:cNvCxnSpPr>
            <a:cxnSpLocks/>
          </p:cNvCxnSpPr>
          <p:nvPr/>
        </p:nvCxnSpPr>
        <p:spPr>
          <a:xfrm>
            <a:off x="3388707" y="554760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5B74CAB-C383-7F7F-663C-AE061C710678}"/>
              </a:ext>
            </a:extLst>
          </p:cNvPr>
          <p:cNvCxnSpPr>
            <a:cxnSpLocks/>
          </p:cNvCxnSpPr>
          <p:nvPr/>
        </p:nvCxnSpPr>
        <p:spPr>
          <a:xfrm>
            <a:off x="1919474" y="1144512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01B8A52-0F76-4065-5D21-4CE6E40341D3}"/>
              </a:ext>
            </a:extLst>
          </p:cNvPr>
          <p:cNvCxnSpPr>
            <a:cxnSpLocks/>
          </p:cNvCxnSpPr>
          <p:nvPr/>
        </p:nvCxnSpPr>
        <p:spPr>
          <a:xfrm>
            <a:off x="2706213" y="1119449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5843571-59DB-68B0-CA58-68C91B6DFB90}"/>
              </a:ext>
            </a:extLst>
          </p:cNvPr>
          <p:cNvCxnSpPr>
            <a:cxnSpLocks/>
          </p:cNvCxnSpPr>
          <p:nvPr/>
        </p:nvCxnSpPr>
        <p:spPr>
          <a:xfrm>
            <a:off x="3492952" y="109438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15A55678-1A0A-649B-774E-BC93888DDE6B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732EFED-3299-CFBB-329F-D7B2FB67C477}"/>
              </a:ext>
            </a:extLst>
          </p:cNvPr>
          <p:cNvCxnSpPr>
            <a:cxnSpLocks/>
          </p:cNvCxnSpPr>
          <p:nvPr/>
        </p:nvCxnSpPr>
        <p:spPr>
          <a:xfrm flipV="1">
            <a:off x="49545" y="1386604"/>
            <a:ext cx="1242557" cy="2325386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6173398-E577-97F6-F377-C53E67B8612B}"/>
              </a:ext>
            </a:extLst>
          </p:cNvPr>
          <p:cNvSpPr txBox="1"/>
          <p:nvPr/>
        </p:nvSpPr>
        <p:spPr>
          <a:xfrm rot="17851316">
            <a:off x="-726784" y="2245968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79FA50-422C-892D-A51E-50E5C9967950}"/>
              </a:ext>
            </a:extLst>
          </p:cNvPr>
          <p:cNvCxnSpPr>
            <a:cxnSpLocks/>
          </p:cNvCxnSpPr>
          <p:nvPr/>
        </p:nvCxnSpPr>
        <p:spPr>
          <a:xfrm>
            <a:off x="47916" y="3782075"/>
            <a:ext cx="1184502" cy="240474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919355B-EF54-D55C-2AB2-FA898E8DB28D}"/>
              </a:ext>
            </a:extLst>
          </p:cNvPr>
          <p:cNvSpPr txBox="1"/>
          <p:nvPr/>
        </p:nvSpPr>
        <p:spPr>
          <a:xfrm rot="3887054">
            <a:off x="-994915" y="5509268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19A39D-73E4-CF26-3C63-236831111400}"/>
                  </a:ext>
                </a:extLst>
              </p:cNvPr>
              <p:cNvSpPr txBox="1"/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19A39D-73E4-CF26-3C63-236831111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8C2952-75F0-4A3C-27B9-29E834FE2346}"/>
                  </a:ext>
                </a:extLst>
              </p:cNvPr>
              <p:cNvSpPr txBox="1"/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8C2952-75F0-4A3C-27B9-29E834FE2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1F1693F-7023-D2AF-752B-4D11903CBC97}"/>
              </a:ext>
            </a:extLst>
          </p:cNvPr>
          <p:cNvSpPr txBox="1"/>
          <p:nvPr/>
        </p:nvSpPr>
        <p:spPr>
          <a:xfrm>
            <a:off x="737080" y="49071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89BFE5-A63E-7EB1-DAAB-37C6893367EA}"/>
              </a:ext>
            </a:extLst>
          </p:cNvPr>
          <p:cNvSpPr txBox="1"/>
          <p:nvPr/>
        </p:nvSpPr>
        <p:spPr>
          <a:xfrm>
            <a:off x="1819204" y="62921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5D8200-ABA3-AFA4-2B5B-6B4588438F3F}"/>
              </a:ext>
            </a:extLst>
          </p:cNvPr>
          <p:cNvSpPr txBox="1"/>
          <p:nvPr/>
        </p:nvSpPr>
        <p:spPr>
          <a:xfrm>
            <a:off x="2703992" y="767713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0FE817-52CD-9924-DD54-F76EF4A14E26}"/>
              </a:ext>
            </a:extLst>
          </p:cNvPr>
          <p:cNvSpPr txBox="1"/>
          <p:nvPr/>
        </p:nvSpPr>
        <p:spPr>
          <a:xfrm>
            <a:off x="3369005" y="738989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AEEA74-0961-2192-CA4E-C24BE5EB716D}"/>
              </a:ext>
            </a:extLst>
          </p:cNvPr>
          <p:cNvSpPr/>
          <p:nvPr/>
        </p:nvSpPr>
        <p:spPr>
          <a:xfrm>
            <a:off x="1351608" y="1123972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147002-8EDA-96C3-506D-008B007993C9}"/>
              </a:ext>
            </a:extLst>
          </p:cNvPr>
          <p:cNvSpPr txBox="1"/>
          <p:nvPr/>
        </p:nvSpPr>
        <p:spPr>
          <a:xfrm rot="5400000">
            <a:off x="3849085" y="1558632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175803-7F5B-D7E0-9418-2A1E5C2936E7}"/>
              </a:ext>
            </a:extLst>
          </p:cNvPr>
          <p:cNvSpPr txBox="1"/>
          <p:nvPr/>
        </p:nvSpPr>
        <p:spPr>
          <a:xfrm rot="5400000">
            <a:off x="4144906" y="182318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DC222F-98DB-5501-2CCC-22EA1E554F1E}"/>
              </a:ext>
            </a:extLst>
          </p:cNvPr>
          <p:cNvSpPr txBox="1"/>
          <p:nvPr/>
        </p:nvSpPr>
        <p:spPr>
          <a:xfrm rot="5400000">
            <a:off x="4002989" y="1307950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D2508E-EC53-C553-1D33-215BCD53553F}"/>
              </a:ext>
            </a:extLst>
          </p:cNvPr>
          <p:cNvSpPr/>
          <p:nvPr/>
        </p:nvSpPr>
        <p:spPr>
          <a:xfrm>
            <a:off x="1343356" y="1656741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0B52140-0D6F-E1EA-9DD4-41E9D80581A8}"/>
                  </a:ext>
                </a:extLst>
              </p:cNvPr>
              <p:cNvSpPr txBox="1"/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0B52140-0D6F-E1EA-9DD4-41E9D8058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AD76C1F-07E3-5DF4-507A-5266F86A672E}"/>
                  </a:ext>
                </a:extLst>
              </p:cNvPr>
              <p:cNvSpPr txBox="1"/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AD76C1F-07E3-5DF4-507A-5266F86A6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C35A84D-A8EA-7861-6337-16729B3DED39}"/>
                  </a:ext>
                </a:extLst>
              </p:cNvPr>
              <p:cNvSpPr txBox="1"/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C35A84D-A8EA-7861-6337-16729B3DE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9A2C695-8130-A3C4-3CED-64FBFF4CD797}"/>
                  </a:ext>
                </a:extLst>
              </p:cNvPr>
              <p:cNvSpPr txBox="1"/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9A2C695-8130-A3C4-3CED-64FBFF4CD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blipFill>
                <a:blip r:embed="rId7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484E9F2-3C78-65EF-13F9-7E55FE8A312B}"/>
                  </a:ext>
                </a:extLst>
              </p:cNvPr>
              <p:cNvSpPr txBox="1"/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484E9F2-3C78-65EF-13F9-7E55FE8A3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D6C2E37-C5EE-9D61-C633-D8BFE2CA3317}"/>
                  </a:ext>
                </a:extLst>
              </p:cNvPr>
              <p:cNvSpPr txBox="1"/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D6C2E37-C5EE-9D61-C633-D8BFE2CA3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blipFill>
                <a:blip r:embed="rId9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F504C28-BDC7-9D04-A4AA-3E826AD5A5AB}"/>
                  </a:ext>
                </a:extLst>
              </p:cNvPr>
              <p:cNvSpPr txBox="1"/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F504C28-BDC7-9D04-A4AA-3E826AD5A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blipFill>
                <a:blip r:embed="rId10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39602EA-775A-70C4-EBA1-9514C231A7AA}"/>
                  </a:ext>
                </a:extLst>
              </p:cNvPr>
              <p:cNvSpPr txBox="1"/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39602EA-775A-70C4-EBA1-9514C231A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E4D5104F-2C83-3C57-3969-DBAA25F4E915}"/>
              </a:ext>
            </a:extLst>
          </p:cNvPr>
          <p:cNvSpPr txBox="1"/>
          <p:nvPr/>
        </p:nvSpPr>
        <p:spPr>
          <a:xfrm>
            <a:off x="1274075" y="791604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0146CC-F946-94D0-8BF7-D7472EA32D6A}"/>
              </a:ext>
            </a:extLst>
          </p:cNvPr>
          <p:cNvSpPr txBox="1"/>
          <p:nvPr/>
        </p:nvSpPr>
        <p:spPr>
          <a:xfrm>
            <a:off x="632835" y="4943937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7E7FE1-FB2D-C3B4-39C9-17DC9A29145E}"/>
              </a:ext>
            </a:extLst>
          </p:cNvPr>
          <p:cNvSpPr txBox="1"/>
          <p:nvPr/>
        </p:nvSpPr>
        <p:spPr>
          <a:xfrm>
            <a:off x="1714959" y="5082436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7EFDAAE-FC99-01FE-DB34-E5F5A99464BE}"/>
              </a:ext>
            </a:extLst>
          </p:cNvPr>
          <p:cNvSpPr txBox="1"/>
          <p:nvPr/>
        </p:nvSpPr>
        <p:spPr>
          <a:xfrm>
            <a:off x="2599747" y="5220935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F9418B7-89E8-144F-F2E5-B4636B9BB39E}"/>
              </a:ext>
            </a:extLst>
          </p:cNvPr>
          <p:cNvSpPr txBox="1"/>
          <p:nvPr/>
        </p:nvSpPr>
        <p:spPr>
          <a:xfrm>
            <a:off x="3264760" y="5192211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8023B00-C8A7-54CA-6E7F-E3ACB4B5B373}"/>
              </a:ext>
            </a:extLst>
          </p:cNvPr>
          <p:cNvSpPr/>
          <p:nvPr/>
        </p:nvSpPr>
        <p:spPr>
          <a:xfrm>
            <a:off x="1247363" y="5577194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12BADD3-0269-483A-0CA9-377572379336}"/>
              </a:ext>
            </a:extLst>
          </p:cNvPr>
          <p:cNvSpPr txBox="1"/>
          <p:nvPr/>
        </p:nvSpPr>
        <p:spPr>
          <a:xfrm rot="5400000">
            <a:off x="3744840" y="601185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CB17C99-D2A2-3F94-E748-CD6D8F91E06C}"/>
              </a:ext>
            </a:extLst>
          </p:cNvPr>
          <p:cNvSpPr txBox="1"/>
          <p:nvPr/>
        </p:nvSpPr>
        <p:spPr>
          <a:xfrm rot="5400000">
            <a:off x="4040661" y="6276407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79F0A5C-6325-7B19-28F3-D1B38FAAC4A4}"/>
              </a:ext>
            </a:extLst>
          </p:cNvPr>
          <p:cNvSpPr txBox="1"/>
          <p:nvPr/>
        </p:nvSpPr>
        <p:spPr>
          <a:xfrm rot="5400000">
            <a:off x="3898744" y="5761172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75ED146-2C12-B5FD-76F6-4FDBCA4552A7}"/>
              </a:ext>
            </a:extLst>
          </p:cNvPr>
          <p:cNvSpPr/>
          <p:nvPr/>
        </p:nvSpPr>
        <p:spPr>
          <a:xfrm>
            <a:off x="1196109" y="5559175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D883EE0-BCB2-89FE-46CB-7731EC9DAE53}"/>
              </a:ext>
            </a:extLst>
          </p:cNvPr>
          <p:cNvSpPr txBox="1"/>
          <p:nvPr/>
        </p:nvSpPr>
        <p:spPr>
          <a:xfrm>
            <a:off x="1169830" y="5244826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93C82F-8A3D-FC3B-389F-E1E1188DC8CE}"/>
              </a:ext>
            </a:extLst>
          </p:cNvPr>
          <p:cNvSpPr txBox="1"/>
          <p:nvPr/>
        </p:nvSpPr>
        <p:spPr>
          <a:xfrm>
            <a:off x="6152153" y="536880"/>
            <a:ext cx="5769624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Step 2: Label and divide the </a:t>
            </a:r>
            <a:r>
              <a:rPr lang="en-US" b="1"/>
              <a:t>horizontal</a:t>
            </a:r>
            <a:r>
              <a:rPr lang="en-US"/>
              <a:t> axis to show </a:t>
            </a:r>
            <a:r>
              <a:rPr lang="en-US" b="1"/>
              <a:t>marginal</a:t>
            </a:r>
            <a:r>
              <a:rPr lang="en-US"/>
              <a:t> uncertainty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C23FD4-28DA-5DAA-05BE-1899D470D01F}"/>
              </a:ext>
            </a:extLst>
          </p:cNvPr>
          <p:cNvSpPr/>
          <p:nvPr/>
        </p:nvSpPr>
        <p:spPr>
          <a:xfrm>
            <a:off x="6333423" y="2069432"/>
            <a:ext cx="5769624" cy="45922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DC111DE-E13D-FA64-875E-1FCC46E2D97E}"/>
              </a:ext>
            </a:extLst>
          </p:cNvPr>
          <p:cNvSpPr/>
          <p:nvPr/>
        </p:nvSpPr>
        <p:spPr>
          <a:xfrm rot="17672199">
            <a:off x="-1363848" y="1612408"/>
            <a:ext cx="4003300" cy="93799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372B6DD-E970-EDD3-2170-B416F69FCB67}"/>
              </a:ext>
            </a:extLst>
          </p:cNvPr>
          <p:cNvSpPr/>
          <p:nvPr/>
        </p:nvSpPr>
        <p:spPr>
          <a:xfrm rot="4395478">
            <a:off x="-1591836" y="4538199"/>
            <a:ext cx="4003300" cy="93799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0E4A74-3F3F-D223-1590-153BAC6F3C5F}"/>
              </a:ext>
            </a:extLst>
          </p:cNvPr>
          <p:cNvSpPr txBox="1"/>
          <p:nvPr/>
        </p:nvSpPr>
        <p:spPr>
          <a:xfrm>
            <a:off x="7826381" y="1194305"/>
            <a:ext cx="3155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/>
              <a:t>a coup attempt would...?</a:t>
            </a:r>
          </a:p>
        </p:txBody>
      </p:sp>
    </p:spTree>
    <p:extLst>
      <p:ext uri="{BB962C8B-B14F-4D97-AF65-F5344CB8AC3E}">
        <p14:creationId xmlns:p14="http://schemas.microsoft.com/office/powerpoint/2010/main" val="5650414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FDD32-735A-9DA5-425B-A989D06BE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5DCA99A-5E52-6F7E-3F59-5F2DE85B5E6A}"/>
              </a:ext>
            </a:extLst>
          </p:cNvPr>
          <p:cNvCxnSpPr>
            <a:cxnSpLocks/>
          </p:cNvCxnSpPr>
          <p:nvPr/>
        </p:nvCxnSpPr>
        <p:spPr>
          <a:xfrm>
            <a:off x="1815229" y="5597734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A7A2BF2-FC85-AB63-B66C-13FFFCE9D952}"/>
              </a:ext>
            </a:extLst>
          </p:cNvPr>
          <p:cNvCxnSpPr>
            <a:cxnSpLocks/>
          </p:cNvCxnSpPr>
          <p:nvPr/>
        </p:nvCxnSpPr>
        <p:spPr>
          <a:xfrm>
            <a:off x="2601968" y="5572671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16BED0D-EDA4-C3BC-B146-BD8E793396EE}"/>
              </a:ext>
            </a:extLst>
          </p:cNvPr>
          <p:cNvCxnSpPr>
            <a:cxnSpLocks/>
          </p:cNvCxnSpPr>
          <p:nvPr/>
        </p:nvCxnSpPr>
        <p:spPr>
          <a:xfrm>
            <a:off x="3388707" y="554760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81E05C6-5A65-F1CD-A354-1E0B2CFB1618}"/>
              </a:ext>
            </a:extLst>
          </p:cNvPr>
          <p:cNvCxnSpPr>
            <a:cxnSpLocks/>
          </p:cNvCxnSpPr>
          <p:nvPr/>
        </p:nvCxnSpPr>
        <p:spPr>
          <a:xfrm>
            <a:off x="1919474" y="1144512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B78F1B4-4DB8-BDFC-11CF-9797CB2F76F3}"/>
              </a:ext>
            </a:extLst>
          </p:cNvPr>
          <p:cNvCxnSpPr>
            <a:cxnSpLocks/>
          </p:cNvCxnSpPr>
          <p:nvPr/>
        </p:nvCxnSpPr>
        <p:spPr>
          <a:xfrm>
            <a:off x="2706213" y="1119449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1A7DDFF-0E58-44D3-707F-0F323AA664C7}"/>
              </a:ext>
            </a:extLst>
          </p:cNvPr>
          <p:cNvCxnSpPr>
            <a:cxnSpLocks/>
          </p:cNvCxnSpPr>
          <p:nvPr/>
        </p:nvCxnSpPr>
        <p:spPr>
          <a:xfrm>
            <a:off x="3492952" y="109438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18814B46-51A7-6F0D-45EB-94F9C8DB6BDD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B58FB29-ED36-EF5F-1394-38C526D023D8}"/>
              </a:ext>
            </a:extLst>
          </p:cNvPr>
          <p:cNvCxnSpPr>
            <a:cxnSpLocks/>
          </p:cNvCxnSpPr>
          <p:nvPr/>
        </p:nvCxnSpPr>
        <p:spPr>
          <a:xfrm flipV="1">
            <a:off x="49545" y="1386604"/>
            <a:ext cx="1242557" cy="2325386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0E6B8BA-EDA5-030C-6A7B-3F0BC035920D}"/>
              </a:ext>
            </a:extLst>
          </p:cNvPr>
          <p:cNvSpPr txBox="1"/>
          <p:nvPr/>
        </p:nvSpPr>
        <p:spPr>
          <a:xfrm rot="17851316">
            <a:off x="-726784" y="2245968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821FFAD-F22B-A98C-370A-9FD47A9BBE8F}"/>
              </a:ext>
            </a:extLst>
          </p:cNvPr>
          <p:cNvCxnSpPr>
            <a:cxnSpLocks/>
          </p:cNvCxnSpPr>
          <p:nvPr/>
        </p:nvCxnSpPr>
        <p:spPr>
          <a:xfrm>
            <a:off x="47916" y="3782075"/>
            <a:ext cx="1184502" cy="240474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8048FAF-36A1-E32A-5799-BA8D52C65142}"/>
              </a:ext>
            </a:extLst>
          </p:cNvPr>
          <p:cNvSpPr txBox="1"/>
          <p:nvPr/>
        </p:nvSpPr>
        <p:spPr>
          <a:xfrm rot="3887054">
            <a:off x="-994915" y="5509268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90993B-C5F6-027D-9E64-10FD5C72245C}"/>
                  </a:ext>
                </a:extLst>
              </p:cNvPr>
              <p:cNvSpPr txBox="1"/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90993B-C5F6-027D-9E64-10FD5C722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5EBD42-4E0E-EAE2-74FA-B60EBA688493}"/>
                  </a:ext>
                </a:extLst>
              </p:cNvPr>
              <p:cNvSpPr txBox="1"/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5EBD42-4E0E-EAE2-74FA-B60EBA688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A700C91-AC44-8435-BFD9-1833159A8E40}"/>
              </a:ext>
            </a:extLst>
          </p:cNvPr>
          <p:cNvSpPr txBox="1"/>
          <p:nvPr/>
        </p:nvSpPr>
        <p:spPr>
          <a:xfrm>
            <a:off x="737080" y="49071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4339A5-6304-EF71-92BB-70C4947B15C2}"/>
              </a:ext>
            </a:extLst>
          </p:cNvPr>
          <p:cNvSpPr txBox="1"/>
          <p:nvPr/>
        </p:nvSpPr>
        <p:spPr>
          <a:xfrm>
            <a:off x="1819204" y="62921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7C852F-01AF-BFC0-B0A4-F6085683317F}"/>
              </a:ext>
            </a:extLst>
          </p:cNvPr>
          <p:cNvSpPr txBox="1"/>
          <p:nvPr/>
        </p:nvSpPr>
        <p:spPr>
          <a:xfrm>
            <a:off x="2703992" y="767713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9F6F35-02A3-3239-17BD-28F28722ADA4}"/>
              </a:ext>
            </a:extLst>
          </p:cNvPr>
          <p:cNvSpPr txBox="1"/>
          <p:nvPr/>
        </p:nvSpPr>
        <p:spPr>
          <a:xfrm>
            <a:off x="3369005" y="738989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C877F3-C714-2612-4566-161BC49A06CA}"/>
              </a:ext>
            </a:extLst>
          </p:cNvPr>
          <p:cNvSpPr/>
          <p:nvPr/>
        </p:nvSpPr>
        <p:spPr>
          <a:xfrm>
            <a:off x="1351608" y="1123972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D7723C-EF93-AA3E-B404-2F7F590240E8}"/>
              </a:ext>
            </a:extLst>
          </p:cNvPr>
          <p:cNvSpPr txBox="1"/>
          <p:nvPr/>
        </p:nvSpPr>
        <p:spPr>
          <a:xfrm rot="5400000">
            <a:off x="3849085" y="1558632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8F5096-7C78-0AEC-54CE-0AFFC32487A1}"/>
              </a:ext>
            </a:extLst>
          </p:cNvPr>
          <p:cNvSpPr txBox="1"/>
          <p:nvPr/>
        </p:nvSpPr>
        <p:spPr>
          <a:xfrm rot="5400000">
            <a:off x="4144906" y="182318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2EA09D-B1C0-4104-C631-06A7C31ED2EA}"/>
              </a:ext>
            </a:extLst>
          </p:cNvPr>
          <p:cNvSpPr txBox="1"/>
          <p:nvPr/>
        </p:nvSpPr>
        <p:spPr>
          <a:xfrm rot="5400000">
            <a:off x="4002989" y="1307950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D50FD5-EDED-6D01-DFAB-DEC1B6639030}"/>
              </a:ext>
            </a:extLst>
          </p:cNvPr>
          <p:cNvSpPr/>
          <p:nvPr/>
        </p:nvSpPr>
        <p:spPr>
          <a:xfrm>
            <a:off x="1343356" y="1656741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C92413F-C8C4-C77C-0F12-88FEF3E825DE}"/>
                  </a:ext>
                </a:extLst>
              </p:cNvPr>
              <p:cNvSpPr txBox="1"/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C92413F-C8C4-C77C-0F12-88FEF3E82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B1E6611-ADA4-9B9F-D5F6-86CDD4C7C4C7}"/>
                  </a:ext>
                </a:extLst>
              </p:cNvPr>
              <p:cNvSpPr txBox="1"/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B1E6611-ADA4-9B9F-D5F6-86CDD4C7C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20F18BE-B54C-7EDC-C400-97D4CDF0B462}"/>
                  </a:ext>
                </a:extLst>
              </p:cNvPr>
              <p:cNvSpPr txBox="1"/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20F18BE-B54C-7EDC-C400-97D4CDF0B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FBD32B4-9155-A45F-268C-1518A3A39BF7}"/>
                  </a:ext>
                </a:extLst>
              </p:cNvPr>
              <p:cNvSpPr txBox="1"/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FBD32B4-9155-A45F-268C-1518A3A39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blipFill>
                <a:blip r:embed="rId7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6E042ED-C2ED-4086-F69E-1D88C2F9F962}"/>
                  </a:ext>
                </a:extLst>
              </p:cNvPr>
              <p:cNvSpPr txBox="1"/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6E042ED-C2ED-4086-F69E-1D88C2F9F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B4ADAF-7D51-CB63-A94E-160AF0390C42}"/>
                  </a:ext>
                </a:extLst>
              </p:cNvPr>
              <p:cNvSpPr txBox="1"/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B4ADAF-7D51-CB63-A94E-160AF0390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blipFill>
                <a:blip r:embed="rId9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051F16A-1CF2-F933-3A78-656C2E590F80}"/>
                  </a:ext>
                </a:extLst>
              </p:cNvPr>
              <p:cNvSpPr txBox="1"/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051F16A-1CF2-F933-3A78-656C2E590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blipFill>
                <a:blip r:embed="rId10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B5D94F4-6649-3133-5E0F-739C4B233387}"/>
                  </a:ext>
                </a:extLst>
              </p:cNvPr>
              <p:cNvSpPr txBox="1"/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B5D94F4-6649-3133-5E0F-739C4B233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E083D459-00AF-C0C3-7A29-4F3C36D7BCC9}"/>
              </a:ext>
            </a:extLst>
          </p:cNvPr>
          <p:cNvSpPr txBox="1"/>
          <p:nvPr/>
        </p:nvSpPr>
        <p:spPr>
          <a:xfrm>
            <a:off x="1274075" y="791604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F60071-718D-D1E8-00D4-AFD46AA3205D}"/>
              </a:ext>
            </a:extLst>
          </p:cNvPr>
          <p:cNvSpPr txBox="1"/>
          <p:nvPr/>
        </p:nvSpPr>
        <p:spPr>
          <a:xfrm>
            <a:off x="632835" y="4943937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B4508A2-CB19-F050-3203-6E65F3EA5439}"/>
              </a:ext>
            </a:extLst>
          </p:cNvPr>
          <p:cNvSpPr txBox="1"/>
          <p:nvPr/>
        </p:nvSpPr>
        <p:spPr>
          <a:xfrm>
            <a:off x="1714959" y="5082436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F6E4F9B-39C8-FBDE-FF50-A72D409A15BE}"/>
              </a:ext>
            </a:extLst>
          </p:cNvPr>
          <p:cNvSpPr txBox="1"/>
          <p:nvPr/>
        </p:nvSpPr>
        <p:spPr>
          <a:xfrm>
            <a:off x="2599747" y="5220935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34A7225-EFF5-7E19-8062-59EC6D04CD90}"/>
              </a:ext>
            </a:extLst>
          </p:cNvPr>
          <p:cNvSpPr txBox="1"/>
          <p:nvPr/>
        </p:nvSpPr>
        <p:spPr>
          <a:xfrm>
            <a:off x="3264760" y="5192211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92E4916-048F-5AEA-7B0F-5125B38EB0C0}"/>
              </a:ext>
            </a:extLst>
          </p:cNvPr>
          <p:cNvSpPr/>
          <p:nvPr/>
        </p:nvSpPr>
        <p:spPr>
          <a:xfrm>
            <a:off x="1247363" y="5577194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5E8FAC-D0AD-241C-C79E-819FC9F46305}"/>
              </a:ext>
            </a:extLst>
          </p:cNvPr>
          <p:cNvSpPr txBox="1"/>
          <p:nvPr/>
        </p:nvSpPr>
        <p:spPr>
          <a:xfrm rot="5400000">
            <a:off x="3744840" y="601185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0246CFB-EADA-4BB4-0B74-59D53BC2B308}"/>
              </a:ext>
            </a:extLst>
          </p:cNvPr>
          <p:cNvSpPr txBox="1"/>
          <p:nvPr/>
        </p:nvSpPr>
        <p:spPr>
          <a:xfrm rot="5400000">
            <a:off x="4040661" y="6276407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BBF6E52-CB19-4138-8FA4-A13D005E0ED9}"/>
              </a:ext>
            </a:extLst>
          </p:cNvPr>
          <p:cNvSpPr txBox="1"/>
          <p:nvPr/>
        </p:nvSpPr>
        <p:spPr>
          <a:xfrm rot="5400000">
            <a:off x="3898744" y="5761172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80B54E7-815C-722F-62DA-F53F6A841E58}"/>
              </a:ext>
            </a:extLst>
          </p:cNvPr>
          <p:cNvSpPr/>
          <p:nvPr/>
        </p:nvSpPr>
        <p:spPr>
          <a:xfrm>
            <a:off x="1196109" y="5559175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9446BDC-B008-D198-91AD-555CC78FFCF6}"/>
              </a:ext>
            </a:extLst>
          </p:cNvPr>
          <p:cNvSpPr txBox="1"/>
          <p:nvPr/>
        </p:nvSpPr>
        <p:spPr>
          <a:xfrm>
            <a:off x="1169830" y="5244826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A7245E-06A7-7F96-9F59-4BA792D9E464}"/>
              </a:ext>
            </a:extLst>
          </p:cNvPr>
          <p:cNvSpPr txBox="1"/>
          <p:nvPr/>
        </p:nvSpPr>
        <p:spPr>
          <a:xfrm>
            <a:off x="6152153" y="536880"/>
            <a:ext cx="5769624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Step 2: Label and divide the </a:t>
            </a:r>
            <a:r>
              <a:rPr lang="en-US" b="1"/>
              <a:t>horizontal</a:t>
            </a:r>
            <a:r>
              <a:rPr lang="en-US"/>
              <a:t> axis to show </a:t>
            </a:r>
            <a:r>
              <a:rPr lang="en-US" b="1"/>
              <a:t>marginal</a:t>
            </a:r>
            <a:r>
              <a:rPr lang="en-US"/>
              <a:t> uncertainty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35879B-909C-C9B0-E09E-4483E94A3960}"/>
              </a:ext>
            </a:extLst>
          </p:cNvPr>
          <p:cNvSpPr/>
          <p:nvPr/>
        </p:nvSpPr>
        <p:spPr>
          <a:xfrm>
            <a:off x="6333423" y="2069432"/>
            <a:ext cx="5769624" cy="45922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283BE26-2E84-4DFC-D7FF-B0EB769C8429}"/>
              </a:ext>
            </a:extLst>
          </p:cNvPr>
          <p:cNvSpPr/>
          <p:nvPr/>
        </p:nvSpPr>
        <p:spPr>
          <a:xfrm rot="17672199">
            <a:off x="-1363848" y="1612408"/>
            <a:ext cx="4003300" cy="93799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683B877-2095-60EC-1826-7A56FD9233AD}"/>
              </a:ext>
            </a:extLst>
          </p:cNvPr>
          <p:cNvSpPr/>
          <p:nvPr/>
        </p:nvSpPr>
        <p:spPr>
          <a:xfrm rot="4395478">
            <a:off x="-1591836" y="4538199"/>
            <a:ext cx="4003300" cy="93799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9C47A7-60D4-7D2F-011D-9D5A33E4E597}"/>
              </a:ext>
            </a:extLst>
          </p:cNvPr>
          <p:cNvSpPr txBox="1"/>
          <p:nvPr/>
        </p:nvSpPr>
        <p:spPr>
          <a:xfrm>
            <a:off x="7826381" y="1194305"/>
            <a:ext cx="3155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/>
              <a:t>a coup attempt would...?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4507C7-1E04-61CB-DA44-0ABAEA7334CB}"/>
              </a:ext>
            </a:extLst>
          </p:cNvPr>
          <p:cNvSpPr txBox="1"/>
          <p:nvPr/>
        </p:nvSpPr>
        <p:spPr>
          <a:xfrm>
            <a:off x="6970300" y="1619558"/>
            <a:ext cx="1158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/>
              <a:t>fail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5FEA83-6B6B-BD0B-3B99-4E642EE37BAE}"/>
              </a:ext>
            </a:extLst>
          </p:cNvPr>
          <p:cNvSpPr txBox="1"/>
          <p:nvPr/>
        </p:nvSpPr>
        <p:spPr>
          <a:xfrm>
            <a:off x="10194546" y="1626383"/>
            <a:ext cx="1158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/>
              <a:t>succeed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AD8A208-2C6F-A070-3418-0001F45881F3}"/>
              </a:ext>
            </a:extLst>
          </p:cNvPr>
          <p:cNvCxnSpPr>
            <a:stCxn id="19" idx="0"/>
            <a:endCxn id="19" idx="2"/>
          </p:cNvCxnSpPr>
          <p:nvPr/>
        </p:nvCxnSpPr>
        <p:spPr>
          <a:xfrm>
            <a:off x="9218235" y="2069432"/>
            <a:ext cx="0" cy="45922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88047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94DBA-A46B-AD3B-8F92-08977F219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AC5E7D1-65E4-C571-9340-736E20EC3E71}"/>
              </a:ext>
            </a:extLst>
          </p:cNvPr>
          <p:cNvCxnSpPr>
            <a:cxnSpLocks/>
          </p:cNvCxnSpPr>
          <p:nvPr/>
        </p:nvCxnSpPr>
        <p:spPr>
          <a:xfrm>
            <a:off x="1815229" y="5597734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69E574B-29A2-9D36-80EA-7E68A39E49E4}"/>
              </a:ext>
            </a:extLst>
          </p:cNvPr>
          <p:cNvCxnSpPr>
            <a:cxnSpLocks/>
          </p:cNvCxnSpPr>
          <p:nvPr/>
        </p:nvCxnSpPr>
        <p:spPr>
          <a:xfrm>
            <a:off x="2601968" y="5572671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4BA7AC4-7E6D-DF92-0ECF-55C87C0A72C4}"/>
              </a:ext>
            </a:extLst>
          </p:cNvPr>
          <p:cNvCxnSpPr>
            <a:cxnSpLocks/>
          </p:cNvCxnSpPr>
          <p:nvPr/>
        </p:nvCxnSpPr>
        <p:spPr>
          <a:xfrm>
            <a:off x="3388707" y="554760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94796F4-AFFB-CE7A-26A5-EE31C4B5EF1F}"/>
              </a:ext>
            </a:extLst>
          </p:cNvPr>
          <p:cNvCxnSpPr>
            <a:cxnSpLocks/>
          </p:cNvCxnSpPr>
          <p:nvPr/>
        </p:nvCxnSpPr>
        <p:spPr>
          <a:xfrm>
            <a:off x="1919474" y="1144512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5AE00DF-B8C2-CD1F-3EF5-6C0AF6084D50}"/>
              </a:ext>
            </a:extLst>
          </p:cNvPr>
          <p:cNvCxnSpPr>
            <a:cxnSpLocks/>
          </p:cNvCxnSpPr>
          <p:nvPr/>
        </p:nvCxnSpPr>
        <p:spPr>
          <a:xfrm>
            <a:off x="2706213" y="1119449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57D531D-7B76-5821-66EF-8E5D52495B47}"/>
              </a:ext>
            </a:extLst>
          </p:cNvPr>
          <p:cNvCxnSpPr>
            <a:cxnSpLocks/>
          </p:cNvCxnSpPr>
          <p:nvPr/>
        </p:nvCxnSpPr>
        <p:spPr>
          <a:xfrm>
            <a:off x="3492952" y="109438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0685CD79-B292-65FD-1DDC-8515D92E4502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2E3249F-A9ED-1EDC-054F-0A63759852A1}"/>
              </a:ext>
            </a:extLst>
          </p:cNvPr>
          <p:cNvCxnSpPr>
            <a:cxnSpLocks/>
          </p:cNvCxnSpPr>
          <p:nvPr/>
        </p:nvCxnSpPr>
        <p:spPr>
          <a:xfrm flipV="1">
            <a:off x="49545" y="1386604"/>
            <a:ext cx="1242557" cy="2325386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5E7718C-0FFF-64E5-75B6-7E85076DCADB}"/>
              </a:ext>
            </a:extLst>
          </p:cNvPr>
          <p:cNvSpPr txBox="1"/>
          <p:nvPr/>
        </p:nvSpPr>
        <p:spPr>
          <a:xfrm rot="17851316">
            <a:off x="-726784" y="2245968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AB65811-5D65-2B1E-CBFC-FBA0926A4290}"/>
              </a:ext>
            </a:extLst>
          </p:cNvPr>
          <p:cNvCxnSpPr>
            <a:cxnSpLocks/>
          </p:cNvCxnSpPr>
          <p:nvPr/>
        </p:nvCxnSpPr>
        <p:spPr>
          <a:xfrm>
            <a:off x="47916" y="3782075"/>
            <a:ext cx="1184502" cy="240474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21D38B8-3361-9D19-E6BC-82F64C2C87DC}"/>
              </a:ext>
            </a:extLst>
          </p:cNvPr>
          <p:cNvSpPr txBox="1"/>
          <p:nvPr/>
        </p:nvSpPr>
        <p:spPr>
          <a:xfrm rot="3887054">
            <a:off x="-994915" y="5509268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B848C8-0C78-B850-C411-B28F7A722289}"/>
                  </a:ext>
                </a:extLst>
              </p:cNvPr>
              <p:cNvSpPr txBox="1"/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B848C8-0C78-B850-C411-B28F7A722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C76B48-756E-B9E4-113F-E0990E0B690F}"/>
                  </a:ext>
                </a:extLst>
              </p:cNvPr>
              <p:cNvSpPr txBox="1"/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C76B48-756E-B9E4-113F-E0990E0B6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0B938A2-B7A4-3D41-557C-A179203FCCE1}"/>
              </a:ext>
            </a:extLst>
          </p:cNvPr>
          <p:cNvSpPr txBox="1"/>
          <p:nvPr/>
        </p:nvSpPr>
        <p:spPr>
          <a:xfrm>
            <a:off x="737080" y="49071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BE8284-04F9-02A0-18BB-CBE323FF6566}"/>
              </a:ext>
            </a:extLst>
          </p:cNvPr>
          <p:cNvSpPr txBox="1"/>
          <p:nvPr/>
        </p:nvSpPr>
        <p:spPr>
          <a:xfrm>
            <a:off x="1819204" y="62921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3BE550-69D1-29FD-BDAD-2C023D46BAB4}"/>
              </a:ext>
            </a:extLst>
          </p:cNvPr>
          <p:cNvSpPr txBox="1"/>
          <p:nvPr/>
        </p:nvSpPr>
        <p:spPr>
          <a:xfrm>
            <a:off x="2703992" y="767713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459BD3-1A78-E6B6-333D-A0B96831E81C}"/>
              </a:ext>
            </a:extLst>
          </p:cNvPr>
          <p:cNvSpPr txBox="1"/>
          <p:nvPr/>
        </p:nvSpPr>
        <p:spPr>
          <a:xfrm>
            <a:off x="3369005" y="738989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8B5F69-21C9-678E-4A46-1A1E20214561}"/>
              </a:ext>
            </a:extLst>
          </p:cNvPr>
          <p:cNvSpPr/>
          <p:nvPr/>
        </p:nvSpPr>
        <p:spPr>
          <a:xfrm>
            <a:off x="1351608" y="1123972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BEB9A9-F568-0EBB-2BAC-5A0AB64C65D9}"/>
              </a:ext>
            </a:extLst>
          </p:cNvPr>
          <p:cNvSpPr txBox="1"/>
          <p:nvPr/>
        </p:nvSpPr>
        <p:spPr>
          <a:xfrm rot="5400000">
            <a:off x="3849085" y="1558632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199C9F-8817-96C6-EBF3-6187F40C87D8}"/>
              </a:ext>
            </a:extLst>
          </p:cNvPr>
          <p:cNvSpPr txBox="1"/>
          <p:nvPr/>
        </p:nvSpPr>
        <p:spPr>
          <a:xfrm rot="5400000">
            <a:off x="4144906" y="182318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45EE5C-6943-AFFB-03B4-9989C232546E}"/>
              </a:ext>
            </a:extLst>
          </p:cNvPr>
          <p:cNvSpPr txBox="1"/>
          <p:nvPr/>
        </p:nvSpPr>
        <p:spPr>
          <a:xfrm rot="5400000">
            <a:off x="4002989" y="1307950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7ED57C-F4AB-BDC8-7082-BBC86583366E}"/>
              </a:ext>
            </a:extLst>
          </p:cNvPr>
          <p:cNvSpPr/>
          <p:nvPr/>
        </p:nvSpPr>
        <p:spPr>
          <a:xfrm>
            <a:off x="1343356" y="1656741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4565B79-4289-C3B4-B2E3-D528AB0C7901}"/>
                  </a:ext>
                </a:extLst>
              </p:cNvPr>
              <p:cNvSpPr txBox="1"/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4565B79-4289-C3B4-B2E3-D528AB0C7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B2BE61F-955B-E365-DE9F-F53543585B88}"/>
                  </a:ext>
                </a:extLst>
              </p:cNvPr>
              <p:cNvSpPr txBox="1"/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B2BE61F-955B-E365-DE9F-F53543585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A12E599-CB56-6ED8-91BC-F20E021AD220}"/>
                  </a:ext>
                </a:extLst>
              </p:cNvPr>
              <p:cNvSpPr txBox="1"/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A12E599-CB56-6ED8-91BC-F20E021AD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D5AD98D-2D40-8B97-E237-2A22B74EC930}"/>
                  </a:ext>
                </a:extLst>
              </p:cNvPr>
              <p:cNvSpPr txBox="1"/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D5AD98D-2D40-8B97-E237-2A22B74EC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blipFill>
                <a:blip r:embed="rId7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9A00117-7CB3-492D-D154-B62CA6485761}"/>
                  </a:ext>
                </a:extLst>
              </p:cNvPr>
              <p:cNvSpPr txBox="1"/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9A00117-7CB3-492D-D154-B62CA6485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FCF9262-C0B4-24C0-748E-3EB5D8B098A1}"/>
                  </a:ext>
                </a:extLst>
              </p:cNvPr>
              <p:cNvSpPr txBox="1"/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FCF9262-C0B4-24C0-748E-3EB5D8B09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blipFill>
                <a:blip r:embed="rId9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6E34D98-C386-7D6E-3DD6-0FE593C77F2E}"/>
                  </a:ext>
                </a:extLst>
              </p:cNvPr>
              <p:cNvSpPr txBox="1"/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6E34D98-C386-7D6E-3DD6-0FE593C77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blipFill>
                <a:blip r:embed="rId10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EBB3BD3-BE97-F2EF-408F-FF4B0A46D05C}"/>
                  </a:ext>
                </a:extLst>
              </p:cNvPr>
              <p:cNvSpPr txBox="1"/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EBB3BD3-BE97-F2EF-408F-FF4B0A46D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A8DA6864-A509-C790-9BA4-F0DE7FBE4B85}"/>
              </a:ext>
            </a:extLst>
          </p:cNvPr>
          <p:cNvSpPr txBox="1"/>
          <p:nvPr/>
        </p:nvSpPr>
        <p:spPr>
          <a:xfrm>
            <a:off x="1274075" y="791604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E3648B0-B027-323B-BA45-18CA1C04FE1F}"/>
              </a:ext>
            </a:extLst>
          </p:cNvPr>
          <p:cNvSpPr txBox="1"/>
          <p:nvPr/>
        </p:nvSpPr>
        <p:spPr>
          <a:xfrm>
            <a:off x="632835" y="4943937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E85C61-504D-BDEE-5744-95A7C900F6C5}"/>
              </a:ext>
            </a:extLst>
          </p:cNvPr>
          <p:cNvSpPr txBox="1"/>
          <p:nvPr/>
        </p:nvSpPr>
        <p:spPr>
          <a:xfrm>
            <a:off x="1714959" y="5082436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40FA4D0-79B3-0C76-1A78-AB637F3169BE}"/>
              </a:ext>
            </a:extLst>
          </p:cNvPr>
          <p:cNvSpPr txBox="1"/>
          <p:nvPr/>
        </p:nvSpPr>
        <p:spPr>
          <a:xfrm>
            <a:off x="2599747" y="5220935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4BAD15-9B17-ACE1-B85A-F9A8F4D72822}"/>
              </a:ext>
            </a:extLst>
          </p:cNvPr>
          <p:cNvSpPr txBox="1"/>
          <p:nvPr/>
        </p:nvSpPr>
        <p:spPr>
          <a:xfrm>
            <a:off x="3264760" y="5192211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A4305A3-15E7-4EB8-B1D2-4545F3F4CCCC}"/>
              </a:ext>
            </a:extLst>
          </p:cNvPr>
          <p:cNvSpPr/>
          <p:nvPr/>
        </p:nvSpPr>
        <p:spPr>
          <a:xfrm>
            <a:off x="1247363" y="5577194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2DA09B6-227C-298A-E234-CBBD31ACFB2F}"/>
              </a:ext>
            </a:extLst>
          </p:cNvPr>
          <p:cNvSpPr txBox="1"/>
          <p:nvPr/>
        </p:nvSpPr>
        <p:spPr>
          <a:xfrm rot="5400000">
            <a:off x="3744840" y="601185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35F159D-51BA-E8E4-838D-46C02D1CBB14}"/>
              </a:ext>
            </a:extLst>
          </p:cNvPr>
          <p:cNvSpPr txBox="1"/>
          <p:nvPr/>
        </p:nvSpPr>
        <p:spPr>
          <a:xfrm rot="5400000">
            <a:off x="4040661" y="6276407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A59680-03EC-15C0-8FE8-A6BB69D97F5A}"/>
              </a:ext>
            </a:extLst>
          </p:cNvPr>
          <p:cNvSpPr txBox="1"/>
          <p:nvPr/>
        </p:nvSpPr>
        <p:spPr>
          <a:xfrm rot="5400000">
            <a:off x="3898744" y="5761172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4C91FBA-BE47-7ECF-825C-0EE9515028EE}"/>
              </a:ext>
            </a:extLst>
          </p:cNvPr>
          <p:cNvSpPr/>
          <p:nvPr/>
        </p:nvSpPr>
        <p:spPr>
          <a:xfrm>
            <a:off x="1196109" y="5559175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7E6ADB4-E8B4-6260-791A-DA5905CFEFE7}"/>
              </a:ext>
            </a:extLst>
          </p:cNvPr>
          <p:cNvSpPr txBox="1"/>
          <p:nvPr/>
        </p:nvSpPr>
        <p:spPr>
          <a:xfrm>
            <a:off x="1169830" y="5244826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2CA8F4-B28B-91EF-6EFC-5689A0CE02C2}"/>
              </a:ext>
            </a:extLst>
          </p:cNvPr>
          <p:cNvSpPr txBox="1"/>
          <p:nvPr/>
        </p:nvSpPr>
        <p:spPr>
          <a:xfrm>
            <a:off x="6152153" y="536880"/>
            <a:ext cx="5769624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Step 2: Label and divide the </a:t>
            </a:r>
            <a:r>
              <a:rPr lang="en-US" b="1"/>
              <a:t>horizontal</a:t>
            </a:r>
            <a:r>
              <a:rPr lang="en-US"/>
              <a:t> axis to show </a:t>
            </a:r>
            <a:r>
              <a:rPr lang="en-US" b="1"/>
              <a:t>marginal</a:t>
            </a:r>
            <a:r>
              <a:rPr lang="en-US"/>
              <a:t> uncertainty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B238A9-D5CE-A59A-A808-B2588C477011}"/>
              </a:ext>
            </a:extLst>
          </p:cNvPr>
          <p:cNvSpPr/>
          <p:nvPr/>
        </p:nvSpPr>
        <p:spPr>
          <a:xfrm>
            <a:off x="6333423" y="2069432"/>
            <a:ext cx="5769624" cy="45922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E17C777-55DC-85FC-14E9-300273A6DE8E}"/>
              </a:ext>
            </a:extLst>
          </p:cNvPr>
          <p:cNvSpPr/>
          <p:nvPr/>
        </p:nvSpPr>
        <p:spPr>
          <a:xfrm rot="17672199">
            <a:off x="404434" y="662627"/>
            <a:ext cx="863143" cy="93799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7844592-447B-76D9-1BEE-ACFC81222AC7}"/>
              </a:ext>
            </a:extLst>
          </p:cNvPr>
          <p:cNvSpPr/>
          <p:nvPr/>
        </p:nvSpPr>
        <p:spPr>
          <a:xfrm rot="4395478">
            <a:off x="240801" y="5900674"/>
            <a:ext cx="1157730" cy="93799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5E2BE8-4F21-340F-1FA9-6DFE389699D4}"/>
              </a:ext>
            </a:extLst>
          </p:cNvPr>
          <p:cNvSpPr txBox="1"/>
          <p:nvPr/>
        </p:nvSpPr>
        <p:spPr>
          <a:xfrm>
            <a:off x="7826381" y="1194305"/>
            <a:ext cx="3155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/>
              <a:t>a coup attempt would...?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498489-3526-8F6C-F6B8-517ECCDC9363}"/>
              </a:ext>
            </a:extLst>
          </p:cNvPr>
          <p:cNvSpPr txBox="1"/>
          <p:nvPr/>
        </p:nvSpPr>
        <p:spPr>
          <a:xfrm>
            <a:off x="6970300" y="1619558"/>
            <a:ext cx="1158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/>
              <a:t>fail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46AF55-59BC-5B46-1EB9-AB000FD267D6}"/>
              </a:ext>
            </a:extLst>
          </p:cNvPr>
          <p:cNvSpPr txBox="1"/>
          <p:nvPr/>
        </p:nvSpPr>
        <p:spPr>
          <a:xfrm>
            <a:off x="10194546" y="1626383"/>
            <a:ext cx="1158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/>
              <a:t>succeed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9FFA560-6361-A92D-F731-5A181BA35C57}"/>
              </a:ext>
            </a:extLst>
          </p:cNvPr>
          <p:cNvCxnSpPr>
            <a:stCxn id="19" idx="0"/>
            <a:endCxn id="19" idx="2"/>
          </p:cNvCxnSpPr>
          <p:nvPr/>
        </p:nvCxnSpPr>
        <p:spPr>
          <a:xfrm>
            <a:off x="9218235" y="2069432"/>
            <a:ext cx="0" cy="45922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16EA5A0-9020-FE1C-028F-09757973D126}"/>
              </a:ext>
            </a:extLst>
          </p:cNvPr>
          <p:cNvSpPr txBox="1"/>
          <p:nvPr/>
        </p:nvSpPr>
        <p:spPr>
          <a:xfrm rot="20417560">
            <a:off x="2195030" y="2750196"/>
            <a:ext cx="1983252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i="1"/>
              <a:t>probabilities are proportions!!!!</a:t>
            </a:r>
          </a:p>
        </p:txBody>
      </p:sp>
    </p:spTree>
    <p:extLst>
      <p:ext uri="{BB962C8B-B14F-4D97-AF65-F5344CB8AC3E}">
        <p14:creationId xmlns:p14="http://schemas.microsoft.com/office/powerpoint/2010/main" val="13900926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AD19D-419C-2ECE-DE1C-B6D68FDD8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FCBC963-C3A5-2944-11A8-189D71EC760B}"/>
              </a:ext>
            </a:extLst>
          </p:cNvPr>
          <p:cNvCxnSpPr>
            <a:cxnSpLocks/>
          </p:cNvCxnSpPr>
          <p:nvPr/>
        </p:nvCxnSpPr>
        <p:spPr>
          <a:xfrm>
            <a:off x="1815229" y="5597734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70243F2-D7E9-C871-E534-749ACE0A4740}"/>
              </a:ext>
            </a:extLst>
          </p:cNvPr>
          <p:cNvCxnSpPr>
            <a:cxnSpLocks/>
          </p:cNvCxnSpPr>
          <p:nvPr/>
        </p:nvCxnSpPr>
        <p:spPr>
          <a:xfrm>
            <a:off x="2601968" y="5572671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2085C6D-3221-9266-FEEA-0E017EA7AC2A}"/>
              </a:ext>
            </a:extLst>
          </p:cNvPr>
          <p:cNvCxnSpPr>
            <a:cxnSpLocks/>
          </p:cNvCxnSpPr>
          <p:nvPr/>
        </p:nvCxnSpPr>
        <p:spPr>
          <a:xfrm>
            <a:off x="3388707" y="554760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D04909C-E5CB-E309-E770-3D16888D9B43}"/>
              </a:ext>
            </a:extLst>
          </p:cNvPr>
          <p:cNvCxnSpPr>
            <a:cxnSpLocks/>
          </p:cNvCxnSpPr>
          <p:nvPr/>
        </p:nvCxnSpPr>
        <p:spPr>
          <a:xfrm>
            <a:off x="1919474" y="1144512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85E6F6D-086A-7F23-7AB8-32B609C72AF7}"/>
              </a:ext>
            </a:extLst>
          </p:cNvPr>
          <p:cNvCxnSpPr>
            <a:cxnSpLocks/>
          </p:cNvCxnSpPr>
          <p:nvPr/>
        </p:nvCxnSpPr>
        <p:spPr>
          <a:xfrm>
            <a:off x="2706213" y="1119449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D47DF0F-F684-0300-48B0-A60C0273C546}"/>
              </a:ext>
            </a:extLst>
          </p:cNvPr>
          <p:cNvCxnSpPr>
            <a:cxnSpLocks/>
          </p:cNvCxnSpPr>
          <p:nvPr/>
        </p:nvCxnSpPr>
        <p:spPr>
          <a:xfrm>
            <a:off x="3492952" y="109438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75F03FD1-0AC6-3156-6A32-815B16823913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02B90F8-882D-6D87-280E-2E215176D5BE}"/>
              </a:ext>
            </a:extLst>
          </p:cNvPr>
          <p:cNvCxnSpPr>
            <a:cxnSpLocks/>
          </p:cNvCxnSpPr>
          <p:nvPr/>
        </p:nvCxnSpPr>
        <p:spPr>
          <a:xfrm flipV="1">
            <a:off x="49545" y="1386604"/>
            <a:ext cx="1242557" cy="2325386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4F4694A-7623-2E91-FD3D-0786D1827754}"/>
              </a:ext>
            </a:extLst>
          </p:cNvPr>
          <p:cNvSpPr txBox="1"/>
          <p:nvPr/>
        </p:nvSpPr>
        <p:spPr>
          <a:xfrm rot="17851316">
            <a:off x="-726784" y="2245968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6285FDC-CA7F-7314-A19A-DEFBE40D0A73}"/>
              </a:ext>
            </a:extLst>
          </p:cNvPr>
          <p:cNvCxnSpPr>
            <a:cxnSpLocks/>
          </p:cNvCxnSpPr>
          <p:nvPr/>
        </p:nvCxnSpPr>
        <p:spPr>
          <a:xfrm>
            <a:off x="47916" y="3782075"/>
            <a:ext cx="1184502" cy="240474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5248147-11BE-1162-2111-148CE3177AE4}"/>
              </a:ext>
            </a:extLst>
          </p:cNvPr>
          <p:cNvSpPr txBox="1"/>
          <p:nvPr/>
        </p:nvSpPr>
        <p:spPr>
          <a:xfrm rot="3887054">
            <a:off x="-994915" y="5509268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BE6BA4-2AED-8314-C7E4-73C797107718}"/>
                  </a:ext>
                </a:extLst>
              </p:cNvPr>
              <p:cNvSpPr txBox="1"/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BE6BA4-2AED-8314-C7E4-73C797107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3865B2-1F85-29EE-26CC-13A81C0234C4}"/>
                  </a:ext>
                </a:extLst>
              </p:cNvPr>
              <p:cNvSpPr txBox="1"/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3865B2-1F85-29EE-26CC-13A81C023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038882F-1835-2B5B-EA0F-20C6235EC5D1}"/>
              </a:ext>
            </a:extLst>
          </p:cNvPr>
          <p:cNvSpPr txBox="1"/>
          <p:nvPr/>
        </p:nvSpPr>
        <p:spPr>
          <a:xfrm>
            <a:off x="737080" y="49071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AA2B5B-DA07-1C20-EE47-C0180BFF94A8}"/>
              </a:ext>
            </a:extLst>
          </p:cNvPr>
          <p:cNvSpPr txBox="1"/>
          <p:nvPr/>
        </p:nvSpPr>
        <p:spPr>
          <a:xfrm>
            <a:off x="1819204" y="62921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404A32-7FD6-5F6C-2FEA-B5CFDA0D6CCA}"/>
              </a:ext>
            </a:extLst>
          </p:cNvPr>
          <p:cNvSpPr txBox="1"/>
          <p:nvPr/>
        </p:nvSpPr>
        <p:spPr>
          <a:xfrm>
            <a:off x="2703992" y="767713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504213-E837-6AEC-5BD5-47A0B4076EE3}"/>
              </a:ext>
            </a:extLst>
          </p:cNvPr>
          <p:cNvSpPr txBox="1"/>
          <p:nvPr/>
        </p:nvSpPr>
        <p:spPr>
          <a:xfrm>
            <a:off x="3369005" y="738989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ECFAB9-7A6C-945D-050D-B0964EEEE0E3}"/>
              </a:ext>
            </a:extLst>
          </p:cNvPr>
          <p:cNvSpPr/>
          <p:nvPr/>
        </p:nvSpPr>
        <p:spPr>
          <a:xfrm>
            <a:off x="1351608" y="1123972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E66DF4-1916-B316-A3DA-8F474D8F7E24}"/>
              </a:ext>
            </a:extLst>
          </p:cNvPr>
          <p:cNvSpPr txBox="1"/>
          <p:nvPr/>
        </p:nvSpPr>
        <p:spPr>
          <a:xfrm rot="5400000">
            <a:off x="3849085" y="1558632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1797D3-3D9C-DCDD-4D6B-9AB679DED275}"/>
              </a:ext>
            </a:extLst>
          </p:cNvPr>
          <p:cNvSpPr txBox="1"/>
          <p:nvPr/>
        </p:nvSpPr>
        <p:spPr>
          <a:xfrm rot="5400000">
            <a:off x="4144906" y="182318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05C1D5-BDDA-73F9-9D94-A937B06C88C0}"/>
              </a:ext>
            </a:extLst>
          </p:cNvPr>
          <p:cNvSpPr txBox="1"/>
          <p:nvPr/>
        </p:nvSpPr>
        <p:spPr>
          <a:xfrm rot="5400000">
            <a:off x="4002989" y="1307950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C0878D-88B2-1DC1-2F17-DE9EC2998329}"/>
              </a:ext>
            </a:extLst>
          </p:cNvPr>
          <p:cNvSpPr/>
          <p:nvPr/>
        </p:nvSpPr>
        <p:spPr>
          <a:xfrm>
            <a:off x="1343356" y="1656741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7E2A29C-F8B8-AB75-9918-4CD4FAFB97D9}"/>
                  </a:ext>
                </a:extLst>
              </p:cNvPr>
              <p:cNvSpPr txBox="1"/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7E2A29C-F8B8-AB75-9918-4CD4FAFB9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9338B43-89A0-ABB4-795E-4D3F60BE1FB9}"/>
                  </a:ext>
                </a:extLst>
              </p:cNvPr>
              <p:cNvSpPr txBox="1"/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9338B43-89A0-ABB4-795E-4D3F60BE1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EDE361D-62FB-624B-511A-825EBC0D461C}"/>
                  </a:ext>
                </a:extLst>
              </p:cNvPr>
              <p:cNvSpPr txBox="1"/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EDE361D-62FB-624B-511A-825EBC0D4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163749E-E1EA-2A98-EDDC-178CAF2EB11B}"/>
                  </a:ext>
                </a:extLst>
              </p:cNvPr>
              <p:cNvSpPr txBox="1"/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163749E-E1EA-2A98-EDDC-178CAF2EB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blipFill>
                <a:blip r:embed="rId7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FA0D2E3-2CDB-05E7-AB06-5889C177EE96}"/>
                  </a:ext>
                </a:extLst>
              </p:cNvPr>
              <p:cNvSpPr txBox="1"/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FA0D2E3-2CDB-05E7-AB06-5889C177E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A9B263-02D4-31FF-2188-01BB4677BCD7}"/>
                  </a:ext>
                </a:extLst>
              </p:cNvPr>
              <p:cNvSpPr txBox="1"/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A9B263-02D4-31FF-2188-01BB4677B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blipFill>
                <a:blip r:embed="rId9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6574D3D-30A0-BFCC-0B3A-C073136648B1}"/>
                  </a:ext>
                </a:extLst>
              </p:cNvPr>
              <p:cNvSpPr txBox="1"/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6574D3D-30A0-BFCC-0B3A-C07313664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blipFill>
                <a:blip r:embed="rId10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8D91CAA-613F-A0BA-6C0E-4936CB9C774B}"/>
                  </a:ext>
                </a:extLst>
              </p:cNvPr>
              <p:cNvSpPr txBox="1"/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8D91CAA-613F-A0BA-6C0E-4936CB9C7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1C90908F-6BBE-BFB7-CFA2-070FF369AB72}"/>
              </a:ext>
            </a:extLst>
          </p:cNvPr>
          <p:cNvSpPr txBox="1"/>
          <p:nvPr/>
        </p:nvSpPr>
        <p:spPr>
          <a:xfrm>
            <a:off x="1274075" y="791604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3D858B-949D-0F81-AED1-4414A8895996}"/>
              </a:ext>
            </a:extLst>
          </p:cNvPr>
          <p:cNvSpPr txBox="1"/>
          <p:nvPr/>
        </p:nvSpPr>
        <p:spPr>
          <a:xfrm>
            <a:off x="632835" y="4943937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72E6409-BECF-8534-28BB-CD1050059597}"/>
              </a:ext>
            </a:extLst>
          </p:cNvPr>
          <p:cNvSpPr txBox="1"/>
          <p:nvPr/>
        </p:nvSpPr>
        <p:spPr>
          <a:xfrm>
            <a:off x="1714959" y="5082436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5E43BA1-A5AA-D737-8210-2C86BF0A4E74}"/>
              </a:ext>
            </a:extLst>
          </p:cNvPr>
          <p:cNvSpPr txBox="1"/>
          <p:nvPr/>
        </p:nvSpPr>
        <p:spPr>
          <a:xfrm>
            <a:off x="2599747" y="5220935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F42088C-60BF-0737-7D30-CC543AB6B62E}"/>
              </a:ext>
            </a:extLst>
          </p:cNvPr>
          <p:cNvSpPr txBox="1"/>
          <p:nvPr/>
        </p:nvSpPr>
        <p:spPr>
          <a:xfrm>
            <a:off x="3264760" y="5192211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EF0DC4F-3C99-1EDC-F906-665A665EBBF6}"/>
              </a:ext>
            </a:extLst>
          </p:cNvPr>
          <p:cNvSpPr/>
          <p:nvPr/>
        </p:nvSpPr>
        <p:spPr>
          <a:xfrm>
            <a:off x="1247363" y="5577194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A6B8A81-52F0-64A6-4341-5312523CE0A1}"/>
              </a:ext>
            </a:extLst>
          </p:cNvPr>
          <p:cNvSpPr txBox="1"/>
          <p:nvPr/>
        </p:nvSpPr>
        <p:spPr>
          <a:xfrm rot="5400000">
            <a:off x="3744840" y="601185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245172A-A734-C7BD-B6B2-A094BFA59724}"/>
              </a:ext>
            </a:extLst>
          </p:cNvPr>
          <p:cNvSpPr txBox="1"/>
          <p:nvPr/>
        </p:nvSpPr>
        <p:spPr>
          <a:xfrm rot="5400000">
            <a:off x="4040661" y="6276407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D24C0C4-418B-8AC3-F713-8C766F41FD52}"/>
              </a:ext>
            </a:extLst>
          </p:cNvPr>
          <p:cNvSpPr txBox="1"/>
          <p:nvPr/>
        </p:nvSpPr>
        <p:spPr>
          <a:xfrm rot="5400000">
            <a:off x="3898744" y="5761172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F8EA3CE-1865-DC04-60A2-6877BB76D87D}"/>
              </a:ext>
            </a:extLst>
          </p:cNvPr>
          <p:cNvSpPr/>
          <p:nvPr/>
        </p:nvSpPr>
        <p:spPr>
          <a:xfrm>
            <a:off x="1196109" y="5559175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0C56069-4D96-A8AA-6676-74FB33B35C23}"/>
              </a:ext>
            </a:extLst>
          </p:cNvPr>
          <p:cNvSpPr txBox="1"/>
          <p:nvPr/>
        </p:nvSpPr>
        <p:spPr>
          <a:xfrm>
            <a:off x="1169830" y="5244826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EB3E13-456E-66AA-554C-8DE9AE65A3DB}"/>
              </a:ext>
            </a:extLst>
          </p:cNvPr>
          <p:cNvSpPr txBox="1"/>
          <p:nvPr/>
        </p:nvSpPr>
        <p:spPr>
          <a:xfrm>
            <a:off x="6152153" y="536880"/>
            <a:ext cx="5769624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Step 2: Label and divide the </a:t>
            </a:r>
            <a:r>
              <a:rPr lang="en-US" b="1"/>
              <a:t>horizontal</a:t>
            </a:r>
            <a:r>
              <a:rPr lang="en-US"/>
              <a:t> axis to show </a:t>
            </a:r>
            <a:r>
              <a:rPr lang="en-US" b="1"/>
              <a:t>marginal</a:t>
            </a:r>
            <a:r>
              <a:rPr lang="en-US"/>
              <a:t> uncertainty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EE85DB-96C5-3525-8598-C422949BC465}"/>
              </a:ext>
            </a:extLst>
          </p:cNvPr>
          <p:cNvSpPr/>
          <p:nvPr/>
        </p:nvSpPr>
        <p:spPr>
          <a:xfrm>
            <a:off x="6333423" y="2069432"/>
            <a:ext cx="5769624" cy="45922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E249ABB-6C87-BE70-18A9-552D792DE7C3}"/>
              </a:ext>
            </a:extLst>
          </p:cNvPr>
          <p:cNvSpPr/>
          <p:nvPr/>
        </p:nvSpPr>
        <p:spPr>
          <a:xfrm rot="17672199">
            <a:off x="404434" y="662627"/>
            <a:ext cx="863143" cy="93799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02E99FA-0146-1E53-3BCC-6A7068CDB7BF}"/>
              </a:ext>
            </a:extLst>
          </p:cNvPr>
          <p:cNvSpPr/>
          <p:nvPr/>
        </p:nvSpPr>
        <p:spPr>
          <a:xfrm rot="4395478">
            <a:off x="240801" y="5900674"/>
            <a:ext cx="1157730" cy="93799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EA2369-F7A3-482C-C3C8-D87A42E035F7}"/>
              </a:ext>
            </a:extLst>
          </p:cNvPr>
          <p:cNvSpPr txBox="1"/>
          <p:nvPr/>
        </p:nvSpPr>
        <p:spPr>
          <a:xfrm>
            <a:off x="7761729" y="1232975"/>
            <a:ext cx="3155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/>
              <a:t>a coup attempt would...?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3D9705-3790-F668-3580-2EA9F3BF88DF}"/>
              </a:ext>
            </a:extLst>
          </p:cNvPr>
          <p:cNvSpPr txBox="1"/>
          <p:nvPr/>
        </p:nvSpPr>
        <p:spPr>
          <a:xfrm>
            <a:off x="8267619" y="1609017"/>
            <a:ext cx="1158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/>
              <a:t>fail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DB2B1B-A5CE-555A-8F7A-48E1C3CEB516}"/>
              </a:ext>
            </a:extLst>
          </p:cNvPr>
          <p:cNvSpPr txBox="1"/>
          <p:nvPr/>
        </p:nvSpPr>
        <p:spPr>
          <a:xfrm>
            <a:off x="10848644" y="1614343"/>
            <a:ext cx="1158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/>
              <a:t>succeed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C7D0EB4-55EF-8FE7-023E-35C1D3CFDBEA}"/>
              </a:ext>
            </a:extLst>
          </p:cNvPr>
          <p:cNvCxnSpPr>
            <a:cxnSpLocks/>
          </p:cNvCxnSpPr>
          <p:nvPr/>
        </p:nvCxnSpPr>
        <p:spPr>
          <a:xfrm>
            <a:off x="10875585" y="2081132"/>
            <a:ext cx="0" cy="45922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5A26323-FAF9-E0D1-F4A6-85C92ED55549}"/>
              </a:ext>
            </a:extLst>
          </p:cNvPr>
          <p:cNvSpPr txBox="1"/>
          <p:nvPr/>
        </p:nvSpPr>
        <p:spPr>
          <a:xfrm rot="20417560">
            <a:off x="2195030" y="2750196"/>
            <a:ext cx="1983252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i="1"/>
              <a:t>probabilities are proportions!!!!</a:t>
            </a:r>
          </a:p>
        </p:txBody>
      </p:sp>
    </p:spTree>
    <p:extLst>
      <p:ext uri="{BB962C8B-B14F-4D97-AF65-F5344CB8AC3E}">
        <p14:creationId xmlns:p14="http://schemas.microsoft.com/office/powerpoint/2010/main" val="6805689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34A96-AE9C-09AA-1043-BB08BAD42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C44D7E8-4E21-69B2-8962-AE9153F91337}"/>
              </a:ext>
            </a:extLst>
          </p:cNvPr>
          <p:cNvCxnSpPr>
            <a:cxnSpLocks/>
          </p:cNvCxnSpPr>
          <p:nvPr/>
        </p:nvCxnSpPr>
        <p:spPr>
          <a:xfrm>
            <a:off x="1815229" y="5597734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87FD97C-C038-3012-9957-B3986F58EFB9}"/>
              </a:ext>
            </a:extLst>
          </p:cNvPr>
          <p:cNvCxnSpPr>
            <a:cxnSpLocks/>
          </p:cNvCxnSpPr>
          <p:nvPr/>
        </p:nvCxnSpPr>
        <p:spPr>
          <a:xfrm>
            <a:off x="2601968" y="5572671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E36BF35-7484-3449-4B8A-9C66B1720AA7}"/>
              </a:ext>
            </a:extLst>
          </p:cNvPr>
          <p:cNvCxnSpPr>
            <a:cxnSpLocks/>
          </p:cNvCxnSpPr>
          <p:nvPr/>
        </p:nvCxnSpPr>
        <p:spPr>
          <a:xfrm>
            <a:off x="3388707" y="554760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1637540-68CA-525E-2454-FD7EF8CDF97E}"/>
              </a:ext>
            </a:extLst>
          </p:cNvPr>
          <p:cNvCxnSpPr>
            <a:cxnSpLocks/>
          </p:cNvCxnSpPr>
          <p:nvPr/>
        </p:nvCxnSpPr>
        <p:spPr>
          <a:xfrm>
            <a:off x="1919474" y="1144512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3B227E3-2322-5CD1-05C7-52536A8976D7}"/>
              </a:ext>
            </a:extLst>
          </p:cNvPr>
          <p:cNvCxnSpPr>
            <a:cxnSpLocks/>
          </p:cNvCxnSpPr>
          <p:nvPr/>
        </p:nvCxnSpPr>
        <p:spPr>
          <a:xfrm>
            <a:off x="2706213" y="1119449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AA3FD9C-2263-DC06-1027-482031F26CF2}"/>
              </a:ext>
            </a:extLst>
          </p:cNvPr>
          <p:cNvCxnSpPr>
            <a:cxnSpLocks/>
          </p:cNvCxnSpPr>
          <p:nvPr/>
        </p:nvCxnSpPr>
        <p:spPr>
          <a:xfrm>
            <a:off x="3492952" y="109438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955588B9-BFC2-6240-9DE2-A2C4626A4732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34CB2D5-8ECB-245E-1CB4-A16E14C7CFE2}"/>
              </a:ext>
            </a:extLst>
          </p:cNvPr>
          <p:cNvCxnSpPr>
            <a:cxnSpLocks/>
          </p:cNvCxnSpPr>
          <p:nvPr/>
        </p:nvCxnSpPr>
        <p:spPr>
          <a:xfrm flipV="1">
            <a:off x="49545" y="1386604"/>
            <a:ext cx="1242557" cy="2325386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AF5A2FD-E8D5-C95C-374D-AB634C61A27A}"/>
              </a:ext>
            </a:extLst>
          </p:cNvPr>
          <p:cNvSpPr txBox="1"/>
          <p:nvPr/>
        </p:nvSpPr>
        <p:spPr>
          <a:xfrm rot="17851316">
            <a:off x="-726784" y="2245968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640465C-9D1B-205B-F9FB-87845E8C06D1}"/>
              </a:ext>
            </a:extLst>
          </p:cNvPr>
          <p:cNvCxnSpPr>
            <a:cxnSpLocks/>
          </p:cNvCxnSpPr>
          <p:nvPr/>
        </p:nvCxnSpPr>
        <p:spPr>
          <a:xfrm>
            <a:off x="47916" y="3782075"/>
            <a:ext cx="1184502" cy="240474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E7455E3-15C3-32D9-8ECD-70EFA9950B82}"/>
              </a:ext>
            </a:extLst>
          </p:cNvPr>
          <p:cNvSpPr txBox="1"/>
          <p:nvPr/>
        </p:nvSpPr>
        <p:spPr>
          <a:xfrm rot="3887054">
            <a:off x="-994915" y="5509268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FD21E4-8571-9E29-E10E-99BF278CEB7D}"/>
                  </a:ext>
                </a:extLst>
              </p:cNvPr>
              <p:cNvSpPr txBox="1"/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FD21E4-8571-9E29-E10E-99BF278CE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7506C1-B374-57B6-CF2C-3C940B074F07}"/>
                  </a:ext>
                </a:extLst>
              </p:cNvPr>
              <p:cNvSpPr txBox="1"/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7506C1-B374-57B6-CF2C-3C940B074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6FE4230-1417-B746-E325-21BC84B26BC3}"/>
              </a:ext>
            </a:extLst>
          </p:cNvPr>
          <p:cNvSpPr txBox="1"/>
          <p:nvPr/>
        </p:nvSpPr>
        <p:spPr>
          <a:xfrm>
            <a:off x="737080" y="49071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B4AEB5-9E3A-CF67-8287-552190D83ECC}"/>
              </a:ext>
            </a:extLst>
          </p:cNvPr>
          <p:cNvSpPr txBox="1"/>
          <p:nvPr/>
        </p:nvSpPr>
        <p:spPr>
          <a:xfrm>
            <a:off x="1819204" y="62921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D825F1-4023-1630-DF74-F845D06A8B79}"/>
              </a:ext>
            </a:extLst>
          </p:cNvPr>
          <p:cNvSpPr txBox="1"/>
          <p:nvPr/>
        </p:nvSpPr>
        <p:spPr>
          <a:xfrm>
            <a:off x="2703992" y="767713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795239-E2CF-1642-05EF-79C07E431128}"/>
              </a:ext>
            </a:extLst>
          </p:cNvPr>
          <p:cNvSpPr txBox="1"/>
          <p:nvPr/>
        </p:nvSpPr>
        <p:spPr>
          <a:xfrm>
            <a:off x="3369005" y="738989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9F9E0B-CBA1-C7DE-1F39-D566C59757E0}"/>
              </a:ext>
            </a:extLst>
          </p:cNvPr>
          <p:cNvSpPr/>
          <p:nvPr/>
        </p:nvSpPr>
        <p:spPr>
          <a:xfrm>
            <a:off x="1351608" y="1123972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8ED994-E01C-5FD7-CB3D-569595CCC35D}"/>
              </a:ext>
            </a:extLst>
          </p:cNvPr>
          <p:cNvSpPr txBox="1"/>
          <p:nvPr/>
        </p:nvSpPr>
        <p:spPr>
          <a:xfrm rot="5400000">
            <a:off x="3849085" y="1558632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F7AD4-3AF3-B97C-6DC3-71D4BFFA9EE9}"/>
              </a:ext>
            </a:extLst>
          </p:cNvPr>
          <p:cNvSpPr txBox="1"/>
          <p:nvPr/>
        </p:nvSpPr>
        <p:spPr>
          <a:xfrm rot="5400000">
            <a:off x="4144906" y="182318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3F6553-B336-9486-2420-A190DA1FD38A}"/>
              </a:ext>
            </a:extLst>
          </p:cNvPr>
          <p:cNvSpPr txBox="1"/>
          <p:nvPr/>
        </p:nvSpPr>
        <p:spPr>
          <a:xfrm rot="5400000">
            <a:off x="4002989" y="1307950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A059BC-7403-FDF1-55D3-15A747DD61E3}"/>
              </a:ext>
            </a:extLst>
          </p:cNvPr>
          <p:cNvSpPr/>
          <p:nvPr/>
        </p:nvSpPr>
        <p:spPr>
          <a:xfrm>
            <a:off x="1343356" y="1656741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ED8D3C0-3AF3-169B-1397-C7AF300BE671}"/>
                  </a:ext>
                </a:extLst>
              </p:cNvPr>
              <p:cNvSpPr txBox="1"/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ED8D3C0-3AF3-169B-1397-C7AF300BE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D009488-26EA-9950-EEC0-A0E0CBAC8A7C}"/>
                  </a:ext>
                </a:extLst>
              </p:cNvPr>
              <p:cNvSpPr txBox="1"/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D009488-26EA-9950-EEC0-A0E0CBAC8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3ABBD91-CEB8-4EB5-8016-2F945C2F1EAE}"/>
                  </a:ext>
                </a:extLst>
              </p:cNvPr>
              <p:cNvSpPr txBox="1"/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3ABBD91-CEB8-4EB5-8016-2F945C2F1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46D5AA9-0A7A-5AC5-8C14-21132D084A70}"/>
                  </a:ext>
                </a:extLst>
              </p:cNvPr>
              <p:cNvSpPr txBox="1"/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46D5AA9-0A7A-5AC5-8C14-21132D084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blipFill>
                <a:blip r:embed="rId7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90261BB-F3E8-ED29-4F6A-E85B54BD0352}"/>
                  </a:ext>
                </a:extLst>
              </p:cNvPr>
              <p:cNvSpPr txBox="1"/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90261BB-F3E8-ED29-4F6A-E85B54BD0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54A6077-ADFE-B270-F26C-8E02EB9D3F84}"/>
                  </a:ext>
                </a:extLst>
              </p:cNvPr>
              <p:cNvSpPr txBox="1"/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54A6077-ADFE-B270-F26C-8E02EB9D3F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blipFill>
                <a:blip r:embed="rId9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0AE07EB-E746-B3C9-8FFD-7B6123086E3A}"/>
                  </a:ext>
                </a:extLst>
              </p:cNvPr>
              <p:cNvSpPr txBox="1"/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0AE07EB-E746-B3C9-8FFD-7B6123086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blipFill>
                <a:blip r:embed="rId10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E801EE7-E888-B920-F18F-414C3F076D63}"/>
                  </a:ext>
                </a:extLst>
              </p:cNvPr>
              <p:cNvSpPr txBox="1"/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E801EE7-E888-B920-F18F-414C3F076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88BB91E8-2548-3E38-4F21-EE57A4C78EB1}"/>
              </a:ext>
            </a:extLst>
          </p:cNvPr>
          <p:cNvSpPr txBox="1"/>
          <p:nvPr/>
        </p:nvSpPr>
        <p:spPr>
          <a:xfrm>
            <a:off x="1274075" y="791604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3DBC9B5-C83D-ADEC-B11B-7BEF64BB579A}"/>
              </a:ext>
            </a:extLst>
          </p:cNvPr>
          <p:cNvSpPr txBox="1"/>
          <p:nvPr/>
        </p:nvSpPr>
        <p:spPr>
          <a:xfrm>
            <a:off x="632835" y="4943937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31A526B-5AD9-A127-63A0-A73D0480894B}"/>
              </a:ext>
            </a:extLst>
          </p:cNvPr>
          <p:cNvSpPr txBox="1"/>
          <p:nvPr/>
        </p:nvSpPr>
        <p:spPr>
          <a:xfrm>
            <a:off x="1714959" y="5082436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0B7D024-6264-1092-FC92-5937A8308816}"/>
              </a:ext>
            </a:extLst>
          </p:cNvPr>
          <p:cNvSpPr txBox="1"/>
          <p:nvPr/>
        </p:nvSpPr>
        <p:spPr>
          <a:xfrm>
            <a:off x="2599747" y="5220935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15434F2-9110-78B6-D327-548191EE5BC7}"/>
              </a:ext>
            </a:extLst>
          </p:cNvPr>
          <p:cNvSpPr txBox="1"/>
          <p:nvPr/>
        </p:nvSpPr>
        <p:spPr>
          <a:xfrm>
            <a:off x="3264760" y="5192211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7B08BC6-9FA0-E9B0-E056-FB98ADC069F1}"/>
              </a:ext>
            </a:extLst>
          </p:cNvPr>
          <p:cNvSpPr/>
          <p:nvPr/>
        </p:nvSpPr>
        <p:spPr>
          <a:xfrm>
            <a:off x="1247363" y="5577194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1D3A198-AD6B-A455-8AA9-F1515A73EFC9}"/>
              </a:ext>
            </a:extLst>
          </p:cNvPr>
          <p:cNvSpPr txBox="1"/>
          <p:nvPr/>
        </p:nvSpPr>
        <p:spPr>
          <a:xfrm rot="5400000">
            <a:off x="3744840" y="601185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26227A6-6172-ECD8-CD6F-4ABC409176E1}"/>
              </a:ext>
            </a:extLst>
          </p:cNvPr>
          <p:cNvSpPr txBox="1"/>
          <p:nvPr/>
        </p:nvSpPr>
        <p:spPr>
          <a:xfrm rot="5400000">
            <a:off x="4040661" y="6276407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151E77F-8986-C9A3-2F77-3176A5DA8285}"/>
              </a:ext>
            </a:extLst>
          </p:cNvPr>
          <p:cNvSpPr txBox="1"/>
          <p:nvPr/>
        </p:nvSpPr>
        <p:spPr>
          <a:xfrm rot="5400000">
            <a:off x="3898744" y="5761172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BBA9EDF-3F60-22BF-7F3D-2F8EABD77DB1}"/>
              </a:ext>
            </a:extLst>
          </p:cNvPr>
          <p:cNvSpPr/>
          <p:nvPr/>
        </p:nvSpPr>
        <p:spPr>
          <a:xfrm>
            <a:off x="1196109" y="5559175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6D514D-9BF3-8141-326B-5F253585DD0C}"/>
              </a:ext>
            </a:extLst>
          </p:cNvPr>
          <p:cNvSpPr txBox="1"/>
          <p:nvPr/>
        </p:nvSpPr>
        <p:spPr>
          <a:xfrm>
            <a:off x="1169830" y="5244826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426C3B-7BCB-6F58-320C-71A78D3043E4}"/>
              </a:ext>
            </a:extLst>
          </p:cNvPr>
          <p:cNvSpPr txBox="1"/>
          <p:nvPr/>
        </p:nvSpPr>
        <p:spPr>
          <a:xfrm>
            <a:off x="6152153" y="536880"/>
            <a:ext cx="5769624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Step 2: Label and divide the </a:t>
            </a:r>
            <a:r>
              <a:rPr lang="en-US" b="1"/>
              <a:t>horizontal</a:t>
            </a:r>
            <a:r>
              <a:rPr lang="en-US"/>
              <a:t> axis to show </a:t>
            </a:r>
            <a:r>
              <a:rPr lang="en-US" b="1"/>
              <a:t>marginal</a:t>
            </a:r>
            <a:r>
              <a:rPr lang="en-US"/>
              <a:t> uncertainty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D04853-EF82-74FD-4842-6AA01CFAF832}"/>
              </a:ext>
            </a:extLst>
          </p:cNvPr>
          <p:cNvSpPr/>
          <p:nvPr/>
        </p:nvSpPr>
        <p:spPr>
          <a:xfrm>
            <a:off x="6333423" y="2069432"/>
            <a:ext cx="5769624" cy="45922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20C7B35-9685-1F3C-29DD-676E9E140E4A}"/>
              </a:ext>
            </a:extLst>
          </p:cNvPr>
          <p:cNvSpPr/>
          <p:nvPr/>
        </p:nvSpPr>
        <p:spPr>
          <a:xfrm rot="17672199">
            <a:off x="404434" y="662627"/>
            <a:ext cx="863143" cy="93799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2210EE5-79DE-1BC0-B838-2109347629B0}"/>
              </a:ext>
            </a:extLst>
          </p:cNvPr>
          <p:cNvSpPr/>
          <p:nvPr/>
        </p:nvSpPr>
        <p:spPr>
          <a:xfrm rot="4395478">
            <a:off x="240801" y="5900674"/>
            <a:ext cx="1157730" cy="93799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24FD18-C1B3-8852-A5E0-937D2AFA8DA5}"/>
              </a:ext>
            </a:extLst>
          </p:cNvPr>
          <p:cNvSpPr txBox="1"/>
          <p:nvPr/>
        </p:nvSpPr>
        <p:spPr>
          <a:xfrm>
            <a:off x="7847808" y="1074334"/>
            <a:ext cx="3155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/>
              <a:t>a coup attempt would...?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1CF875-E205-E2A8-45CF-20F659748A2D}"/>
              </a:ext>
            </a:extLst>
          </p:cNvPr>
          <p:cNvSpPr txBox="1"/>
          <p:nvPr/>
        </p:nvSpPr>
        <p:spPr>
          <a:xfrm>
            <a:off x="8310011" y="1343480"/>
            <a:ext cx="1158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/>
              <a:t>fail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46FC29-E2AB-A85B-FAF2-1055A2ABA233}"/>
              </a:ext>
            </a:extLst>
          </p:cNvPr>
          <p:cNvSpPr txBox="1"/>
          <p:nvPr/>
        </p:nvSpPr>
        <p:spPr>
          <a:xfrm>
            <a:off x="10848644" y="1286379"/>
            <a:ext cx="1158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/>
              <a:t>succeed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3E86860-6EAC-E62D-7D94-A2A749C2639F}"/>
              </a:ext>
            </a:extLst>
          </p:cNvPr>
          <p:cNvCxnSpPr>
            <a:cxnSpLocks/>
          </p:cNvCxnSpPr>
          <p:nvPr/>
        </p:nvCxnSpPr>
        <p:spPr>
          <a:xfrm>
            <a:off x="10875585" y="2081132"/>
            <a:ext cx="0" cy="45922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80248A1-4D4D-7101-90E8-41D2FB1D9B53}"/>
              </a:ext>
            </a:extLst>
          </p:cNvPr>
          <p:cNvSpPr txBox="1"/>
          <p:nvPr/>
        </p:nvSpPr>
        <p:spPr>
          <a:xfrm rot="20417560">
            <a:off x="2195030" y="2750196"/>
            <a:ext cx="1983252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i="1"/>
              <a:t>probabilities are proportions!!!!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914B50F-6340-0F13-9F8C-9F9050881689}"/>
                  </a:ext>
                </a:extLst>
              </p:cNvPr>
              <p:cNvSpPr txBox="1"/>
              <p:nvPr/>
            </p:nvSpPr>
            <p:spPr>
              <a:xfrm>
                <a:off x="11234935" y="1629138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914B50F-6340-0F13-9F8C-9F9050881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4935" y="1629138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61BA680-B51E-AFBB-65D7-7ED78F53C2BE}"/>
                  </a:ext>
                </a:extLst>
              </p:cNvPr>
              <p:cNvSpPr txBox="1"/>
              <p:nvPr/>
            </p:nvSpPr>
            <p:spPr>
              <a:xfrm>
                <a:off x="8679541" y="1636191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61BA680-B51E-AFBB-65D7-7ED78F53C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9541" y="1636191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81954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AD103-E85E-4426-603A-5D8C9A677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2D207E9-9EEE-BCB5-8BE1-DB636E41E2DD}"/>
              </a:ext>
            </a:extLst>
          </p:cNvPr>
          <p:cNvCxnSpPr>
            <a:cxnSpLocks/>
          </p:cNvCxnSpPr>
          <p:nvPr/>
        </p:nvCxnSpPr>
        <p:spPr>
          <a:xfrm>
            <a:off x="1815229" y="5597734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D4BA608-D044-1FA6-7457-0912FE631246}"/>
              </a:ext>
            </a:extLst>
          </p:cNvPr>
          <p:cNvCxnSpPr>
            <a:cxnSpLocks/>
          </p:cNvCxnSpPr>
          <p:nvPr/>
        </p:nvCxnSpPr>
        <p:spPr>
          <a:xfrm>
            <a:off x="2601968" y="5572671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72F88E1-A9FC-AD46-ED2A-BFAA0A6780DC}"/>
              </a:ext>
            </a:extLst>
          </p:cNvPr>
          <p:cNvCxnSpPr>
            <a:cxnSpLocks/>
          </p:cNvCxnSpPr>
          <p:nvPr/>
        </p:nvCxnSpPr>
        <p:spPr>
          <a:xfrm>
            <a:off x="3388707" y="554760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71D3929-B77C-9678-5E77-F605E1E0F8CD}"/>
              </a:ext>
            </a:extLst>
          </p:cNvPr>
          <p:cNvCxnSpPr>
            <a:cxnSpLocks/>
          </p:cNvCxnSpPr>
          <p:nvPr/>
        </p:nvCxnSpPr>
        <p:spPr>
          <a:xfrm>
            <a:off x="1919474" y="1144512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CC2EDA-AD77-220F-8E71-51003D848C9A}"/>
              </a:ext>
            </a:extLst>
          </p:cNvPr>
          <p:cNvCxnSpPr>
            <a:cxnSpLocks/>
          </p:cNvCxnSpPr>
          <p:nvPr/>
        </p:nvCxnSpPr>
        <p:spPr>
          <a:xfrm>
            <a:off x="2706213" y="1119449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6C7F4A3-ABE4-FBDD-2D34-494888AFD5AE}"/>
              </a:ext>
            </a:extLst>
          </p:cNvPr>
          <p:cNvCxnSpPr>
            <a:cxnSpLocks/>
          </p:cNvCxnSpPr>
          <p:nvPr/>
        </p:nvCxnSpPr>
        <p:spPr>
          <a:xfrm>
            <a:off x="3492952" y="109438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2118D297-FE55-85DB-43E5-F7FEB65615EC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5BA2360-6FD4-76ED-0DB8-17B1BF6D9779}"/>
              </a:ext>
            </a:extLst>
          </p:cNvPr>
          <p:cNvCxnSpPr>
            <a:cxnSpLocks/>
          </p:cNvCxnSpPr>
          <p:nvPr/>
        </p:nvCxnSpPr>
        <p:spPr>
          <a:xfrm flipV="1">
            <a:off x="49545" y="1386604"/>
            <a:ext cx="1242557" cy="2325386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DFC2318-5A41-3CC3-5050-C3F1F8ADE924}"/>
              </a:ext>
            </a:extLst>
          </p:cNvPr>
          <p:cNvSpPr txBox="1"/>
          <p:nvPr/>
        </p:nvSpPr>
        <p:spPr>
          <a:xfrm rot="17851316">
            <a:off x="-726784" y="2245968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89310E-15A9-22E1-21DF-73328D93A353}"/>
              </a:ext>
            </a:extLst>
          </p:cNvPr>
          <p:cNvCxnSpPr>
            <a:cxnSpLocks/>
          </p:cNvCxnSpPr>
          <p:nvPr/>
        </p:nvCxnSpPr>
        <p:spPr>
          <a:xfrm>
            <a:off x="47916" y="3782075"/>
            <a:ext cx="1184502" cy="240474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F7BCB2-177D-E0B1-626D-27085B6C0011}"/>
              </a:ext>
            </a:extLst>
          </p:cNvPr>
          <p:cNvSpPr txBox="1"/>
          <p:nvPr/>
        </p:nvSpPr>
        <p:spPr>
          <a:xfrm rot="3887054">
            <a:off x="-994915" y="5509268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3C5F6E-27F2-74B7-A283-1B027E5EDC7E}"/>
                  </a:ext>
                </a:extLst>
              </p:cNvPr>
              <p:cNvSpPr txBox="1"/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3C5F6E-27F2-74B7-A283-1B027E5ED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5A5DB42-13A1-639B-24EE-0AD0017EF4F6}"/>
                  </a:ext>
                </a:extLst>
              </p:cNvPr>
              <p:cNvSpPr txBox="1"/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5A5DB42-13A1-639B-24EE-0AD0017EF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05C9B93-88FC-ADE2-7BF2-1A9F3206241E}"/>
              </a:ext>
            </a:extLst>
          </p:cNvPr>
          <p:cNvSpPr txBox="1"/>
          <p:nvPr/>
        </p:nvSpPr>
        <p:spPr>
          <a:xfrm>
            <a:off x="737080" y="49071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F27F82-7ECE-10C3-8D3A-5B9A58F716BB}"/>
              </a:ext>
            </a:extLst>
          </p:cNvPr>
          <p:cNvSpPr txBox="1"/>
          <p:nvPr/>
        </p:nvSpPr>
        <p:spPr>
          <a:xfrm>
            <a:off x="1819204" y="62921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3BE4D0-C6A1-093E-1124-EF37375AA9DC}"/>
              </a:ext>
            </a:extLst>
          </p:cNvPr>
          <p:cNvSpPr txBox="1"/>
          <p:nvPr/>
        </p:nvSpPr>
        <p:spPr>
          <a:xfrm>
            <a:off x="2703992" y="767713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8A4E8E-C493-254D-5661-EDDFF06753C0}"/>
              </a:ext>
            </a:extLst>
          </p:cNvPr>
          <p:cNvSpPr txBox="1"/>
          <p:nvPr/>
        </p:nvSpPr>
        <p:spPr>
          <a:xfrm>
            <a:off x="3369005" y="738989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C80DF6-3D8B-C422-93C8-B5B10D0D27A4}"/>
              </a:ext>
            </a:extLst>
          </p:cNvPr>
          <p:cNvSpPr/>
          <p:nvPr/>
        </p:nvSpPr>
        <p:spPr>
          <a:xfrm>
            <a:off x="1351608" y="1123972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FDC2DA-73B3-C33B-7728-22BF81DF4F27}"/>
              </a:ext>
            </a:extLst>
          </p:cNvPr>
          <p:cNvSpPr txBox="1"/>
          <p:nvPr/>
        </p:nvSpPr>
        <p:spPr>
          <a:xfrm rot="5400000">
            <a:off x="3849085" y="1558632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1A4464-8BC4-37D3-BD65-0C47B41E78E9}"/>
              </a:ext>
            </a:extLst>
          </p:cNvPr>
          <p:cNvSpPr txBox="1"/>
          <p:nvPr/>
        </p:nvSpPr>
        <p:spPr>
          <a:xfrm rot="5400000">
            <a:off x="4144906" y="182318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0654E2-6637-189D-5E56-C3862A88D141}"/>
              </a:ext>
            </a:extLst>
          </p:cNvPr>
          <p:cNvSpPr txBox="1"/>
          <p:nvPr/>
        </p:nvSpPr>
        <p:spPr>
          <a:xfrm rot="5400000">
            <a:off x="4002989" y="1307950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3EB6BE-61C4-7D0B-679E-F5D6FF7CD2F4}"/>
              </a:ext>
            </a:extLst>
          </p:cNvPr>
          <p:cNvSpPr/>
          <p:nvPr/>
        </p:nvSpPr>
        <p:spPr>
          <a:xfrm>
            <a:off x="1343356" y="1656741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2FA37BA-0572-B01F-E0B9-91711863E8D9}"/>
                  </a:ext>
                </a:extLst>
              </p:cNvPr>
              <p:cNvSpPr txBox="1"/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2FA37BA-0572-B01F-E0B9-91711863E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117A638-8ABE-43E9-6399-881C2C5C2B3D}"/>
                  </a:ext>
                </a:extLst>
              </p:cNvPr>
              <p:cNvSpPr txBox="1"/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117A638-8ABE-43E9-6399-881C2C5C2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EF3FE64-33BD-C01A-206D-AD2EEB5060B0}"/>
                  </a:ext>
                </a:extLst>
              </p:cNvPr>
              <p:cNvSpPr txBox="1"/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EF3FE64-33BD-C01A-206D-AD2EEB506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3ED896C-6AC7-130D-372B-B72AC55A0A63}"/>
                  </a:ext>
                </a:extLst>
              </p:cNvPr>
              <p:cNvSpPr txBox="1"/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3ED896C-6AC7-130D-372B-B72AC55A0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blipFill>
                <a:blip r:embed="rId7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81EEF0E-A593-A309-2CC6-68D11C583D4B}"/>
                  </a:ext>
                </a:extLst>
              </p:cNvPr>
              <p:cNvSpPr txBox="1"/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81EEF0E-A593-A309-2CC6-68D11C583D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5C1E5B8-BE19-5476-C4E3-086AB3DB0AD4}"/>
                  </a:ext>
                </a:extLst>
              </p:cNvPr>
              <p:cNvSpPr txBox="1"/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5C1E5B8-BE19-5476-C4E3-086AB3DB0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blipFill>
                <a:blip r:embed="rId9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F837EDE-E18E-7648-917E-2731F8EE587A}"/>
                  </a:ext>
                </a:extLst>
              </p:cNvPr>
              <p:cNvSpPr txBox="1"/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F837EDE-E18E-7648-917E-2731F8EE5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blipFill>
                <a:blip r:embed="rId10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794C0E9-C78C-D12D-2E60-C1B9735F1770}"/>
                  </a:ext>
                </a:extLst>
              </p:cNvPr>
              <p:cNvSpPr txBox="1"/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794C0E9-C78C-D12D-2E60-C1B9735F1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CA1AFE11-D130-8761-012D-97A0A4998C5A}"/>
              </a:ext>
            </a:extLst>
          </p:cNvPr>
          <p:cNvSpPr txBox="1"/>
          <p:nvPr/>
        </p:nvSpPr>
        <p:spPr>
          <a:xfrm>
            <a:off x="1274075" y="791604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FD88930-7FD8-B6DD-1D6C-EDB3AB07EA59}"/>
              </a:ext>
            </a:extLst>
          </p:cNvPr>
          <p:cNvSpPr txBox="1"/>
          <p:nvPr/>
        </p:nvSpPr>
        <p:spPr>
          <a:xfrm>
            <a:off x="632835" y="4943937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3CE689-AA9E-C7A8-6F4D-8F7C3F1256EB}"/>
              </a:ext>
            </a:extLst>
          </p:cNvPr>
          <p:cNvSpPr txBox="1"/>
          <p:nvPr/>
        </p:nvSpPr>
        <p:spPr>
          <a:xfrm>
            <a:off x="1714959" y="5082436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D3CBD6E-0F9D-998D-81D5-D7E4A6506225}"/>
              </a:ext>
            </a:extLst>
          </p:cNvPr>
          <p:cNvSpPr txBox="1"/>
          <p:nvPr/>
        </p:nvSpPr>
        <p:spPr>
          <a:xfrm>
            <a:off x="2599747" y="5220935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1FBF3D2-DFAB-C443-4DF4-AA3A76E466F1}"/>
              </a:ext>
            </a:extLst>
          </p:cNvPr>
          <p:cNvSpPr txBox="1"/>
          <p:nvPr/>
        </p:nvSpPr>
        <p:spPr>
          <a:xfrm>
            <a:off x="3264760" y="5192211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7B42362-6AA2-2B45-5118-301109C72451}"/>
              </a:ext>
            </a:extLst>
          </p:cNvPr>
          <p:cNvSpPr/>
          <p:nvPr/>
        </p:nvSpPr>
        <p:spPr>
          <a:xfrm>
            <a:off x="1247363" y="5577194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F9FA62E-ADD9-008E-9459-C06BBAB368A5}"/>
              </a:ext>
            </a:extLst>
          </p:cNvPr>
          <p:cNvSpPr txBox="1"/>
          <p:nvPr/>
        </p:nvSpPr>
        <p:spPr>
          <a:xfrm rot="5400000">
            <a:off x="3744840" y="601185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1E501DC-3291-CA5A-37A7-183858BB3261}"/>
              </a:ext>
            </a:extLst>
          </p:cNvPr>
          <p:cNvSpPr txBox="1"/>
          <p:nvPr/>
        </p:nvSpPr>
        <p:spPr>
          <a:xfrm rot="5400000">
            <a:off x="4040661" y="6276407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B70C22A-6D83-DD4A-F848-B9160A19DBDA}"/>
              </a:ext>
            </a:extLst>
          </p:cNvPr>
          <p:cNvSpPr txBox="1"/>
          <p:nvPr/>
        </p:nvSpPr>
        <p:spPr>
          <a:xfrm rot="5400000">
            <a:off x="3898744" y="5761172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CD44A14-A218-A1D5-6360-A5660DAF6ABA}"/>
              </a:ext>
            </a:extLst>
          </p:cNvPr>
          <p:cNvSpPr/>
          <p:nvPr/>
        </p:nvSpPr>
        <p:spPr>
          <a:xfrm>
            <a:off x="1196109" y="5559175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A9F8A00-BBE4-2B9B-81A7-A4253A841863}"/>
              </a:ext>
            </a:extLst>
          </p:cNvPr>
          <p:cNvSpPr txBox="1"/>
          <p:nvPr/>
        </p:nvSpPr>
        <p:spPr>
          <a:xfrm>
            <a:off x="1169830" y="5244826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5644BD-806A-1235-8BDC-62D58494F4E2}"/>
              </a:ext>
            </a:extLst>
          </p:cNvPr>
          <p:cNvSpPr txBox="1"/>
          <p:nvPr/>
        </p:nvSpPr>
        <p:spPr>
          <a:xfrm>
            <a:off x="6152153" y="536880"/>
            <a:ext cx="5769624" cy="64633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Step 3: Label and divide up the vertical sections to show the conditional uncertainties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D0B91E-A6A3-A6A9-3DF4-D78D08FA52E6}"/>
              </a:ext>
            </a:extLst>
          </p:cNvPr>
          <p:cNvSpPr/>
          <p:nvPr/>
        </p:nvSpPr>
        <p:spPr>
          <a:xfrm>
            <a:off x="6333423" y="2069432"/>
            <a:ext cx="5769624" cy="45922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F8AD0B-1811-E2A9-0498-CB1B26EC7A27}"/>
              </a:ext>
            </a:extLst>
          </p:cNvPr>
          <p:cNvSpPr txBox="1"/>
          <p:nvPr/>
        </p:nvSpPr>
        <p:spPr>
          <a:xfrm>
            <a:off x="7847808" y="1074334"/>
            <a:ext cx="3155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/>
              <a:t>a coup attempt would...?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603B50-1579-E1AC-49AD-C22AE0C16BA7}"/>
              </a:ext>
            </a:extLst>
          </p:cNvPr>
          <p:cNvSpPr txBox="1"/>
          <p:nvPr/>
        </p:nvSpPr>
        <p:spPr>
          <a:xfrm>
            <a:off x="8310011" y="1343480"/>
            <a:ext cx="1158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/>
              <a:t>fail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3B4297-B470-DC5A-492A-56AB37A966F5}"/>
              </a:ext>
            </a:extLst>
          </p:cNvPr>
          <p:cNvSpPr txBox="1"/>
          <p:nvPr/>
        </p:nvSpPr>
        <p:spPr>
          <a:xfrm>
            <a:off x="10848644" y="1286379"/>
            <a:ext cx="1158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/>
              <a:t>succeed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1500D31-739D-3F9A-EC9B-844577860BB7}"/>
              </a:ext>
            </a:extLst>
          </p:cNvPr>
          <p:cNvCxnSpPr>
            <a:cxnSpLocks/>
          </p:cNvCxnSpPr>
          <p:nvPr/>
        </p:nvCxnSpPr>
        <p:spPr>
          <a:xfrm>
            <a:off x="10875585" y="2081132"/>
            <a:ext cx="0" cy="45922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95DEACC-BC90-E59A-E445-88C20F8ADD82}"/>
                  </a:ext>
                </a:extLst>
              </p:cNvPr>
              <p:cNvSpPr txBox="1"/>
              <p:nvPr/>
            </p:nvSpPr>
            <p:spPr>
              <a:xfrm>
                <a:off x="11234935" y="1629138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95DEACC-BC90-E59A-E445-88C20F8AD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4935" y="1629138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468EEC8-144D-23C5-6164-FDE3DF59A283}"/>
                  </a:ext>
                </a:extLst>
              </p:cNvPr>
              <p:cNvSpPr txBox="1"/>
              <p:nvPr/>
            </p:nvSpPr>
            <p:spPr>
              <a:xfrm>
                <a:off x="8679541" y="1636191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468EEC8-144D-23C5-6164-FDE3DF59A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9541" y="1636191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4702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37408-646C-7900-23D2-9964F5320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2B68EF7-5183-012D-DFFF-3382CF4D0643}"/>
              </a:ext>
            </a:extLst>
          </p:cNvPr>
          <p:cNvCxnSpPr>
            <a:cxnSpLocks/>
          </p:cNvCxnSpPr>
          <p:nvPr/>
        </p:nvCxnSpPr>
        <p:spPr>
          <a:xfrm>
            <a:off x="1815229" y="5597734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1E50492-ECBC-0BCB-E622-B4FE5A7F2E87}"/>
              </a:ext>
            </a:extLst>
          </p:cNvPr>
          <p:cNvCxnSpPr>
            <a:cxnSpLocks/>
          </p:cNvCxnSpPr>
          <p:nvPr/>
        </p:nvCxnSpPr>
        <p:spPr>
          <a:xfrm>
            <a:off x="2601968" y="5572671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819B8E3-5D82-29A6-BE02-2E69B1CC60A5}"/>
              </a:ext>
            </a:extLst>
          </p:cNvPr>
          <p:cNvCxnSpPr>
            <a:cxnSpLocks/>
          </p:cNvCxnSpPr>
          <p:nvPr/>
        </p:nvCxnSpPr>
        <p:spPr>
          <a:xfrm>
            <a:off x="3388707" y="554760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A046672-0642-C6E9-89E8-1EB09D769392}"/>
              </a:ext>
            </a:extLst>
          </p:cNvPr>
          <p:cNvCxnSpPr>
            <a:cxnSpLocks/>
          </p:cNvCxnSpPr>
          <p:nvPr/>
        </p:nvCxnSpPr>
        <p:spPr>
          <a:xfrm>
            <a:off x="1919474" y="1144512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E01032E-5232-2A15-96C3-5596C112CC73}"/>
              </a:ext>
            </a:extLst>
          </p:cNvPr>
          <p:cNvCxnSpPr>
            <a:cxnSpLocks/>
          </p:cNvCxnSpPr>
          <p:nvPr/>
        </p:nvCxnSpPr>
        <p:spPr>
          <a:xfrm>
            <a:off x="2706213" y="1119449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7DA7F4E-1EFC-0017-5717-D9037EADFD3D}"/>
              </a:ext>
            </a:extLst>
          </p:cNvPr>
          <p:cNvCxnSpPr>
            <a:cxnSpLocks/>
          </p:cNvCxnSpPr>
          <p:nvPr/>
        </p:nvCxnSpPr>
        <p:spPr>
          <a:xfrm>
            <a:off x="3492952" y="109438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15017C1A-3D49-C10D-0821-AB153DD51434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4385D5C-DB26-0E41-6BBE-135D45CA13E5}"/>
              </a:ext>
            </a:extLst>
          </p:cNvPr>
          <p:cNvCxnSpPr>
            <a:cxnSpLocks/>
          </p:cNvCxnSpPr>
          <p:nvPr/>
        </p:nvCxnSpPr>
        <p:spPr>
          <a:xfrm flipV="1">
            <a:off x="49545" y="1386604"/>
            <a:ext cx="1242557" cy="2325386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B106D40-013A-E008-2327-883A484CA7F3}"/>
              </a:ext>
            </a:extLst>
          </p:cNvPr>
          <p:cNvSpPr txBox="1"/>
          <p:nvPr/>
        </p:nvSpPr>
        <p:spPr>
          <a:xfrm rot="17851316">
            <a:off x="-726784" y="2245968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8100EE-5363-866C-4D3C-23597C5127F8}"/>
              </a:ext>
            </a:extLst>
          </p:cNvPr>
          <p:cNvCxnSpPr>
            <a:cxnSpLocks/>
          </p:cNvCxnSpPr>
          <p:nvPr/>
        </p:nvCxnSpPr>
        <p:spPr>
          <a:xfrm>
            <a:off x="47916" y="3782075"/>
            <a:ext cx="1184502" cy="240474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7509D9-3979-E5AB-E316-7C92EDFC5BFE}"/>
              </a:ext>
            </a:extLst>
          </p:cNvPr>
          <p:cNvSpPr txBox="1"/>
          <p:nvPr/>
        </p:nvSpPr>
        <p:spPr>
          <a:xfrm rot="3887054">
            <a:off x="-994915" y="5509268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B10A8B-B2B1-23CA-7333-1918806D6E91}"/>
                  </a:ext>
                </a:extLst>
              </p:cNvPr>
              <p:cNvSpPr txBox="1"/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B10A8B-B2B1-23CA-7333-1918806D6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77258C-15CC-E6AA-C05E-16838943CA12}"/>
                  </a:ext>
                </a:extLst>
              </p:cNvPr>
              <p:cNvSpPr txBox="1"/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77258C-15CC-E6AA-C05E-16838943C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1681B1B-EA99-BD41-7376-55820A2DF678}"/>
              </a:ext>
            </a:extLst>
          </p:cNvPr>
          <p:cNvSpPr txBox="1"/>
          <p:nvPr/>
        </p:nvSpPr>
        <p:spPr>
          <a:xfrm>
            <a:off x="737080" y="49071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AEB4CA-FB16-BD28-4DAC-8D482EC0604B}"/>
              </a:ext>
            </a:extLst>
          </p:cNvPr>
          <p:cNvSpPr txBox="1"/>
          <p:nvPr/>
        </p:nvSpPr>
        <p:spPr>
          <a:xfrm>
            <a:off x="1819204" y="62921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F646E5-1DCA-F09E-22BB-55A0F461E933}"/>
              </a:ext>
            </a:extLst>
          </p:cNvPr>
          <p:cNvSpPr txBox="1"/>
          <p:nvPr/>
        </p:nvSpPr>
        <p:spPr>
          <a:xfrm>
            <a:off x="2703992" y="767713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A78EC4-C9C9-C519-7D15-A2B75A5FF6E9}"/>
              </a:ext>
            </a:extLst>
          </p:cNvPr>
          <p:cNvSpPr txBox="1"/>
          <p:nvPr/>
        </p:nvSpPr>
        <p:spPr>
          <a:xfrm>
            <a:off x="3369005" y="738989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A2ABD1-AC2A-1365-DDFF-FA2EA76AE007}"/>
              </a:ext>
            </a:extLst>
          </p:cNvPr>
          <p:cNvSpPr/>
          <p:nvPr/>
        </p:nvSpPr>
        <p:spPr>
          <a:xfrm>
            <a:off x="1351608" y="1123972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E7BA28-4610-C075-AAAA-A76E5026077B}"/>
              </a:ext>
            </a:extLst>
          </p:cNvPr>
          <p:cNvSpPr txBox="1"/>
          <p:nvPr/>
        </p:nvSpPr>
        <p:spPr>
          <a:xfrm rot="5400000">
            <a:off x="3849085" y="1558632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9247D1-754D-A3E6-411B-B568322B63A1}"/>
              </a:ext>
            </a:extLst>
          </p:cNvPr>
          <p:cNvSpPr txBox="1"/>
          <p:nvPr/>
        </p:nvSpPr>
        <p:spPr>
          <a:xfrm rot="5400000">
            <a:off x="4144906" y="182318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BB0DDC-BCEA-FD0B-5464-B6D2B39D5996}"/>
              </a:ext>
            </a:extLst>
          </p:cNvPr>
          <p:cNvSpPr txBox="1"/>
          <p:nvPr/>
        </p:nvSpPr>
        <p:spPr>
          <a:xfrm rot="5400000">
            <a:off x="4002989" y="1307950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2CD2DE-3C32-6C4D-06FB-17065C280712}"/>
              </a:ext>
            </a:extLst>
          </p:cNvPr>
          <p:cNvSpPr/>
          <p:nvPr/>
        </p:nvSpPr>
        <p:spPr>
          <a:xfrm>
            <a:off x="1343356" y="1656741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B1889B2-BEF4-207E-38D9-FA022FBE0C06}"/>
                  </a:ext>
                </a:extLst>
              </p:cNvPr>
              <p:cNvSpPr txBox="1"/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B1889B2-BEF4-207E-38D9-FA022FBE0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4C08D34-4FD3-5721-209F-A09991084594}"/>
                  </a:ext>
                </a:extLst>
              </p:cNvPr>
              <p:cNvSpPr txBox="1"/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4C08D34-4FD3-5721-209F-A099910845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7F89643-00C8-A5C3-7F7C-5E7B1040BEB7}"/>
                  </a:ext>
                </a:extLst>
              </p:cNvPr>
              <p:cNvSpPr txBox="1"/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7F89643-00C8-A5C3-7F7C-5E7B1040B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5C4614F-99EE-FC42-3E7E-DD4904792574}"/>
                  </a:ext>
                </a:extLst>
              </p:cNvPr>
              <p:cNvSpPr txBox="1"/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5C4614F-99EE-FC42-3E7E-DD4904792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blipFill>
                <a:blip r:embed="rId7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E82336-6F5F-5C9D-A722-556E7454A355}"/>
                  </a:ext>
                </a:extLst>
              </p:cNvPr>
              <p:cNvSpPr txBox="1"/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E82336-6F5F-5C9D-A722-556E7454A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F6A649B-2272-2C90-0027-4AACF496C476}"/>
                  </a:ext>
                </a:extLst>
              </p:cNvPr>
              <p:cNvSpPr txBox="1"/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F6A649B-2272-2C90-0027-4AACF496C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blipFill>
                <a:blip r:embed="rId9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4034260-A3DC-D838-F22C-188B369F01D6}"/>
                  </a:ext>
                </a:extLst>
              </p:cNvPr>
              <p:cNvSpPr txBox="1"/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4034260-A3DC-D838-F22C-188B369F0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blipFill>
                <a:blip r:embed="rId10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F853513-22DE-A931-8800-EDBABEB44D89}"/>
                  </a:ext>
                </a:extLst>
              </p:cNvPr>
              <p:cNvSpPr txBox="1"/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F853513-22DE-A931-8800-EDBABEB44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CEB6BD45-4EE6-CA2D-A586-274002C5CE9A}"/>
              </a:ext>
            </a:extLst>
          </p:cNvPr>
          <p:cNvSpPr txBox="1"/>
          <p:nvPr/>
        </p:nvSpPr>
        <p:spPr>
          <a:xfrm>
            <a:off x="1274075" y="791604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CCE0C7-6B95-05B1-CB4C-4958642FF35F}"/>
              </a:ext>
            </a:extLst>
          </p:cNvPr>
          <p:cNvSpPr txBox="1"/>
          <p:nvPr/>
        </p:nvSpPr>
        <p:spPr>
          <a:xfrm>
            <a:off x="632835" y="4943937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9D2BC6A-7505-72C8-D1C2-F51A1E233C29}"/>
              </a:ext>
            </a:extLst>
          </p:cNvPr>
          <p:cNvSpPr txBox="1"/>
          <p:nvPr/>
        </p:nvSpPr>
        <p:spPr>
          <a:xfrm>
            <a:off x="1714959" y="5082436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688B0CC-70CE-57ED-48E2-C767C18BD800}"/>
              </a:ext>
            </a:extLst>
          </p:cNvPr>
          <p:cNvSpPr txBox="1"/>
          <p:nvPr/>
        </p:nvSpPr>
        <p:spPr>
          <a:xfrm>
            <a:off x="2599747" y="5220935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D170815-2128-8F45-B82D-982687341CC8}"/>
              </a:ext>
            </a:extLst>
          </p:cNvPr>
          <p:cNvSpPr txBox="1"/>
          <p:nvPr/>
        </p:nvSpPr>
        <p:spPr>
          <a:xfrm>
            <a:off x="3264760" y="5192211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7A9D9BC-F98B-C233-819F-01ECE2C5CD40}"/>
              </a:ext>
            </a:extLst>
          </p:cNvPr>
          <p:cNvSpPr/>
          <p:nvPr/>
        </p:nvSpPr>
        <p:spPr>
          <a:xfrm>
            <a:off x="1247363" y="5577194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A27D0CA-A4AC-2D17-59BE-FCB1B08A617D}"/>
              </a:ext>
            </a:extLst>
          </p:cNvPr>
          <p:cNvSpPr txBox="1"/>
          <p:nvPr/>
        </p:nvSpPr>
        <p:spPr>
          <a:xfrm rot="5400000">
            <a:off x="3744840" y="601185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E3ECABE-3667-627C-9B6F-75671EE51C36}"/>
              </a:ext>
            </a:extLst>
          </p:cNvPr>
          <p:cNvSpPr txBox="1"/>
          <p:nvPr/>
        </p:nvSpPr>
        <p:spPr>
          <a:xfrm rot="5400000">
            <a:off x="4040661" y="6276407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1653CDE-9799-828F-08D3-99B0A4EE8542}"/>
              </a:ext>
            </a:extLst>
          </p:cNvPr>
          <p:cNvSpPr txBox="1"/>
          <p:nvPr/>
        </p:nvSpPr>
        <p:spPr>
          <a:xfrm rot="5400000">
            <a:off x="3898744" y="5761172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EA75E60-998C-4D88-87A5-5D3CF900AC17}"/>
              </a:ext>
            </a:extLst>
          </p:cNvPr>
          <p:cNvSpPr/>
          <p:nvPr/>
        </p:nvSpPr>
        <p:spPr>
          <a:xfrm>
            <a:off x="1196109" y="5559175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1B13576-EA93-4635-C474-5777D5631829}"/>
              </a:ext>
            </a:extLst>
          </p:cNvPr>
          <p:cNvSpPr txBox="1"/>
          <p:nvPr/>
        </p:nvSpPr>
        <p:spPr>
          <a:xfrm>
            <a:off x="1169830" y="5244826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3D4296-5C14-99E8-4EEB-7249E3EED889}"/>
              </a:ext>
            </a:extLst>
          </p:cNvPr>
          <p:cNvSpPr txBox="1"/>
          <p:nvPr/>
        </p:nvSpPr>
        <p:spPr>
          <a:xfrm>
            <a:off x="6152153" y="536880"/>
            <a:ext cx="5769624" cy="64633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Step 3: Label and divide up the vertical sections to show the conditional uncertainties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0DE700-5F76-332A-570A-3B610C745D61}"/>
              </a:ext>
            </a:extLst>
          </p:cNvPr>
          <p:cNvSpPr/>
          <p:nvPr/>
        </p:nvSpPr>
        <p:spPr>
          <a:xfrm>
            <a:off x="6333423" y="2069432"/>
            <a:ext cx="5769624" cy="45922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99EDCB-3C2C-DB3D-5CDF-6B8A89C05738}"/>
              </a:ext>
            </a:extLst>
          </p:cNvPr>
          <p:cNvSpPr txBox="1"/>
          <p:nvPr/>
        </p:nvSpPr>
        <p:spPr>
          <a:xfrm>
            <a:off x="7847808" y="1074334"/>
            <a:ext cx="3155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a coup attempt would...?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764829-AE9C-92CF-ACF3-E6569751521D}"/>
              </a:ext>
            </a:extLst>
          </p:cNvPr>
          <p:cNvSpPr txBox="1"/>
          <p:nvPr/>
        </p:nvSpPr>
        <p:spPr>
          <a:xfrm>
            <a:off x="8310011" y="1343480"/>
            <a:ext cx="1158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fail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0F245D-2B35-20D8-8DC1-89404207D736}"/>
              </a:ext>
            </a:extLst>
          </p:cNvPr>
          <p:cNvSpPr txBox="1"/>
          <p:nvPr/>
        </p:nvSpPr>
        <p:spPr>
          <a:xfrm>
            <a:off x="10848644" y="1286379"/>
            <a:ext cx="1158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succeed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33EB756-FD40-5BE6-EF7A-5AA427BEF862}"/>
              </a:ext>
            </a:extLst>
          </p:cNvPr>
          <p:cNvCxnSpPr>
            <a:cxnSpLocks/>
          </p:cNvCxnSpPr>
          <p:nvPr/>
        </p:nvCxnSpPr>
        <p:spPr>
          <a:xfrm>
            <a:off x="10875585" y="2081132"/>
            <a:ext cx="0" cy="45922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B6AAC3A-80E7-17F7-6E27-0E82E2DB99AF}"/>
                  </a:ext>
                </a:extLst>
              </p:cNvPr>
              <p:cNvSpPr txBox="1"/>
              <p:nvPr/>
            </p:nvSpPr>
            <p:spPr>
              <a:xfrm>
                <a:off x="11234935" y="1629138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B6AAC3A-80E7-17F7-6E27-0E82E2DB9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4935" y="1629138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DE8EBF4-1475-B80E-13E4-DBBAF5ABE18E}"/>
                  </a:ext>
                </a:extLst>
              </p:cNvPr>
              <p:cNvSpPr txBox="1"/>
              <p:nvPr/>
            </p:nvSpPr>
            <p:spPr>
              <a:xfrm>
                <a:off x="8679541" y="1636191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DE8EBF4-1475-B80E-13E4-DBBAF5ABE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9541" y="1636191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A09208BA-BA90-3D88-1C97-B43A6DEB4A69}"/>
              </a:ext>
            </a:extLst>
          </p:cNvPr>
          <p:cNvSpPr txBox="1"/>
          <p:nvPr/>
        </p:nvSpPr>
        <p:spPr>
          <a:xfrm rot="16200000">
            <a:off x="3824758" y="4113876"/>
            <a:ext cx="3933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/>
              <a:t>how well against an opposing military?</a:t>
            </a:r>
          </a:p>
        </p:txBody>
      </p:sp>
    </p:spTree>
    <p:extLst>
      <p:ext uri="{BB962C8B-B14F-4D97-AF65-F5344CB8AC3E}">
        <p14:creationId xmlns:p14="http://schemas.microsoft.com/office/powerpoint/2010/main" val="18839208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FC1F0-D64D-A5AF-7A87-05BFBBB6A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AC903FA-B1B8-3562-CDC8-BC175F31F778}"/>
              </a:ext>
            </a:extLst>
          </p:cNvPr>
          <p:cNvCxnSpPr>
            <a:cxnSpLocks/>
          </p:cNvCxnSpPr>
          <p:nvPr/>
        </p:nvCxnSpPr>
        <p:spPr>
          <a:xfrm>
            <a:off x="1815229" y="5597734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7C64A9F-7432-ABB5-F802-DE8C6821E2F0}"/>
              </a:ext>
            </a:extLst>
          </p:cNvPr>
          <p:cNvCxnSpPr>
            <a:cxnSpLocks/>
          </p:cNvCxnSpPr>
          <p:nvPr/>
        </p:nvCxnSpPr>
        <p:spPr>
          <a:xfrm>
            <a:off x="2601968" y="5572671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36E1FA2-D043-14B5-5B7B-5EBBF97BE8FA}"/>
              </a:ext>
            </a:extLst>
          </p:cNvPr>
          <p:cNvCxnSpPr>
            <a:cxnSpLocks/>
          </p:cNvCxnSpPr>
          <p:nvPr/>
        </p:nvCxnSpPr>
        <p:spPr>
          <a:xfrm>
            <a:off x="3388707" y="554760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BD3CF2B-DBC9-F2A7-A42F-7A7BCEE80E81}"/>
              </a:ext>
            </a:extLst>
          </p:cNvPr>
          <p:cNvCxnSpPr>
            <a:cxnSpLocks/>
          </p:cNvCxnSpPr>
          <p:nvPr/>
        </p:nvCxnSpPr>
        <p:spPr>
          <a:xfrm>
            <a:off x="1919474" y="1144512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18E43EE-4E82-B55C-00F8-046867DAD450}"/>
              </a:ext>
            </a:extLst>
          </p:cNvPr>
          <p:cNvCxnSpPr>
            <a:cxnSpLocks/>
          </p:cNvCxnSpPr>
          <p:nvPr/>
        </p:nvCxnSpPr>
        <p:spPr>
          <a:xfrm>
            <a:off x="2706213" y="1119449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78BD333-7129-B985-0409-50F602A70AA7}"/>
              </a:ext>
            </a:extLst>
          </p:cNvPr>
          <p:cNvCxnSpPr>
            <a:cxnSpLocks/>
          </p:cNvCxnSpPr>
          <p:nvPr/>
        </p:nvCxnSpPr>
        <p:spPr>
          <a:xfrm>
            <a:off x="3492952" y="109438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A4F963A1-B357-DDB9-8C46-487B8994CF38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028D6DF-2DB3-9297-D2CC-DD7B46124B61}"/>
              </a:ext>
            </a:extLst>
          </p:cNvPr>
          <p:cNvCxnSpPr>
            <a:cxnSpLocks/>
          </p:cNvCxnSpPr>
          <p:nvPr/>
        </p:nvCxnSpPr>
        <p:spPr>
          <a:xfrm flipV="1">
            <a:off x="49545" y="1386604"/>
            <a:ext cx="1242557" cy="2325386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19F6F12-CFEA-37F2-07ED-37CFB79B0496}"/>
              </a:ext>
            </a:extLst>
          </p:cNvPr>
          <p:cNvSpPr txBox="1"/>
          <p:nvPr/>
        </p:nvSpPr>
        <p:spPr>
          <a:xfrm rot="17851316">
            <a:off x="-726784" y="2245968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720A7ED-CD2F-371B-DA37-8D3FB7EC5371}"/>
              </a:ext>
            </a:extLst>
          </p:cNvPr>
          <p:cNvCxnSpPr>
            <a:cxnSpLocks/>
          </p:cNvCxnSpPr>
          <p:nvPr/>
        </p:nvCxnSpPr>
        <p:spPr>
          <a:xfrm>
            <a:off x="47916" y="3782075"/>
            <a:ext cx="1184502" cy="240474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EBA0DD8-BAB5-3B3C-A023-CA16DEE1D8E5}"/>
              </a:ext>
            </a:extLst>
          </p:cNvPr>
          <p:cNvSpPr txBox="1"/>
          <p:nvPr/>
        </p:nvSpPr>
        <p:spPr>
          <a:xfrm rot="3887054">
            <a:off x="-994915" y="5509268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D2E366-404C-F287-22FB-3862EF023E9A}"/>
                  </a:ext>
                </a:extLst>
              </p:cNvPr>
              <p:cNvSpPr txBox="1"/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D2E366-404C-F287-22FB-3862EF023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7A9A2A-67AE-C5FF-D9DC-176E5C1148B3}"/>
                  </a:ext>
                </a:extLst>
              </p:cNvPr>
              <p:cNvSpPr txBox="1"/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7A9A2A-67AE-C5FF-D9DC-176E5C114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2914A78-A7BA-92C6-7AAC-B3159012DF0A}"/>
              </a:ext>
            </a:extLst>
          </p:cNvPr>
          <p:cNvSpPr txBox="1"/>
          <p:nvPr/>
        </p:nvSpPr>
        <p:spPr>
          <a:xfrm>
            <a:off x="737080" y="49071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6D8AEA-341B-96E3-A836-2A90E74FDCD6}"/>
              </a:ext>
            </a:extLst>
          </p:cNvPr>
          <p:cNvSpPr txBox="1"/>
          <p:nvPr/>
        </p:nvSpPr>
        <p:spPr>
          <a:xfrm>
            <a:off x="1819204" y="62921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A69976-08A4-FC2E-2A29-FA8A77DB7126}"/>
              </a:ext>
            </a:extLst>
          </p:cNvPr>
          <p:cNvSpPr txBox="1"/>
          <p:nvPr/>
        </p:nvSpPr>
        <p:spPr>
          <a:xfrm>
            <a:off x="2703992" y="767713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2DF2CA-725F-50A5-A313-1508E369277D}"/>
              </a:ext>
            </a:extLst>
          </p:cNvPr>
          <p:cNvSpPr txBox="1"/>
          <p:nvPr/>
        </p:nvSpPr>
        <p:spPr>
          <a:xfrm>
            <a:off x="3369005" y="738989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FD4F96-7519-7BAA-5B76-175913153360}"/>
              </a:ext>
            </a:extLst>
          </p:cNvPr>
          <p:cNvSpPr/>
          <p:nvPr/>
        </p:nvSpPr>
        <p:spPr>
          <a:xfrm>
            <a:off x="1351608" y="1123972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281A66-52AC-FD16-F69E-BAB157E3DB31}"/>
              </a:ext>
            </a:extLst>
          </p:cNvPr>
          <p:cNvSpPr txBox="1"/>
          <p:nvPr/>
        </p:nvSpPr>
        <p:spPr>
          <a:xfrm rot="5400000">
            <a:off x="3849085" y="1558632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7798F6-D9EC-8247-CC26-D61B35F62078}"/>
              </a:ext>
            </a:extLst>
          </p:cNvPr>
          <p:cNvSpPr txBox="1"/>
          <p:nvPr/>
        </p:nvSpPr>
        <p:spPr>
          <a:xfrm rot="5400000">
            <a:off x="4144906" y="182318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A5BDB5-DBBA-8B8F-9D93-053705CCBBB5}"/>
              </a:ext>
            </a:extLst>
          </p:cNvPr>
          <p:cNvSpPr txBox="1"/>
          <p:nvPr/>
        </p:nvSpPr>
        <p:spPr>
          <a:xfrm rot="5400000">
            <a:off x="4002989" y="1307950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16DB85-68FA-BEE6-3721-26A2A8A26FE1}"/>
              </a:ext>
            </a:extLst>
          </p:cNvPr>
          <p:cNvSpPr/>
          <p:nvPr/>
        </p:nvSpPr>
        <p:spPr>
          <a:xfrm>
            <a:off x="1343356" y="1656741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2930309-FBC9-BA56-8F05-83662F605EB7}"/>
                  </a:ext>
                </a:extLst>
              </p:cNvPr>
              <p:cNvSpPr txBox="1"/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2930309-FBC9-BA56-8F05-83662F605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2E24829-94B5-C838-38AB-12AD156F5F3D}"/>
                  </a:ext>
                </a:extLst>
              </p:cNvPr>
              <p:cNvSpPr txBox="1"/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2E24829-94B5-C838-38AB-12AD156F5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C3F95F1-DF8C-E20D-E86D-3D8B0B868807}"/>
                  </a:ext>
                </a:extLst>
              </p:cNvPr>
              <p:cNvSpPr txBox="1"/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C3F95F1-DF8C-E20D-E86D-3D8B0B868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5E71752-8690-63B8-9039-15D787BA5E1A}"/>
                  </a:ext>
                </a:extLst>
              </p:cNvPr>
              <p:cNvSpPr txBox="1"/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5E71752-8690-63B8-9039-15D787BA5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blipFill>
                <a:blip r:embed="rId7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D5DA0B5-14A5-FD4D-2C2D-CB9360DD9406}"/>
                  </a:ext>
                </a:extLst>
              </p:cNvPr>
              <p:cNvSpPr txBox="1"/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D5DA0B5-14A5-FD4D-2C2D-CB9360DD9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07692AD-54B2-7392-F3A1-FA0826F139D2}"/>
                  </a:ext>
                </a:extLst>
              </p:cNvPr>
              <p:cNvSpPr txBox="1"/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07692AD-54B2-7392-F3A1-FA0826F13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blipFill>
                <a:blip r:embed="rId9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231494E-2EC8-E16E-DA2F-3BDFCBC3D857}"/>
                  </a:ext>
                </a:extLst>
              </p:cNvPr>
              <p:cNvSpPr txBox="1"/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231494E-2EC8-E16E-DA2F-3BDFCBC3D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blipFill>
                <a:blip r:embed="rId10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E502D4D-146C-4534-8464-E78C28B9189C}"/>
                  </a:ext>
                </a:extLst>
              </p:cNvPr>
              <p:cNvSpPr txBox="1"/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E502D4D-146C-4534-8464-E78C28B91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14CE1C83-0A14-1E09-5089-8F03D9315EBA}"/>
              </a:ext>
            </a:extLst>
          </p:cNvPr>
          <p:cNvSpPr txBox="1"/>
          <p:nvPr/>
        </p:nvSpPr>
        <p:spPr>
          <a:xfrm>
            <a:off x="1274075" y="791604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050B063-122A-2DFD-BB3C-F770B0318870}"/>
              </a:ext>
            </a:extLst>
          </p:cNvPr>
          <p:cNvSpPr txBox="1"/>
          <p:nvPr/>
        </p:nvSpPr>
        <p:spPr>
          <a:xfrm>
            <a:off x="632835" y="4943937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581F7BA-4B07-F974-3116-C435D5E9D7FD}"/>
              </a:ext>
            </a:extLst>
          </p:cNvPr>
          <p:cNvSpPr txBox="1"/>
          <p:nvPr/>
        </p:nvSpPr>
        <p:spPr>
          <a:xfrm>
            <a:off x="1714959" y="5082436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65EFEF4-A57D-474B-DB85-32C7EED8FA22}"/>
              </a:ext>
            </a:extLst>
          </p:cNvPr>
          <p:cNvSpPr txBox="1"/>
          <p:nvPr/>
        </p:nvSpPr>
        <p:spPr>
          <a:xfrm>
            <a:off x="2599747" y="5220935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E20FC53-4EDE-34A6-3577-973920770B69}"/>
              </a:ext>
            </a:extLst>
          </p:cNvPr>
          <p:cNvSpPr txBox="1"/>
          <p:nvPr/>
        </p:nvSpPr>
        <p:spPr>
          <a:xfrm>
            <a:off x="3264760" y="5192211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B6C4A87-28C1-50DD-7A2E-29EC386EDB1F}"/>
              </a:ext>
            </a:extLst>
          </p:cNvPr>
          <p:cNvSpPr/>
          <p:nvPr/>
        </p:nvSpPr>
        <p:spPr>
          <a:xfrm>
            <a:off x="1247363" y="5577194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1FC95EA-5BAB-6B2D-9E72-55AE965CEE36}"/>
              </a:ext>
            </a:extLst>
          </p:cNvPr>
          <p:cNvSpPr txBox="1"/>
          <p:nvPr/>
        </p:nvSpPr>
        <p:spPr>
          <a:xfrm rot="5400000">
            <a:off x="3744840" y="601185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5122C1-C05D-8CBC-F770-C5274ED1140E}"/>
              </a:ext>
            </a:extLst>
          </p:cNvPr>
          <p:cNvSpPr txBox="1"/>
          <p:nvPr/>
        </p:nvSpPr>
        <p:spPr>
          <a:xfrm rot="5400000">
            <a:off x="4040661" y="6276407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705570-B32C-02B4-C6DF-32468E1DBB2E}"/>
              </a:ext>
            </a:extLst>
          </p:cNvPr>
          <p:cNvSpPr txBox="1"/>
          <p:nvPr/>
        </p:nvSpPr>
        <p:spPr>
          <a:xfrm rot="5400000">
            <a:off x="3898744" y="5761172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3CBFF6A-A4B8-70A3-C1A4-43F4D7C302F6}"/>
              </a:ext>
            </a:extLst>
          </p:cNvPr>
          <p:cNvSpPr/>
          <p:nvPr/>
        </p:nvSpPr>
        <p:spPr>
          <a:xfrm>
            <a:off x="1196109" y="5559175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918E959-DA2D-29C8-0E06-74B5F5821A50}"/>
              </a:ext>
            </a:extLst>
          </p:cNvPr>
          <p:cNvSpPr txBox="1"/>
          <p:nvPr/>
        </p:nvSpPr>
        <p:spPr>
          <a:xfrm>
            <a:off x="1169830" y="5244826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747487-D48F-6B86-4F1B-6C3749C11DA8}"/>
              </a:ext>
            </a:extLst>
          </p:cNvPr>
          <p:cNvSpPr txBox="1"/>
          <p:nvPr/>
        </p:nvSpPr>
        <p:spPr>
          <a:xfrm>
            <a:off x="6152153" y="536880"/>
            <a:ext cx="5769624" cy="64633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Step 3: Label and divide up the vertical sections to show the conditional uncertainties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CFDC3C-4BC3-908B-EC95-39D7A270C012}"/>
              </a:ext>
            </a:extLst>
          </p:cNvPr>
          <p:cNvSpPr/>
          <p:nvPr/>
        </p:nvSpPr>
        <p:spPr>
          <a:xfrm>
            <a:off x="6333423" y="2069432"/>
            <a:ext cx="5769624" cy="45922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F31F57-3938-8229-BA6B-B5E36ABFCA2C}"/>
              </a:ext>
            </a:extLst>
          </p:cNvPr>
          <p:cNvSpPr txBox="1"/>
          <p:nvPr/>
        </p:nvSpPr>
        <p:spPr>
          <a:xfrm>
            <a:off x="7847808" y="1074334"/>
            <a:ext cx="3155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a coup attempt would...?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BD8E95-BCA5-6FB2-98AB-D3C7A23723C0}"/>
              </a:ext>
            </a:extLst>
          </p:cNvPr>
          <p:cNvSpPr txBox="1"/>
          <p:nvPr/>
        </p:nvSpPr>
        <p:spPr>
          <a:xfrm>
            <a:off x="8310011" y="1343480"/>
            <a:ext cx="1158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fail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93462E-5C75-C1B1-3E06-902E8EF86F81}"/>
              </a:ext>
            </a:extLst>
          </p:cNvPr>
          <p:cNvSpPr txBox="1"/>
          <p:nvPr/>
        </p:nvSpPr>
        <p:spPr>
          <a:xfrm>
            <a:off x="10848644" y="1286379"/>
            <a:ext cx="1158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succeed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1FE258B-F466-D9D4-1077-34F5072DA1EC}"/>
              </a:ext>
            </a:extLst>
          </p:cNvPr>
          <p:cNvCxnSpPr>
            <a:cxnSpLocks/>
          </p:cNvCxnSpPr>
          <p:nvPr/>
        </p:nvCxnSpPr>
        <p:spPr>
          <a:xfrm>
            <a:off x="10875585" y="2081132"/>
            <a:ext cx="0" cy="45922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2600A91-CC2D-4D9D-DAC7-F1B671AAD350}"/>
                  </a:ext>
                </a:extLst>
              </p:cNvPr>
              <p:cNvSpPr txBox="1"/>
              <p:nvPr/>
            </p:nvSpPr>
            <p:spPr>
              <a:xfrm>
                <a:off x="11234935" y="1629138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2600A91-CC2D-4D9D-DAC7-F1B671AAD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4935" y="1629138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3CF00E-B869-7282-37E8-A2BFD1AC31D2}"/>
                  </a:ext>
                </a:extLst>
              </p:cNvPr>
              <p:cNvSpPr txBox="1"/>
              <p:nvPr/>
            </p:nvSpPr>
            <p:spPr>
              <a:xfrm>
                <a:off x="8679541" y="1636191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3CF00E-B869-7282-37E8-A2BFD1AC3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9541" y="1636191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F4CC37D3-AB7A-4443-2CFA-678BFFD4D46B}"/>
              </a:ext>
            </a:extLst>
          </p:cNvPr>
          <p:cNvSpPr txBox="1"/>
          <p:nvPr/>
        </p:nvSpPr>
        <p:spPr>
          <a:xfrm rot="16200000">
            <a:off x="3824758" y="4113876"/>
            <a:ext cx="3933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/>
              <a:t>how well against an opposing military?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F282311-7AE2-2942-F0CA-C95112F60512}"/>
              </a:ext>
            </a:extLst>
          </p:cNvPr>
          <p:cNvSpPr/>
          <p:nvPr/>
        </p:nvSpPr>
        <p:spPr>
          <a:xfrm>
            <a:off x="1196109" y="738989"/>
            <a:ext cx="3618686" cy="2077202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D22611-924B-0949-B976-D26191A80871}"/>
              </a:ext>
            </a:extLst>
          </p:cNvPr>
          <p:cNvSpPr/>
          <p:nvPr/>
        </p:nvSpPr>
        <p:spPr>
          <a:xfrm>
            <a:off x="10875585" y="2052074"/>
            <a:ext cx="1227460" cy="4584592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0099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1E5A4-76CB-03FB-2B51-919AEB319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F918B4A-80C1-6786-577A-9A7328FD4D07}"/>
              </a:ext>
            </a:extLst>
          </p:cNvPr>
          <p:cNvCxnSpPr>
            <a:cxnSpLocks/>
          </p:cNvCxnSpPr>
          <p:nvPr/>
        </p:nvCxnSpPr>
        <p:spPr>
          <a:xfrm>
            <a:off x="1815229" y="5597734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1740DFB-4BB8-1889-71D9-8DB8F235CE8D}"/>
              </a:ext>
            </a:extLst>
          </p:cNvPr>
          <p:cNvCxnSpPr>
            <a:cxnSpLocks/>
          </p:cNvCxnSpPr>
          <p:nvPr/>
        </p:nvCxnSpPr>
        <p:spPr>
          <a:xfrm>
            <a:off x="2601968" y="5572671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52A58A0-AFE5-A6B8-D886-0769E9D1BCCF}"/>
              </a:ext>
            </a:extLst>
          </p:cNvPr>
          <p:cNvCxnSpPr>
            <a:cxnSpLocks/>
          </p:cNvCxnSpPr>
          <p:nvPr/>
        </p:nvCxnSpPr>
        <p:spPr>
          <a:xfrm>
            <a:off x="3388707" y="554760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3649DB9-2FE2-B6FD-FDAC-1712EF30C158}"/>
              </a:ext>
            </a:extLst>
          </p:cNvPr>
          <p:cNvCxnSpPr>
            <a:cxnSpLocks/>
          </p:cNvCxnSpPr>
          <p:nvPr/>
        </p:nvCxnSpPr>
        <p:spPr>
          <a:xfrm>
            <a:off x="1919474" y="1144512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62B61BD-67EF-A9B5-0D04-3C7926C434DC}"/>
              </a:ext>
            </a:extLst>
          </p:cNvPr>
          <p:cNvCxnSpPr>
            <a:cxnSpLocks/>
          </p:cNvCxnSpPr>
          <p:nvPr/>
        </p:nvCxnSpPr>
        <p:spPr>
          <a:xfrm>
            <a:off x="2706213" y="1119449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B8C62E7-3236-E938-5BB1-3766963B5605}"/>
              </a:ext>
            </a:extLst>
          </p:cNvPr>
          <p:cNvCxnSpPr>
            <a:cxnSpLocks/>
          </p:cNvCxnSpPr>
          <p:nvPr/>
        </p:nvCxnSpPr>
        <p:spPr>
          <a:xfrm>
            <a:off x="3492952" y="109438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A1A68E88-BC47-65EB-D255-627E74639335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50F690-2882-3685-311A-FC88F081CF27}"/>
              </a:ext>
            </a:extLst>
          </p:cNvPr>
          <p:cNvCxnSpPr>
            <a:cxnSpLocks/>
          </p:cNvCxnSpPr>
          <p:nvPr/>
        </p:nvCxnSpPr>
        <p:spPr>
          <a:xfrm flipV="1">
            <a:off x="49545" y="1386604"/>
            <a:ext cx="1242557" cy="2325386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034FE3B-E62F-3B4F-78EE-C9137A707D86}"/>
              </a:ext>
            </a:extLst>
          </p:cNvPr>
          <p:cNvSpPr txBox="1"/>
          <p:nvPr/>
        </p:nvSpPr>
        <p:spPr>
          <a:xfrm rot="17851316">
            <a:off x="-726784" y="2245968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28FA18-2EE9-51F6-09A9-7084EE6538CD}"/>
              </a:ext>
            </a:extLst>
          </p:cNvPr>
          <p:cNvCxnSpPr>
            <a:cxnSpLocks/>
          </p:cNvCxnSpPr>
          <p:nvPr/>
        </p:nvCxnSpPr>
        <p:spPr>
          <a:xfrm>
            <a:off x="47916" y="3782075"/>
            <a:ext cx="1184502" cy="240474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8D53EE-F6CA-8974-7A39-C70B98440B7B}"/>
              </a:ext>
            </a:extLst>
          </p:cNvPr>
          <p:cNvSpPr txBox="1"/>
          <p:nvPr/>
        </p:nvSpPr>
        <p:spPr>
          <a:xfrm rot="3887054">
            <a:off x="-994915" y="5509268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837969-CF6F-0F66-5604-F1EB07BA02E6}"/>
                  </a:ext>
                </a:extLst>
              </p:cNvPr>
              <p:cNvSpPr txBox="1"/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837969-CF6F-0F66-5604-F1EB07BA0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B771BF4-6A4B-0FFA-B791-8844CFDDBA9F}"/>
                  </a:ext>
                </a:extLst>
              </p:cNvPr>
              <p:cNvSpPr txBox="1"/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B771BF4-6A4B-0FFA-B791-8844CFDDB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0FF08DA-CD36-1363-A9A3-9A7E33D47609}"/>
              </a:ext>
            </a:extLst>
          </p:cNvPr>
          <p:cNvSpPr txBox="1"/>
          <p:nvPr/>
        </p:nvSpPr>
        <p:spPr>
          <a:xfrm>
            <a:off x="737080" y="49071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2DFA47-C851-4859-47EC-3CF9B6FE12A8}"/>
              </a:ext>
            </a:extLst>
          </p:cNvPr>
          <p:cNvSpPr txBox="1"/>
          <p:nvPr/>
        </p:nvSpPr>
        <p:spPr>
          <a:xfrm>
            <a:off x="1819204" y="62921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AC1EE9-025F-D598-F11E-FDB3823985D1}"/>
              </a:ext>
            </a:extLst>
          </p:cNvPr>
          <p:cNvSpPr txBox="1"/>
          <p:nvPr/>
        </p:nvSpPr>
        <p:spPr>
          <a:xfrm>
            <a:off x="2703992" y="767713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6FB0AE-C7C3-C0E4-3723-15134E9DC5B1}"/>
              </a:ext>
            </a:extLst>
          </p:cNvPr>
          <p:cNvSpPr txBox="1"/>
          <p:nvPr/>
        </p:nvSpPr>
        <p:spPr>
          <a:xfrm>
            <a:off x="3369005" y="738989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6D9233-3E32-E8C0-7EA9-1C2C56D677CA}"/>
              </a:ext>
            </a:extLst>
          </p:cNvPr>
          <p:cNvSpPr/>
          <p:nvPr/>
        </p:nvSpPr>
        <p:spPr>
          <a:xfrm>
            <a:off x="1351608" y="1123972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6995AB-D7FB-8E66-6079-B75C3A5A73CA}"/>
              </a:ext>
            </a:extLst>
          </p:cNvPr>
          <p:cNvSpPr txBox="1"/>
          <p:nvPr/>
        </p:nvSpPr>
        <p:spPr>
          <a:xfrm rot="5400000">
            <a:off x="3849085" y="1558632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3DE72D-EC23-01E0-39C9-ADB10617A52C}"/>
              </a:ext>
            </a:extLst>
          </p:cNvPr>
          <p:cNvSpPr txBox="1"/>
          <p:nvPr/>
        </p:nvSpPr>
        <p:spPr>
          <a:xfrm rot="5400000">
            <a:off x="4144906" y="182318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C64D55-4B03-5727-6D28-EC179AA5F76B}"/>
              </a:ext>
            </a:extLst>
          </p:cNvPr>
          <p:cNvSpPr txBox="1"/>
          <p:nvPr/>
        </p:nvSpPr>
        <p:spPr>
          <a:xfrm rot="5400000">
            <a:off x="4002989" y="1307950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D48819-AEF1-1389-3326-2223F2A16F72}"/>
              </a:ext>
            </a:extLst>
          </p:cNvPr>
          <p:cNvSpPr/>
          <p:nvPr/>
        </p:nvSpPr>
        <p:spPr>
          <a:xfrm>
            <a:off x="1343356" y="1656741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FB24E37-1C63-ED29-DCC7-5772F4192B16}"/>
                  </a:ext>
                </a:extLst>
              </p:cNvPr>
              <p:cNvSpPr txBox="1"/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FB24E37-1C63-ED29-DCC7-5772F4192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12CEAA4-D92F-6242-BE5A-574594556FA1}"/>
                  </a:ext>
                </a:extLst>
              </p:cNvPr>
              <p:cNvSpPr txBox="1"/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12CEAA4-D92F-6242-BE5A-574594556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BB7796B-13A1-8CCE-3BA0-D59C3EE6C767}"/>
                  </a:ext>
                </a:extLst>
              </p:cNvPr>
              <p:cNvSpPr txBox="1"/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BB7796B-13A1-8CCE-3BA0-D59C3EE6C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13C47F7-6E9F-0D17-277F-8EC4A9E5CADB}"/>
                  </a:ext>
                </a:extLst>
              </p:cNvPr>
              <p:cNvSpPr txBox="1"/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13C47F7-6E9F-0D17-277F-8EC4A9E5C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blipFill>
                <a:blip r:embed="rId7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4565100-6AB2-D8A7-6A71-908F693DAC5D}"/>
                  </a:ext>
                </a:extLst>
              </p:cNvPr>
              <p:cNvSpPr txBox="1"/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4565100-6AB2-D8A7-6A71-908F693DA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CC0AF1-A181-50B2-6AEC-67F1511D5756}"/>
                  </a:ext>
                </a:extLst>
              </p:cNvPr>
              <p:cNvSpPr txBox="1"/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CC0AF1-A181-50B2-6AEC-67F1511D5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blipFill>
                <a:blip r:embed="rId9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ED08D12-FE84-DAB1-A023-29EC76224E83}"/>
                  </a:ext>
                </a:extLst>
              </p:cNvPr>
              <p:cNvSpPr txBox="1"/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ED08D12-FE84-DAB1-A023-29EC76224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blipFill>
                <a:blip r:embed="rId10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00D6E1B-62ED-976A-6480-532E61204DC3}"/>
                  </a:ext>
                </a:extLst>
              </p:cNvPr>
              <p:cNvSpPr txBox="1"/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00D6E1B-62ED-976A-6480-532E61204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50F4A12A-B92F-0969-2A6E-35B27D8B9C34}"/>
              </a:ext>
            </a:extLst>
          </p:cNvPr>
          <p:cNvSpPr txBox="1"/>
          <p:nvPr/>
        </p:nvSpPr>
        <p:spPr>
          <a:xfrm>
            <a:off x="1274075" y="791604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739212C-A69D-3BE7-5872-5E80B2F7FFF0}"/>
              </a:ext>
            </a:extLst>
          </p:cNvPr>
          <p:cNvSpPr txBox="1"/>
          <p:nvPr/>
        </p:nvSpPr>
        <p:spPr>
          <a:xfrm>
            <a:off x="632835" y="4943937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F249351-A2F3-2D14-51AB-CFB15D8465E8}"/>
              </a:ext>
            </a:extLst>
          </p:cNvPr>
          <p:cNvSpPr txBox="1"/>
          <p:nvPr/>
        </p:nvSpPr>
        <p:spPr>
          <a:xfrm>
            <a:off x="1714959" y="5082436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0EDBFD0-BF7A-7409-8C51-825BCFF2300D}"/>
              </a:ext>
            </a:extLst>
          </p:cNvPr>
          <p:cNvSpPr txBox="1"/>
          <p:nvPr/>
        </p:nvSpPr>
        <p:spPr>
          <a:xfrm>
            <a:off x="2599747" y="5220935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C27DE79-037E-8DA3-1856-D82A3A2AFEDD}"/>
              </a:ext>
            </a:extLst>
          </p:cNvPr>
          <p:cNvSpPr txBox="1"/>
          <p:nvPr/>
        </p:nvSpPr>
        <p:spPr>
          <a:xfrm>
            <a:off x="3264760" y="5192211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0F88815-C5C3-E6ED-1C30-2CE0A71A655D}"/>
              </a:ext>
            </a:extLst>
          </p:cNvPr>
          <p:cNvSpPr/>
          <p:nvPr/>
        </p:nvSpPr>
        <p:spPr>
          <a:xfrm>
            <a:off x="1247363" y="5577194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B6869F-52EB-3B74-FD67-C97BD5723AF7}"/>
              </a:ext>
            </a:extLst>
          </p:cNvPr>
          <p:cNvSpPr txBox="1"/>
          <p:nvPr/>
        </p:nvSpPr>
        <p:spPr>
          <a:xfrm rot="5400000">
            <a:off x="3744840" y="601185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9577B4A-1A2E-C97D-84C8-6F75734F3A1E}"/>
              </a:ext>
            </a:extLst>
          </p:cNvPr>
          <p:cNvSpPr txBox="1"/>
          <p:nvPr/>
        </p:nvSpPr>
        <p:spPr>
          <a:xfrm rot="5400000">
            <a:off x="4040661" y="6276407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1539F09-3308-CA2B-EDB0-00886E04544D}"/>
              </a:ext>
            </a:extLst>
          </p:cNvPr>
          <p:cNvSpPr txBox="1"/>
          <p:nvPr/>
        </p:nvSpPr>
        <p:spPr>
          <a:xfrm rot="5400000">
            <a:off x="3898744" y="5761172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A7173D0-F2D2-1CD3-48FA-9885FF6506DD}"/>
              </a:ext>
            </a:extLst>
          </p:cNvPr>
          <p:cNvSpPr/>
          <p:nvPr/>
        </p:nvSpPr>
        <p:spPr>
          <a:xfrm>
            <a:off x="1196109" y="5559175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83E5C60-8737-1D54-CCBF-8C437D836454}"/>
              </a:ext>
            </a:extLst>
          </p:cNvPr>
          <p:cNvSpPr txBox="1"/>
          <p:nvPr/>
        </p:nvSpPr>
        <p:spPr>
          <a:xfrm>
            <a:off x="1169830" y="5244826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C7B1FB-CA90-F6F1-CDD1-14F98BC6E35B}"/>
              </a:ext>
            </a:extLst>
          </p:cNvPr>
          <p:cNvSpPr txBox="1"/>
          <p:nvPr/>
        </p:nvSpPr>
        <p:spPr>
          <a:xfrm>
            <a:off x="6152153" y="536880"/>
            <a:ext cx="5769624" cy="64633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Step 3: Label and divide up the vertical sections to show the conditional uncertainties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B12FDC-10BF-02C1-682E-018233D5B655}"/>
              </a:ext>
            </a:extLst>
          </p:cNvPr>
          <p:cNvSpPr/>
          <p:nvPr/>
        </p:nvSpPr>
        <p:spPr>
          <a:xfrm>
            <a:off x="6333423" y="2069432"/>
            <a:ext cx="5769624" cy="45922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A2D56E-B10E-6465-6CD9-4FEBEAEB85EA}"/>
              </a:ext>
            </a:extLst>
          </p:cNvPr>
          <p:cNvSpPr txBox="1"/>
          <p:nvPr/>
        </p:nvSpPr>
        <p:spPr>
          <a:xfrm>
            <a:off x="7847808" y="1074334"/>
            <a:ext cx="3155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a coup attempt would...?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896292-D6A6-F134-715E-7934EC63DE07}"/>
              </a:ext>
            </a:extLst>
          </p:cNvPr>
          <p:cNvSpPr txBox="1"/>
          <p:nvPr/>
        </p:nvSpPr>
        <p:spPr>
          <a:xfrm>
            <a:off x="8310011" y="1343480"/>
            <a:ext cx="1158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fail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EA86FB-B510-EC9B-00AA-A88617544B94}"/>
              </a:ext>
            </a:extLst>
          </p:cNvPr>
          <p:cNvSpPr txBox="1"/>
          <p:nvPr/>
        </p:nvSpPr>
        <p:spPr>
          <a:xfrm>
            <a:off x="10848644" y="1286379"/>
            <a:ext cx="1158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succeed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10B5BE6-4006-5E6D-61F6-52C68383B1F9}"/>
              </a:ext>
            </a:extLst>
          </p:cNvPr>
          <p:cNvCxnSpPr>
            <a:cxnSpLocks/>
          </p:cNvCxnSpPr>
          <p:nvPr/>
        </p:nvCxnSpPr>
        <p:spPr>
          <a:xfrm>
            <a:off x="10875585" y="2081132"/>
            <a:ext cx="0" cy="45922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2C0D089-5575-8B3D-4A13-00255BFB62F5}"/>
                  </a:ext>
                </a:extLst>
              </p:cNvPr>
              <p:cNvSpPr txBox="1"/>
              <p:nvPr/>
            </p:nvSpPr>
            <p:spPr>
              <a:xfrm>
                <a:off x="11234935" y="1629138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2C0D089-5575-8B3D-4A13-00255BFB6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4935" y="1629138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700B902-D0A5-9869-1126-1EFB950E9D54}"/>
                  </a:ext>
                </a:extLst>
              </p:cNvPr>
              <p:cNvSpPr txBox="1"/>
              <p:nvPr/>
            </p:nvSpPr>
            <p:spPr>
              <a:xfrm>
                <a:off x="8679541" y="1636191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700B902-D0A5-9869-1126-1EFB950E9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9541" y="1636191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D669E817-324A-656D-C2EF-CF8F2A370C2F}"/>
              </a:ext>
            </a:extLst>
          </p:cNvPr>
          <p:cNvSpPr txBox="1"/>
          <p:nvPr/>
        </p:nvSpPr>
        <p:spPr>
          <a:xfrm rot="16200000">
            <a:off x="3824758" y="4113876"/>
            <a:ext cx="3933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/>
              <a:t>how well against an opposing military?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A5907F0-1FE0-2574-89DD-58F4C19B2231}"/>
              </a:ext>
            </a:extLst>
          </p:cNvPr>
          <p:cNvSpPr/>
          <p:nvPr/>
        </p:nvSpPr>
        <p:spPr>
          <a:xfrm>
            <a:off x="1196109" y="738989"/>
            <a:ext cx="3618686" cy="2077202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845950-D8AB-D812-CB13-C671EFC7DDD1}"/>
              </a:ext>
            </a:extLst>
          </p:cNvPr>
          <p:cNvSpPr/>
          <p:nvPr/>
        </p:nvSpPr>
        <p:spPr>
          <a:xfrm>
            <a:off x="10875585" y="2052074"/>
            <a:ext cx="1227460" cy="4584592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22D9F38-AA6B-FC68-9AB1-93AAFA2C1275}"/>
              </a:ext>
            </a:extLst>
          </p:cNvPr>
          <p:cNvCxnSpPr>
            <a:cxnSpLocks/>
          </p:cNvCxnSpPr>
          <p:nvPr/>
        </p:nvCxnSpPr>
        <p:spPr>
          <a:xfrm>
            <a:off x="10877755" y="3219450"/>
            <a:ext cx="122529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10FF13A-0930-2C81-5F36-BE7BB5945EDB}"/>
              </a:ext>
            </a:extLst>
          </p:cNvPr>
          <p:cNvCxnSpPr>
            <a:cxnSpLocks/>
          </p:cNvCxnSpPr>
          <p:nvPr/>
        </p:nvCxnSpPr>
        <p:spPr>
          <a:xfrm>
            <a:off x="10848644" y="4331455"/>
            <a:ext cx="122529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321F109-7478-D16D-801D-A597F30A2576}"/>
              </a:ext>
            </a:extLst>
          </p:cNvPr>
          <p:cNvCxnSpPr>
            <a:cxnSpLocks/>
          </p:cNvCxnSpPr>
          <p:nvPr/>
        </p:nvCxnSpPr>
        <p:spPr>
          <a:xfrm>
            <a:off x="10848644" y="5497934"/>
            <a:ext cx="122529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B396661-E5A0-8DCC-A226-F556111F49CD}"/>
              </a:ext>
            </a:extLst>
          </p:cNvPr>
          <p:cNvSpPr txBox="1"/>
          <p:nvPr/>
        </p:nvSpPr>
        <p:spPr>
          <a:xfrm>
            <a:off x="11155893" y="2117285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2ED7733-898C-7573-FAB6-24ED995D1959}"/>
              </a:ext>
            </a:extLst>
          </p:cNvPr>
          <p:cNvSpPr txBox="1"/>
          <p:nvPr/>
        </p:nvSpPr>
        <p:spPr>
          <a:xfrm>
            <a:off x="11028416" y="3247795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4D0D6B1-FE9B-783F-9E1A-3B4DBDAABD82}"/>
              </a:ext>
            </a:extLst>
          </p:cNvPr>
          <p:cNvSpPr txBox="1"/>
          <p:nvPr/>
        </p:nvSpPr>
        <p:spPr>
          <a:xfrm>
            <a:off x="11155893" y="4450820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C90E4C4-774A-FA3A-14AE-DE8781F824BF}"/>
              </a:ext>
            </a:extLst>
          </p:cNvPr>
          <p:cNvSpPr txBox="1"/>
          <p:nvPr/>
        </p:nvSpPr>
        <p:spPr>
          <a:xfrm>
            <a:off x="11028415" y="5559175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</p:spTree>
    <p:extLst>
      <p:ext uri="{BB962C8B-B14F-4D97-AF65-F5344CB8AC3E}">
        <p14:creationId xmlns:p14="http://schemas.microsoft.com/office/powerpoint/2010/main" val="36355046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299F6-F7CC-9B27-C78D-340FCDE56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509B47D-E313-92C6-8AF2-A8E32A683142}"/>
              </a:ext>
            </a:extLst>
          </p:cNvPr>
          <p:cNvCxnSpPr>
            <a:cxnSpLocks/>
          </p:cNvCxnSpPr>
          <p:nvPr/>
        </p:nvCxnSpPr>
        <p:spPr>
          <a:xfrm>
            <a:off x="1815229" y="5597734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EE092D9-6E52-3C03-5E76-4802DAA581DF}"/>
              </a:ext>
            </a:extLst>
          </p:cNvPr>
          <p:cNvCxnSpPr>
            <a:cxnSpLocks/>
          </p:cNvCxnSpPr>
          <p:nvPr/>
        </p:nvCxnSpPr>
        <p:spPr>
          <a:xfrm>
            <a:off x="2601968" y="5572671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FA374D8-032E-C651-2D57-E365C76936F2}"/>
              </a:ext>
            </a:extLst>
          </p:cNvPr>
          <p:cNvCxnSpPr>
            <a:cxnSpLocks/>
          </p:cNvCxnSpPr>
          <p:nvPr/>
        </p:nvCxnSpPr>
        <p:spPr>
          <a:xfrm>
            <a:off x="3388707" y="554760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2156BD9-1CB0-F4C3-1799-D61166FD50F2}"/>
              </a:ext>
            </a:extLst>
          </p:cNvPr>
          <p:cNvCxnSpPr>
            <a:cxnSpLocks/>
          </p:cNvCxnSpPr>
          <p:nvPr/>
        </p:nvCxnSpPr>
        <p:spPr>
          <a:xfrm>
            <a:off x="1919474" y="1144512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1A64EFC-A9BC-7D31-FCA2-1FE7EF60D265}"/>
              </a:ext>
            </a:extLst>
          </p:cNvPr>
          <p:cNvCxnSpPr>
            <a:cxnSpLocks/>
          </p:cNvCxnSpPr>
          <p:nvPr/>
        </p:nvCxnSpPr>
        <p:spPr>
          <a:xfrm>
            <a:off x="2706213" y="1119449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82537BE-81C3-8703-BB88-250FC402BA0B}"/>
              </a:ext>
            </a:extLst>
          </p:cNvPr>
          <p:cNvCxnSpPr>
            <a:cxnSpLocks/>
          </p:cNvCxnSpPr>
          <p:nvPr/>
        </p:nvCxnSpPr>
        <p:spPr>
          <a:xfrm>
            <a:off x="3492952" y="109438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7F98F42A-9D88-42B6-F598-678A55190532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B4CE601-9380-B1DD-E707-595A36675C10}"/>
              </a:ext>
            </a:extLst>
          </p:cNvPr>
          <p:cNvCxnSpPr>
            <a:cxnSpLocks/>
          </p:cNvCxnSpPr>
          <p:nvPr/>
        </p:nvCxnSpPr>
        <p:spPr>
          <a:xfrm flipV="1">
            <a:off x="49545" y="1386604"/>
            <a:ext cx="1242557" cy="2325386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8948B4A-92DE-DA41-017F-817B6B1013B8}"/>
              </a:ext>
            </a:extLst>
          </p:cNvPr>
          <p:cNvSpPr txBox="1"/>
          <p:nvPr/>
        </p:nvSpPr>
        <p:spPr>
          <a:xfrm rot="17851316">
            <a:off x="-726784" y="2245968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6E8906E-12FB-9F82-C808-3618391F1F66}"/>
              </a:ext>
            </a:extLst>
          </p:cNvPr>
          <p:cNvCxnSpPr>
            <a:cxnSpLocks/>
          </p:cNvCxnSpPr>
          <p:nvPr/>
        </p:nvCxnSpPr>
        <p:spPr>
          <a:xfrm>
            <a:off x="47916" y="3782075"/>
            <a:ext cx="1184502" cy="240474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5D358A4-2244-0626-8F48-2544A9938BD8}"/>
              </a:ext>
            </a:extLst>
          </p:cNvPr>
          <p:cNvSpPr txBox="1"/>
          <p:nvPr/>
        </p:nvSpPr>
        <p:spPr>
          <a:xfrm rot="3887054">
            <a:off x="-994915" y="5509268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606DF06-E1B5-85E9-45ED-E25D1D01D89C}"/>
                  </a:ext>
                </a:extLst>
              </p:cNvPr>
              <p:cNvSpPr txBox="1"/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606DF06-E1B5-85E9-45ED-E25D1D01D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81F8E47-A1F5-4B09-2641-9FC4B4634158}"/>
                  </a:ext>
                </a:extLst>
              </p:cNvPr>
              <p:cNvSpPr txBox="1"/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81F8E47-A1F5-4B09-2641-9FC4B4634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346523A-F2FD-058E-3CE8-528E88575C07}"/>
              </a:ext>
            </a:extLst>
          </p:cNvPr>
          <p:cNvSpPr txBox="1"/>
          <p:nvPr/>
        </p:nvSpPr>
        <p:spPr>
          <a:xfrm>
            <a:off x="737080" y="49071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7C707E-6214-EE1C-D962-AEC82D96E79F}"/>
              </a:ext>
            </a:extLst>
          </p:cNvPr>
          <p:cNvSpPr txBox="1"/>
          <p:nvPr/>
        </p:nvSpPr>
        <p:spPr>
          <a:xfrm>
            <a:off x="1819204" y="62921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3EF1F8-5D95-2446-4DD4-9A9E80FE1AC1}"/>
              </a:ext>
            </a:extLst>
          </p:cNvPr>
          <p:cNvSpPr txBox="1"/>
          <p:nvPr/>
        </p:nvSpPr>
        <p:spPr>
          <a:xfrm>
            <a:off x="2703992" y="767713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CC5D07-A9A8-59F9-B961-91905F870026}"/>
              </a:ext>
            </a:extLst>
          </p:cNvPr>
          <p:cNvSpPr txBox="1"/>
          <p:nvPr/>
        </p:nvSpPr>
        <p:spPr>
          <a:xfrm>
            <a:off x="3369005" y="738989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9F3A09-DF7E-29A6-5353-F4BE7290DDF4}"/>
              </a:ext>
            </a:extLst>
          </p:cNvPr>
          <p:cNvSpPr/>
          <p:nvPr/>
        </p:nvSpPr>
        <p:spPr>
          <a:xfrm>
            <a:off x="1351608" y="1123972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1E4CF2-924F-0315-772A-2307FC474FFE}"/>
              </a:ext>
            </a:extLst>
          </p:cNvPr>
          <p:cNvSpPr txBox="1"/>
          <p:nvPr/>
        </p:nvSpPr>
        <p:spPr>
          <a:xfrm rot="5400000">
            <a:off x="3849085" y="1558632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676D87-DB58-9F63-D1C5-A90DE3D7C4AB}"/>
              </a:ext>
            </a:extLst>
          </p:cNvPr>
          <p:cNvSpPr txBox="1"/>
          <p:nvPr/>
        </p:nvSpPr>
        <p:spPr>
          <a:xfrm rot="5400000">
            <a:off x="4144906" y="182318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B08E72-5D74-FCC2-CA55-927F6E35BD42}"/>
              </a:ext>
            </a:extLst>
          </p:cNvPr>
          <p:cNvSpPr txBox="1"/>
          <p:nvPr/>
        </p:nvSpPr>
        <p:spPr>
          <a:xfrm rot="5400000">
            <a:off x="4002989" y="1307950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06D562-873D-9644-2F30-E609F3A2DDD0}"/>
              </a:ext>
            </a:extLst>
          </p:cNvPr>
          <p:cNvSpPr/>
          <p:nvPr/>
        </p:nvSpPr>
        <p:spPr>
          <a:xfrm>
            <a:off x="1343356" y="1656741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A5F947B-AE8E-965B-7F7C-91DE633000E8}"/>
                  </a:ext>
                </a:extLst>
              </p:cNvPr>
              <p:cNvSpPr txBox="1"/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A5F947B-AE8E-965B-7F7C-91DE63300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55D26B1-5BB5-EAA5-613A-89DD8FFB3951}"/>
                  </a:ext>
                </a:extLst>
              </p:cNvPr>
              <p:cNvSpPr txBox="1"/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55D26B1-5BB5-EAA5-613A-89DD8FFB3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48EB906-A823-9064-3425-3D199A31550F}"/>
                  </a:ext>
                </a:extLst>
              </p:cNvPr>
              <p:cNvSpPr txBox="1"/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48EB906-A823-9064-3425-3D199A315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2755001-D6F5-FF47-2CAA-CCD48F70C680}"/>
                  </a:ext>
                </a:extLst>
              </p:cNvPr>
              <p:cNvSpPr txBox="1"/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2755001-D6F5-FF47-2CAA-CCD48F70C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blipFill>
                <a:blip r:embed="rId7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C665631-2F32-1FFD-B2A4-045B9EE2DC76}"/>
                  </a:ext>
                </a:extLst>
              </p:cNvPr>
              <p:cNvSpPr txBox="1"/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C665631-2F32-1FFD-B2A4-045B9EE2D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DF4F1C0-526A-7782-F20C-9CBE69F4B239}"/>
                  </a:ext>
                </a:extLst>
              </p:cNvPr>
              <p:cNvSpPr txBox="1"/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DF4F1C0-526A-7782-F20C-9CBE69F4B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blipFill>
                <a:blip r:embed="rId9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AD07D2D-3885-673E-FE24-2D6C5A5F8DD5}"/>
                  </a:ext>
                </a:extLst>
              </p:cNvPr>
              <p:cNvSpPr txBox="1"/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AD07D2D-3885-673E-FE24-2D6C5A5F8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blipFill>
                <a:blip r:embed="rId10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8429652-4A3C-86E8-3762-69971D22EBBF}"/>
                  </a:ext>
                </a:extLst>
              </p:cNvPr>
              <p:cNvSpPr txBox="1"/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8429652-4A3C-86E8-3762-69971D22E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9537E2DE-27E6-3DBA-48D9-0C6FC3F4329B}"/>
              </a:ext>
            </a:extLst>
          </p:cNvPr>
          <p:cNvSpPr txBox="1"/>
          <p:nvPr/>
        </p:nvSpPr>
        <p:spPr>
          <a:xfrm>
            <a:off x="1274075" y="791604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C0850D4-D987-446E-330E-A0E3A54B5D6A}"/>
              </a:ext>
            </a:extLst>
          </p:cNvPr>
          <p:cNvSpPr txBox="1"/>
          <p:nvPr/>
        </p:nvSpPr>
        <p:spPr>
          <a:xfrm>
            <a:off x="632835" y="4943937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18D3CB-78AD-341F-81E0-354AEA721DD3}"/>
              </a:ext>
            </a:extLst>
          </p:cNvPr>
          <p:cNvSpPr txBox="1"/>
          <p:nvPr/>
        </p:nvSpPr>
        <p:spPr>
          <a:xfrm>
            <a:off x="1714959" y="5082436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BFE0CC4-849A-8FF5-AC6A-EA5F408F4661}"/>
              </a:ext>
            </a:extLst>
          </p:cNvPr>
          <p:cNvSpPr txBox="1"/>
          <p:nvPr/>
        </p:nvSpPr>
        <p:spPr>
          <a:xfrm>
            <a:off x="2599747" y="5220935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D79E3A3-FF52-F48E-8321-2A97BA1867E3}"/>
              </a:ext>
            </a:extLst>
          </p:cNvPr>
          <p:cNvSpPr txBox="1"/>
          <p:nvPr/>
        </p:nvSpPr>
        <p:spPr>
          <a:xfrm>
            <a:off x="3264760" y="5192211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E9EF6D0-BCCC-B1FB-3E44-0717DDBA3884}"/>
              </a:ext>
            </a:extLst>
          </p:cNvPr>
          <p:cNvSpPr/>
          <p:nvPr/>
        </p:nvSpPr>
        <p:spPr>
          <a:xfrm>
            <a:off x="1247363" y="5577194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848923D-B1B9-B784-8107-F02B79B647D5}"/>
              </a:ext>
            </a:extLst>
          </p:cNvPr>
          <p:cNvSpPr txBox="1"/>
          <p:nvPr/>
        </p:nvSpPr>
        <p:spPr>
          <a:xfrm rot="5400000">
            <a:off x="3744840" y="601185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6D932A-DF30-071F-B84D-F2B72583BBD3}"/>
              </a:ext>
            </a:extLst>
          </p:cNvPr>
          <p:cNvSpPr txBox="1"/>
          <p:nvPr/>
        </p:nvSpPr>
        <p:spPr>
          <a:xfrm rot="5400000">
            <a:off x="4040661" y="6276407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201DE2-CE10-E845-7869-B5392127102C}"/>
              </a:ext>
            </a:extLst>
          </p:cNvPr>
          <p:cNvSpPr txBox="1"/>
          <p:nvPr/>
        </p:nvSpPr>
        <p:spPr>
          <a:xfrm rot="5400000">
            <a:off x="3898744" y="5761172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76BC94C-8001-C60F-DE75-18EC026C7C4C}"/>
              </a:ext>
            </a:extLst>
          </p:cNvPr>
          <p:cNvSpPr/>
          <p:nvPr/>
        </p:nvSpPr>
        <p:spPr>
          <a:xfrm>
            <a:off x="1196109" y="5559175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87789C0-212A-8BA8-DDC2-5AE554DD1C1D}"/>
              </a:ext>
            </a:extLst>
          </p:cNvPr>
          <p:cNvSpPr txBox="1"/>
          <p:nvPr/>
        </p:nvSpPr>
        <p:spPr>
          <a:xfrm>
            <a:off x="1169830" y="5244826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1E580B-484A-0CAD-EEDE-E9CA96843EA9}"/>
              </a:ext>
            </a:extLst>
          </p:cNvPr>
          <p:cNvSpPr txBox="1"/>
          <p:nvPr/>
        </p:nvSpPr>
        <p:spPr>
          <a:xfrm>
            <a:off x="6152153" y="536880"/>
            <a:ext cx="5769624" cy="64633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Step 3: Label and divide up the vertical sections to show the conditional uncertainties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9B146E-0BB1-FDB1-DD78-29271886CB56}"/>
              </a:ext>
            </a:extLst>
          </p:cNvPr>
          <p:cNvSpPr/>
          <p:nvPr/>
        </p:nvSpPr>
        <p:spPr>
          <a:xfrm>
            <a:off x="6333423" y="2069432"/>
            <a:ext cx="5769624" cy="45922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38E3CF-8635-F652-3A70-FF5ECFEFEE80}"/>
              </a:ext>
            </a:extLst>
          </p:cNvPr>
          <p:cNvSpPr txBox="1"/>
          <p:nvPr/>
        </p:nvSpPr>
        <p:spPr>
          <a:xfrm>
            <a:off x="7847808" y="1074334"/>
            <a:ext cx="3155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a coup attempt would...?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A2BE4A-7653-CEB6-6FEC-F6213D47C072}"/>
              </a:ext>
            </a:extLst>
          </p:cNvPr>
          <p:cNvSpPr txBox="1"/>
          <p:nvPr/>
        </p:nvSpPr>
        <p:spPr>
          <a:xfrm>
            <a:off x="8310011" y="1343480"/>
            <a:ext cx="1158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fail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B83B5E-6ACA-8F4C-2D21-D3EA3F8B67F9}"/>
              </a:ext>
            </a:extLst>
          </p:cNvPr>
          <p:cNvSpPr txBox="1"/>
          <p:nvPr/>
        </p:nvSpPr>
        <p:spPr>
          <a:xfrm>
            <a:off x="10848644" y="1286379"/>
            <a:ext cx="1158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succeed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D2597D5-F7E8-2872-BF15-A84845598928}"/>
              </a:ext>
            </a:extLst>
          </p:cNvPr>
          <p:cNvCxnSpPr>
            <a:cxnSpLocks/>
          </p:cNvCxnSpPr>
          <p:nvPr/>
        </p:nvCxnSpPr>
        <p:spPr>
          <a:xfrm>
            <a:off x="10875585" y="2081132"/>
            <a:ext cx="0" cy="45922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E9F2B20-9AF4-C1D9-A673-1916CF51E100}"/>
                  </a:ext>
                </a:extLst>
              </p:cNvPr>
              <p:cNvSpPr txBox="1"/>
              <p:nvPr/>
            </p:nvSpPr>
            <p:spPr>
              <a:xfrm>
                <a:off x="11234935" y="1629138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E9F2B20-9AF4-C1D9-A673-1916CF51E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4935" y="1629138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5FFC28D-1B12-DD36-C1F4-45E3B23204B0}"/>
                  </a:ext>
                </a:extLst>
              </p:cNvPr>
              <p:cNvSpPr txBox="1"/>
              <p:nvPr/>
            </p:nvSpPr>
            <p:spPr>
              <a:xfrm>
                <a:off x="8679541" y="1636191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5FFC28D-1B12-DD36-C1F4-45E3B2320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9541" y="1636191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E4EC88AB-4446-0BFC-875D-20BAD47FBF0C}"/>
              </a:ext>
            </a:extLst>
          </p:cNvPr>
          <p:cNvSpPr txBox="1"/>
          <p:nvPr/>
        </p:nvSpPr>
        <p:spPr>
          <a:xfrm rot="16200000">
            <a:off x="3824758" y="4113876"/>
            <a:ext cx="3933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/>
              <a:t>how well against an opposing military?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10BB452-EE5B-2081-5934-1AD583400677}"/>
              </a:ext>
            </a:extLst>
          </p:cNvPr>
          <p:cNvSpPr/>
          <p:nvPr/>
        </p:nvSpPr>
        <p:spPr>
          <a:xfrm>
            <a:off x="1196109" y="738989"/>
            <a:ext cx="3618686" cy="2077202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9ECA10-E83A-F8FF-811F-826516A01266}"/>
              </a:ext>
            </a:extLst>
          </p:cNvPr>
          <p:cNvSpPr/>
          <p:nvPr/>
        </p:nvSpPr>
        <p:spPr>
          <a:xfrm>
            <a:off x="10875585" y="2052074"/>
            <a:ext cx="1227460" cy="4584592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E9F0348-4D02-BD88-C9F9-E12872FA25BF}"/>
              </a:ext>
            </a:extLst>
          </p:cNvPr>
          <p:cNvCxnSpPr>
            <a:cxnSpLocks/>
          </p:cNvCxnSpPr>
          <p:nvPr/>
        </p:nvCxnSpPr>
        <p:spPr>
          <a:xfrm>
            <a:off x="10877755" y="3219450"/>
            <a:ext cx="122529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426C514-1243-6B3B-EC93-DC2A5FD327CC}"/>
              </a:ext>
            </a:extLst>
          </p:cNvPr>
          <p:cNvCxnSpPr>
            <a:cxnSpLocks/>
          </p:cNvCxnSpPr>
          <p:nvPr/>
        </p:nvCxnSpPr>
        <p:spPr>
          <a:xfrm>
            <a:off x="10848644" y="4331455"/>
            <a:ext cx="122529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8AFA007-BD9C-BAAD-A366-C7D10E6F1E09}"/>
              </a:ext>
            </a:extLst>
          </p:cNvPr>
          <p:cNvCxnSpPr>
            <a:cxnSpLocks/>
          </p:cNvCxnSpPr>
          <p:nvPr/>
        </p:nvCxnSpPr>
        <p:spPr>
          <a:xfrm>
            <a:off x="10848644" y="5497934"/>
            <a:ext cx="122529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770BC76-9B16-5FE3-F420-765CB7F29182}"/>
              </a:ext>
            </a:extLst>
          </p:cNvPr>
          <p:cNvSpPr txBox="1"/>
          <p:nvPr/>
        </p:nvSpPr>
        <p:spPr>
          <a:xfrm>
            <a:off x="11155893" y="2117285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F8B581C-696F-3E9E-A836-2EB646545ADA}"/>
              </a:ext>
            </a:extLst>
          </p:cNvPr>
          <p:cNvSpPr txBox="1"/>
          <p:nvPr/>
        </p:nvSpPr>
        <p:spPr>
          <a:xfrm>
            <a:off x="11028416" y="3247795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6EACEE2-3CCF-592F-F877-559AEEDC003A}"/>
              </a:ext>
            </a:extLst>
          </p:cNvPr>
          <p:cNvSpPr txBox="1"/>
          <p:nvPr/>
        </p:nvSpPr>
        <p:spPr>
          <a:xfrm>
            <a:off x="11155893" y="4450820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36E57A5-FB61-1025-B026-C1405E399C40}"/>
              </a:ext>
            </a:extLst>
          </p:cNvPr>
          <p:cNvSpPr txBox="1"/>
          <p:nvPr/>
        </p:nvSpPr>
        <p:spPr>
          <a:xfrm>
            <a:off x="11028415" y="5559175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815446-2645-C82F-A740-F912D681F6E2}"/>
              </a:ext>
            </a:extLst>
          </p:cNvPr>
          <p:cNvSpPr txBox="1"/>
          <p:nvPr/>
        </p:nvSpPr>
        <p:spPr>
          <a:xfrm rot="20417560">
            <a:off x="2195030" y="2750196"/>
            <a:ext cx="1983252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i="1"/>
              <a:t>probabilities are proportions!!!!</a:t>
            </a:r>
          </a:p>
        </p:txBody>
      </p:sp>
    </p:spTree>
    <p:extLst>
      <p:ext uri="{BB962C8B-B14F-4D97-AF65-F5344CB8AC3E}">
        <p14:creationId xmlns:p14="http://schemas.microsoft.com/office/powerpoint/2010/main" val="28828487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7F768-B267-C524-2C63-17699642C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38D70D8-9C0B-0AE8-D739-6E51149E2C87}"/>
              </a:ext>
            </a:extLst>
          </p:cNvPr>
          <p:cNvCxnSpPr>
            <a:cxnSpLocks/>
          </p:cNvCxnSpPr>
          <p:nvPr/>
        </p:nvCxnSpPr>
        <p:spPr>
          <a:xfrm>
            <a:off x="1815229" y="5597734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32BA0AA-AE6D-AC92-D251-747A7DD6F229}"/>
              </a:ext>
            </a:extLst>
          </p:cNvPr>
          <p:cNvCxnSpPr>
            <a:cxnSpLocks/>
          </p:cNvCxnSpPr>
          <p:nvPr/>
        </p:nvCxnSpPr>
        <p:spPr>
          <a:xfrm>
            <a:off x="2601968" y="5572671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166C8A6-0911-548E-1258-B4AD8EA976F7}"/>
              </a:ext>
            </a:extLst>
          </p:cNvPr>
          <p:cNvCxnSpPr>
            <a:cxnSpLocks/>
          </p:cNvCxnSpPr>
          <p:nvPr/>
        </p:nvCxnSpPr>
        <p:spPr>
          <a:xfrm>
            <a:off x="3388707" y="554760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168C057-5D5B-1E05-7BEA-D10B2BF41609}"/>
              </a:ext>
            </a:extLst>
          </p:cNvPr>
          <p:cNvCxnSpPr>
            <a:cxnSpLocks/>
          </p:cNvCxnSpPr>
          <p:nvPr/>
        </p:nvCxnSpPr>
        <p:spPr>
          <a:xfrm>
            <a:off x="1919474" y="1144512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D38F3CD-A685-43BF-88E8-E54A373B6D1F}"/>
              </a:ext>
            </a:extLst>
          </p:cNvPr>
          <p:cNvCxnSpPr>
            <a:cxnSpLocks/>
          </p:cNvCxnSpPr>
          <p:nvPr/>
        </p:nvCxnSpPr>
        <p:spPr>
          <a:xfrm>
            <a:off x="2706213" y="1119449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12F78B8-8620-44A3-FA9A-49A8E68F1A01}"/>
              </a:ext>
            </a:extLst>
          </p:cNvPr>
          <p:cNvCxnSpPr>
            <a:cxnSpLocks/>
          </p:cNvCxnSpPr>
          <p:nvPr/>
        </p:nvCxnSpPr>
        <p:spPr>
          <a:xfrm>
            <a:off x="3492952" y="109438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64A04748-8A65-6243-C890-283334C309AD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CA5937E-D5E1-4115-26A9-2D7A86D35CE2}"/>
              </a:ext>
            </a:extLst>
          </p:cNvPr>
          <p:cNvCxnSpPr>
            <a:cxnSpLocks/>
          </p:cNvCxnSpPr>
          <p:nvPr/>
        </p:nvCxnSpPr>
        <p:spPr>
          <a:xfrm flipV="1">
            <a:off x="49545" y="1386604"/>
            <a:ext cx="1242557" cy="2325386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0F2E205-1743-014E-DED1-A0553C3F748B}"/>
              </a:ext>
            </a:extLst>
          </p:cNvPr>
          <p:cNvSpPr txBox="1"/>
          <p:nvPr/>
        </p:nvSpPr>
        <p:spPr>
          <a:xfrm rot="17851316">
            <a:off x="-726784" y="2245968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C09BEC6-65C4-1397-61C3-2C21E40C5FEA}"/>
              </a:ext>
            </a:extLst>
          </p:cNvPr>
          <p:cNvCxnSpPr>
            <a:cxnSpLocks/>
          </p:cNvCxnSpPr>
          <p:nvPr/>
        </p:nvCxnSpPr>
        <p:spPr>
          <a:xfrm>
            <a:off x="47916" y="3782075"/>
            <a:ext cx="1184502" cy="240474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4C27AED-493B-87E6-3F50-0B6A2ADF67D8}"/>
              </a:ext>
            </a:extLst>
          </p:cNvPr>
          <p:cNvSpPr txBox="1"/>
          <p:nvPr/>
        </p:nvSpPr>
        <p:spPr>
          <a:xfrm rot="3887054">
            <a:off x="-994915" y="5509268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848AF8-D266-2B00-8793-967A716858B1}"/>
                  </a:ext>
                </a:extLst>
              </p:cNvPr>
              <p:cNvSpPr txBox="1"/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848AF8-D266-2B00-8793-967A71685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93CC1F-739C-B43D-1348-6354D077483E}"/>
                  </a:ext>
                </a:extLst>
              </p:cNvPr>
              <p:cNvSpPr txBox="1"/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93CC1F-739C-B43D-1348-6354D0774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6A4A009-27FA-8D65-0DCB-7068CC58E51A}"/>
              </a:ext>
            </a:extLst>
          </p:cNvPr>
          <p:cNvSpPr txBox="1"/>
          <p:nvPr/>
        </p:nvSpPr>
        <p:spPr>
          <a:xfrm>
            <a:off x="737080" y="49071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7B5E0E-6B3B-AC30-1038-AC3B2AAA3378}"/>
              </a:ext>
            </a:extLst>
          </p:cNvPr>
          <p:cNvSpPr txBox="1"/>
          <p:nvPr/>
        </p:nvSpPr>
        <p:spPr>
          <a:xfrm>
            <a:off x="1819204" y="62921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D375BD-19B8-E819-19BE-CA0462040B74}"/>
              </a:ext>
            </a:extLst>
          </p:cNvPr>
          <p:cNvSpPr txBox="1"/>
          <p:nvPr/>
        </p:nvSpPr>
        <p:spPr>
          <a:xfrm>
            <a:off x="2703992" y="767713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C812E8-B136-9016-0A21-950394B18CD3}"/>
              </a:ext>
            </a:extLst>
          </p:cNvPr>
          <p:cNvSpPr txBox="1"/>
          <p:nvPr/>
        </p:nvSpPr>
        <p:spPr>
          <a:xfrm>
            <a:off x="3369005" y="738989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8FDBC2-337A-5BAD-FF04-9C42AD752E2D}"/>
              </a:ext>
            </a:extLst>
          </p:cNvPr>
          <p:cNvSpPr/>
          <p:nvPr/>
        </p:nvSpPr>
        <p:spPr>
          <a:xfrm>
            <a:off x="1351608" y="1123972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440BD6-A6E7-F44E-E7BE-92ADD7314D13}"/>
              </a:ext>
            </a:extLst>
          </p:cNvPr>
          <p:cNvSpPr txBox="1"/>
          <p:nvPr/>
        </p:nvSpPr>
        <p:spPr>
          <a:xfrm rot="5400000">
            <a:off x="3849085" y="1558632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0B17EE-F7E2-D80A-FC28-8E8189018028}"/>
              </a:ext>
            </a:extLst>
          </p:cNvPr>
          <p:cNvSpPr txBox="1"/>
          <p:nvPr/>
        </p:nvSpPr>
        <p:spPr>
          <a:xfrm rot="5400000">
            <a:off x="4144906" y="182318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A9E59E-9D25-5ECB-55A6-A15348387E42}"/>
              </a:ext>
            </a:extLst>
          </p:cNvPr>
          <p:cNvSpPr txBox="1"/>
          <p:nvPr/>
        </p:nvSpPr>
        <p:spPr>
          <a:xfrm rot="5400000">
            <a:off x="4002989" y="1307950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6932A9-5996-3666-483F-1F994B0E6A45}"/>
              </a:ext>
            </a:extLst>
          </p:cNvPr>
          <p:cNvSpPr/>
          <p:nvPr/>
        </p:nvSpPr>
        <p:spPr>
          <a:xfrm>
            <a:off x="1343356" y="1656741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AABD6B8-17AB-C025-5F71-F5494B305227}"/>
                  </a:ext>
                </a:extLst>
              </p:cNvPr>
              <p:cNvSpPr txBox="1"/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AABD6B8-17AB-C025-5F71-F5494B305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4B24257-29E8-2D0A-9212-1D38F819DAA6}"/>
                  </a:ext>
                </a:extLst>
              </p:cNvPr>
              <p:cNvSpPr txBox="1"/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4B24257-29E8-2D0A-9212-1D38F819D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4CBFAFE-E019-385A-303E-C505D3C7362A}"/>
                  </a:ext>
                </a:extLst>
              </p:cNvPr>
              <p:cNvSpPr txBox="1"/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4CBFAFE-E019-385A-303E-C505D3C73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883D50E-DFBC-67A1-5BEB-EF31194ECB52}"/>
                  </a:ext>
                </a:extLst>
              </p:cNvPr>
              <p:cNvSpPr txBox="1"/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883D50E-DFBC-67A1-5BEB-EF31194EC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blipFill>
                <a:blip r:embed="rId7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10E6861-CB2C-43A6-B8D2-D399F4907109}"/>
                  </a:ext>
                </a:extLst>
              </p:cNvPr>
              <p:cNvSpPr txBox="1"/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10E6861-CB2C-43A6-B8D2-D399F4907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2EF5933-31F5-2E0C-3B4E-3ACDF5EAE829}"/>
                  </a:ext>
                </a:extLst>
              </p:cNvPr>
              <p:cNvSpPr txBox="1"/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2EF5933-31F5-2E0C-3B4E-3ACDF5EAE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blipFill>
                <a:blip r:embed="rId9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0DD07EC-3DD6-524B-3E0C-5ABC5BABB151}"/>
                  </a:ext>
                </a:extLst>
              </p:cNvPr>
              <p:cNvSpPr txBox="1"/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0DD07EC-3DD6-524B-3E0C-5ABC5BABB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blipFill>
                <a:blip r:embed="rId10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FC02688-B79F-C7C3-06F8-F99B6DCE1C34}"/>
                  </a:ext>
                </a:extLst>
              </p:cNvPr>
              <p:cNvSpPr txBox="1"/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FC02688-B79F-C7C3-06F8-F99B6DCE1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71FE254B-CC54-8872-08BF-D375493F45AE}"/>
              </a:ext>
            </a:extLst>
          </p:cNvPr>
          <p:cNvSpPr txBox="1"/>
          <p:nvPr/>
        </p:nvSpPr>
        <p:spPr>
          <a:xfrm>
            <a:off x="1274075" y="791604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F9469F9-939F-A141-A3E7-F20C422B9752}"/>
              </a:ext>
            </a:extLst>
          </p:cNvPr>
          <p:cNvSpPr txBox="1"/>
          <p:nvPr/>
        </p:nvSpPr>
        <p:spPr>
          <a:xfrm>
            <a:off x="632835" y="4943937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8AEA12-CC1A-6A05-F5E7-FA958AC06FBB}"/>
              </a:ext>
            </a:extLst>
          </p:cNvPr>
          <p:cNvSpPr txBox="1"/>
          <p:nvPr/>
        </p:nvSpPr>
        <p:spPr>
          <a:xfrm>
            <a:off x="1714959" y="5082436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8CC44B-E777-7E86-44F1-6DB76550F3F7}"/>
              </a:ext>
            </a:extLst>
          </p:cNvPr>
          <p:cNvSpPr txBox="1"/>
          <p:nvPr/>
        </p:nvSpPr>
        <p:spPr>
          <a:xfrm>
            <a:off x="2599747" y="5220935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10423CE-B1CD-7A99-00D6-1638E7A47C10}"/>
              </a:ext>
            </a:extLst>
          </p:cNvPr>
          <p:cNvSpPr txBox="1"/>
          <p:nvPr/>
        </p:nvSpPr>
        <p:spPr>
          <a:xfrm>
            <a:off x="3264760" y="5192211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B8DF179-8624-692A-A92A-5E6A89F5F2AA}"/>
              </a:ext>
            </a:extLst>
          </p:cNvPr>
          <p:cNvSpPr/>
          <p:nvPr/>
        </p:nvSpPr>
        <p:spPr>
          <a:xfrm>
            <a:off x="1247363" y="5577194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2A2FC91-105C-A7CA-2E07-B57CFCC24B23}"/>
              </a:ext>
            </a:extLst>
          </p:cNvPr>
          <p:cNvSpPr txBox="1"/>
          <p:nvPr/>
        </p:nvSpPr>
        <p:spPr>
          <a:xfrm rot="5400000">
            <a:off x="3744840" y="601185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548BFD4-CD33-BB52-7FB8-7E1EDC5EF7AA}"/>
              </a:ext>
            </a:extLst>
          </p:cNvPr>
          <p:cNvSpPr txBox="1"/>
          <p:nvPr/>
        </p:nvSpPr>
        <p:spPr>
          <a:xfrm rot="5400000">
            <a:off x="4040661" y="6276407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06A877E-DC12-6CF2-39E0-A61B658AC44B}"/>
              </a:ext>
            </a:extLst>
          </p:cNvPr>
          <p:cNvSpPr txBox="1"/>
          <p:nvPr/>
        </p:nvSpPr>
        <p:spPr>
          <a:xfrm rot="5400000">
            <a:off x="3898744" y="5761172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29BFDBE-574B-3CC1-E1C9-165479D84EF7}"/>
              </a:ext>
            </a:extLst>
          </p:cNvPr>
          <p:cNvSpPr/>
          <p:nvPr/>
        </p:nvSpPr>
        <p:spPr>
          <a:xfrm>
            <a:off x="1196109" y="5559175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C25D5AC-0F41-8A71-6E03-A1CE2A076D05}"/>
              </a:ext>
            </a:extLst>
          </p:cNvPr>
          <p:cNvSpPr txBox="1"/>
          <p:nvPr/>
        </p:nvSpPr>
        <p:spPr>
          <a:xfrm>
            <a:off x="1169830" y="5244826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F3165D-3DFD-EBCF-CA0D-BF7B49B21DC2}"/>
              </a:ext>
            </a:extLst>
          </p:cNvPr>
          <p:cNvSpPr txBox="1"/>
          <p:nvPr/>
        </p:nvSpPr>
        <p:spPr>
          <a:xfrm>
            <a:off x="6152153" y="536880"/>
            <a:ext cx="5769624" cy="64633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Step 3: Label and divide up the vertical sections to show the conditional uncertainties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02ED54-061B-375F-B74A-2F8EDCF7B17E}"/>
              </a:ext>
            </a:extLst>
          </p:cNvPr>
          <p:cNvSpPr/>
          <p:nvPr/>
        </p:nvSpPr>
        <p:spPr>
          <a:xfrm>
            <a:off x="6333423" y="2069432"/>
            <a:ext cx="5769624" cy="45922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6CD8FF-3596-5A7E-07F8-7E4B586A526B}"/>
              </a:ext>
            </a:extLst>
          </p:cNvPr>
          <p:cNvSpPr txBox="1"/>
          <p:nvPr/>
        </p:nvSpPr>
        <p:spPr>
          <a:xfrm>
            <a:off x="7847808" y="1074334"/>
            <a:ext cx="3155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a coup attempt would...?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3C5801-E7BD-AB41-61DA-6572E1FCF010}"/>
              </a:ext>
            </a:extLst>
          </p:cNvPr>
          <p:cNvSpPr txBox="1"/>
          <p:nvPr/>
        </p:nvSpPr>
        <p:spPr>
          <a:xfrm>
            <a:off x="8310011" y="1343480"/>
            <a:ext cx="1158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fail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064DF8-A8CD-BF0F-DB28-E517F7D49C25}"/>
              </a:ext>
            </a:extLst>
          </p:cNvPr>
          <p:cNvSpPr txBox="1"/>
          <p:nvPr/>
        </p:nvSpPr>
        <p:spPr>
          <a:xfrm>
            <a:off x="10848644" y="1286379"/>
            <a:ext cx="1158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succeed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30CAFAB-A677-4150-4EE4-AFFD69B79C30}"/>
              </a:ext>
            </a:extLst>
          </p:cNvPr>
          <p:cNvCxnSpPr>
            <a:cxnSpLocks/>
          </p:cNvCxnSpPr>
          <p:nvPr/>
        </p:nvCxnSpPr>
        <p:spPr>
          <a:xfrm>
            <a:off x="10875585" y="2081132"/>
            <a:ext cx="0" cy="45922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1DF9574-3B65-61E8-86BF-3C5DE6698082}"/>
                  </a:ext>
                </a:extLst>
              </p:cNvPr>
              <p:cNvSpPr txBox="1"/>
              <p:nvPr/>
            </p:nvSpPr>
            <p:spPr>
              <a:xfrm>
                <a:off x="11234935" y="1629138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1DF9574-3B65-61E8-86BF-3C5DE6698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4935" y="1629138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9763D42-91E7-1426-9873-52D39D95CCFB}"/>
                  </a:ext>
                </a:extLst>
              </p:cNvPr>
              <p:cNvSpPr txBox="1"/>
              <p:nvPr/>
            </p:nvSpPr>
            <p:spPr>
              <a:xfrm>
                <a:off x="8679541" y="1636191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9763D42-91E7-1426-9873-52D39D95C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9541" y="1636191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082DD6E6-5CC1-0269-3B23-8C67CD5141DB}"/>
              </a:ext>
            </a:extLst>
          </p:cNvPr>
          <p:cNvSpPr txBox="1"/>
          <p:nvPr/>
        </p:nvSpPr>
        <p:spPr>
          <a:xfrm rot="16200000">
            <a:off x="3824758" y="4113876"/>
            <a:ext cx="3933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/>
              <a:t>how well against an opposing military?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509CE48-B1D8-6E08-513D-5CDB1D64B343}"/>
              </a:ext>
            </a:extLst>
          </p:cNvPr>
          <p:cNvSpPr/>
          <p:nvPr/>
        </p:nvSpPr>
        <p:spPr>
          <a:xfrm>
            <a:off x="1196109" y="738989"/>
            <a:ext cx="3618686" cy="2077202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6E5D00-EE17-B4B9-73C9-166AA69BECB9}"/>
              </a:ext>
            </a:extLst>
          </p:cNvPr>
          <p:cNvSpPr/>
          <p:nvPr/>
        </p:nvSpPr>
        <p:spPr>
          <a:xfrm>
            <a:off x="10875585" y="2052074"/>
            <a:ext cx="1227460" cy="4584592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DDD2469-40E9-6CDB-C49F-B43008C75690}"/>
              </a:ext>
            </a:extLst>
          </p:cNvPr>
          <p:cNvCxnSpPr>
            <a:cxnSpLocks/>
          </p:cNvCxnSpPr>
          <p:nvPr/>
        </p:nvCxnSpPr>
        <p:spPr>
          <a:xfrm>
            <a:off x="10875585" y="4030642"/>
            <a:ext cx="122529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99D4755-EC78-1FA6-387E-6129635ACFBB}"/>
              </a:ext>
            </a:extLst>
          </p:cNvPr>
          <p:cNvCxnSpPr>
            <a:cxnSpLocks/>
          </p:cNvCxnSpPr>
          <p:nvPr/>
        </p:nvCxnSpPr>
        <p:spPr>
          <a:xfrm>
            <a:off x="10848644" y="5663156"/>
            <a:ext cx="122529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15613CC-9BF9-F564-A404-80D070DE8732}"/>
              </a:ext>
            </a:extLst>
          </p:cNvPr>
          <p:cNvCxnSpPr>
            <a:cxnSpLocks/>
          </p:cNvCxnSpPr>
          <p:nvPr/>
        </p:nvCxnSpPr>
        <p:spPr>
          <a:xfrm>
            <a:off x="10919021" y="6104668"/>
            <a:ext cx="122529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1221F82-6063-A0AA-75A7-DC29C913EC6A}"/>
              </a:ext>
            </a:extLst>
          </p:cNvPr>
          <p:cNvSpPr txBox="1"/>
          <p:nvPr/>
        </p:nvSpPr>
        <p:spPr>
          <a:xfrm>
            <a:off x="11158860" y="2394465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757BDAF-EDCE-4385-515C-7FEF633E4B5A}"/>
              </a:ext>
            </a:extLst>
          </p:cNvPr>
          <p:cNvSpPr txBox="1"/>
          <p:nvPr/>
        </p:nvSpPr>
        <p:spPr>
          <a:xfrm>
            <a:off x="11219119" y="5047429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7ED6D0-6B09-7E4E-324A-2348B44DB13F}"/>
              </a:ext>
            </a:extLst>
          </p:cNvPr>
          <p:cNvSpPr txBox="1"/>
          <p:nvPr/>
        </p:nvSpPr>
        <p:spPr>
          <a:xfrm rot="1710080">
            <a:off x="11335545" y="5738277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8015C7E-42FA-4568-55B0-1FFD77C54A83}"/>
              </a:ext>
            </a:extLst>
          </p:cNvPr>
          <p:cNvSpPr txBox="1"/>
          <p:nvPr/>
        </p:nvSpPr>
        <p:spPr>
          <a:xfrm rot="799147">
            <a:off x="11278798" y="6254243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02FBC6-E8F4-798D-255C-B75728245AA1}"/>
              </a:ext>
            </a:extLst>
          </p:cNvPr>
          <p:cNvSpPr txBox="1"/>
          <p:nvPr/>
        </p:nvSpPr>
        <p:spPr>
          <a:xfrm rot="20417560">
            <a:off x="2195030" y="2750196"/>
            <a:ext cx="1983252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i="1"/>
              <a:t>probabilities are proportions!!!!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DDB124E-E4BB-DE4C-9500-09D553AD71A4}"/>
                  </a:ext>
                </a:extLst>
              </p:cNvPr>
              <p:cNvSpPr txBox="1"/>
              <p:nvPr/>
            </p:nvSpPr>
            <p:spPr>
              <a:xfrm>
                <a:off x="10942909" y="6206515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DDB124E-E4BB-DE4C-9500-09D553AD7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2909" y="6206515"/>
                <a:ext cx="419100" cy="416781"/>
              </a:xfrm>
              <a:prstGeom prst="rect">
                <a:avLst/>
              </a:prstGeom>
              <a:blipFill>
                <a:blip r:embed="rId12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559690B-E54B-433A-B6DF-54350EFBB758}"/>
                  </a:ext>
                </a:extLst>
              </p:cNvPr>
              <p:cNvSpPr txBox="1"/>
              <p:nvPr/>
            </p:nvSpPr>
            <p:spPr>
              <a:xfrm>
                <a:off x="10912571" y="5700908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559690B-E54B-433A-B6DF-54350EFBB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2571" y="5700908"/>
                <a:ext cx="419100" cy="416781"/>
              </a:xfrm>
              <a:prstGeom prst="rect">
                <a:avLst/>
              </a:prstGeom>
              <a:blipFill>
                <a:blip r:embed="rId7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3FEF780-000F-22B3-9FF6-FCE6CD3976B7}"/>
                  </a:ext>
                </a:extLst>
              </p:cNvPr>
              <p:cNvSpPr txBox="1"/>
              <p:nvPr/>
            </p:nvSpPr>
            <p:spPr>
              <a:xfrm>
                <a:off x="11001657" y="4643746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3FEF780-000F-22B3-9FF6-FCE6CD397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1657" y="4643746"/>
                <a:ext cx="419100" cy="417358"/>
              </a:xfrm>
              <a:prstGeom prst="rect">
                <a:avLst/>
              </a:prstGeom>
              <a:blipFill>
                <a:blip r:embed="rId1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A8C4FBC-CE10-0396-1CC5-2BBEA92C1F3E}"/>
                  </a:ext>
                </a:extLst>
              </p:cNvPr>
              <p:cNvSpPr txBox="1"/>
              <p:nvPr/>
            </p:nvSpPr>
            <p:spPr>
              <a:xfrm>
                <a:off x="10947657" y="2923201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A8C4FBC-CE10-0396-1CC5-2BBEA92C1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7657" y="2923201"/>
                <a:ext cx="419100" cy="43056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52439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31BC5-4CD9-F724-6A47-38CA6CDD0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688719A-CA5D-C17C-90AD-781CF5B24F22}"/>
              </a:ext>
            </a:extLst>
          </p:cNvPr>
          <p:cNvCxnSpPr>
            <a:cxnSpLocks/>
          </p:cNvCxnSpPr>
          <p:nvPr/>
        </p:nvCxnSpPr>
        <p:spPr>
          <a:xfrm>
            <a:off x="1815229" y="5597734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3F6200E-A0EC-0952-F746-A2C9EA3BE143}"/>
              </a:ext>
            </a:extLst>
          </p:cNvPr>
          <p:cNvCxnSpPr>
            <a:cxnSpLocks/>
          </p:cNvCxnSpPr>
          <p:nvPr/>
        </p:nvCxnSpPr>
        <p:spPr>
          <a:xfrm>
            <a:off x="2601968" y="5572671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CFD1F30-B1AD-98C7-53B5-E8C48039DA10}"/>
              </a:ext>
            </a:extLst>
          </p:cNvPr>
          <p:cNvCxnSpPr>
            <a:cxnSpLocks/>
          </p:cNvCxnSpPr>
          <p:nvPr/>
        </p:nvCxnSpPr>
        <p:spPr>
          <a:xfrm>
            <a:off x="3388707" y="554760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D1F0C6A-1CFB-4470-1190-4CB226848D60}"/>
              </a:ext>
            </a:extLst>
          </p:cNvPr>
          <p:cNvCxnSpPr>
            <a:cxnSpLocks/>
          </p:cNvCxnSpPr>
          <p:nvPr/>
        </p:nvCxnSpPr>
        <p:spPr>
          <a:xfrm>
            <a:off x="1919474" y="1144512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E63608C-D1F2-6A23-24E3-E3391BD7A714}"/>
              </a:ext>
            </a:extLst>
          </p:cNvPr>
          <p:cNvCxnSpPr>
            <a:cxnSpLocks/>
          </p:cNvCxnSpPr>
          <p:nvPr/>
        </p:nvCxnSpPr>
        <p:spPr>
          <a:xfrm>
            <a:off x="2706213" y="1119449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67B943E-6315-BD44-B615-F76D7DD5D819}"/>
              </a:ext>
            </a:extLst>
          </p:cNvPr>
          <p:cNvCxnSpPr>
            <a:cxnSpLocks/>
          </p:cNvCxnSpPr>
          <p:nvPr/>
        </p:nvCxnSpPr>
        <p:spPr>
          <a:xfrm>
            <a:off x="3492952" y="109438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C14D7654-FE4C-D29C-00E4-B9D5F17BC60D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B612403-F758-0A00-D0A4-62316E72F32D}"/>
              </a:ext>
            </a:extLst>
          </p:cNvPr>
          <p:cNvCxnSpPr>
            <a:cxnSpLocks/>
          </p:cNvCxnSpPr>
          <p:nvPr/>
        </p:nvCxnSpPr>
        <p:spPr>
          <a:xfrm flipV="1">
            <a:off x="49545" y="1386604"/>
            <a:ext cx="1242557" cy="2325386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10D539E-1878-45A4-E6B1-27D1CF766492}"/>
              </a:ext>
            </a:extLst>
          </p:cNvPr>
          <p:cNvSpPr txBox="1"/>
          <p:nvPr/>
        </p:nvSpPr>
        <p:spPr>
          <a:xfrm rot="17851316">
            <a:off x="-726784" y="2245968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D35B1AA-5C84-5DA1-5F9A-53CC1CA978FD}"/>
              </a:ext>
            </a:extLst>
          </p:cNvPr>
          <p:cNvCxnSpPr>
            <a:cxnSpLocks/>
          </p:cNvCxnSpPr>
          <p:nvPr/>
        </p:nvCxnSpPr>
        <p:spPr>
          <a:xfrm>
            <a:off x="47916" y="3782075"/>
            <a:ext cx="1184502" cy="240474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F1B75CD-2634-86A5-D53B-035D5B067584}"/>
              </a:ext>
            </a:extLst>
          </p:cNvPr>
          <p:cNvSpPr txBox="1"/>
          <p:nvPr/>
        </p:nvSpPr>
        <p:spPr>
          <a:xfrm rot="3887054">
            <a:off x="-994915" y="5509268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F8A5BBB-C844-9AFF-706D-B127BC028E49}"/>
                  </a:ext>
                </a:extLst>
              </p:cNvPr>
              <p:cNvSpPr txBox="1"/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F8A5BBB-C844-9AFF-706D-B127BC028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FBAF6A-70C2-E065-E8FC-FE30DD8766CF}"/>
                  </a:ext>
                </a:extLst>
              </p:cNvPr>
              <p:cNvSpPr txBox="1"/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FBAF6A-70C2-E065-E8FC-FE30DD876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3EF504B-CE04-5D0F-65E7-E7F29C6C794E}"/>
              </a:ext>
            </a:extLst>
          </p:cNvPr>
          <p:cNvSpPr txBox="1"/>
          <p:nvPr/>
        </p:nvSpPr>
        <p:spPr>
          <a:xfrm>
            <a:off x="737080" y="49071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97C9BC-8AFC-738F-019F-C55434507C62}"/>
              </a:ext>
            </a:extLst>
          </p:cNvPr>
          <p:cNvSpPr txBox="1"/>
          <p:nvPr/>
        </p:nvSpPr>
        <p:spPr>
          <a:xfrm>
            <a:off x="1819204" y="62921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C85F83-11EB-BC1E-E0C4-874CD934091E}"/>
              </a:ext>
            </a:extLst>
          </p:cNvPr>
          <p:cNvSpPr txBox="1"/>
          <p:nvPr/>
        </p:nvSpPr>
        <p:spPr>
          <a:xfrm>
            <a:off x="2703992" y="767713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932FC4-5006-DC61-6DCC-D37AB813DC2F}"/>
              </a:ext>
            </a:extLst>
          </p:cNvPr>
          <p:cNvSpPr txBox="1"/>
          <p:nvPr/>
        </p:nvSpPr>
        <p:spPr>
          <a:xfrm>
            <a:off x="3369005" y="738989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CA419E-BC1C-6023-979D-4F1CF0318AAA}"/>
              </a:ext>
            </a:extLst>
          </p:cNvPr>
          <p:cNvSpPr/>
          <p:nvPr/>
        </p:nvSpPr>
        <p:spPr>
          <a:xfrm>
            <a:off x="1351608" y="1123972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352D24-04F2-7685-702C-07A43A8ECAC8}"/>
              </a:ext>
            </a:extLst>
          </p:cNvPr>
          <p:cNvSpPr txBox="1"/>
          <p:nvPr/>
        </p:nvSpPr>
        <p:spPr>
          <a:xfrm rot="5400000">
            <a:off x="3849085" y="1558632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144019-B5EC-A269-D754-0E87E4053C67}"/>
              </a:ext>
            </a:extLst>
          </p:cNvPr>
          <p:cNvSpPr txBox="1"/>
          <p:nvPr/>
        </p:nvSpPr>
        <p:spPr>
          <a:xfrm rot="5400000">
            <a:off x="4144906" y="182318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0CCD0E-E163-0B9B-1ABB-C538A70E9244}"/>
              </a:ext>
            </a:extLst>
          </p:cNvPr>
          <p:cNvSpPr txBox="1"/>
          <p:nvPr/>
        </p:nvSpPr>
        <p:spPr>
          <a:xfrm rot="5400000">
            <a:off x="4002989" y="1307950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526BBA-EAD3-AF26-E37E-EC9F6252E33B}"/>
              </a:ext>
            </a:extLst>
          </p:cNvPr>
          <p:cNvSpPr/>
          <p:nvPr/>
        </p:nvSpPr>
        <p:spPr>
          <a:xfrm>
            <a:off x="1343356" y="1656741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8C46694-1294-38FB-A410-01A8AD9D949B}"/>
                  </a:ext>
                </a:extLst>
              </p:cNvPr>
              <p:cNvSpPr txBox="1"/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8C46694-1294-38FB-A410-01A8AD9D9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D77D16-2A0C-47AC-2024-C0A1B7582BFA}"/>
                  </a:ext>
                </a:extLst>
              </p:cNvPr>
              <p:cNvSpPr txBox="1"/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D77D16-2A0C-47AC-2024-C0A1B7582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37FE63F-0E99-246F-A701-5948F363F98B}"/>
                  </a:ext>
                </a:extLst>
              </p:cNvPr>
              <p:cNvSpPr txBox="1"/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37FE63F-0E99-246F-A701-5948F363F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C7BC0DD-923A-6753-5B2D-BFDDA0659556}"/>
                  </a:ext>
                </a:extLst>
              </p:cNvPr>
              <p:cNvSpPr txBox="1"/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C7BC0DD-923A-6753-5B2D-BFDDA0659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blipFill>
                <a:blip r:embed="rId7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7F81B90-2226-D5CA-4A7C-C70D5DD3131E}"/>
                  </a:ext>
                </a:extLst>
              </p:cNvPr>
              <p:cNvSpPr txBox="1"/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7F81B90-2226-D5CA-4A7C-C70D5DD31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8B9DD76-2E22-F7F0-1555-2135EF75BC5E}"/>
                  </a:ext>
                </a:extLst>
              </p:cNvPr>
              <p:cNvSpPr txBox="1"/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8B9DD76-2E22-F7F0-1555-2135EF75B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blipFill>
                <a:blip r:embed="rId9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0E83765-B4CC-288F-8DE2-E54431577FB7}"/>
                  </a:ext>
                </a:extLst>
              </p:cNvPr>
              <p:cNvSpPr txBox="1"/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0E83765-B4CC-288F-8DE2-E54431577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blipFill>
                <a:blip r:embed="rId10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00863BE-EBF5-A15B-B6FA-0EEBF99C181B}"/>
                  </a:ext>
                </a:extLst>
              </p:cNvPr>
              <p:cNvSpPr txBox="1"/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00863BE-EBF5-A15B-B6FA-0EEBF99C1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5E3F495C-0854-5E74-2954-71C01083AD91}"/>
              </a:ext>
            </a:extLst>
          </p:cNvPr>
          <p:cNvSpPr txBox="1"/>
          <p:nvPr/>
        </p:nvSpPr>
        <p:spPr>
          <a:xfrm>
            <a:off x="1274075" y="791604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9A74825-F845-46F3-08D8-B2E9309523F8}"/>
              </a:ext>
            </a:extLst>
          </p:cNvPr>
          <p:cNvSpPr txBox="1"/>
          <p:nvPr/>
        </p:nvSpPr>
        <p:spPr>
          <a:xfrm>
            <a:off x="632835" y="4943937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005305A-F71F-095B-803B-6D92D58BB15F}"/>
              </a:ext>
            </a:extLst>
          </p:cNvPr>
          <p:cNvSpPr txBox="1"/>
          <p:nvPr/>
        </p:nvSpPr>
        <p:spPr>
          <a:xfrm>
            <a:off x="1714959" y="5082436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B603A9-B45C-EC9E-4250-55527E8177A6}"/>
              </a:ext>
            </a:extLst>
          </p:cNvPr>
          <p:cNvSpPr txBox="1"/>
          <p:nvPr/>
        </p:nvSpPr>
        <p:spPr>
          <a:xfrm>
            <a:off x="2599747" y="5220935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60330A8-D529-5C56-6182-0ECBA8BE34E4}"/>
              </a:ext>
            </a:extLst>
          </p:cNvPr>
          <p:cNvSpPr txBox="1"/>
          <p:nvPr/>
        </p:nvSpPr>
        <p:spPr>
          <a:xfrm>
            <a:off x="3264760" y="5192211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3CCD1D1-99FB-9180-8FA7-CEAE4AF18E73}"/>
              </a:ext>
            </a:extLst>
          </p:cNvPr>
          <p:cNvSpPr/>
          <p:nvPr/>
        </p:nvSpPr>
        <p:spPr>
          <a:xfrm>
            <a:off x="1247363" y="5577194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09ABF7A-26AB-86A0-7B3F-989567C0D458}"/>
              </a:ext>
            </a:extLst>
          </p:cNvPr>
          <p:cNvSpPr txBox="1"/>
          <p:nvPr/>
        </p:nvSpPr>
        <p:spPr>
          <a:xfrm rot="5400000">
            <a:off x="3744840" y="601185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73B8047-F4CB-FC26-9E25-D8B2D9470496}"/>
              </a:ext>
            </a:extLst>
          </p:cNvPr>
          <p:cNvSpPr txBox="1"/>
          <p:nvPr/>
        </p:nvSpPr>
        <p:spPr>
          <a:xfrm rot="5400000">
            <a:off x="4040661" y="6276407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4C785A4-11F1-7769-F967-92F55DB3CEA0}"/>
              </a:ext>
            </a:extLst>
          </p:cNvPr>
          <p:cNvSpPr txBox="1"/>
          <p:nvPr/>
        </p:nvSpPr>
        <p:spPr>
          <a:xfrm rot="5400000">
            <a:off x="3898744" y="5761172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0D850C8-517D-409B-493D-22C1E4397DD2}"/>
              </a:ext>
            </a:extLst>
          </p:cNvPr>
          <p:cNvSpPr/>
          <p:nvPr/>
        </p:nvSpPr>
        <p:spPr>
          <a:xfrm>
            <a:off x="1196109" y="5559175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58E5AC0-55D4-CD2F-49C7-80B265A9BDF2}"/>
              </a:ext>
            </a:extLst>
          </p:cNvPr>
          <p:cNvSpPr txBox="1"/>
          <p:nvPr/>
        </p:nvSpPr>
        <p:spPr>
          <a:xfrm>
            <a:off x="1169830" y="5244826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ED76AC-979A-579D-CAE5-DD7A18860D77}"/>
              </a:ext>
            </a:extLst>
          </p:cNvPr>
          <p:cNvSpPr txBox="1"/>
          <p:nvPr/>
        </p:nvSpPr>
        <p:spPr>
          <a:xfrm>
            <a:off x="6152153" y="536880"/>
            <a:ext cx="5769624" cy="64633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Step 3: Label and divide up the vertical sections to show the conditional uncertainties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2A266C-3CB1-C8D9-3367-FB62017F8314}"/>
              </a:ext>
            </a:extLst>
          </p:cNvPr>
          <p:cNvSpPr/>
          <p:nvPr/>
        </p:nvSpPr>
        <p:spPr>
          <a:xfrm>
            <a:off x="6333423" y="2069432"/>
            <a:ext cx="5769624" cy="45922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43D411-75EB-1E16-46B8-FEB62969959B}"/>
              </a:ext>
            </a:extLst>
          </p:cNvPr>
          <p:cNvSpPr txBox="1"/>
          <p:nvPr/>
        </p:nvSpPr>
        <p:spPr>
          <a:xfrm>
            <a:off x="7847808" y="1074334"/>
            <a:ext cx="3155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a coup attempt would...?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D0B2F2-BB01-4E88-FB10-4374D985353F}"/>
              </a:ext>
            </a:extLst>
          </p:cNvPr>
          <p:cNvSpPr txBox="1"/>
          <p:nvPr/>
        </p:nvSpPr>
        <p:spPr>
          <a:xfrm>
            <a:off x="8310011" y="1343480"/>
            <a:ext cx="1158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fail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EFF0EA-D617-7D1E-DF56-E2973180E9B3}"/>
              </a:ext>
            </a:extLst>
          </p:cNvPr>
          <p:cNvSpPr txBox="1"/>
          <p:nvPr/>
        </p:nvSpPr>
        <p:spPr>
          <a:xfrm>
            <a:off x="10848644" y="1286379"/>
            <a:ext cx="1158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succeed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EDC6EAF-CA4F-C3EF-D087-951615C4F248}"/>
              </a:ext>
            </a:extLst>
          </p:cNvPr>
          <p:cNvCxnSpPr>
            <a:cxnSpLocks/>
          </p:cNvCxnSpPr>
          <p:nvPr/>
        </p:nvCxnSpPr>
        <p:spPr>
          <a:xfrm>
            <a:off x="10875585" y="2081132"/>
            <a:ext cx="0" cy="45922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2D6A89B-9500-867F-AEF6-1051FFCB1470}"/>
                  </a:ext>
                </a:extLst>
              </p:cNvPr>
              <p:cNvSpPr txBox="1"/>
              <p:nvPr/>
            </p:nvSpPr>
            <p:spPr>
              <a:xfrm>
                <a:off x="11234935" y="1629138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2D6A89B-9500-867F-AEF6-1051FFCB1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4935" y="1629138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D70C28E-FF59-55DB-F463-D5BAF38507C0}"/>
                  </a:ext>
                </a:extLst>
              </p:cNvPr>
              <p:cNvSpPr txBox="1"/>
              <p:nvPr/>
            </p:nvSpPr>
            <p:spPr>
              <a:xfrm>
                <a:off x="8679541" y="1636191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D70C28E-FF59-55DB-F463-D5BAF3850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9541" y="1636191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148B3186-2FD7-1590-009E-9AB0138D6C58}"/>
              </a:ext>
            </a:extLst>
          </p:cNvPr>
          <p:cNvSpPr txBox="1"/>
          <p:nvPr/>
        </p:nvSpPr>
        <p:spPr>
          <a:xfrm rot="16200000">
            <a:off x="3824758" y="4113876"/>
            <a:ext cx="3933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/>
              <a:t>how well against an opposing military?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7E9255D-EEC1-EDA8-73F2-CFFE58ECC169}"/>
              </a:ext>
            </a:extLst>
          </p:cNvPr>
          <p:cNvSpPr/>
          <p:nvPr/>
        </p:nvSpPr>
        <p:spPr>
          <a:xfrm>
            <a:off x="947975" y="4754122"/>
            <a:ext cx="3618686" cy="2077202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FBE1EF4-1161-3325-80EC-C45AE10FD1BB}"/>
              </a:ext>
            </a:extLst>
          </p:cNvPr>
          <p:cNvCxnSpPr>
            <a:cxnSpLocks/>
          </p:cNvCxnSpPr>
          <p:nvPr/>
        </p:nvCxnSpPr>
        <p:spPr>
          <a:xfrm>
            <a:off x="10875585" y="4030642"/>
            <a:ext cx="122529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00F5F90-F8C6-3F61-E444-979FC14C9C6B}"/>
              </a:ext>
            </a:extLst>
          </p:cNvPr>
          <p:cNvCxnSpPr>
            <a:cxnSpLocks/>
          </p:cNvCxnSpPr>
          <p:nvPr/>
        </p:nvCxnSpPr>
        <p:spPr>
          <a:xfrm>
            <a:off x="10848644" y="5663156"/>
            <a:ext cx="122529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526D833-E634-B46B-9FDF-AA11697CA98E}"/>
              </a:ext>
            </a:extLst>
          </p:cNvPr>
          <p:cNvCxnSpPr>
            <a:cxnSpLocks/>
          </p:cNvCxnSpPr>
          <p:nvPr/>
        </p:nvCxnSpPr>
        <p:spPr>
          <a:xfrm>
            <a:off x="10919021" y="6104668"/>
            <a:ext cx="122529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A6A296A0-55FA-0AEA-7F13-5250E29076BD}"/>
              </a:ext>
            </a:extLst>
          </p:cNvPr>
          <p:cNvSpPr txBox="1"/>
          <p:nvPr/>
        </p:nvSpPr>
        <p:spPr>
          <a:xfrm>
            <a:off x="11158860" y="2394465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C936E51-E617-D1E2-F5D9-B87DBCB821C8}"/>
              </a:ext>
            </a:extLst>
          </p:cNvPr>
          <p:cNvSpPr txBox="1"/>
          <p:nvPr/>
        </p:nvSpPr>
        <p:spPr>
          <a:xfrm>
            <a:off x="11219119" y="5047429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24547B8-F03B-BD3E-B168-2EAF5F020393}"/>
              </a:ext>
            </a:extLst>
          </p:cNvPr>
          <p:cNvSpPr txBox="1"/>
          <p:nvPr/>
        </p:nvSpPr>
        <p:spPr>
          <a:xfrm rot="1710080">
            <a:off x="11335545" y="5738277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B0DEAF2-2E8D-1B4D-0866-A8601B094260}"/>
              </a:ext>
            </a:extLst>
          </p:cNvPr>
          <p:cNvSpPr txBox="1"/>
          <p:nvPr/>
        </p:nvSpPr>
        <p:spPr>
          <a:xfrm rot="799147">
            <a:off x="11278798" y="6254243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405AAFB-512B-5ED1-3DA7-F1E21DCE28A0}"/>
                  </a:ext>
                </a:extLst>
              </p:cNvPr>
              <p:cNvSpPr txBox="1"/>
              <p:nvPr/>
            </p:nvSpPr>
            <p:spPr>
              <a:xfrm>
                <a:off x="10942909" y="6206515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405AAFB-512B-5ED1-3DA7-F1E21DCE2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2909" y="6206515"/>
                <a:ext cx="419100" cy="416781"/>
              </a:xfrm>
              <a:prstGeom prst="rect">
                <a:avLst/>
              </a:prstGeom>
              <a:blipFill>
                <a:blip r:embed="rId12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3DBBABD-B064-1A2E-937A-0784F522EAB7}"/>
                  </a:ext>
                </a:extLst>
              </p:cNvPr>
              <p:cNvSpPr txBox="1"/>
              <p:nvPr/>
            </p:nvSpPr>
            <p:spPr>
              <a:xfrm>
                <a:off x="10912571" y="5700908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3DBBABD-B064-1A2E-937A-0784F522EA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2571" y="5700908"/>
                <a:ext cx="419100" cy="416781"/>
              </a:xfrm>
              <a:prstGeom prst="rect">
                <a:avLst/>
              </a:prstGeom>
              <a:blipFill>
                <a:blip r:embed="rId7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1FC468D-1FA0-A569-2365-2F1A30D40D3D}"/>
                  </a:ext>
                </a:extLst>
              </p:cNvPr>
              <p:cNvSpPr txBox="1"/>
              <p:nvPr/>
            </p:nvSpPr>
            <p:spPr>
              <a:xfrm>
                <a:off x="11001657" y="4643746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1FC468D-1FA0-A569-2365-2F1A30D40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1657" y="4643746"/>
                <a:ext cx="419100" cy="417358"/>
              </a:xfrm>
              <a:prstGeom prst="rect">
                <a:avLst/>
              </a:prstGeom>
              <a:blipFill>
                <a:blip r:embed="rId1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C0096C1-4294-C003-8E1E-E373CFEEBB64}"/>
                  </a:ext>
                </a:extLst>
              </p:cNvPr>
              <p:cNvSpPr txBox="1"/>
              <p:nvPr/>
            </p:nvSpPr>
            <p:spPr>
              <a:xfrm>
                <a:off x="10947657" y="2923201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C0096C1-4294-C003-8E1E-E373CFEEB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7657" y="2923201"/>
                <a:ext cx="419100" cy="43056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894155A-94E5-D748-C29D-494811F609E5}"/>
              </a:ext>
            </a:extLst>
          </p:cNvPr>
          <p:cNvCxnSpPr>
            <a:cxnSpLocks/>
          </p:cNvCxnSpPr>
          <p:nvPr/>
        </p:nvCxnSpPr>
        <p:spPr>
          <a:xfrm>
            <a:off x="6333423" y="4431155"/>
            <a:ext cx="451522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A48E126-1D53-634B-79C3-F6BAA0A98B6E}"/>
              </a:ext>
            </a:extLst>
          </p:cNvPr>
          <p:cNvCxnSpPr>
            <a:cxnSpLocks/>
          </p:cNvCxnSpPr>
          <p:nvPr/>
        </p:nvCxnSpPr>
        <p:spPr>
          <a:xfrm>
            <a:off x="6322778" y="5749344"/>
            <a:ext cx="452586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54C7E7C5-643B-087B-B5C9-A804806CD3F2}"/>
              </a:ext>
            </a:extLst>
          </p:cNvPr>
          <p:cNvSpPr txBox="1"/>
          <p:nvPr/>
        </p:nvSpPr>
        <p:spPr>
          <a:xfrm>
            <a:off x="7622166" y="2623354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2EE457D-243B-712E-0280-4B0AA8E28CDE}"/>
                  </a:ext>
                </a:extLst>
              </p:cNvPr>
              <p:cNvSpPr txBox="1"/>
              <p:nvPr/>
            </p:nvSpPr>
            <p:spPr>
              <a:xfrm>
                <a:off x="6469520" y="2983871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2EE457D-243B-712E-0280-4B0AA8E28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520" y="2983871"/>
                <a:ext cx="419100" cy="4305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0E2D648A-0576-DAB7-0B75-BD26A0C02576}"/>
              </a:ext>
            </a:extLst>
          </p:cNvPr>
          <p:cNvSpPr txBox="1"/>
          <p:nvPr/>
        </p:nvSpPr>
        <p:spPr>
          <a:xfrm>
            <a:off x="7768670" y="4517343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97DA9AD-DAD8-B53B-C8B4-4E36C6CA425D}"/>
                  </a:ext>
                </a:extLst>
              </p:cNvPr>
              <p:cNvSpPr txBox="1"/>
              <p:nvPr/>
            </p:nvSpPr>
            <p:spPr>
              <a:xfrm>
                <a:off x="6422397" y="4787776"/>
                <a:ext cx="419100" cy="41575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97DA9AD-DAD8-B53B-C8B4-4E36C6CA4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397" y="4787776"/>
                <a:ext cx="419100" cy="415755"/>
              </a:xfrm>
              <a:prstGeom prst="rect">
                <a:avLst/>
              </a:prstGeom>
              <a:blipFill>
                <a:blip r:embed="rId1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TextBox 76">
            <a:extLst>
              <a:ext uri="{FF2B5EF4-FFF2-40B4-BE49-F238E27FC236}">
                <a16:creationId xmlns:a16="http://schemas.microsoft.com/office/drawing/2014/main" id="{C2AFC601-C8D8-DCA0-EDBF-6305738C347D}"/>
              </a:ext>
            </a:extLst>
          </p:cNvPr>
          <p:cNvSpPr txBox="1"/>
          <p:nvPr/>
        </p:nvSpPr>
        <p:spPr>
          <a:xfrm rot="21396607">
            <a:off x="7890938" y="6024565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34C8AB1-B66E-B559-B48C-35F5C889186A}"/>
                  </a:ext>
                </a:extLst>
              </p:cNvPr>
              <p:cNvSpPr txBox="1"/>
              <p:nvPr/>
            </p:nvSpPr>
            <p:spPr>
              <a:xfrm>
                <a:off x="6579400" y="5998124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34C8AB1-B66E-B559-B48C-35F5C8891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9400" y="5998124"/>
                <a:ext cx="419100" cy="416781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348393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AB602-658C-B745-3F42-F1F16AF3E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AFF7BA9-39F5-D8EC-29AC-DDA6A6E685E6}"/>
              </a:ext>
            </a:extLst>
          </p:cNvPr>
          <p:cNvCxnSpPr>
            <a:cxnSpLocks/>
          </p:cNvCxnSpPr>
          <p:nvPr/>
        </p:nvCxnSpPr>
        <p:spPr>
          <a:xfrm>
            <a:off x="1815229" y="5597734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48AB5D7-FB94-B88B-E7BF-66FD82991940}"/>
              </a:ext>
            </a:extLst>
          </p:cNvPr>
          <p:cNvCxnSpPr>
            <a:cxnSpLocks/>
          </p:cNvCxnSpPr>
          <p:nvPr/>
        </p:nvCxnSpPr>
        <p:spPr>
          <a:xfrm>
            <a:off x="2601968" y="5572671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504BCCF-9A8E-4DEB-F33F-A2A62941B59A}"/>
              </a:ext>
            </a:extLst>
          </p:cNvPr>
          <p:cNvCxnSpPr>
            <a:cxnSpLocks/>
          </p:cNvCxnSpPr>
          <p:nvPr/>
        </p:nvCxnSpPr>
        <p:spPr>
          <a:xfrm>
            <a:off x="3388707" y="5547608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6C3535B-DE1F-0742-6AA4-ECC925DEAF5E}"/>
              </a:ext>
            </a:extLst>
          </p:cNvPr>
          <p:cNvCxnSpPr>
            <a:cxnSpLocks/>
          </p:cNvCxnSpPr>
          <p:nvPr/>
        </p:nvCxnSpPr>
        <p:spPr>
          <a:xfrm>
            <a:off x="1919474" y="1144512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CD153C0-F21F-7F00-A403-CE6A8726FBCD}"/>
              </a:ext>
            </a:extLst>
          </p:cNvPr>
          <p:cNvCxnSpPr>
            <a:cxnSpLocks/>
          </p:cNvCxnSpPr>
          <p:nvPr/>
        </p:nvCxnSpPr>
        <p:spPr>
          <a:xfrm>
            <a:off x="2706213" y="1119449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E3B7F0C-0465-C331-4BB6-4819843B4C6E}"/>
              </a:ext>
            </a:extLst>
          </p:cNvPr>
          <p:cNvCxnSpPr>
            <a:cxnSpLocks/>
          </p:cNvCxnSpPr>
          <p:nvPr/>
        </p:nvCxnSpPr>
        <p:spPr>
          <a:xfrm>
            <a:off x="3492952" y="1094386"/>
            <a:ext cx="0" cy="1063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3EA81EB0-0DF3-4746-E021-2038D8385816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FDDE000-DB2C-1C5B-0E49-D4A83F3739D9}"/>
              </a:ext>
            </a:extLst>
          </p:cNvPr>
          <p:cNvCxnSpPr>
            <a:cxnSpLocks/>
          </p:cNvCxnSpPr>
          <p:nvPr/>
        </p:nvCxnSpPr>
        <p:spPr>
          <a:xfrm flipV="1">
            <a:off x="49545" y="1386604"/>
            <a:ext cx="1242557" cy="2325386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79BE21E-A99C-E3AB-F62D-8197B8D34997}"/>
              </a:ext>
            </a:extLst>
          </p:cNvPr>
          <p:cNvSpPr txBox="1"/>
          <p:nvPr/>
        </p:nvSpPr>
        <p:spPr>
          <a:xfrm rot="17851316">
            <a:off x="-726784" y="2245968"/>
            <a:ext cx="249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succeed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FB5CDE-F80E-ACF1-7CE2-B2F299D2E697}"/>
              </a:ext>
            </a:extLst>
          </p:cNvPr>
          <p:cNvCxnSpPr>
            <a:cxnSpLocks/>
          </p:cNvCxnSpPr>
          <p:nvPr/>
        </p:nvCxnSpPr>
        <p:spPr>
          <a:xfrm>
            <a:off x="47916" y="3782075"/>
            <a:ext cx="1184502" cy="240474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69DE2F9-A3BF-7953-1278-0BAFFFBF44EF}"/>
              </a:ext>
            </a:extLst>
          </p:cNvPr>
          <p:cNvSpPr txBox="1"/>
          <p:nvPr/>
        </p:nvSpPr>
        <p:spPr>
          <a:xfrm rot="3887054">
            <a:off x="-994915" y="5509268"/>
            <a:ext cx="3463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attempted coup would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16E4643-EA34-507F-E44B-8628238A30BA}"/>
                  </a:ext>
                </a:extLst>
              </p:cNvPr>
              <p:cNvSpPr txBox="1"/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16E4643-EA34-507F-E44B-8628238A3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342" y="886529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5C9D1A-ED7E-D83D-9D62-A5C2E84DDF03}"/>
                  </a:ext>
                </a:extLst>
              </p:cNvPr>
              <p:cNvSpPr txBox="1"/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5C9D1A-ED7E-D83D-9D62-A5C2E84DDF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60" y="6019504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05DE5D5-A7A6-417B-57CE-629B27CDB9E0}"/>
              </a:ext>
            </a:extLst>
          </p:cNvPr>
          <p:cNvSpPr txBox="1"/>
          <p:nvPr/>
        </p:nvSpPr>
        <p:spPr>
          <a:xfrm>
            <a:off x="737080" y="490715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76DD87-79A9-796D-3961-BE98B75FD5D7}"/>
              </a:ext>
            </a:extLst>
          </p:cNvPr>
          <p:cNvSpPr txBox="1"/>
          <p:nvPr/>
        </p:nvSpPr>
        <p:spPr>
          <a:xfrm>
            <a:off x="1819204" y="629214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90B871-F539-4CAA-0DE4-7F80644A19D5}"/>
              </a:ext>
            </a:extLst>
          </p:cNvPr>
          <p:cNvSpPr txBox="1"/>
          <p:nvPr/>
        </p:nvSpPr>
        <p:spPr>
          <a:xfrm>
            <a:off x="2703992" y="767713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FA0534-92D7-AA46-28BE-18CAA8A28598}"/>
              </a:ext>
            </a:extLst>
          </p:cNvPr>
          <p:cNvSpPr txBox="1"/>
          <p:nvPr/>
        </p:nvSpPr>
        <p:spPr>
          <a:xfrm>
            <a:off x="3369005" y="738989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DB037C-8E57-CCA3-B067-BEAC1D1E16C7}"/>
              </a:ext>
            </a:extLst>
          </p:cNvPr>
          <p:cNvSpPr/>
          <p:nvPr/>
        </p:nvSpPr>
        <p:spPr>
          <a:xfrm>
            <a:off x="1351608" y="1123972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A7B704-B89A-BF36-38B3-0CB35E28C700}"/>
              </a:ext>
            </a:extLst>
          </p:cNvPr>
          <p:cNvSpPr txBox="1"/>
          <p:nvPr/>
        </p:nvSpPr>
        <p:spPr>
          <a:xfrm rot="5400000">
            <a:off x="3849085" y="1558632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0790EF-9386-7D01-2C80-655A9DA9A6F6}"/>
              </a:ext>
            </a:extLst>
          </p:cNvPr>
          <p:cNvSpPr txBox="1"/>
          <p:nvPr/>
        </p:nvSpPr>
        <p:spPr>
          <a:xfrm rot="5400000">
            <a:off x="4144906" y="1823185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23411A-67CD-8E2A-E63D-FDC67FD44978}"/>
              </a:ext>
            </a:extLst>
          </p:cNvPr>
          <p:cNvSpPr txBox="1"/>
          <p:nvPr/>
        </p:nvSpPr>
        <p:spPr>
          <a:xfrm rot="5400000">
            <a:off x="4002989" y="1307950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F8A908-30F4-358B-07D7-AD0A639C2111}"/>
              </a:ext>
            </a:extLst>
          </p:cNvPr>
          <p:cNvSpPr/>
          <p:nvPr/>
        </p:nvSpPr>
        <p:spPr>
          <a:xfrm>
            <a:off x="1343356" y="1656741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FCCCE3E-1243-1B73-7D54-65376E03145A}"/>
                  </a:ext>
                </a:extLst>
              </p:cNvPr>
              <p:cNvSpPr txBox="1"/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FCCCE3E-1243-1B73-7D54-65376E0314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373" y="1169664"/>
                <a:ext cx="419100" cy="4305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2785E59-AD84-60A6-8CFC-84821C64845E}"/>
                  </a:ext>
                </a:extLst>
              </p:cNvPr>
              <p:cNvSpPr txBox="1"/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2785E59-AD84-60A6-8CFC-84821C648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309" y="1208417"/>
                <a:ext cx="419100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911127B-4EA4-1D33-2104-EBFB6A455203}"/>
                  </a:ext>
                </a:extLst>
              </p:cNvPr>
              <p:cNvSpPr txBox="1"/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911127B-4EA4-1D33-2104-EBFB6A455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176" y="1192236"/>
                <a:ext cx="419100" cy="416781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3EF270-6661-5976-8381-0E4346B989AC}"/>
                  </a:ext>
                </a:extLst>
              </p:cNvPr>
              <p:cNvSpPr txBox="1"/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3EF270-6661-5976-8381-0E4346B98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464" y="1203485"/>
                <a:ext cx="419100" cy="416781"/>
              </a:xfrm>
              <a:prstGeom prst="rect">
                <a:avLst/>
              </a:prstGeom>
              <a:blipFill>
                <a:blip r:embed="rId7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2CB4433-4539-32CE-A69B-CF74239544EA}"/>
                  </a:ext>
                </a:extLst>
              </p:cNvPr>
              <p:cNvSpPr txBox="1"/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2CB4433-4539-32CE-A69B-CF7423954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457" y="6165855"/>
                <a:ext cx="419100" cy="4305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0BD9556-1803-0FD8-F9A3-30E3DDEEEE85}"/>
                  </a:ext>
                </a:extLst>
              </p:cNvPr>
              <p:cNvSpPr txBox="1"/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0BD9556-1803-0FD8-F9A3-30E3DDEEE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708" y="6195499"/>
                <a:ext cx="419100" cy="415755"/>
              </a:xfrm>
              <a:prstGeom prst="rect">
                <a:avLst/>
              </a:prstGeom>
              <a:blipFill>
                <a:blip r:embed="rId9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1BDEA82-1D98-E7A4-87DE-8EFE08144641}"/>
                  </a:ext>
                </a:extLst>
              </p:cNvPr>
              <p:cNvSpPr txBox="1"/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1BDEA82-1D98-E7A4-87DE-8EFE08144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106" y="6145692"/>
                <a:ext cx="419100" cy="416781"/>
              </a:xfrm>
              <a:prstGeom prst="rect">
                <a:avLst/>
              </a:prstGeom>
              <a:blipFill>
                <a:blip r:embed="rId10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618A15A-99BE-5BEA-0A81-6DF8BAB6F498}"/>
                  </a:ext>
                </a:extLst>
              </p:cNvPr>
              <p:cNvSpPr txBox="1"/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618A15A-99BE-5BEA-0A81-6DF8BAB6F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171" y="6155076"/>
                <a:ext cx="4191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4BC8263F-B8F3-ADD8-4223-6C126E8DCF99}"/>
              </a:ext>
            </a:extLst>
          </p:cNvPr>
          <p:cNvSpPr txBox="1"/>
          <p:nvPr/>
        </p:nvSpPr>
        <p:spPr>
          <a:xfrm>
            <a:off x="1274075" y="791604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EFD5F42-2B8A-5971-B370-A1BE3DBEECB7}"/>
              </a:ext>
            </a:extLst>
          </p:cNvPr>
          <p:cNvSpPr txBox="1"/>
          <p:nvPr/>
        </p:nvSpPr>
        <p:spPr>
          <a:xfrm>
            <a:off x="632835" y="4943937"/>
            <a:ext cx="3933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how well against an opposing military?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C2C5274-3223-BA58-6F68-29D5D4E598B4}"/>
              </a:ext>
            </a:extLst>
          </p:cNvPr>
          <p:cNvSpPr txBox="1"/>
          <p:nvPr/>
        </p:nvSpPr>
        <p:spPr>
          <a:xfrm>
            <a:off x="1714959" y="5082436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E159BF5-85AC-008C-44B2-E5BE7181516C}"/>
              </a:ext>
            </a:extLst>
          </p:cNvPr>
          <p:cNvSpPr txBox="1"/>
          <p:nvPr/>
        </p:nvSpPr>
        <p:spPr>
          <a:xfrm>
            <a:off x="2599747" y="5220935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B35938D-C036-D78A-1A99-A492AF25205D}"/>
              </a:ext>
            </a:extLst>
          </p:cNvPr>
          <p:cNvSpPr txBox="1"/>
          <p:nvPr/>
        </p:nvSpPr>
        <p:spPr>
          <a:xfrm>
            <a:off x="3264760" y="5192211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0FA0C30-1935-EEF6-39A9-F57D40265264}"/>
              </a:ext>
            </a:extLst>
          </p:cNvPr>
          <p:cNvSpPr/>
          <p:nvPr/>
        </p:nvSpPr>
        <p:spPr>
          <a:xfrm>
            <a:off x="1247363" y="5577194"/>
            <a:ext cx="2842799" cy="1063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DC634D1-5F82-F048-5C9A-44107A402BC4}"/>
              </a:ext>
            </a:extLst>
          </p:cNvPr>
          <p:cNvSpPr txBox="1"/>
          <p:nvPr/>
        </p:nvSpPr>
        <p:spPr>
          <a:xfrm rot="5400000">
            <a:off x="3744840" y="6011854"/>
            <a:ext cx="1639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a coup attempt would...?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8E922A0-5AD0-7B8A-3BD3-D02ED2098B12}"/>
              </a:ext>
            </a:extLst>
          </p:cNvPr>
          <p:cNvSpPr txBox="1"/>
          <p:nvPr/>
        </p:nvSpPr>
        <p:spPr>
          <a:xfrm rot="5400000">
            <a:off x="4040661" y="6276407"/>
            <a:ext cx="493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fail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9FC568-ECEE-D186-32B9-866094997B05}"/>
              </a:ext>
            </a:extLst>
          </p:cNvPr>
          <p:cNvSpPr txBox="1"/>
          <p:nvPr/>
        </p:nvSpPr>
        <p:spPr>
          <a:xfrm rot="5400000">
            <a:off x="3898744" y="5761172"/>
            <a:ext cx="76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/>
              <a:t>succeed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CF2BB25-9672-10F3-299D-11EC6E16F7EA}"/>
              </a:ext>
            </a:extLst>
          </p:cNvPr>
          <p:cNvSpPr/>
          <p:nvPr/>
        </p:nvSpPr>
        <p:spPr>
          <a:xfrm>
            <a:off x="1196109" y="5559175"/>
            <a:ext cx="2872894" cy="532000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F5C0718-585D-8867-0B94-399D229175F0}"/>
              </a:ext>
            </a:extLst>
          </p:cNvPr>
          <p:cNvSpPr txBox="1"/>
          <p:nvPr/>
        </p:nvSpPr>
        <p:spPr>
          <a:xfrm>
            <a:off x="1169830" y="5244826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BA2B95-2045-EB82-A61B-65BBFF81CF9E}"/>
              </a:ext>
            </a:extLst>
          </p:cNvPr>
          <p:cNvSpPr txBox="1"/>
          <p:nvPr/>
        </p:nvSpPr>
        <p:spPr>
          <a:xfrm>
            <a:off x="6152153" y="536880"/>
            <a:ext cx="5769624" cy="64633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Step 3: Label and divide up the vertical sections to show the conditional uncertainties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782722-8BCF-262B-FE27-64CFB4092161}"/>
              </a:ext>
            </a:extLst>
          </p:cNvPr>
          <p:cNvSpPr/>
          <p:nvPr/>
        </p:nvSpPr>
        <p:spPr>
          <a:xfrm>
            <a:off x="6333423" y="2069432"/>
            <a:ext cx="5769624" cy="45922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C323B5-7ED2-5087-1330-A25A615AD458}"/>
              </a:ext>
            </a:extLst>
          </p:cNvPr>
          <p:cNvSpPr txBox="1"/>
          <p:nvPr/>
        </p:nvSpPr>
        <p:spPr>
          <a:xfrm>
            <a:off x="7847808" y="1074334"/>
            <a:ext cx="3155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a coup attempt would...?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1DDD70-CAAA-4495-4F8F-3A05B988FBF4}"/>
              </a:ext>
            </a:extLst>
          </p:cNvPr>
          <p:cNvSpPr txBox="1"/>
          <p:nvPr/>
        </p:nvSpPr>
        <p:spPr>
          <a:xfrm>
            <a:off x="8310011" y="1343480"/>
            <a:ext cx="1158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fail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61E594-96BE-CFB8-5C12-09A79B5CD9C2}"/>
              </a:ext>
            </a:extLst>
          </p:cNvPr>
          <p:cNvSpPr txBox="1"/>
          <p:nvPr/>
        </p:nvSpPr>
        <p:spPr>
          <a:xfrm>
            <a:off x="10848644" y="1286379"/>
            <a:ext cx="1158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succeed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5D1BFC0-3533-8912-A799-2DE165AAC48F}"/>
              </a:ext>
            </a:extLst>
          </p:cNvPr>
          <p:cNvCxnSpPr>
            <a:cxnSpLocks/>
          </p:cNvCxnSpPr>
          <p:nvPr/>
        </p:nvCxnSpPr>
        <p:spPr>
          <a:xfrm>
            <a:off x="10875585" y="2081132"/>
            <a:ext cx="0" cy="45922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F5DF3C0-AB6F-7456-9FB2-36511FEE881C}"/>
                  </a:ext>
                </a:extLst>
              </p:cNvPr>
              <p:cNvSpPr txBox="1"/>
              <p:nvPr/>
            </p:nvSpPr>
            <p:spPr>
              <a:xfrm>
                <a:off x="11234935" y="1629138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F5DF3C0-AB6F-7456-9FB2-36511FEE8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4935" y="1629138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277DB7C-137B-A6E8-B3FA-4CB68A72448D}"/>
                  </a:ext>
                </a:extLst>
              </p:cNvPr>
              <p:cNvSpPr txBox="1"/>
              <p:nvPr/>
            </p:nvSpPr>
            <p:spPr>
              <a:xfrm>
                <a:off x="8679541" y="1636191"/>
                <a:ext cx="419100" cy="41588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277DB7C-137B-A6E8-B3FA-4CB68A724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9541" y="1636191"/>
                <a:ext cx="419100" cy="415883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F3643EA2-7C39-ACF2-37CB-67CFB9937C43}"/>
              </a:ext>
            </a:extLst>
          </p:cNvPr>
          <p:cNvSpPr txBox="1"/>
          <p:nvPr/>
        </p:nvSpPr>
        <p:spPr>
          <a:xfrm rot="16200000">
            <a:off x="3824758" y="4113876"/>
            <a:ext cx="3933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/>
              <a:t>how well against an opposing military?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24E6BC0-3B77-1172-E52D-59FC570E8C5E}"/>
              </a:ext>
            </a:extLst>
          </p:cNvPr>
          <p:cNvSpPr/>
          <p:nvPr/>
        </p:nvSpPr>
        <p:spPr>
          <a:xfrm>
            <a:off x="947975" y="4754122"/>
            <a:ext cx="3618686" cy="2077202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B56375B-B55D-2BE9-CBC6-89BB9BCFAAC8}"/>
              </a:ext>
            </a:extLst>
          </p:cNvPr>
          <p:cNvCxnSpPr>
            <a:cxnSpLocks/>
          </p:cNvCxnSpPr>
          <p:nvPr/>
        </p:nvCxnSpPr>
        <p:spPr>
          <a:xfrm>
            <a:off x="10875585" y="4030642"/>
            <a:ext cx="122529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EF8DBB6-8432-45F8-53EC-D3BA1707A36F}"/>
              </a:ext>
            </a:extLst>
          </p:cNvPr>
          <p:cNvCxnSpPr>
            <a:cxnSpLocks/>
          </p:cNvCxnSpPr>
          <p:nvPr/>
        </p:nvCxnSpPr>
        <p:spPr>
          <a:xfrm>
            <a:off x="10848644" y="5663156"/>
            <a:ext cx="122529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55A5254-288D-ED30-1BE9-C1A8A9529011}"/>
              </a:ext>
            </a:extLst>
          </p:cNvPr>
          <p:cNvCxnSpPr>
            <a:cxnSpLocks/>
          </p:cNvCxnSpPr>
          <p:nvPr/>
        </p:nvCxnSpPr>
        <p:spPr>
          <a:xfrm>
            <a:off x="10919021" y="6104668"/>
            <a:ext cx="122529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C8A927B-1DC0-EA41-7E15-E3BC18B3F9D6}"/>
              </a:ext>
            </a:extLst>
          </p:cNvPr>
          <p:cNvSpPr txBox="1"/>
          <p:nvPr/>
        </p:nvSpPr>
        <p:spPr>
          <a:xfrm>
            <a:off x="11158860" y="2394465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1EEC777-E63D-A978-D801-D06CC261466E}"/>
              </a:ext>
            </a:extLst>
          </p:cNvPr>
          <p:cNvSpPr txBox="1"/>
          <p:nvPr/>
        </p:nvSpPr>
        <p:spPr>
          <a:xfrm>
            <a:off x="11219119" y="5047429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66ACC8D-35F7-30BE-8FED-9B56EA308C0C}"/>
              </a:ext>
            </a:extLst>
          </p:cNvPr>
          <p:cNvSpPr txBox="1"/>
          <p:nvPr/>
        </p:nvSpPr>
        <p:spPr>
          <a:xfrm rot="1710080">
            <a:off x="11335545" y="5738277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B467277-D88A-237A-C0F3-EE922B27F22D}"/>
              </a:ext>
            </a:extLst>
          </p:cNvPr>
          <p:cNvSpPr txBox="1"/>
          <p:nvPr/>
        </p:nvSpPr>
        <p:spPr>
          <a:xfrm rot="799147">
            <a:off x="11278798" y="6254243"/>
            <a:ext cx="94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spectacular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1CBBCFD-B52C-886F-4489-92D80138AA0A}"/>
                  </a:ext>
                </a:extLst>
              </p:cNvPr>
              <p:cNvSpPr txBox="1"/>
              <p:nvPr/>
            </p:nvSpPr>
            <p:spPr>
              <a:xfrm>
                <a:off x="10942909" y="6206515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1CBBCFD-B52C-886F-4489-92D80138A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2909" y="6206515"/>
                <a:ext cx="419100" cy="416781"/>
              </a:xfrm>
              <a:prstGeom prst="rect">
                <a:avLst/>
              </a:prstGeom>
              <a:blipFill>
                <a:blip r:embed="rId12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7F76429-327A-0C6E-32F2-5C7F8745FE8C}"/>
                  </a:ext>
                </a:extLst>
              </p:cNvPr>
              <p:cNvSpPr txBox="1"/>
              <p:nvPr/>
            </p:nvSpPr>
            <p:spPr>
              <a:xfrm>
                <a:off x="10912571" y="5700908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7F76429-327A-0C6E-32F2-5C7F8745F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2571" y="5700908"/>
                <a:ext cx="419100" cy="416781"/>
              </a:xfrm>
              <a:prstGeom prst="rect">
                <a:avLst/>
              </a:prstGeom>
              <a:blipFill>
                <a:blip r:embed="rId7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15D9463-3C82-DF24-BDC0-AEEDF5D34119}"/>
                  </a:ext>
                </a:extLst>
              </p:cNvPr>
              <p:cNvSpPr txBox="1"/>
              <p:nvPr/>
            </p:nvSpPr>
            <p:spPr>
              <a:xfrm>
                <a:off x="11001657" y="4643746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15D9463-3C82-DF24-BDC0-AEEDF5D34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1657" y="4643746"/>
                <a:ext cx="419100" cy="417358"/>
              </a:xfrm>
              <a:prstGeom prst="rect">
                <a:avLst/>
              </a:prstGeom>
              <a:blipFill>
                <a:blip r:embed="rId1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7034EFD-70D0-8D5C-7F70-EC7E06F4D3A5}"/>
                  </a:ext>
                </a:extLst>
              </p:cNvPr>
              <p:cNvSpPr txBox="1"/>
              <p:nvPr/>
            </p:nvSpPr>
            <p:spPr>
              <a:xfrm>
                <a:off x="10947657" y="2923201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7034EFD-70D0-8D5C-7F70-EC7E06F4D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7657" y="2923201"/>
                <a:ext cx="419100" cy="43056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BCBB34F-3E98-86C0-8637-F17C3E34C883}"/>
              </a:ext>
            </a:extLst>
          </p:cNvPr>
          <p:cNvCxnSpPr>
            <a:cxnSpLocks/>
          </p:cNvCxnSpPr>
          <p:nvPr/>
        </p:nvCxnSpPr>
        <p:spPr>
          <a:xfrm>
            <a:off x="6333423" y="4431155"/>
            <a:ext cx="451522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12A9147-1569-2A75-73D7-50A27E59AAD9}"/>
              </a:ext>
            </a:extLst>
          </p:cNvPr>
          <p:cNvCxnSpPr>
            <a:cxnSpLocks/>
          </p:cNvCxnSpPr>
          <p:nvPr/>
        </p:nvCxnSpPr>
        <p:spPr>
          <a:xfrm>
            <a:off x="6322778" y="5749344"/>
            <a:ext cx="452586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6274A009-1681-D4BD-5481-64755E2FA7AD}"/>
              </a:ext>
            </a:extLst>
          </p:cNvPr>
          <p:cNvSpPr txBox="1"/>
          <p:nvPr/>
        </p:nvSpPr>
        <p:spPr>
          <a:xfrm>
            <a:off x="7622166" y="2623354"/>
            <a:ext cx="69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abysmal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376F7DB-E47E-10C9-502C-3C8A510B797B}"/>
                  </a:ext>
                </a:extLst>
              </p:cNvPr>
              <p:cNvSpPr txBox="1"/>
              <p:nvPr/>
            </p:nvSpPr>
            <p:spPr>
              <a:xfrm>
                <a:off x="6469520" y="2983871"/>
                <a:ext cx="419100" cy="43056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376F7DB-E47E-10C9-502C-3C8A510B7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520" y="2983871"/>
                <a:ext cx="419100" cy="4305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68B4F0EE-B964-1260-655A-8A727D822D1C}"/>
              </a:ext>
            </a:extLst>
          </p:cNvPr>
          <p:cNvSpPr txBox="1"/>
          <p:nvPr/>
        </p:nvSpPr>
        <p:spPr>
          <a:xfrm>
            <a:off x="7768670" y="4517343"/>
            <a:ext cx="9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barely acceptable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7FC1D18-B733-9A39-97F0-89967B23DFE4}"/>
                  </a:ext>
                </a:extLst>
              </p:cNvPr>
              <p:cNvSpPr txBox="1"/>
              <p:nvPr/>
            </p:nvSpPr>
            <p:spPr>
              <a:xfrm>
                <a:off x="6422397" y="4787776"/>
                <a:ext cx="419100" cy="41575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7FC1D18-B733-9A39-97F0-89967B23D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397" y="4787776"/>
                <a:ext cx="419100" cy="415755"/>
              </a:xfrm>
              <a:prstGeom prst="rect">
                <a:avLst/>
              </a:prstGeom>
              <a:blipFill>
                <a:blip r:embed="rId1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TextBox 76">
            <a:extLst>
              <a:ext uri="{FF2B5EF4-FFF2-40B4-BE49-F238E27FC236}">
                <a16:creationId xmlns:a16="http://schemas.microsoft.com/office/drawing/2014/main" id="{589A4D95-CBF8-59F1-3DEF-7D6EC19BBBEA}"/>
              </a:ext>
            </a:extLst>
          </p:cNvPr>
          <p:cNvSpPr txBox="1"/>
          <p:nvPr/>
        </p:nvSpPr>
        <p:spPr>
          <a:xfrm rot="21396607">
            <a:off x="7890938" y="6024565"/>
            <a:ext cx="75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adequate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AD21E88-042A-8239-789A-14D6A48B58C7}"/>
                  </a:ext>
                </a:extLst>
              </p:cNvPr>
              <p:cNvSpPr txBox="1"/>
              <p:nvPr/>
            </p:nvSpPr>
            <p:spPr>
              <a:xfrm>
                <a:off x="6579400" y="5998124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AD21E88-042A-8239-789A-14D6A48B5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9400" y="5998124"/>
                <a:ext cx="419100" cy="416781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A561764-6432-3297-6AB6-A711D0EC659F}"/>
                  </a:ext>
                </a:extLst>
              </p:cNvPr>
              <p:cNvSpPr txBox="1"/>
              <p:nvPr/>
            </p:nvSpPr>
            <p:spPr>
              <a:xfrm rot="19590822">
                <a:off x="2370621" y="3664465"/>
                <a:ext cx="2872894" cy="646331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/>
                  <a:t>NOTICE...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spectacular</m:t>
                          </m:r>
                        </m:e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fail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A561764-6432-3297-6AB6-A711D0EC6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0822">
                <a:off x="2370621" y="3664465"/>
                <a:ext cx="2872894" cy="646331"/>
              </a:xfrm>
              <a:prstGeom prst="rect">
                <a:avLst/>
              </a:prstGeom>
              <a:blipFill>
                <a:blip r:embed="rId16"/>
                <a:stretch>
                  <a:fillRect l="-1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BC0ADDD-A492-02D2-6ABA-B167D2B8BBB5}"/>
              </a:ext>
            </a:extLst>
          </p:cNvPr>
          <p:cNvSpPr/>
          <p:nvPr/>
        </p:nvSpPr>
        <p:spPr>
          <a:xfrm>
            <a:off x="4270264" y="4055768"/>
            <a:ext cx="2053534" cy="2566413"/>
          </a:xfrm>
          <a:custGeom>
            <a:avLst/>
            <a:gdLst>
              <a:gd name="connsiteX0" fmla="*/ 32229 w 2053534"/>
              <a:gd name="connsiteY0" fmla="*/ 15718 h 2566413"/>
              <a:gd name="connsiteX1" fmla="*/ 1129509 w 2053534"/>
              <a:gd name="connsiteY1" fmla="*/ 73470 h 2566413"/>
              <a:gd name="connsiteX2" fmla="*/ 12978 w 2053534"/>
              <a:gd name="connsiteY2" fmla="*/ 593234 h 2566413"/>
              <a:gd name="connsiteX3" fmla="*/ 2053534 w 2053534"/>
              <a:gd name="connsiteY3" fmla="*/ 2566413 h 2566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3534" h="2566413">
                <a:moveTo>
                  <a:pt x="32229" y="15718"/>
                </a:moveTo>
                <a:cubicBezTo>
                  <a:pt x="582473" y="-3533"/>
                  <a:pt x="1132717" y="-22783"/>
                  <a:pt x="1129509" y="73470"/>
                </a:cubicBezTo>
                <a:cubicBezTo>
                  <a:pt x="1126301" y="169723"/>
                  <a:pt x="-141026" y="177744"/>
                  <a:pt x="12978" y="593234"/>
                </a:cubicBezTo>
                <a:cubicBezTo>
                  <a:pt x="166982" y="1008724"/>
                  <a:pt x="1110258" y="1787568"/>
                  <a:pt x="2053534" y="2566413"/>
                </a:cubicBezTo>
              </a:path>
            </a:pathLst>
          </a:custGeom>
          <a:noFill/>
          <a:ln>
            <a:solidFill>
              <a:schemeClr val="accent3"/>
            </a:solidFill>
            <a:headEnd w="lg" len="lg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7364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EF502-577D-4F98-02D1-776CDFD9B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FA1DE4E-90F1-E53C-F11D-AC1D967412A9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2009AA-2663-BA3A-721B-71EA2CF40DB5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5A02F0-7D20-0990-B4C9-FA4BBA1D5D9A}"/>
              </a:ext>
            </a:extLst>
          </p:cNvPr>
          <p:cNvSpPr txBox="1"/>
          <p:nvPr/>
        </p:nvSpPr>
        <p:spPr>
          <a:xfrm>
            <a:off x="4343399" y="1023302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marginal-conditional diagram to model these two uncertainties.  Design the model so that the more satisfied are residents, the more likely the commissioner is to be more powerful.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DC78D5-5A79-4A68-31FE-470D48DFB2A9}"/>
              </a:ext>
            </a:extLst>
          </p:cNvPr>
          <p:cNvSpPr txBox="1"/>
          <p:nvPr/>
        </p:nvSpPr>
        <p:spPr>
          <a:xfrm>
            <a:off x="6368691" y="494989"/>
            <a:ext cx="3093167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try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C3AE70-EBDA-CA7F-1514-10E2C1046064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much independent political power will the Commissioner of Sanitation amass?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satisfied will residents be with the cleanliness of city streets and sidewalks?</a:t>
            </a:r>
          </a:p>
        </p:txBody>
      </p:sp>
    </p:spTree>
    <p:extLst>
      <p:ext uri="{BB962C8B-B14F-4D97-AF65-F5344CB8AC3E}">
        <p14:creationId xmlns:p14="http://schemas.microsoft.com/office/powerpoint/2010/main" val="260512688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75B5C-0D3A-7B51-20A9-E578890E9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DCACFDB-4A95-CE4C-5BA8-9122AAA21322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9F969F-2796-3C82-E30C-96A3D315CC7D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D4D6E0-594E-71E0-BFAE-0870361EE557}"/>
              </a:ext>
            </a:extLst>
          </p:cNvPr>
          <p:cNvSpPr txBox="1"/>
          <p:nvPr/>
        </p:nvSpPr>
        <p:spPr>
          <a:xfrm>
            <a:off x="4343399" y="1023302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marginal-conditional diagram to model these two uncertainties.  Design the model so that the more satisfied are residents, the more likely the commissioner is to be more powerful.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F3AB90-566A-C2C8-D204-DD30CA097836}"/>
              </a:ext>
            </a:extLst>
          </p:cNvPr>
          <p:cNvSpPr txBox="1"/>
          <p:nvPr/>
        </p:nvSpPr>
        <p:spPr>
          <a:xfrm>
            <a:off x="6368691" y="494989"/>
            <a:ext cx="3093167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try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9E8217-0FEE-DCD7-0A95-2DB4B5649540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much independent political power will the Commissioner of Sanitation amass?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satisfied will residents be with the cleanliness of city streets and sidewalks?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E8CFB6-532A-B8FF-FCF2-A39944482E18}"/>
              </a:ext>
            </a:extLst>
          </p:cNvPr>
          <p:cNvCxnSpPr/>
          <p:nvPr/>
        </p:nvCxnSpPr>
        <p:spPr>
          <a:xfrm>
            <a:off x="5981700" y="1590675"/>
            <a:ext cx="4381500" cy="0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D6078C-1EF3-CD0D-7B8F-607318B8D9FF}"/>
              </a:ext>
            </a:extLst>
          </p:cNvPr>
          <p:cNvCxnSpPr>
            <a:cxnSpLocks/>
          </p:cNvCxnSpPr>
          <p:nvPr/>
        </p:nvCxnSpPr>
        <p:spPr>
          <a:xfrm flipV="1">
            <a:off x="4467225" y="1946632"/>
            <a:ext cx="3114675" cy="9525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31990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91EC8-6884-7AC1-04B6-AD35AB6AB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FEACEC3-09B6-51B1-8718-FE5EDBD8D1D4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FF6567-944B-3F06-6A12-FA9D492E014E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EA4AF7-23D1-627C-A88F-722B37F6EB87}"/>
              </a:ext>
            </a:extLst>
          </p:cNvPr>
          <p:cNvSpPr txBox="1"/>
          <p:nvPr/>
        </p:nvSpPr>
        <p:spPr>
          <a:xfrm>
            <a:off x="4343399" y="1023302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marginal-conditional diagram to model these two uncertainties.  Design the model so that the more satisfied are residents, the more likely the commissioner is to be more powerful.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3957FD-2E61-56FD-CCF0-28D70311332A}"/>
              </a:ext>
            </a:extLst>
          </p:cNvPr>
          <p:cNvSpPr txBox="1"/>
          <p:nvPr/>
        </p:nvSpPr>
        <p:spPr>
          <a:xfrm>
            <a:off x="6368691" y="494989"/>
            <a:ext cx="3093167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try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45448C-6718-67C3-70CB-EF651A037F42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much independent political power will the Commissioner of Sanitation amass?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satisfied will residents be with the cleanliness of city streets and sidewalks?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27E12E-97AD-0289-6582-765AD77B78C9}"/>
              </a:ext>
            </a:extLst>
          </p:cNvPr>
          <p:cNvCxnSpPr/>
          <p:nvPr/>
        </p:nvCxnSpPr>
        <p:spPr>
          <a:xfrm>
            <a:off x="5981700" y="1590675"/>
            <a:ext cx="4381500" cy="0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241504E-1067-C717-AD44-D180C73FE661}"/>
              </a:ext>
            </a:extLst>
          </p:cNvPr>
          <p:cNvCxnSpPr>
            <a:cxnSpLocks/>
          </p:cNvCxnSpPr>
          <p:nvPr/>
        </p:nvCxnSpPr>
        <p:spPr>
          <a:xfrm flipV="1">
            <a:off x="4467225" y="1946632"/>
            <a:ext cx="3114675" cy="9525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4BFDD8F-ED33-E5F4-F563-C2167CC035C3}"/>
              </a:ext>
            </a:extLst>
          </p:cNvPr>
          <p:cNvSpPr txBox="1"/>
          <p:nvPr/>
        </p:nvSpPr>
        <p:spPr>
          <a:xfrm>
            <a:off x="5804034" y="629214"/>
            <a:ext cx="5769624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Step 1: Draw a rectangle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3FC9F6-5BE3-EA6C-8E4E-3BDE8E6FE1ED}"/>
              </a:ext>
            </a:extLst>
          </p:cNvPr>
          <p:cNvSpPr/>
          <p:nvPr/>
        </p:nvSpPr>
        <p:spPr>
          <a:xfrm>
            <a:off x="4048126" y="2393283"/>
            <a:ext cx="7935400" cy="408371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96391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8AA87-796F-6E29-B9EC-311BAC419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7DCFA01-B21E-4A30-DA43-7D815FE968AF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1EE9EB-395C-83D7-DF05-1D8798B43F93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A5B753-3B54-D58B-EC37-E1399A6872FC}"/>
              </a:ext>
            </a:extLst>
          </p:cNvPr>
          <p:cNvSpPr txBox="1"/>
          <p:nvPr/>
        </p:nvSpPr>
        <p:spPr>
          <a:xfrm>
            <a:off x="4343399" y="1023302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Build a marginal-conditional diagram to model these two uncertainties.  Design the model so that the more satisfied are residents, the more likely the commissioner is to be more powerful.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C259EF-65D2-5A2C-0D53-5698A7D22590}"/>
              </a:ext>
            </a:extLst>
          </p:cNvPr>
          <p:cNvSpPr txBox="1"/>
          <p:nvPr/>
        </p:nvSpPr>
        <p:spPr>
          <a:xfrm>
            <a:off x="6368691" y="494989"/>
            <a:ext cx="3093167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try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F5C138-B3C3-DF86-90D0-C0A5D441FADB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much independent political power will the Commissioner of Sanitation amass?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satisfied will residents be with the cleanliness of city streets and sidewalks?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6F133A-E8C3-6536-827D-66B1691D0D6B}"/>
              </a:ext>
            </a:extLst>
          </p:cNvPr>
          <p:cNvCxnSpPr/>
          <p:nvPr/>
        </p:nvCxnSpPr>
        <p:spPr>
          <a:xfrm>
            <a:off x="5981700" y="1590675"/>
            <a:ext cx="4381500" cy="0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5835D94-4C1D-7E86-44AF-B60C77677293}"/>
              </a:ext>
            </a:extLst>
          </p:cNvPr>
          <p:cNvCxnSpPr>
            <a:cxnSpLocks/>
          </p:cNvCxnSpPr>
          <p:nvPr/>
        </p:nvCxnSpPr>
        <p:spPr>
          <a:xfrm flipV="1">
            <a:off x="4467225" y="1946632"/>
            <a:ext cx="3114675" cy="9525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0E4E0AD-C485-1A1B-360C-1C8E3BC9455A}"/>
              </a:ext>
            </a:extLst>
          </p:cNvPr>
          <p:cNvSpPr/>
          <p:nvPr/>
        </p:nvSpPr>
        <p:spPr>
          <a:xfrm>
            <a:off x="4048126" y="2981323"/>
            <a:ext cx="7935400" cy="349567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DFBA54-3C5C-CF57-2CB8-AAEBF9CC7E46}"/>
              </a:ext>
            </a:extLst>
          </p:cNvPr>
          <p:cNvSpPr txBox="1"/>
          <p:nvPr/>
        </p:nvSpPr>
        <p:spPr>
          <a:xfrm>
            <a:off x="6152153" y="536880"/>
            <a:ext cx="5769624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Step 2: Label and divide the </a:t>
            </a:r>
            <a:r>
              <a:rPr lang="en-US" b="1"/>
              <a:t>horizontal</a:t>
            </a:r>
            <a:r>
              <a:rPr lang="en-US"/>
              <a:t> axis to show </a:t>
            </a:r>
            <a:r>
              <a:rPr lang="en-US" b="1"/>
              <a:t>marginal</a:t>
            </a:r>
            <a:r>
              <a:rPr lang="en-US"/>
              <a:t> uncertainty</a:t>
            </a:r>
          </a:p>
        </p:txBody>
      </p:sp>
    </p:spTree>
    <p:extLst>
      <p:ext uri="{BB962C8B-B14F-4D97-AF65-F5344CB8AC3E}">
        <p14:creationId xmlns:p14="http://schemas.microsoft.com/office/powerpoint/2010/main" val="213102702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387A1-94A6-1AD9-3932-40476D026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A9E46-ACD8-44E3-A503-57FC46271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D40D05-DD65-C8CC-AE9A-3485BFD8374A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65FADA-7ABC-6310-FA3B-9CE34D0CB81C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much independent political power will the Commissioner of Sanitation amass?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satisfied will residents be with the cleanliness of city streets and sidewalks?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A9A50C-DFB1-5C72-E009-2C37AA88442B}"/>
              </a:ext>
            </a:extLst>
          </p:cNvPr>
          <p:cNvSpPr txBox="1"/>
          <p:nvPr/>
        </p:nvSpPr>
        <p:spPr>
          <a:xfrm>
            <a:off x="4343400" y="1232852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Use the marginal-conditional method to build a model of these two uncertainties in which a the more satisfied residents are, the more likely the Commissioner is to amass more power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E9745C-1EA7-567C-8D55-36923346CF19}"/>
              </a:ext>
            </a:extLst>
          </p:cNvPr>
          <p:cNvSpPr txBox="1"/>
          <p:nvPr/>
        </p:nvSpPr>
        <p:spPr>
          <a:xfrm>
            <a:off x="6322295" y="679691"/>
            <a:ext cx="3093167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try it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4F7159C-0336-8CD4-52F7-4D1FACD0FF4E}"/>
              </a:ext>
            </a:extLst>
          </p:cNvPr>
          <p:cNvCxnSpPr>
            <a:cxnSpLocks/>
          </p:cNvCxnSpPr>
          <p:nvPr/>
        </p:nvCxnSpPr>
        <p:spPr>
          <a:xfrm>
            <a:off x="4391025" y="2146657"/>
            <a:ext cx="1921584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53F3BBE-8EEB-9EA0-86F5-BF2E5F0D4E53}"/>
              </a:ext>
            </a:extLst>
          </p:cNvPr>
          <p:cNvCxnSpPr>
            <a:cxnSpLocks/>
          </p:cNvCxnSpPr>
          <p:nvPr/>
        </p:nvCxnSpPr>
        <p:spPr>
          <a:xfrm>
            <a:off x="4389866" y="1833017"/>
            <a:ext cx="6770851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29A9E84-4FF4-6FB0-338A-05AC2C5E0ACB}"/>
              </a:ext>
            </a:extLst>
          </p:cNvPr>
          <p:cNvSpPr txBox="1"/>
          <p:nvPr/>
        </p:nvSpPr>
        <p:spPr>
          <a:xfrm>
            <a:off x="3905250" y="2940552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satisfaction 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C28C0F-AEC5-6195-0EEF-2900683CB4DB}"/>
              </a:ext>
            </a:extLst>
          </p:cNvPr>
          <p:cNvSpPr txBox="1"/>
          <p:nvPr/>
        </p:nvSpPr>
        <p:spPr>
          <a:xfrm>
            <a:off x="3790950" y="4514585"/>
            <a:ext cx="2038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satisfaction medium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E840A-C9DA-60F6-A793-6840F43B2FEE}"/>
              </a:ext>
            </a:extLst>
          </p:cNvPr>
          <p:cNvSpPr txBox="1"/>
          <p:nvPr/>
        </p:nvSpPr>
        <p:spPr>
          <a:xfrm>
            <a:off x="3790950" y="6123533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satisfaction high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20AFDE-A741-C169-621D-FA25B45AAFDF}"/>
              </a:ext>
            </a:extLst>
          </p:cNvPr>
          <p:cNvCxnSpPr>
            <a:cxnSpLocks/>
          </p:cNvCxnSpPr>
          <p:nvPr/>
        </p:nvCxnSpPr>
        <p:spPr>
          <a:xfrm flipV="1">
            <a:off x="1962150" y="3517134"/>
            <a:ext cx="1638300" cy="1366783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04D868-7A6B-0A8C-1FB4-4CBCB5E19400}"/>
              </a:ext>
            </a:extLst>
          </p:cNvPr>
          <p:cNvCxnSpPr>
            <a:cxnSpLocks/>
          </p:cNvCxnSpPr>
          <p:nvPr/>
        </p:nvCxnSpPr>
        <p:spPr>
          <a:xfrm>
            <a:off x="3600450" y="3473040"/>
            <a:ext cx="2809875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050359-E2A3-193B-0D7D-2A64ED9BA4A9}"/>
              </a:ext>
            </a:extLst>
          </p:cNvPr>
          <p:cNvCxnSpPr>
            <a:cxnSpLocks/>
          </p:cNvCxnSpPr>
          <p:nvPr/>
        </p:nvCxnSpPr>
        <p:spPr>
          <a:xfrm>
            <a:off x="1962150" y="4883917"/>
            <a:ext cx="4400553" cy="44093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72646A-EF04-1948-CF87-3DE96E8C76CD}"/>
              </a:ext>
            </a:extLst>
          </p:cNvPr>
          <p:cNvCxnSpPr>
            <a:cxnSpLocks/>
          </p:cNvCxnSpPr>
          <p:nvPr/>
        </p:nvCxnSpPr>
        <p:spPr>
          <a:xfrm>
            <a:off x="1962150" y="4905963"/>
            <a:ext cx="1638300" cy="1723437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AC8D60B-FDDC-8563-5E78-68C14D3705C2}"/>
              </a:ext>
            </a:extLst>
          </p:cNvPr>
          <p:cNvCxnSpPr>
            <a:cxnSpLocks/>
          </p:cNvCxnSpPr>
          <p:nvPr/>
        </p:nvCxnSpPr>
        <p:spPr>
          <a:xfrm>
            <a:off x="3429000" y="6511327"/>
            <a:ext cx="2883609" cy="3584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E75F268-01E7-F9EB-55E0-B80F1B028E1C}"/>
                  </a:ext>
                </a:extLst>
              </p:cNvPr>
              <p:cNvSpPr txBox="1"/>
              <p:nvPr/>
            </p:nvSpPr>
            <p:spPr>
              <a:xfrm>
                <a:off x="5619749" y="2858384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E75F268-01E7-F9EB-55E0-B80F1B028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749" y="2858384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A56D729-1F0E-E182-BE51-883034DAC904}"/>
                  </a:ext>
                </a:extLst>
              </p:cNvPr>
              <p:cNvSpPr txBox="1"/>
              <p:nvPr/>
            </p:nvSpPr>
            <p:spPr>
              <a:xfrm>
                <a:off x="5829299" y="4363389"/>
                <a:ext cx="419100" cy="41562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A56D729-1F0E-E182-BE51-883034DAC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299" y="4363389"/>
                <a:ext cx="419100" cy="415627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FE634F9-A4CA-49CC-5E5A-25D918066847}"/>
                  </a:ext>
                </a:extLst>
              </p:cNvPr>
              <p:cNvSpPr txBox="1"/>
              <p:nvPr/>
            </p:nvSpPr>
            <p:spPr>
              <a:xfrm>
                <a:off x="5676900" y="5982078"/>
                <a:ext cx="419100" cy="41562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FE634F9-A4CA-49CC-5E5A-25D918066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900" y="5982078"/>
                <a:ext cx="419100" cy="415627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69CB31E1-A2D2-55A3-AFFC-E044FA757F27}"/>
              </a:ext>
            </a:extLst>
          </p:cNvPr>
          <p:cNvSpPr/>
          <p:nvPr/>
        </p:nvSpPr>
        <p:spPr>
          <a:xfrm>
            <a:off x="7553130" y="2538264"/>
            <a:ext cx="4476750" cy="1008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8BB50A-C54D-5100-7C3F-CC755D8E503C}"/>
              </a:ext>
            </a:extLst>
          </p:cNvPr>
          <p:cNvSpPr txBox="1"/>
          <p:nvPr/>
        </p:nvSpPr>
        <p:spPr>
          <a:xfrm>
            <a:off x="9079315" y="1962289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satisfied?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E0C631-4FAC-E7C9-15F1-E52B50C132E4}"/>
              </a:ext>
            </a:extLst>
          </p:cNvPr>
          <p:cNvSpPr txBox="1"/>
          <p:nvPr/>
        </p:nvSpPr>
        <p:spPr>
          <a:xfrm>
            <a:off x="7862692" y="2187162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low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1FB52A-F778-7AAD-F5A9-644267ABEC43}"/>
              </a:ext>
            </a:extLst>
          </p:cNvPr>
          <p:cNvSpPr txBox="1"/>
          <p:nvPr/>
        </p:nvSpPr>
        <p:spPr>
          <a:xfrm>
            <a:off x="9343830" y="2187162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medium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527B20-AE78-20A7-17F9-4238937F2CE0}"/>
              </a:ext>
            </a:extLst>
          </p:cNvPr>
          <p:cNvSpPr txBox="1"/>
          <p:nvPr/>
        </p:nvSpPr>
        <p:spPr>
          <a:xfrm>
            <a:off x="11001180" y="2165439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high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1390DC7-63A2-170F-0352-9AA986D157DB}"/>
              </a:ext>
            </a:extLst>
          </p:cNvPr>
          <p:cNvCxnSpPr/>
          <p:nvPr/>
        </p:nvCxnSpPr>
        <p:spPr>
          <a:xfrm>
            <a:off x="9005692" y="2538264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81A5B97-54C8-CA47-4369-CD6B8C10C901}"/>
              </a:ext>
            </a:extLst>
          </p:cNvPr>
          <p:cNvCxnSpPr/>
          <p:nvPr/>
        </p:nvCxnSpPr>
        <p:spPr>
          <a:xfrm>
            <a:off x="10643992" y="2538263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3FA3D4C-5ED3-2E46-40BE-E1132F09DCB7}"/>
              </a:ext>
            </a:extLst>
          </p:cNvPr>
          <p:cNvSpPr txBox="1"/>
          <p:nvPr/>
        </p:nvSpPr>
        <p:spPr>
          <a:xfrm rot="16200000">
            <a:off x="6103842" y="2888755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powerful?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EB92CBD-B309-1CDE-44FA-78BBE05BC1A2}"/>
              </a:ext>
            </a:extLst>
          </p:cNvPr>
          <p:cNvCxnSpPr>
            <a:cxnSpLocks/>
            <a:stCxn id="10" idx="1"/>
            <a:endCxn id="10" idx="3"/>
          </p:cNvCxnSpPr>
          <p:nvPr/>
        </p:nvCxnSpPr>
        <p:spPr>
          <a:xfrm>
            <a:off x="7553130" y="3042644"/>
            <a:ext cx="44767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654DB63-5CE0-F3F7-1CEC-5987B41EE2EA}"/>
              </a:ext>
            </a:extLst>
          </p:cNvPr>
          <p:cNvSpPr txBox="1"/>
          <p:nvPr/>
        </p:nvSpPr>
        <p:spPr>
          <a:xfrm rot="16200000">
            <a:off x="6911084" y="2613113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very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C00603-46B8-9FEC-139C-3E0FBEAF0627}"/>
              </a:ext>
            </a:extLst>
          </p:cNvPr>
          <p:cNvSpPr txBox="1"/>
          <p:nvPr/>
        </p:nvSpPr>
        <p:spPr>
          <a:xfrm rot="16200000">
            <a:off x="6918228" y="3217661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not much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EA2F27-3578-4A9F-223C-EE8D7E0A7D32}"/>
              </a:ext>
            </a:extLst>
          </p:cNvPr>
          <p:cNvSpPr/>
          <p:nvPr/>
        </p:nvSpPr>
        <p:spPr>
          <a:xfrm>
            <a:off x="7553130" y="4301602"/>
            <a:ext cx="4476750" cy="1008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18D4F9-EF4F-4DA2-A1EB-8F6C57F45AFF}"/>
              </a:ext>
            </a:extLst>
          </p:cNvPr>
          <p:cNvSpPr txBox="1"/>
          <p:nvPr/>
        </p:nvSpPr>
        <p:spPr>
          <a:xfrm>
            <a:off x="9205717" y="3642723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satisfied?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0315F2-2080-FAAC-E06F-FED99700BC66}"/>
              </a:ext>
            </a:extLst>
          </p:cNvPr>
          <p:cNvSpPr txBox="1"/>
          <p:nvPr/>
        </p:nvSpPr>
        <p:spPr>
          <a:xfrm>
            <a:off x="7862692" y="3926734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low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65840D-EE8F-5E93-BEBD-F474A56D2CC4}"/>
              </a:ext>
            </a:extLst>
          </p:cNvPr>
          <p:cNvSpPr txBox="1"/>
          <p:nvPr/>
        </p:nvSpPr>
        <p:spPr>
          <a:xfrm>
            <a:off x="9343830" y="3950500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medium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6FB3BC-90E1-EA9C-ECAB-8FA53AA57753}"/>
              </a:ext>
            </a:extLst>
          </p:cNvPr>
          <p:cNvSpPr txBox="1"/>
          <p:nvPr/>
        </p:nvSpPr>
        <p:spPr>
          <a:xfrm>
            <a:off x="11001180" y="3928777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high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524004B-64EB-E51E-911F-251C825EF3F3}"/>
              </a:ext>
            </a:extLst>
          </p:cNvPr>
          <p:cNvCxnSpPr/>
          <p:nvPr/>
        </p:nvCxnSpPr>
        <p:spPr>
          <a:xfrm>
            <a:off x="9072366" y="4326333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15AAF62-8104-1E97-385D-72562B92C095}"/>
              </a:ext>
            </a:extLst>
          </p:cNvPr>
          <p:cNvCxnSpPr/>
          <p:nvPr/>
        </p:nvCxnSpPr>
        <p:spPr>
          <a:xfrm>
            <a:off x="10643992" y="4301601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1521E24-E29D-03FC-B0CC-87B203B11913}"/>
              </a:ext>
            </a:extLst>
          </p:cNvPr>
          <p:cNvSpPr txBox="1"/>
          <p:nvPr/>
        </p:nvSpPr>
        <p:spPr>
          <a:xfrm rot="16200000">
            <a:off x="6103842" y="4652093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powerful?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700E28C-2BC6-7D2F-1C36-DC07D8C3A88E}"/>
              </a:ext>
            </a:extLst>
          </p:cNvPr>
          <p:cNvCxnSpPr>
            <a:cxnSpLocks/>
            <a:stCxn id="18" idx="1"/>
            <a:endCxn id="18" idx="3"/>
          </p:cNvCxnSpPr>
          <p:nvPr/>
        </p:nvCxnSpPr>
        <p:spPr>
          <a:xfrm>
            <a:off x="7553130" y="4805982"/>
            <a:ext cx="44767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4329BFD-9CA6-50B5-5C51-9FB1C129D1A3}"/>
              </a:ext>
            </a:extLst>
          </p:cNvPr>
          <p:cNvSpPr txBox="1"/>
          <p:nvPr/>
        </p:nvSpPr>
        <p:spPr>
          <a:xfrm rot="16200000">
            <a:off x="6911084" y="4376451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very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9FA230E-6FB7-CF09-D8BC-33117C8CAB25}"/>
              </a:ext>
            </a:extLst>
          </p:cNvPr>
          <p:cNvSpPr txBox="1"/>
          <p:nvPr/>
        </p:nvSpPr>
        <p:spPr>
          <a:xfrm rot="16200000">
            <a:off x="6918228" y="4980999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not much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BF93E85-7C2A-000B-3E60-AD852DA7D371}"/>
              </a:ext>
            </a:extLst>
          </p:cNvPr>
          <p:cNvSpPr/>
          <p:nvPr/>
        </p:nvSpPr>
        <p:spPr>
          <a:xfrm>
            <a:off x="7512648" y="5846755"/>
            <a:ext cx="4476750" cy="1008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748427-D89C-ECEF-E457-BC7764235466}"/>
              </a:ext>
            </a:extLst>
          </p:cNvPr>
          <p:cNvSpPr txBox="1"/>
          <p:nvPr/>
        </p:nvSpPr>
        <p:spPr>
          <a:xfrm>
            <a:off x="9195996" y="5309241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satisfied?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1110D52-F0A1-CA6A-75A9-88AC9514F62E}"/>
              </a:ext>
            </a:extLst>
          </p:cNvPr>
          <p:cNvSpPr txBox="1"/>
          <p:nvPr/>
        </p:nvSpPr>
        <p:spPr>
          <a:xfrm>
            <a:off x="7822210" y="5495653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low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103FB42-8B4C-1D1E-AA1F-5E9B7611941B}"/>
              </a:ext>
            </a:extLst>
          </p:cNvPr>
          <p:cNvSpPr txBox="1"/>
          <p:nvPr/>
        </p:nvSpPr>
        <p:spPr>
          <a:xfrm>
            <a:off x="9303348" y="5495653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medium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EDD2C3C-0732-34F4-564F-63CD141FB4E7}"/>
              </a:ext>
            </a:extLst>
          </p:cNvPr>
          <p:cNvSpPr txBox="1"/>
          <p:nvPr/>
        </p:nvSpPr>
        <p:spPr>
          <a:xfrm>
            <a:off x="10960698" y="5473930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high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C53D14C-7B05-0275-4253-89894B585604}"/>
              </a:ext>
            </a:extLst>
          </p:cNvPr>
          <p:cNvCxnSpPr/>
          <p:nvPr/>
        </p:nvCxnSpPr>
        <p:spPr>
          <a:xfrm>
            <a:off x="8965210" y="5846755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A50F810-88C7-F404-B759-47CEFD388CD8}"/>
              </a:ext>
            </a:extLst>
          </p:cNvPr>
          <p:cNvCxnSpPr/>
          <p:nvPr/>
        </p:nvCxnSpPr>
        <p:spPr>
          <a:xfrm>
            <a:off x="10603510" y="5846754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962A4C0-E0B5-20C7-4DC7-965AE551AFB4}"/>
              </a:ext>
            </a:extLst>
          </p:cNvPr>
          <p:cNvSpPr txBox="1"/>
          <p:nvPr/>
        </p:nvSpPr>
        <p:spPr>
          <a:xfrm rot="16200000">
            <a:off x="6063360" y="6197246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powerful?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666AB43-7554-146C-075D-B3BAF6C28D34}"/>
              </a:ext>
            </a:extLst>
          </p:cNvPr>
          <p:cNvCxnSpPr>
            <a:cxnSpLocks/>
            <a:stCxn id="42" idx="1"/>
            <a:endCxn id="42" idx="3"/>
          </p:cNvCxnSpPr>
          <p:nvPr/>
        </p:nvCxnSpPr>
        <p:spPr>
          <a:xfrm>
            <a:off x="7512648" y="6351135"/>
            <a:ext cx="44767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05C3051-3F01-304B-6EAB-2A1B4130A33A}"/>
              </a:ext>
            </a:extLst>
          </p:cNvPr>
          <p:cNvSpPr txBox="1"/>
          <p:nvPr/>
        </p:nvSpPr>
        <p:spPr>
          <a:xfrm rot="16200000">
            <a:off x="6870602" y="5921604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very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1A244E2-2CF6-8F5C-C629-2E24E51CF6B3}"/>
              </a:ext>
            </a:extLst>
          </p:cNvPr>
          <p:cNvSpPr txBox="1"/>
          <p:nvPr/>
        </p:nvSpPr>
        <p:spPr>
          <a:xfrm rot="16200000">
            <a:off x="6877746" y="6526152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not much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A562846-46B4-12F5-2829-91AA2D2798FB}"/>
              </a:ext>
            </a:extLst>
          </p:cNvPr>
          <p:cNvSpPr/>
          <p:nvPr/>
        </p:nvSpPr>
        <p:spPr>
          <a:xfrm>
            <a:off x="9005692" y="2538263"/>
            <a:ext cx="1604957" cy="997448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2CA6453-4881-6BD0-2D1D-F461BABE1800}"/>
              </a:ext>
            </a:extLst>
          </p:cNvPr>
          <p:cNvSpPr/>
          <p:nvPr/>
        </p:nvSpPr>
        <p:spPr>
          <a:xfrm>
            <a:off x="10643993" y="2538263"/>
            <a:ext cx="1339534" cy="997448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DEEA77B-D3D7-0245-05B2-0DA91D35EB1A}"/>
              </a:ext>
            </a:extLst>
          </p:cNvPr>
          <p:cNvSpPr/>
          <p:nvPr/>
        </p:nvSpPr>
        <p:spPr>
          <a:xfrm>
            <a:off x="10684475" y="4328921"/>
            <a:ext cx="1339534" cy="997448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CDFB97E-FCE3-3971-6AE5-C45C12C34BCD}"/>
              </a:ext>
            </a:extLst>
          </p:cNvPr>
          <p:cNvSpPr/>
          <p:nvPr/>
        </p:nvSpPr>
        <p:spPr>
          <a:xfrm>
            <a:off x="7553129" y="4320918"/>
            <a:ext cx="1478753" cy="997448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08CE8E6-A46C-CFE0-B909-1B4ABF9D2D96}"/>
              </a:ext>
            </a:extLst>
          </p:cNvPr>
          <p:cNvSpPr/>
          <p:nvPr/>
        </p:nvSpPr>
        <p:spPr>
          <a:xfrm>
            <a:off x="7526938" y="5854759"/>
            <a:ext cx="1478753" cy="997448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0DE9D69-54A6-14B9-9A38-0F4D26B4EB8A}"/>
              </a:ext>
            </a:extLst>
          </p:cNvPr>
          <p:cNvSpPr/>
          <p:nvPr/>
        </p:nvSpPr>
        <p:spPr>
          <a:xfrm>
            <a:off x="9019981" y="5854821"/>
            <a:ext cx="1583529" cy="997448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A19E8FA-AFA5-3E36-7A4A-8C5766796911}"/>
                  </a:ext>
                </a:extLst>
              </p:cNvPr>
              <p:cNvSpPr txBox="1"/>
              <p:nvPr/>
            </p:nvSpPr>
            <p:spPr>
              <a:xfrm>
                <a:off x="8045259" y="3084167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A19E8FA-AFA5-3E36-7A4A-8C5766796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5259" y="3084167"/>
                <a:ext cx="4191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B1934D2-E973-C4F3-15C6-F53FE911BF0C}"/>
                  </a:ext>
                </a:extLst>
              </p:cNvPr>
              <p:cNvSpPr txBox="1"/>
              <p:nvPr/>
            </p:nvSpPr>
            <p:spPr>
              <a:xfrm>
                <a:off x="11160717" y="5920809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B1934D2-E973-C4F3-15C6-F53FE911B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0717" y="5920809"/>
                <a:ext cx="4191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2F3A0F6-05B2-0795-4AF9-AC84E858572B}"/>
                  </a:ext>
                </a:extLst>
              </p:cNvPr>
              <p:cNvSpPr txBox="1"/>
              <p:nvPr/>
            </p:nvSpPr>
            <p:spPr>
              <a:xfrm>
                <a:off x="11167659" y="6444734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2F3A0F6-05B2-0795-4AF9-AC84E8585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7659" y="6444734"/>
                <a:ext cx="4191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218CD76-2E7D-54A3-3B37-5AB6CCAF5772}"/>
                  </a:ext>
                </a:extLst>
              </p:cNvPr>
              <p:cNvSpPr txBox="1"/>
              <p:nvPr/>
            </p:nvSpPr>
            <p:spPr>
              <a:xfrm>
                <a:off x="8047842" y="2578471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218CD76-2E7D-54A3-3B37-5AB6CCAF5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7842" y="2578471"/>
                <a:ext cx="4191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8F684E5-2E57-1B31-804B-9269ED5F1D30}"/>
                  </a:ext>
                </a:extLst>
              </p:cNvPr>
              <p:cNvSpPr txBox="1"/>
              <p:nvPr/>
            </p:nvSpPr>
            <p:spPr>
              <a:xfrm>
                <a:off x="9628387" y="4343510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8F684E5-2E57-1B31-804B-9269ED5F1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8387" y="4343510"/>
                <a:ext cx="419100" cy="42999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0DFC4D9-0CD4-6488-4E52-41AEB0C1BD9C}"/>
                  </a:ext>
                </a:extLst>
              </p:cNvPr>
              <p:cNvSpPr txBox="1"/>
              <p:nvPr/>
            </p:nvSpPr>
            <p:spPr>
              <a:xfrm>
                <a:off x="9608144" y="4846635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0DFC4D9-0CD4-6488-4E52-41AEB0C1B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8144" y="4846635"/>
                <a:ext cx="419100" cy="42999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919257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C15F5-AC08-9D6F-54CB-BDF6F1572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5F052-8D30-2157-786B-E57FC7CB4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-9832"/>
            <a:ext cx="9429135" cy="521110"/>
          </a:xfrm>
        </p:spPr>
        <p:txBody>
          <a:bodyPr>
            <a:normAutofit fontScale="90000"/>
          </a:bodyPr>
          <a:lstStyle/>
          <a:p>
            <a:r>
              <a:rPr lang="en-US" sz="2800"/>
              <a:t>Review: The Marginal-Conditional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269D65-FCE0-DAFB-DF2B-9E938D84F0BE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DD40BD-C36B-A625-FE79-A39B851C099E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much independent political power will the Commissioner of Sanitation amass?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satisfied will residents be with the cleanliness of city streets and sidewalks?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9F07D7-F748-4A4F-8506-B62B9734707C}"/>
              </a:ext>
            </a:extLst>
          </p:cNvPr>
          <p:cNvSpPr txBox="1"/>
          <p:nvPr/>
        </p:nvSpPr>
        <p:spPr>
          <a:xfrm>
            <a:off x="4343400" y="1232852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Use the marginal-conditional method to build a model of these two uncertainties in which a the more satisfied residents are, the more likely the Commissioner is to amass more power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A01C48-122A-89AE-37C2-6F33DE5D747D}"/>
              </a:ext>
            </a:extLst>
          </p:cNvPr>
          <p:cNvSpPr txBox="1"/>
          <p:nvPr/>
        </p:nvSpPr>
        <p:spPr>
          <a:xfrm>
            <a:off x="6322295" y="679691"/>
            <a:ext cx="3093167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try it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06E36D4-D5D6-0DF2-BB33-2F91173109F5}"/>
              </a:ext>
            </a:extLst>
          </p:cNvPr>
          <p:cNvCxnSpPr>
            <a:cxnSpLocks/>
          </p:cNvCxnSpPr>
          <p:nvPr/>
        </p:nvCxnSpPr>
        <p:spPr>
          <a:xfrm>
            <a:off x="4391025" y="2146657"/>
            <a:ext cx="1921584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170C12C-516C-6AD6-8AA1-C7728940E25E}"/>
              </a:ext>
            </a:extLst>
          </p:cNvPr>
          <p:cNvCxnSpPr>
            <a:cxnSpLocks/>
          </p:cNvCxnSpPr>
          <p:nvPr/>
        </p:nvCxnSpPr>
        <p:spPr>
          <a:xfrm>
            <a:off x="4389866" y="1833017"/>
            <a:ext cx="6770851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0B4154A-2466-A3ED-18E3-2FCA81A5873D}"/>
              </a:ext>
            </a:extLst>
          </p:cNvPr>
          <p:cNvSpPr txBox="1"/>
          <p:nvPr/>
        </p:nvSpPr>
        <p:spPr>
          <a:xfrm>
            <a:off x="3905250" y="2940552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satisfaction 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D5FB5D-A62E-5192-8E10-C75583DED490}"/>
              </a:ext>
            </a:extLst>
          </p:cNvPr>
          <p:cNvSpPr txBox="1"/>
          <p:nvPr/>
        </p:nvSpPr>
        <p:spPr>
          <a:xfrm>
            <a:off x="3790950" y="4514585"/>
            <a:ext cx="2038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satisfaction medium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59580E-97C7-0373-EE32-E9A09D2FCD3F}"/>
              </a:ext>
            </a:extLst>
          </p:cNvPr>
          <p:cNvSpPr txBox="1"/>
          <p:nvPr/>
        </p:nvSpPr>
        <p:spPr>
          <a:xfrm>
            <a:off x="3790950" y="6123533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satisfaction high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946391-0C0C-3303-97C4-3A2FFA561654}"/>
              </a:ext>
            </a:extLst>
          </p:cNvPr>
          <p:cNvCxnSpPr>
            <a:cxnSpLocks/>
          </p:cNvCxnSpPr>
          <p:nvPr/>
        </p:nvCxnSpPr>
        <p:spPr>
          <a:xfrm flipV="1">
            <a:off x="1962150" y="3517134"/>
            <a:ext cx="1638300" cy="1366783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DC9BD2-106D-944B-6C5B-71397BC41DDC}"/>
              </a:ext>
            </a:extLst>
          </p:cNvPr>
          <p:cNvCxnSpPr>
            <a:cxnSpLocks/>
          </p:cNvCxnSpPr>
          <p:nvPr/>
        </p:nvCxnSpPr>
        <p:spPr>
          <a:xfrm>
            <a:off x="3600450" y="3473040"/>
            <a:ext cx="2809875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237E30A-E836-4904-71BF-7948F6CC000A}"/>
              </a:ext>
            </a:extLst>
          </p:cNvPr>
          <p:cNvCxnSpPr>
            <a:cxnSpLocks/>
          </p:cNvCxnSpPr>
          <p:nvPr/>
        </p:nvCxnSpPr>
        <p:spPr>
          <a:xfrm>
            <a:off x="1962150" y="4883917"/>
            <a:ext cx="4400553" cy="44093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9A2103-1516-51F8-C1CC-1BAA568A979E}"/>
              </a:ext>
            </a:extLst>
          </p:cNvPr>
          <p:cNvCxnSpPr>
            <a:cxnSpLocks/>
          </p:cNvCxnSpPr>
          <p:nvPr/>
        </p:nvCxnSpPr>
        <p:spPr>
          <a:xfrm>
            <a:off x="1962150" y="4905963"/>
            <a:ext cx="1638300" cy="1723437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C435675-0799-7898-4EE8-B5BDD1F441C4}"/>
              </a:ext>
            </a:extLst>
          </p:cNvPr>
          <p:cNvCxnSpPr>
            <a:cxnSpLocks/>
          </p:cNvCxnSpPr>
          <p:nvPr/>
        </p:nvCxnSpPr>
        <p:spPr>
          <a:xfrm>
            <a:off x="3429000" y="6511327"/>
            <a:ext cx="2883609" cy="3584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E5C06BE-4B54-934E-84E5-AF711B10DD6E}"/>
                  </a:ext>
                </a:extLst>
              </p:cNvPr>
              <p:cNvSpPr txBox="1"/>
              <p:nvPr/>
            </p:nvSpPr>
            <p:spPr>
              <a:xfrm>
                <a:off x="5619749" y="2858384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E5C06BE-4B54-934E-84E5-AF711B10D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749" y="2858384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702A00C-EB58-5D0C-E526-64D06F7712AA}"/>
                  </a:ext>
                </a:extLst>
              </p:cNvPr>
              <p:cNvSpPr txBox="1"/>
              <p:nvPr/>
            </p:nvSpPr>
            <p:spPr>
              <a:xfrm>
                <a:off x="5829299" y="4363389"/>
                <a:ext cx="419100" cy="41562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702A00C-EB58-5D0C-E526-64D06F771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299" y="4363389"/>
                <a:ext cx="419100" cy="415627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F5AAC03-F651-AD98-6C44-C24E6E665FF0}"/>
                  </a:ext>
                </a:extLst>
              </p:cNvPr>
              <p:cNvSpPr txBox="1"/>
              <p:nvPr/>
            </p:nvSpPr>
            <p:spPr>
              <a:xfrm>
                <a:off x="5676900" y="5982078"/>
                <a:ext cx="419100" cy="41562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F5AAC03-F651-AD98-6C44-C24E6E665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900" y="5982078"/>
                <a:ext cx="419100" cy="415627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50FF1AA4-EC16-BECF-CA83-94F0029B28A8}"/>
              </a:ext>
            </a:extLst>
          </p:cNvPr>
          <p:cNvSpPr/>
          <p:nvPr/>
        </p:nvSpPr>
        <p:spPr>
          <a:xfrm>
            <a:off x="7553130" y="2538264"/>
            <a:ext cx="4476750" cy="1008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5D4506-5A16-455B-7CD5-1127FCB3BCC8}"/>
              </a:ext>
            </a:extLst>
          </p:cNvPr>
          <p:cNvSpPr txBox="1"/>
          <p:nvPr/>
        </p:nvSpPr>
        <p:spPr>
          <a:xfrm>
            <a:off x="9079315" y="1962289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satisfied?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FFC5C8-4877-4A14-684A-0B5141969420}"/>
              </a:ext>
            </a:extLst>
          </p:cNvPr>
          <p:cNvSpPr txBox="1"/>
          <p:nvPr/>
        </p:nvSpPr>
        <p:spPr>
          <a:xfrm>
            <a:off x="7862692" y="2187162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low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4EE35A-ACAD-D742-3432-2FB8779F2617}"/>
              </a:ext>
            </a:extLst>
          </p:cNvPr>
          <p:cNvSpPr txBox="1"/>
          <p:nvPr/>
        </p:nvSpPr>
        <p:spPr>
          <a:xfrm>
            <a:off x="9343830" y="2187162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medium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2FFFC8-C9A0-C4FE-54E4-AA9A30FAC4B6}"/>
              </a:ext>
            </a:extLst>
          </p:cNvPr>
          <p:cNvSpPr txBox="1"/>
          <p:nvPr/>
        </p:nvSpPr>
        <p:spPr>
          <a:xfrm>
            <a:off x="11001180" y="2165439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high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04C2E01-086F-BD40-91FF-B0E59D13FC83}"/>
              </a:ext>
            </a:extLst>
          </p:cNvPr>
          <p:cNvCxnSpPr/>
          <p:nvPr/>
        </p:nvCxnSpPr>
        <p:spPr>
          <a:xfrm>
            <a:off x="9005692" y="2538264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ED8522F-9872-32EE-E5A5-2D6AD683B4FA}"/>
              </a:ext>
            </a:extLst>
          </p:cNvPr>
          <p:cNvCxnSpPr/>
          <p:nvPr/>
        </p:nvCxnSpPr>
        <p:spPr>
          <a:xfrm>
            <a:off x="10643992" y="2538263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F8AA14D-7367-06EE-EDE2-1A87830C7597}"/>
              </a:ext>
            </a:extLst>
          </p:cNvPr>
          <p:cNvSpPr txBox="1"/>
          <p:nvPr/>
        </p:nvSpPr>
        <p:spPr>
          <a:xfrm rot="16200000">
            <a:off x="6103842" y="2888755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powerful?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0169F54-6FF6-85E6-7451-88206EF162A3}"/>
              </a:ext>
            </a:extLst>
          </p:cNvPr>
          <p:cNvCxnSpPr>
            <a:cxnSpLocks/>
            <a:stCxn id="10" idx="1"/>
            <a:endCxn id="10" idx="3"/>
          </p:cNvCxnSpPr>
          <p:nvPr/>
        </p:nvCxnSpPr>
        <p:spPr>
          <a:xfrm>
            <a:off x="7553130" y="3042644"/>
            <a:ext cx="44767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112225F-B97E-B426-BAA9-A0490616F858}"/>
              </a:ext>
            </a:extLst>
          </p:cNvPr>
          <p:cNvSpPr txBox="1"/>
          <p:nvPr/>
        </p:nvSpPr>
        <p:spPr>
          <a:xfrm rot="16200000">
            <a:off x="6911084" y="2613113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very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5263C5-62F0-341A-4939-C8F4839F8455}"/>
              </a:ext>
            </a:extLst>
          </p:cNvPr>
          <p:cNvSpPr txBox="1"/>
          <p:nvPr/>
        </p:nvSpPr>
        <p:spPr>
          <a:xfrm rot="16200000">
            <a:off x="6918228" y="3217661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not much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EC342A-25DB-F766-85C8-4A87B7DAD675}"/>
              </a:ext>
            </a:extLst>
          </p:cNvPr>
          <p:cNvSpPr/>
          <p:nvPr/>
        </p:nvSpPr>
        <p:spPr>
          <a:xfrm>
            <a:off x="7553130" y="4301602"/>
            <a:ext cx="4476750" cy="1008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CD6D49-B28E-9A62-9552-B1252F5B4D83}"/>
              </a:ext>
            </a:extLst>
          </p:cNvPr>
          <p:cNvSpPr txBox="1"/>
          <p:nvPr/>
        </p:nvSpPr>
        <p:spPr>
          <a:xfrm>
            <a:off x="9205717" y="3642723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satisfied?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17F397-78D4-6726-6036-BD7D0CC134AD}"/>
              </a:ext>
            </a:extLst>
          </p:cNvPr>
          <p:cNvSpPr txBox="1"/>
          <p:nvPr/>
        </p:nvSpPr>
        <p:spPr>
          <a:xfrm>
            <a:off x="7862692" y="3926734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low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7838A1-FD12-24A0-939B-5D035E944C01}"/>
              </a:ext>
            </a:extLst>
          </p:cNvPr>
          <p:cNvSpPr txBox="1"/>
          <p:nvPr/>
        </p:nvSpPr>
        <p:spPr>
          <a:xfrm>
            <a:off x="9343830" y="3950500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medium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6755EA-022B-2845-5A9A-2B284D4A6A52}"/>
              </a:ext>
            </a:extLst>
          </p:cNvPr>
          <p:cNvSpPr txBox="1"/>
          <p:nvPr/>
        </p:nvSpPr>
        <p:spPr>
          <a:xfrm>
            <a:off x="11001180" y="3928777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high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AFCEA91-10D5-E5F0-BC21-8C0C0329ADDA}"/>
              </a:ext>
            </a:extLst>
          </p:cNvPr>
          <p:cNvCxnSpPr/>
          <p:nvPr/>
        </p:nvCxnSpPr>
        <p:spPr>
          <a:xfrm>
            <a:off x="9072366" y="4326333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677B812-8F5C-EF75-35C9-3486D0D4C3DB}"/>
              </a:ext>
            </a:extLst>
          </p:cNvPr>
          <p:cNvCxnSpPr/>
          <p:nvPr/>
        </p:nvCxnSpPr>
        <p:spPr>
          <a:xfrm>
            <a:off x="10643992" y="4301601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00ED94-1581-1616-D3D5-11E694B1AE5B}"/>
              </a:ext>
            </a:extLst>
          </p:cNvPr>
          <p:cNvSpPr txBox="1"/>
          <p:nvPr/>
        </p:nvSpPr>
        <p:spPr>
          <a:xfrm rot="16200000">
            <a:off x="6103842" y="4652093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powerful?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D55DAF5-5F24-B945-E887-9153DA3C6060}"/>
              </a:ext>
            </a:extLst>
          </p:cNvPr>
          <p:cNvCxnSpPr>
            <a:cxnSpLocks/>
            <a:stCxn id="18" idx="1"/>
            <a:endCxn id="18" idx="3"/>
          </p:cNvCxnSpPr>
          <p:nvPr/>
        </p:nvCxnSpPr>
        <p:spPr>
          <a:xfrm>
            <a:off x="7553130" y="4805982"/>
            <a:ext cx="44767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9C90FAD-8A14-B884-A85A-B8B18193A2A5}"/>
              </a:ext>
            </a:extLst>
          </p:cNvPr>
          <p:cNvSpPr txBox="1"/>
          <p:nvPr/>
        </p:nvSpPr>
        <p:spPr>
          <a:xfrm rot="16200000">
            <a:off x="6911084" y="4376451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very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A45A8C-0178-80A6-30C6-D500E2D60988}"/>
              </a:ext>
            </a:extLst>
          </p:cNvPr>
          <p:cNvSpPr txBox="1"/>
          <p:nvPr/>
        </p:nvSpPr>
        <p:spPr>
          <a:xfrm rot="16200000">
            <a:off x="6918228" y="4980999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not much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B17A126-BA57-9CF4-29E5-E9143C212093}"/>
              </a:ext>
            </a:extLst>
          </p:cNvPr>
          <p:cNvSpPr/>
          <p:nvPr/>
        </p:nvSpPr>
        <p:spPr>
          <a:xfrm>
            <a:off x="7512648" y="5846755"/>
            <a:ext cx="4476750" cy="1008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13DF797-0D98-84B1-591F-C8E540F2DAE6}"/>
              </a:ext>
            </a:extLst>
          </p:cNvPr>
          <p:cNvSpPr txBox="1"/>
          <p:nvPr/>
        </p:nvSpPr>
        <p:spPr>
          <a:xfrm>
            <a:off x="9195996" y="5309241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satisfied?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F8E7E7-F88A-AFE6-F913-AF48007B6C78}"/>
              </a:ext>
            </a:extLst>
          </p:cNvPr>
          <p:cNvSpPr txBox="1"/>
          <p:nvPr/>
        </p:nvSpPr>
        <p:spPr>
          <a:xfrm>
            <a:off x="7822210" y="5495653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low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5624D83-F7F6-2AB7-4D80-7377F53E7609}"/>
              </a:ext>
            </a:extLst>
          </p:cNvPr>
          <p:cNvSpPr txBox="1"/>
          <p:nvPr/>
        </p:nvSpPr>
        <p:spPr>
          <a:xfrm>
            <a:off x="9303348" y="5495653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medium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1C9EEB4-FD1F-09A7-D7F8-B123C64C0AE6}"/>
              </a:ext>
            </a:extLst>
          </p:cNvPr>
          <p:cNvSpPr txBox="1"/>
          <p:nvPr/>
        </p:nvSpPr>
        <p:spPr>
          <a:xfrm>
            <a:off x="10960698" y="5473930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high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5E9306A-05B5-8BEC-447F-B4A434DD4DA5}"/>
              </a:ext>
            </a:extLst>
          </p:cNvPr>
          <p:cNvCxnSpPr/>
          <p:nvPr/>
        </p:nvCxnSpPr>
        <p:spPr>
          <a:xfrm>
            <a:off x="8965210" y="5846755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4A557E6-9AC6-2B26-C403-C59E3846BABC}"/>
              </a:ext>
            </a:extLst>
          </p:cNvPr>
          <p:cNvCxnSpPr/>
          <p:nvPr/>
        </p:nvCxnSpPr>
        <p:spPr>
          <a:xfrm>
            <a:off x="10603510" y="5846754"/>
            <a:ext cx="0" cy="1008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D777C39-5EAD-05F2-90FA-C57BF070CFE3}"/>
              </a:ext>
            </a:extLst>
          </p:cNvPr>
          <p:cNvSpPr txBox="1"/>
          <p:nvPr/>
        </p:nvSpPr>
        <p:spPr>
          <a:xfrm rot="16200000">
            <a:off x="6063360" y="6197246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how powerful?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7F4B1D5-BD87-084A-7A75-99C5F2EB08F9}"/>
              </a:ext>
            </a:extLst>
          </p:cNvPr>
          <p:cNvCxnSpPr>
            <a:cxnSpLocks/>
            <a:stCxn id="42" idx="1"/>
            <a:endCxn id="42" idx="3"/>
          </p:cNvCxnSpPr>
          <p:nvPr/>
        </p:nvCxnSpPr>
        <p:spPr>
          <a:xfrm>
            <a:off x="7512648" y="6351135"/>
            <a:ext cx="44767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05FB6EEB-68FC-9624-7AAD-764390075EE4}"/>
              </a:ext>
            </a:extLst>
          </p:cNvPr>
          <p:cNvSpPr txBox="1"/>
          <p:nvPr/>
        </p:nvSpPr>
        <p:spPr>
          <a:xfrm rot="16200000">
            <a:off x="6870602" y="5921604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very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5AC057B-1113-33E8-11F8-84408D83A0A0}"/>
              </a:ext>
            </a:extLst>
          </p:cNvPr>
          <p:cNvSpPr txBox="1"/>
          <p:nvPr/>
        </p:nvSpPr>
        <p:spPr>
          <a:xfrm rot="16200000">
            <a:off x="6877746" y="6526152"/>
            <a:ext cx="89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not much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718B3A8-1AC7-78FF-C7B4-561029190B7B}"/>
              </a:ext>
            </a:extLst>
          </p:cNvPr>
          <p:cNvSpPr/>
          <p:nvPr/>
        </p:nvSpPr>
        <p:spPr>
          <a:xfrm>
            <a:off x="9005692" y="2538263"/>
            <a:ext cx="1604957" cy="997448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8A1D579-A332-16CB-68A6-689E01E75882}"/>
              </a:ext>
            </a:extLst>
          </p:cNvPr>
          <p:cNvSpPr/>
          <p:nvPr/>
        </p:nvSpPr>
        <p:spPr>
          <a:xfrm>
            <a:off x="10643993" y="2538263"/>
            <a:ext cx="1339534" cy="997448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C993649-E247-CF79-2BB4-6449F766CE26}"/>
              </a:ext>
            </a:extLst>
          </p:cNvPr>
          <p:cNvSpPr/>
          <p:nvPr/>
        </p:nvSpPr>
        <p:spPr>
          <a:xfrm>
            <a:off x="10684475" y="4328921"/>
            <a:ext cx="1339534" cy="997448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EF11B7-4040-B3B5-2FF8-2FBC55904E1A}"/>
              </a:ext>
            </a:extLst>
          </p:cNvPr>
          <p:cNvSpPr/>
          <p:nvPr/>
        </p:nvSpPr>
        <p:spPr>
          <a:xfrm>
            <a:off x="7553129" y="4320918"/>
            <a:ext cx="1478753" cy="997448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1BCFE75-EE8A-0FDF-F660-6A64EDDD4692}"/>
              </a:ext>
            </a:extLst>
          </p:cNvPr>
          <p:cNvSpPr/>
          <p:nvPr/>
        </p:nvSpPr>
        <p:spPr>
          <a:xfrm>
            <a:off x="7526938" y="5854759"/>
            <a:ext cx="1478753" cy="997448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2D611CE-5CD6-B9F9-2780-19537E2E01D2}"/>
              </a:ext>
            </a:extLst>
          </p:cNvPr>
          <p:cNvSpPr/>
          <p:nvPr/>
        </p:nvSpPr>
        <p:spPr>
          <a:xfrm>
            <a:off x="9019981" y="5854821"/>
            <a:ext cx="1583529" cy="997448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E0AE6BC-FCEF-01C4-FA87-5C53C4761E81}"/>
                  </a:ext>
                </a:extLst>
              </p:cNvPr>
              <p:cNvSpPr txBox="1"/>
              <p:nvPr/>
            </p:nvSpPr>
            <p:spPr>
              <a:xfrm>
                <a:off x="8045259" y="3084167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E0AE6BC-FCEF-01C4-FA87-5C53C4761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5259" y="3084167"/>
                <a:ext cx="4191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01188E1-71AC-0B3A-A2C6-4042A94CB47B}"/>
                  </a:ext>
                </a:extLst>
              </p:cNvPr>
              <p:cNvSpPr txBox="1"/>
              <p:nvPr/>
            </p:nvSpPr>
            <p:spPr>
              <a:xfrm>
                <a:off x="11160717" y="5920809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01188E1-71AC-0B3A-A2C6-4042A94CB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0717" y="5920809"/>
                <a:ext cx="4191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CD9AEB3-0140-5E0A-EE4F-C8FF1D955D45}"/>
                  </a:ext>
                </a:extLst>
              </p:cNvPr>
              <p:cNvSpPr txBox="1"/>
              <p:nvPr/>
            </p:nvSpPr>
            <p:spPr>
              <a:xfrm>
                <a:off x="11167659" y="6444734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CD9AEB3-0140-5E0A-EE4F-C8FF1D955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7659" y="6444734"/>
                <a:ext cx="4191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F5DAB5D-E0B7-7DB0-3E8F-B78EB4170340}"/>
                  </a:ext>
                </a:extLst>
              </p:cNvPr>
              <p:cNvSpPr txBox="1"/>
              <p:nvPr/>
            </p:nvSpPr>
            <p:spPr>
              <a:xfrm>
                <a:off x="8047842" y="2578471"/>
                <a:ext cx="419100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F5DAB5D-E0B7-7DB0-3E8F-B78EB4170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7842" y="2578471"/>
                <a:ext cx="4191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DA8D69E-8C8E-CC19-A1A3-4D995C9B5ADD}"/>
                  </a:ext>
                </a:extLst>
              </p:cNvPr>
              <p:cNvSpPr txBox="1"/>
              <p:nvPr/>
            </p:nvSpPr>
            <p:spPr>
              <a:xfrm>
                <a:off x="9628387" y="4343510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DA8D69E-8C8E-CC19-A1A3-4D995C9B5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8387" y="4343510"/>
                <a:ext cx="419100" cy="42999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5B0481A-5830-6BC3-2140-99406095739B}"/>
                  </a:ext>
                </a:extLst>
              </p:cNvPr>
              <p:cNvSpPr txBox="1"/>
              <p:nvPr/>
            </p:nvSpPr>
            <p:spPr>
              <a:xfrm>
                <a:off x="9608144" y="4846635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5B0481A-5830-6BC3-2140-994060957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8144" y="4846635"/>
                <a:ext cx="419100" cy="42999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A0D261DA-58C9-ECBF-A169-C6BE4B2DCE02}"/>
              </a:ext>
            </a:extLst>
          </p:cNvPr>
          <p:cNvSpPr txBox="1"/>
          <p:nvPr/>
        </p:nvSpPr>
        <p:spPr>
          <a:xfrm rot="19610468">
            <a:off x="-284995" y="1003170"/>
            <a:ext cx="5054690" cy="230832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ysClr val="windowText" lastClr="000000"/>
                </a:solidFill>
              </a:rPr>
              <a:t>I’m going to do this in the opposite order</a:t>
            </a:r>
          </a:p>
          <a:p>
            <a:r>
              <a:rPr lang="en-US" sz="3600" dirty="0">
                <a:solidFill>
                  <a:sysClr val="windowText" lastClr="000000"/>
                </a:solidFill>
              </a:rPr>
              <a:t>(To show you that either order is ok!!!)</a:t>
            </a:r>
          </a:p>
        </p:txBody>
      </p:sp>
    </p:spTree>
    <p:extLst>
      <p:ext uri="{BB962C8B-B14F-4D97-AF65-F5344CB8AC3E}">
        <p14:creationId xmlns:p14="http://schemas.microsoft.com/office/powerpoint/2010/main" val="99880238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67D81-FD0C-8D40-041F-7099CB13D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2B07FA2-FE33-435D-C4F3-BA9190EE7357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7EC4AC-7AA2-8CDF-3E38-207E445EBB97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BF7EFF-0B6B-987D-957C-3C30E1AAC25B}"/>
              </a:ext>
            </a:extLst>
          </p:cNvPr>
          <p:cNvSpPr txBox="1"/>
          <p:nvPr/>
        </p:nvSpPr>
        <p:spPr>
          <a:xfrm>
            <a:off x="4343399" y="1023302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Build a marginal-conditional diagram to model these two uncertainties.  Design the model so that the more satisfied are residents, the more likely the commissioner is to be more powerful.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8FFECF-F569-5107-E146-4DD4F1A896D8}"/>
              </a:ext>
            </a:extLst>
          </p:cNvPr>
          <p:cNvSpPr txBox="1"/>
          <p:nvPr/>
        </p:nvSpPr>
        <p:spPr>
          <a:xfrm>
            <a:off x="6368691" y="494989"/>
            <a:ext cx="3093167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try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8D8B86-493C-4D6E-6463-53987D90F7EE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much independent political power will the Commissioner of Sanitation amass?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satisfied will residents be with the cleanliness of city streets and sidewalks?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DA01B52-A226-3A46-7327-443AE4D04699}"/>
              </a:ext>
            </a:extLst>
          </p:cNvPr>
          <p:cNvCxnSpPr/>
          <p:nvPr/>
        </p:nvCxnSpPr>
        <p:spPr>
          <a:xfrm>
            <a:off x="5981700" y="1590675"/>
            <a:ext cx="4381500" cy="0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7B1243E-F87D-1339-4337-4B7EBEBC5F46}"/>
              </a:ext>
            </a:extLst>
          </p:cNvPr>
          <p:cNvCxnSpPr>
            <a:cxnSpLocks/>
          </p:cNvCxnSpPr>
          <p:nvPr/>
        </p:nvCxnSpPr>
        <p:spPr>
          <a:xfrm flipV="1">
            <a:off x="4467225" y="1946632"/>
            <a:ext cx="3114675" cy="9525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060607C-DF35-636B-4233-70CE2FC0F547}"/>
              </a:ext>
            </a:extLst>
          </p:cNvPr>
          <p:cNvSpPr/>
          <p:nvPr/>
        </p:nvSpPr>
        <p:spPr>
          <a:xfrm>
            <a:off x="4048126" y="2981323"/>
            <a:ext cx="7935400" cy="349567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CB4CF5-E9C2-8724-A273-AA095CE64E02}"/>
              </a:ext>
            </a:extLst>
          </p:cNvPr>
          <p:cNvSpPr txBox="1"/>
          <p:nvPr/>
        </p:nvSpPr>
        <p:spPr>
          <a:xfrm>
            <a:off x="6152153" y="536880"/>
            <a:ext cx="5769624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Step 2: Label and divide the </a:t>
            </a:r>
            <a:r>
              <a:rPr lang="en-US" b="1"/>
              <a:t>horizontal</a:t>
            </a:r>
            <a:r>
              <a:rPr lang="en-US"/>
              <a:t> axis to show </a:t>
            </a:r>
            <a:r>
              <a:rPr lang="en-US" b="1"/>
              <a:t>marginal</a:t>
            </a:r>
            <a:r>
              <a:rPr lang="en-US"/>
              <a:t> uncertainty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FD7C0A-C3D8-5C6A-93B7-5EBB76ABA1EA}"/>
              </a:ext>
            </a:extLst>
          </p:cNvPr>
          <p:cNvSpPr txBox="1"/>
          <p:nvPr/>
        </p:nvSpPr>
        <p:spPr>
          <a:xfrm>
            <a:off x="6490447" y="1988772"/>
            <a:ext cx="31146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how much power?</a:t>
            </a:r>
          </a:p>
        </p:txBody>
      </p:sp>
    </p:spTree>
    <p:extLst>
      <p:ext uri="{BB962C8B-B14F-4D97-AF65-F5344CB8AC3E}">
        <p14:creationId xmlns:p14="http://schemas.microsoft.com/office/powerpoint/2010/main" val="14073602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6F5F0-177F-EAD9-BE45-7738E24B9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56900AC-558E-86C4-F2B6-C9A19201ADCC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A2F8E2-7F26-E434-D9DD-AF9F94CBC0F4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23CA37-241D-CAF9-574F-808566DC18DD}"/>
              </a:ext>
            </a:extLst>
          </p:cNvPr>
          <p:cNvSpPr txBox="1"/>
          <p:nvPr/>
        </p:nvSpPr>
        <p:spPr>
          <a:xfrm>
            <a:off x="4343399" y="1023302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Build a marginal-conditional diagram to model these two uncertainties.  Design the model so that the more satisfied are residents, the more likely the commissioner is to be more powerful.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7C4738-C7A8-B8AF-9B69-C0E2D538C511}"/>
              </a:ext>
            </a:extLst>
          </p:cNvPr>
          <p:cNvSpPr txBox="1"/>
          <p:nvPr/>
        </p:nvSpPr>
        <p:spPr>
          <a:xfrm>
            <a:off x="6368691" y="494989"/>
            <a:ext cx="3093167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try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B7431D-56FC-6361-0A22-D840E1AC7FEA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much independent political power will the Commissioner of Sanitation amass?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satisfied will residents be with the cleanliness of city streets and sidewalks?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D2996-8159-FC63-89FB-734DD31327F2}"/>
              </a:ext>
            </a:extLst>
          </p:cNvPr>
          <p:cNvCxnSpPr/>
          <p:nvPr/>
        </p:nvCxnSpPr>
        <p:spPr>
          <a:xfrm>
            <a:off x="5981700" y="1590675"/>
            <a:ext cx="4381500" cy="0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21913DF-1B31-274B-5CE3-0012EB297244}"/>
              </a:ext>
            </a:extLst>
          </p:cNvPr>
          <p:cNvCxnSpPr>
            <a:cxnSpLocks/>
          </p:cNvCxnSpPr>
          <p:nvPr/>
        </p:nvCxnSpPr>
        <p:spPr>
          <a:xfrm flipV="1">
            <a:off x="4467225" y="1946632"/>
            <a:ext cx="3114675" cy="9525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80BCDE8-2A92-1C2B-B3EC-F1042A705CB3}"/>
              </a:ext>
            </a:extLst>
          </p:cNvPr>
          <p:cNvSpPr/>
          <p:nvPr/>
        </p:nvSpPr>
        <p:spPr>
          <a:xfrm>
            <a:off x="4048126" y="2981323"/>
            <a:ext cx="7935400" cy="349567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C2B9AB-4AEA-4755-B112-C345251619E3}"/>
              </a:ext>
            </a:extLst>
          </p:cNvPr>
          <p:cNvSpPr txBox="1"/>
          <p:nvPr/>
        </p:nvSpPr>
        <p:spPr>
          <a:xfrm>
            <a:off x="6152153" y="536880"/>
            <a:ext cx="5769624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Step 2: Label and divide the </a:t>
            </a:r>
            <a:r>
              <a:rPr lang="en-US" b="1"/>
              <a:t>horizontal</a:t>
            </a:r>
            <a:r>
              <a:rPr lang="en-US"/>
              <a:t> axis to show </a:t>
            </a:r>
            <a:r>
              <a:rPr lang="en-US" b="1"/>
              <a:t>marginal</a:t>
            </a:r>
            <a:r>
              <a:rPr lang="en-US"/>
              <a:t> uncertainty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962618-C1D0-B2CE-95A6-09FE9C4E968D}"/>
              </a:ext>
            </a:extLst>
          </p:cNvPr>
          <p:cNvSpPr txBox="1"/>
          <p:nvPr/>
        </p:nvSpPr>
        <p:spPr>
          <a:xfrm>
            <a:off x="6490447" y="1988772"/>
            <a:ext cx="31146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how much power?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D6AB66-3C0E-D41A-5412-390D04F8CF52}"/>
              </a:ext>
            </a:extLst>
          </p:cNvPr>
          <p:cNvSpPr txBox="1"/>
          <p:nvPr/>
        </p:nvSpPr>
        <p:spPr>
          <a:xfrm>
            <a:off x="4114498" y="2514005"/>
            <a:ext cx="18672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Winnie the pooh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B9AFFA-BF2B-44A9-27CE-CB3AEC98B49A}"/>
              </a:ext>
            </a:extLst>
          </p:cNvPr>
          <p:cNvSpPr txBox="1"/>
          <p:nvPr/>
        </p:nvSpPr>
        <p:spPr>
          <a:xfrm>
            <a:off x="6786336" y="2514005"/>
            <a:ext cx="2458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wicked witch of the west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346653-6B40-91E8-23B3-BEF49D31ECE6}"/>
              </a:ext>
            </a:extLst>
          </p:cNvPr>
          <p:cNvSpPr txBox="1"/>
          <p:nvPr/>
        </p:nvSpPr>
        <p:spPr>
          <a:xfrm>
            <a:off x="9733020" y="2550834"/>
            <a:ext cx="2458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err="1"/>
              <a:t>godzilla</a:t>
            </a:r>
            <a:endParaRPr lang="en-US" sz="16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B4D4E23-DF57-6957-46E9-2550B85E68A1}"/>
              </a:ext>
            </a:extLst>
          </p:cNvPr>
          <p:cNvCxnSpPr/>
          <p:nvPr/>
        </p:nvCxnSpPr>
        <p:spPr>
          <a:xfrm>
            <a:off x="6368691" y="2981323"/>
            <a:ext cx="0" cy="3495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04B7F5E-64A0-0CCE-A320-26CB7B26570E}"/>
              </a:ext>
            </a:extLst>
          </p:cNvPr>
          <p:cNvCxnSpPr/>
          <p:nvPr/>
        </p:nvCxnSpPr>
        <p:spPr>
          <a:xfrm>
            <a:off x="9745735" y="2981323"/>
            <a:ext cx="0" cy="3495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011525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08F50-7FD3-1585-81C0-6AFB7F8E2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12AA24F-37E1-4D20-7072-DE512E6AEA64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EFECF8-EB77-2D22-C2F9-A78D9BA84207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7BFC5D-10E4-6E2B-9C1D-4AF33669C75D}"/>
              </a:ext>
            </a:extLst>
          </p:cNvPr>
          <p:cNvSpPr txBox="1"/>
          <p:nvPr/>
        </p:nvSpPr>
        <p:spPr>
          <a:xfrm>
            <a:off x="4343399" y="1023302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Build a marginal-conditional diagram to model these two uncertainties.  Design the model so that the more satisfied are residents, the more likely the commissioner is to be more powerful.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81D156-D032-9972-C9CE-A4029367EA21}"/>
              </a:ext>
            </a:extLst>
          </p:cNvPr>
          <p:cNvSpPr txBox="1"/>
          <p:nvPr/>
        </p:nvSpPr>
        <p:spPr>
          <a:xfrm>
            <a:off x="6368691" y="494989"/>
            <a:ext cx="3093167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try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B9D056-8082-4488-2697-36256B1C29D7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much independent political power will the Commissioner of Sanitation amass?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satisfied will residents be with the cleanliness of city streets and sidewalks?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114DBD0-9E0E-41E5-761A-1B90F17F6258}"/>
              </a:ext>
            </a:extLst>
          </p:cNvPr>
          <p:cNvCxnSpPr/>
          <p:nvPr/>
        </p:nvCxnSpPr>
        <p:spPr>
          <a:xfrm>
            <a:off x="5981700" y="1590675"/>
            <a:ext cx="4381500" cy="0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157970C-B1D7-3FD5-BD8B-A5EB48466EB5}"/>
              </a:ext>
            </a:extLst>
          </p:cNvPr>
          <p:cNvCxnSpPr>
            <a:cxnSpLocks/>
          </p:cNvCxnSpPr>
          <p:nvPr/>
        </p:nvCxnSpPr>
        <p:spPr>
          <a:xfrm flipV="1">
            <a:off x="4467225" y="1946632"/>
            <a:ext cx="3114675" cy="9525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F596AE0-9359-7F04-885F-4D8EA62672FB}"/>
              </a:ext>
            </a:extLst>
          </p:cNvPr>
          <p:cNvSpPr/>
          <p:nvPr/>
        </p:nvSpPr>
        <p:spPr>
          <a:xfrm>
            <a:off x="4048126" y="2981323"/>
            <a:ext cx="7935400" cy="349567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085491-A798-4F01-12E7-F049E948C375}"/>
              </a:ext>
            </a:extLst>
          </p:cNvPr>
          <p:cNvSpPr txBox="1"/>
          <p:nvPr/>
        </p:nvSpPr>
        <p:spPr>
          <a:xfrm>
            <a:off x="6152153" y="536880"/>
            <a:ext cx="5769624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Step 2: Label and divide the </a:t>
            </a:r>
            <a:r>
              <a:rPr lang="en-US" b="1"/>
              <a:t>horizontal</a:t>
            </a:r>
            <a:r>
              <a:rPr lang="en-US"/>
              <a:t> axis to show </a:t>
            </a:r>
            <a:r>
              <a:rPr lang="en-US" b="1"/>
              <a:t>marginal</a:t>
            </a:r>
            <a:r>
              <a:rPr lang="en-US"/>
              <a:t> uncertainty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570AE9-47D6-D5BB-CB72-B15577B53708}"/>
              </a:ext>
            </a:extLst>
          </p:cNvPr>
          <p:cNvSpPr txBox="1"/>
          <p:nvPr/>
        </p:nvSpPr>
        <p:spPr>
          <a:xfrm>
            <a:off x="6490447" y="1988772"/>
            <a:ext cx="31146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how much power?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1EE17D-95D6-F855-CF87-346258CE6357}"/>
              </a:ext>
            </a:extLst>
          </p:cNvPr>
          <p:cNvSpPr txBox="1"/>
          <p:nvPr/>
        </p:nvSpPr>
        <p:spPr>
          <a:xfrm>
            <a:off x="4114498" y="2514005"/>
            <a:ext cx="18672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Winnie the pooh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21E2DC-4516-8A28-ACDA-FB701C1329AD}"/>
              </a:ext>
            </a:extLst>
          </p:cNvPr>
          <p:cNvSpPr txBox="1"/>
          <p:nvPr/>
        </p:nvSpPr>
        <p:spPr>
          <a:xfrm>
            <a:off x="6786336" y="2514005"/>
            <a:ext cx="2458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wicked witch of the west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F02575-AD0A-667B-6E24-B6E21C514654}"/>
              </a:ext>
            </a:extLst>
          </p:cNvPr>
          <p:cNvSpPr txBox="1"/>
          <p:nvPr/>
        </p:nvSpPr>
        <p:spPr>
          <a:xfrm>
            <a:off x="9733020" y="2550834"/>
            <a:ext cx="2458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err="1"/>
              <a:t>godzilla</a:t>
            </a:r>
            <a:endParaRPr lang="en-US" sz="16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43EE693-3705-47DA-43EC-ED4D5BD76976}"/>
              </a:ext>
            </a:extLst>
          </p:cNvPr>
          <p:cNvCxnSpPr/>
          <p:nvPr/>
        </p:nvCxnSpPr>
        <p:spPr>
          <a:xfrm>
            <a:off x="6368691" y="2981323"/>
            <a:ext cx="0" cy="3495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BC62B10-845D-A7E4-348F-0199B04B93D6}"/>
              </a:ext>
            </a:extLst>
          </p:cNvPr>
          <p:cNvCxnSpPr/>
          <p:nvPr/>
        </p:nvCxnSpPr>
        <p:spPr>
          <a:xfrm>
            <a:off x="9745735" y="2981323"/>
            <a:ext cx="0" cy="3495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28A2F7-4B98-1296-249D-C83AA103FADA}"/>
                  </a:ext>
                </a:extLst>
              </p:cNvPr>
              <p:cNvSpPr txBox="1"/>
              <p:nvPr/>
            </p:nvSpPr>
            <p:spPr>
              <a:xfrm>
                <a:off x="5815012" y="2395159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28A2F7-4B98-1296-249D-C83AA103F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012" y="2395159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8BE7011-7F63-9B1E-3189-B9308302FC46}"/>
                  </a:ext>
                </a:extLst>
              </p:cNvPr>
              <p:cNvSpPr txBox="1"/>
              <p:nvPr/>
            </p:nvSpPr>
            <p:spPr>
              <a:xfrm>
                <a:off x="9042758" y="2385634"/>
                <a:ext cx="419100" cy="42139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8BE7011-7F63-9B1E-3189-B9308302F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758" y="2385634"/>
                <a:ext cx="419100" cy="421397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2CC1631-BFBA-CA60-2F7B-C926A1A951A8}"/>
                  </a:ext>
                </a:extLst>
              </p:cNvPr>
              <p:cNvSpPr txBox="1"/>
              <p:nvPr/>
            </p:nvSpPr>
            <p:spPr>
              <a:xfrm>
                <a:off x="11374033" y="2385633"/>
                <a:ext cx="419100" cy="41748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2CC1631-BFBA-CA60-2F7B-C926A1A95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4033" y="2385633"/>
                <a:ext cx="419100" cy="417487"/>
              </a:xfrm>
              <a:prstGeom prst="rect">
                <a:avLst/>
              </a:prstGeom>
              <a:blipFill>
                <a:blip r:embed="rId4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962359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80126-251A-B1CF-4875-AE10CF970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DAE1E57-9483-13E6-C7BB-375FE66EE0E8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D47987-487F-DC92-0A0F-48365B66753B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79A32F-4393-A143-CCB1-867253F682CA}"/>
              </a:ext>
            </a:extLst>
          </p:cNvPr>
          <p:cNvSpPr txBox="1"/>
          <p:nvPr/>
        </p:nvSpPr>
        <p:spPr>
          <a:xfrm>
            <a:off x="4343399" y="1023302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Build a marginal-conditional diagram to model these two uncertainties.  Design the model so that the more satisfied are residents, the more likely the commissioner is to be more powerful.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E17063-4DC5-1F63-7B56-522501C2F41F}"/>
              </a:ext>
            </a:extLst>
          </p:cNvPr>
          <p:cNvSpPr txBox="1"/>
          <p:nvPr/>
        </p:nvSpPr>
        <p:spPr>
          <a:xfrm>
            <a:off x="6368691" y="494989"/>
            <a:ext cx="3093167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try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81E24F-C6AE-9C7E-7424-D2718D514852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much independent political power will the Commissioner of Sanitation amass?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satisfied will residents be with the cleanliness of city streets and sidewalks?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245ABE7-3E8E-74A2-E980-0C89B2CDE178}"/>
              </a:ext>
            </a:extLst>
          </p:cNvPr>
          <p:cNvCxnSpPr/>
          <p:nvPr/>
        </p:nvCxnSpPr>
        <p:spPr>
          <a:xfrm>
            <a:off x="5981700" y="1590675"/>
            <a:ext cx="4381500" cy="0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245681C-6F5C-50A0-13F2-F9F8205B597D}"/>
              </a:ext>
            </a:extLst>
          </p:cNvPr>
          <p:cNvCxnSpPr>
            <a:cxnSpLocks/>
          </p:cNvCxnSpPr>
          <p:nvPr/>
        </p:nvCxnSpPr>
        <p:spPr>
          <a:xfrm flipV="1">
            <a:off x="4467225" y="1946632"/>
            <a:ext cx="3114675" cy="9525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F6A8F3D-B91F-7B21-9FED-75A7E2620F8C}"/>
              </a:ext>
            </a:extLst>
          </p:cNvPr>
          <p:cNvSpPr/>
          <p:nvPr/>
        </p:nvSpPr>
        <p:spPr>
          <a:xfrm>
            <a:off x="4048126" y="2981323"/>
            <a:ext cx="7935400" cy="349567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913593-C043-E2E8-1FE3-00D7CBAF3EB6}"/>
              </a:ext>
            </a:extLst>
          </p:cNvPr>
          <p:cNvSpPr txBox="1"/>
          <p:nvPr/>
        </p:nvSpPr>
        <p:spPr>
          <a:xfrm>
            <a:off x="6152153" y="536880"/>
            <a:ext cx="5769624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Step 2: Label and divide the </a:t>
            </a:r>
            <a:r>
              <a:rPr lang="en-US" b="1"/>
              <a:t>horizontal</a:t>
            </a:r>
            <a:r>
              <a:rPr lang="en-US"/>
              <a:t> axis to show </a:t>
            </a:r>
            <a:r>
              <a:rPr lang="en-US" b="1"/>
              <a:t>marginal</a:t>
            </a:r>
            <a:r>
              <a:rPr lang="en-US"/>
              <a:t> uncertainty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564149-8A3B-133B-4D9E-3A3C58685255}"/>
              </a:ext>
            </a:extLst>
          </p:cNvPr>
          <p:cNvSpPr txBox="1"/>
          <p:nvPr/>
        </p:nvSpPr>
        <p:spPr>
          <a:xfrm>
            <a:off x="6694310" y="1889487"/>
            <a:ext cx="31146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how much power?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677FE4-8A81-57A6-3DE9-652E77B70C1A}"/>
              </a:ext>
            </a:extLst>
          </p:cNvPr>
          <p:cNvSpPr txBox="1"/>
          <p:nvPr/>
        </p:nvSpPr>
        <p:spPr>
          <a:xfrm>
            <a:off x="4048126" y="2102806"/>
            <a:ext cx="18672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Winnie the pooh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0143D8-D3B3-5469-D9BE-BD55C2D166CC}"/>
              </a:ext>
            </a:extLst>
          </p:cNvPr>
          <p:cNvSpPr txBox="1"/>
          <p:nvPr/>
        </p:nvSpPr>
        <p:spPr>
          <a:xfrm>
            <a:off x="6198891" y="2433054"/>
            <a:ext cx="2458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wicked witch of the west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708063-543A-F69E-63B2-6AD8AE53C027}"/>
              </a:ext>
            </a:extLst>
          </p:cNvPr>
          <p:cNvSpPr txBox="1"/>
          <p:nvPr/>
        </p:nvSpPr>
        <p:spPr>
          <a:xfrm>
            <a:off x="9779292" y="2120722"/>
            <a:ext cx="2458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err="1"/>
              <a:t>godzilla</a:t>
            </a:r>
            <a:endParaRPr lang="en-US" sz="16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22A22E-9521-880C-F4AC-D4ECDDC03B8B}"/>
              </a:ext>
            </a:extLst>
          </p:cNvPr>
          <p:cNvCxnSpPr/>
          <p:nvPr/>
        </p:nvCxnSpPr>
        <p:spPr>
          <a:xfrm>
            <a:off x="5319820" y="2981323"/>
            <a:ext cx="0" cy="3495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FE9726C-C6A0-4806-CF5A-1ED839895847}"/>
              </a:ext>
            </a:extLst>
          </p:cNvPr>
          <p:cNvCxnSpPr/>
          <p:nvPr/>
        </p:nvCxnSpPr>
        <p:spPr>
          <a:xfrm>
            <a:off x="9844347" y="2981323"/>
            <a:ext cx="0" cy="3495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2A4521-17D3-3BCC-657B-B645BDEF7113}"/>
                  </a:ext>
                </a:extLst>
              </p:cNvPr>
              <p:cNvSpPr txBox="1"/>
              <p:nvPr/>
            </p:nvSpPr>
            <p:spPr>
              <a:xfrm>
                <a:off x="4570233" y="2464187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2A4521-17D3-3BCC-657B-B645BDEF7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0233" y="2464187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C5A5BA5-179A-4689-524E-5D14DE48E051}"/>
                  </a:ext>
                </a:extLst>
              </p:cNvPr>
              <p:cNvSpPr txBox="1"/>
              <p:nvPr/>
            </p:nvSpPr>
            <p:spPr>
              <a:xfrm>
                <a:off x="8522334" y="2378101"/>
                <a:ext cx="419100" cy="42139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C5A5BA5-179A-4689-524E-5D14DE48E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2334" y="2378101"/>
                <a:ext cx="419100" cy="421397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5E1363-FC91-51CF-BF5E-B38E0565AEC8}"/>
                  </a:ext>
                </a:extLst>
              </p:cNvPr>
              <p:cNvSpPr txBox="1"/>
              <p:nvPr/>
            </p:nvSpPr>
            <p:spPr>
              <a:xfrm>
                <a:off x="10799232" y="2486595"/>
                <a:ext cx="419100" cy="41748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5E1363-FC91-51CF-BF5E-B38E0565A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232" y="2486595"/>
                <a:ext cx="419100" cy="417487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B7E76DBE-CB08-963B-8C1B-FE622A317E2B}"/>
              </a:ext>
            </a:extLst>
          </p:cNvPr>
          <p:cNvSpPr txBox="1"/>
          <p:nvPr/>
        </p:nvSpPr>
        <p:spPr>
          <a:xfrm rot="20417560">
            <a:off x="2195030" y="2750196"/>
            <a:ext cx="1983252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i="1"/>
              <a:t>probabilities are proportions!!!!</a:t>
            </a:r>
          </a:p>
        </p:txBody>
      </p:sp>
    </p:spTree>
    <p:extLst>
      <p:ext uri="{BB962C8B-B14F-4D97-AF65-F5344CB8AC3E}">
        <p14:creationId xmlns:p14="http://schemas.microsoft.com/office/powerpoint/2010/main" val="387394361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B3962-43E3-2F0D-0CAF-F16D2D803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AE583BF-4DFF-EB18-30B3-EA8E87DEB497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3CC5BA-F443-BA07-EF9B-E012F7A6C722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EE87E7-D742-C4A3-F120-C7D50BAE9C91}"/>
              </a:ext>
            </a:extLst>
          </p:cNvPr>
          <p:cNvSpPr txBox="1"/>
          <p:nvPr/>
        </p:nvSpPr>
        <p:spPr>
          <a:xfrm>
            <a:off x="4343399" y="1023302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Build a marginal-conditional diagram to model these two uncertainties.  Design the model so that the more satisfied are residents, the more likely the commissioner is to be more powerful.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8C285C-7E8F-C588-87DC-0AF658791671}"/>
              </a:ext>
            </a:extLst>
          </p:cNvPr>
          <p:cNvSpPr txBox="1"/>
          <p:nvPr/>
        </p:nvSpPr>
        <p:spPr>
          <a:xfrm>
            <a:off x="6368691" y="494989"/>
            <a:ext cx="3093167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try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34F2A8-080C-F42F-CBA9-6EBA5B005016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much independent political power will the Commissioner of Sanitation amass?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satisfied will residents be with the cleanliness of city streets and sidewalks?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DA0FCE9-EEEC-BDAB-F148-95712163A35A}"/>
              </a:ext>
            </a:extLst>
          </p:cNvPr>
          <p:cNvCxnSpPr/>
          <p:nvPr/>
        </p:nvCxnSpPr>
        <p:spPr>
          <a:xfrm>
            <a:off x="5981700" y="1590675"/>
            <a:ext cx="4381500" cy="0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98B504-0114-D257-51E6-C23672879C8B}"/>
              </a:ext>
            </a:extLst>
          </p:cNvPr>
          <p:cNvCxnSpPr>
            <a:cxnSpLocks/>
          </p:cNvCxnSpPr>
          <p:nvPr/>
        </p:nvCxnSpPr>
        <p:spPr>
          <a:xfrm flipV="1">
            <a:off x="4467225" y="1946632"/>
            <a:ext cx="3114675" cy="9525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D846EFF-9241-A002-E31E-838551C1896B}"/>
              </a:ext>
            </a:extLst>
          </p:cNvPr>
          <p:cNvSpPr/>
          <p:nvPr/>
        </p:nvSpPr>
        <p:spPr>
          <a:xfrm>
            <a:off x="4048126" y="2981323"/>
            <a:ext cx="7935400" cy="349567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426C2C-D0EF-1FC5-5FC4-9B8DBDF1AB3C}"/>
              </a:ext>
            </a:extLst>
          </p:cNvPr>
          <p:cNvSpPr txBox="1"/>
          <p:nvPr/>
        </p:nvSpPr>
        <p:spPr>
          <a:xfrm>
            <a:off x="6694310" y="1889487"/>
            <a:ext cx="31146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how much power?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D2177A-50E2-70B9-DD69-008FAD96884B}"/>
              </a:ext>
            </a:extLst>
          </p:cNvPr>
          <p:cNvSpPr txBox="1"/>
          <p:nvPr/>
        </p:nvSpPr>
        <p:spPr>
          <a:xfrm>
            <a:off x="4048126" y="2102806"/>
            <a:ext cx="18672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Winnie the pooh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94C267-4EB9-7478-417B-F3466ED9C226}"/>
              </a:ext>
            </a:extLst>
          </p:cNvPr>
          <p:cNvSpPr txBox="1"/>
          <p:nvPr/>
        </p:nvSpPr>
        <p:spPr>
          <a:xfrm>
            <a:off x="6198891" y="2433054"/>
            <a:ext cx="2458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wicked witch of the west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60938D-B1EE-F922-0B95-B4DBD32F9237}"/>
              </a:ext>
            </a:extLst>
          </p:cNvPr>
          <p:cNvSpPr txBox="1"/>
          <p:nvPr/>
        </p:nvSpPr>
        <p:spPr>
          <a:xfrm>
            <a:off x="9779292" y="2120722"/>
            <a:ext cx="2458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err="1"/>
              <a:t>godzilla</a:t>
            </a:r>
            <a:endParaRPr lang="en-US" sz="16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166F24-CFCE-5043-AFDA-2A06B8E11FDF}"/>
              </a:ext>
            </a:extLst>
          </p:cNvPr>
          <p:cNvCxnSpPr/>
          <p:nvPr/>
        </p:nvCxnSpPr>
        <p:spPr>
          <a:xfrm>
            <a:off x="5319820" y="2981323"/>
            <a:ext cx="0" cy="3495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6BE922B-F3A2-E604-BD27-AF1CB2745744}"/>
              </a:ext>
            </a:extLst>
          </p:cNvPr>
          <p:cNvCxnSpPr/>
          <p:nvPr/>
        </p:nvCxnSpPr>
        <p:spPr>
          <a:xfrm>
            <a:off x="9844347" y="2981323"/>
            <a:ext cx="0" cy="3495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78AB856-5888-37AC-EF73-5B79F82AD783}"/>
                  </a:ext>
                </a:extLst>
              </p:cNvPr>
              <p:cNvSpPr txBox="1"/>
              <p:nvPr/>
            </p:nvSpPr>
            <p:spPr>
              <a:xfrm>
                <a:off x="4570233" y="2464187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78AB856-5888-37AC-EF73-5B79F82AD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0233" y="2464187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D3A243-1629-FC07-7FB0-68C13F2A951A}"/>
                  </a:ext>
                </a:extLst>
              </p:cNvPr>
              <p:cNvSpPr txBox="1"/>
              <p:nvPr/>
            </p:nvSpPr>
            <p:spPr>
              <a:xfrm>
                <a:off x="8522334" y="2378101"/>
                <a:ext cx="419100" cy="42139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D3A243-1629-FC07-7FB0-68C13F2A9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2334" y="2378101"/>
                <a:ext cx="419100" cy="421397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349C2FC-28F7-8843-981B-07AB4F888924}"/>
                  </a:ext>
                </a:extLst>
              </p:cNvPr>
              <p:cNvSpPr txBox="1"/>
              <p:nvPr/>
            </p:nvSpPr>
            <p:spPr>
              <a:xfrm>
                <a:off x="10799232" y="2486595"/>
                <a:ext cx="419100" cy="41748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349C2FC-28F7-8843-981B-07AB4F888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232" y="2486595"/>
                <a:ext cx="419100" cy="417487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0ECFE44F-E393-E044-2A40-B9585EC0840F}"/>
              </a:ext>
            </a:extLst>
          </p:cNvPr>
          <p:cNvSpPr txBox="1"/>
          <p:nvPr/>
        </p:nvSpPr>
        <p:spPr>
          <a:xfrm>
            <a:off x="5131014" y="897111"/>
            <a:ext cx="5769624" cy="64633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Step 3: Label and divide up the vertical sections to show the conditional uncertainties</a:t>
            </a:r>
          </a:p>
        </p:txBody>
      </p:sp>
    </p:spTree>
    <p:extLst>
      <p:ext uri="{BB962C8B-B14F-4D97-AF65-F5344CB8AC3E}">
        <p14:creationId xmlns:p14="http://schemas.microsoft.com/office/powerpoint/2010/main" val="95375574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A6A52-4DFB-D664-BBAA-C8470E03B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2A1637-7B5F-5D6A-72F9-E29D9A6B1EA6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5AD0DD-719F-245C-E1DD-3B24433C5472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435FB9-42ED-4D54-2D24-91609C1D610B}"/>
              </a:ext>
            </a:extLst>
          </p:cNvPr>
          <p:cNvSpPr txBox="1"/>
          <p:nvPr/>
        </p:nvSpPr>
        <p:spPr>
          <a:xfrm>
            <a:off x="4343399" y="1023302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Build a marginal-conditional diagram to model these two uncertainties.  Design the model so that the more satisfied are residents, the more likely the commissioner is to be more powerful.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0083C6-739D-E467-82FB-B5C5307DE2AD}"/>
              </a:ext>
            </a:extLst>
          </p:cNvPr>
          <p:cNvSpPr txBox="1"/>
          <p:nvPr/>
        </p:nvSpPr>
        <p:spPr>
          <a:xfrm>
            <a:off x="6368691" y="494989"/>
            <a:ext cx="3093167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try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68535F-5897-7DC2-1343-CB230D23ECCF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much independent political power will the Commissioner of Sanitation amass?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satisfied will residents be with the cleanliness of city streets and sidewalks?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E5890D2-E71A-F8CE-540C-801FF4054608}"/>
              </a:ext>
            </a:extLst>
          </p:cNvPr>
          <p:cNvCxnSpPr/>
          <p:nvPr/>
        </p:nvCxnSpPr>
        <p:spPr>
          <a:xfrm>
            <a:off x="5981700" y="1590675"/>
            <a:ext cx="4381500" cy="0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D09F56-D264-AFAB-14D3-15D8F704012A}"/>
              </a:ext>
            </a:extLst>
          </p:cNvPr>
          <p:cNvCxnSpPr>
            <a:cxnSpLocks/>
          </p:cNvCxnSpPr>
          <p:nvPr/>
        </p:nvCxnSpPr>
        <p:spPr>
          <a:xfrm flipV="1">
            <a:off x="4467225" y="1946632"/>
            <a:ext cx="3114675" cy="9525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7C4597C-2007-00AD-B765-C5DF86068AAC}"/>
              </a:ext>
            </a:extLst>
          </p:cNvPr>
          <p:cNvSpPr/>
          <p:nvPr/>
        </p:nvSpPr>
        <p:spPr>
          <a:xfrm>
            <a:off x="4048126" y="2981323"/>
            <a:ext cx="7935400" cy="349567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08F363-3FCD-B822-E4AE-5053427B2BAE}"/>
              </a:ext>
            </a:extLst>
          </p:cNvPr>
          <p:cNvSpPr txBox="1"/>
          <p:nvPr/>
        </p:nvSpPr>
        <p:spPr>
          <a:xfrm>
            <a:off x="6694310" y="1889487"/>
            <a:ext cx="31146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how much power?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FC227A-A4C8-56B7-1CE5-42ED590757D5}"/>
              </a:ext>
            </a:extLst>
          </p:cNvPr>
          <p:cNvSpPr txBox="1"/>
          <p:nvPr/>
        </p:nvSpPr>
        <p:spPr>
          <a:xfrm>
            <a:off x="4048126" y="2102806"/>
            <a:ext cx="18672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Winnie the pooh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65E26A-8470-2130-C7C4-B2E34B96BC43}"/>
              </a:ext>
            </a:extLst>
          </p:cNvPr>
          <p:cNvSpPr txBox="1"/>
          <p:nvPr/>
        </p:nvSpPr>
        <p:spPr>
          <a:xfrm>
            <a:off x="6198891" y="2433054"/>
            <a:ext cx="2458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wicked witch of the west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821677-4189-DBD8-C5A4-356E999C3962}"/>
              </a:ext>
            </a:extLst>
          </p:cNvPr>
          <p:cNvSpPr txBox="1"/>
          <p:nvPr/>
        </p:nvSpPr>
        <p:spPr>
          <a:xfrm>
            <a:off x="9779292" y="2120722"/>
            <a:ext cx="2458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err="1"/>
              <a:t>godzilla</a:t>
            </a:r>
            <a:endParaRPr lang="en-US" sz="16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F8FBBB5-0383-3ADE-18CF-168C1B828F7E}"/>
              </a:ext>
            </a:extLst>
          </p:cNvPr>
          <p:cNvCxnSpPr/>
          <p:nvPr/>
        </p:nvCxnSpPr>
        <p:spPr>
          <a:xfrm>
            <a:off x="5319820" y="2981323"/>
            <a:ext cx="0" cy="3495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1C92847-CD11-C33A-12D3-B43561C6A72B}"/>
              </a:ext>
            </a:extLst>
          </p:cNvPr>
          <p:cNvCxnSpPr/>
          <p:nvPr/>
        </p:nvCxnSpPr>
        <p:spPr>
          <a:xfrm>
            <a:off x="9844347" y="2981323"/>
            <a:ext cx="0" cy="3495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DD97904-00AB-DD76-58D6-208810E0799D}"/>
                  </a:ext>
                </a:extLst>
              </p:cNvPr>
              <p:cNvSpPr txBox="1"/>
              <p:nvPr/>
            </p:nvSpPr>
            <p:spPr>
              <a:xfrm>
                <a:off x="4570233" y="2464187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DD97904-00AB-DD76-58D6-208810E07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0233" y="2464187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5763542-B8F1-B67A-94D6-70FFEAC9D2AC}"/>
                  </a:ext>
                </a:extLst>
              </p:cNvPr>
              <p:cNvSpPr txBox="1"/>
              <p:nvPr/>
            </p:nvSpPr>
            <p:spPr>
              <a:xfrm>
                <a:off x="8522334" y="2378101"/>
                <a:ext cx="419100" cy="42139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5763542-B8F1-B67A-94D6-70FFEAC9D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2334" y="2378101"/>
                <a:ext cx="419100" cy="421397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A3E5963-6AEA-99EA-42F8-9241708A5100}"/>
                  </a:ext>
                </a:extLst>
              </p:cNvPr>
              <p:cNvSpPr txBox="1"/>
              <p:nvPr/>
            </p:nvSpPr>
            <p:spPr>
              <a:xfrm>
                <a:off x="10799232" y="2486595"/>
                <a:ext cx="419100" cy="41748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A3E5963-6AEA-99EA-42F8-9241708A5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232" y="2486595"/>
                <a:ext cx="419100" cy="417487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44D30CD2-8D6F-3ACB-A8A6-EE1ABE0B8FD6}"/>
              </a:ext>
            </a:extLst>
          </p:cNvPr>
          <p:cNvSpPr txBox="1"/>
          <p:nvPr/>
        </p:nvSpPr>
        <p:spPr>
          <a:xfrm>
            <a:off x="5131014" y="897111"/>
            <a:ext cx="5769624" cy="64633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Step 3: Label and divide up the vertical sections to show the conditional uncertainties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3868A1-622D-7200-4FC2-3E495FFBB5AF}"/>
              </a:ext>
            </a:extLst>
          </p:cNvPr>
          <p:cNvSpPr txBox="1"/>
          <p:nvPr/>
        </p:nvSpPr>
        <p:spPr>
          <a:xfrm rot="16200000">
            <a:off x="2230934" y="4559884"/>
            <a:ext cx="1802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how satisfied?</a:t>
            </a:r>
          </a:p>
        </p:txBody>
      </p:sp>
    </p:spTree>
    <p:extLst>
      <p:ext uri="{BB962C8B-B14F-4D97-AF65-F5344CB8AC3E}">
        <p14:creationId xmlns:p14="http://schemas.microsoft.com/office/powerpoint/2010/main" val="165183139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760EE-2EEA-03B7-A480-4402944CF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96A8EA4-D31F-DD58-FC0B-C6BC0C1E8C88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7BEC52-43F3-03F3-453B-56A68BBB0CD7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9F36C5-3714-A07E-0E8A-5A285437E1DE}"/>
              </a:ext>
            </a:extLst>
          </p:cNvPr>
          <p:cNvSpPr txBox="1"/>
          <p:nvPr/>
        </p:nvSpPr>
        <p:spPr>
          <a:xfrm>
            <a:off x="4343399" y="1023302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Build a marginal-conditional diagram to model these two uncertainties.  Design the model so that the more satisfied are residents, the more likely the commissioner is to be more powerful.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E699F8-C0F9-B1CC-4C8A-99F6D053F628}"/>
              </a:ext>
            </a:extLst>
          </p:cNvPr>
          <p:cNvSpPr txBox="1"/>
          <p:nvPr/>
        </p:nvSpPr>
        <p:spPr>
          <a:xfrm>
            <a:off x="6368691" y="494989"/>
            <a:ext cx="3093167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try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0C561C-743A-8E2E-6EB8-857B7A384C2B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much independent political power will the Commissioner of Sanitation amass?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satisfied will residents be with the cleanliness of city streets and sidewalks?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394DC1-39C7-C49A-45A6-9EADA1B693D3}"/>
              </a:ext>
            </a:extLst>
          </p:cNvPr>
          <p:cNvCxnSpPr/>
          <p:nvPr/>
        </p:nvCxnSpPr>
        <p:spPr>
          <a:xfrm>
            <a:off x="5981700" y="1590675"/>
            <a:ext cx="4381500" cy="0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F5E633-92AA-4AA8-E5EC-231BC5711DD2}"/>
              </a:ext>
            </a:extLst>
          </p:cNvPr>
          <p:cNvCxnSpPr>
            <a:cxnSpLocks/>
          </p:cNvCxnSpPr>
          <p:nvPr/>
        </p:nvCxnSpPr>
        <p:spPr>
          <a:xfrm flipV="1">
            <a:off x="4467225" y="1946632"/>
            <a:ext cx="3114675" cy="9525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5E45866-8DAF-30A9-7FDE-80B3E302AEB8}"/>
              </a:ext>
            </a:extLst>
          </p:cNvPr>
          <p:cNvSpPr/>
          <p:nvPr/>
        </p:nvSpPr>
        <p:spPr>
          <a:xfrm>
            <a:off x="4048126" y="2981323"/>
            <a:ext cx="7935400" cy="349567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D263C6-E918-6D03-2752-0C59F27979AA}"/>
              </a:ext>
            </a:extLst>
          </p:cNvPr>
          <p:cNvSpPr txBox="1"/>
          <p:nvPr/>
        </p:nvSpPr>
        <p:spPr>
          <a:xfrm>
            <a:off x="6694310" y="1889487"/>
            <a:ext cx="31146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how much power?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96FF0F-2E84-F978-4C77-0B3DA704836A}"/>
              </a:ext>
            </a:extLst>
          </p:cNvPr>
          <p:cNvSpPr txBox="1"/>
          <p:nvPr/>
        </p:nvSpPr>
        <p:spPr>
          <a:xfrm>
            <a:off x="4048126" y="2102806"/>
            <a:ext cx="18672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Winnie the pooh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E64D36-3FAD-FD75-7342-AAB9AA0E7525}"/>
              </a:ext>
            </a:extLst>
          </p:cNvPr>
          <p:cNvSpPr txBox="1"/>
          <p:nvPr/>
        </p:nvSpPr>
        <p:spPr>
          <a:xfrm>
            <a:off x="6247942" y="2266078"/>
            <a:ext cx="2458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wicked witch of the west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082F-160E-CA05-7F8B-46B3E3144A7D}"/>
              </a:ext>
            </a:extLst>
          </p:cNvPr>
          <p:cNvSpPr txBox="1"/>
          <p:nvPr/>
        </p:nvSpPr>
        <p:spPr>
          <a:xfrm>
            <a:off x="9779292" y="2120722"/>
            <a:ext cx="2458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err="1"/>
              <a:t>godzilla</a:t>
            </a:r>
            <a:endParaRPr lang="en-US" sz="16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7AA537A-4F79-DDF6-9AED-88E4FBA2793E}"/>
              </a:ext>
            </a:extLst>
          </p:cNvPr>
          <p:cNvCxnSpPr/>
          <p:nvPr/>
        </p:nvCxnSpPr>
        <p:spPr>
          <a:xfrm>
            <a:off x="5319820" y="2981323"/>
            <a:ext cx="0" cy="3495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5791DE4-2104-6700-F4E1-844EC16E33F2}"/>
              </a:ext>
            </a:extLst>
          </p:cNvPr>
          <p:cNvCxnSpPr/>
          <p:nvPr/>
        </p:nvCxnSpPr>
        <p:spPr>
          <a:xfrm>
            <a:off x="9844347" y="2981323"/>
            <a:ext cx="0" cy="3495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5D35188-1183-0ABE-6B10-D9AFEF4513B0}"/>
                  </a:ext>
                </a:extLst>
              </p:cNvPr>
              <p:cNvSpPr txBox="1"/>
              <p:nvPr/>
            </p:nvSpPr>
            <p:spPr>
              <a:xfrm>
                <a:off x="4570233" y="2464187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5D35188-1183-0ABE-6B10-D9AFEF451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0233" y="2464187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B43BA46-B5AE-44CB-69E1-672DD2CF630E}"/>
                  </a:ext>
                </a:extLst>
              </p:cNvPr>
              <p:cNvSpPr txBox="1"/>
              <p:nvPr/>
            </p:nvSpPr>
            <p:spPr>
              <a:xfrm>
                <a:off x="8471261" y="2509820"/>
                <a:ext cx="419100" cy="42139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B43BA46-B5AE-44CB-69E1-672DD2CF6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1261" y="2509820"/>
                <a:ext cx="419100" cy="421397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8A18EA5-4C87-F50C-21FC-D62388598D99}"/>
                  </a:ext>
                </a:extLst>
              </p:cNvPr>
              <p:cNvSpPr txBox="1"/>
              <p:nvPr/>
            </p:nvSpPr>
            <p:spPr>
              <a:xfrm>
                <a:off x="10799232" y="2486595"/>
                <a:ext cx="419100" cy="41748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8A18EA5-4C87-F50C-21FC-D62388598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232" y="2486595"/>
                <a:ext cx="419100" cy="417487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C2C68381-EDE5-6B11-74BE-C184228788CB}"/>
              </a:ext>
            </a:extLst>
          </p:cNvPr>
          <p:cNvSpPr txBox="1"/>
          <p:nvPr/>
        </p:nvSpPr>
        <p:spPr>
          <a:xfrm>
            <a:off x="5131014" y="897111"/>
            <a:ext cx="5769624" cy="64633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Step 3: Label and divide up the vertical sections to show the conditional uncertainties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58B244-32D3-1FCB-30EB-149863D69EC2}"/>
              </a:ext>
            </a:extLst>
          </p:cNvPr>
          <p:cNvSpPr txBox="1"/>
          <p:nvPr/>
        </p:nvSpPr>
        <p:spPr>
          <a:xfrm rot="16200000">
            <a:off x="2230934" y="4559884"/>
            <a:ext cx="1802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how satisfied?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E9BD77-4E7E-5A44-8D45-DF9368566DED}"/>
              </a:ext>
            </a:extLst>
          </p:cNvPr>
          <p:cNvSpPr txBox="1"/>
          <p:nvPr/>
        </p:nvSpPr>
        <p:spPr>
          <a:xfrm rot="2275541">
            <a:off x="4580247" y="3259724"/>
            <a:ext cx="890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thrilled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6C6D39-29B0-6FE7-7CE5-FF7CD7B4DB49}"/>
              </a:ext>
            </a:extLst>
          </p:cNvPr>
          <p:cNvSpPr txBox="1"/>
          <p:nvPr/>
        </p:nvSpPr>
        <p:spPr>
          <a:xfrm rot="2275541">
            <a:off x="4325388" y="4444539"/>
            <a:ext cx="1155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moderately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1552DF-3A1B-15C8-5E77-7ACCBAD1EF77}"/>
              </a:ext>
            </a:extLst>
          </p:cNvPr>
          <p:cNvSpPr txBox="1"/>
          <p:nvPr/>
        </p:nvSpPr>
        <p:spPr>
          <a:xfrm rot="2275541">
            <a:off x="4062651" y="5667671"/>
            <a:ext cx="1230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underwhelmed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E368720-9207-3C98-BFEF-C610E2A51F64}"/>
              </a:ext>
            </a:extLst>
          </p:cNvPr>
          <p:cNvCxnSpPr/>
          <p:nvPr/>
        </p:nvCxnSpPr>
        <p:spPr>
          <a:xfrm>
            <a:off x="4048126" y="3935506"/>
            <a:ext cx="127169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73C3CC6-1306-C36F-9DFF-8D481D24BC3B}"/>
              </a:ext>
            </a:extLst>
          </p:cNvPr>
          <p:cNvCxnSpPr/>
          <p:nvPr/>
        </p:nvCxnSpPr>
        <p:spPr>
          <a:xfrm>
            <a:off x="4048126" y="5199529"/>
            <a:ext cx="127169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86820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7DC81-C89E-B97E-D5B9-B02A606B7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84EBB8D-C8C2-1521-7276-02B067505AEF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BF965B-6A55-20DC-BED6-D80676534C48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250184-C7C4-C43E-EA51-577064E23847}"/>
              </a:ext>
            </a:extLst>
          </p:cNvPr>
          <p:cNvSpPr txBox="1"/>
          <p:nvPr/>
        </p:nvSpPr>
        <p:spPr>
          <a:xfrm>
            <a:off x="4343399" y="1023302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Build a marginal-conditional diagram to model these two uncertainties.  Design the model so that the more satisfied are residents, the more likely the commissioner is to be more powerful.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01239B-1B23-AB12-8FBA-9999A87B3276}"/>
              </a:ext>
            </a:extLst>
          </p:cNvPr>
          <p:cNvSpPr txBox="1"/>
          <p:nvPr/>
        </p:nvSpPr>
        <p:spPr>
          <a:xfrm>
            <a:off x="6368691" y="494989"/>
            <a:ext cx="3093167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try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83367C-C9BF-632E-D326-3EF75E34BA35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much independent political power will the Commissioner of Sanitation amass?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satisfied will residents be with the cleanliness of city streets and sidewalks?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BF8B92-0B17-7AD0-D925-B039EE0E1268}"/>
              </a:ext>
            </a:extLst>
          </p:cNvPr>
          <p:cNvCxnSpPr/>
          <p:nvPr/>
        </p:nvCxnSpPr>
        <p:spPr>
          <a:xfrm>
            <a:off x="5981700" y="1590675"/>
            <a:ext cx="4381500" cy="0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E8F36F4-F85B-2E9A-AD3B-7D6CB0AB4775}"/>
              </a:ext>
            </a:extLst>
          </p:cNvPr>
          <p:cNvCxnSpPr>
            <a:cxnSpLocks/>
          </p:cNvCxnSpPr>
          <p:nvPr/>
        </p:nvCxnSpPr>
        <p:spPr>
          <a:xfrm flipV="1">
            <a:off x="4467225" y="1946632"/>
            <a:ext cx="3114675" cy="9525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34138FF-115A-0D39-8017-0707C7A57B44}"/>
              </a:ext>
            </a:extLst>
          </p:cNvPr>
          <p:cNvSpPr/>
          <p:nvPr/>
        </p:nvSpPr>
        <p:spPr>
          <a:xfrm>
            <a:off x="4048126" y="2981323"/>
            <a:ext cx="7935400" cy="349567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57F89F-B99E-7273-87E4-23D5D7145A51}"/>
              </a:ext>
            </a:extLst>
          </p:cNvPr>
          <p:cNvSpPr txBox="1"/>
          <p:nvPr/>
        </p:nvSpPr>
        <p:spPr>
          <a:xfrm>
            <a:off x="6694310" y="1889487"/>
            <a:ext cx="31146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how much power?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4FBB4D-9CFD-906E-033B-1876D63B0B18}"/>
              </a:ext>
            </a:extLst>
          </p:cNvPr>
          <p:cNvSpPr txBox="1"/>
          <p:nvPr/>
        </p:nvSpPr>
        <p:spPr>
          <a:xfrm>
            <a:off x="4048126" y="2102806"/>
            <a:ext cx="18672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Winnie the pooh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64C422-5962-7CA9-CC55-DF3377E06C8C}"/>
              </a:ext>
            </a:extLst>
          </p:cNvPr>
          <p:cNvSpPr txBox="1"/>
          <p:nvPr/>
        </p:nvSpPr>
        <p:spPr>
          <a:xfrm>
            <a:off x="6247942" y="2266078"/>
            <a:ext cx="2458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wicked witch of the west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1E1EA6-FBE7-29E7-D318-08279E7460E6}"/>
              </a:ext>
            </a:extLst>
          </p:cNvPr>
          <p:cNvSpPr txBox="1"/>
          <p:nvPr/>
        </p:nvSpPr>
        <p:spPr>
          <a:xfrm>
            <a:off x="9779292" y="2120722"/>
            <a:ext cx="2458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err="1"/>
              <a:t>godzilla</a:t>
            </a:r>
            <a:endParaRPr lang="en-US" sz="16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8AF7C33-5A4C-11C1-CF96-71C42051DF2A}"/>
              </a:ext>
            </a:extLst>
          </p:cNvPr>
          <p:cNvCxnSpPr/>
          <p:nvPr/>
        </p:nvCxnSpPr>
        <p:spPr>
          <a:xfrm>
            <a:off x="5319820" y="2981323"/>
            <a:ext cx="0" cy="3495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B6C641C-2F7C-F3C9-2A01-623CF11CFA78}"/>
              </a:ext>
            </a:extLst>
          </p:cNvPr>
          <p:cNvCxnSpPr/>
          <p:nvPr/>
        </p:nvCxnSpPr>
        <p:spPr>
          <a:xfrm>
            <a:off x="9844347" y="2981323"/>
            <a:ext cx="0" cy="3495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0B14FBC-892C-4FA0-C0D5-7614F557DE48}"/>
                  </a:ext>
                </a:extLst>
              </p:cNvPr>
              <p:cNvSpPr txBox="1"/>
              <p:nvPr/>
            </p:nvSpPr>
            <p:spPr>
              <a:xfrm>
                <a:off x="4570233" y="2464187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0B14FBC-892C-4FA0-C0D5-7614F557D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0233" y="2464187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3F4427E-CC7F-42F1-BCA7-CCD90A09DFB8}"/>
                  </a:ext>
                </a:extLst>
              </p:cNvPr>
              <p:cNvSpPr txBox="1"/>
              <p:nvPr/>
            </p:nvSpPr>
            <p:spPr>
              <a:xfrm>
                <a:off x="8471261" y="2509820"/>
                <a:ext cx="419100" cy="42139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3F4427E-CC7F-42F1-BCA7-CCD90A09D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1261" y="2509820"/>
                <a:ext cx="419100" cy="421397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31FB399-6C49-0B9C-81BA-BA602E87B68E}"/>
                  </a:ext>
                </a:extLst>
              </p:cNvPr>
              <p:cNvSpPr txBox="1"/>
              <p:nvPr/>
            </p:nvSpPr>
            <p:spPr>
              <a:xfrm>
                <a:off x="10799232" y="2486595"/>
                <a:ext cx="419100" cy="41748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31FB399-6C49-0B9C-81BA-BA602E87B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232" y="2486595"/>
                <a:ext cx="419100" cy="417487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212CDF34-BCE4-0B8B-2CE9-AE271A25F962}"/>
              </a:ext>
            </a:extLst>
          </p:cNvPr>
          <p:cNvSpPr txBox="1"/>
          <p:nvPr/>
        </p:nvSpPr>
        <p:spPr>
          <a:xfrm>
            <a:off x="5131014" y="897111"/>
            <a:ext cx="5769624" cy="64633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Step 3: Label and divide up the vertical sections to show the conditional uncertainties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E6CD39-8075-7B62-8BA0-3C2F7AD52A80}"/>
              </a:ext>
            </a:extLst>
          </p:cNvPr>
          <p:cNvSpPr txBox="1"/>
          <p:nvPr/>
        </p:nvSpPr>
        <p:spPr>
          <a:xfrm rot="16200000">
            <a:off x="2230934" y="4559884"/>
            <a:ext cx="1802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how satisfied?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51BA5F-D5EC-53C9-D841-D24404CDC8C3}"/>
              </a:ext>
            </a:extLst>
          </p:cNvPr>
          <p:cNvSpPr txBox="1"/>
          <p:nvPr/>
        </p:nvSpPr>
        <p:spPr>
          <a:xfrm rot="2275541">
            <a:off x="4580247" y="3101591"/>
            <a:ext cx="890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thrilled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E758EA-52D7-D824-9EEA-83C66B549D25}"/>
              </a:ext>
            </a:extLst>
          </p:cNvPr>
          <p:cNvSpPr txBox="1"/>
          <p:nvPr/>
        </p:nvSpPr>
        <p:spPr>
          <a:xfrm rot="2275541">
            <a:off x="4403788" y="4113996"/>
            <a:ext cx="1155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moderately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856038-5153-36CC-FD69-150D9C323F97}"/>
              </a:ext>
            </a:extLst>
          </p:cNvPr>
          <p:cNvSpPr txBox="1"/>
          <p:nvPr/>
        </p:nvSpPr>
        <p:spPr>
          <a:xfrm rot="2275541">
            <a:off x="4062651" y="5667671"/>
            <a:ext cx="1230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underwhelmed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DC2259E-7D39-DA0B-8000-F53EFCBA85C1}"/>
              </a:ext>
            </a:extLst>
          </p:cNvPr>
          <p:cNvCxnSpPr/>
          <p:nvPr/>
        </p:nvCxnSpPr>
        <p:spPr>
          <a:xfrm>
            <a:off x="4042047" y="3473824"/>
            <a:ext cx="127169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76BED21-51B4-46ED-F107-ABF6034AC10F}"/>
              </a:ext>
            </a:extLst>
          </p:cNvPr>
          <p:cNvCxnSpPr/>
          <p:nvPr/>
        </p:nvCxnSpPr>
        <p:spPr>
          <a:xfrm>
            <a:off x="4048126" y="4780988"/>
            <a:ext cx="127169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B5F6E75-AE11-F557-6887-5E3489C6F66E}"/>
              </a:ext>
            </a:extLst>
          </p:cNvPr>
          <p:cNvSpPr txBox="1"/>
          <p:nvPr/>
        </p:nvSpPr>
        <p:spPr>
          <a:xfrm rot="20417560">
            <a:off x="630886" y="3333177"/>
            <a:ext cx="1983252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i="1"/>
              <a:t>probabilities are proportions!!!!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131F7E6-D7DF-4A39-21FD-F9AE57EF85F9}"/>
                  </a:ext>
                </a:extLst>
              </p:cNvPr>
              <p:cNvSpPr txBox="1"/>
              <p:nvPr/>
            </p:nvSpPr>
            <p:spPr>
              <a:xfrm>
                <a:off x="4728705" y="5391442"/>
                <a:ext cx="419100" cy="42139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131F7E6-D7DF-4A39-21FD-F9AE57EF8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8705" y="5391442"/>
                <a:ext cx="419100" cy="4213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ECDA6BF-61FE-8B99-1C41-22F267F78038}"/>
                  </a:ext>
                </a:extLst>
              </p:cNvPr>
              <p:cNvSpPr txBox="1"/>
              <p:nvPr/>
            </p:nvSpPr>
            <p:spPr>
              <a:xfrm>
                <a:off x="4199663" y="4145022"/>
                <a:ext cx="419100" cy="41748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ECDA6BF-61FE-8B99-1C41-22F267F78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9663" y="4145022"/>
                <a:ext cx="419100" cy="417487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E56D685-8BEB-23F9-71AD-9062F3E760A9}"/>
                  </a:ext>
                </a:extLst>
              </p:cNvPr>
              <p:cNvSpPr txBox="1"/>
              <p:nvPr/>
            </p:nvSpPr>
            <p:spPr>
              <a:xfrm>
                <a:off x="4149001" y="3055873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E56D685-8BEB-23F9-71AD-9062F3E76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9001" y="3055873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713462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E26B0-F750-1135-515E-ABE725556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638F650-9AD9-F4CF-B577-462D6C0AF002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6EF0E5-F297-D112-D8A1-BBE48049D5B7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3604CB-C86C-AB5D-E80E-7D7478217EF2}"/>
              </a:ext>
            </a:extLst>
          </p:cNvPr>
          <p:cNvSpPr txBox="1"/>
          <p:nvPr/>
        </p:nvSpPr>
        <p:spPr>
          <a:xfrm>
            <a:off x="4343399" y="1023302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Build a marginal-conditional diagram to model these two uncertainties.  Design the model so that the more satisfied are residents, the more likely the commissioner is to be more powerful.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02A744-A026-0E26-719B-0AAC3B053E15}"/>
              </a:ext>
            </a:extLst>
          </p:cNvPr>
          <p:cNvSpPr txBox="1"/>
          <p:nvPr/>
        </p:nvSpPr>
        <p:spPr>
          <a:xfrm>
            <a:off x="6368691" y="494989"/>
            <a:ext cx="3093167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try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BDA1A2-D156-666D-9041-C7336B4A4E0E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much independent political power will the Commissioner of Sanitation amass?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satisfied will residents be with the cleanliness of city streets and sidewalks?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2966E6-EB25-D638-B07B-75EDB004FC96}"/>
              </a:ext>
            </a:extLst>
          </p:cNvPr>
          <p:cNvCxnSpPr/>
          <p:nvPr/>
        </p:nvCxnSpPr>
        <p:spPr>
          <a:xfrm>
            <a:off x="5981700" y="1590675"/>
            <a:ext cx="4381500" cy="0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9E309F-5043-1BAD-D67C-57184B3EC35E}"/>
              </a:ext>
            </a:extLst>
          </p:cNvPr>
          <p:cNvCxnSpPr>
            <a:cxnSpLocks/>
          </p:cNvCxnSpPr>
          <p:nvPr/>
        </p:nvCxnSpPr>
        <p:spPr>
          <a:xfrm flipV="1">
            <a:off x="4467225" y="1946632"/>
            <a:ext cx="3114675" cy="9525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B0D1BF5-6360-371A-693A-C46E18BDA72E}"/>
              </a:ext>
            </a:extLst>
          </p:cNvPr>
          <p:cNvSpPr/>
          <p:nvPr/>
        </p:nvSpPr>
        <p:spPr>
          <a:xfrm>
            <a:off x="4048126" y="2981323"/>
            <a:ext cx="7935400" cy="349567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135A3E-4DF0-4311-9040-A26C2FEB6B4A}"/>
              </a:ext>
            </a:extLst>
          </p:cNvPr>
          <p:cNvSpPr txBox="1"/>
          <p:nvPr/>
        </p:nvSpPr>
        <p:spPr>
          <a:xfrm>
            <a:off x="6694310" y="1889487"/>
            <a:ext cx="31146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how much power?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97B999-D50E-5CEE-CD02-51B26DB33EBF}"/>
              </a:ext>
            </a:extLst>
          </p:cNvPr>
          <p:cNvSpPr txBox="1"/>
          <p:nvPr/>
        </p:nvSpPr>
        <p:spPr>
          <a:xfrm>
            <a:off x="4048126" y="2102806"/>
            <a:ext cx="18672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Winnie the pooh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AC9DE9-5693-C395-D556-F7CAF751082F}"/>
              </a:ext>
            </a:extLst>
          </p:cNvPr>
          <p:cNvSpPr txBox="1"/>
          <p:nvPr/>
        </p:nvSpPr>
        <p:spPr>
          <a:xfrm>
            <a:off x="6247942" y="2266078"/>
            <a:ext cx="2458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wicked witch of the west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4492F8-5DBE-E59A-55C6-98DE1113798B}"/>
              </a:ext>
            </a:extLst>
          </p:cNvPr>
          <p:cNvSpPr txBox="1"/>
          <p:nvPr/>
        </p:nvSpPr>
        <p:spPr>
          <a:xfrm>
            <a:off x="9779292" y="2120722"/>
            <a:ext cx="2458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err="1"/>
              <a:t>godzilla</a:t>
            </a:r>
            <a:endParaRPr lang="en-US" sz="16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135577A-4B18-54A0-E8C1-08850D071D2C}"/>
              </a:ext>
            </a:extLst>
          </p:cNvPr>
          <p:cNvCxnSpPr/>
          <p:nvPr/>
        </p:nvCxnSpPr>
        <p:spPr>
          <a:xfrm>
            <a:off x="5319820" y="2981323"/>
            <a:ext cx="0" cy="3495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B3B7F6-B103-4F14-532F-1A1AA9619015}"/>
              </a:ext>
            </a:extLst>
          </p:cNvPr>
          <p:cNvCxnSpPr/>
          <p:nvPr/>
        </p:nvCxnSpPr>
        <p:spPr>
          <a:xfrm>
            <a:off x="9844347" y="2981323"/>
            <a:ext cx="0" cy="3495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0DF447E-2BCB-39F0-AF46-03E4BDE7C56F}"/>
                  </a:ext>
                </a:extLst>
              </p:cNvPr>
              <p:cNvSpPr txBox="1"/>
              <p:nvPr/>
            </p:nvSpPr>
            <p:spPr>
              <a:xfrm>
                <a:off x="4570233" y="2464187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0DF447E-2BCB-39F0-AF46-03E4BDE7C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0233" y="2464187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31FC534-E99A-4347-CACA-3AC1147380DD}"/>
                  </a:ext>
                </a:extLst>
              </p:cNvPr>
              <p:cNvSpPr txBox="1"/>
              <p:nvPr/>
            </p:nvSpPr>
            <p:spPr>
              <a:xfrm>
                <a:off x="8471261" y="2509820"/>
                <a:ext cx="419100" cy="42139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31FC534-E99A-4347-CACA-3AC114738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1261" y="2509820"/>
                <a:ext cx="419100" cy="421397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24F2111-3D40-B12A-FB98-834C7E082AD8}"/>
                  </a:ext>
                </a:extLst>
              </p:cNvPr>
              <p:cNvSpPr txBox="1"/>
              <p:nvPr/>
            </p:nvSpPr>
            <p:spPr>
              <a:xfrm>
                <a:off x="10799232" y="2486595"/>
                <a:ext cx="419100" cy="41748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24F2111-3D40-B12A-FB98-834C7E082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232" y="2486595"/>
                <a:ext cx="419100" cy="417487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9CF716D9-D508-9DB8-BF33-4EC2D3CB9DA7}"/>
              </a:ext>
            </a:extLst>
          </p:cNvPr>
          <p:cNvSpPr txBox="1"/>
          <p:nvPr/>
        </p:nvSpPr>
        <p:spPr>
          <a:xfrm>
            <a:off x="5131014" y="897111"/>
            <a:ext cx="5769624" cy="64633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Step 3: Label and divide up the vertical sections to show the conditional uncertainties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00888F-950E-2E5A-849E-F4FC79C09235}"/>
              </a:ext>
            </a:extLst>
          </p:cNvPr>
          <p:cNvSpPr txBox="1"/>
          <p:nvPr/>
        </p:nvSpPr>
        <p:spPr>
          <a:xfrm rot="16200000">
            <a:off x="2230934" y="4559884"/>
            <a:ext cx="1802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how satisfied?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400989-DC4B-4E87-58D9-6F41B5678F9D}"/>
              </a:ext>
            </a:extLst>
          </p:cNvPr>
          <p:cNvSpPr txBox="1"/>
          <p:nvPr/>
        </p:nvSpPr>
        <p:spPr>
          <a:xfrm rot="2275541">
            <a:off x="4551268" y="3153106"/>
            <a:ext cx="890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thrilled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0B33E0-283F-2E1D-060C-FAF307550E77}"/>
              </a:ext>
            </a:extLst>
          </p:cNvPr>
          <p:cNvSpPr txBox="1"/>
          <p:nvPr/>
        </p:nvSpPr>
        <p:spPr>
          <a:xfrm rot="2275541">
            <a:off x="4374809" y="4210691"/>
            <a:ext cx="1155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moderately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92E834-0457-0397-432D-D20D3B691391}"/>
              </a:ext>
            </a:extLst>
          </p:cNvPr>
          <p:cNvSpPr txBox="1"/>
          <p:nvPr/>
        </p:nvSpPr>
        <p:spPr>
          <a:xfrm rot="2275541">
            <a:off x="4062651" y="5667671"/>
            <a:ext cx="1230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underwhelmed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16599D5-E66A-446A-F6FD-8A6C4C4802C0}"/>
              </a:ext>
            </a:extLst>
          </p:cNvPr>
          <p:cNvCxnSpPr/>
          <p:nvPr/>
        </p:nvCxnSpPr>
        <p:spPr>
          <a:xfrm>
            <a:off x="4013068" y="3891217"/>
            <a:ext cx="127169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B0A09F4-0347-5DEF-FF9C-13BD99F1B0D1}"/>
              </a:ext>
            </a:extLst>
          </p:cNvPr>
          <p:cNvCxnSpPr/>
          <p:nvPr/>
        </p:nvCxnSpPr>
        <p:spPr>
          <a:xfrm>
            <a:off x="4013068" y="5139576"/>
            <a:ext cx="127169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C51C9F2-4026-46EC-62E9-3637FA0C6A7C}"/>
                  </a:ext>
                </a:extLst>
              </p:cNvPr>
              <p:cNvSpPr txBox="1"/>
              <p:nvPr/>
            </p:nvSpPr>
            <p:spPr>
              <a:xfrm>
                <a:off x="4699726" y="5391442"/>
                <a:ext cx="419100" cy="42139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C51C9F2-4026-46EC-62E9-3637FA0C6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726" y="5391442"/>
                <a:ext cx="419100" cy="4213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5874DC7-C281-D68E-DA62-10384E94AB1A}"/>
                  </a:ext>
                </a:extLst>
              </p:cNvPr>
              <p:cNvSpPr txBox="1"/>
              <p:nvPr/>
            </p:nvSpPr>
            <p:spPr>
              <a:xfrm>
                <a:off x="4170684" y="4145022"/>
                <a:ext cx="419100" cy="41748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5874DC7-C281-D68E-DA62-10384E94A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0684" y="4145022"/>
                <a:ext cx="419100" cy="417487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FDBFFE7-B1BE-BD19-2BF3-3D8D0E5E6C1B}"/>
                  </a:ext>
                </a:extLst>
              </p:cNvPr>
              <p:cNvSpPr txBox="1"/>
              <p:nvPr/>
            </p:nvSpPr>
            <p:spPr>
              <a:xfrm>
                <a:off x="4120022" y="3107388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FDBFFE7-B1BE-BD19-2BF3-3D8D0E5E6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022" y="3107388"/>
                <a:ext cx="419100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AAAD19D2-E1A1-B7B8-382B-07197C01CA9A}"/>
              </a:ext>
            </a:extLst>
          </p:cNvPr>
          <p:cNvSpPr txBox="1"/>
          <p:nvPr/>
        </p:nvSpPr>
        <p:spPr>
          <a:xfrm rot="2275541">
            <a:off x="6874392" y="3132088"/>
            <a:ext cx="890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thrilled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03D632-2B02-6B26-E6D2-76F90AFADCCF}"/>
              </a:ext>
            </a:extLst>
          </p:cNvPr>
          <p:cNvSpPr txBox="1"/>
          <p:nvPr/>
        </p:nvSpPr>
        <p:spPr>
          <a:xfrm rot="2275541">
            <a:off x="8400560" y="4275856"/>
            <a:ext cx="1155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moderately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D5808D-234F-CA8C-0380-E2D88E525127}"/>
              </a:ext>
            </a:extLst>
          </p:cNvPr>
          <p:cNvSpPr txBox="1"/>
          <p:nvPr/>
        </p:nvSpPr>
        <p:spPr>
          <a:xfrm rot="2275541">
            <a:off x="6385775" y="5646653"/>
            <a:ext cx="1230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underwhelmed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59311CF-B7CF-3BCA-899C-9F04BEAAD4B6}"/>
              </a:ext>
            </a:extLst>
          </p:cNvPr>
          <p:cNvCxnSpPr>
            <a:cxnSpLocks/>
          </p:cNvCxnSpPr>
          <p:nvPr/>
        </p:nvCxnSpPr>
        <p:spPr>
          <a:xfrm>
            <a:off x="5343418" y="4049575"/>
            <a:ext cx="4524527" cy="6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8865B8-9DC6-06F8-E461-A2668DE5DA5A}"/>
              </a:ext>
            </a:extLst>
          </p:cNvPr>
          <p:cNvCxnSpPr>
            <a:cxnSpLocks/>
          </p:cNvCxnSpPr>
          <p:nvPr/>
        </p:nvCxnSpPr>
        <p:spPr>
          <a:xfrm>
            <a:off x="5348800" y="4877395"/>
            <a:ext cx="449554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5C4D112-6609-FA12-910F-1AD2DBC785AF}"/>
                  </a:ext>
                </a:extLst>
              </p:cNvPr>
              <p:cNvSpPr txBox="1"/>
              <p:nvPr/>
            </p:nvSpPr>
            <p:spPr>
              <a:xfrm>
                <a:off x="7022850" y="5370424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5C4D112-6609-FA12-910F-1AD2DBC78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2850" y="5370424"/>
                <a:ext cx="419100" cy="417358"/>
              </a:xfrm>
              <a:prstGeom prst="rect">
                <a:avLst/>
              </a:prstGeom>
              <a:blipFill>
                <a:blip r:embed="rId8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07F1233-9D72-CFF3-AA12-7A6EABFB5ACF}"/>
                  </a:ext>
                </a:extLst>
              </p:cNvPr>
              <p:cNvSpPr txBox="1"/>
              <p:nvPr/>
            </p:nvSpPr>
            <p:spPr>
              <a:xfrm>
                <a:off x="7049860" y="4171073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07F1233-9D72-CFF3-AA12-7A6EABFB5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9860" y="4171073"/>
                <a:ext cx="419100" cy="417358"/>
              </a:xfrm>
              <a:prstGeom prst="rect">
                <a:avLst/>
              </a:prstGeom>
              <a:blipFill>
                <a:blip r:embed="rId9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A569D7A-321C-B24B-999F-76AB8007E260}"/>
                  </a:ext>
                </a:extLst>
              </p:cNvPr>
              <p:cNvSpPr txBox="1"/>
              <p:nvPr/>
            </p:nvSpPr>
            <p:spPr>
              <a:xfrm>
                <a:off x="6092437" y="3121805"/>
                <a:ext cx="419100" cy="421269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A569D7A-321C-B24B-999F-76AB8007E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2437" y="3121805"/>
                <a:ext cx="419100" cy="421269"/>
              </a:xfrm>
              <a:prstGeom prst="rect">
                <a:avLst/>
              </a:prstGeom>
              <a:blipFill>
                <a:blip r:embed="rId10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1410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1D7DF-D5CE-55E4-19D8-F056FAF65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A9EB15-F163-2161-3C6E-FC7EFC278D26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0A945A-A4B1-31D5-08B4-C97EE76A3370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9E5A30-88F1-6BE9-EC4F-62930836DF6F}"/>
              </a:ext>
            </a:extLst>
          </p:cNvPr>
          <p:cNvSpPr txBox="1"/>
          <p:nvPr/>
        </p:nvSpPr>
        <p:spPr>
          <a:xfrm>
            <a:off x="4343399" y="1023302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Build a marginal-conditional diagram to model these two uncertainties.  Design the model so that the more satisfied are residents, the more likely the commissioner is to be more powerful.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ADBD2F-F236-B91A-B43F-92E466F86375}"/>
              </a:ext>
            </a:extLst>
          </p:cNvPr>
          <p:cNvSpPr txBox="1"/>
          <p:nvPr/>
        </p:nvSpPr>
        <p:spPr>
          <a:xfrm>
            <a:off x="6368691" y="494989"/>
            <a:ext cx="3093167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try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BFE866-7A87-FE95-08BB-9C3B3030CC13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much independent political power will the Commissioner of Sanitation amass?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satisfied will residents be with the cleanliness of city streets and sidewalks?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1059D3-5667-BFD0-23AB-A1241F6420D4}"/>
              </a:ext>
            </a:extLst>
          </p:cNvPr>
          <p:cNvCxnSpPr/>
          <p:nvPr/>
        </p:nvCxnSpPr>
        <p:spPr>
          <a:xfrm>
            <a:off x="5981700" y="1590675"/>
            <a:ext cx="4381500" cy="0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3FAB37D-CBC0-0FE3-18E5-A452E6A2890A}"/>
              </a:ext>
            </a:extLst>
          </p:cNvPr>
          <p:cNvCxnSpPr>
            <a:cxnSpLocks/>
          </p:cNvCxnSpPr>
          <p:nvPr/>
        </p:nvCxnSpPr>
        <p:spPr>
          <a:xfrm flipV="1">
            <a:off x="4467225" y="1946632"/>
            <a:ext cx="3114675" cy="9525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8EA012B-76DB-9474-FF08-148BF4E57314}"/>
              </a:ext>
            </a:extLst>
          </p:cNvPr>
          <p:cNvSpPr/>
          <p:nvPr/>
        </p:nvSpPr>
        <p:spPr>
          <a:xfrm>
            <a:off x="4048126" y="2981323"/>
            <a:ext cx="7935400" cy="349567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EC6373-3689-3D2F-EBF0-18705C7EA6D0}"/>
              </a:ext>
            </a:extLst>
          </p:cNvPr>
          <p:cNvSpPr txBox="1"/>
          <p:nvPr/>
        </p:nvSpPr>
        <p:spPr>
          <a:xfrm>
            <a:off x="6694310" y="1889487"/>
            <a:ext cx="31146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how much power?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BEF66F-E63C-5B69-2254-977D8FBFB94B}"/>
              </a:ext>
            </a:extLst>
          </p:cNvPr>
          <p:cNvSpPr txBox="1"/>
          <p:nvPr/>
        </p:nvSpPr>
        <p:spPr>
          <a:xfrm>
            <a:off x="4048126" y="2102806"/>
            <a:ext cx="18672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Winnie the pooh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E0B668-E748-FD9C-4D49-55DAA073B17B}"/>
              </a:ext>
            </a:extLst>
          </p:cNvPr>
          <p:cNvSpPr txBox="1"/>
          <p:nvPr/>
        </p:nvSpPr>
        <p:spPr>
          <a:xfrm>
            <a:off x="6247942" y="2266078"/>
            <a:ext cx="2458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wicked witch of the west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F5ACB1-3E42-84B0-49A8-47C42C3A2F36}"/>
              </a:ext>
            </a:extLst>
          </p:cNvPr>
          <p:cNvSpPr txBox="1"/>
          <p:nvPr/>
        </p:nvSpPr>
        <p:spPr>
          <a:xfrm>
            <a:off x="9779292" y="2120722"/>
            <a:ext cx="2458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err="1"/>
              <a:t>godzilla</a:t>
            </a:r>
            <a:endParaRPr lang="en-US" sz="16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D96B7C1-E0E6-3583-6B1B-448F79E18C3D}"/>
              </a:ext>
            </a:extLst>
          </p:cNvPr>
          <p:cNvCxnSpPr/>
          <p:nvPr/>
        </p:nvCxnSpPr>
        <p:spPr>
          <a:xfrm>
            <a:off x="5319820" y="2981323"/>
            <a:ext cx="0" cy="3495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AEFFF47-BB3E-866A-BDED-37858B2E4EC5}"/>
              </a:ext>
            </a:extLst>
          </p:cNvPr>
          <p:cNvCxnSpPr/>
          <p:nvPr/>
        </p:nvCxnSpPr>
        <p:spPr>
          <a:xfrm>
            <a:off x="9844347" y="2981323"/>
            <a:ext cx="0" cy="3495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E1AAA3B-007F-4583-9EE8-91E25096290E}"/>
                  </a:ext>
                </a:extLst>
              </p:cNvPr>
              <p:cNvSpPr txBox="1"/>
              <p:nvPr/>
            </p:nvSpPr>
            <p:spPr>
              <a:xfrm>
                <a:off x="4570233" y="2464187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E1AAA3B-007F-4583-9EE8-91E250962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0233" y="2464187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1B5E00-3CD9-A685-BB1B-D283752F3959}"/>
                  </a:ext>
                </a:extLst>
              </p:cNvPr>
              <p:cNvSpPr txBox="1"/>
              <p:nvPr/>
            </p:nvSpPr>
            <p:spPr>
              <a:xfrm>
                <a:off x="8471261" y="2509820"/>
                <a:ext cx="419100" cy="42139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1B5E00-3CD9-A685-BB1B-D283752F3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1261" y="2509820"/>
                <a:ext cx="419100" cy="421397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8CA9A7F-C9C6-6925-DF71-8861FCA5C8D6}"/>
                  </a:ext>
                </a:extLst>
              </p:cNvPr>
              <p:cNvSpPr txBox="1"/>
              <p:nvPr/>
            </p:nvSpPr>
            <p:spPr>
              <a:xfrm>
                <a:off x="10799232" y="2486595"/>
                <a:ext cx="419100" cy="41748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8CA9A7F-C9C6-6925-DF71-8861FCA5C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232" y="2486595"/>
                <a:ext cx="419100" cy="417487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9DBD0103-6F90-F089-0434-7EAB193EDADB}"/>
              </a:ext>
            </a:extLst>
          </p:cNvPr>
          <p:cNvSpPr txBox="1"/>
          <p:nvPr/>
        </p:nvSpPr>
        <p:spPr>
          <a:xfrm>
            <a:off x="5131014" y="897111"/>
            <a:ext cx="5769624" cy="64633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Step 3: Label and divide up the vertical sections to show the conditional uncertainties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DD2252-2445-7E30-94D1-8379D2A78817}"/>
              </a:ext>
            </a:extLst>
          </p:cNvPr>
          <p:cNvSpPr txBox="1"/>
          <p:nvPr/>
        </p:nvSpPr>
        <p:spPr>
          <a:xfrm rot="16200000">
            <a:off x="2230934" y="4559884"/>
            <a:ext cx="1802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how satisfied?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F3AE2B-3CCE-BB94-596F-57C26E898F1C}"/>
              </a:ext>
            </a:extLst>
          </p:cNvPr>
          <p:cNvSpPr txBox="1"/>
          <p:nvPr/>
        </p:nvSpPr>
        <p:spPr>
          <a:xfrm rot="2275541">
            <a:off x="4551268" y="3153106"/>
            <a:ext cx="890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thrilled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56ABD1-E6F8-02EE-E0EE-3AC11EF4A116}"/>
              </a:ext>
            </a:extLst>
          </p:cNvPr>
          <p:cNvSpPr txBox="1"/>
          <p:nvPr/>
        </p:nvSpPr>
        <p:spPr>
          <a:xfrm rot="2275541">
            <a:off x="4374809" y="4210691"/>
            <a:ext cx="1155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moderately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5C8925-3094-B458-446E-76EEFEF78737}"/>
              </a:ext>
            </a:extLst>
          </p:cNvPr>
          <p:cNvSpPr txBox="1"/>
          <p:nvPr/>
        </p:nvSpPr>
        <p:spPr>
          <a:xfrm rot="2275541">
            <a:off x="4062651" y="5667671"/>
            <a:ext cx="1230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underwhelmed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428E8BE-66A0-DAEC-675F-4F1FFF009734}"/>
              </a:ext>
            </a:extLst>
          </p:cNvPr>
          <p:cNvCxnSpPr/>
          <p:nvPr/>
        </p:nvCxnSpPr>
        <p:spPr>
          <a:xfrm>
            <a:off x="4042047" y="3640206"/>
            <a:ext cx="127169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98B00CD-328C-D727-9C4A-F231A34FBCF1}"/>
              </a:ext>
            </a:extLst>
          </p:cNvPr>
          <p:cNvCxnSpPr/>
          <p:nvPr/>
        </p:nvCxnSpPr>
        <p:spPr>
          <a:xfrm>
            <a:off x="4063879" y="4749890"/>
            <a:ext cx="127169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7B6241-BDB8-3D87-80D0-195DAF2FDDC6}"/>
                  </a:ext>
                </a:extLst>
              </p:cNvPr>
              <p:cNvSpPr txBox="1"/>
              <p:nvPr/>
            </p:nvSpPr>
            <p:spPr>
              <a:xfrm>
                <a:off x="4699726" y="5391442"/>
                <a:ext cx="419100" cy="42139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7B6241-BDB8-3D87-80D0-195DAF2FD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726" y="5391442"/>
                <a:ext cx="419100" cy="4213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A01068A-B08F-5652-A447-80C216D18609}"/>
                  </a:ext>
                </a:extLst>
              </p:cNvPr>
              <p:cNvSpPr txBox="1"/>
              <p:nvPr/>
            </p:nvSpPr>
            <p:spPr>
              <a:xfrm>
                <a:off x="4170684" y="4145022"/>
                <a:ext cx="419100" cy="41748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A01068A-B08F-5652-A447-80C216D18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0684" y="4145022"/>
                <a:ext cx="419100" cy="417487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A9A965C-026A-109B-5B98-1E0773A7A6A1}"/>
                  </a:ext>
                </a:extLst>
              </p:cNvPr>
              <p:cNvSpPr txBox="1"/>
              <p:nvPr/>
            </p:nvSpPr>
            <p:spPr>
              <a:xfrm>
                <a:off x="4120022" y="3107388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A9A965C-026A-109B-5B98-1E0773A7A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022" y="3107388"/>
                <a:ext cx="419100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808779C7-5BCD-0F5C-0627-4A1E27CFDF40}"/>
              </a:ext>
            </a:extLst>
          </p:cNvPr>
          <p:cNvSpPr txBox="1"/>
          <p:nvPr/>
        </p:nvSpPr>
        <p:spPr>
          <a:xfrm rot="2275541">
            <a:off x="6874392" y="3132088"/>
            <a:ext cx="890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thrilled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07368B-FE60-BB4B-2641-DD505F6369E2}"/>
              </a:ext>
            </a:extLst>
          </p:cNvPr>
          <p:cNvSpPr txBox="1"/>
          <p:nvPr/>
        </p:nvSpPr>
        <p:spPr>
          <a:xfrm rot="2275541">
            <a:off x="9786747" y="4792978"/>
            <a:ext cx="1155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moderately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B7C28C-8B46-6CA9-3739-DC3BB1D1682F}"/>
              </a:ext>
            </a:extLst>
          </p:cNvPr>
          <p:cNvSpPr txBox="1"/>
          <p:nvPr/>
        </p:nvSpPr>
        <p:spPr>
          <a:xfrm rot="2275541">
            <a:off x="6385775" y="5646653"/>
            <a:ext cx="1230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underwhelmed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4FA777A-5974-28FA-2DBA-1DC3FE567CD6}"/>
              </a:ext>
            </a:extLst>
          </p:cNvPr>
          <p:cNvCxnSpPr>
            <a:cxnSpLocks/>
          </p:cNvCxnSpPr>
          <p:nvPr/>
        </p:nvCxnSpPr>
        <p:spPr>
          <a:xfrm>
            <a:off x="5343418" y="4049575"/>
            <a:ext cx="4524527" cy="6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9EBB27D-8C59-FE4B-2178-6504E7874E74}"/>
              </a:ext>
            </a:extLst>
          </p:cNvPr>
          <p:cNvCxnSpPr>
            <a:cxnSpLocks/>
          </p:cNvCxnSpPr>
          <p:nvPr/>
        </p:nvCxnSpPr>
        <p:spPr>
          <a:xfrm>
            <a:off x="5316629" y="4851385"/>
            <a:ext cx="449554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5022759-27EF-9DCA-6804-D6325E00FB43}"/>
                  </a:ext>
                </a:extLst>
              </p:cNvPr>
              <p:cNvSpPr txBox="1"/>
              <p:nvPr/>
            </p:nvSpPr>
            <p:spPr>
              <a:xfrm>
                <a:off x="7354853" y="5547185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5022759-27EF-9DCA-6804-D6325E00F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4853" y="5547185"/>
                <a:ext cx="419100" cy="417358"/>
              </a:xfrm>
              <a:prstGeom prst="rect">
                <a:avLst/>
              </a:prstGeom>
              <a:blipFill>
                <a:blip r:embed="rId8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66B312C-8CF2-ADC6-4EB4-96D98673A709}"/>
                  </a:ext>
                </a:extLst>
              </p:cNvPr>
              <p:cNvSpPr txBox="1"/>
              <p:nvPr/>
            </p:nvSpPr>
            <p:spPr>
              <a:xfrm>
                <a:off x="7049860" y="4171073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66B312C-8CF2-ADC6-4EB4-96D98673A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9860" y="4171073"/>
                <a:ext cx="419100" cy="417358"/>
              </a:xfrm>
              <a:prstGeom prst="rect">
                <a:avLst/>
              </a:prstGeom>
              <a:blipFill>
                <a:blip r:embed="rId9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626FC7E-0374-9D48-7510-9209BFC67339}"/>
                  </a:ext>
                </a:extLst>
              </p:cNvPr>
              <p:cNvSpPr txBox="1"/>
              <p:nvPr/>
            </p:nvSpPr>
            <p:spPr>
              <a:xfrm>
                <a:off x="6092437" y="3121805"/>
                <a:ext cx="419100" cy="421269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626FC7E-0374-9D48-7510-9209BFC67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2437" y="3121805"/>
                <a:ext cx="419100" cy="421269"/>
              </a:xfrm>
              <a:prstGeom prst="rect">
                <a:avLst/>
              </a:prstGeom>
              <a:blipFill>
                <a:blip r:embed="rId10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D79E740-B678-86CD-E138-64719923F50F}"/>
              </a:ext>
            </a:extLst>
          </p:cNvPr>
          <p:cNvCxnSpPr>
            <a:cxnSpLocks/>
          </p:cNvCxnSpPr>
          <p:nvPr/>
        </p:nvCxnSpPr>
        <p:spPr>
          <a:xfrm>
            <a:off x="9808985" y="4702802"/>
            <a:ext cx="217454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4CEE19C-10D8-3DDF-1DE9-BAF54BA5C793}"/>
              </a:ext>
            </a:extLst>
          </p:cNvPr>
          <p:cNvCxnSpPr>
            <a:cxnSpLocks/>
          </p:cNvCxnSpPr>
          <p:nvPr/>
        </p:nvCxnSpPr>
        <p:spPr>
          <a:xfrm>
            <a:off x="9844347" y="5301000"/>
            <a:ext cx="217454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C8C2E61-8533-B6E2-05CA-AEE213BB8B22}"/>
                  </a:ext>
                </a:extLst>
              </p:cNvPr>
              <p:cNvSpPr txBox="1"/>
              <p:nvPr/>
            </p:nvSpPr>
            <p:spPr>
              <a:xfrm>
                <a:off x="10686705" y="5639350"/>
                <a:ext cx="419100" cy="41575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C8C2E61-8533-B6E2-05CA-AEE213BB8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6705" y="5639350"/>
                <a:ext cx="419100" cy="415755"/>
              </a:xfrm>
              <a:prstGeom prst="rect">
                <a:avLst/>
              </a:prstGeom>
              <a:blipFill>
                <a:blip r:embed="rId11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D8420B6-4F4D-7038-C6DD-884F587681DF}"/>
                  </a:ext>
                </a:extLst>
              </p:cNvPr>
              <p:cNvSpPr txBox="1"/>
              <p:nvPr/>
            </p:nvSpPr>
            <p:spPr>
              <a:xfrm>
                <a:off x="10704387" y="4820979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D8420B6-4F4D-7038-C6DD-884F58768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4387" y="4820979"/>
                <a:ext cx="419100" cy="417358"/>
              </a:xfrm>
              <a:prstGeom prst="rect">
                <a:avLst/>
              </a:prstGeom>
              <a:blipFill>
                <a:blip r:embed="rId12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A8B7E69-7216-CC7A-3F72-ECF185696FFA}"/>
                  </a:ext>
                </a:extLst>
              </p:cNvPr>
              <p:cNvSpPr txBox="1"/>
              <p:nvPr/>
            </p:nvSpPr>
            <p:spPr>
              <a:xfrm>
                <a:off x="10799232" y="3619052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A8B7E69-7216-CC7A-3F72-ECF185696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232" y="3619052"/>
                <a:ext cx="419100" cy="416781"/>
              </a:xfrm>
              <a:prstGeom prst="rect">
                <a:avLst/>
              </a:prstGeom>
              <a:blipFill>
                <a:blip r:embed="rId1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E79658AB-8D2E-00F6-51FA-1EB73BC16DFC}"/>
              </a:ext>
            </a:extLst>
          </p:cNvPr>
          <p:cNvSpPr txBox="1"/>
          <p:nvPr/>
        </p:nvSpPr>
        <p:spPr>
          <a:xfrm rot="2275541">
            <a:off x="10145592" y="3482693"/>
            <a:ext cx="890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thrilled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261C2D-F657-13F2-8C0F-0D4F14FF5ACC}"/>
              </a:ext>
            </a:extLst>
          </p:cNvPr>
          <p:cNvSpPr txBox="1"/>
          <p:nvPr/>
        </p:nvSpPr>
        <p:spPr>
          <a:xfrm rot="2275541">
            <a:off x="9809240" y="5702165"/>
            <a:ext cx="1230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underwhelmed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89D6FAE-907B-B934-10CD-B22C7628EAD6}"/>
              </a:ext>
            </a:extLst>
          </p:cNvPr>
          <p:cNvSpPr txBox="1"/>
          <p:nvPr/>
        </p:nvSpPr>
        <p:spPr>
          <a:xfrm rot="2275541">
            <a:off x="8137677" y="4354930"/>
            <a:ext cx="1155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moderately</a:t>
            </a:r>
          </a:p>
        </p:txBody>
      </p:sp>
    </p:spTree>
    <p:extLst>
      <p:ext uri="{BB962C8B-B14F-4D97-AF65-F5344CB8AC3E}">
        <p14:creationId xmlns:p14="http://schemas.microsoft.com/office/powerpoint/2010/main" val="367205913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C10BC-5613-778D-E62D-9D144268D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D7E7E50-B159-D2BD-26E0-216A11C15F38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draw a marginal-Conditional Diagram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98EB37-6941-8B6E-6F14-A03EA49E2B2B}"/>
              </a:ext>
            </a:extLst>
          </p:cNvPr>
          <p:cNvSpPr txBox="1"/>
          <p:nvPr/>
        </p:nvSpPr>
        <p:spPr>
          <a:xfrm>
            <a:off x="208474" y="940210"/>
            <a:ext cx="309316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two uncertainties: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B32C20-3006-0B9A-B78B-D0530A288794}"/>
              </a:ext>
            </a:extLst>
          </p:cNvPr>
          <p:cNvSpPr txBox="1"/>
          <p:nvPr/>
        </p:nvSpPr>
        <p:spPr>
          <a:xfrm>
            <a:off x="4343399" y="1023302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Build a marginal-conditional diagram to model these two uncertainties.  Design the model so that the more satisfied are residents, the more likely the commissioner is to be more powerful.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0A9072-AF01-8BE2-F88E-1082DE316DE1}"/>
              </a:ext>
            </a:extLst>
          </p:cNvPr>
          <p:cNvSpPr txBox="1"/>
          <p:nvPr/>
        </p:nvSpPr>
        <p:spPr>
          <a:xfrm>
            <a:off x="6368691" y="494989"/>
            <a:ext cx="3093167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try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44E621-2D0A-2834-1490-CEA705B23E50}"/>
              </a:ext>
            </a:extLst>
          </p:cNvPr>
          <p:cNvSpPr txBox="1"/>
          <p:nvPr/>
        </p:nvSpPr>
        <p:spPr>
          <a:xfrm>
            <a:off x="208474" y="1309542"/>
            <a:ext cx="3093167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much independent political power will the Commissioner of Sanitation amass?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satisfied will residents be with the cleanliness of city streets and sidewalks?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F59232-52D7-C675-5FFB-01D726F0B98C}"/>
              </a:ext>
            </a:extLst>
          </p:cNvPr>
          <p:cNvCxnSpPr/>
          <p:nvPr/>
        </p:nvCxnSpPr>
        <p:spPr>
          <a:xfrm>
            <a:off x="5981700" y="1590675"/>
            <a:ext cx="4381500" cy="0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43B98D5-BBC7-9BCF-A720-A569345A6751}"/>
              </a:ext>
            </a:extLst>
          </p:cNvPr>
          <p:cNvCxnSpPr>
            <a:cxnSpLocks/>
          </p:cNvCxnSpPr>
          <p:nvPr/>
        </p:nvCxnSpPr>
        <p:spPr>
          <a:xfrm flipV="1">
            <a:off x="4467225" y="1946632"/>
            <a:ext cx="3114675" cy="9525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C428F7B-EF2E-46CB-2C7F-A880A46CABBD}"/>
              </a:ext>
            </a:extLst>
          </p:cNvPr>
          <p:cNvSpPr/>
          <p:nvPr/>
        </p:nvSpPr>
        <p:spPr>
          <a:xfrm>
            <a:off x="4048126" y="2981323"/>
            <a:ext cx="7935400" cy="349567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6A3BA6-B9D2-2510-1ABE-F7E3D399D85E}"/>
              </a:ext>
            </a:extLst>
          </p:cNvPr>
          <p:cNvSpPr txBox="1"/>
          <p:nvPr/>
        </p:nvSpPr>
        <p:spPr>
          <a:xfrm>
            <a:off x="6694310" y="1889487"/>
            <a:ext cx="31146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how much power?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C63366-8054-48ED-C16B-44466DAC2DD6}"/>
              </a:ext>
            </a:extLst>
          </p:cNvPr>
          <p:cNvSpPr txBox="1"/>
          <p:nvPr/>
        </p:nvSpPr>
        <p:spPr>
          <a:xfrm>
            <a:off x="4048126" y="2102806"/>
            <a:ext cx="18672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Winnie the pooh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D167C5-AD21-76F4-CB32-9FD3BEE5FD63}"/>
              </a:ext>
            </a:extLst>
          </p:cNvPr>
          <p:cNvSpPr txBox="1"/>
          <p:nvPr/>
        </p:nvSpPr>
        <p:spPr>
          <a:xfrm>
            <a:off x="6247942" y="2266078"/>
            <a:ext cx="2458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wicked witch of the west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DA1449-CCFE-57B8-B11E-BF7AFD9A17F5}"/>
              </a:ext>
            </a:extLst>
          </p:cNvPr>
          <p:cNvSpPr txBox="1"/>
          <p:nvPr/>
        </p:nvSpPr>
        <p:spPr>
          <a:xfrm>
            <a:off x="9779292" y="2120722"/>
            <a:ext cx="2458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err="1"/>
              <a:t>godzilla</a:t>
            </a:r>
            <a:endParaRPr lang="en-US" sz="16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4E00516-CF8D-8963-7955-BC9B28022BAD}"/>
              </a:ext>
            </a:extLst>
          </p:cNvPr>
          <p:cNvCxnSpPr/>
          <p:nvPr/>
        </p:nvCxnSpPr>
        <p:spPr>
          <a:xfrm>
            <a:off x="5319820" y="2981323"/>
            <a:ext cx="0" cy="3495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5283675-6C46-163F-CEE4-0BD944A3CC21}"/>
              </a:ext>
            </a:extLst>
          </p:cNvPr>
          <p:cNvCxnSpPr/>
          <p:nvPr/>
        </p:nvCxnSpPr>
        <p:spPr>
          <a:xfrm>
            <a:off x="9844347" y="2981323"/>
            <a:ext cx="0" cy="3495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0F7AB9A-9DDD-AE08-65AF-23F0C665E48C}"/>
                  </a:ext>
                </a:extLst>
              </p:cNvPr>
              <p:cNvSpPr txBox="1"/>
              <p:nvPr/>
            </p:nvSpPr>
            <p:spPr>
              <a:xfrm>
                <a:off x="4570233" y="2464187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0F7AB9A-9DDD-AE08-65AF-23F0C665E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0233" y="2464187"/>
                <a:ext cx="419100" cy="429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3DB4614-CF86-C917-26B6-4600D1AF3330}"/>
                  </a:ext>
                </a:extLst>
              </p:cNvPr>
              <p:cNvSpPr txBox="1"/>
              <p:nvPr/>
            </p:nvSpPr>
            <p:spPr>
              <a:xfrm>
                <a:off x="8471261" y="2509820"/>
                <a:ext cx="419100" cy="42139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3DB4614-CF86-C917-26B6-4600D1AF3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1261" y="2509820"/>
                <a:ext cx="419100" cy="421397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D0FE630-F5BA-84CE-C148-5C71DAB4EA54}"/>
                  </a:ext>
                </a:extLst>
              </p:cNvPr>
              <p:cNvSpPr txBox="1"/>
              <p:nvPr/>
            </p:nvSpPr>
            <p:spPr>
              <a:xfrm>
                <a:off x="10799232" y="2486595"/>
                <a:ext cx="419100" cy="41748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D0FE630-F5BA-84CE-C148-5C71DAB4E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232" y="2486595"/>
                <a:ext cx="419100" cy="417487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DED445A9-76F8-2798-1AE7-2262D544814E}"/>
              </a:ext>
            </a:extLst>
          </p:cNvPr>
          <p:cNvSpPr txBox="1"/>
          <p:nvPr/>
        </p:nvSpPr>
        <p:spPr>
          <a:xfrm rot="16200000">
            <a:off x="2230934" y="4559884"/>
            <a:ext cx="1802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how satisfied?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AE88C1-9634-FFC7-95D0-233533CDC4C9}"/>
              </a:ext>
            </a:extLst>
          </p:cNvPr>
          <p:cNvSpPr txBox="1"/>
          <p:nvPr/>
        </p:nvSpPr>
        <p:spPr>
          <a:xfrm rot="2275541">
            <a:off x="4551268" y="3153106"/>
            <a:ext cx="890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thrilled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0CF8CE-3DDE-710A-F1F5-2BFC6324383D}"/>
              </a:ext>
            </a:extLst>
          </p:cNvPr>
          <p:cNvSpPr txBox="1"/>
          <p:nvPr/>
        </p:nvSpPr>
        <p:spPr>
          <a:xfrm rot="2275541">
            <a:off x="4374809" y="4210691"/>
            <a:ext cx="1155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moderately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F4E684-D767-451E-8C3D-6561320B6F4A}"/>
              </a:ext>
            </a:extLst>
          </p:cNvPr>
          <p:cNvSpPr txBox="1"/>
          <p:nvPr/>
        </p:nvSpPr>
        <p:spPr>
          <a:xfrm rot="2275541">
            <a:off x="4062651" y="5667671"/>
            <a:ext cx="1230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underwhelmed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9449A32-9755-0263-4E48-F97B5E3DE3CF}"/>
              </a:ext>
            </a:extLst>
          </p:cNvPr>
          <p:cNvCxnSpPr/>
          <p:nvPr/>
        </p:nvCxnSpPr>
        <p:spPr>
          <a:xfrm>
            <a:off x="4042047" y="3640206"/>
            <a:ext cx="127169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2AB1B19-E56F-3E7E-50F7-A913641689F4}"/>
              </a:ext>
            </a:extLst>
          </p:cNvPr>
          <p:cNvCxnSpPr/>
          <p:nvPr/>
        </p:nvCxnSpPr>
        <p:spPr>
          <a:xfrm>
            <a:off x="4063879" y="4749890"/>
            <a:ext cx="127169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22D01C7-6204-CE56-77AE-5A3B73973021}"/>
                  </a:ext>
                </a:extLst>
              </p:cNvPr>
              <p:cNvSpPr txBox="1"/>
              <p:nvPr/>
            </p:nvSpPr>
            <p:spPr>
              <a:xfrm>
                <a:off x="4699726" y="5391442"/>
                <a:ext cx="419100" cy="42139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22D01C7-6204-CE56-77AE-5A3B73973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726" y="5391442"/>
                <a:ext cx="419100" cy="4213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14AD34A-4907-2373-882F-584100501F3D}"/>
                  </a:ext>
                </a:extLst>
              </p:cNvPr>
              <p:cNvSpPr txBox="1"/>
              <p:nvPr/>
            </p:nvSpPr>
            <p:spPr>
              <a:xfrm>
                <a:off x="4170684" y="4145022"/>
                <a:ext cx="419100" cy="41748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14AD34A-4907-2373-882F-584100501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0684" y="4145022"/>
                <a:ext cx="419100" cy="417487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92F1FF5-1D2B-E466-1429-35E18BEABFC8}"/>
                  </a:ext>
                </a:extLst>
              </p:cNvPr>
              <p:cNvSpPr txBox="1"/>
              <p:nvPr/>
            </p:nvSpPr>
            <p:spPr>
              <a:xfrm>
                <a:off x="4120022" y="3107388"/>
                <a:ext cx="419100" cy="42999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92F1FF5-1D2B-E466-1429-35E18BEAB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022" y="3107388"/>
                <a:ext cx="419100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14D1C533-EDA2-FF70-E2DB-BF8A3374AD43}"/>
              </a:ext>
            </a:extLst>
          </p:cNvPr>
          <p:cNvSpPr txBox="1"/>
          <p:nvPr/>
        </p:nvSpPr>
        <p:spPr>
          <a:xfrm rot="2275541">
            <a:off x="6874392" y="3132088"/>
            <a:ext cx="890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thrilled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30C3C82-9552-2C56-0DBF-91742CA9B766}"/>
              </a:ext>
            </a:extLst>
          </p:cNvPr>
          <p:cNvSpPr txBox="1"/>
          <p:nvPr/>
        </p:nvSpPr>
        <p:spPr>
          <a:xfrm rot="2275541">
            <a:off x="9786747" y="4792978"/>
            <a:ext cx="1155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moderately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39AB71-3DD7-0F18-A444-134DEF957C58}"/>
              </a:ext>
            </a:extLst>
          </p:cNvPr>
          <p:cNvSpPr txBox="1"/>
          <p:nvPr/>
        </p:nvSpPr>
        <p:spPr>
          <a:xfrm rot="2275541">
            <a:off x="6385775" y="5646653"/>
            <a:ext cx="1230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underwhelmed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F5DAE1D-FC5D-B322-76F7-CA282C578BAA}"/>
              </a:ext>
            </a:extLst>
          </p:cNvPr>
          <p:cNvCxnSpPr>
            <a:cxnSpLocks/>
          </p:cNvCxnSpPr>
          <p:nvPr/>
        </p:nvCxnSpPr>
        <p:spPr>
          <a:xfrm>
            <a:off x="5343418" y="4049575"/>
            <a:ext cx="4524527" cy="6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F647347-A75F-25E1-AB32-E423725DC4A8}"/>
              </a:ext>
            </a:extLst>
          </p:cNvPr>
          <p:cNvCxnSpPr>
            <a:cxnSpLocks/>
          </p:cNvCxnSpPr>
          <p:nvPr/>
        </p:nvCxnSpPr>
        <p:spPr>
          <a:xfrm>
            <a:off x="5316629" y="4851385"/>
            <a:ext cx="449554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5CEDB8E-3068-75E9-2FAC-53A018BBA991}"/>
                  </a:ext>
                </a:extLst>
              </p:cNvPr>
              <p:cNvSpPr txBox="1"/>
              <p:nvPr/>
            </p:nvSpPr>
            <p:spPr>
              <a:xfrm>
                <a:off x="7354853" y="5547185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5CEDB8E-3068-75E9-2FAC-53A018BBA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4853" y="5547185"/>
                <a:ext cx="419100" cy="417358"/>
              </a:xfrm>
              <a:prstGeom prst="rect">
                <a:avLst/>
              </a:prstGeom>
              <a:blipFill>
                <a:blip r:embed="rId8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411F31C-7EBE-29B8-EA41-C74786FAC02E}"/>
                  </a:ext>
                </a:extLst>
              </p:cNvPr>
              <p:cNvSpPr txBox="1"/>
              <p:nvPr/>
            </p:nvSpPr>
            <p:spPr>
              <a:xfrm>
                <a:off x="7049860" y="4171073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411F31C-7EBE-29B8-EA41-C74786FAC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9860" y="4171073"/>
                <a:ext cx="419100" cy="417358"/>
              </a:xfrm>
              <a:prstGeom prst="rect">
                <a:avLst/>
              </a:prstGeom>
              <a:blipFill>
                <a:blip r:embed="rId9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8B74705-2723-2AE3-DB34-77F09EBFAF39}"/>
                  </a:ext>
                </a:extLst>
              </p:cNvPr>
              <p:cNvSpPr txBox="1"/>
              <p:nvPr/>
            </p:nvSpPr>
            <p:spPr>
              <a:xfrm>
                <a:off x="6092437" y="3121805"/>
                <a:ext cx="419100" cy="421269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8B74705-2723-2AE3-DB34-77F09EBFA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2437" y="3121805"/>
                <a:ext cx="419100" cy="421269"/>
              </a:xfrm>
              <a:prstGeom prst="rect">
                <a:avLst/>
              </a:prstGeom>
              <a:blipFill>
                <a:blip r:embed="rId10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1B18D3C-E57F-5634-C860-4E2A5B39CF12}"/>
              </a:ext>
            </a:extLst>
          </p:cNvPr>
          <p:cNvCxnSpPr>
            <a:cxnSpLocks/>
          </p:cNvCxnSpPr>
          <p:nvPr/>
        </p:nvCxnSpPr>
        <p:spPr>
          <a:xfrm>
            <a:off x="9808985" y="4702802"/>
            <a:ext cx="217454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ED16446-584D-E574-8F80-7AF15DCEE695}"/>
              </a:ext>
            </a:extLst>
          </p:cNvPr>
          <p:cNvCxnSpPr>
            <a:cxnSpLocks/>
          </p:cNvCxnSpPr>
          <p:nvPr/>
        </p:nvCxnSpPr>
        <p:spPr>
          <a:xfrm>
            <a:off x="9844347" y="5301000"/>
            <a:ext cx="217454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2E11018-5B54-1370-7C54-3C7542DFE0EC}"/>
                  </a:ext>
                </a:extLst>
              </p:cNvPr>
              <p:cNvSpPr txBox="1"/>
              <p:nvPr/>
            </p:nvSpPr>
            <p:spPr>
              <a:xfrm>
                <a:off x="10686705" y="5639350"/>
                <a:ext cx="419100" cy="41575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2E11018-5B54-1370-7C54-3C7542DFE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6705" y="5639350"/>
                <a:ext cx="419100" cy="415755"/>
              </a:xfrm>
              <a:prstGeom prst="rect">
                <a:avLst/>
              </a:prstGeom>
              <a:blipFill>
                <a:blip r:embed="rId11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C1C3796-B33A-E9D6-A4FB-105813FCE7F1}"/>
                  </a:ext>
                </a:extLst>
              </p:cNvPr>
              <p:cNvSpPr txBox="1"/>
              <p:nvPr/>
            </p:nvSpPr>
            <p:spPr>
              <a:xfrm>
                <a:off x="10704387" y="4820979"/>
                <a:ext cx="419100" cy="41735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C1C3796-B33A-E9D6-A4FB-105813FCE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4387" y="4820979"/>
                <a:ext cx="419100" cy="417358"/>
              </a:xfrm>
              <a:prstGeom prst="rect">
                <a:avLst/>
              </a:prstGeom>
              <a:blipFill>
                <a:blip r:embed="rId12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696149F-A77A-9970-9428-7DA0821B07F7}"/>
                  </a:ext>
                </a:extLst>
              </p:cNvPr>
              <p:cNvSpPr txBox="1"/>
              <p:nvPr/>
            </p:nvSpPr>
            <p:spPr>
              <a:xfrm>
                <a:off x="10799232" y="3619052"/>
                <a:ext cx="419100" cy="41678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696149F-A77A-9970-9428-7DA0821B0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232" y="3619052"/>
                <a:ext cx="419100" cy="416781"/>
              </a:xfrm>
              <a:prstGeom prst="rect">
                <a:avLst/>
              </a:prstGeom>
              <a:blipFill>
                <a:blip r:embed="rId1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5D46F661-5B2F-0B48-0D78-49D605F88EDF}"/>
              </a:ext>
            </a:extLst>
          </p:cNvPr>
          <p:cNvSpPr txBox="1"/>
          <p:nvPr/>
        </p:nvSpPr>
        <p:spPr>
          <a:xfrm rot="2275541">
            <a:off x="10145592" y="3482693"/>
            <a:ext cx="890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thrilled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97129AC-2449-9BA6-FAE0-4B151EBC06FE}"/>
              </a:ext>
            </a:extLst>
          </p:cNvPr>
          <p:cNvSpPr txBox="1"/>
          <p:nvPr/>
        </p:nvSpPr>
        <p:spPr>
          <a:xfrm rot="2275541">
            <a:off x="9809240" y="5702165"/>
            <a:ext cx="1230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underwhelmed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93BE7E-A78B-7037-23CD-2FAFC410727B}"/>
              </a:ext>
            </a:extLst>
          </p:cNvPr>
          <p:cNvSpPr txBox="1"/>
          <p:nvPr/>
        </p:nvSpPr>
        <p:spPr>
          <a:xfrm rot="2275541">
            <a:off x="8137677" y="4354930"/>
            <a:ext cx="1155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moderately</a:t>
            </a:r>
          </a:p>
        </p:txBody>
      </p:sp>
    </p:spTree>
    <p:extLst>
      <p:ext uri="{BB962C8B-B14F-4D97-AF65-F5344CB8AC3E}">
        <p14:creationId xmlns:p14="http://schemas.microsoft.com/office/powerpoint/2010/main" val="260190325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9F0D1-491C-B701-0FA5-129733439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4B17EA-53BA-3273-1F55-EBE6972536FC}"/>
              </a:ext>
            </a:extLst>
          </p:cNvPr>
          <p:cNvSpPr txBox="1"/>
          <p:nvPr/>
        </p:nvSpPr>
        <p:spPr>
          <a:xfrm>
            <a:off x="2543175" y="726370"/>
            <a:ext cx="70199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600"/>
              <a:t>Review: the Marginal-Conditional Method</a:t>
            </a:r>
            <a:br>
              <a:rPr lang="en-US" sz="3600"/>
            </a:br>
            <a:endParaRPr lang="en-US" sz="360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600"/>
              <a:t>Marginal-Conditional Diagrams: How to Draw One</a:t>
            </a:r>
            <a:br>
              <a:rPr lang="en-US" sz="3600"/>
            </a:br>
            <a:endParaRPr lang="en-US" sz="360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600"/>
              <a:t>Marginal-Conditional Diagrams: How to Compute with One</a:t>
            </a:r>
          </a:p>
        </p:txBody>
      </p:sp>
      <p:pic>
        <p:nvPicPr>
          <p:cNvPr id="2" name="Graphic 1" descr="Checkmark with solid fill">
            <a:extLst>
              <a:ext uri="{FF2B5EF4-FFF2-40B4-BE49-F238E27FC236}">
                <a16:creationId xmlns:a16="http://schemas.microsoft.com/office/drawing/2014/main" id="{0C12A1D6-F6F2-9C2C-D971-61078F024B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57450" y="342900"/>
            <a:ext cx="914400" cy="914400"/>
          </a:xfrm>
          <a:prstGeom prst="rect">
            <a:avLst/>
          </a:prstGeom>
        </p:spPr>
      </p:pic>
      <p:pic>
        <p:nvPicPr>
          <p:cNvPr id="3" name="Graphic 2" descr="Checkmark with solid fill">
            <a:extLst>
              <a:ext uri="{FF2B5EF4-FFF2-40B4-BE49-F238E27FC236}">
                <a16:creationId xmlns:a16="http://schemas.microsoft.com/office/drawing/2014/main" id="{5340E799-D8FD-D1B1-4A3C-18EF6224ED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43175" y="207412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6987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65825-226D-6746-C0EE-91C0EA3491A5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</p:spTree>
    <p:extLst>
      <p:ext uri="{BB962C8B-B14F-4D97-AF65-F5344CB8AC3E}">
        <p14:creationId xmlns:p14="http://schemas.microsoft.com/office/powerpoint/2010/main" val="197862055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03F20-1E08-5173-E928-15BBE853C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69250-3518-7EF2-58AF-74737FFD5A7B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FEBC88-6DF2-914E-0BA2-D87CB3609EE9}"/>
              </a:ext>
            </a:extLst>
          </p:cNvPr>
          <p:cNvSpPr txBox="1"/>
          <p:nvPr/>
        </p:nvSpPr>
        <p:spPr>
          <a:xfrm rot="20574304">
            <a:off x="-76372" y="443068"/>
            <a:ext cx="3093167" cy="52322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Compute what?</a:t>
            </a:r>
          </a:p>
        </p:txBody>
      </p:sp>
    </p:spTree>
    <p:extLst>
      <p:ext uri="{BB962C8B-B14F-4D97-AF65-F5344CB8AC3E}">
        <p14:creationId xmlns:p14="http://schemas.microsoft.com/office/powerpoint/2010/main" val="48753600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D05C2-D654-8A0C-CD77-CEC706D7B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E2B39-7891-DE7B-9260-81CC2224BA69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D4ECF9-B4FF-97F0-8D8B-95CD3E357A6A}"/>
              </a:ext>
            </a:extLst>
          </p:cNvPr>
          <p:cNvSpPr txBox="1"/>
          <p:nvPr/>
        </p:nvSpPr>
        <p:spPr>
          <a:xfrm rot="20574304">
            <a:off x="-76372" y="443068"/>
            <a:ext cx="3093167" cy="52322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Compute what?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5F08DB-29EF-D3DC-9DDB-49826EC2D57F}"/>
              </a:ext>
            </a:extLst>
          </p:cNvPr>
          <p:cNvSpPr/>
          <p:nvPr/>
        </p:nvSpPr>
        <p:spPr>
          <a:xfrm>
            <a:off x="1183121" y="1792942"/>
            <a:ext cx="3684494" cy="2438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E17ADF-08F2-95DB-ACA8-A077734D0201}"/>
              </a:ext>
            </a:extLst>
          </p:cNvPr>
          <p:cNvSpPr txBox="1"/>
          <p:nvPr/>
        </p:nvSpPr>
        <p:spPr>
          <a:xfrm>
            <a:off x="1398272" y="997189"/>
            <a:ext cx="318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Is the defendant </a:t>
            </a:r>
            <a:r>
              <a:rPr lang="en-US" sz="1600" i="1" dirty="0"/>
              <a:t>actually</a:t>
            </a:r>
            <a:r>
              <a:rPr lang="en-US" sz="1600" dirty="0"/>
              <a:t> guilty?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4743D4-8632-FF1A-B7B1-44EC27F31D08}"/>
              </a:ext>
            </a:extLst>
          </p:cNvPr>
          <p:cNvSpPr txBox="1"/>
          <p:nvPr/>
        </p:nvSpPr>
        <p:spPr>
          <a:xfrm>
            <a:off x="1183120" y="1353670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guilty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1B767F-741F-5D29-4239-3E8C7682FB41}"/>
              </a:ext>
            </a:extLst>
          </p:cNvPr>
          <p:cNvSpPr txBox="1"/>
          <p:nvPr/>
        </p:nvSpPr>
        <p:spPr>
          <a:xfrm>
            <a:off x="3025368" y="1353670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innocent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B1BADB-EEE3-935B-FBEB-084A34CA467A}"/>
              </a:ext>
            </a:extLst>
          </p:cNvPr>
          <p:cNvSpPr txBox="1"/>
          <p:nvPr/>
        </p:nvSpPr>
        <p:spPr>
          <a:xfrm rot="16200000">
            <a:off x="-1104374" y="2944906"/>
            <a:ext cx="318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Will the defendant be acquitted?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4391F1-7DE7-42AD-AD55-48F8741FF003}"/>
              </a:ext>
            </a:extLst>
          </p:cNvPr>
          <p:cNvSpPr txBox="1"/>
          <p:nvPr/>
        </p:nvSpPr>
        <p:spPr>
          <a:xfrm rot="16200000">
            <a:off x="112806" y="2232212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convicted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778123-8A71-9D96-6D70-F197A74E9AED}"/>
              </a:ext>
            </a:extLst>
          </p:cNvPr>
          <p:cNvSpPr txBox="1"/>
          <p:nvPr/>
        </p:nvSpPr>
        <p:spPr>
          <a:xfrm rot="16200000">
            <a:off x="112806" y="3355617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acquitted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904477-9C0B-BEDD-BA6B-A7BDF80A0845}"/>
              </a:ext>
            </a:extLst>
          </p:cNvPr>
          <p:cNvCxnSpPr/>
          <p:nvPr/>
        </p:nvCxnSpPr>
        <p:spPr>
          <a:xfrm>
            <a:off x="3025368" y="1792942"/>
            <a:ext cx="0" cy="2438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E392C87-1353-5C42-BD61-82DB3C06B8D5}"/>
              </a:ext>
            </a:extLst>
          </p:cNvPr>
          <p:cNvCxnSpPr>
            <a:cxnSpLocks/>
          </p:cNvCxnSpPr>
          <p:nvPr/>
        </p:nvCxnSpPr>
        <p:spPr>
          <a:xfrm flipH="1">
            <a:off x="1183121" y="3012142"/>
            <a:ext cx="368449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339999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870B0-5900-20FB-9706-7F145F183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1ECD1-0ED2-F83A-D6BA-FB8E56EF517C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6316B4-4BB6-21ED-3BD3-E5F1444D1959}"/>
              </a:ext>
            </a:extLst>
          </p:cNvPr>
          <p:cNvSpPr txBox="1"/>
          <p:nvPr/>
        </p:nvSpPr>
        <p:spPr>
          <a:xfrm rot="20574304">
            <a:off x="-76372" y="443068"/>
            <a:ext cx="3093167" cy="52322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Compute what?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F9B41C-84EE-AD7E-03D3-1D7F6D4E05E3}"/>
              </a:ext>
            </a:extLst>
          </p:cNvPr>
          <p:cNvSpPr/>
          <p:nvPr/>
        </p:nvSpPr>
        <p:spPr>
          <a:xfrm>
            <a:off x="1183121" y="1792942"/>
            <a:ext cx="3684494" cy="2438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323283-FC5D-A24F-5C8C-316D3C979B62}"/>
              </a:ext>
            </a:extLst>
          </p:cNvPr>
          <p:cNvSpPr txBox="1"/>
          <p:nvPr/>
        </p:nvSpPr>
        <p:spPr>
          <a:xfrm>
            <a:off x="1398272" y="997189"/>
            <a:ext cx="318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Is the defendant </a:t>
            </a:r>
            <a:r>
              <a:rPr lang="en-US" sz="1600" i="1" dirty="0"/>
              <a:t>actually</a:t>
            </a:r>
            <a:r>
              <a:rPr lang="en-US" sz="1600" dirty="0"/>
              <a:t> guilty?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B09B76-CE0B-95F4-D676-054FA84F8CFB}"/>
              </a:ext>
            </a:extLst>
          </p:cNvPr>
          <p:cNvSpPr txBox="1"/>
          <p:nvPr/>
        </p:nvSpPr>
        <p:spPr>
          <a:xfrm>
            <a:off x="1183120" y="1353670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guilty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AE1AF2-B79C-CA22-5401-3380D563114D}"/>
              </a:ext>
            </a:extLst>
          </p:cNvPr>
          <p:cNvSpPr txBox="1"/>
          <p:nvPr/>
        </p:nvSpPr>
        <p:spPr>
          <a:xfrm>
            <a:off x="3025368" y="1353670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innocent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8CDAB5-EB94-3DB4-7FBC-A49B64F8CA15}"/>
              </a:ext>
            </a:extLst>
          </p:cNvPr>
          <p:cNvSpPr txBox="1"/>
          <p:nvPr/>
        </p:nvSpPr>
        <p:spPr>
          <a:xfrm rot="16200000">
            <a:off x="-1104374" y="2944906"/>
            <a:ext cx="318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Will the defendant be acquitted?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F2F703-74EB-43DF-281E-EF2D7FCF7C4C}"/>
              </a:ext>
            </a:extLst>
          </p:cNvPr>
          <p:cNvSpPr txBox="1"/>
          <p:nvPr/>
        </p:nvSpPr>
        <p:spPr>
          <a:xfrm rot="16200000">
            <a:off x="112806" y="2232212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convicted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CFE73F-7F0D-0192-C0C9-E15C243A43D0}"/>
              </a:ext>
            </a:extLst>
          </p:cNvPr>
          <p:cNvSpPr txBox="1"/>
          <p:nvPr/>
        </p:nvSpPr>
        <p:spPr>
          <a:xfrm rot="16200000">
            <a:off x="112806" y="3355617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acquitted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88A0BD6-E16B-D13C-8FBD-16CAD1FC97DD}"/>
              </a:ext>
            </a:extLst>
          </p:cNvPr>
          <p:cNvCxnSpPr/>
          <p:nvPr/>
        </p:nvCxnSpPr>
        <p:spPr>
          <a:xfrm>
            <a:off x="3025368" y="1792942"/>
            <a:ext cx="0" cy="2438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B8D5657-8ADA-8038-2CCF-EC9382C5E8AB}"/>
              </a:ext>
            </a:extLst>
          </p:cNvPr>
          <p:cNvCxnSpPr>
            <a:cxnSpLocks/>
          </p:cNvCxnSpPr>
          <p:nvPr/>
        </p:nvCxnSpPr>
        <p:spPr>
          <a:xfrm flipH="1">
            <a:off x="1183121" y="3012142"/>
            <a:ext cx="368449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FE83BDA-CEA6-1406-730C-48F084AB5E16}"/>
                  </a:ext>
                </a:extLst>
              </p:cNvPr>
              <p:cNvSpPr txBox="1"/>
              <p:nvPr/>
            </p:nvSpPr>
            <p:spPr>
              <a:xfrm rot="19594320">
                <a:off x="986118" y="2248335"/>
                <a:ext cx="229496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FE83BDA-CEA6-1406-730C-48F084AB5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986118" y="2248335"/>
                <a:ext cx="2294965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1AF716-7195-5691-E7BD-9A4F49A0EDE8}"/>
                  </a:ext>
                </a:extLst>
              </p:cNvPr>
              <p:cNvSpPr txBox="1"/>
              <p:nvPr/>
            </p:nvSpPr>
            <p:spPr>
              <a:xfrm rot="19594320">
                <a:off x="2731138" y="2190250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1AF716-7195-5691-E7BD-9A4F49A0E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2731138" y="2190250"/>
                <a:ext cx="250581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943C6E5-0671-15F5-14A2-1DA228F30B3F}"/>
                  </a:ext>
                </a:extLst>
              </p:cNvPr>
              <p:cNvSpPr txBox="1"/>
              <p:nvPr/>
            </p:nvSpPr>
            <p:spPr>
              <a:xfrm rot="19594320">
                <a:off x="880690" y="3438798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943C6E5-0671-15F5-14A2-1DA228F30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880690" y="3438798"/>
                <a:ext cx="250581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E7E4C6E-1B7A-47A4-CC35-44F10E832F07}"/>
                  </a:ext>
                </a:extLst>
              </p:cNvPr>
              <p:cNvSpPr txBox="1"/>
              <p:nvPr/>
            </p:nvSpPr>
            <p:spPr>
              <a:xfrm rot="19594320">
                <a:off x="2671152" y="3463374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E7E4C6E-1B7A-47A4-CC35-44F10E832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2671152" y="3463374"/>
                <a:ext cx="250581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287976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830A8-5B73-5CD3-C8CD-64F48643F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BC655F1-60C5-FD68-DCA9-E4B54FE60D63}"/>
              </a:ext>
            </a:extLst>
          </p:cNvPr>
          <p:cNvCxnSpPr>
            <a:cxnSpLocks/>
          </p:cNvCxnSpPr>
          <p:nvPr/>
        </p:nvCxnSpPr>
        <p:spPr>
          <a:xfrm flipV="1">
            <a:off x="10936701" y="991550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6208A56-008F-F1BD-D129-D8272E80F8BC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FCFD1B-F1B9-FBFD-2E1A-5373E2CC3C35}"/>
              </a:ext>
            </a:extLst>
          </p:cNvPr>
          <p:cNvSpPr txBox="1"/>
          <p:nvPr/>
        </p:nvSpPr>
        <p:spPr>
          <a:xfrm rot="20574304">
            <a:off x="-76372" y="443068"/>
            <a:ext cx="3093167" cy="52322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Compute what?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91ED14-B9CC-3A3F-1368-087165539F92}"/>
              </a:ext>
            </a:extLst>
          </p:cNvPr>
          <p:cNvSpPr/>
          <p:nvPr/>
        </p:nvSpPr>
        <p:spPr>
          <a:xfrm>
            <a:off x="1183121" y="1792942"/>
            <a:ext cx="3684494" cy="2438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B951AD-0089-F074-1C45-B27E35F523A4}"/>
              </a:ext>
            </a:extLst>
          </p:cNvPr>
          <p:cNvSpPr txBox="1"/>
          <p:nvPr/>
        </p:nvSpPr>
        <p:spPr>
          <a:xfrm>
            <a:off x="1398272" y="997189"/>
            <a:ext cx="318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Is the defendant </a:t>
            </a:r>
            <a:r>
              <a:rPr lang="en-US" sz="1600" i="1" dirty="0"/>
              <a:t>actually</a:t>
            </a:r>
            <a:r>
              <a:rPr lang="en-US" sz="1600" dirty="0"/>
              <a:t> guilty?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1E8D77-F5A6-AE64-809C-A60D55FB373B}"/>
              </a:ext>
            </a:extLst>
          </p:cNvPr>
          <p:cNvSpPr txBox="1"/>
          <p:nvPr/>
        </p:nvSpPr>
        <p:spPr>
          <a:xfrm>
            <a:off x="1183120" y="1353670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guilty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88D8B1-A283-B983-702D-C0DE503D319A}"/>
              </a:ext>
            </a:extLst>
          </p:cNvPr>
          <p:cNvSpPr txBox="1"/>
          <p:nvPr/>
        </p:nvSpPr>
        <p:spPr>
          <a:xfrm>
            <a:off x="3025368" y="1353670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innocent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65CCFA-905B-987D-9815-4B59FF92FDE1}"/>
              </a:ext>
            </a:extLst>
          </p:cNvPr>
          <p:cNvSpPr txBox="1"/>
          <p:nvPr/>
        </p:nvSpPr>
        <p:spPr>
          <a:xfrm rot="16200000">
            <a:off x="-1104374" y="2944906"/>
            <a:ext cx="318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Will the defendant be acquitted?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171DDE-61FD-DEF9-F5F6-A063F554C17D}"/>
              </a:ext>
            </a:extLst>
          </p:cNvPr>
          <p:cNvSpPr txBox="1"/>
          <p:nvPr/>
        </p:nvSpPr>
        <p:spPr>
          <a:xfrm rot="16200000">
            <a:off x="112806" y="2232212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convicted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E1A6BA-F12F-A8D0-8BF4-64128AF48DB4}"/>
              </a:ext>
            </a:extLst>
          </p:cNvPr>
          <p:cNvSpPr txBox="1"/>
          <p:nvPr/>
        </p:nvSpPr>
        <p:spPr>
          <a:xfrm rot="16200000">
            <a:off x="112806" y="3355617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acquitted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DF57D0-467A-7B32-989B-42BC9C83FDF8}"/>
              </a:ext>
            </a:extLst>
          </p:cNvPr>
          <p:cNvCxnSpPr/>
          <p:nvPr/>
        </p:nvCxnSpPr>
        <p:spPr>
          <a:xfrm>
            <a:off x="3025368" y="1792942"/>
            <a:ext cx="0" cy="2438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36F04D1-597A-A1E3-F9AF-0F1A3D16CD56}"/>
              </a:ext>
            </a:extLst>
          </p:cNvPr>
          <p:cNvCxnSpPr>
            <a:cxnSpLocks/>
          </p:cNvCxnSpPr>
          <p:nvPr/>
        </p:nvCxnSpPr>
        <p:spPr>
          <a:xfrm flipH="1">
            <a:off x="1183121" y="3012142"/>
            <a:ext cx="368449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337394-4740-DBDC-34D5-AA190281AC2F}"/>
                  </a:ext>
                </a:extLst>
              </p:cNvPr>
              <p:cNvSpPr txBox="1"/>
              <p:nvPr/>
            </p:nvSpPr>
            <p:spPr>
              <a:xfrm rot="19594320">
                <a:off x="986118" y="2248335"/>
                <a:ext cx="229496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337394-4740-DBDC-34D5-AA190281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986118" y="2248335"/>
                <a:ext cx="2294965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AD17508-0D1D-19EE-83F0-B70BA544078B}"/>
                  </a:ext>
                </a:extLst>
              </p:cNvPr>
              <p:cNvSpPr txBox="1"/>
              <p:nvPr/>
            </p:nvSpPr>
            <p:spPr>
              <a:xfrm rot="19594320">
                <a:off x="2731138" y="2190250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AD17508-0D1D-19EE-83F0-B70BA5440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2731138" y="2190250"/>
                <a:ext cx="250581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FCC928E-362F-9129-C13C-CD6BCB25BBD6}"/>
                  </a:ext>
                </a:extLst>
              </p:cNvPr>
              <p:cNvSpPr txBox="1"/>
              <p:nvPr/>
            </p:nvSpPr>
            <p:spPr>
              <a:xfrm rot="19594320">
                <a:off x="880690" y="3438798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FCC928E-362F-9129-C13C-CD6BCB25B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880690" y="3438798"/>
                <a:ext cx="250581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213313-C6CA-980B-5465-8463E82DC602}"/>
                  </a:ext>
                </a:extLst>
              </p:cNvPr>
              <p:cNvSpPr txBox="1"/>
              <p:nvPr/>
            </p:nvSpPr>
            <p:spPr>
              <a:xfrm rot="19594320">
                <a:off x="2671152" y="3463374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213313-C6CA-980B-5465-8463E82DC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2671152" y="3463374"/>
                <a:ext cx="250581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538E5642-DFE5-6A0C-C1C4-780D5BAE51D8}"/>
              </a:ext>
            </a:extLst>
          </p:cNvPr>
          <p:cNvSpPr/>
          <p:nvPr/>
        </p:nvSpPr>
        <p:spPr>
          <a:xfrm>
            <a:off x="9789458" y="991550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698D71-9D5F-2503-11CA-E7D43AB56DC0}"/>
              </a:ext>
            </a:extLst>
          </p:cNvPr>
          <p:cNvSpPr txBox="1"/>
          <p:nvPr/>
        </p:nvSpPr>
        <p:spPr>
          <a:xfrm rot="16200000">
            <a:off x="9032788" y="121517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22BA77-D61D-1726-B6BE-700AA98860D4}"/>
              </a:ext>
            </a:extLst>
          </p:cNvPr>
          <p:cNvSpPr/>
          <p:nvPr/>
        </p:nvSpPr>
        <p:spPr>
          <a:xfrm>
            <a:off x="9789457" y="1790961"/>
            <a:ext cx="2243899" cy="801390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2B8EF2-FE20-AA00-ADF8-460437FA30C5}"/>
              </a:ext>
            </a:extLst>
          </p:cNvPr>
          <p:cNvSpPr/>
          <p:nvPr/>
        </p:nvSpPr>
        <p:spPr>
          <a:xfrm>
            <a:off x="9814752" y="3134552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7F2D6D-99B7-823F-CE4F-4615C73DAAC1}"/>
              </a:ext>
            </a:extLst>
          </p:cNvPr>
          <p:cNvCxnSpPr>
            <a:cxnSpLocks/>
          </p:cNvCxnSpPr>
          <p:nvPr/>
        </p:nvCxnSpPr>
        <p:spPr>
          <a:xfrm flipV="1">
            <a:off x="10889076" y="3143629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D9ED980-4DF6-8073-448A-481A5CEAFF8A}"/>
              </a:ext>
            </a:extLst>
          </p:cNvPr>
          <p:cNvSpPr txBox="1"/>
          <p:nvPr/>
        </p:nvSpPr>
        <p:spPr>
          <a:xfrm rot="16200000">
            <a:off x="9058082" y="3358172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F88D0F-8464-7AF6-96D7-B3F17CBDE83B}"/>
              </a:ext>
            </a:extLst>
          </p:cNvPr>
          <p:cNvSpPr txBox="1"/>
          <p:nvPr/>
        </p:nvSpPr>
        <p:spPr>
          <a:xfrm rot="16200000">
            <a:off x="9058082" y="416190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E56ACE-B2D4-901F-3E2B-CEE7D69B8035}"/>
              </a:ext>
            </a:extLst>
          </p:cNvPr>
          <p:cNvSpPr/>
          <p:nvPr/>
        </p:nvSpPr>
        <p:spPr>
          <a:xfrm>
            <a:off x="9789456" y="3134554"/>
            <a:ext cx="2243899" cy="801390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3F414932-13EC-DADE-9FED-686C8BCCAD63}"/>
              </a:ext>
            </a:extLst>
          </p:cNvPr>
          <p:cNvCxnSpPr>
            <a:cxnSpLocks/>
          </p:cNvCxnSpPr>
          <p:nvPr/>
        </p:nvCxnSpPr>
        <p:spPr>
          <a:xfrm>
            <a:off x="4925310" y="1904550"/>
            <a:ext cx="4480946" cy="2059521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CF8ED77C-613B-C63E-DF0F-0C4C23C94085}"/>
              </a:ext>
            </a:extLst>
          </p:cNvPr>
          <p:cNvCxnSpPr>
            <a:cxnSpLocks/>
          </p:cNvCxnSpPr>
          <p:nvPr/>
        </p:nvCxnSpPr>
        <p:spPr>
          <a:xfrm>
            <a:off x="4985951" y="1780130"/>
            <a:ext cx="4333657" cy="10831"/>
          </a:xfrm>
          <a:prstGeom prst="curvedConnector3">
            <a:avLst>
              <a:gd name="adj1" fmla="val 50435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998E40C-4E32-1360-1BC7-96919A6ACE3F}"/>
                  </a:ext>
                </a:extLst>
              </p:cNvPr>
              <p:cNvSpPr txBox="1"/>
              <p:nvPr/>
            </p:nvSpPr>
            <p:spPr>
              <a:xfrm>
                <a:off x="6064586" y="2377861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acquitted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aquitted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998E40C-4E32-1360-1BC7-96919A6AC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586" y="2377861"/>
                <a:ext cx="1079781" cy="523220"/>
              </a:xfrm>
              <a:prstGeom prst="rect">
                <a:avLst/>
              </a:prstGeom>
              <a:blipFill>
                <a:blip r:embed="rId7"/>
                <a:stretch>
                  <a:fillRect t="-2326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C5DA3B2-268A-3943-2A94-EA95CEE30FA8}"/>
                  </a:ext>
                </a:extLst>
              </p:cNvPr>
              <p:cNvSpPr txBox="1"/>
              <p:nvPr/>
            </p:nvSpPr>
            <p:spPr>
              <a:xfrm>
                <a:off x="6252166" y="1267741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convicted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C5DA3B2-268A-3943-2A94-EA95CEE30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166" y="1267741"/>
                <a:ext cx="1079781" cy="523220"/>
              </a:xfrm>
              <a:prstGeom prst="rect">
                <a:avLst/>
              </a:prstGeom>
              <a:blipFill>
                <a:blip r:embed="rId8"/>
                <a:stretch>
                  <a:fillRect t="-2326" r="-7910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361976B-0F7E-0DB8-39C9-11D865C85CBB}"/>
                  </a:ext>
                </a:extLst>
              </p:cNvPr>
              <p:cNvSpPr txBox="1"/>
              <p:nvPr/>
            </p:nvSpPr>
            <p:spPr>
              <a:xfrm rot="19594320">
                <a:off x="9593211" y="1227848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361976B-0F7E-0DB8-39C9-11D865C85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9593211" y="1227848"/>
                <a:ext cx="1556020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FE55D90-C856-605C-23D2-7C9801426BFC}"/>
                  </a:ext>
                </a:extLst>
              </p:cNvPr>
              <p:cNvSpPr txBox="1"/>
              <p:nvPr/>
            </p:nvSpPr>
            <p:spPr>
              <a:xfrm rot="19594320">
                <a:off x="10679102" y="1241066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FE55D90-C856-605C-23D2-7C9801426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10679102" y="1241066"/>
                <a:ext cx="1556020" cy="276999"/>
              </a:xfrm>
              <a:prstGeom prst="rect">
                <a:avLst/>
              </a:prstGeom>
              <a:blipFill>
                <a:blip r:embed="rId10"/>
                <a:stretch>
                  <a:fillRect t="-559" r="-5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BD38ECA-40D4-5604-261F-566CA025902B}"/>
                  </a:ext>
                </a:extLst>
              </p:cNvPr>
              <p:cNvSpPr txBox="1"/>
              <p:nvPr/>
            </p:nvSpPr>
            <p:spPr>
              <a:xfrm rot="19594320">
                <a:off x="9593212" y="4202051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BD38ECA-40D4-5604-261F-566CA0259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9593212" y="4202051"/>
                <a:ext cx="1556020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7E2E24E-6732-DF05-1C0C-7EDABD76BA7C}"/>
                  </a:ext>
                </a:extLst>
              </p:cNvPr>
              <p:cNvSpPr txBox="1"/>
              <p:nvPr/>
            </p:nvSpPr>
            <p:spPr>
              <a:xfrm rot="19594320">
                <a:off x="10703047" y="4187798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7E2E24E-6732-DF05-1C0C-7EDABD76B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10703047" y="4187798"/>
                <a:ext cx="1556020" cy="276999"/>
              </a:xfrm>
              <a:prstGeom prst="rect">
                <a:avLst/>
              </a:prstGeom>
              <a:blipFill>
                <a:blip r:embed="rId12"/>
                <a:stretch>
                  <a:fillRect r="-4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24356DD1-4586-1FE8-63ED-5A58E49EE5AF}"/>
              </a:ext>
            </a:extLst>
          </p:cNvPr>
          <p:cNvSpPr txBox="1"/>
          <p:nvPr/>
        </p:nvSpPr>
        <p:spPr>
          <a:xfrm>
            <a:off x="9888651" y="2804710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2A8746-9AB6-397D-7C7B-271B35A38578}"/>
              </a:ext>
            </a:extLst>
          </p:cNvPr>
          <p:cNvSpPr txBox="1"/>
          <p:nvPr/>
        </p:nvSpPr>
        <p:spPr>
          <a:xfrm>
            <a:off x="9922612" y="663176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2F37D5-A6E3-AB43-0D96-A355C46DCE69}"/>
              </a:ext>
            </a:extLst>
          </p:cNvPr>
          <p:cNvSpPr txBox="1"/>
          <p:nvPr/>
        </p:nvSpPr>
        <p:spPr>
          <a:xfrm>
            <a:off x="10936701" y="2808582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DB8685-51C9-20CA-FA79-885AE8A42B73}"/>
              </a:ext>
            </a:extLst>
          </p:cNvPr>
          <p:cNvSpPr txBox="1"/>
          <p:nvPr/>
        </p:nvSpPr>
        <p:spPr>
          <a:xfrm>
            <a:off x="10952944" y="651124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</p:spTree>
    <p:extLst>
      <p:ext uri="{BB962C8B-B14F-4D97-AF65-F5344CB8AC3E}">
        <p14:creationId xmlns:p14="http://schemas.microsoft.com/office/powerpoint/2010/main" val="192830387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8B0CE-618C-24B8-4F22-8A4476445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B275C-8C9B-6FF6-2362-4991DDB5B21E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A1ECAF-90E7-BADA-93AF-5E218C3B7C33}"/>
              </a:ext>
            </a:extLst>
          </p:cNvPr>
          <p:cNvSpPr txBox="1"/>
          <p:nvPr/>
        </p:nvSpPr>
        <p:spPr>
          <a:xfrm rot="20574304">
            <a:off x="-76372" y="443068"/>
            <a:ext cx="3093167" cy="52322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Compute what?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3B0F36-CC8C-4A5F-707F-D845681A0DC6}"/>
              </a:ext>
            </a:extLst>
          </p:cNvPr>
          <p:cNvSpPr/>
          <p:nvPr/>
        </p:nvSpPr>
        <p:spPr>
          <a:xfrm>
            <a:off x="1183121" y="1792942"/>
            <a:ext cx="3684494" cy="2438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6D0824-C21E-08D8-18C9-AE3CE3B33E5D}"/>
              </a:ext>
            </a:extLst>
          </p:cNvPr>
          <p:cNvSpPr txBox="1"/>
          <p:nvPr/>
        </p:nvSpPr>
        <p:spPr>
          <a:xfrm>
            <a:off x="1398272" y="997189"/>
            <a:ext cx="318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Is the defendant </a:t>
            </a:r>
            <a:r>
              <a:rPr lang="en-US" sz="1600" i="1" dirty="0"/>
              <a:t>actually</a:t>
            </a:r>
            <a:r>
              <a:rPr lang="en-US" sz="1600" dirty="0"/>
              <a:t> guilty?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5C70C1-1730-293B-6E57-805CB8824520}"/>
              </a:ext>
            </a:extLst>
          </p:cNvPr>
          <p:cNvSpPr txBox="1"/>
          <p:nvPr/>
        </p:nvSpPr>
        <p:spPr>
          <a:xfrm>
            <a:off x="1183120" y="1353670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guilty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726996-CD8B-BFF1-295B-294EF793359C}"/>
              </a:ext>
            </a:extLst>
          </p:cNvPr>
          <p:cNvSpPr txBox="1"/>
          <p:nvPr/>
        </p:nvSpPr>
        <p:spPr>
          <a:xfrm>
            <a:off x="3025368" y="1353670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innocent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80D208B-CCF2-DDF2-709A-9F0AC0B82C2C}"/>
              </a:ext>
            </a:extLst>
          </p:cNvPr>
          <p:cNvCxnSpPr>
            <a:stCxn id="4" idx="0"/>
            <a:endCxn id="4" idx="2"/>
          </p:cNvCxnSpPr>
          <p:nvPr/>
        </p:nvCxnSpPr>
        <p:spPr>
          <a:xfrm>
            <a:off x="3025368" y="1792942"/>
            <a:ext cx="0" cy="2438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260A027-89B4-3187-6E32-7A92471C1C2E}"/>
              </a:ext>
            </a:extLst>
          </p:cNvPr>
          <p:cNvSpPr txBox="1"/>
          <p:nvPr/>
        </p:nvSpPr>
        <p:spPr>
          <a:xfrm rot="16200000">
            <a:off x="-1104374" y="2944906"/>
            <a:ext cx="318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Will the defendant be acquitted?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4FEB15-E6B2-C0D8-38AA-59F476E838E8}"/>
              </a:ext>
            </a:extLst>
          </p:cNvPr>
          <p:cNvSpPr txBox="1"/>
          <p:nvPr/>
        </p:nvSpPr>
        <p:spPr>
          <a:xfrm rot="16200000">
            <a:off x="112806" y="2232212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convicted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94C1DD-1D98-DEE1-8FBD-9749067D78E4}"/>
              </a:ext>
            </a:extLst>
          </p:cNvPr>
          <p:cNvSpPr txBox="1"/>
          <p:nvPr/>
        </p:nvSpPr>
        <p:spPr>
          <a:xfrm rot="16200000">
            <a:off x="112806" y="3355617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acquitted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F00822A-C2B9-BD7B-17F2-4031124C15DB}"/>
              </a:ext>
            </a:extLst>
          </p:cNvPr>
          <p:cNvCxnSpPr>
            <a:cxnSpLocks/>
            <a:stCxn id="4" idx="3"/>
            <a:endCxn id="4" idx="1"/>
          </p:cNvCxnSpPr>
          <p:nvPr/>
        </p:nvCxnSpPr>
        <p:spPr>
          <a:xfrm flipH="1">
            <a:off x="1183121" y="3012142"/>
            <a:ext cx="368449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B0C2FB8-A694-DB8B-E279-A070B1E93F86}"/>
                  </a:ext>
                </a:extLst>
              </p:cNvPr>
              <p:cNvSpPr txBox="1"/>
              <p:nvPr/>
            </p:nvSpPr>
            <p:spPr>
              <a:xfrm rot="19594320">
                <a:off x="986118" y="2248335"/>
                <a:ext cx="229496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B0C2FB8-A694-DB8B-E279-A070B1E93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986118" y="2248335"/>
                <a:ext cx="2294965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68DAE52-4F23-E9DF-4608-3DE96085D4B5}"/>
                  </a:ext>
                </a:extLst>
              </p:cNvPr>
              <p:cNvSpPr txBox="1"/>
              <p:nvPr/>
            </p:nvSpPr>
            <p:spPr>
              <a:xfrm rot="19594320">
                <a:off x="2731138" y="2190250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68DAE52-4F23-E9DF-4608-3DE96085D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2731138" y="2190250"/>
                <a:ext cx="250581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CC5E65-62C3-3C4B-DD84-AC357627F60A}"/>
                  </a:ext>
                </a:extLst>
              </p:cNvPr>
              <p:cNvSpPr txBox="1"/>
              <p:nvPr/>
            </p:nvSpPr>
            <p:spPr>
              <a:xfrm rot="19594320">
                <a:off x="880690" y="3438798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CC5E65-62C3-3C4B-DD84-AC357627F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880690" y="3438798"/>
                <a:ext cx="250581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69AB062-4154-C955-A3F6-83C45EBCE637}"/>
                  </a:ext>
                </a:extLst>
              </p:cNvPr>
              <p:cNvSpPr txBox="1"/>
              <p:nvPr/>
            </p:nvSpPr>
            <p:spPr>
              <a:xfrm rot="19594320">
                <a:off x="2671152" y="3463374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69AB062-4154-C955-A3F6-83C45EBCE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2671152" y="3463374"/>
                <a:ext cx="250581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2D73C040-97F8-E745-5BB4-9DF564295ECF}"/>
              </a:ext>
            </a:extLst>
          </p:cNvPr>
          <p:cNvSpPr/>
          <p:nvPr/>
        </p:nvSpPr>
        <p:spPr>
          <a:xfrm>
            <a:off x="9789458" y="991550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AF8F95C-5481-DFEA-038B-CE9D3D60060E}"/>
              </a:ext>
            </a:extLst>
          </p:cNvPr>
          <p:cNvCxnSpPr>
            <a:cxnSpLocks/>
            <a:stCxn id="17" idx="3"/>
            <a:endCxn id="17" idx="1"/>
          </p:cNvCxnSpPr>
          <p:nvPr/>
        </p:nvCxnSpPr>
        <p:spPr>
          <a:xfrm flipH="1">
            <a:off x="9789458" y="1792942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C28B1A8-9BDA-C919-572B-9FB9B3F3CDBB}"/>
              </a:ext>
            </a:extLst>
          </p:cNvPr>
          <p:cNvCxnSpPr>
            <a:cxnSpLocks/>
            <a:stCxn id="17" idx="2"/>
            <a:endCxn id="17" idx="0"/>
          </p:cNvCxnSpPr>
          <p:nvPr/>
        </p:nvCxnSpPr>
        <p:spPr>
          <a:xfrm flipV="1">
            <a:off x="10911408" y="991550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038FF3A-C89C-4C8D-75A0-3F4DC1239EE7}"/>
              </a:ext>
            </a:extLst>
          </p:cNvPr>
          <p:cNvSpPr txBox="1"/>
          <p:nvPr/>
        </p:nvSpPr>
        <p:spPr>
          <a:xfrm rot="16200000">
            <a:off x="9032788" y="121517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BA1BAD-156A-634A-4D96-B431AD3264FC}"/>
              </a:ext>
            </a:extLst>
          </p:cNvPr>
          <p:cNvSpPr txBox="1"/>
          <p:nvPr/>
        </p:nvSpPr>
        <p:spPr>
          <a:xfrm rot="16200000">
            <a:off x="9032788" y="2018898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5EAE8D0-3A65-73F8-199B-B1BA4E238A08}"/>
              </a:ext>
            </a:extLst>
          </p:cNvPr>
          <p:cNvSpPr/>
          <p:nvPr/>
        </p:nvSpPr>
        <p:spPr>
          <a:xfrm>
            <a:off x="9789457" y="1790961"/>
            <a:ext cx="2243899" cy="801390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FC65C93-012C-5134-FB6D-4F95DCE9569C}"/>
              </a:ext>
            </a:extLst>
          </p:cNvPr>
          <p:cNvSpPr/>
          <p:nvPr/>
        </p:nvSpPr>
        <p:spPr>
          <a:xfrm>
            <a:off x="9814752" y="3134552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7B49391-4F45-C219-AE53-42405A30E060}"/>
              </a:ext>
            </a:extLst>
          </p:cNvPr>
          <p:cNvCxnSpPr>
            <a:cxnSpLocks/>
            <a:stCxn id="29" idx="3"/>
            <a:endCxn id="29" idx="1"/>
          </p:cNvCxnSpPr>
          <p:nvPr/>
        </p:nvCxnSpPr>
        <p:spPr>
          <a:xfrm flipH="1">
            <a:off x="9814752" y="3935944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42BAAC8-85A9-524E-FFA0-85E799F0AEAA}"/>
              </a:ext>
            </a:extLst>
          </p:cNvPr>
          <p:cNvCxnSpPr>
            <a:cxnSpLocks/>
            <a:stCxn id="29" idx="2"/>
            <a:endCxn id="29" idx="0"/>
          </p:cNvCxnSpPr>
          <p:nvPr/>
        </p:nvCxnSpPr>
        <p:spPr>
          <a:xfrm flipV="1">
            <a:off x="10936702" y="3134552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F8429CD-72DB-23B2-D8C7-1EE836C757D1}"/>
              </a:ext>
            </a:extLst>
          </p:cNvPr>
          <p:cNvSpPr txBox="1"/>
          <p:nvPr/>
        </p:nvSpPr>
        <p:spPr>
          <a:xfrm rot="16200000">
            <a:off x="9058082" y="3358172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CBF542-D41D-1AF7-102F-BD1544B0B529}"/>
              </a:ext>
            </a:extLst>
          </p:cNvPr>
          <p:cNvSpPr txBox="1"/>
          <p:nvPr/>
        </p:nvSpPr>
        <p:spPr>
          <a:xfrm rot="16200000">
            <a:off x="9058082" y="416190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714265C-C60C-3017-1142-5BEA274F4D43}"/>
              </a:ext>
            </a:extLst>
          </p:cNvPr>
          <p:cNvSpPr/>
          <p:nvPr/>
        </p:nvSpPr>
        <p:spPr>
          <a:xfrm>
            <a:off x="6228812" y="5142092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B38174F-EEC8-8E41-B8FC-E4AAC495DB90}"/>
              </a:ext>
            </a:extLst>
          </p:cNvPr>
          <p:cNvCxnSpPr>
            <a:cxnSpLocks/>
            <a:stCxn id="36" idx="3"/>
            <a:endCxn id="36" idx="1"/>
          </p:cNvCxnSpPr>
          <p:nvPr/>
        </p:nvCxnSpPr>
        <p:spPr>
          <a:xfrm flipH="1">
            <a:off x="6228812" y="5943484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50AD5E9-C36D-76FE-7231-4249160F6180}"/>
              </a:ext>
            </a:extLst>
          </p:cNvPr>
          <p:cNvCxnSpPr>
            <a:cxnSpLocks/>
            <a:stCxn id="36" idx="2"/>
            <a:endCxn id="36" idx="0"/>
          </p:cNvCxnSpPr>
          <p:nvPr/>
        </p:nvCxnSpPr>
        <p:spPr>
          <a:xfrm flipV="1">
            <a:off x="7350762" y="5142092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3D75931-6980-12C3-0C88-9389125F6981}"/>
              </a:ext>
            </a:extLst>
          </p:cNvPr>
          <p:cNvSpPr txBox="1"/>
          <p:nvPr/>
        </p:nvSpPr>
        <p:spPr>
          <a:xfrm rot="16200000">
            <a:off x="5472142" y="5365712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C5CD90-4806-343A-BAF3-6385AF24EFF8}"/>
              </a:ext>
            </a:extLst>
          </p:cNvPr>
          <p:cNvSpPr txBox="1"/>
          <p:nvPr/>
        </p:nvSpPr>
        <p:spPr>
          <a:xfrm rot="16200000">
            <a:off x="5472142" y="616944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1F12FD9-D419-46E0-DF27-F77D13633705}"/>
              </a:ext>
            </a:extLst>
          </p:cNvPr>
          <p:cNvSpPr/>
          <p:nvPr/>
        </p:nvSpPr>
        <p:spPr>
          <a:xfrm>
            <a:off x="1004158" y="5148886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10DD2AB-0CCA-1380-79A7-976D2AAE17EF}"/>
              </a:ext>
            </a:extLst>
          </p:cNvPr>
          <p:cNvCxnSpPr>
            <a:cxnSpLocks/>
            <a:stCxn id="43" idx="3"/>
            <a:endCxn id="43" idx="1"/>
          </p:cNvCxnSpPr>
          <p:nvPr/>
        </p:nvCxnSpPr>
        <p:spPr>
          <a:xfrm flipH="1">
            <a:off x="1004158" y="5950278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549D7FA-E7C0-4373-7216-2B2DFBF73FC3}"/>
              </a:ext>
            </a:extLst>
          </p:cNvPr>
          <p:cNvCxnSpPr>
            <a:cxnSpLocks/>
            <a:stCxn id="43" idx="2"/>
            <a:endCxn id="43" idx="0"/>
          </p:cNvCxnSpPr>
          <p:nvPr/>
        </p:nvCxnSpPr>
        <p:spPr>
          <a:xfrm flipV="1">
            <a:off x="2126108" y="5148886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367C3D3-D502-01B9-09EA-36B813CA1663}"/>
              </a:ext>
            </a:extLst>
          </p:cNvPr>
          <p:cNvSpPr txBox="1"/>
          <p:nvPr/>
        </p:nvSpPr>
        <p:spPr>
          <a:xfrm>
            <a:off x="1216444" y="4787191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028381E-2E3B-ED30-8E3D-8D9C08505841}"/>
              </a:ext>
            </a:extLst>
          </p:cNvPr>
          <p:cNvSpPr txBox="1"/>
          <p:nvPr/>
        </p:nvSpPr>
        <p:spPr>
          <a:xfrm>
            <a:off x="2112810" y="4800643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8C9EAA5-DFDE-4DD8-A54A-356F3FF0E506}"/>
              </a:ext>
            </a:extLst>
          </p:cNvPr>
          <p:cNvSpPr txBox="1"/>
          <p:nvPr/>
        </p:nvSpPr>
        <p:spPr>
          <a:xfrm rot="16200000">
            <a:off x="247488" y="5372506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3EA461E-3FD4-607E-D3C8-CBFABB9D879B}"/>
              </a:ext>
            </a:extLst>
          </p:cNvPr>
          <p:cNvSpPr txBox="1"/>
          <p:nvPr/>
        </p:nvSpPr>
        <p:spPr>
          <a:xfrm rot="16200000">
            <a:off x="247488" y="6176234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A8748FD-85DF-E5F7-0354-FEA5F288DD78}"/>
              </a:ext>
            </a:extLst>
          </p:cNvPr>
          <p:cNvSpPr/>
          <p:nvPr/>
        </p:nvSpPr>
        <p:spPr>
          <a:xfrm>
            <a:off x="9789456" y="3134554"/>
            <a:ext cx="2243899" cy="801390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C0C6AE1-0146-0652-D992-6C2A66F16A70}"/>
              </a:ext>
            </a:extLst>
          </p:cNvPr>
          <p:cNvSpPr/>
          <p:nvPr/>
        </p:nvSpPr>
        <p:spPr>
          <a:xfrm rot="5400000">
            <a:off x="5988435" y="5395366"/>
            <a:ext cx="1602782" cy="1121862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EB6921-440C-4BA5-0AF1-9B50820B2E26}"/>
              </a:ext>
            </a:extLst>
          </p:cNvPr>
          <p:cNvSpPr/>
          <p:nvPr/>
        </p:nvSpPr>
        <p:spPr>
          <a:xfrm rot="5400000">
            <a:off x="1864273" y="5367919"/>
            <a:ext cx="1602782" cy="1121862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F49DA656-8388-5ECC-B1E6-D23B6609CF7E}"/>
              </a:ext>
            </a:extLst>
          </p:cNvPr>
          <p:cNvCxnSpPr>
            <a:cxnSpLocks/>
          </p:cNvCxnSpPr>
          <p:nvPr/>
        </p:nvCxnSpPr>
        <p:spPr>
          <a:xfrm>
            <a:off x="4925310" y="1904550"/>
            <a:ext cx="4480946" cy="2059521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Curved 58">
            <a:extLst>
              <a:ext uri="{FF2B5EF4-FFF2-40B4-BE49-F238E27FC236}">
                <a16:creationId xmlns:a16="http://schemas.microsoft.com/office/drawing/2014/main" id="{83D57885-D028-AFDC-08C1-F95CE76F8BBA}"/>
              </a:ext>
            </a:extLst>
          </p:cNvPr>
          <p:cNvCxnSpPr>
            <a:cxnSpLocks/>
          </p:cNvCxnSpPr>
          <p:nvPr/>
        </p:nvCxnSpPr>
        <p:spPr>
          <a:xfrm>
            <a:off x="4985951" y="1780130"/>
            <a:ext cx="4333657" cy="10831"/>
          </a:xfrm>
          <a:prstGeom prst="curvedConnector3">
            <a:avLst>
              <a:gd name="adj1" fmla="val 50435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A3A3768-2538-47EC-0044-30AA669865C3}"/>
                  </a:ext>
                </a:extLst>
              </p:cNvPr>
              <p:cNvSpPr txBox="1"/>
              <p:nvPr/>
            </p:nvSpPr>
            <p:spPr>
              <a:xfrm>
                <a:off x="6064586" y="2377861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acquitted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aquitted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A3A3768-2538-47EC-0044-30AA66986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586" y="2377861"/>
                <a:ext cx="1079781" cy="523220"/>
              </a:xfrm>
              <a:prstGeom prst="rect">
                <a:avLst/>
              </a:prstGeom>
              <a:blipFill>
                <a:blip r:embed="rId6"/>
                <a:stretch>
                  <a:fillRect t="-2326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E64D82A8-48B8-7D34-BE9C-6E8C4F0E425C}"/>
                  </a:ext>
                </a:extLst>
              </p:cNvPr>
              <p:cNvSpPr txBox="1"/>
              <p:nvPr/>
            </p:nvSpPr>
            <p:spPr>
              <a:xfrm>
                <a:off x="6252166" y="1267741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convicted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E64D82A8-48B8-7D34-BE9C-6E8C4F0E4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166" y="1267741"/>
                <a:ext cx="1079781" cy="523220"/>
              </a:xfrm>
              <a:prstGeom prst="rect">
                <a:avLst/>
              </a:prstGeom>
              <a:blipFill>
                <a:blip r:embed="rId7"/>
                <a:stretch>
                  <a:fillRect l="-3955" t="-2326" r="-1130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54A23C9E-2408-B825-4E85-7551437B6FBD}"/>
                  </a:ext>
                </a:extLst>
              </p:cNvPr>
              <p:cNvSpPr txBox="1"/>
              <p:nvPr/>
            </p:nvSpPr>
            <p:spPr>
              <a:xfrm rot="19594320">
                <a:off x="9593211" y="1227848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54A23C9E-2408-B825-4E85-7551437B6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9593211" y="1227848"/>
                <a:ext cx="155602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C9E66FC-1F23-1451-C298-FACB3FD54B11}"/>
                  </a:ext>
                </a:extLst>
              </p:cNvPr>
              <p:cNvSpPr txBox="1"/>
              <p:nvPr/>
            </p:nvSpPr>
            <p:spPr>
              <a:xfrm rot="19594320">
                <a:off x="10679102" y="1241066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C9E66FC-1F23-1451-C298-FACB3FD54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10679102" y="1241066"/>
                <a:ext cx="1556020" cy="276999"/>
              </a:xfrm>
              <a:prstGeom prst="rect">
                <a:avLst/>
              </a:prstGeom>
              <a:blipFill>
                <a:blip r:embed="rId9"/>
                <a:stretch>
                  <a:fillRect t="-559" r="-5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6440071-AC8D-AEB5-A2CD-9333B27836D8}"/>
                  </a:ext>
                </a:extLst>
              </p:cNvPr>
              <p:cNvSpPr txBox="1"/>
              <p:nvPr/>
            </p:nvSpPr>
            <p:spPr>
              <a:xfrm rot="19594320">
                <a:off x="9593212" y="4202051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6440071-AC8D-AEB5-A2CD-9333B2783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9593212" y="4202051"/>
                <a:ext cx="1556020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2A1F714-8B26-87FF-1C27-4CD0D50C90AB}"/>
                  </a:ext>
                </a:extLst>
              </p:cNvPr>
              <p:cNvSpPr txBox="1"/>
              <p:nvPr/>
            </p:nvSpPr>
            <p:spPr>
              <a:xfrm rot="19594320">
                <a:off x="10703047" y="4187798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2A1F714-8B26-87FF-1C27-4CD0D50C9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10703047" y="4187798"/>
                <a:ext cx="1556020" cy="276999"/>
              </a:xfrm>
              <a:prstGeom prst="rect">
                <a:avLst/>
              </a:prstGeom>
              <a:blipFill>
                <a:blip r:embed="rId11"/>
                <a:stretch>
                  <a:fillRect r="-4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Connector: Curved 70">
            <a:extLst>
              <a:ext uri="{FF2B5EF4-FFF2-40B4-BE49-F238E27FC236}">
                <a16:creationId xmlns:a16="http://schemas.microsoft.com/office/drawing/2014/main" id="{0F3DCDEF-9229-A392-1D66-482E3F85932C}"/>
              </a:ext>
            </a:extLst>
          </p:cNvPr>
          <p:cNvCxnSpPr>
            <a:cxnSpLocks/>
          </p:cNvCxnSpPr>
          <p:nvPr/>
        </p:nvCxnSpPr>
        <p:spPr>
          <a:xfrm rot="5400000">
            <a:off x="3107178" y="4480107"/>
            <a:ext cx="2009202" cy="1511673"/>
          </a:xfrm>
          <a:prstGeom prst="curvedConnector3">
            <a:avLst>
              <a:gd name="adj1" fmla="val 49531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25DD8EB-7E65-C3E8-7136-9D10057A0E17}"/>
                  </a:ext>
                </a:extLst>
              </p:cNvPr>
              <p:cNvSpPr txBox="1"/>
              <p:nvPr/>
            </p:nvSpPr>
            <p:spPr>
              <a:xfrm>
                <a:off x="3671018" y="5242601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guilty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25DD8EB-7E65-C3E8-7136-9D10057A0E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018" y="5242601"/>
                <a:ext cx="1079781" cy="523220"/>
              </a:xfrm>
              <a:prstGeom prst="rect">
                <a:avLst/>
              </a:prstGeom>
              <a:blipFill>
                <a:blip r:embed="rId12"/>
                <a:stretch>
                  <a:fillRect t="-2326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Connector: Curved 75">
            <a:extLst>
              <a:ext uri="{FF2B5EF4-FFF2-40B4-BE49-F238E27FC236}">
                <a16:creationId xmlns:a16="http://schemas.microsoft.com/office/drawing/2014/main" id="{6DB85423-2D14-6E61-814E-5424ACA2CC9C}"/>
              </a:ext>
            </a:extLst>
          </p:cNvPr>
          <p:cNvCxnSpPr>
            <a:cxnSpLocks/>
          </p:cNvCxnSpPr>
          <p:nvPr/>
        </p:nvCxnSpPr>
        <p:spPr>
          <a:xfrm>
            <a:off x="4882551" y="4255918"/>
            <a:ext cx="1213449" cy="836359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1F2874C-C5A1-2A58-0858-4BB9C632705B}"/>
                  </a:ext>
                </a:extLst>
              </p:cNvPr>
              <p:cNvSpPr txBox="1"/>
              <p:nvPr/>
            </p:nvSpPr>
            <p:spPr>
              <a:xfrm>
                <a:off x="5477035" y="4128064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innocent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1F2874C-C5A1-2A58-0858-4BB9C6327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035" y="4128064"/>
                <a:ext cx="1079781" cy="523220"/>
              </a:xfrm>
              <a:prstGeom prst="rect">
                <a:avLst/>
              </a:prstGeom>
              <a:blipFill>
                <a:blip r:embed="rId13"/>
                <a:stretch>
                  <a:fillRect l="-562" t="-2326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B93569F6-8ABB-E665-77CF-2C154FC4142E}"/>
              </a:ext>
            </a:extLst>
          </p:cNvPr>
          <p:cNvSpPr txBox="1"/>
          <p:nvPr/>
        </p:nvSpPr>
        <p:spPr>
          <a:xfrm>
            <a:off x="7259021" y="4796114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87B01FF-1E55-5DE9-B18B-F781E6045C44}"/>
              </a:ext>
            </a:extLst>
          </p:cNvPr>
          <p:cNvSpPr txBox="1"/>
          <p:nvPr/>
        </p:nvSpPr>
        <p:spPr>
          <a:xfrm>
            <a:off x="6410387" y="4774980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BB7C7B8-DF9A-6D60-E0F3-56759F471471}"/>
              </a:ext>
            </a:extLst>
          </p:cNvPr>
          <p:cNvSpPr txBox="1"/>
          <p:nvPr/>
        </p:nvSpPr>
        <p:spPr>
          <a:xfrm>
            <a:off x="9888651" y="2804710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2D18CA9-E381-2F67-48AB-6762AAA050C1}"/>
              </a:ext>
            </a:extLst>
          </p:cNvPr>
          <p:cNvSpPr txBox="1"/>
          <p:nvPr/>
        </p:nvSpPr>
        <p:spPr>
          <a:xfrm>
            <a:off x="9922612" y="663176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6FFF621-5873-1B36-9DCE-048D56066551}"/>
              </a:ext>
            </a:extLst>
          </p:cNvPr>
          <p:cNvSpPr txBox="1"/>
          <p:nvPr/>
        </p:nvSpPr>
        <p:spPr>
          <a:xfrm>
            <a:off x="10936701" y="2808582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04DC33F-D96A-02D8-4135-70BD518BBB9C}"/>
              </a:ext>
            </a:extLst>
          </p:cNvPr>
          <p:cNvSpPr txBox="1"/>
          <p:nvPr/>
        </p:nvSpPr>
        <p:spPr>
          <a:xfrm>
            <a:off x="10952944" y="651124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5E331880-FAA9-E461-F0D8-63499BA6694A}"/>
                  </a:ext>
                </a:extLst>
              </p:cNvPr>
              <p:cNvSpPr txBox="1"/>
              <p:nvPr/>
            </p:nvSpPr>
            <p:spPr>
              <a:xfrm rot="19594320">
                <a:off x="7229186" y="5290422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5E331880-FAA9-E461-F0D8-63499BA66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229186" y="5290422"/>
                <a:ext cx="1556020" cy="276999"/>
              </a:xfrm>
              <a:prstGeom prst="rect">
                <a:avLst/>
              </a:prstGeom>
              <a:blipFill>
                <a:blip r:embed="rId14"/>
                <a:stretch>
                  <a:fillRect t="-559" r="-5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42A356D-FDF0-1C6F-4A9A-8AE07E0AB9BB}"/>
                  </a:ext>
                </a:extLst>
              </p:cNvPr>
              <p:cNvSpPr txBox="1"/>
              <p:nvPr/>
            </p:nvSpPr>
            <p:spPr>
              <a:xfrm rot="19594320">
                <a:off x="7286813" y="6068371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42A356D-FDF0-1C6F-4A9A-8AE07E0AB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286813" y="6068371"/>
                <a:ext cx="1556020" cy="276999"/>
              </a:xfrm>
              <a:prstGeom prst="rect">
                <a:avLst/>
              </a:prstGeom>
              <a:blipFill>
                <a:blip r:embed="rId15"/>
                <a:stretch>
                  <a:fillRect r="-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1D10D7A-A2CF-9A1A-1B57-9FC03BB1FD3D}"/>
                  </a:ext>
                </a:extLst>
              </p:cNvPr>
              <p:cNvSpPr txBox="1"/>
              <p:nvPr/>
            </p:nvSpPr>
            <p:spPr>
              <a:xfrm rot="19594320">
                <a:off x="791684" y="6159742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1D10D7A-A2CF-9A1A-1B57-9FC03BB1F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91684" y="6159742"/>
                <a:ext cx="1556020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1C8535B-549D-8601-E9E6-55E5F2E93411}"/>
                  </a:ext>
                </a:extLst>
              </p:cNvPr>
              <p:cNvSpPr txBox="1"/>
              <p:nvPr/>
            </p:nvSpPr>
            <p:spPr>
              <a:xfrm rot="19594320">
                <a:off x="784513" y="5391608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1C8535B-549D-8601-E9E6-55E5F2E93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84513" y="5391608"/>
                <a:ext cx="1556020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387320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885E1-2165-112A-C634-A382A4ABB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A91AE-2946-821F-6510-13F6E0464C42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2CF2F3-72B7-A4E5-8300-730CA4FF2697}"/>
              </a:ext>
            </a:extLst>
          </p:cNvPr>
          <p:cNvSpPr txBox="1"/>
          <p:nvPr/>
        </p:nvSpPr>
        <p:spPr>
          <a:xfrm rot="20574304">
            <a:off x="-76372" y="443068"/>
            <a:ext cx="3093167" cy="52322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Compute what?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1EB46E-7CDA-A59C-ED28-7BE4A64ED25B}"/>
              </a:ext>
            </a:extLst>
          </p:cNvPr>
          <p:cNvSpPr/>
          <p:nvPr/>
        </p:nvSpPr>
        <p:spPr>
          <a:xfrm>
            <a:off x="1183121" y="1792942"/>
            <a:ext cx="3684494" cy="2438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D3C7AD-F783-C0D7-75FE-293751277158}"/>
              </a:ext>
            </a:extLst>
          </p:cNvPr>
          <p:cNvSpPr txBox="1"/>
          <p:nvPr/>
        </p:nvSpPr>
        <p:spPr>
          <a:xfrm>
            <a:off x="1398272" y="997189"/>
            <a:ext cx="318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Is the defendant </a:t>
            </a:r>
            <a:r>
              <a:rPr lang="en-US" sz="1600" i="1" dirty="0"/>
              <a:t>actually</a:t>
            </a:r>
            <a:r>
              <a:rPr lang="en-US" sz="1600" dirty="0"/>
              <a:t> guilty?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5BE704-DE34-2771-07A6-4FB71CE608A0}"/>
              </a:ext>
            </a:extLst>
          </p:cNvPr>
          <p:cNvSpPr txBox="1"/>
          <p:nvPr/>
        </p:nvSpPr>
        <p:spPr>
          <a:xfrm>
            <a:off x="1183120" y="1353670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guilty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4EE11F-E4CF-F754-1E35-C4C370979FAA}"/>
              </a:ext>
            </a:extLst>
          </p:cNvPr>
          <p:cNvSpPr txBox="1"/>
          <p:nvPr/>
        </p:nvSpPr>
        <p:spPr>
          <a:xfrm>
            <a:off x="3025368" y="1353670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innocent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B0CECB-8330-D9C9-6605-F63746F6F081}"/>
              </a:ext>
            </a:extLst>
          </p:cNvPr>
          <p:cNvCxnSpPr>
            <a:stCxn id="4" idx="0"/>
            <a:endCxn id="4" idx="2"/>
          </p:cNvCxnSpPr>
          <p:nvPr/>
        </p:nvCxnSpPr>
        <p:spPr>
          <a:xfrm>
            <a:off x="3025368" y="1792942"/>
            <a:ext cx="0" cy="2438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431520A-6949-EC1A-D490-3ABD97A21D8E}"/>
              </a:ext>
            </a:extLst>
          </p:cNvPr>
          <p:cNvSpPr txBox="1"/>
          <p:nvPr/>
        </p:nvSpPr>
        <p:spPr>
          <a:xfrm rot="16200000">
            <a:off x="-1104374" y="2944906"/>
            <a:ext cx="318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Will the defendant be acquitted?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3CB26A-E164-2E64-92A0-96D193141B6A}"/>
              </a:ext>
            </a:extLst>
          </p:cNvPr>
          <p:cNvSpPr txBox="1"/>
          <p:nvPr/>
        </p:nvSpPr>
        <p:spPr>
          <a:xfrm rot="16200000">
            <a:off x="112806" y="2232212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convicted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2891C2-2373-DAA2-BACF-259D10A9B0FE}"/>
              </a:ext>
            </a:extLst>
          </p:cNvPr>
          <p:cNvSpPr txBox="1"/>
          <p:nvPr/>
        </p:nvSpPr>
        <p:spPr>
          <a:xfrm rot="16200000">
            <a:off x="112806" y="3355617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acquitted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371D728-C169-4AB6-19A0-63BA3E9A79F4}"/>
              </a:ext>
            </a:extLst>
          </p:cNvPr>
          <p:cNvCxnSpPr>
            <a:cxnSpLocks/>
            <a:stCxn id="4" idx="3"/>
            <a:endCxn id="4" idx="1"/>
          </p:cNvCxnSpPr>
          <p:nvPr/>
        </p:nvCxnSpPr>
        <p:spPr>
          <a:xfrm flipH="1">
            <a:off x="1183121" y="3012142"/>
            <a:ext cx="368449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9BFAA32-B2D9-3471-34FC-6913F02D553F}"/>
                  </a:ext>
                </a:extLst>
              </p:cNvPr>
              <p:cNvSpPr txBox="1"/>
              <p:nvPr/>
            </p:nvSpPr>
            <p:spPr>
              <a:xfrm rot="19594320">
                <a:off x="986118" y="2248335"/>
                <a:ext cx="229496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9BFAA32-B2D9-3471-34FC-6913F02D5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986118" y="2248335"/>
                <a:ext cx="2294965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D121C35-29EE-B09A-C7B3-CF449A1BA6A6}"/>
                  </a:ext>
                </a:extLst>
              </p:cNvPr>
              <p:cNvSpPr txBox="1"/>
              <p:nvPr/>
            </p:nvSpPr>
            <p:spPr>
              <a:xfrm rot="19594320">
                <a:off x="2731138" y="2190250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D121C35-29EE-B09A-C7B3-CF449A1BA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2731138" y="2190250"/>
                <a:ext cx="250581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A948FAF-A921-3075-3F25-34FC7145DAF6}"/>
                  </a:ext>
                </a:extLst>
              </p:cNvPr>
              <p:cNvSpPr txBox="1"/>
              <p:nvPr/>
            </p:nvSpPr>
            <p:spPr>
              <a:xfrm rot="19594320">
                <a:off x="880690" y="3438798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A948FAF-A921-3075-3F25-34FC7145D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880690" y="3438798"/>
                <a:ext cx="250581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5E46B25-632B-CF80-9B65-DEA749AD1797}"/>
                  </a:ext>
                </a:extLst>
              </p:cNvPr>
              <p:cNvSpPr txBox="1"/>
              <p:nvPr/>
            </p:nvSpPr>
            <p:spPr>
              <a:xfrm rot="19594320">
                <a:off x="2671152" y="3463374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5E46B25-632B-CF80-9B65-DEA749AD1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2671152" y="3463374"/>
                <a:ext cx="250581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0321D725-9AEE-23F7-6A55-AD6FD9BB1577}"/>
              </a:ext>
            </a:extLst>
          </p:cNvPr>
          <p:cNvSpPr/>
          <p:nvPr/>
        </p:nvSpPr>
        <p:spPr>
          <a:xfrm>
            <a:off x="9789458" y="991550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AF22AE7-9B65-8E2E-6C73-B7C6F248F75B}"/>
              </a:ext>
            </a:extLst>
          </p:cNvPr>
          <p:cNvCxnSpPr>
            <a:cxnSpLocks/>
            <a:stCxn id="17" idx="3"/>
            <a:endCxn id="17" idx="1"/>
          </p:cNvCxnSpPr>
          <p:nvPr/>
        </p:nvCxnSpPr>
        <p:spPr>
          <a:xfrm flipH="1">
            <a:off x="9789458" y="1792942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22C214F-35F8-791B-F04A-2E771CADC490}"/>
              </a:ext>
            </a:extLst>
          </p:cNvPr>
          <p:cNvCxnSpPr>
            <a:cxnSpLocks/>
            <a:stCxn id="17" idx="2"/>
            <a:endCxn id="17" idx="0"/>
          </p:cNvCxnSpPr>
          <p:nvPr/>
        </p:nvCxnSpPr>
        <p:spPr>
          <a:xfrm flipV="1">
            <a:off x="10911408" y="991550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35827DC-6B00-71C8-7457-B361D9A77209}"/>
              </a:ext>
            </a:extLst>
          </p:cNvPr>
          <p:cNvSpPr txBox="1"/>
          <p:nvPr/>
        </p:nvSpPr>
        <p:spPr>
          <a:xfrm rot="16200000">
            <a:off x="9032788" y="121517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137D9D-6FE5-0EFD-8FE7-1C1B2170C0E3}"/>
              </a:ext>
            </a:extLst>
          </p:cNvPr>
          <p:cNvSpPr txBox="1"/>
          <p:nvPr/>
        </p:nvSpPr>
        <p:spPr>
          <a:xfrm rot="16200000">
            <a:off x="9032788" y="2018898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55E4FAC-C60C-46F4-0FC3-2DEE87C9FB32}"/>
              </a:ext>
            </a:extLst>
          </p:cNvPr>
          <p:cNvSpPr/>
          <p:nvPr/>
        </p:nvSpPr>
        <p:spPr>
          <a:xfrm>
            <a:off x="9789457" y="1790961"/>
            <a:ext cx="2243899" cy="801390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9389C0-6B2B-6595-16C3-D76CCF471B51}"/>
              </a:ext>
            </a:extLst>
          </p:cNvPr>
          <p:cNvSpPr/>
          <p:nvPr/>
        </p:nvSpPr>
        <p:spPr>
          <a:xfrm>
            <a:off x="9814752" y="3134552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9D5A791-E41E-1492-D2BF-8F45F7F02CE2}"/>
              </a:ext>
            </a:extLst>
          </p:cNvPr>
          <p:cNvCxnSpPr>
            <a:cxnSpLocks/>
            <a:stCxn id="29" idx="3"/>
            <a:endCxn id="29" idx="1"/>
          </p:cNvCxnSpPr>
          <p:nvPr/>
        </p:nvCxnSpPr>
        <p:spPr>
          <a:xfrm flipH="1">
            <a:off x="9814752" y="3935944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25D5B7C-7F72-57BF-5190-B9AAA7C4C2B7}"/>
              </a:ext>
            </a:extLst>
          </p:cNvPr>
          <p:cNvCxnSpPr>
            <a:cxnSpLocks/>
            <a:stCxn id="29" idx="2"/>
            <a:endCxn id="29" idx="0"/>
          </p:cNvCxnSpPr>
          <p:nvPr/>
        </p:nvCxnSpPr>
        <p:spPr>
          <a:xfrm flipV="1">
            <a:off x="10936702" y="3134552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27317A6-D028-8875-D332-98AFA4DE5455}"/>
              </a:ext>
            </a:extLst>
          </p:cNvPr>
          <p:cNvSpPr txBox="1"/>
          <p:nvPr/>
        </p:nvSpPr>
        <p:spPr>
          <a:xfrm rot="16200000">
            <a:off x="9058082" y="3358172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961BE07-3758-FAB4-817D-6304556311EC}"/>
              </a:ext>
            </a:extLst>
          </p:cNvPr>
          <p:cNvSpPr txBox="1"/>
          <p:nvPr/>
        </p:nvSpPr>
        <p:spPr>
          <a:xfrm rot="16200000">
            <a:off x="9058082" y="416190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3EEDC04-E4FA-528A-F2FB-BFC784F788C9}"/>
              </a:ext>
            </a:extLst>
          </p:cNvPr>
          <p:cNvSpPr/>
          <p:nvPr/>
        </p:nvSpPr>
        <p:spPr>
          <a:xfrm>
            <a:off x="6228812" y="5142092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E3A81A5-3B77-245B-44B3-3F2D98DE1732}"/>
              </a:ext>
            </a:extLst>
          </p:cNvPr>
          <p:cNvCxnSpPr>
            <a:cxnSpLocks/>
            <a:stCxn id="36" idx="3"/>
            <a:endCxn id="36" idx="1"/>
          </p:cNvCxnSpPr>
          <p:nvPr/>
        </p:nvCxnSpPr>
        <p:spPr>
          <a:xfrm flipH="1">
            <a:off x="6228812" y="5943484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6A138B6-0BA5-0DBE-8B63-2946C806B17D}"/>
              </a:ext>
            </a:extLst>
          </p:cNvPr>
          <p:cNvCxnSpPr>
            <a:cxnSpLocks/>
            <a:stCxn id="36" idx="2"/>
            <a:endCxn id="36" idx="0"/>
          </p:cNvCxnSpPr>
          <p:nvPr/>
        </p:nvCxnSpPr>
        <p:spPr>
          <a:xfrm flipV="1">
            <a:off x="7350762" y="5142092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7003D42-2D5F-1635-DB03-02341BAF2AA4}"/>
              </a:ext>
            </a:extLst>
          </p:cNvPr>
          <p:cNvSpPr txBox="1"/>
          <p:nvPr/>
        </p:nvSpPr>
        <p:spPr>
          <a:xfrm rot="16200000">
            <a:off x="5472142" y="5365712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AFF4CE-F50F-B2A6-331E-F7A080456CF4}"/>
              </a:ext>
            </a:extLst>
          </p:cNvPr>
          <p:cNvSpPr txBox="1"/>
          <p:nvPr/>
        </p:nvSpPr>
        <p:spPr>
          <a:xfrm rot="16200000">
            <a:off x="5472142" y="616944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C38DD87-560E-27A3-ABA4-257CB26469B7}"/>
              </a:ext>
            </a:extLst>
          </p:cNvPr>
          <p:cNvSpPr/>
          <p:nvPr/>
        </p:nvSpPr>
        <p:spPr>
          <a:xfrm>
            <a:off x="1004158" y="5148886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C99124E-B364-92E6-6832-4BB74EE17A0A}"/>
              </a:ext>
            </a:extLst>
          </p:cNvPr>
          <p:cNvCxnSpPr>
            <a:cxnSpLocks/>
            <a:stCxn id="43" idx="3"/>
            <a:endCxn id="43" idx="1"/>
          </p:cNvCxnSpPr>
          <p:nvPr/>
        </p:nvCxnSpPr>
        <p:spPr>
          <a:xfrm flipH="1">
            <a:off x="1004158" y="5950278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11FD8E4-E000-B41C-7704-EC6BF3FE1F46}"/>
              </a:ext>
            </a:extLst>
          </p:cNvPr>
          <p:cNvCxnSpPr>
            <a:cxnSpLocks/>
            <a:stCxn id="43" idx="2"/>
            <a:endCxn id="43" idx="0"/>
          </p:cNvCxnSpPr>
          <p:nvPr/>
        </p:nvCxnSpPr>
        <p:spPr>
          <a:xfrm flipV="1">
            <a:off x="2126108" y="5148886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CAA6764F-845D-07B6-2347-F2C4A389E2EE}"/>
              </a:ext>
            </a:extLst>
          </p:cNvPr>
          <p:cNvSpPr txBox="1"/>
          <p:nvPr/>
        </p:nvSpPr>
        <p:spPr>
          <a:xfrm>
            <a:off x="1216444" y="4787191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65D5357-E8B8-B4E6-C396-619EB2FC247D}"/>
              </a:ext>
            </a:extLst>
          </p:cNvPr>
          <p:cNvSpPr txBox="1"/>
          <p:nvPr/>
        </p:nvSpPr>
        <p:spPr>
          <a:xfrm>
            <a:off x="2112810" y="4800643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AD7720B-5776-06A5-09F5-D3B05EFFAC4D}"/>
              </a:ext>
            </a:extLst>
          </p:cNvPr>
          <p:cNvSpPr txBox="1"/>
          <p:nvPr/>
        </p:nvSpPr>
        <p:spPr>
          <a:xfrm rot="16200000">
            <a:off x="247488" y="5372506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A9FEC9-D594-7736-AEB4-65B3B8B5B46A}"/>
              </a:ext>
            </a:extLst>
          </p:cNvPr>
          <p:cNvSpPr txBox="1"/>
          <p:nvPr/>
        </p:nvSpPr>
        <p:spPr>
          <a:xfrm rot="16200000">
            <a:off x="247488" y="6176234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557A613-4718-E9BE-BC14-AD6D27E4401B}"/>
              </a:ext>
            </a:extLst>
          </p:cNvPr>
          <p:cNvSpPr/>
          <p:nvPr/>
        </p:nvSpPr>
        <p:spPr>
          <a:xfrm>
            <a:off x="9789456" y="3134554"/>
            <a:ext cx="2243899" cy="801390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A32879E-E511-FF7C-505D-13A6F9CD7364}"/>
              </a:ext>
            </a:extLst>
          </p:cNvPr>
          <p:cNvSpPr/>
          <p:nvPr/>
        </p:nvSpPr>
        <p:spPr>
          <a:xfrm rot="5400000">
            <a:off x="5988435" y="5395366"/>
            <a:ext cx="1602782" cy="1121862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F70CEC4-F7B7-C079-B2EE-3333D88E48BE}"/>
              </a:ext>
            </a:extLst>
          </p:cNvPr>
          <p:cNvSpPr/>
          <p:nvPr/>
        </p:nvSpPr>
        <p:spPr>
          <a:xfrm rot="5400000">
            <a:off x="1864273" y="5367919"/>
            <a:ext cx="1602782" cy="1121862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E0BA8876-CC2C-ED62-1604-70E819E305FE}"/>
              </a:ext>
            </a:extLst>
          </p:cNvPr>
          <p:cNvCxnSpPr>
            <a:cxnSpLocks/>
          </p:cNvCxnSpPr>
          <p:nvPr/>
        </p:nvCxnSpPr>
        <p:spPr>
          <a:xfrm>
            <a:off x="4925310" y="1904550"/>
            <a:ext cx="4480946" cy="2059521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Curved 58">
            <a:extLst>
              <a:ext uri="{FF2B5EF4-FFF2-40B4-BE49-F238E27FC236}">
                <a16:creationId xmlns:a16="http://schemas.microsoft.com/office/drawing/2014/main" id="{7329D4F7-8210-F9AF-B4F9-BFE769ADB379}"/>
              </a:ext>
            </a:extLst>
          </p:cNvPr>
          <p:cNvCxnSpPr>
            <a:cxnSpLocks/>
          </p:cNvCxnSpPr>
          <p:nvPr/>
        </p:nvCxnSpPr>
        <p:spPr>
          <a:xfrm>
            <a:off x="4985951" y="1780130"/>
            <a:ext cx="4333657" cy="10831"/>
          </a:xfrm>
          <a:prstGeom prst="curvedConnector3">
            <a:avLst>
              <a:gd name="adj1" fmla="val 50435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1B6D5FD-0610-5A6B-2142-2021C2D48594}"/>
                  </a:ext>
                </a:extLst>
              </p:cNvPr>
              <p:cNvSpPr txBox="1"/>
              <p:nvPr/>
            </p:nvSpPr>
            <p:spPr>
              <a:xfrm>
                <a:off x="6064586" y="2377861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acquitted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aquitted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1B6D5FD-0610-5A6B-2142-2021C2D485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586" y="2377861"/>
                <a:ext cx="1079781" cy="523220"/>
              </a:xfrm>
              <a:prstGeom prst="rect">
                <a:avLst/>
              </a:prstGeom>
              <a:blipFill>
                <a:blip r:embed="rId6"/>
                <a:stretch>
                  <a:fillRect t="-2326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7D91FB7-9674-424B-8C03-05BE5944F5E8}"/>
                  </a:ext>
                </a:extLst>
              </p:cNvPr>
              <p:cNvSpPr txBox="1"/>
              <p:nvPr/>
            </p:nvSpPr>
            <p:spPr>
              <a:xfrm>
                <a:off x="6252166" y="1267741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convicted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7D91FB7-9674-424B-8C03-05BE5944F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166" y="1267741"/>
                <a:ext cx="1079781" cy="523220"/>
              </a:xfrm>
              <a:prstGeom prst="rect">
                <a:avLst/>
              </a:prstGeom>
              <a:blipFill>
                <a:blip r:embed="rId7"/>
                <a:stretch>
                  <a:fillRect t="-2326" r="-7910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6FED1AE-45FF-3C30-9527-F6CA9259D97E}"/>
                  </a:ext>
                </a:extLst>
              </p:cNvPr>
              <p:cNvSpPr txBox="1"/>
              <p:nvPr/>
            </p:nvSpPr>
            <p:spPr>
              <a:xfrm rot="19594320">
                <a:off x="9593211" y="1227848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6FED1AE-45FF-3C30-9527-F6CA9259D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9593211" y="1227848"/>
                <a:ext cx="155602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E88BD81E-33BA-E1EA-C3BE-8FCC54648F38}"/>
                  </a:ext>
                </a:extLst>
              </p:cNvPr>
              <p:cNvSpPr txBox="1"/>
              <p:nvPr/>
            </p:nvSpPr>
            <p:spPr>
              <a:xfrm rot="19594320">
                <a:off x="10679102" y="1241066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E88BD81E-33BA-E1EA-C3BE-8FCC54648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10679102" y="1241066"/>
                <a:ext cx="1556020" cy="276999"/>
              </a:xfrm>
              <a:prstGeom prst="rect">
                <a:avLst/>
              </a:prstGeom>
              <a:blipFill>
                <a:blip r:embed="rId9"/>
                <a:stretch>
                  <a:fillRect t="-559" r="-5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5107BAD-7446-C037-CE1C-FE1388737CE3}"/>
                  </a:ext>
                </a:extLst>
              </p:cNvPr>
              <p:cNvSpPr txBox="1"/>
              <p:nvPr/>
            </p:nvSpPr>
            <p:spPr>
              <a:xfrm rot="19594320">
                <a:off x="9593212" y="4202051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5107BAD-7446-C037-CE1C-FE1388737C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9593212" y="4202051"/>
                <a:ext cx="1556020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565444A3-E247-C315-9E93-F551C39CF4BC}"/>
                  </a:ext>
                </a:extLst>
              </p:cNvPr>
              <p:cNvSpPr txBox="1"/>
              <p:nvPr/>
            </p:nvSpPr>
            <p:spPr>
              <a:xfrm rot="19594320">
                <a:off x="10703047" y="4187798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565444A3-E247-C315-9E93-F551C39CF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10703047" y="4187798"/>
                <a:ext cx="1556020" cy="276999"/>
              </a:xfrm>
              <a:prstGeom prst="rect">
                <a:avLst/>
              </a:prstGeom>
              <a:blipFill>
                <a:blip r:embed="rId11"/>
                <a:stretch>
                  <a:fillRect r="-4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Connector: Curved 70">
            <a:extLst>
              <a:ext uri="{FF2B5EF4-FFF2-40B4-BE49-F238E27FC236}">
                <a16:creationId xmlns:a16="http://schemas.microsoft.com/office/drawing/2014/main" id="{163D318D-2705-5C6D-C7CD-7EB311C61B3E}"/>
              </a:ext>
            </a:extLst>
          </p:cNvPr>
          <p:cNvCxnSpPr>
            <a:cxnSpLocks/>
          </p:cNvCxnSpPr>
          <p:nvPr/>
        </p:nvCxnSpPr>
        <p:spPr>
          <a:xfrm rot="5400000">
            <a:off x="3107178" y="4480107"/>
            <a:ext cx="2009202" cy="1511673"/>
          </a:xfrm>
          <a:prstGeom prst="curvedConnector3">
            <a:avLst>
              <a:gd name="adj1" fmla="val 49531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F1E7D20-F6AC-2889-D89A-0B98251FF714}"/>
                  </a:ext>
                </a:extLst>
              </p:cNvPr>
              <p:cNvSpPr txBox="1"/>
              <p:nvPr/>
            </p:nvSpPr>
            <p:spPr>
              <a:xfrm>
                <a:off x="3671018" y="5242601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guilty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F1E7D20-F6AC-2889-D89A-0B98251FF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018" y="5242601"/>
                <a:ext cx="1079781" cy="523220"/>
              </a:xfrm>
              <a:prstGeom prst="rect">
                <a:avLst/>
              </a:prstGeom>
              <a:blipFill>
                <a:blip r:embed="rId12"/>
                <a:stretch>
                  <a:fillRect t="-2326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Connector: Curved 75">
            <a:extLst>
              <a:ext uri="{FF2B5EF4-FFF2-40B4-BE49-F238E27FC236}">
                <a16:creationId xmlns:a16="http://schemas.microsoft.com/office/drawing/2014/main" id="{7ED45FED-AB98-BD3A-0174-6BF6D726CDA7}"/>
              </a:ext>
            </a:extLst>
          </p:cNvPr>
          <p:cNvCxnSpPr>
            <a:cxnSpLocks/>
          </p:cNvCxnSpPr>
          <p:nvPr/>
        </p:nvCxnSpPr>
        <p:spPr>
          <a:xfrm>
            <a:off x="4882551" y="4255918"/>
            <a:ext cx="1213449" cy="836359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441D555-DB76-17CD-4F48-3F80B9AE2B5E}"/>
                  </a:ext>
                </a:extLst>
              </p:cNvPr>
              <p:cNvSpPr txBox="1"/>
              <p:nvPr/>
            </p:nvSpPr>
            <p:spPr>
              <a:xfrm>
                <a:off x="5477035" y="4128064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innocent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441D555-DB76-17CD-4F48-3F80B9AE2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035" y="4128064"/>
                <a:ext cx="1079781" cy="523220"/>
              </a:xfrm>
              <a:prstGeom prst="rect">
                <a:avLst/>
              </a:prstGeom>
              <a:blipFill>
                <a:blip r:embed="rId13"/>
                <a:stretch>
                  <a:fillRect t="-2326" r="-1124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D2FB9BA4-A009-1274-D36E-F201ED181049}"/>
              </a:ext>
            </a:extLst>
          </p:cNvPr>
          <p:cNvSpPr txBox="1"/>
          <p:nvPr/>
        </p:nvSpPr>
        <p:spPr>
          <a:xfrm>
            <a:off x="7259021" y="4796114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12E1C13-098D-ADF9-4521-7F7508F5BA06}"/>
              </a:ext>
            </a:extLst>
          </p:cNvPr>
          <p:cNvSpPr txBox="1"/>
          <p:nvPr/>
        </p:nvSpPr>
        <p:spPr>
          <a:xfrm>
            <a:off x="6410387" y="4774980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2D85D13-62FA-03CC-4AE9-2E5D65D6E80E}"/>
              </a:ext>
            </a:extLst>
          </p:cNvPr>
          <p:cNvSpPr txBox="1"/>
          <p:nvPr/>
        </p:nvSpPr>
        <p:spPr>
          <a:xfrm>
            <a:off x="9888651" y="2804710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65011D5-E263-7BEC-3E5D-03D6B2890B28}"/>
              </a:ext>
            </a:extLst>
          </p:cNvPr>
          <p:cNvSpPr txBox="1"/>
          <p:nvPr/>
        </p:nvSpPr>
        <p:spPr>
          <a:xfrm>
            <a:off x="9922612" y="663176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578410E-5AE3-AEE4-781B-28CBBD940216}"/>
              </a:ext>
            </a:extLst>
          </p:cNvPr>
          <p:cNvSpPr txBox="1"/>
          <p:nvPr/>
        </p:nvSpPr>
        <p:spPr>
          <a:xfrm>
            <a:off x="10936701" y="2808582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E3D452C-A9F1-0281-3D1A-32DB247CB60D}"/>
              </a:ext>
            </a:extLst>
          </p:cNvPr>
          <p:cNvSpPr txBox="1"/>
          <p:nvPr/>
        </p:nvSpPr>
        <p:spPr>
          <a:xfrm>
            <a:off x="10952944" y="651124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01A1A181-9D35-2209-A5EB-9E45A1F3D59A}"/>
                  </a:ext>
                </a:extLst>
              </p:cNvPr>
              <p:cNvSpPr txBox="1"/>
              <p:nvPr/>
            </p:nvSpPr>
            <p:spPr>
              <a:xfrm rot="19594320">
                <a:off x="7229186" y="5290422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01A1A181-9D35-2209-A5EB-9E45A1F3D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229186" y="5290422"/>
                <a:ext cx="1556020" cy="276999"/>
              </a:xfrm>
              <a:prstGeom prst="rect">
                <a:avLst/>
              </a:prstGeom>
              <a:blipFill>
                <a:blip r:embed="rId14"/>
                <a:stretch>
                  <a:fillRect t="-559" r="-5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9E4629E-2FC2-F7F8-7225-D037B4ED0052}"/>
                  </a:ext>
                </a:extLst>
              </p:cNvPr>
              <p:cNvSpPr txBox="1"/>
              <p:nvPr/>
            </p:nvSpPr>
            <p:spPr>
              <a:xfrm rot="19594320">
                <a:off x="7286813" y="6068371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9E4629E-2FC2-F7F8-7225-D037B4ED0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286813" y="6068371"/>
                <a:ext cx="1556020" cy="276999"/>
              </a:xfrm>
              <a:prstGeom prst="rect">
                <a:avLst/>
              </a:prstGeom>
              <a:blipFill>
                <a:blip r:embed="rId15"/>
                <a:stretch>
                  <a:fillRect r="-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B582517-7119-2A31-A0C3-4795C35756E0}"/>
                  </a:ext>
                </a:extLst>
              </p:cNvPr>
              <p:cNvSpPr txBox="1"/>
              <p:nvPr/>
            </p:nvSpPr>
            <p:spPr>
              <a:xfrm rot="19594320">
                <a:off x="791684" y="6159742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B582517-7119-2A31-A0C3-4795C3575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91684" y="6159742"/>
                <a:ext cx="1556020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B8E39EC-5B3F-69C0-710C-FC070B601537}"/>
                  </a:ext>
                </a:extLst>
              </p:cNvPr>
              <p:cNvSpPr txBox="1"/>
              <p:nvPr/>
            </p:nvSpPr>
            <p:spPr>
              <a:xfrm rot="19594320">
                <a:off x="784513" y="5391608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B8E39EC-5B3F-69C0-710C-FC070B601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84513" y="5391608"/>
                <a:ext cx="1556020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7F2783B0-33A3-84BC-50E1-59E66A714B78}"/>
              </a:ext>
            </a:extLst>
          </p:cNvPr>
          <p:cNvSpPr/>
          <p:nvPr/>
        </p:nvSpPr>
        <p:spPr>
          <a:xfrm>
            <a:off x="0" y="-2"/>
            <a:ext cx="12206666" cy="6858002"/>
          </a:xfrm>
          <a:prstGeom prst="rect">
            <a:avLst/>
          </a:prstGeom>
          <a:solidFill>
            <a:srgbClr val="595959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5DA2147-0329-68DD-CAB8-30369276F7D9}"/>
              </a:ext>
            </a:extLst>
          </p:cNvPr>
          <p:cNvSpPr/>
          <p:nvPr/>
        </p:nvSpPr>
        <p:spPr>
          <a:xfrm>
            <a:off x="1615145" y="1249181"/>
            <a:ext cx="9506981" cy="47053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9753D8-0C37-8C30-C6DE-2CAD07221FB0}"/>
              </a:ext>
            </a:extLst>
          </p:cNvPr>
          <p:cNvSpPr txBox="1"/>
          <p:nvPr/>
        </p:nvSpPr>
        <p:spPr>
          <a:xfrm>
            <a:off x="3640238" y="273647"/>
            <a:ext cx="5223415" cy="95410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All of these probabilities are related to one another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EDB3F7-E93C-80D2-5A73-90AA0DF4065C}"/>
              </a:ext>
            </a:extLst>
          </p:cNvPr>
          <p:cNvSpPr txBox="1"/>
          <p:nvPr/>
        </p:nvSpPr>
        <p:spPr>
          <a:xfrm>
            <a:off x="6648259" y="3248141"/>
            <a:ext cx="2495550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Marginal Probability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8CDCB8-CF56-833E-BD7C-28C4B7FA24CF}"/>
              </a:ext>
            </a:extLst>
          </p:cNvPr>
          <p:cNvSpPr txBox="1"/>
          <p:nvPr/>
        </p:nvSpPr>
        <p:spPr>
          <a:xfrm>
            <a:off x="6648259" y="3853097"/>
            <a:ext cx="2495550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Conditional Probability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992CB2B-3C68-3A55-B2BC-7A53A463F6CA}"/>
              </a:ext>
            </a:extLst>
          </p:cNvPr>
          <p:cNvSpPr txBox="1"/>
          <p:nvPr/>
        </p:nvSpPr>
        <p:spPr>
          <a:xfrm>
            <a:off x="3760089" y="3559251"/>
            <a:ext cx="1953083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Joint Probability</a:t>
            </a:r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8B5590A5-6FF1-7070-308D-24628EB2ABD7}"/>
              </a:ext>
            </a:extLst>
          </p:cNvPr>
          <p:cNvSpPr/>
          <p:nvPr/>
        </p:nvSpPr>
        <p:spPr>
          <a:xfrm>
            <a:off x="6424422" y="3248141"/>
            <a:ext cx="223838" cy="991553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A31C471-C094-B6C3-BA8E-64B93B401A8A}"/>
              </a:ext>
            </a:extLst>
          </p:cNvPr>
          <p:cNvCxnSpPr>
            <a:stCxn id="32" idx="3"/>
            <a:endCxn id="33" idx="1"/>
          </p:cNvCxnSpPr>
          <p:nvPr/>
        </p:nvCxnSpPr>
        <p:spPr>
          <a:xfrm>
            <a:off x="5713172" y="3743917"/>
            <a:ext cx="711250" cy="1"/>
          </a:xfrm>
          <a:prstGeom prst="straightConnector1">
            <a:avLst/>
          </a:prstGeom>
          <a:ln w="635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B6C9257-411A-84FB-6E20-5BA91A9DD2F9}"/>
              </a:ext>
            </a:extLst>
          </p:cNvPr>
          <p:cNvSpPr txBox="1"/>
          <p:nvPr/>
        </p:nvSpPr>
        <p:spPr>
          <a:xfrm>
            <a:off x="3776629" y="1782352"/>
            <a:ext cx="1953083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Joint Probability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83D573F-E14E-2F3F-16FC-B28C0BCD65C1}"/>
              </a:ext>
            </a:extLst>
          </p:cNvPr>
          <p:cNvSpPr txBox="1"/>
          <p:nvPr/>
        </p:nvSpPr>
        <p:spPr>
          <a:xfrm>
            <a:off x="6411456" y="1782352"/>
            <a:ext cx="2495550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Marginal Probability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03112E4-F3C0-EC4F-CCA4-BB2EB2486044}"/>
              </a:ext>
            </a:extLst>
          </p:cNvPr>
          <p:cNvCxnSpPr/>
          <p:nvPr/>
        </p:nvCxnSpPr>
        <p:spPr>
          <a:xfrm>
            <a:off x="5706148" y="1967017"/>
            <a:ext cx="711250" cy="1"/>
          </a:xfrm>
          <a:prstGeom prst="straightConnector1">
            <a:avLst/>
          </a:prstGeom>
          <a:ln w="635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91938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47B54-B4B7-5F31-CE91-3F72FC9B0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03489-2B14-0880-9AD4-29BC99A112C3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68E067-1CA9-D673-5DB9-AFB070F6AAB6}"/>
              </a:ext>
            </a:extLst>
          </p:cNvPr>
          <p:cNvSpPr txBox="1"/>
          <p:nvPr/>
        </p:nvSpPr>
        <p:spPr>
          <a:xfrm rot="20574304">
            <a:off x="-76372" y="443068"/>
            <a:ext cx="3093167" cy="52322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Compute what?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13CD9F-61E8-5907-2891-BD4C2A1AFE88}"/>
              </a:ext>
            </a:extLst>
          </p:cNvPr>
          <p:cNvSpPr/>
          <p:nvPr/>
        </p:nvSpPr>
        <p:spPr>
          <a:xfrm>
            <a:off x="1183121" y="1792942"/>
            <a:ext cx="3684494" cy="2438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F36E07-503E-F223-51C6-6266E3077806}"/>
              </a:ext>
            </a:extLst>
          </p:cNvPr>
          <p:cNvSpPr txBox="1"/>
          <p:nvPr/>
        </p:nvSpPr>
        <p:spPr>
          <a:xfrm>
            <a:off x="1398272" y="997189"/>
            <a:ext cx="318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Is the defendant </a:t>
            </a:r>
            <a:r>
              <a:rPr lang="en-US" sz="1600" i="1" dirty="0"/>
              <a:t>actually</a:t>
            </a:r>
            <a:r>
              <a:rPr lang="en-US" sz="1600" dirty="0"/>
              <a:t> guilty?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A24D16-C4B5-2140-A424-5744F2A15FE8}"/>
              </a:ext>
            </a:extLst>
          </p:cNvPr>
          <p:cNvSpPr txBox="1"/>
          <p:nvPr/>
        </p:nvSpPr>
        <p:spPr>
          <a:xfrm>
            <a:off x="1183120" y="1353670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guilty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41282A-C75F-9279-2D80-174EC69A3A1B}"/>
              </a:ext>
            </a:extLst>
          </p:cNvPr>
          <p:cNvSpPr txBox="1"/>
          <p:nvPr/>
        </p:nvSpPr>
        <p:spPr>
          <a:xfrm>
            <a:off x="3025368" y="1353670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innocent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E6E9DE-EF25-E906-3388-B5F757AB3BEC}"/>
              </a:ext>
            </a:extLst>
          </p:cNvPr>
          <p:cNvCxnSpPr>
            <a:stCxn id="4" idx="0"/>
            <a:endCxn id="4" idx="2"/>
          </p:cNvCxnSpPr>
          <p:nvPr/>
        </p:nvCxnSpPr>
        <p:spPr>
          <a:xfrm>
            <a:off x="3025368" y="1792942"/>
            <a:ext cx="0" cy="2438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490A017-8FB3-35DE-3DED-FE9350976D86}"/>
              </a:ext>
            </a:extLst>
          </p:cNvPr>
          <p:cNvSpPr txBox="1"/>
          <p:nvPr/>
        </p:nvSpPr>
        <p:spPr>
          <a:xfrm rot="16200000">
            <a:off x="-1104374" y="2944906"/>
            <a:ext cx="318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Will the defendant be acquitted?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88D66D-2794-649F-5727-942ADBE12E9B}"/>
              </a:ext>
            </a:extLst>
          </p:cNvPr>
          <p:cNvSpPr txBox="1"/>
          <p:nvPr/>
        </p:nvSpPr>
        <p:spPr>
          <a:xfrm rot="16200000">
            <a:off x="112806" y="2232212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convicted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5D9D2D-1FC6-BC6D-80F8-CFF2390B29F6}"/>
              </a:ext>
            </a:extLst>
          </p:cNvPr>
          <p:cNvSpPr txBox="1"/>
          <p:nvPr/>
        </p:nvSpPr>
        <p:spPr>
          <a:xfrm rot="16200000">
            <a:off x="112806" y="3355617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acquitted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CA2856-2541-5B9D-9A54-C6A7936BE72A}"/>
              </a:ext>
            </a:extLst>
          </p:cNvPr>
          <p:cNvCxnSpPr>
            <a:cxnSpLocks/>
            <a:stCxn id="4" idx="3"/>
            <a:endCxn id="4" idx="1"/>
          </p:cNvCxnSpPr>
          <p:nvPr/>
        </p:nvCxnSpPr>
        <p:spPr>
          <a:xfrm flipH="1">
            <a:off x="1183121" y="3012142"/>
            <a:ext cx="368449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ACADE57-22AC-608E-8B95-B23146DE7016}"/>
                  </a:ext>
                </a:extLst>
              </p:cNvPr>
              <p:cNvSpPr txBox="1"/>
              <p:nvPr/>
            </p:nvSpPr>
            <p:spPr>
              <a:xfrm rot="19594320">
                <a:off x="986118" y="2248335"/>
                <a:ext cx="229496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ACADE57-22AC-608E-8B95-B23146DE7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986118" y="2248335"/>
                <a:ext cx="2294965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1F9FE09-6789-CF6B-7AAF-8B7F3517DF98}"/>
                  </a:ext>
                </a:extLst>
              </p:cNvPr>
              <p:cNvSpPr txBox="1"/>
              <p:nvPr/>
            </p:nvSpPr>
            <p:spPr>
              <a:xfrm rot="19594320">
                <a:off x="2731138" y="2190250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1F9FE09-6789-CF6B-7AAF-8B7F3517D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2731138" y="2190250"/>
                <a:ext cx="250581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950F19E-B476-99BC-63B8-BF0C306EEF34}"/>
                  </a:ext>
                </a:extLst>
              </p:cNvPr>
              <p:cNvSpPr txBox="1"/>
              <p:nvPr/>
            </p:nvSpPr>
            <p:spPr>
              <a:xfrm rot="19594320">
                <a:off x="880690" y="3438798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950F19E-B476-99BC-63B8-BF0C306EE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880690" y="3438798"/>
                <a:ext cx="250581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FB9A40-9A42-2B9B-74F5-553C2567A329}"/>
                  </a:ext>
                </a:extLst>
              </p:cNvPr>
              <p:cNvSpPr txBox="1"/>
              <p:nvPr/>
            </p:nvSpPr>
            <p:spPr>
              <a:xfrm rot="19594320">
                <a:off x="2671152" y="3463374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FB9A40-9A42-2B9B-74F5-553C2567A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2671152" y="3463374"/>
                <a:ext cx="250581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8A65075B-AE5F-C78F-380B-A35F4E35704B}"/>
              </a:ext>
            </a:extLst>
          </p:cNvPr>
          <p:cNvSpPr/>
          <p:nvPr/>
        </p:nvSpPr>
        <p:spPr>
          <a:xfrm>
            <a:off x="9789458" y="991550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4779FD-08C8-4BE9-69DC-9BFD707404F5}"/>
              </a:ext>
            </a:extLst>
          </p:cNvPr>
          <p:cNvCxnSpPr>
            <a:cxnSpLocks/>
            <a:stCxn id="17" idx="3"/>
            <a:endCxn id="17" idx="1"/>
          </p:cNvCxnSpPr>
          <p:nvPr/>
        </p:nvCxnSpPr>
        <p:spPr>
          <a:xfrm flipH="1">
            <a:off x="9789458" y="1792942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8EF4F17-A23F-905F-F5DF-EA9CCB37FD4A}"/>
              </a:ext>
            </a:extLst>
          </p:cNvPr>
          <p:cNvCxnSpPr>
            <a:cxnSpLocks/>
            <a:stCxn id="17" idx="2"/>
            <a:endCxn id="17" idx="0"/>
          </p:cNvCxnSpPr>
          <p:nvPr/>
        </p:nvCxnSpPr>
        <p:spPr>
          <a:xfrm flipV="1">
            <a:off x="10911408" y="991550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192EC21-ABB4-5E77-E35B-4B70EAD5E3DD}"/>
              </a:ext>
            </a:extLst>
          </p:cNvPr>
          <p:cNvSpPr txBox="1"/>
          <p:nvPr/>
        </p:nvSpPr>
        <p:spPr>
          <a:xfrm rot="16200000">
            <a:off x="9032788" y="121517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FD6B02-187A-D4EB-2CA1-8D187129CF23}"/>
              </a:ext>
            </a:extLst>
          </p:cNvPr>
          <p:cNvSpPr txBox="1"/>
          <p:nvPr/>
        </p:nvSpPr>
        <p:spPr>
          <a:xfrm rot="16200000">
            <a:off x="9032788" y="2018898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C4853F-BC74-3BA7-72A9-741D1E3E3DC3}"/>
              </a:ext>
            </a:extLst>
          </p:cNvPr>
          <p:cNvSpPr/>
          <p:nvPr/>
        </p:nvSpPr>
        <p:spPr>
          <a:xfrm>
            <a:off x="9789457" y="1790961"/>
            <a:ext cx="2243899" cy="801390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D69FC32-1E07-9809-FDA1-A026A5D35301}"/>
              </a:ext>
            </a:extLst>
          </p:cNvPr>
          <p:cNvSpPr/>
          <p:nvPr/>
        </p:nvSpPr>
        <p:spPr>
          <a:xfrm>
            <a:off x="9814752" y="3134552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03D0142-7D73-5771-AFFF-7CC6FB80489C}"/>
              </a:ext>
            </a:extLst>
          </p:cNvPr>
          <p:cNvCxnSpPr>
            <a:cxnSpLocks/>
            <a:stCxn id="29" idx="3"/>
            <a:endCxn id="29" idx="1"/>
          </p:cNvCxnSpPr>
          <p:nvPr/>
        </p:nvCxnSpPr>
        <p:spPr>
          <a:xfrm flipH="1">
            <a:off x="9814752" y="3935944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9634534-14B2-63A2-9C50-849D5853B33F}"/>
              </a:ext>
            </a:extLst>
          </p:cNvPr>
          <p:cNvCxnSpPr>
            <a:cxnSpLocks/>
            <a:stCxn id="29" idx="2"/>
            <a:endCxn id="29" idx="0"/>
          </p:cNvCxnSpPr>
          <p:nvPr/>
        </p:nvCxnSpPr>
        <p:spPr>
          <a:xfrm flipV="1">
            <a:off x="10936702" y="3134552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FF43D1C-22DE-0D89-D88B-866C7D5B230F}"/>
              </a:ext>
            </a:extLst>
          </p:cNvPr>
          <p:cNvSpPr txBox="1"/>
          <p:nvPr/>
        </p:nvSpPr>
        <p:spPr>
          <a:xfrm rot="16200000">
            <a:off x="9058082" y="3358172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31399F-F176-C1CF-1B31-E281D24EF571}"/>
              </a:ext>
            </a:extLst>
          </p:cNvPr>
          <p:cNvSpPr txBox="1"/>
          <p:nvPr/>
        </p:nvSpPr>
        <p:spPr>
          <a:xfrm rot="16200000">
            <a:off x="9058082" y="416190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2BDE2D7-338F-6ED7-199D-C185C8A1E6EE}"/>
              </a:ext>
            </a:extLst>
          </p:cNvPr>
          <p:cNvSpPr/>
          <p:nvPr/>
        </p:nvSpPr>
        <p:spPr>
          <a:xfrm>
            <a:off x="6228812" y="5142092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E39FBA4-3673-1A3B-AC48-35DDF038DD76}"/>
              </a:ext>
            </a:extLst>
          </p:cNvPr>
          <p:cNvCxnSpPr>
            <a:cxnSpLocks/>
            <a:stCxn id="36" idx="3"/>
            <a:endCxn id="36" idx="1"/>
          </p:cNvCxnSpPr>
          <p:nvPr/>
        </p:nvCxnSpPr>
        <p:spPr>
          <a:xfrm flipH="1">
            <a:off x="6228812" y="5943484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66AFB79-A9C0-CD60-1961-33B4EB9498AB}"/>
              </a:ext>
            </a:extLst>
          </p:cNvPr>
          <p:cNvCxnSpPr>
            <a:cxnSpLocks/>
            <a:stCxn id="36" idx="2"/>
            <a:endCxn id="36" idx="0"/>
          </p:cNvCxnSpPr>
          <p:nvPr/>
        </p:nvCxnSpPr>
        <p:spPr>
          <a:xfrm flipV="1">
            <a:off x="7350762" y="5142092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434B675-6A7E-6F90-3CCF-F42551A6FE54}"/>
              </a:ext>
            </a:extLst>
          </p:cNvPr>
          <p:cNvSpPr txBox="1"/>
          <p:nvPr/>
        </p:nvSpPr>
        <p:spPr>
          <a:xfrm rot="16200000">
            <a:off x="5472142" y="5365712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658CCB6-8BE3-0F00-2F7C-5899E960286B}"/>
              </a:ext>
            </a:extLst>
          </p:cNvPr>
          <p:cNvSpPr txBox="1"/>
          <p:nvPr/>
        </p:nvSpPr>
        <p:spPr>
          <a:xfrm rot="16200000">
            <a:off x="5472142" y="616944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2BBEA7E-7C2A-CC28-62BF-3CA0E93EFE3A}"/>
              </a:ext>
            </a:extLst>
          </p:cNvPr>
          <p:cNvSpPr/>
          <p:nvPr/>
        </p:nvSpPr>
        <p:spPr>
          <a:xfrm>
            <a:off x="1004158" y="5148886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8ECA991-0FC5-6B9B-9239-70D4F38BFD4A}"/>
              </a:ext>
            </a:extLst>
          </p:cNvPr>
          <p:cNvCxnSpPr>
            <a:cxnSpLocks/>
            <a:stCxn id="43" idx="3"/>
            <a:endCxn id="43" idx="1"/>
          </p:cNvCxnSpPr>
          <p:nvPr/>
        </p:nvCxnSpPr>
        <p:spPr>
          <a:xfrm flipH="1">
            <a:off x="1004158" y="5950278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F20FE17-40E3-6BD4-1A41-9FD43E619432}"/>
              </a:ext>
            </a:extLst>
          </p:cNvPr>
          <p:cNvCxnSpPr>
            <a:cxnSpLocks/>
            <a:stCxn id="43" idx="2"/>
            <a:endCxn id="43" idx="0"/>
          </p:cNvCxnSpPr>
          <p:nvPr/>
        </p:nvCxnSpPr>
        <p:spPr>
          <a:xfrm flipV="1">
            <a:off x="2126108" y="5148886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774DB87-A89F-B97F-8507-B5C7927BEE8A}"/>
              </a:ext>
            </a:extLst>
          </p:cNvPr>
          <p:cNvSpPr txBox="1"/>
          <p:nvPr/>
        </p:nvSpPr>
        <p:spPr>
          <a:xfrm>
            <a:off x="1216444" y="4787191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C177A4D-A667-A007-0D74-8EA5BA8830D4}"/>
              </a:ext>
            </a:extLst>
          </p:cNvPr>
          <p:cNvSpPr txBox="1"/>
          <p:nvPr/>
        </p:nvSpPr>
        <p:spPr>
          <a:xfrm>
            <a:off x="2112810" y="4800643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49A6495-3910-4DD4-3654-FFF68A048267}"/>
              </a:ext>
            </a:extLst>
          </p:cNvPr>
          <p:cNvSpPr txBox="1"/>
          <p:nvPr/>
        </p:nvSpPr>
        <p:spPr>
          <a:xfrm rot="16200000">
            <a:off x="247488" y="5372506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220BAF-86ED-F7E0-39C3-1F05453F80F3}"/>
              </a:ext>
            </a:extLst>
          </p:cNvPr>
          <p:cNvSpPr txBox="1"/>
          <p:nvPr/>
        </p:nvSpPr>
        <p:spPr>
          <a:xfrm rot="16200000">
            <a:off x="247488" y="6176234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7245E75-661B-B93C-53DA-5CE4B40ED74E}"/>
              </a:ext>
            </a:extLst>
          </p:cNvPr>
          <p:cNvSpPr/>
          <p:nvPr/>
        </p:nvSpPr>
        <p:spPr>
          <a:xfrm>
            <a:off x="9789456" y="3134554"/>
            <a:ext cx="2243899" cy="801390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CEF80B3-7D79-2632-3F43-DF4DAF3D46C9}"/>
              </a:ext>
            </a:extLst>
          </p:cNvPr>
          <p:cNvSpPr/>
          <p:nvPr/>
        </p:nvSpPr>
        <p:spPr>
          <a:xfrm rot="5400000">
            <a:off x="5988435" y="5395366"/>
            <a:ext cx="1602782" cy="1121862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F4118F0-1B38-97C2-0BA0-2DFF4A846DC7}"/>
              </a:ext>
            </a:extLst>
          </p:cNvPr>
          <p:cNvSpPr/>
          <p:nvPr/>
        </p:nvSpPr>
        <p:spPr>
          <a:xfrm rot="5400000">
            <a:off x="1864273" y="5367919"/>
            <a:ext cx="1602782" cy="1121862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CE4C179E-3CC7-3D83-C407-A582DD8DDE39}"/>
              </a:ext>
            </a:extLst>
          </p:cNvPr>
          <p:cNvCxnSpPr>
            <a:cxnSpLocks/>
          </p:cNvCxnSpPr>
          <p:nvPr/>
        </p:nvCxnSpPr>
        <p:spPr>
          <a:xfrm>
            <a:off x="4925310" y="1904550"/>
            <a:ext cx="4480946" cy="2059521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Curved 58">
            <a:extLst>
              <a:ext uri="{FF2B5EF4-FFF2-40B4-BE49-F238E27FC236}">
                <a16:creationId xmlns:a16="http://schemas.microsoft.com/office/drawing/2014/main" id="{B93B0266-125C-1683-4716-4765E65DE962}"/>
              </a:ext>
            </a:extLst>
          </p:cNvPr>
          <p:cNvCxnSpPr>
            <a:cxnSpLocks/>
          </p:cNvCxnSpPr>
          <p:nvPr/>
        </p:nvCxnSpPr>
        <p:spPr>
          <a:xfrm>
            <a:off x="4985951" y="1780130"/>
            <a:ext cx="4333657" cy="10831"/>
          </a:xfrm>
          <a:prstGeom prst="curvedConnector3">
            <a:avLst>
              <a:gd name="adj1" fmla="val 50435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858B802-8DE7-68A8-DE38-C02200A66198}"/>
                  </a:ext>
                </a:extLst>
              </p:cNvPr>
              <p:cNvSpPr txBox="1"/>
              <p:nvPr/>
            </p:nvSpPr>
            <p:spPr>
              <a:xfrm>
                <a:off x="6064586" y="2377861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acquitted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aquitted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858B802-8DE7-68A8-DE38-C02200A66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586" y="2377861"/>
                <a:ext cx="1079781" cy="523220"/>
              </a:xfrm>
              <a:prstGeom prst="rect">
                <a:avLst/>
              </a:prstGeom>
              <a:blipFill>
                <a:blip r:embed="rId6"/>
                <a:stretch>
                  <a:fillRect t="-2326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0748B1F-9186-F31F-8136-64AA56A185CA}"/>
                  </a:ext>
                </a:extLst>
              </p:cNvPr>
              <p:cNvSpPr txBox="1"/>
              <p:nvPr/>
            </p:nvSpPr>
            <p:spPr>
              <a:xfrm>
                <a:off x="6252166" y="1267741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convicted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0748B1F-9186-F31F-8136-64AA56A18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166" y="1267741"/>
                <a:ext cx="1079781" cy="523220"/>
              </a:xfrm>
              <a:prstGeom prst="rect">
                <a:avLst/>
              </a:prstGeom>
              <a:blipFill>
                <a:blip r:embed="rId7"/>
                <a:stretch>
                  <a:fillRect t="-2326" r="-7910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F35313CA-803B-8A85-CDAD-1255F8CD16F6}"/>
                  </a:ext>
                </a:extLst>
              </p:cNvPr>
              <p:cNvSpPr txBox="1"/>
              <p:nvPr/>
            </p:nvSpPr>
            <p:spPr>
              <a:xfrm rot="19594320">
                <a:off x="9593211" y="1227848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F35313CA-803B-8A85-CDAD-1255F8CD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9593211" y="1227848"/>
                <a:ext cx="155602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9F4EB62-9304-10DC-C2D8-9BE511E12FA2}"/>
                  </a:ext>
                </a:extLst>
              </p:cNvPr>
              <p:cNvSpPr txBox="1"/>
              <p:nvPr/>
            </p:nvSpPr>
            <p:spPr>
              <a:xfrm rot="19594320">
                <a:off x="10679102" y="1241066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9F4EB62-9304-10DC-C2D8-9BE511E12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10679102" y="1241066"/>
                <a:ext cx="1556020" cy="276999"/>
              </a:xfrm>
              <a:prstGeom prst="rect">
                <a:avLst/>
              </a:prstGeom>
              <a:blipFill>
                <a:blip r:embed="rId9"/>
                <a:stretch>
                  <a:fillRect t="-559" r="-5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FBA054C-DCC4-F4F2-160D-091E615AE801}"/>
                  </a:ext>
                </a:extLst>
              </p:cNvPr>
              <p:cNvSpPr txBox="1"/>
              <p:nvPr/>
            </p:nvSpPr>
            <p:spPr>
              <a:xfrm rot="19594320">
                <a:off x="9593212" y="4202051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FBA054C-DCC4-F4F2-160D-091E615AE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9593212" y="4202051"/>
                <a:ext cx="1556020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D566EF1-DA13-77D1-1CAB-32C1A46B0144}"/>
                  </a:ext>
                </a:extLst>
              </p:cNvPr>
              <p:cNvSpPr txBox="1"/>
              <p:nvPr/>
            </p:nvSpPr>
            <p:spPr>
              <a:xfrm rot="19594320">
                <a:off x="10703047" y="4187798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D566EF1-DA13-77D1-1CAB-32C1A46B0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10703047" y="4187798"/>
                <a:ext cx="1556020" cy="276999"/>
              </a:xfrm>
              <a:prstGeom prst="rect">
                <a:avLst/>
              </a:prstGeom>
              <a:blipFill>
                <a:blip r:embed="rId11"/>
                <a:stretch>
                  <a:fillRect r="-4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Connector: Curved 70">
            <a:extLst>
              <a:ext uri="{FF2B5EF4-FFF2-40B4-BE49-F238E27FC236}">
                <a16:creationId xmlns:a16="http://schemas.microsoft.com/office/drawing/2014/main" id="{84811A58-8DFB-E5D0-17F7-42F70D949F53}"/>
              </a:ext>
            </a:extLst>
          </p:cNvPr>
          <p:cNvCxnSpPr>
            <a:cxnSpLocks/>
          </p:cNvCxnSpPr>
          <p:nvPr/>
        </p:nvCxnSpPr>
        <p:spPr>
          <a:xfrm rot="5400000">
            <a:off x="3107178" y="4480107"/>
            <a:ext cx="2009202" cy="1511673"/>
          </a:xfrm>
          <a:prstGeom prst="curvedConnector3">
            <a:avLst>
              <a:gd name="adj1" fmla="val 49531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F582E44-21A4-CBED-FF48-E4A4ADE9EB1B}"/>
                  </a:ext>
                </a:extLst>
              </p:cNvPr>
              <p:cNvSpPr txBox="1"/>
              <p:nvPr/>
            </p:nvSpPr>
            <p:spPr>
              <a:xfrm>
                <a:off x="3671018" y="5242601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guilty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F582E44-21A4-CBED-FF48-E4A4ADE9E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018" y="5242601"/>
                <a:ext cx="1079781" cy="523220"/>
              </a:xfrm>
              <a:prstGeom prst="rect">
                <a:avLst/>
              </a:prstGeom>
              <a:blipFill>
                <a:blip r:embed="rId12"/>
                <a:stretch>
                  <a:fillRect t="-2326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Connector: Curved 75">
            <a:extLst>
              <a:ext uri="{FF2B5EF4-FFF2-40B4-BE49-F238E27FC236}">
                <a16:creationId xmlns:a16="http://schemas.microsoft.com/office/drawing/2014/main" id="{95522DB0-D944-D10A-D314-F49D44F53823}"/>
              </a:ext>
            </a:extLst>
          </p:cNvPr>
          <p:cNvCxnSpPr>
            <a:cxnSpLocks/>
          </p:cNvCxnSpPr>
          <p:nvPr/>
        </p:nvCxnSpPr>
        <p:spPr>
          <a:xfrm>
            <a:off x="4882551" y="4255918"/>
            <a:ext cx="1213449" cy="836359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B92FED6-42F7-2F1C-B5FC-352D14F67880}"/>
                  </a:ext>
                </a:extLst>
              </p:cNvPr>
              <p:cNvSpPr txBox="1"/>
              <p:nvPr/>
            </p:nvSpPr>
            <p:spPr>
              <a:xfrm>
                <a:off x="5477035" y="4128064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innocent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B92FED6-42F7-2F1C-B5FC-352D14F67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035" y="4128064"/>
                <a:ext cx="1079781" cy="523220"/>
              </a:xfrm>
              <a:prstGeom prst="rect">
                <a:avLst/>
              </a:prstGeom>
              <a:blipFill>
                <a:blip r:embed="rId13"/>
                <a:stretch>
                  <a:fillRect t="-2326" r="-1124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C88DC191-0603-6EF9-D3BC-503842EEDD7D}"/>
              </a:ext>
            </a:extLst>
          </p:cNvPr>
          <p:cNvSpPr txBox="1"/>
          <p:nvPr/>
        </p:nvSpPr>
        <p:spPr>
          <a:xfrm>
            <a:off x="7259021" y="4796114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F8F3A78-7984-5B8F-40EC-9C6CEAD4DC1D}"/>
              </a:ext>
            </a:extLst>
          </p:cNvPr>
          <p:cNvSpPr txBox="1"/>
          <p:nvPr/>
        </p:nvSpPr>
        <p:spPr>
          <a:xfrm>
            <a:off x="6410387" y="4774980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1F1FD07-F58A-3FFB-6516-188671633005}"/>
              </a:ext>
            </a:extLst>
          </p:cNvPr>
          <p:cNvSpPr txBox="1"/>
          <p:nvPr/>
        </p:nvSpPr>
        <p:spPr>
          <a:xfrm>
            <a:off x="9888651" y="2804710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7536522-8003-50AB-F478-FCFCC1A7E9A5}"/>
              </a:ext>
            </a:extLst>
          </p:cNvPr>
          <p:cNvSpPr txBox="1"/>
          <p:nvPr/>
        </p:nvSpPr>
        <p:spPr>
          <a:xfrm>
            <a:off x="9922612" y="663176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6FA5BD5-D11C-39C7-38F2-565059C75660}"/>
              </a:ext>
            </a:extLst>
          </p:cNvPr>
          <p:cNvSpPr txBox="1"/>
          <p:nvPr/>
        </p:nvSpPr>
        <p:spPr>
          <a:xfrm>
            <a:off x="10936701" y="2808582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61B8FF7-2586-9C1E-24C9-265448E9BA12}"/>
              </a:ext>
            </a:extLst>
          </p:cNvPr>
          <p:cNvSpPr txBox="1"/>
          <p:nvPr/>
        </p:nvSpPr>
        <p:spPr>
          <a:xfrm>
            <a:off x="10952944" y="651124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48E19BA2-3ACE-4577-6702-C4C76D7A1FE8}"/>
                  </a:ext>
                </a:extLst>
              </p:cNvPr>
              <p:cNvSpPr txBox="1"/>
              <p:nvPr/>
            </p:nvSpPr>
            <p:spPr>
              <a:xfrm rot="19594320">
                <a:off x="7229186" y="5290422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48E19BA2-3ACE-4577-6702-C4C76D7A1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229186" y="5290422"/>
                <a:ext cx="1556020" cy="276999"/>
              </a:xfrm>
              <a:prstGeom prst="rect">
                <a:avLst/>
              </a:prstGeom>
              <a:blipFill>
                <a:blip r:embed="rId14"/>
                <a:stretch>
                  <a:fillRect t="-559" r="-5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3FAE6C4C-B815-6408-D75B-0BAC09871EBD}"/>
                  </a:ext>
                </a:extLst>
              </p:cNvPr>
              <p:cNvSpPr txBox="1"/>
              <p:nvPr/>
            </p:nvSpPr>
            <p:spPr>
              <a:xfrm rot="19594320">
                <a:off x="7286813" y="6068371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3FAE6C4C-B815-6408-D75B-0BAC09871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286813" y="6068371"/>
                <a:ext cx="1556020" cy="276999"/>
              </a:xfrm>
              <a:prstGeom prst="rect">
                <a:avLst/>
              </a:prstGeom>
              <a:blipFill>
                <a:blip r:embed="rId15"/>
                <a:stretch>
                  <a:fillRect r="-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37E3A51-50E2-9D72-B9FD-A90EAFDE1FFE}"/>
                  </a:ext>
                </a:extLst>
              </p:cNvPr>
              <p:cNvSpPr txBox="1"/>
              <p:nvPr/>
            </p:nvSpPr>
            <p:spPr>
              <a:xfrm rot="19594320">
                <a:off x="791684" y="6159742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37E3A51-50E2-9D72-B9FD-A90EAFDE1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91684" y="6159742"/>
                <a:ext cx="1556020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5FCA99E6-781F-5F90-73E3-1B1D6FBEC777}"/>
                  </a:ext>
                </a:extLst>
              </p:cNvPr>
              <p:cNvSpPr txBox="1"/>
              <p:nvPr/>
            </p:nvSpPr>
            <p:spPr>
              <a:xfrm rot="19594320">
                <a:off x="784513" y="5391608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5FCA99E6-781F-5F90-73E3-1B1D6FBEC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84513" y="5391608"/>
                <a:ext cx="1556020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3082A15F-A28E-595C-2471-70FC0BBD084A}"/>
              </a:ext>
            </a:extLst>
          </p:cNvPr>
          <p:cNvSpPr/>
          <p:nvPr/>
        </p:nvSpPr>
        <p:spPr>
          <a:xfrm>
            <a:off x="0" y="-2"/>
            <a:ext cx="12206666" cy="6858002"/>
          </a:xfrm>
          <a:prstGeom prst="rect">
            <a:avLst/>
          </a:prstGeom>
          <a:solidFill>
            <a:srgbClr val="595959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B8AAD09-A9DB-9073-7AC4-431B33E0B1F4}"/>
              </a:ext>
            </a:extLst>
          </p:cNvPr>
          <p:cNvSpPr/>
          <p:nvPr/>
        </p:nvSpPr>
        <p:spPr>
          <a:xfrm>
            <a:off x="1615145" y="1249181"/>
            <a:ext cx="9506981" cy="47053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DC0A78-5A5E-CD8F-DB13-959C367471B9}"/>
              </a:ext>
            </a:extLst>
          </p:cNvPr>
          <p:cNvSpPr txBox="1"/>
          <p:nvPr/>
        </p:nvSpPr>
        <p:spPr>
          <a:xfrm>
            <a:off x="3640238" y="273647"/>
            <a:ext cx="5223415" cy="95410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All of these probabilities are related to one another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EE48AD-08B7-F9F9-1802-1A910BCAAB81}"/>
              </a:ext>
            </a:extLst>
          </p:cNvPr>
          <p:cNvSpPr txBox="1"/>
          <p:nvPr/>
        </p:nvSpPr>
        <p:spPr>
          <a:xfrm>
            <a:off x="6648259" y="3248141"/>
            <a:ext cx="2495550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Marginal Probability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5C44F5-F0AE-1406-5117-8F771C63EC89}"/>
              </a:ext>
            </a:extLst>
          </p:cNvPr>
          <p:cNvSpPr txBox="1"/>
          <p:nvPr/>
        </p:nvSpPr>
        <p:spPr>
          <a:xfrm>
            <a:off x="6648259" y="3853097"/>
            <a:ext cx="2495550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Conditional Probability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B6F429-46B6-C634-2B90-8FCDB8960DE3}"/>
              </a:ext>
            </a:extLst>
          </p:cNvPr>
          <p:cNvSpPr txBox="1"/>
          <p:nvPr/>
        </p:nvSpPr>
        <p:spPr>
          <a:xfrm>
            <a:off x="3760089" y="3559251"/>
            <a:ext cx="1953083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Joint Probability</a:t>
            </a:r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2E20EE61-FF04-FA72-10E7-B9525F8915DC}"/>
              </a:ext>
            </a:extLst>
          </p:cNvPr>
          <p:cNvSpPr/>
          <p:nvPr/>
        </p:nvSpPr>
        <p:spPr>
          <a:xfrm>
            <a:off x="6424422" y="3248141"/>
            <a:ext cx="223838" cy="991553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7B35C31-829E-EEFC-E1ED-D408213ACEC4}"/>
              </a:ext>
            </a:extLst>
          </p:cNvPr>
          <p:cNvCxnSpPr>
            <a:stCxn id="32" idx="3"/>
            <a:endCxn id="33" idx="1"/>
          </p:cNvCxnSpPr>
          <p:nvPr/>
        </p:nvCxnSpPr>
        <p:spPr>
          <a:xfrm>
            <a:off x="5713172" y="3743917"/>
            <a:ext cx="711250" cy="1"/>
          </a:xfrm>
          <a:prstGeom prst="straightConnector1">
            <a:avLst/>
          </a:prstGeom>
          <a:ln w="635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756C3708-5BC5-0E03-B803-3466700FCF2A}"/>
              </a:ext>
            </a:extLst>
          </p:cNvPr>
          <p:cNvSpPr txBox="1"/>
          <p:nvPr/>
        </p:nvSpPr>
        <p:spPr>
          <a:xfrm>
            <a:off x="3776629" y="1782352"/>
            <a:ext cx="1953083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Joint Probability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09BE2CC-D81D-908A-AB82-29C911742186}"/>
              </a:ext>
            </a:extLst>
          </p:cNvPr>
          <p:cNvSpPr txBox="1"/>
          <p:nvPr/>
        </p:nvSpPr>
        <p:spPr>
          <a:xfrm>
            <a:off x="6411456" y="1782352"/>
            <a:ext cx="2495550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Marginal Probability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76965A2-FCF5-A50B-E523-EEEA2EEDB3B3}"/>
              </a:ext>
            </a:extLst>
          </p:cNvPr>
          <p:cNvCxnSpPr/>
          <p:nvPr/>
        </p:nvCxnSpPr>
        <p:spPr>
          <a:xfrm>
            <a:off x="5706148" y="1967017"/>
            <a:ext cx="711250" cy="1"/>
          </a:xfrm>
          <a:prstGeom prst="straightConnector1">
            <a:avLst/>
          </a:prstGeom>
          <a:ln w="635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B138A5B-0D82-DB49-2BE2-122BAE428C95}"/>
                  </a:ext>
                </a:extLst>
              </p:cNvPr>
              <p:cNvSpPr txBox="1"/>
              <p:nvPr/>
            </p:nvSpPr>
            <p:spPr>
              <a:xfrm>
                <a:off x="3705765" y="2234078"/>
                <a:ext cx="52141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+⋯+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B138A5B-0D82-DB49-2BE2-122BAE428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5765" y="2234078"/>
                <a:ext cx="5214182" cy="369332"/>
              </a:xfrm>
              <a:prstGeom prst="rect">
                <a:avLst/>
              </a:prstGeom>
              <a:blipFill>
                <a:blip r:embed="rId18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13696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9F749-DE9A-D7A7-01AA-C39119E8D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09D77-120C-BD95-9B78-5B2A7D05376D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6CF4CA-576D-69C8-A7EF-DC554709F157}"/>
              </a:ext>
            </a:extLst>
          </p:cNvPr>
          <p:cNvSpPr txBox="1"/>
          <p:nvPr/>
        </p:nvSpPr>
        <p:spPr>
          <a:xfrm rot="20574304">
            <a:off x="-76372" y="443068"/>
            <a:ext cx="3093167" cy="52322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Compute what?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CC7A61-B7BD-DF86-C52E-13A536E124FD}"/>
              </a:ext>
            </a:extLst>
          </p:cNvPr>
          <p:cNvSpPr/>
          <p:nvPr/>
        </p:nvSpPr>
        <p:spPr>
          <a:xfrm>
            <a:off x="1183121" y="1792942"/>
            <a:ext cx="3684494" cy="2438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2D174-52D5-8C3D-8A3E-B67E486C8F6D}"/>
              </a:ext>
            </a:extLst>
          </p:cNvPr>
          <p:cNvSpPr txBox="1"/>
          <p:nvPr/>
        </p:nvSpPr>
        <p:spPr>
          <a:xfrm>
            <a:off x="1398272" y="997189"/>
            <a:ext cx="318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Is the defendant </a:t>
            </a:r>
            <a:r>
              <a:rPr lang="en-US" sz="1600" i="1" dirty="0"/>
              <a:t>actually</a:t>
            </a:r>
            <a:r>
              <a:rPr lang="en-US" sz="1600" dirty="0"/>
              <a:t> guilty?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EF6794-6027-C14A-A286-A0543DDA3880}"/>
              </a:ext>
            </a:extLst>
          </p:cNvPr>
          <p:cNvSpPr txBox="1"/>
          <p:nvPr/>
        </p:nvSpPr>
        <p:spPr>
          <a:xfrm>
            <a:off x="1183120" y="1353670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guilty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034922-8137-D1A3-C8B8-5A6FC8CEE8A4}"/>
              </a:ext>
            </a:extLst>
          </p:cNvPr>
          <p:cNvSpPr txBox="1"/>
          <p:nvPr/>
        </p:nvSpPr>
        <p:spPr>
          <a:xfrm>
            <a:off x="3025368" y="1353670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innocent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EADFE20-EFEC-5CDE-D05D-84C90439BE9E}"/>
              </a:ext>
            </a:extLst>
          </p:cNvPr>
          <p:cNvCxnSpPr>
            <a:stCxn id="4" idx="0"/>
            <a:endCxn id="4" idx="2"/>
          </p:cNvCxnSpPr>
          <p:nvPr/>
        </p:nvCxnSpPr>
        <p:spPr>
          <a:xfrm>
            <a:off x="3025368" y="1792942"/>
            <a:ext cx="0" cy="2438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966FCCF-E337-37FF-EA18-E8F5927D40B5}"/>
              </a:ext>
            </a:extLst>
          </p:cNvPr>
          <p:cNvSpPr txBox="1"/>
          <p:nvPr/>
        </p:nvSpPr>
        <p:spPr>
          <a:xfrm rot="16200000">
            <a:off x="-1104374" y="2944906"/>
            <a:ext cx="318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Will the defendant be acquitted?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DF4314-6DB9-1328-4EAE-1DB5866EDD93}"/>
              </a:ext>
            </a:extLst>
          </p:cNvPr>
          <p:cNvSpPr txBox="1"/>
          <p:nvPr/>
        </p:nvSpPr>
        <p:spPr>
          <a:xfrm rot="16200000">
            <a:off x="112806" y="2232212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convicted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094B70-F332-F9E0-141E-6465879E1FA5}"/>
              </a:ext>
            </a:extLst>
          </p:cNvPr>
          <p:cNvSpPr txBox="1"/>
          <p:nvPr/>
        </p:nvSpPr>
        <p:spPr>
          <a:xfrm rot="16200000">
            <a:off x="112806" y="3355617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acquitted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8E90C0-60F6-FCFA-78A2-BF9B8199789C}"/>
              </a:ext>
            </a:extLst>
          </p:cNvPr>
          <p:cNvCxnSpPr>
            <a:cxnSpLocks/>
            <a:stCxn id="4" idx="3"/>
            <a:endCxn id="4" idx="1"/>
          </p:cNvCxnSpPr>
          <p:nvPr/>
        </p:nvCxnSpPr>
        <p:spPr>
          <a:xfrm flipH="1">
            <a:off x="1183121" y="3012142"/>
            <a:ext cx="368449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771736A-B686-7927-304B-D707868B9A0B}"/>
                  </a:ext>
                </a:extLst>
              </p:cNvPr>
              <p:cNvSpPr txBox="1"/>
              <p:nvPr/>
            </p:nvSpPr>
            <p:spPr>
              <a:xfrm rot="19594320">
                <a:off x="986118" y="2248335"/>
                <a:ext cx="229496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771736A-B686-7927-304B-D707868B9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986118" y="2248335"/>
                <a:ext cx="2294965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B20A339-A062-DFBB-5757-0D69D09DE77E}"/>
                  </a:ext>
                </a:extLst>
              </p:cNvPr>
              <p:cNvSpPr txBox="1"/>
              <p:nvPr/>
            </p:nvSpPr>
            <p:spPr>
              <a:xfrm rot="19594320">
                <a:off x="2731138" y="2190250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B20A339-A062-DFBB-5757-0D69D09DE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2731138" y="2190250"/>
                <a:ext cx="250581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B23EE3-F1C1-3BCB-D221-79BF5CFC5B58}"/>
                  </a:ext>
                </a:extLst>
              </p:cNvPr>
              <p:cNvSpPr txBox="1"/>
              <p:nvPr/>
            </p:nvSpPr>
            <p:spPr>
              <a:xfrm rot="19594320">
                <a:off x="880690" y="3438798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B23EE3-F1C1-3BCB-D221-79BF5CFC5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880690" y="3438798"/>
                <a:ext cx="250581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87C374-3A32-F775-52F6-5D3538736F2C}"/>
                  </a:ext>
                </a:extLst>
              </p:cNvPr>
              <p:cNvSpPr txBox="1"/>
              <p:nvPr/>
            </p:nvSpPr>
            <p:spPr>
              <a:xfrm rot="19594320">
                <a:off x="2671152" y="3463374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87C374-3A32-F775-52F6-5D3538736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2671152" y="3463374"/>
                <a:ext cx="250581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524AA2CE-74E0-20ED-0995-F5BA54C7B0AE}"/>
              </a:ext>
            </a:extLst>
          </p:cNvPr>
          <p:cNvSpPr/>
          <p:nvPr/>
        </p:nvSpPr>
        <p:spPr>
          <a:xfrm>
            <a:off x="9789458" y="991550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6130680-D81E-5965-0B2A-E5D4B04475E7}"/>
              </a:ext>
            </a:extLst>
          </p:cNvPr>
          <p:cNvCxnSpPr>
            <a:cxnSpLocks/>
            <a:stCxn id="17" idx="3"/>
            <a:endCxn id="17" idx="1"/>
          </p:cNvCxnSpPr>
          <p:nvPr/>
        </p:nvCxnSpPr>
        <p:spPr>
          <a:xfrm flipH="1">
            <a:off x="9789458" y="1792942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67EA8B9-3D2E-E01B-8F4F-5DC090C3B3BE}"/>
              </a:ext>
            </a:extLst>
          </p:cNvPr>
          <p:cNvCxnSpPr>
            <a:cxnSpLocks/>
            <a:stCxn id="17" idx="2"/>
            <a:endCxn id="17" idx="0"/>
          </p:cNvCxnSpPr>
          <p:nvPr/>
        </p:nvCxnSpPr>
        <p:spPr>
          <a:xfrm flipV="1">
            <a:off x="10911408" y="991550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066B798-3F90-1CDF-5A52-90429BBB2C03}"/>
              </a:ext>
            </a:extLst>
          </p:cNvPr>
          <p:cNvSpPr txBox="1"/>
          <p:nvPr/>
        </p:nvSpPr>
        <p:spPr>
          <a:xfrm rot="16200000">
            <a:off x="9032788" y="121517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79014E-2058-2653-8F02-8CD4611E8FB7}"/>
              </a:ext>
            </a:extLst>
          </p:cNvPr>
          <p:cNvSpPr txBox="1"/>
          <p:nvPr/>
        </p:nvSpPr>
        <p:spPr>
          <a:xfrm rot="16200000">
            <a:off x="9032788" y="2018898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AF5FB3-1FA6-1813-657B-69C1624EB198}"/>
              </a:ext>
            </a:extLst>
          </p:cNvPr>
          <p:cNvSpPr/>
          <p:nvPr/>
        </p:nvSpPr>
        <p:spPr>
          <a:xfrm>
            <a:off x="9789457" y="1790961"/>
            <a:ext cx="2243899" cy="801390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CB48559-6523-738A-8E28-66A5D4FF6FDB}"/>
              </a:ext>
            </a:extLst>
          </p:cNvPr>
          <p:cNvSpPr/>
          <p:nvPr/>
        </p:nvSpPr>
        <p:spPr>
          <a:xfrm>
            <a:off x="9814752" y="3134552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F306F03-4773-A4BA-BAAA-D7238BA5E2F4}"/>
              </a:ext>
            </a:extLst>
          </p:cNvPr>
          <p:cNvCxnSpPr>
            <a:cxnSpLocks/>
            <a:stCxn id="29" idx="3"/>
            <a:endCxn id="29" idx="1"/>
          </p:cNvCxnSpPr>
          <p:nvPr/>
        </p:nvCxnSpPr>
        <p:spPr>
          <a:xfrm flipH="1">
            <a:off x="9814752" y="3935944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DA50944-D3E5-FA21-F072-29CB0E746B88}"/>
              </a:ext>
            </a:extLst>
          </p:cNvPr>
          <p:cNvCxnSpPr>
            <a:cxnSpLocks/>
            <a:stCxn id="29" idx="2"/>
            <a:endCxn id="29" idx="0"/>
          </p:cNvCxnSpPr>
          <p:nvPr/>
        </p:nvCxnSpPr>
        <p:spPr>
          <a:xfrm flipV="1">
            <a:off x="10936702" y="3134552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8A36F67-10F2-9646-C1EC-09332896AF40}"/>
              </a:ext>
            </a:extLst>
          </p:cNvPr>
          <p:cNvSpPr txBox="1"/>
          <p:nvPr/>
        </p:nvSpPr>
        <p:spPr>
          <a:xfrm rot="16200000">
            <a:off x="9058082" y="3358172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8C2F93-EDDE-F36C-7148-6434E3EEEFBC}"/>
              </a:ext>
            </a:extLst>
          </p:cNvPr>
          <p:cNvSpPr txBox="1"/>
          <p:nvPr/>
        </p:nvSpPr>
        <p:spPr>
          <a:xfrm rot="16200000">
            <a:off x="9058082" y="416190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AAF902-0EAD-0B60-567E-0B6F482CD824}"/>
              </a:ext>
            </a:extLst>
          </p:cNvPr>
          <p:cNvSpPr/>
          <p:nvPr/>
        </p:nvSpPr>
        <p:spPr>
          <a:xfrm>
            <a:off x="6228812" y="5142092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32BD65A-D479-3657-45F8-CA713ED3AEFE}"/>
              </a:ext>
            </a:extLst>
          </p:cNvPr>
          <p:cNvCxnSpPr>
            <a:cxnSpLocks/>
            <a:stCxn id="36" idx="3"/>
            <a:endCxn id="36" idx="1"/>
          </p:cNvCxnSpPr>
          <p:nvPr/>
        </p:nvCxnSpPr>
        <p:spPr>
          <a:xfrm flipH="1">
            <a:off x="6228812" y="5943484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1F8E6DF-4C9F-3FF8-9A15-70AB05438174}"/>
              </a:ext>
            </a:extLst>
          </p:cNvPr>
          <p:cNvCxnSpPr>
            <a:cxnSpLocks/>
            <a:stCxn id="36" idx="2"/>
            <a:endCxn id="36" idx="0"/>
          </p:cNvCxnSpPr>
          <p:nvPr/>
        </p:nvCxnSpPr>
        <p:spPr>
          <a:xfrm flipV="1">
            <a:off x="7350762" y="5142092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59139A5-DDE4-F8CB-9F1B-CF0EAF099502}"/>
              </a:ext>
            </a:extLst>
          </p:cNvPr>
          <p:cNvSpPr txBox="1"/>
          <p:nvPr/>
        </p:nvSpPr>
        <p:spPr>
          <a:xfrm rot="16200000">
            <a:off x="5472142" y="5365712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0240A1-60AF-502F-E0B5-81D656370314}"/>
              </a:ext>
            </a:extLst>
          </p:cNvPr>
          <p:cNvSpPr txBox="1"/>
          <p:nvPr/>
        </p:nvSpPr>
        <p:spPr>
          <a:xfrm rot="16200000">
            <a:off x="5472142" y="616944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71FF4B1-C074-DEFE-7FA3-0C98685FA73D}"/>
              </a:ext>
            </a:extLst>
          </p:cNvPr>
          <p:cNvSpPr/>
          <p:nvPr/>
        </p:nvSpPr>
        <p:spPr>
          <a:xfrm>
            <a:off x="1004158" y="5148886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E14251E-33CF-493B-F569-CBE08241AD83}"/>
              </a:ext>
            </a:extLst>
          </p:cNvPr>
          <p:cNvCxnSpPr>
            <a:cxnSpLocks/>
            <a:stCxn id="43" idx="3"/>
            <a:endCxn id="43" idx="1"/>
          </p:cNvCxnSpPr>
          <p:nvPr/>
        </p:nvCxnSpPr>
        <p:spPr>
          <a:xfrm flipH="1">
            <a:off x="1004158" y="5950278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19FD447-F6D0-D60A-A435-051591A8CE9A}"/>
              </a:ext>
            </a:extLst>
          </p:cNvPr>
          <p:cNvCxnSpPr>
            <a:cxnSpLocks/>
            <a:stCxn id="43" idx="2"/>
            <a:endCxn id="43" idx="0"/>
          </p:cNvCxnSpPr>
          <p:nvPr/>
        </p:nvCxnSpPr>
        <p:spPr>
          <a:xfrm flipV="1">
            <a:off x="2126108" y="5148886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5DC8334-C9B2-A208-764D-FFD372F5E17C}"/>
              </a:ext>
            </a:extLst>
          </p:cNvPr>
          <p:cNvSpPr txBox="1"/>
          <p:nvPr/>
        </p:nvSpPr>
        <p:spPr>
          <a:xfrm>
            <a:off x="1216444" y="4787191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EECC588-97CA-0815-C89C-EC3FF7559AA7}"/>
              </a:ext>
            </a:extLst>
          </p:cNvPr>
          <p:cNvSpPr txBox="1"/>
          <p:nvPr/>
        </p:nvSpPr>
        <p:spPr>
          <a:xfrm>
            <a:off x="2112810" y="4800643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E17225E-A3FD-4DF8-D18D-AE3997B6AA76}"/>
              </a:ext>
            </a:extLst>
          </p:cNvPr>
          <p:cNvSpPr txBox="1"/>
          <p:nvPr/>
        </p:nvSpPr>
        <p:spPr>
          <a:xfrm rot="16200000">
            <a:off x="247488" y="5372506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77691C3-A3D1-5578-185B-CBC9DC8E0630}"/>
              </a:ext>
            </a:extLst>
          </p:cNvPr>
          <p:cNvSpPr txBox="1"/>
          <p:nvPr/>
        </p:nvSpPr>
        <p:spPr>
          <a:xfrm rot="16200000">
            <a:off x="247488" y="6176234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62BED38-89AD-993B-F232-CD63835000B6}"/>
              </a:ext>
            </a:extLst>
          </p:cNvPr>
          <p:cNvSpPr/>
          <p:nvPr/>
        </p:nvSpPr>
        <p:spPr>
          <a:xfrm>
            <a:off x="9789456" y="3134554"/>
            <a:ext cx="2243899" cy="801390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831F436-A7E5-7B19-1A91-2CB9D33BED4C}"/>
              </a:ext>
            </a:extLst>
          </p:cNvPr>
          <p:cNvSpPr/>
          <p:nvPr/>
        </p:nvSpPr>
        <p:spPr>
          <a:xfrm rot="5400000">
            <a:off x="5988435" y="5395366"/>
            <a:ext cx="1602782" cy="1121862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71892D0-8896-762F-7CB1-175640010A91}"/>
              </a:ext>
            </a:extLst>
          </p:cNvPr>
          <p:cNvSpPr/>
          <p:nvPr/>
        </p:nvSpPr>
        <p:spPr>
          <a:xfrm rot="5400000">
            <a:off x="1864273" y="5367919"/>
            <a:ext cx="1602782" cy="1121862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B0E59BCF-B8C6-4F6F-3C72-87D16997535D}"/>
              </a:ext>
            </a:extLst>
          </p:cNvPr>
          <p:cNvCxnSpPr>
            <a:cxnSpLocks/>
          </p:cNvCxnSpPr>
          <p:nvPr/>
        </p:nvCxnSpPr>
        <p:spPr>
          <a:xfrm>
            <a:off x="4925310" y="1904550"/>
            <a:ext cx="4480946" cy="2059521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Curved 58">
            <a:extLst>
              <a:ext uri="{FF2B5EF4-FFF2-40B4-BE49-F238E27FC236}">
                <a16:creationId xmlns:a16="http://schemas.microsoft.com/office/drawing/2014/main" id="{B5BEAE5A-EB4C-A0CB-6AD4-1FD6A4AF28AD}"/>
              </a:ext>
            </a:extLst>
          </p:cNvPr>
          <p:cNvCxnSpPr>
            <a:cxnSpLocks/>
          </p:cNvCxnSpPr>
          <p:nvPr/>
        </p:nvCxnSpPr>
        <p:spPr>
          <a:xfrm>
            <a:off x="4985951" y="1780130"/>
            <a:ext cx="4333657" cy="10831"/>
          </a:xfrm>
          <a:prstGeom prst="curvedConnector3">
            <a:avLst>
              <a:gd name="adj1" fmla="val 50435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A611FBB-4A2A-62E8-399C-3D589A8A42A1}"/>
                  </a:ext>
                </a:extLst>
              </p:cNvPr>
              <p:cNvSpPr txBox="1"/>
              <p:nvPr/>
            </p:nvSpPr>
            <p:spPr>
              <a:xfrm>
                <a:off x="6064586" y="2377861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acquitted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aquitted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A611FBB-4A2A-62E8-399C-3D589A8A4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586" y="2377861"/>
                <a:ext cx="1079781" cy="523220"/>
              </a:xfrm>
              <a:prstGeom prst="rect">
                <a:avLst/>
              </a:prstGeom>
              <a:blipFill>
                <a:blip r:embed="rId6"/>
                <a:stretch>
                  <a:fillRect t="-2326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E9774A0-D81E-C5FB-6F0A-C0E18153DFC5}"/>
                  </a:ext>
                </a:extLst>
              </p:cNvPr>
              <p:cNvSpPr txBox="1"/>
              <p:nvPr/>
            </p:nvSpPr>
            <p:spPr>
              <a:xfrm>
                <a:off x="6252166" y="1267741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convicted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E9774A0-D81E-C5FB-6F0A-C0E18153D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166" y="1267741"/>
                <a:ext cx="1079781" cy="523220"/>
              </a:xfrm>
              <a:prstGeom prst="rect">
                <a:avLst/>
              </a:prstGeom>
              <a:blipFill>
                <a:blip r:embed="rId7"/>
                <a:stretch>
                  <a:fillRect t="-2326" r="-7910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91A1E6B-8C7A-2A27-381D-E34247C3021E}"/>
                  </a:ext>
                </a:extLst>
              </p:cNvPr>
              <p:cNvSpPr txBox="1"/>
              <p:nvPr/>
            </p:nvSpPr>
            <p:spPr>
              <a:xfrm rot="19594320">
                <a:off x="9593211" y="1227848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91A1E6B-8C7A-2A27-381D-E34247C30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9593211" y="1227848"/>
                <a:ext cx="155602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D21F2DB-EA2C-FAD0-D908-FE50C681D2D5}"/>
                  </a:ext>
                </a:extLst>
              </p:cNvPr>
              <p:cNvSpPr txBox="1"/>
              <p:nvPr/>
            </p:nvSpPr>
            <p:spPr>
              <a:xfrm rot="19594320">
                <a:off x="10679102" y="1241066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D21F2DB-EA2C-FAD0-D908-FE50C681D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10679102" y="1241066"/>
                <a:ext cx="1556020" cy="276999"/>
              </a:xfrm>
              <a:prstGeom prst="rect">
                <a:avLst/>
              </a:prstGeom>
              <a:blipFill>
                <a:blip r:embed="rId9"/>
                <a:stretch>
                  <a:fillRect t="-559" r="-5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82DFF7D-5B62-C979-C32D-219A5D818E54}"/>
                  </a:ext>
                </a:extLst>
              </p:cNvPr>
              <p:cNvSpPr txBox="1"/>
              <p:nvPr/>
            </p:nvSpPr>
            <p:spPr>
              <a:xfrm rot="19594320">
                <a:off x="9593212" y="4202051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82DFF7D-5B62-C979-C32D-219A5D818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9593212" y="4202051"/>
                <a:ext cx="1556020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0ACE802-BEF4-C4FC-752A-1B53CB98B6A8}"/>
                  </a:ext>
                </a:extLst>
              </p:cNvPr>
              <p:cNvSpPr txBox="1"/>
              <p:nvPr/>
            </p:nvSpPr>
            <p:spPr>
              <a:xfrm rot="19594320">
                <a:off x="10703047" y="4187798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0ACE802-BEF4-C4FC-752A-1B53CB98B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10703047" y="4187798"/>
                <a:ext cx="1556020" cy="276999"/>
              </a:xfrm>
              <a:prstGeom prst="rect">
                <a:avLst/>
              </a:prstGeom>
              <a:blipFill>
                <a:blip r:embed="rId11"/>
                <a:stretch>
                  <a:fillRect r="-4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Connector: Curved 70">
            <a:extLst>
              <a:ext uri="{FF2B5EF4-FFF2-40B4-BE49-F238E27FC236}">
                <a16:creationId xmlns:a16="http://schemas.microsoft.com/office/drawing/2014/main" id="{43911C8A-D3E7-96B0-CB31-F2AE86E0AEFA}"/>
              </a:ext>
            </a:extLst>
          </p:cNvPr>
          <p:cNvCxnSpPr>
            <a:cxnSpLocks/>
          </p:cNvCxnSpPr>
          <p:nvPr/>
        </p:nvCxnSpPr>
        <p:spPr>
          <a:xfrm rot="5400000">
            <a:off x="3107178" y="4480107"/>
            <a:ext cx="2009202" cy="1511673"/>
          </a:xfrm>
          <a:prstGeom prst="curvedConnector3">
            <a:avLst>
              <a:gd name="adj1" fmla="val 49531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26E1743-BEAA-DA51-9B35-151C6146627A}"/>
                  </a:ext>
                </a:extLst>
              </p:cNvPr>
              <p:cNvSpPr txBox="1"/>
              <p:nvPr/>
            </p:nvSpPr>
            <p:spPr>
              <a:xfrm>
                <a:off x="3671018" y="5242601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guilty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26E1743-BEAA-DA51-9B35-151C61466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018" y="5242601"/>
                <a:ext cx="1079781" cy="523220"/>
              </a:xfrm>
              <a:prstGeom prst="rect">
                <a:avLst/>
              </a:prstGeom>
              <a:blipFill>
                <a:blip r:embed="rId12"/>
                <a:stretch>
                  <a:fillRect t="-2326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Connector: Curved 75">
            <a:extLst>
              <a:ext uri="{FF2B5EF4-FFF2-40B4-BE49-F238E27FC236}">
                <a16:creationId xmlns:a16="http://schemas.microsoft.com/office/drawing/2014/main" id="{DB97A024-CDD4-DC4B-701B-375E5D391486}"/>
              </a:ext>
            </a:extLst>
          </p:cNvPr>
          <p:cNvCxnSpPr>
            <a:cxnSpLocks/>
          </p:cNvCxnSpPr>
          <p:nvPr/>
        </p:nvCxnSpPr>
        <p:spPr>
          <a:xfrm>
            <a:off x="4882551" y="4255918"/>
            <a:ext cx="1213449" cy="836359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F499AE0-AACD-55A3-B894-AD67C1280C40}"/>
                  </a:ext>
                </a:extLst>
              </p:cNvPr>
              <p:cNvSpPr txBox="1"/>
              <p:nvPr/>
            </p:nvSpPr>
            <p:spPr>
              <a:xfrm>
                <a:off x="5477035" y="4128064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innocent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F499AE0-AACD-55A3-B894-AD67C1280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035" y="4128064"/>
                <a:ext cx="1079781" cy="523220"/>
              </a:xfrm>
              <a:prstGeom prst="rect">
                <a:avLst/>
              </a:prstGeom>
              <a:blipFill>
                <a:blip r:embed="rId13"/>
                <a:stretch>
                  <a:fillRect t="-2326" r="-1124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71654D1A-F8B4-8D31-77E4-E1AFA216FD69}"/>
              </a:ext>
            </a:extLst>
          </p:cNvPr>
          <p:cNvSpPr txBox="1"/>
          <p:nvPr/>
        </p:nvSpPr>
        <p:spPr>
          <a:xfrm>
            <a:off x="7259021" y="4796114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3AC7F77-56C9-7151-4410-9836C8AA09CD}"/>
              </a:ext>
            </a:extLst>
          </p:cNvPr>
          <p:cNvSpPr txBox="1"/>
          <p:nvPr/>
        </p:nvSpPr>
        <p:spPr>
          <a:xfrm>
            <a:off x="6410387" y="4774980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7537D0A-F887-2C72-13AC-6A199E7354FC}"/>
              </a:ext>
            </a:extLst>
          </p:cNvPr>
          <p:cNvSpPr txBox="1"/>
          <p:nvPr/>
        </p:nvSpPr>
        <p:spPr>
          <a:xfrm>
            <a:off x="9888651" y="2804710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3109C3D-4FE9-0E75-9322-99C06536A4FE}"/>
              </a:ext>
            </a:extLst>
          </p:cNvPr>
          <p:cNvSpPr txBox="1"/>
          <p:nvPr/>
        </p:nvSpPr>
        <p:spPr>
          <a:xfrm>
            <a:off x="9922612" y="663176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DCF3C65-68F7-D614-4C34-4D5762C7D165}"/>
              </a:ext>
            </a:extLst>
          </p:cNvPr>
          <p:cNvSpPr txBox="1"/>
          <p:nvPr/>
        </p:nvSpPr>
        <p:spPr>
          <a:xfrm>
            <a:off x="10936701" y="2808582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C7CB7EA-E484-6367-E24C-96C2DEA8C69B}"/>
              </a:ext>
            </a:extLst>
          </p:cNvPr>
          <p:cNvSpPr txBox="1"/>
          <p:nvPr/>
        </p:nvSpPr>
        <p:spPr>
          <a:xfrm>
            <a:off x="10952944" y="651124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25A2EF3-6921-D7DD-DABC-CDC4D06E7F53}"/>
                  </a:ext>
                </a:extLst>
              </p:cNvPr>
              <p:cNvSpPr txBox="1"/>
              <p:nvPr/>
            </p:nvSpPr>
            <p:spPr>
              <a:xfrm rot="19594320">
                <a:off x="7229186" y="5290422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25A2EF3-6921-D7DD-DABC-CDC4D06E7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229186" y="5290422"/>
                <a:ext cx="1556020" cy="276999"/>
              </a:xfrm>
              <a:prstGeom prst="rect">
                <a:avLst/>
              </a:prstGeom>
              <a:blipFill>
                <a:blip r:embed="rId14"/>
                <a:stretch>
                  <a:fillRect t="-559" r="-5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0E90115E-84D1-FFDC-F46A-188764E263FC}"/>
                  </a:ext>
                </a:extLst>
              </p:cNvPr>
              <p:cNvSpPr txBox="1"/>
              <p:nvPr/>
            </p:nvSpPr>
            <p:spPr>
              <a:xfrm rot="19594320">
                <a:off x="7286813" y="6068371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0E90115E-84D1-FFDC-F46A-188764E26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286813" y="6068371"/>
                <a:ext cx="1556020" cy="276999"/>
              </a:xfrm>
              <a:prstGeom prst="rect">
                <a:avLst/>
              </a:prstGeom>
              <a:blipFill>
                <a:blip r:embed="rId15"/>
                <a:stretch>
                  <a:fillRect r="-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37BE284-6AEC-D767-0F41-570CA7655E17}"/>
                  </a:ext>
                </a:extLst>
              </p:cNvPr>
              <p:cNvSpPr txBox="1"/>
              <p:nvPr/>
            </p:nvSpPr>
            <p:spPr>
              <a:xfrm rot="19594320">
                <a:off x="791684" y="6159742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37BE284-6AEC-D767-0F41-570CA7655E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91684" y="6159742"/>
                <a:ext cx="1556020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CC55071-767E-25A9-BEE1-2EAB5BACACA3}"/>
                  </a:ext>
                </a:extLst>
              </p:cNvPr>
              <p:cNvSpPr txBox="1"/>
              <p:nvPr/>
            </p:nvSpPr>
            <p:spPr>
              <a:xfrm rot="19594320">
                <a:off x="784513" y="5391608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CC55071-767E-25A9-BEE1-2EAB5BACA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84513" y="5391608"/>
                <a:ext cx="1556020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EA912BEA-BC60-454B-8656-02F8B00BB538}"/>
              </a:ext>
            </a:extLst>
          </p:cNvPr>
          <p:cNvSpPr/>
          <p:nvPr/>
        </p:nvSpPr>
        <p:spPr>
          <a:xfrm>
            <a:off x="0" y="-2"/>
            <a:ext cx="12206666" cy="6858002"/>
          </a:xfrm>
          <a:prstGeom prst="rect">
            <a:avLst/>
          </a:prstGeom>
          <a:solidFill>
            <a:srgbClr val="595959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9F0E087-2D21-73E8-ABAA-9D0F0A235F5A}"/>
              </a:ext>
            </a:extLst>
          </p:cNvPr>
          <p:cNvSpPr/>
          <p:nvPr/>
        </p:nvSpPr>
        <p:spPr>
          <a:xfrm>
            <a:off x="1615145" y="1249181"/>
            <a:ext cx="9506981" cy="47053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F54696-55AF-2D9A-DF9E-4D04EFB16670}"/>
              </a:ext>
            </a:extLst>
          </p:cNvPr>
          <p:cNvSpPr txBox="1"/>
          <p:nvPr/>
        </p:nvSpPr>
        <p:spPr>
          <a:xfrm>
            <a:off x="3640238" y="273647"/>
            <a:ext cx="5223415" cy="95410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All of these probabilities are related to one another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4D4DAC-A4CA-F449-2B9A-B64BF9792788}"/>
              </a:ext>
            </a:extLst>
          </p:cNvPr>
          <p:cNvSpPr txBox="1"/>
          <p:nvPr/>
        </p:nvSpPr>
        <p:spPr>
          <a:xfrm>
            <a:off x="6648259" y="3248141"/>
            <a:ext cx="2495550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Marginal Probability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FFC6F1-1ABE-10B7-F5F4-47DFEF0B2823}"/>
              </a:ext>
            </a:extLst>
          </p:cNvPr>
          <p:cNvSpPr txBox="1"/>
          <p:nvPr/>
        </p:nvSpPr>
        <p:spPr>
          <a:xfrm>
            <a:off x="6648259" y="3853097"/>
            <a:ext cx="2495550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Conditional Probability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15EBC5-5FE2-ACB5-1013-BFCC93F9CD70}"/>
              </a:ext>
            </a:extLst>
          </p:cNvPr>
          <p:cNvSpPr txBox="1"/>
          <p:nvPr/>
        </p:nvSpPr>
        <p:spPr>
          <a:xfrm>
            <a:off x="3760089" y="3559251"/>
            <a:ext cx="1953083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Joint Probability</a:t>
            </a:r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9899EE30-BAC3-84D5-7F7F-3E88A40D9B48}"/>
              </a:ext>
            </a:extLst>
          </p:cNvPr>
          <p:cNvSpPr/>
          <p:nvPr/>
        </p:nvSpPr>
        <p:spPr>
          <a:xfrm>
            <a:off x="6424422" y="3248141"/>
            <a:ext cx="223838" cy="991553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E9DFD04-82E5-C72D-3726-E0EB08E1FB56}"/>
              </a:ext>
            </a:extLst>
          </p:cNvPr>
          <p:cNvCxnSpPr>
            <a:stCxn id="32" idx="3"/>
            <a:endCxn id="33" idx="1"/>
          </p:cNvCxnSpPr>
          <p:nvPr/>
        </p:nvCxnSpPr>
        <p:spPr>
          <a:xfrm>
            <a:off x="5713172" y="3743917"/>
            <a:ext cx="711250" cy="1"/>
          </a:xfrm>
          <a:prstGeom prst="straightConnector1">
            <a:avLst/>
          </a:prstGeom>
          <a:ln w="635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7B0B339-A77E-6348-5538-4F84921752AF}"/>
              </a:ext>
            </a:extLst>
          </p:cNvPr>
          <p:cNvSpPr txBox="1"/>
          <p:nvPr/>
        </p:nvSpPr>
        <p:spPr>
          <a:xfrm>
            <a:off x="3776629" y="1782352"/>
            <a:ext cx="1953083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Joint Probability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555458-9F68-4C56-55C8-57CFD46558DE}"/>
              </a:ext>
            </a:extLst>
          </p:cNvPr>
          <p:cNvSpPr txBox="1"/>
          <p:nvPr/>
        </p:nvSpPr>
        <p:spPr>
          <a:xfrm>
            <a:off x="6411456" y="1782352"/>
            <a:ext cx="2495550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Marginal Probability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471EC94-E1F0-D9F8-D783-0EC9B5CDE158}"/>
              </a:ext>
            </a:extLst>
          </p:cNvPr>
          <p:cNvCxnSpPr/>
          <p:nvPr/>
        </p:nvCxnSpPr>
        <p:spPr>
          <a:xfrm>
            <a:off x="5706148" y="1967017"/>
            <a:ext cx="711250" cy="1"/>
          </a:xfrm>
          <a:prstGeom prst="straightConnector1">
            <a:avLst/>
          </a:prstGeom>
          <a:ln w="635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CC6764B-1E29-6BD2-D46A-363F27B43ADB}"/>
                  </a:ext>
                </a:extLst>
              </p:cNvPr>
              <p:cNvSpPr txBox="1"/>
              <p:nvPr/>
            </p:nvSpPr>
            <p:spPr>
              <a:xfrm>
                <a:off x="3705765" y="2234078"/>
                <a:ext cx="52141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+⋯+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CC6764B-1E29-6BD2-D46A-363F27B43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5765" y="2234078"/>
                <a:ext cx="5214182" cy="369332"/>
              </a:xfrm>
              <a:prstGeom prst="rect">
                <a:avLst/>
              </a:prstGeom>
              <a:blipFill>
                <a:blip r:embed="rId18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FE3A7E0-FD1F-6FD6-E7CB-3ACB1E0D61FB}"/>
                  </a:ext>
                </a:extLst>
              </p:cNvPr>
              <p:cNvSpPr txBox="1"/>
              <p:nvPr/>
            </p:nvSpPr>
            <p:spPr>
              <a:xfrm>
                <a:off x="3705765" y="4358478"/>
                <a:ext cx="52141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FE3A7E0-FD1F-6FD6-E7CB-3ACB1E0D6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5765" y="4358478"/>
                <a:ext cx="5214182" cy="369332"/>
              </a:xfrm>
              <a:prstGeom prst="rect">
                <a:avLst/>
              </a:prstGeom>
              <a:blipFill>
                <a:blip r:embed="rId1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457346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D7C0C-610D-2D23-C66E-E8AF4BC2F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77B76-07D3-704F-C416-FEF082A1ACD5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47AF55-124D-D071-323A-5E1F3C01009B}"/>
              </a:ext>
            </a:extLst>
          </p:cNvPr>
          <p:cNvSpPr txBox="1"/>
          <p:nvPr/>
        </p:nvSpPr>
        <p:spPr>
          <a:xfrm rot="20574304">
            <a:off x="-76372" y="443068"/>
            <a:ext cx="3093167" cy="52322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Compute what?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4B9FC1-430D-9075-2198-C5DEA874AB58}"/>
              </a:ext>
            </a:extLst>
          </p:cNvPr>
          <p:cNvSpPr/>
          <p:nvPr/>
        </p:nvSpPr>
        <p:spPr>
          <a:xfrm>
            <a:off x="1183121" y="1792942"/>
            <a:ext cx="3684494" cy="2438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46BF0C-C7BC-0E9B-D532-F61E6B2D6E8E}"/>
              </a:ext>
            </a:extLst>
          </p:cNvPr>
          <p:cNvSpPr txBox="1"/>
          <p:nvPr/>
        </p:nvSpPr>
        <p:spPr>
          <a:xfrm>
            <a:off x="1398272" y="997189"/>
            <a:ext cx="318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Is the defendant </a:t>
            </a:r>
            <a:r>
              <a:rPr lang="en-US" sz="1600" i="1" dirty="0"/>
              <a:t>actually</a:t>
            </a:r>
            <a:r>
              <a:rPr lang="en-US" sz="1600" dirty="0"/>
              <a:t> guilty?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E6BAE4-B676-2C7D-D40C-88D809DFDF33}"/>
              </a:ext>
            </a:extLst>
          </p:cNvPr>
          <p:cNvSpPr txBox="1"/>
          <p:nvPr/>
        </p:nvSpPr>
        <p:spPr>
          <a:xfrm>
            <a:off x="1183120" y="1353670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guilty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79F8DC-AEA6-404C-FF3D-087F269B6C68}"/>
              </a:ext>
            </a:extLst>
          </p:cNvPr>
          <p:cNvSpPr txBox="1"/>
          <p:nvPr/>
        </p:nvSpPr>
        <p:spPr>
          <a:xfrm>
            <a:off x="3025368" y="1353670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innocent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E2475B-82B3-BEDC-4926-FC4F4BB5270D}"/>
              </a:ext>
            </a:extLst>
          </p:cNvPr>
          <p:cNvCxnSpPr>
            <a:stCxn id="4" idx="0"/>
            <a:endCxn id="4" idx="2"/>
          </p:cNvCxnSpPr>
          <p:nvPr/>
        </p:nvCxnSpPr>
        <p:spPr>
          <a:xfrm>
            <a:off x="3025368" y="1792942"/>
            <a:ext cx="0" cy="2438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D51C6A7-6F59-22DF-FC99-88749D44DAA9}"/>
              </a:ext>
            </a:extLst>
          </p:cNvPr>
          <p:cNvSpPr txBox="1"/>
          <p:nvPr/>
        </p:nvSpPr>
        <p:spPr>
          <a:xfrm rot="16200000">
            <a:off x="-1104374" y="2944906"/>
            <a:ext cx="318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Will the defendant be acquitted?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CE1534-810E-C21E-81D9-55A342F223D5}"/>
              </a:ext>
            </a:extLst>
          </p:cNvPr>
          <p:cNvSpPr txBox="1"/>
          <p:nvPr/>
        </p:nvSpPr>
        <p:spPr>
          <a:xfrm rot="16200000">
            <a:off x="112806" y="2232212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convicted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0B9455-404C-BF06-B847-6F1BCB28FDD5}"/>
              </a:ext>
            </a:extLst>
          </p:cNvPr>
          <p:cNvSpPr txBox="1"/>
          <p:nvPr/>
        </p:nvSpPr>
        <p:spPr>
          <a:xfrm rot="16200000">
            <a:off x="112806" y="3355617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acquitted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A555AE-60AE-0FBD-EDC5-EA461B118D10}"/>
              </a:ext>
            </a:extLst>
          </p:cNvPr>
          <p:cNvCxnSpPr>
            <a:cxnSpLocks/>
            <a:stCxn id="4" idx="3"/>
            <a:endCxn id="4" idx="1"/>
          </p:cNvCxnSpPr>
          <p:nvPr/>
        </p:nvCxnSpPr>
        <p:spPr>
          <a:xfrm flipH="1">
            <a:off x="1183121" y="3012142"/>
            <a:ext cx="368449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462CB73-08B8-431A-A8F8-BC2FDAE4A3A3}"/>
                  </a:ext>
                </a:extLst>
              </p:cNvPr>
              <p:cNvSpPr txBox="1"/>
              <p:nvPr/>
            </p:nvSpPr>
            <p:spPr>
              <a:xfrm rot="19594320">
                <a:off x="986118" y="2248335"/>
                <a:ext cx="229496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462CB73-08B8-431A-A8F8-BC2FDAE4A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986118" y="2248335"/>
                <a:ext cx="2294965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6E791F2-884F-7EF0-DA82-29362AAFF023}"/>
                  </a:ext>
                </a:extLst>
              </p:cNvPr>
              <p:cNvSpPr txBox="1"/>
              <p:nvPr/>
            </p:nvSpPr>
            <p:spPr>
              <a:xfrm rot="19594320">
                <a:off x="2731138" y="2190250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6E791F2-884F-7EF0-DA82-29362AAFF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2731138" y="2190250"/>
                <a:ext cx="250581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4F4835B-4BC4-F79E-50B1-6F20BEF5E0B8}"/>
                  </a:ext>
                </a:extLst>
              </p:cNvPr>
              <p:cNvSpPr txBox="1"/>
              <p:nvPr/>
            </p:nvSpPr>
            <p:spPr>
              <a:xfrm rot="19594320">
                <a:off x="880690" y="3438798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4F4835B-4BC4-F79E-50B1-6F20BEF5E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880690" y="3438798"/>
                <a:ext cx="250581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43026EB-333A-C7EF-848B-5D8AADF13BED}"/>
                  </a:ext>
                </a:extLst>
              </p:cNvPr>
              <p:cNvSpPr txBox="1"/>
              <p:nvPr/>
            </p:nvSpPr>
            <p:spPr>
              <a:xfrm rot="19594320">
                <a:off x="2671152" y="3463374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43026EB-333A-C7EF-848B-5D8AADF13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2671152" y="3463374"/>
                <a:ext cx="250581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86FBB20B-114E-F826-B701-D26C970DB417}"/>
              </a:ext>
            </a:extLst>
          </p:cNvPr>
          <p:cNvSpPr/>
          <p:nvPr/>
        </p:nvSpPr>
        <p:spPr>
          <a:xfrm>
            <a:off x="9789458" y="991550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0858D37-0E96-CF8B-094C-2407C47AC67B}"/>
              </a:ext>
            </a:extLst>
          </p:cNvPr>
          <p:cNvCxnSpPr>
            <a:cxnSpLocks/>
            <a:stCxn id="17" idx="3"/>
            <a:endCxn id="17" idx="1"/>
          </p:cNvCxnSpPr>
          <p:nvPr/>
        </p:nvCxnSpPr>
        <p:spPr>
          <a:xfrm flipH="1">
            <a:off x="9789458" y="1792942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637849-CDE8-E91C-3CD1-E395FEDBE4FF}"/>
              </a:ext>
            </a:extLst>
          </p:cNvPr>
          <p:cNvCxnSpPr>
            <a:cxnSpLocks/>
            <a:stCxn id="17" idx="2"/>
            <a:endCxn id="17" idx="0"/>
          </p:cNvCxnSpPr>
          <p:nvPr/>
        </p:nvCxnSpPr>
        <p:spPr>
          <a:xfrm flipV="1">
            <a:off x="10911408" y="991550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2764822-B036-0A71-70A0-F54753201AC8}"/>
              </a:ext>
            </a:extLst>
          </p:cNvPr>
          <p:cNvSpPr txBox="1"/>
          <p:nvPr/>
        </p:nvSpPr>
        <p:spPr>
          <a:xfrm rot="16200000">
            <a:off x="9032788" y="121517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90EC51-A306-5527-C79C-FCB0D2C3E889}"/>
              </a:ext>
            </a:extLst>
          </p:cNvPr>
          <p:cNvSpPr txBox="1"/>
          <p:nvPr/>
        </p:nvSpPr>
        <p:spPr>
          <a:xfrm rot="16200000">
            <a:off x="9032788" y="2018898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F5048C6-597A-1CCC-F2FE-B666DA998AB3}"/>
              </a:ext>
            </a:extLst>
          </p:cNvPr>
          <p:cNvSpPr/>
          <p:nvPr/>
        </p:nvSpPr>
        <p:spPr>
          <a:xfrm>
            <a:off x="9789457" y="1790961"/>
            <a:ext cx="2243899" cy="801390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400C8E-E59C-4964-6538-C714FCD9362E}"/>
              </a:ext>
            </a:extLst>
          </p:cNvPr>
          <p:cNvSpPr/>
          <p:nvPr/>
        </p:nvSpPr>
        <p:spPr>
          <a:xfrm>
            <a:off x="9814752" y="3134552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B072621-19F0-8C0C-8B32-0796CC9FE4F6}"/>
              </a:ext>
            </a:extLst>
          </p:cNvPr>
          <p:cNvCxnSpPr>
            <a:cxnSpLocks/>
            <a:stCxn id="29" idx="3"/>
            <a:endCxn id="29" idx="1"/>
          </p:cNvCxnSpPr>
          <p:nvPr/>
        </p:nvCxnSpPr>
        <p:spPr>
          <a:xfrm flipH="1">
            <a:off x="9814752" y="3935944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C85F1FF-28F4-9ADE-A0A2-1A2D77A67171}"/>
              </a:ext>
            </a:extLst>
          </p:cNvPr>
          <p:cNvCxnSpPr>
            <a:cxnSpLocks/>
            <a:stCxn id="29" idx="2"/>
            <a:endCxn id="29" idx="0"/>
          </p:cNvCxnSpPr>
          <p:nvPr/>
        </p:nvCxnSpPr>
        <p:spPr>
          <a:xfrm flipV="1">
            <a:off x="10936702" y="3134552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49FA20A-FCF5-02E6-8429-DD1CF15F6705}"/>
              </a:ext>
            </a:extLst>
          </p:cNvPr>
          <p:cNvSpPr txBox="1"/>
          <p:nvPr/>
        </p:nvSpPr>
        <p:spPr>
          <a:xfrm rot="16200000">
            <a:off x="9058082" y="3358172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1C8E7F-44EB-1459-9E6F-C8C31CB74CB2}"/>
              </a:ext>
            </a:extLst>
          </p:cNvPr>
          <p:cNvSpPr txBox="1"/>
          <p:nvPr/>
        </p:nvSpPr>
        <p:spPr>
          <a:xfrm rot="16200000">
            <a:off x="9058082" y="416190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E6723BC-1178-6CC2-AEE6-CB4693E19DC2}"/>
              </a:ext>
            </a:extLst>
          </p:cNvPr>
          <p:cNvSpPr/>
          <p:nvPr/>
        </p:nvSpPr>
        <p:spPr>
          <a:xfrm>
            <a:off x="6228812" y="5142092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9E14DCF-E2A4-AEBC-CCE1-7048083E73E1}"/>
              </a:ext>
            </a:extLst>
          </p:cNvPr>
          <p:cNvCxnSpPr>
            <a:cxnSpLocks/>
            <a:stCxn id="36" idx="3"/>
            <a:endCxn id="36" idx="1"/>
          </p:cNvCxnSpPr>
          <p:nvPr/>
        </p:nvCxnSpPr>
        <p:spPr>
          <a:xfrm flipH="1">
            <a:off x="6228812" y="5943484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70A309E-B322-94F2-52BA-0F6F490A5F91}"/>
              </a:ext>
            </a:extLst>
          </p:cNvPr>
          <p:cNvCxnSpPr>
            <a:cxnSpLocks/>
            <a:stCxn id="36" idx="2"/>
            <a:endCxn id="36" idx="0"/>
          </p:cNvCxnSpPr>
          <p:nvPr/>
        </p:nvCxnSpPr>
        <p:spPr>
          <a:xfrm flipV="1">
            <a:off x="7350762" y="5142092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1B1A157-408A-C1A5-6F50-BD2DA6CA0DEA}"/>
              </a:ext>
            </a:extLst>
          </p:cNvPr>
          <p:cNvSpPr txBox="1"/>
          <p:nvPr/>
        </p:nvSpPr>
        <p:spPr>
          <a:xfrm rot="16200000">
            <a:off x="5472142" y="5365712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C17431-0529-DF8E-1B4B-695910697411}"/>
              </a:ext>
            </a:extLst>
          </p:cNvPr>
          <p:cNvSpPr txBox="1"/>
          <p:nvPr/>
        </p:nvSpPr>
        <p:spPr>
          <a:xfrm rot="16200000">
            <a:off x="5472142" y="616944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A312000-ED70-4123-7C06-821B2811BD06}"/>
              </a:ext>
            </a:extLst>
          </p:cNvPr>
          <p:cNvSpPr/>
          <p:nvPr/>
        </p:nvSpPr>
        <p:spPr>
          <a:xfrm>
            <a:off x="1004158" y="5148886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5DDD874-D7F6-3427-541B-A0177CA1C7D3}"/>
              </a:ext>
            </a:extLst>
          </p:cNvPr>
          <p:cNvCxnSpPr>
            <a:cxnSpLocks/>
            <a:stCxn id="43" idx="3"/>
            <a:endCxn id="43" idx="1"/>
          </p:cNvCxnSpPr>
          <p:nvPr/>
        </p:nvCxnSpPr>
        <p:spPr>
          <a:xfrm flipH="1">
            <a:off x="1004158" y="5950278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C85A27F-4B71-7E3A-AD88-61F803FD5105}"/>
              </a:ext>
            </a:extLst>
          </p:cNvPr>
          <p:cNvCxnSpPr>
            <a:cxnSpLocks/>
            <a:stCxn id="43" idx="2"/>
            <a:endCxn id="43" idx="0"/>
          </p:cNvCxnSpPr>
          <p:nvPr/>
        </p:nvCxnSpPr>
        <p:spPr>
          <a:xfrm flipV="1">
            <a:off x="2126108" y="5148886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7FC95EE4-FA5E-979A-635E-987A934CDA2C}"/>
              </a:ext>
            </a:extLst>
          </p:cNvPr>
          <p:cNvSpPr txBox="1"/>
          <p:nvPr/>
        </p:nvSpPr>
        <p:spPr>
          <a:xfrm>
            <a:off x="1216444" y="4787191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7E5C176-1944-9456-14A7-E4B87EDE31CB}"/>
              </a:ext>
            </a:extLst>
          </p:cNvPr>
          <p:cNvSpPr txBox="1"/>
          <p:nvPr/>
        </p:nvSpPr>
        <p:spPr>
          <a:xfrm>
            <a:off x="2112810" y="4800643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8E0CA7-0F21-1E9B-8504-33A77AA39F18}"/>
              </a:ext>
            </a:extLst>
          </p:cNvPr>
          <p:cNvSpPr txBox="1"/>
          <p:nvPr/>
        </p:nvSpPr>
        <p:spPr>
          <a:xfrm rot="16200000">
            <a:off x="247488" y="5372506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85E64F1-E1E1-5832-AF5C-3086EDB85436}"/>
              </a:ext>
            </a:extLst>
          </p:cNvPr>
          <p:cNvSpPr txBox="1"/>
          <p:nvPr/>
        </p:nvSpPr>
        <p:spPr>
          <a:xfrm rot="16200000">
            <a:off x="247488" y="6176234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629C3AC-987F-0867-1AD7-633AB5F12893}"/>
              </a:ext>
            </a:extLst>
          </p:cNvPr>
          <p:cNvSpPr/>
          <p:nvPr/>
        </p:nvSpPr>
        <p:spPr>
          <a:xfrm>
            <a:off x="9789456" y="3134554"/>
            <a:ext cx="2243899" cy="801390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000C25D-DAB0-276B-788D-69CD5EB9F869}"/>
              </a:ext>
            </a:extLst>
          </p:cNvPr>
          <p:cNvSpPr/>
          <p:nvPr/>
        </p:nvSpPr>
        <p:spPr>
          <a:xfrm rot="5400000">
            <a:off x="5988435" y="5395366"/>
            <a:ext cx="1602782" cy="1121862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317447C-DA56-FD1A-5BFD-2C7AD69BF2CC}"/>
              </a:ext>
            </a:extLst>
          </p:cNvPr>
          <p:cNvSpPr/>
          <p:nvPr/>
        </p:nvSpPr>
        <p:spPr>
          <a:xfrm rot="5400000">
            <a:off x="1864273" y="5367919"/>
            <a:ext cx="1602782" cy="1121862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B504B9E0-FF62-F70F-140E-FDD4A7E013BD}"/>
              </a:ext>
            </a:extLst>
          </p:cNvPr>
          <p:cNvCxnSpPr>
            <a:cxnSpLocks/>
          </p:cNvCxnSpPr>
          <p:nvPr/>
        </p:nvCxnSpPr>
        <p:spPr>
          <a:xfrm>
            <a:off x="4925310" y="1904550"/>
            <a:ext cx="4480946" cy="2059521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Curved 58">
            <a:extLst>
              <a:ext uri="{FF2B5EF4-FFF2-40B4-BE49-F238E27FC236}">
                <a16:creationId xmlns:a16="http://schemas.microsoft.com/office/drawing/2014/main" id="{93504BE1-297F-9CC9-4466-5CBABC5CA49E}"/>
              </a:ext>
            </a:extLst>
          </p:cNvPr>
          <p:cNvCxnSpPr>
            <a:cxnSpLocks/>
          </p:cNvCxnSpPr>
          <p:nvPr/>
        </p:nvCxnSpPr>
        <p:spPr>
          <a:xfrm>
            <a:off x="4985951" y="1780130"/>
            <a:ext cx="4333657" cy="10831"/>
          </a:xfrm>
          <a:prstGeom prst="curvedConnector3">
            <a:avLst>
              <a:gd name="adj1" fmla="val 50435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E1E0C17-D3AD-DC57-060A-011AD471709B}"/>
                  </a:ext>
                </a:extLst>
              </p:cNvPr>
              <p:cNvSpPr txBox="1"/>
              <p:nvPr/>
            </p:nvSpPr>
            <p:spPr>
              <a:xfrm>
                <a:off x="6064586" y="2377861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acquitted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aquitted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E1E0C17-D3AD-DC57-060A-011AD4717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586" y="2377861"/>
                <a:ext cx="1079781" cy="523220"/>
              </a:xfrm>
              <a:prstGeom prst="rect">
                <a:avLst/>
              </a:prstGeom>
              <a:blipFill>
                <a:blip r:embed="rId6"/>
                <a:stretch>
                  <a:fillRect t="-2326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DA9777A-ED0F-3EBF-8B1A-460CD035AB8D}"/>
                  </a:ext>
                </a:extLst>
              </p:cNvPr>
              <p:cNvSpPr txBox="1"/>
              <p:nvPr/>
            </p:nvSpPr>
            <p:spPr>
              <a:xfrm>
                <a:off x="6252166" y="1267741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convicted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DA9777A-ED0F-3EBF-8B1A-460CD035A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166" y="1267741"/>
                <a:ext cx="1079781" cy="523220"/>
              </a:xfrm>
              <a:prstGeom prst="rect">
                <a:avLst/>
              </a:prstGeom>
              <a:blipFill>
                <a:blip r:embed="rId7"/>
                <a:stretch>
                  <a:fillRect t="-2326" r="-7910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6EADD0C-749C-3932-AE29-4DF1CB90D75A}"/>
                  </a:ext>
                </a:extLst>
              </p:cNvPr>
              <p:cNvSpPr txBox="1"/>
              <p:nvPr/>
            </p:nvSpPr>
            <p:spPr>
              <a:xfrm rot="19594320">
                <a:off x="9593211" y="1227848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6EADD0C-749C-3932-AE29-4DF1CB90D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9593211" y="1227848"/>
                <a:ext cx="155602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1E4CA4F-7BCB-42BE-D372-9263B043963E}"/>
                  </a:ext>
                </a:extLst>
              </p:cNvPr>
              <p:cNvSpPr txBox="1"/>
              <p:nvPr/>
            </p:nvSpPr>
            <p:spPr>
              <a:xfrm rot="19594320">
                <a:off x="10679102" y="1241066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1E4CA4F-7BCB-42BE-D372-9263B0439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10679102" y="1241066"/>
                <a:ext cx="1556020" cy="276999"/>
              </a:xfrm>
              <a:prstGeom prst="rect">
                <a:avLst/>
              </a:prstGeom>
              <a:blipFill>
                <a:blip r:embed="rId9"/>
                <a:stretch>
                  <a:fillRect t="-559" r="-5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40C2EAB-05F1-01D4-6DDD-F1DDFA528194}"/>
                  </a:ext>
                </a:extLst>
              </p:cNvPr>
              <p:cNvSpPr txBox="1"/>
              <p:nvPr/>
            </p:nvSpPr>
            <p:spPr>
              <a:xfrm rot="19594320">
                <a:off x="9593212" y="4202051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40C2EAB-05F1-01D4-6DDD-F1DDFA528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9593212" y="4202051"/>
                <a:ext cx="1556020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153B5A7-04DF-875B-72B8-2D674BAB66B5}"/>
                  </a:ext>
                </a:extLst>
              </p:cNvPr>
              <p:cNvSpPr txBox="1"/>
              <p:nvPr/>
            </p:nvSpPr>
            <p:spPr>
              <a:xfrm rot="19594320">
                <a:off x="10703047" y="4187798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153B5A7-04DF-875B-72B8-2D674BAB6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10703047" y="4187798"/>
                <a:ext cx="1556020" cy="276999"/>
              </a:xfrm>
              <a:prstGeom prst="rect">
                <a:avLst/>
              </a:prstGeom>
              <a:blipFill>
                <a:blip r:embed="rId11"/>
                <a:stretch>
                  <a:fillRect r="-4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Connector: Curved 70">
            <a:extLst>
              <a:ext uri="{FF2B5EF4-FFF2-40B4-BE49-F238E27FC236}">
                <a16:creationId xmlns:a16="http://schemas.microsoft.com/office/drawing/2014/main" id="{EEA6D180-EDAD-2200-F9D4-EA245BC81B44}"/>
              </a:ext>
            </a:extLst>
          </p:cNvPr>
          <p:cNvCxnSpPr>
            <a:cxnSpLocks/>
          </p:cNvCxnSpPr>
          <p:nvPr/>
        </p:nvCxnSpPr>
        <p:spPr>
          <a:xfrm rot="5400000">
            <a:off x="3107178" y="4480107"/>
            <a:ext cx="2009202" cy="1511673"/>
          </a:xfrm>
          <a:prstGeom prst="curvedConnector3">
            <a:avLst>
              <a:gd name="adj1" fmla="val 49531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D48A63A-F236-A760-F3AA-962661658215}"/>
                  </a:ext>
                </a:extLst>
              </p:cNvPr>
              <p:cNvSpPr txBox="1"/>
              <p:nvPr/>
            </p:nvSpPr>
            <p:spPr>
              <a:xfrm>
                <a:off x="3671018" y="5242601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guilty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D48A63A-F236-A760-F3AA-962661658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018" y="5242601"/>
                <a:ext cx="1079781" cy="523220"/>
              </a:xfrm>
              <a:prstGeom prst="rect">
                <a:avLst/>
              </a:prstGeom>
              <a:blipFill>
                <a:blip r:embed="rId12"/>
                <a:stretch>
                  <a:fillRect t="-2326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Connector: Curved 75">
            <a:extLst>
              <a:ext uri="{FF2B5EF4-FFF2-40B4-BE49-F238E27FC236}">
                <a16:creationId xmlns:a16="http://schemas.microsoft.com/office/drawing/2014/main" id="{B1AE3E78-3976-3728-9C61-DF639AFE77A3}"/>
              </a:ext>
            </a:extLst>
          </p:cNvPr>
          <p:cNvCxnSpPr>
            <a:cxnSpLocks/>
          </p:cNvCxnSpPr>
          <p:nvPr/>
        </p:nvCxnSpPr>
        <p:spPr>
          <a:xfrm>
            <a:off x="4882551" y="4255918"/>
            <a:ext cx="1213449" cy="836359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387600B-AAD0-4746-252D-C0555B47AF3E}"/>
                  </a:ext>
                </a:extLst>
              </p:cNvPr>
              <p:cNvSpPr txBox="1"/>
              <p:nvPr/>
            </p:nvSpPr>
            <p:spPr>
              <a:xfrm>
                <a:off x="5477035" y="4128064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innocent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387600B-AAD0-4746-252D-C0555B47A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035" y="4128064"/>
                <a:ext cx="1079781" cy="523220"/>
              </a:xfrm>
              <a:prstGeom prst="rect">
                <a:avLst/>
              </a:prstGeom>
              <a:blipFill>
                <a:blip r:embed="rId13"/>
                <a:stretch>
                  <a:fillRect t="-2326" r="-1124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8764515E-7B95-7DE2-9323-1E1C7C7A58EB}"/>
              </a:ext>
            </a:extLst>
          </p:cNvPr>
          <p:cNvSpPr txBox="1"/>
          <p:nvPr/>
        </p:nvSpPr>
        <p:spPr>
          <a:xfrm>
            <a:off x="7259021" y="4796114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6B0C1ED-547F-A2F7-F262-ADD5AAA90D19}"/>
              </a:ext>
            </a:extLst>
          </p:cNvPr>
          <p:cNvSpPr txBox="1"/>
          <p:nvPr/>
        </p:nvSpPr>
        <p:spPr>
          <a:xfrm>
            <a:off x="6410387" y="4774980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F164CD4-4066-C9A0-387F-B63EF642C941}"/>
              </a:ext>
            </a:extLst>
          </p:cNvPr>
          <p:cNvSpPr txBox="1"/>
          <p:nvPr/>
        </p:nvSpPr>
        <p:spPr>
          <a:xfrm>
            <a:off x="9888651" y="2804710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5D7BAC8-9033-028E-1399-16E7E86BE826}"/>
              </a:ext>
            </a:extLst>
          </p:cNvPr>
          <p:cNvSpPr txBox="1"/>
          <p:nvPr/>
        </p:nvSpPr>
        <p:spPr>
          <a:xfrm>
            <a:off x="9922612" y="663176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BCBEFA5-41E5-82CD-D5BB-847FC86B72A5}"/>
              </a:ext>
            </a:extLst>
          </p:cNvPr>
          <p:cNvSpPr txBox="1"/>
          <p:nvPr/>
        </p:nvSpPr>
        <p:spPr>
          <a:xfrm>
            <a:off x="10936701" y="2808582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1FB4CF0-79EB-7FAE-EC5C-6A8CA00526C1}"/>
              </a:ext>
            </a:extLst>
          </p:cNvPr>
          <p:cNvSpPr txBox="1"/>
          <p:nvPr/>
        </p:nvSpPr>
        <p:spPr>
          <a:xfrm>
            <a:off x="10952944" y="651124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C6F56D0-40BC-B48E-A576-94C1907CE927}"/>
                  </a:ext>
                </a:extLst>
              </p:cNvPr>
              <p:cNvSpPr txBox="1"/>
              <p:nvPr/>
            </p:nvSpPr>
            <p:spPr>
              <a:xfrm rot="19594320">
                <a:off x="7229186" y="5290422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C6F56D0-40BC-B48E-A576-94C1907CE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229186" y="5290422"/>
                <a:ext cx="1556020" cy="276999"/>
              </a:xfrm>
              <a:prstGeom prst="rect">
                <a:avLst/>
              </a:prstGeom>
              <a:blipFill>
                <a:blip r:embed="rId14"/>
                <a:stretch>
                  <a:fillRect t="-559" r="-5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3D7A16D2-4EFF-3605-3916-6F2DCFF99851}"/>
                  </a:ext>
                </a:extLst>
              </p:cNvPr>
              <p:cNvSpPr txBox="1"/>
              <p:nvPr/>
            </p:nvSpPr>
            <p:spPr>
              <a:xfrm rot="19594320">
                <a:off x="7286813" y="6068371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3D7A16D2-4EFF-3605-3916-6F2DCFF99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286813" y="6068371"/>
                <a:ext cx="1556020" cy="276999"/>
              </a:xfrm>
              <a:prstGeom prst="rect">
                <a:avLst/>
              </a:prstGeom>
              <a:blipFill>
                <a:blip r:embed="rId15"/>
                <a:stretch>
                  <a:fillRect r="-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4E5BF4BA-DE9A-397F-D57A-0E19E60DF233}"/>
                  </a:ext>
                </a:extLst>
              </p:cNvPr>
              <p:cNvSpPr txBox="1"/>
              <p:nvPr/>
            </p:nvSpPr>
            <p:spPr>
              <a:xfrm rot="19594320">
                <a:off x="791684" y="6159742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4E5BF4BA-DE9A-397F-D57A-0E19E60DF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91684" y="6159742"/>
                <a:ext cx="1556020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2A0AA13-78E7-8E13-D7ED-64A0FB420579}"/>
                  </a:ext>
                </a:extLst>
              </p:cNvPr>
              <p:cNvSpPr txBox="1"/>
              <p:nvPr/>
            </p:nvSpPr>
            <p:spPr>
              <a:xfrm rot="19594320">
                <a:off x="784513" y="5391608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2A0AA13-78E7-8E13-D7ED-64A0FB420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84513" y="5391608"/>
                <a:ext cx="1556020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559595DC-138C-99A3-80D1-7FD515108646}"/>
              </a:ext>
            </a:extLst>
          </p:cNvPr>
          <p:cNvSpPr/>
          <p:nvPr/>
        </p:nvSpPr>
        <p:spPr>
          <a:xfrm>
            <a:off x="0" y="-2"/>
            <a:ext cx="12206666" cy="6858002"/>
          </a:xfrm>
          <a:prstGeom prst="rect">
            <a:avLst/>
          </a:prstGeom>
          <a:solidFill>
            <a:srgbClr val="595959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CC13668-4D31-D32A-CFE8-CAADC7D71038}"/>
              </a:ext>
            </a:extLst>
          </p:cNvPr>
          <p:cNvSpPr/>
          <p:nvPr/>
        </p:nvSpPr>
        <p:spPr>
          <a:xfrm>
            <a:off x="1615145" y="1249181"/>
            <a:ext cx="9506981" cy="47053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D050CF-3D29-FA4D-FBF9-DD451EC41AA3}"/>
              </a:ext>
            </a:extLst>
          </p:cNvPr>
          <p:cNvSpPr txBox="1"/>
          <p:nvPr/>
        </p:nvSpPr>
        <p:spPr>
          <a:xfrm>
            <a:off x="3640238" y="273647"/>
            <a:ext cx="5223415" cy="95410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All of these probabilities are related to one another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85D9DE-3DA9-4ED6-7A9D-8300FAC30D49}"/>
              </a:ext>
            </a:extLst>
          </p:cNvPr>
          <p:cNvSpPr txBox="1"/>
          <p:nvPr/>
        </p:nvSpPr>
        <p:spPr>
          <a:xfrm>
            <a:off x="6648259" y="3248141"/>
            <a:ext cx="2495550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Marginal Probability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5C341C-F740-8A24-61D3-311274DA91B3}"/>
              </a:ext>
            </a:extLst>
          </p:cNvPr>
          <p:cNvSpPr txBox="1"/>
          <p:nvPr/>
        </p:nvSpPr>
        <p:spPr>
          <a:xfrm>
            <a:off x="6648259" y="3853097"/>
            <a:ext cx="2495550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Conditional Probability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D39146-D14B-2660-7BF3-CB16C1EC7D1D}"/>
              </a:ext>
            </a:extLst>
          </p:cNvPr>
          <p:cNvSpPr txBox="1"/>
          <p:nvPr/>
        </p:nvSpPr>
        <p:spPr>
          <a:xfrm>
            <a:off x="3760089" y="3559251"/>
            <a:ext cx="1953083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Joint Probability</a:t>
            </a:r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0086FACA-6059-5A19-70B0-A38057B97429}"/>
              </a:ext>
            </a:extLst>
          </p:cNvPr>
          <p:cNvSpPr/>
          <p:nvPr/>
        </p:nvSpPr>
        <p:spPr>
          <a:xfrm>
            <a:off x="6424422" y="3248141"/>
            <a:ext cx="223838" cy="991553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B864A11-B1D7-D9D0-051F-E122D341DF7F}"/>
              </a:ext>
            </a:extLst>
          </p:cNvPr>
          <p:cNvCxnSpPr>
            <a:stCxn id="32" idx="3"/>
            <a:endCxn id="33" idx="1"/>
          </p:cNvCxnSpPr>
          <p:nvPr/>
        </p:nvCxnSpPr>
        <p:spPr>
          <a:xfrm>
            <a:off x="5713172" y="3743917"/>
            <a:ext cx="711250" cy="1"/>
          </a:xfrm>
          <a:prstGeom prst="straightConnector1">
            <a:avLst/>
          </a:prstGeom>
          <a:ln w="635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28265D6A-9FAB-B702-4034-3E239FF32B41}"/>
              </a:ext>
            </a:extLst>
          </p:cNvPr>
          <p:cNvSpPr txBox="1"/>
          <p:nvPr/>
        </p:nvSpPr>
        <p:spPr>
          <a:xfrm>
            <a:off x="3776629" y="1782352"/>
            <a:ext cx="1953083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Joint Probability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5C87F2F-2B62-5953-2B7D-4C7119A7D279}"/>
              </a:ext>
            </a:extLst>
          </p:cNvPr>
          <p:cNvSpPr txBox="1"/>
          <p:nvPr/>
        </p:nvSpPr>
        <p:spPr>
          <a:xfrm>
            <a:off x="6411456" y="1782352"/>
            <a:ext cx="2495550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Marginal Probability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8EF9134-90B9-0EB9-2590-673B682D30F3}"/>
              </a:ext>
            </a:extLst>
          </p:cNvPr>
          <p:cNvCxnSpPr/>
          <p:nvPr/>
        </p:nvCxnSpPr>
        <p:spPr>
          <a:xfrm>
            <a:off x="5706148" y="1967017"/>
            <a:ext cx="711250" cy="1"/>
          </a:xfrm>
          <a:prstGeom prst="straightConnector1">
            <a:avLst/>
          </a:prstGeom>
          <a:ln w="635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9C27D2C-2AFC-A058-F3FF-0EAFB16431EB}"/>
                  </a:ext>
                </a:extLst>
              </p:cNvPr>
              <p:cNvSpPr txBox="1"/>
              <p:nvPr/>
            </p:nvSpPr>
            <p:spPr>
              <a:xfrm>
                <a:off x="3705765" y="2234078"/>
                <a:ext cx="52141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+⋯+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9C27D2C-2AFC-A058-F3FF-0EAFB1643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5765" y="2234078"/>
                <a:ext cx="5214182" cy="369332"/>
              </a:xfrm>
              <a:prstGeom prst="rect">
                <a:avLst/>
              </a:prstGeom>
              <a:blipFill>
                <a:blip r:embed="rId18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DB641EC-730F-D77F-84DB-4E19E8A4E0A4}"/>
                  </a:ext>
                </a:extLst>
              </p:cNvPr>
              <p:cNvSpPr txBox="1"/>
              <p:nvPr/>
            </p:nvSpPr>
            <p:spPr>
              <a:xfrm>
                <a:off x="3705765" y="4358478"/>
                <a:ext cx="52141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DB641EC-730F-D77F-84DB-4E19E8A4E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5765" y="4358478"/>
                <a:ext cx="5214182" cy="369332"/>
              </a:xfrm>
              <a:prstGeom prst="rect">
                <a:avLst/>
              </a:prstGeom>
              <a:blipFill>
                <a:blip r:embed="rId1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7193328-0BB1-56C0-609F-338EF9843112}"/>
                  </a:ext>
                </a:extLst>
              </p:cNvPr>
              <p:cNvSpPr txBox="1"/>
              <p:nvPr/>
            </p:nvSpPr>
            <p:spPr>
              <a:xfrm>
                <a:off x="2805541" y="2718395"/>
                <a:ext cx="7348087" cy="36933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For instance: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guilty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 &amp;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acquitted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guilty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 &amp;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convicted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guilty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7193328-0BB1-56C0-609F-338EF9843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5541" y="2718395"/>
                <a:ext cx="7348087" cy="369332"/>
              </a:xfrm>
              <a:prstGeom prst="rect">
                <a:avLst/>
              </a:prstGeom>
              <a:blipFill>
                <a:blip r:embed="rId20"/>
                <a:stretch>
                  <a:fillRect t="-9677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50566F1-AB3E-036F-634A-1D6D4CD4BFA6}"/>
                  </a:ext>
                </a:extLst>
              </p:cNvPr>
              <p:cNvSpPr txBox="1"/>
              <p:nvPr/>
            </p:nvSpPr>
            <p:spPr>
              <a:xfrm>
                <a:off x="2785797" y="4932769"/>
                <a:ext cx="7348087" cy="36933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For instance: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guilty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 &amp; 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acquitted</m:t>
                        </m:r>
                      </m:e>
                    </m:d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guilty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acquitted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guilty</m:t>
                    </m:r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50566F1-AB3E-036F-634A-1D6D4CD4B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5797" y="4932769"/>
                <a:ext cx="7348087" cy="369332"/>
              </a:xfrm>
              <a:prstGeom prst="rect">
                <a:avLst/>
              </a:prstGeom>
              <a:blipFill>
                <a:blip r:embed="rId21"/>
                <a:stretch>
                  <a:fillRect t="-8065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101130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75E1F-6F0F-01AB-2EA1-43AB96D98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A8A48-99C3-6ED1-FDD8-D37D15D89D53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2EB8FD-42E1-8D88-03C3-D8A665D72A5D}"/>
              </a:ext>
            </a:extLst>
          </p:cNvPr>
          <p:cNvSpPr txBox="1"/>
          <p:nvPr/>
        </p:nvSpPr>
        <p:spPr>
          <a:xfrm rot="20574304">
            <a:off x="-76372" y="443068"/>
            <a:ext cx="3093167" cy="52322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Compute what?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510A1D-8F58-37BC-6C93-70517C0E0807}"/>
              </a:ext>
            </a:extLst>
          </p:cNvPr>
          <p:cNvSpPr/>
          <p:nvPr/>
        </p:nvSpPr>
        <p:spPr>
          <a:xfrm>
            <a:off x="1183121" y="1792942"/>
            <a:ext cx="3684494" cy="2438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CB7C5D-533A-DF15-BC2F-B0D16438F637}"/>
              </a:ext>
            </a:extLst>
          </p:cNvPr>
          <p:cNvSpPr txBox="1"/>
          <p:nvPr/>
        </p:nvSpPr>
        <p:spPr>
          <a:xfrm>
            <a:off x="1398272" y="997189"/>
            <a:ext cx="318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Is the defendant </a:t>
            </a:r>
            <a:r>
              <a:rPr lang="en-US" sz="1600" i="1" dirty="0"/>
              <a:t>actually</a:t>
            </a:r>
            <a:r>
              <a:rPr lang="en-US" sz="1600" dirty="0"/>
              <a:t> guilty?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369215-3BB5-9A91-0C4B-31FCBB1D8AAC}"/>
              </a:ext>
            </a:extLst>
          </p:cNvPr>
          <p:cNvSpPr txBox="1"/>
          <p:nvPr/>
        </p:nvSpPr>
        <p:spPr>
          <a:xfrm>
            <a:off x="1183120" y="1353670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guilty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69710C-679B-E5D5-D93D-413F32ACA8C6}"/>
              </a:ext>
            </a:extLst>
          </p:cNvPr>
          <p:cNvSpPr txBox="1"/>
          <p:nvPr/>
        </p:nvSpPr>
        <p:spPr>
          <a:xfrm>
            <a:off x="3025368" y="1353670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innocent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4553CD2-7728-4047-293C-6DF688A191D8}"/>
              </a:ext>
            </a:extLst>
          </p:cNvPr>
          <p:cNvCxnSpPr>
            <a:stCxn id="4" idx="0"/>
            <a:endCxn id="4" idx="2"/>
          </p:cNvCxnSpPr>
          <p:nvPr/>
        </p:nvCxnSpPr>
        <p:spPr>
          <a:xfrm>
            <a:off x="3025368" y="1792942"/>
            <a:ext cx="0" cy="2438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CCDEE17-EC78-8F31-244E-A19D1C366428}"/>
              </a:ext>
            </a:extLst>
          </p:cNvPr>
          <p:cNvSpPr txBox="1"/>
          <p:nvPr/>
        </p:nvSpPr>
        <p:spPr>
          <a:xfrm rot="16200000">
            <a:off x="-1104374" y="2944906"/>
            <a:ext cx="318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Will the defendant be acquitted?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72E3FF-798A-CD6A-12FA-45BE7BB435AE}"/>
              </a:ext>
            </a:extLst>
          </p:cNvPr>
          <p:cNvSpPr txBox="1"/>
          <p:nvPr/>
        </p:nvSpPr>
        <p:spPr>
          <a:xfrm rot="16200000">
            <a:off x="112806" y="2232212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convicted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1A17DA-379B-A00D-21F9-9958271B293C}"/>
              </a:ext>
            </a:extLst>
          </p:cNvPr>
          <p:cNvSpPr txBox="1"/>
          <p:nvPr/>
        </p:nvSpPr>
        <p:spPr>
          <a:xfrm rot="16200000">
            <a:off x="112806" y="3355617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acquitted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E2AFF6-D05D-91F0-348C-17E75E0DE271}"/>
              </a:ext>
            </a:extLst>
          </p:cNvPr>
          <p:cNvCxnSpPr>
            <a:cxnSpLocks/>
            <a:stCxn id="4" idx="3"/>
            <a:endCxn id="4" idx="1"/>
          </p:cNvCxnSpPr>
          <p:nvPr/>
        </p:nvCxnSpPr>
        <p:spPr>
          <a:xfrm flipH="1">
            <a:off x="1183121" y="3012142"/>
            <a:ext cx="368449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32C32B5-3BAF-6ABC-A412-2C8B7B7584B4}"/>
                  </a:ext>
                </a:extLst>
              </p:cNvPr>
              <p:cNvSpPr txBox="1"/>
              <p:nvPr/>
            </p:nvSpPr>
            <p:spPr>
              <a:xfrm rot="19594320">
                <a:off x="986118" y="2248335"/>
                <a:ext cx="229496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32C32B5-3BAF-6ABC-A412-2C8B7B758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986118" y="2248335"/>
                <a:ext cx="2294965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CA1A3A6-355C-7241-CC9E-E72911958626}"/>
                  </a:ext>
                </a:extLst>
              </p:cNvPr>
              <p:cNvSpPr txBox="1"/>
              <p:nvPr/>
            </p:nvSpPr>
            <p:spPr>
              <a:xfrm rot="19594320">
                <a:off x="2731138" y="2190250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CA1A3A6-355C-7241-CC9E-E729119586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2731138" y="2190250"/>
                <a:ext cx="250581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2D50852-0099-6945-3D9E-D52FC3BFAB31}"/>
                  </a:ext>
                </a:extLst>
              </p:cNvPr>
              <p:cNvSpPr txBox="1"/>
              <p:nvPr/>
            </p:nvSpPr>
            <p:spPr>
              <a:xfrm rot="19594320">
                <a:off x="880690" y="3438798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2D50852-0099-6945-3D9E-D52FC3BFA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880690" y="3438798"/>
                <a:ext cx="250581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EFF1E0C-7BB4-97E3-ADCB-CED1CB97ECA5}"/>
                  </a:ext>
                </a:extLst>
              </p:cNvPr>
              <p:cNvSpPr txBox="1"/>
              <p:nvPr/>
            </p:nvSpPr>
            <p:spPr>
              <a:xfrm rot="19594320">
                <a:off x="2671152" y="3463374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EFF1E0C-7BB4-97E3-ADCB-CED1CB97E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2671152" y="3463374"/>
                <a:ext cx="250581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639A6986-4C3A-F587-4836-9D0BCF996EF2}"/>
              </a:ext>
            </a:extLst>
          </p:cNvPr>
          <p:cNvSpPr/>
          <p:nvPr/>
        </p:nvSpPr>
        <p:spPr>
          <a:xfrm>
            <a:off x="9789458" y="991550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7DB9B9D-2B95-9612-61FB-0DCA918F1ADD}"/>
              </a:ext>
            </a:extLst>
          </p:cNvPr>
          <p:cNvCxnSpPr>
            <a:cxnSpLocks/>
            <a:stCxn id="17" idx="3"/>
            <a:endCxn id="17" idx="1"/>
          </p:cNvCxnSpPr>
          <p:nvPr/>
        </p:nvCxnSpPr>
        <p:spPr>
          <a:xfrm flipH="1">
            <a:off x="9789458" y="1792942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2AB8DFD-37E1-3A19-9FA6-EC635EBD6F87}"/>
              </a:ext>
            </a:extLst>
          </p:cNvPr>
          <p:cNvCxnSpPr>
            <a:cxnSpLocks/>
            <a:stCxn id="17" idx="2"/>
            <a:endCxn id="17" idx="0"/>
          </p:cNvCxnSpPr>
          <p:nvPr/>
        </p:nvCxnSpPr>
        <p:spPr>
          <a:xfrm flipV="1">
            <a:off x="10911408" y="991550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EF4233A-8B32-FE81-8DED-C1B86202C3F3}"/>
              </a:ext>
            </a:extLst>
          </p:cNvPr>
          <p:cNvSpPr txBox="1"/>
          <p:nvPr/>
        </p:nvSpPr>
        <p:spPr>
          <a:xfrm rot="16200000">
            <a:off x="9032788" y="121517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5FD4C1-253F-71D4-3C37-751FD07FEC79}"/>
              </a:ext>
            </a:extLst>
          </p:cNvPr>
          <p:cNvSpPr txBox="1"/>
          <p:nvPr/>
        </p:nvSpPr>
        <p:spPr>
          <a:xfrm rot="16200000">
            <a:off x="9032788" y="2018898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5C65E1-46D8-5DC8-C7E0-A08C7DE54710}"/>
              </a:ext>
            </a:extLst>
          </p:cNvPr>
          <p:cNvSpPr/>
          <p:nvPr/>
        </p:nvSpPr>
        <p:spPr>
          <a:xfrm>
            <a:off x="9789457" y="1790961"/>
            <a:ext cx="2243899" cy="801390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CF16BD8-68D3-D1C8-4BCB-8E774F0D2DB6}"/>
              </a:ext>
            </a:extLst>
          </p:cNvPr>
          <p:cNvSpPr/>
          <p:nvPr/>
        </p:nvSpPr>
        <p:spPr>
          <a:xfrm>
            <a:off x="9814752" y="3134552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5762F16-9D65-61A7-2262-A54AA1167ABF}"/>
              </a:ext>
            </a:extLst>
          </p:cNvPr>
          <p:cNvCxnSpPr>
            <a:cxnSpLocks/>
            <a:stCxn id="29" idx="3"/>
            <a:endCxn id="29" idx="1"/>
          </p:cNvCxnSpPr>
          <p:nvPr/>
        </p:nvCxnSpPr>
        <p:spPr>
          <a:xfrm flipH="1">
            <a:off x="9814752" y="3935944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870F6E5-D404-AF3C-289B-0A70C83353B5}"/>
              </a:ext>
            </a:extLst>
          </p:cNvPr>
          <p:cNvCxnSpPr>
            <a:cxnSpLocks/>
            <a:stCxn id="29" idx="2"/>
            <a:endCxn id="29" idx="0"/>
          </p:cNvCxnSpPr>
          <p:nvPr/>
        </p:nvCxnSpPr>
        <p:spPr>
          <a:xfrm flipV="1">
            <a:off x="10936702" y="3134552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E8E8C15-D891-6B79-D411-83B918329810}"/>
              </a:ext>
            </a:extLst>
          </p:cNvPr>
          <p:cNvSpPr txBox="1"/>
          <p:nvPr/>
        </p:nvSpPr>
        <p:spPr>
          <a:xfrm rot="16200000">
            <a:off x="9058082" y="3358172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4AFDEC-F4B7-F76A-11BF-3657670058C3}"/>
              </a:ext>
            </a:extLst>
          </p:cNvPr>
          <p:cNvSpPr txBox="1"/>
          <p:nvPr/>
        </p:nvSpPr>
        <p:spPr>
          <a:xfrm rot="16200000">
            <a:off x="9058082" y="416190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68BE233-A3A3-1CD6-3179-3380B4455F88}"/>
              </a:ext>
            </a:extLst>
          </p:cNvPr>
          <p:cNvSpPr/>
          <p:nvPr/>
        </p:nvSpPr>
        <p:spPr>
          <a:xfrm>
            <a:off x="6228812" y="5142092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539050-0021-C3B5-D1AC-2E4B3DA7977A}"/>
              </a:ext>
            </a:extLst>
          </p:cNvPr>
          <p:cNvCxnSpPr>
            <a:cxnSpLocks/>
            <a:stCxn id="36" idx="3"/>
            <a:endCxn id="36" idx="1"/>
          </p:cNvCxnSpPr>
          <p:nvPr/>
        </p:nvCxnSpPr>
        <p:spPr>
          <a:xfrm flipH="1">
            <a:off x="6228812" y="5943484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58EE903-285D-3F9B-608B-085DED56DCD5}"/>
              </a:ext>
            </a:extLst>
          </p:cNvPr>
          <p:cNvCxnSpPr>
            <a:cxnSpLocks/>
            <a:stCxn id="36" idx="2"/>
            <a:endCxn id="36" idx="0"/>
          </p:cNvCxnSpPr>
          <p:nvPr/>
        </p:nvCxnSpPr>
        <p:spPr>
          <a:xfrm flipV="1">
            <a:off x="7350762" y="5142092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4B24EF4-87F9-8257-64C0-4CEA3152425B}"/>
              </a:ext>
            </a:extLst>
          </p:cNvPr>
          <p:cNvSpPr txBox="1"/>
          <p:nvPr/>
        </p:nvSpPr>
        <p:spPr>
          <a:xfrm rot="16200000">
            <a:off x="5472142" y="5365712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F3BD8C-F840-85E8-25C5-813CDFB5D4C8}"/>
              </a:ext>
            </a:extLst>
          </p:cNvPr>
          <p:cNvSpPr txBox="1"/>
          <p:nvPr/>
        </p:nvSpPr>
        <p:spPr>
          <a:xfrm rot="16200000">
            <a:off x="5472142" y="616944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27A4137-EF99-CEBA-0F41-A3D1BAEEF1E8}"/>
              </a:ext>
            </a:extLst>
          </p:cNvPr>
          <p:cNvSpPr/>
          <p:nvPr/>
        </p:nvSpPr>
        <p:spPr>
          <a:xfrm>
            <a:off x="1004158" y="5148886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E552239-E7E7-04B5-B6CE-15ED876F1CD5}"/>
              </a:ext>
            </a:extLst>
          </p:cNvPr>
          <p:cNvCxnSpPr>
            <a:cxnSpLocks/>
            <a:stCxn id="43" idx="3"/>
            <a:endCxn id="43" idx="1"/>
          </p:cNvCxnSpPr>
          <p:nvPr/>
        </p:nvCxnSpPr>
        <p:spPr>
          <a:xfrm flipH="1">
            <a:off x="1004158" y="5950278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13EAF70-4DF6-14F0-4CB6-A974E21CDE72}"/>
              </a:ext>
            </a:extLst>
          </p:cNvPr>
          <p:cNvCxnSpPr>
            <a:cxnSpLocks/>
            <a:stCxn id="43" idx="2"/>
            <a:endCxn id="43" idx="0"/>
          </p:cNvCxnSpPr>
          <p:nvPr/>
        </p:nvCxnSpPr>
        <p:spPr>
          <a:xfrm flipV="1">
            <a:off x="2126108" y="5148886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BBF199E5-1713-F206-7572-53318227B5B2}"/>
              </a:ext>
            </a:extLst>
          </p:cNvPr>
          <p:cNvSpPr txBox="1"/>
          <p:nvPr/>
        </p:nvSpPr>
        <p:spPr>
          <a:xfrm>
            <a:off x="1216444" y="4787191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2E17DC6-B004-BFBC-9A06-0D77F128B02B}"/>
              </a:ext>
            </a:extLst>
          </p:cNvPr>
          <p:cNvSpPr txBox="1"/>
          <p:nvPr/>
        </p:nvSpPr>
        <p:spPr>
          <a:xfrm>
            <a:off x="2112810" y="4800643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EE36B24-9C91-5EE5-64B9-4F42E816D589}"/>
              </a:ext>
            </a:extLst>
          </p:cNvPr>
          <p:cNvSpPr txBox="1"/>
          <p:nvPr/>
        </p:nvSpPr>
        <p:spPr>
          <a:xfrm rot="16200000">
            <a:off x="247488" y="5372506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2F6993-C458-A6B8-8EA1-C32D05C21C35}"/>
              </a:ext>
            </a:extLst>
          </p:cNvPr>
          <p:cNvSpPr txBox="1"/>
          <p:nvPr/>
        </p:nvSpPr>
        <p:spPr>
          <a:xfrm rot="16200000">
            <a:off x="247488" y="6176234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CEFED5A-7973-7F64-0B80-80AB486A0C27}"/>
              </a:ext>
            </a:extLst>
          </p:cNvPr>
          <p:cNvSpPr/>
          <p:nvPr/>
        </p:nvSpPr>
        <p:spPr>
          <a:xfrm>
            <a:off x="9789456" y="3134554"/>
            <a:ext cx="2243899" cy="801390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5D6C80C-2D1E-2308-B9E4-042543CED187}"/>
              </a:ext>
            </a:extLst>
          </p:cNvPr>
          <p:cNvSpPr/>
          <p:nvPr/>
        </p:nvSpPr>
        <p:spPr>
          <a:xfrm rot="5400000">
            <a:off x="5988435" y="5395366"/>
            <a:ext cx="1602782" cy="1121862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315692F-BB3C-2E48-BC30-0AFECF18F8AD}"/>
              </a:ext>
            </a:extLst>
          </p:cNvPr>
          <p:cNvSpPr/>
          <p:nvPr/>
        </p:nvSpPr>
        <p:spPr>
          <a:xfrm rot="5400000">
            <a:off x="1864273" y="5367919"/>
            <a:ext cx="1602782" cy="1121862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D2288307-DEB5-9640-2098-BC547D964062}"/>
              </a:ext>
            </a:extLst>
          </p:cNvPr>
          <p:cNvCxnSpPr>
            <a:cxnSpLocks/>
          </p:cNvCxnSpPr>
          <p:nvPr/>
        </p:nvCxnSpPr>
        <p:spPr>
          <a:xfrm>
            <a:off x="4925310" y="1904550"/>
            <a:ext cx="4480946" cy="2059521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Curved 58">
            <a:extLst>
              <a:ext uri="{FF2B5EF4-FFF2-40B4-BE49-F238E27FC236}">
                <a16:creationId xmlns:a16="http://schemas.microsoft.com/office/drawing/2014/main" id="{EBB57E83-112B-D8E7-4071-8EA4B7EE590F}"/>
              </a:ext>
            </a:extLst>
          </p:cNvPr>
          <p:cNvCxnSpPr>
            <a:cxnSpLocks/>
          </p:cNvCxnSpPr>
          <p:nvPr/>
        </p:nvCxnSpPr>
        <p:spPr>
          <a:xfrm>
            <a:off x="4985951" y="1780130"/>
            <a:ext cx="4333657" cy="10831"/>
          </a:xfrm>
          <a:prstGeom prst="curvedConnector3">
            <a:avLst>
              <a:gd name="adj1" fmla="val 50435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E727A7B-E1A4-C9EB-7BA7-3189EEF24AD4}"/>
                  </a:ext>
                </a:extLst>
              </p:cNvPr>
              <p:cNvSpPr txBox="1"/>
              <p:nvPr/>
            </p:nvSpPr>
            <p:spPr>
              <a:xfrm>
                <a:off x="6064586" y="2377861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acquitted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aquitted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E727A7B-E1A4-C9EB-7BA7-3189EEF24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586" y="2377861"/>
                <a:ext cx="1079781" cy="523220"/>
              </a:xfrm>
              <a:prstGeom prst="rect">
                <a:avLst/>
              </a:prstGeom>
              <a:blipFill>
                <a:blip r:embed="rId6"/>
                <a:stretch>
                  <a:fillRect t="-2326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D40FCC4-FEAC-ABA8-8FF7-C76B06C851D6}"/>
                  </a:ext>
                </a:extLst>
              </p:cNvPr>
              <p:cNvSpPr txBox="1"/>
              <p:nvPr/>
            </p:nvSpPr>
            <p:spPr>
              <a:xfrm>
                <a:off x="6252166" y="1267741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convicted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D40FCC4-FEAC-ABA8-8FF7-C76B06C85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166" y="1267741"/>
                <a:ext cx="1079781" cy="523220"/>
              </a:xfrm>
              <a:prstGeom prst="rect">
                <a:avLst/>
              </a:prstGeom>
              <a:blipFill>
                <a:blip r:embed="rId7"/>
                <a:stretch>
                  <a:fillRect l="-3955" t="-2326" r="-1130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C7DA306-FB58-A4C3-D712-C7718B19587B}"/>
                  </a:ext>
                </a:extLst>
              </p:cNvPr>
              <p:cNvSpPr txBox="1"/>
              <p:nvPr/>
            </p:nvSpPr>
            <p:spPr>
              <a:xfrm rot="19594320">
                <a:off x="9593211" y="1227848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C7DA306-FB58-A4C3-D712-C7718B195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9593211" y="1227848"/>
                <a:ext cx="155602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D89AD40-E1DB-51F6-4DB8-2EB782BC0128}"/>
                  </a:ext>
                </a:extLst>
              </p:cNvPr>
              <p:cNvSpPr txBox="1"/>
              <p:nvPr/>
            </p:nvSpPr>
            <p:spPr>
              <a:xfrm rot="19594320">
                <a:off x="10679102" y="1241066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D89AD40-E1DB-51F6-4DB8-2EB782BC0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10679102" y="1241066"/>
                <a:ext cx="1556020" cy="276999"/>
              </a:xfrm>
              <a:prstGeom prst="rect">
                <a:avLst/>
              </a:prstGeom>
              <a:blipFill>
                <a:blip r:embed="rId9"/>
                <a:stretch>
                  <a:fillRect t="-559" r="-5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39FD37A-691A-9B5F-B577-9D924756AC56}"/>
                  </a:ext>
                </a:extLst>
              </p:cNvPr>
              <p:cNvSpPr txBox="1"/>
              <p:nvPr/>
            </p:nvSpPr>
            <p:spPr>
              <a:xfrm rot="19594320">
                <a:off x="9593212" y="4202051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39FD37A-691A-9B5F-B577-9D924756A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9593212" y="4202051"/>
                <a:ext cx="1556020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57A378D-F0DD-8B37-F886-C47833C39049}"/>
                  </a:ext>
                </a:extLst>
              </p:cNvPr>
              <p:cNvSpPr txBox="1"/>
              <p:nvPr/>
            </p:nvSpPr>
            <p:spPr>
              <a:xfrm rot="19594320">
                <a:off x="10703047" y="4187798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57A378D-F0DD-8B37-F886-C47833C39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10703047" y="4187798"/>
                <a:ext cx="1556020" cy="276999"/>
              </a:xfrm>
              <a:prstGeom prst="rect">
                <a:avLst/>
              </a:prstGeom>
              <a:blipFill>
                <a:blip r:embed="rId11"/>
                <a:stretch>
                  <a:fillRect r="-4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Connector: Curved 70">
            <a:extLst>
              <a:ext uri="{FF2B5EF4-FFF2-40B4-BE49-F238E27FC236}">
                <a16:creationId xmlns:a16="http://schemas.microsoft.com/office/drawing/2014/main" id="{52812DA7-A27A-041B-779F-F767537347B1}"/>
              </a:ext>
            </a:extLst>
          </p:cNvPr>
          <p:cNvCxnSpPr>
            <a:cxnSpLocks/>
          </p:cNvCxnSpPr>
          <p:nvPr/>
        </p:nvCxnSpPr>
        <p:spPr>
          <a:xfrm rot="5400000">
            <a:off x="3107178" y="4480107"/>
            <a:ext cx="2009202" cy="1511673"/>
          </a:xfrm>
          <a:prstGeom prst="curvedConnector3">
            <a:avLst>
              <a:gd name="adj1" fmla="val 49531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CB20302-8223-11FC-5CEE-FB71F0EBDBAE}"/>
                  </a:ext>
                </a:extLst>
              </p:cNvPr>
              <p:cNvSpPr txBox="1"/>
              <p:nvPr/>
            </p:nvSpPr>
            <p:spPr>
              <a:xfrm>
                <a:off x="3671018" y="5242601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guilty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CB20302-8223-11FC-5CEE-FB71F0EBD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018" y="5242601"/>
                <a:ext cx="1079781" cy="523220"/>
              </a:xfrm>
              <a:prstGeom prst="rect">
                <a:avLst/>
              </a:prstGeom>
              <a:blipFill>
                <a:blip r:embed="rId12"/>
                <a:stretch>
                  <a:fillRect t="-2326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Connector: Curved 75">
            <a:extLst>
              <a:ext uri="{FF2B5EF4-FFF2-40B4-BE49-F238E27FC236}">
                <a16:creationId xmlns:a16="http://schemas.microsoft.com/office/drawing/2014/main" id="{DA25BB95-338E-DCB5-7DDF-DC13AE027B49}"/>
              </a:ext>
            </a:extLst>
          </p:cNvPr>
          <p:cNvCxnSpPr>
            <a:cxnSpLocks/>
          </p:cNvCxnSpPr>
          <p:nvPr/>
        </p:nvCxnSpPr>
        <p:spPr>
          <a:xfrm>
            <a:off x="4882551" y="4255918"/>
            <a:ext cx="1213449" cy="836359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546AE1B-C93A-6BAA-9E59-7BD720570A19}"/>
                  </a:ext>
                </a:extLst>
              </p:cNvPr>
              <p:cNvSpPr txBox="1"/>
              <p:nvPr/>
            </p:nvSpPr>
            <p:spPr>
              <a:xfrm>
                <a:off x="5477035" y="4128064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innocent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546AE1B-C93A-6BAA-9E59-7BD720570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035" y="4128064"/>
                <a:ext cx="1079781" cy="523220"/>
              </a:xfrm>
              <a:prstGeom prst="rect">
                <a:avLst/>
              </a:prstGeom>
              <a:blipFill>
                <a:blip r:embed="rId13"/>
                <a:stretch>
                  <a:fillRect t="-2326" r="-1124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6E9D230F-34CE-5BEE-5822-D56E6299688F}"/>
              </a:ext>
            </a:extLst>
          </p:cNvPr>
          <p:cNvSpPr txBox="1"/>
          <p:nvPr/>
        </p:nvSpPr>
        <p:spPr>
          <a:xfrm>
            <a:off x="7259021" y="4796114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4D205BE-AADC-A044-9D86-06DC8C0F7D0B}"/>
              </a:ext>
            </a:extLst>
          </p:cNvPr>
          <p:cNvSpPr txBox="1"/>
          <p:nvPr/>
        </p:nvSpPr>
        <p:spPr>
          <a:xfrm>
            <a:off x="6410387" y="4774980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39BA713-90A6-2BD5-EDDD-F7D689F694E2}"/>
              </a:ext>
            </a:extLst>
          </p:cNvPr>
          <p:cNvSpPr txBox="1"/>
          <p:nvPr/>
        </p:nvSpPr>
        <p:spPr>
          <a:xfrm>
            <a:off x="9888651" y="2804710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9A6FBA1-A63A-22F3-63AD-B63D997F7FEA}"/>
              </a:ext>
            </a:extLst>
          </p:cNvPr>
          <p:cNvSpPr txBox="1"/>
          <p:nvPr/>
        </p:nvSpPr>
        <p:spPr>
          <a:xfrm>
            <a:off x="9922612" y="663176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5CA6B18-A38E-A854-70DE-F2D55D87A2A1}"/>
              </a:ext>
            </a:extLst>
          </p:cNvPr>
          <p:cNvSpPr txBox="1"/>
          <p:nvPr/>
        </p:nvSpPr>
        <p:spPr>
          <a:xfrm>
            <a:off x="10936701" y="2808582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1545FBE-D913-51E6-CED5-EB10BB766F19}"/>
              </a:ext>
            </a:extLst>
          </p:cNvPr>
          <p:cNvSpPr txBox="1"/>
          <p:nvPr/>
        </p:nvSpPr>
        <p:spPr>
          <a:xfrm>
            <a:off x="10952944" y="651124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C462BDC-EC26-60C6-B2B2-DBDCF073FBCF}"/>
                  </a:ext>
                </a:extLst>
              </p:cNvPr>
              <p:cNvSpPr txBox="1"/>
              <p:nvPr/>
            </p:nvSpPr>
            <p:spPr>
              <a:xfrm rot="19594320">
                <a:off x="7229186" y="5290422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C462BDC-EC26-60C6-B2B2-DBDCF073F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229186" y="5290422"/>
                <a:ext cx="1556020" cy="276999"/>
              </a:xfrm>
              <a:prstGeom prst="rect">
                <a:avLst/>
              </a:prstGeom>
              <a:blipFill>
                <a:blip r:embed="rId14"/>
                <a:stretch>
                  <a:fillRect t="-559" r="-5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9336D30-64B0-3BD8-0BA4-8588C441C767}"/>
                  </a:ext>
                </a:extLst>
              </p:cNvPr>
              <p:cNvSpPr txBox="1"/>
              <p:nvPr/>
            </p:nvSpPr>
            <p:spPr>
              <a:xfrm rot="19594320">
                <a:off x="7286813" y="6068371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9336D30-64B0-3BD8-0BA4-8588C441C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286813" y="6068371"/>
                <a:ext cx="1556020" cy="276999"/>
              </a:xfrm>
              <a:prstGeom prst="rect">
                <a:avLst/>
              </a:prstGeom>
              <a:blipFill>
                <a:blip r:embed="rId15"/>
                <a:stretch>
                  <a:fillRect r="-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D7F8055-02C0-37CC-1BB0-A312B079F3D7}"/>
                  </a:ext>
                </a:extLst>
              </p:cNvPr>
              <p:cNvSpPr txBox="1"/>
              <p:nvPr/>
            </p:nvSpPr>
            <p:spPr>
              <a:xfrm rot="19594320">
                <a:off x="791684" y="6159742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D7F8055-02C0-37CC-1BB0-A312B079F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91684" y="6159742"/>
                <a:ext cx="1556020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B199696D-3ABA-2210-1E2D-75644EE9C059}"/>
                  </a:ext>
                </a:extLst>
              </p:cNvPr>
              <p:cNvSpPr txBox="1"/>
              <p:nvPr/>
            </p:nvSpPr>
            <p:spPr>
              <a:xfrm rot="19594320">
                <a:off x="784513" y="5391608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B199696D-3ABA-2210-1E2D-75644EE9C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84513" y="5391608"/>
                <a:ext cx="1556020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319737AF-BDC4-CB08-301E-5466436F75BB}"/>
              </a:ext>
            </a:extLst>
          </p:cNvPr>
          <p:cNvSpPr txBox="1"/>
          <p:nvPr/>
        </p:nvSpPr>
        <p:spPr>
          <a:xfrm>
            <a:off x="3736438" y="288735"/>
            <a:ext cx="4840754" cy="64633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For instance: Suppose we use the marginal conditional method to build this model, like this:</a:t>
            </a:r>
          </a:p>
        </p:txBody>
      </p:sp>
    </p:spTree>
    <p:extLst>
      <p:ext uri="{BB962C8B-B14F-4D97-AF65-F5344CB8AC3E}">
        <p14:creationId xmlns:p14="http://schemas.microsoft.com/office/powerpoint/2010/main" val="179092911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AAACE-FBFD-64E9-B063-8D5A5400C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5EA8A-06DC-0AC7-5D0F-792B45FE1746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F02FE2-54DB-46FC-E68E-74E679024E7D}"/>
              </a:ext>
            </a:extLst>
          </p:cNvPr>
          <p:cNvSpPr txBox="1"/>
          <p:nvPr/>
        </p:nvSpPr>
        <p:spPr>
          <a:xfrm rot="20574304">
            <a:off x="-76372" y="443068"/>
            <a:ext cx="3093167" cy="52322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Compute what?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213E99-9DFC-2555-2D77-C30740F8BAB1}"/>
              </a:ext>
            </a:extLst>
          </p:cNvPr>
          <p:cNvSpPr/>
          <p:nvPr/>
        </p:nvSpPr>
        <p:spPr>
          <a:xfrm>
            <a:off x="1183121" y="1792942"/>
            <a:ext cx="3684494" cy="2438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916641-5A8A-EFA6-42AD-9F7B3F47A58D}"/>
              </a:ext>
            </a:extLst>
          </p:cNvPr>
          <p:cNvSpPr txBox="1"/>
          <p:nvPr/>
        </p:nvSpPr>
        <p:spPr>
          <a:xfrm>
            <a:off x="1398272" y="997189"/>
            <a:ext cx="318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Is the defendant </a:t>
            </a:r>
            <a:r>
              <a:rPr lang="en-US" sz="1600" i="1" dirty="0"/>
              <a:t>actually</a:t>
            </a:r>
            <a:r>
              <a:rPr lang="en-US" sz="1600" dirty="0"/>
              <a:t> guilty?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20DF48-4933-F5C6-D665-2E57ADFB6603}"/>
              </a:ext>
            </a:extLst>
          </p:cNvPr>
          <p:cNvSpPr txBox="1"/>
          <p:nvPr/>
        </p:nvSpPr>
        <p:spPr>
          <a:xfrm>
            <a:off x="1183120" y="1353670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guilty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1B1A79-AB5B-2D1D-14C7-7DC242F6B0C3}"/>
              </a:ext>
            </a:extLst>
          </p:cNvPr>
          <p:cNvSpPr txBox="1"/>
          <p:nvPr/>
        </p:nvSpPr>
        <p:spPr>
          <a:xfrm>
            <a:off x="3025368" y="1353670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innocent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958B59-C390-3B86-76E5-88DDCFA48761}"/>
              </a:ext>
            </a:extLst>
          </p:cNvPr>
          <p:cNvCxnSpPr>
            <a:stCxn id="4" idx="0"/>
            <a:endCxn id="4" idx="2"/>
          </p:cNvCxnSpPr>
          <p:nvPr/>
        </p:nvCxnSpPr>
        <p:spPr>
          <a:xfrm>
            <a:off x="3025368" y="1792942"/>
            <a:ext cx="0" cy="2438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0FBF348-9DB0-D527-615D-148F0C409655}"/>
              </a:ext>
            </a:extLst>
          </p:cNvPr>
          <p:cNvSpPr txBox="1"/>
          <p:nvPr/>
        </p:nvSpPr>
        <p:spPr>
          <a:xfrm rot="16200000">
            <a:off x="-1104374" y="2944906"/>
            <a:ext cx="318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Will the defendant be acquitted?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BEB685-B884-7809-22F9-7DE9CD575E32}"/>
              </a:ext>
            </a:extLst>
          </p:cNvPr>
          <p:cNvSpPr txBox="1"/>
          <p:nvPr/>
        </p:nvSpPr>
        <p:spPr>
          <a:xfrm rot="16200000">
            <a:off x="112806" y="2232212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convicted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373DFA-B679-C038-F808-5C32ED355775}"/>
              </a:ext>
            </a:extLst>
          </p:cNvPr>
          <p:cNvSpPr txBox="1"/>
          <p:nvPr/>
        </p:nvSpPr>
        <p:spPr>
          <a:xfrm rot="16200000">
            <a:off x="112806" y="3355617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acquitted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6FCF53-558A-BC5A-8D8A-16057F4F9045}"/>
              </a:ext>
            </a:extLst>
          </p:cNvPr>
          <p:cNvCxnSpPr>
            <a:cxnSpLocks/>
            <a:stCxn id="4" idx="3"/>
            <a:endCxn id="4" idx="1"/>
          </p:cNvCxnSpPr>
          <p:nvPr/>
        </p:nvCxnSpPr>
        <p:spPr>
          <a:xfrm flipH="1">
            <a:off x="1183121" y="3012142"/>
            <a:ext cx="368449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2B08DAD-16DE-01F2-B621-F856E21E5F23}"/>
                  </a:ext>
                </a:extLst>
              </p:cNvPr>
              <p:cNvSpPr txBox="1"/>
              <p:nvPr/>
            </p:nvSpPr>
            <p:spPr>
              <a:xfrm rot="19594320">
                <a:off x="986118" y="2248335"/>
                <a:ext cx="229496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2B08DAD-16DE-01F2-B621-F856E21E5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986118" y="2248335"/>
                <a:ext cx="2294965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DD14E68-09BD-E811-E3A5-B40D8BF9D08B}"/>
                  </a:ext>
                </a:extLst>
              </p:cNvPr>
              <p:cNvSpPr txBox="1"/>
              <p:nvPr/>
            </p:nvSpPr>
            <p:spPr>
              <a:xfrm rot="19594320">
                <a:off x="2731138" y="2190250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DD14E68-09BD-E811-E3A5-B40D8BF9D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2731138" y="2190250"/>
                <a:ext cx="250581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38C21AB-EDE8-2127-8552-023C13A78DCB}"/>
                  </a:ext>
                </a:extLst>
              </p:cNvPr>
              <p:cNvSpPr txBox="1"/>
              <p:nvPr/>
            </p:nvSpPr>
            <p:spPr>
              <a:xfrm rot="19594320">
                <a:off x="880690" y="3438798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38C21AB-EDE8-2127-8552-023C13A78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880690" y="3438798"/>
                <a:ext cx="250581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F48C43C-EF82-E8EE-F82F-FB0B8F633B7F}"/>
                  </a:ext>
                </a:extLst>
              </p:cNvPr>
              <p:cNvSpPr txBox="1"/>
              <p:nvPr/>
            </p:nvSpPr>
            <p:spPr>
              <a:xfrm rot="19594320">
                <a:off x="2671152" y="3463374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F48C43C-EF82-E8EE-F82F-FB0B8F633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2671152" y="3463374"/>
                <a:ext cx="250581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F7B5D233-DAAB-0A0A-9BAD-E43C13BCDC98}"/>
              </a:ext>
            </a:extLst>
          </p:cNvPr>
          <p:cNvSpPr/>
          <p:nvPr/>
        </p:nvSpPr>
        <p:spPr>
          <a:xfrm>
            <a:off x="9789458" y="991550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DCE3148-92E9-6BDB-80EE-6C7CD1879DA0}"/>
              </a:ext>
            </a:extLst>
          </p:cNvPr>
          <p:cNvCxnSpPr>
            <a:cxnSpLocks/>
            <a:stCxn id="17" idx="3"/>
            <a:endCxn id="17" idx="1"/>
          </p:cNvCxnSpPr>
          <p:nvPr/>
        </p:nvCxnSpPr>
        <p:spPr>
          <a:xfrm flipH="1">
            <a:off x="9789458" y="1792942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9D32E2F-A439-AC7C-EFAE-7639F184611C}"/>
              </a:ext>
            </a:extLst>
          </p:cNvPr>
          <p:cNvCxnSpPr>
            <a:cxnSpLocks/>
            <a:stCxn id="17" idx="2"/>
            <a:endCxn id="17" idx="0"/>
          </p:cNvCxnSpPr>
          <p:nvPr/>
        </p:nvCxnSpPr>
        <p:spPr>
          <a:xfrm flipV="1">
            <a:off x="10911408" y="991550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D7EAC86-2A00-2670-F489-28B9B6FBC265}"/>
              </a:ext>
            </a:extLst>
          </p:cNvPr>
          <p:cNvSpPr txBox="1"/>
          <p:nvPr/>
        </p:nvSpPr>
        <p:spPr>
          <a:xfrm rot="16200000">
            <a:off x="9032788" y="121517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B4DE77-C4D9-69CD-C622-C1E05E2BF84A}"/>
              </a:ext>
            </a:extLst>
          </p:cNvPr>
          <p:cNvSpPr txBox="1"/>
          <p:nvPr/>
        </p:nvSpPr>
        <p:spPr>
          <a:xfrm rot="16200000">
            <a:off x="9032788" y="2018898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5415D0-66E3-3C3D-8995-A00155026BD2}"/>
              </a:ext>
            </a:extLst>
          </p:cNvPr>
          <p:cNvSpPr/>
          <p:nvPr/>
        </p:nvSpPr>
        <p:spPr>
          <a:xfrm>
            <a:off x="9789457" y="1790961"/>
            <a:ext cx="2243899" cy="801390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F5F266E-D9FC-4143-A3AF-B1E3D0883F90}"/>
              </a:ext>
            </a:extLst>
          </p:cNvPr>
          <p:cNvSpPr/>
          <p:nvPr/>
        </p:nvSpPr>
        <p:spPr>
          <a:xfrm>
            <a:off x="9814752" y="3134552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814160C-739E-BFDD-DD37-3FC8614A97B1}"/>
              </a:ext>
            </a:extLst>
          </p:cNvPr>
          <p:cNvCxnSpPr>
            <a:cxnSpLocks/>
            <a:stCxn id="29" idx="3"/>
            <a:endCxn id="29" idx="1"/>
          </p:cNvCxnSpPr>
          <p:nvPr/>
        </p:nvCxnSpPr>
        <p:spPr>
          <a:xfrm flipH="1">
            <a:off x="9814752" y="3935944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846CF5C-0E22-9790-8BD2-69DB934F13F1}"/>
              </a:ext>
            </a:extLst>
          </p:cNvPr>
          <p:cNvCxnSpPr>
            <a:cxnSpLocks/>
            <a:stCxn id="29" idx="2"/>
            <a:endCxn id="29" idx="0"/>
          </p:cNvCxnSpPr>
          <p:nvPr/>
        </p:nvCxnSpPr>
        <p:spPr>
          <a:xfrm flipV="1">
            <a:off x="10936702" y="3134552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5EABC98-7054-AFA5-70ED-520332929965}"/>
              </a:ext>
            </a:extLst>
          </p:cNvPr>
          <p:cNvSpPr txBox="1"/>
          <p:nvPr/>
        </p:nvSpPr>
        <p:spPr>
          <a:xfrm rot="16200000">
            <a:off x="9058082" y="3358172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879EAA-B7CC-A027-B2C0-858D773434EB}"/>
              </a:ext>
            </a:extLst>
          </p:cNvPr>
          <p:cNvSpPr txBox="1"/>
          <p:nvPr/>
        </p:nvSpPr>
        <p:spPr>
          <a:xfrm rot="16200000">
            <a:off x="9058082" y="416190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4FB1853-63F4-CD43-294B-D7935A28B8F3}"/>
              </a:ext>
            </a:extLst>
          </p:cNvPr>
          <p:cNvSpPr/>
          <p:nvPr/>
        </p:nvSpPr>
        <p:spPr>
          <a:xfrm>
            <a:off x="6228812" y="5142092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2F604D1-8E18-7F2D-0088-CEBC3D6B0DAB}"/>
              </a:ext>
            </a:extLst>
          </p:cNvPr>
          <p:cNvCxnSpPr>
            <a:cxnSpLocks/>
            <a:stCxn id="36" idx="3"/>
            <a:endCxn id="36" idx="1"/>
          </p:cNvCxnSpPr>
          <p:nvPr/>
        </p:nvCxnSpPr>
        <p:spPr>
          <a:xfrm flipH="1">
            <a:off x="6228812" y="5943484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713DA52-61FA-BE11-FF0A-41421030CE7B}"/>
              </a:ext>
            </a:extLst>
          </p:cNvPr>
          <p:cNvCxnSpPr>
            <a:cxnSpLocks/>
            <a:stCxn id="36" idx="2"/>
            <a:endCxn id="36" idx="0"/>
          </p:cNvCxnSpPr>
          <p:nvPr/>
        </p:nvCxnSpPr>
        <p:spPr>
          <a:xfrm flipV="1">
            <a:off x="7350762" y="5142092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13F3DE2-CA07-AC9B-A60E-91C198357C5D}"/>
              </a:ext>
            </a:extLst>
          </p:cNvPr>
          <p:cNvSpPr txBox="1"/>
          <p:nvPr/>
        </p:nvSpPr>
        <p:spPr>
          <a:xfrm rot="16200000">
            <a:off x="5472142" y="5365712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A263823-0D41-B944-F050-E9063A706B45}"/>
              </a:ext>
            </a:extLst>
          </p:cNvPr>
          <p:cNvSpPr txBox="1"/>
          <p:nvPr/>
        </p:nvSpPr>
        <p:spPr>
          <a:xfrm rot="16200000">
            <a:off x="5472142" y="616944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432F014-E79C-20C3-6A2D-8785EA9EF6BB}"/>
              </a:ext>
            </a:extLst>
          </p:cNvPr>
          <p:cNvSpPr/>
          <p:nvPr/>
        </p:nvSpPr>
        <p:spPr>
          <a:xfrm>
            <a:off x="1004158" y="5148886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B20395A-BE6E-93D2-755B-EB04962C4138}"/>
              </a:ext>
            </a:extLst>
          </p:cNvPr>
          <p:cNvCxnSpPr>
            <a:cxnSpLocks/>
            <a:stCxn id="43" idx="3"/>
            <a:endCxn id="43" idx="1"/>
          </p:cNvCxnSpPr>
          <p:nvPr/>
        </p:nvCxnSpPr>
        <p:spPr>
          <a:xfrm flipH="1">
            <a:off x="1004158" y="5950278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70DD79C-B4AB-2178-0FD1-42722B08E5DF}"/>
              </a:ext>
            </a:extLst>
          </p:cNvPr>
          <p:cNvCxnSpPr>
            <a:cxnSpLocks/>
            <a:stCxn id="43" idx="2"/>
            <a:endCxn id="43" idx="0"/>
          </p:cNvCxnSpPr>
          <p:nvPr/>
        </p:nvCxnSpPr>
        <p:spPr>
          <a:xfrm flipV="1">
            <a:off x="2126108" y="5148886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AD3F11DC-54C0-8BE5-599B-813F36979883}"/>
              </a:ext>
            </a:extLst>
          </p:cNvPr>
          <p:cNvSpPr txBox="1"/>
          <p:nvPr/>
        </p:nvSpPr>
        <p:spPr>
          <a:xfrm>
            <a:off x="1216444" y="4787191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D67CFF5-4321-FE9C-DF70-9CBE3189F1C6}"/>
              </a:ext>
            </a:extLst>
          </p:cNvPr>
          <p:cNvSpPr txBox="1"/>
          <p:nvPr/>
        </p:nvSpPr>
        <p:spPr>
          <a:xfrm>
            <a:off x="2112810" y="4800643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95DB8C5-8865-167C-CF4C-E98F9C776AED}"/>
              </a:ext>
            </a:extLst>
          </p:cNvPr>
          <p:cNvSpPr txBox="1"/>
          <p:nvPr/>
        </p:nvSpPr>
        <p:spPr>
          <a:xfrm rot="16200000">
            <a:off x="247488" y="5372506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0D9B76-CFCB-049E-0EAB-58C4AE68F4F9}"/>
              </a:ext>
            </a:extLst>
          </p:cNvPr>
          <p:cNvSpPr txBox="1"/>
          <p:nvPr/>
        </p:nvSpPr>
        <p:spPr>
          <a:xfrm rot="16200000">
            <a:off x="247488" y="6176234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1592EB6-4C60-3220-5D88-D0C9EDD92120}"/>
              </a:ext>
            </a:extLst>
          </p:cNvPr>
          <p:cNvSpPr/>
          <p:nvPr/>
        </p:nvSpPr>
        <p:spPr>
          <a:xfrm>
            <a:off x="9789456" y="3134554"/>
            <a:ext cx="2243899" cy="801390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11E630D-BB4D-C716-7916-E818DBEDDF8C}"/>
              </a:ext>
            </a:extLst>
          </p:cNvPr>
          <p:cNvSpPr/>
          <p:nvPr/>
        </p:nvSpPr>
        <p:spPr>
          <a:xfrm rot="5400000">
            <a:off x="5988435" y="5395366"/>
            <a:ext cx="1602782" cy="1121862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F90C351-9BEF-A110-A2B7-1EF2EB366D35}"/>
              </a:ext>
            </a:extLst>
          </p:cNvPr>
          <p:cNvSpPr/>
          <p:nvPr/>
        </p:nvSpPr>
        <p:spPr>
          <a:xfrm rot="5400000">
            <a:off x="1864273" y="5367919"/>
            <a:ext cx="1602782" cy="1121862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17E6AFE6-A505-4032-2194-ED1E05D69514}"/>
              </a:ext>
            </a:extLst>
          </p:cNvPr>
          <p:cNvCxnSpPr>
            <a:cxnSpLocks/>
          </p:cNvCxnSpPr>
          <p:nvPr/>
        </p:nvCxnSpPr>
        <p:spPr>
          <a:xfrm>
            <a:off x="4925310" y="1904550"/>
            <a:ext cx="4480946" cy="2059521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Curved 58">
            <a:extLst>
              <a:ext uri="{FF2B5EF4-FFF2-40B4-BE49-F238E27FC236}">
                <a16:creationId xmlns:a16="http://schemas.microsoft.com/office/drawing/2014/main" id="{8156C9AC-A1F5-191D-C3F2-B94CBADE253B}"/>
              </a:ext>
            </a:extLst>
          </p:cNvPr>
          <p:cNvCxnSpPr>
            <a:cxnSpLocks/>
          </p:cNvCxnSpPr>
          <p:nvPr/>
        </p:nvCxnSpPr>
        <p:spPr>
          <a:xfrm>
            <a:off x="4985951" y="1780130"/>
            <a:ext cx="4333657" cy="10831"/>
          </a:xfrm>
          <a:prstGeom prst="curvedConnector3">
            <a:avLst>
              <a:gd name="adj1" fmla="val 50435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6D3A08C-846D-AD63-6ABE-258923AB2126}"/>
              </a:ext>
            </a:extLst>
          </p:cNvPr>
          <p:cNvSpPr txBox="1"/>
          <p:nvPr/>
        </p:nvSpPr>
        <p:spPr>
          <a:xfrm>
            <a:off x="5987483" y="2463718"/>
            <a:ext cx="10797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acquitted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5B43BDA-9ED2-EBE5-B85D-3D99D46B852F}"/>
              </a:ext>
            </a:extLst>
          </p:cNvPr>
          <p:cNvSpPr txBox="1"/>
          <p:nvPr/>
        </p:nvSpPr>
        <p:spPr>
          <a:xfrm>
            <a:off x="6183127" y="1437863"/>
            <a:ext cx="10797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47326BD8-9F89-0BBF-F891-AF5D85C843B1}"/>
                  </a:ext>
                </a:extLst>
              </p:cNvPr>
              <p:cNvSpPr txBox="1"/>
              <p:nvPr/>
            </p:nvSpPr>
            <p:spPr>
              <a:xfrm rot="19594320">
                <a:off x="9593211" y="1227848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47326BD8-9F89-0BBF-F891-AF5D85C84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9593211" y="1227848"/>
                <a:ext cx="1556020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9391EC6-AD43-ACCE-75C6-9BD5FC1AA273}"/>
                  </a:ext>
                </a:extLst>
              </p:cNvPr>
              <p:cNvSpPr txBox="1"/>
              <p:nvPr/>
            </p:nvSpPr>
            <p:spPr>
              <a:xfrm rot="19594320">
                <a:off x="10679102" y="1241066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9391EC6-AD43-ACCE-75C6-9BD5FC1AA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10679102" y="1241066"/>
                <a:ext cx="1556020" cy="276999"/>
              </a:xfrm>
              <a:prstGeom prst="rect">
                <a:avLst/>
              </a:prstGeom>
              <a:blipFill>
                <a:blip r:embed="rId7"/>
                <a:stretch>
                  <a:fillRect t="-559" r="-5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E8CA312-7567-C45C-954A-079F5796684B}"/>
                  </a:ext>
                </a:extLst>
              </p:cNvPr>
              <p:cNvSpPr txBox="1"/>
              <p:nvPr/>
            </p:nvSpPr>
            <p:spPr>
              <a:xfrm rot="19594320">
                <a:off x="9593212" y="4202051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E8CA312-7567-C45C-954A-079F57966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9593212" y="4202051"/>
                <a:ext cx="155602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BB89B79-68D9-DA50-E9A7-AA65989C1E63}"/>
                  </a:ext>
                </a:extLst>
              </p:cNvPr>
              <p:cNvSpPr txBox="1"/>
              <p:nvPr/>
            </p:nvSpPr>
            <p:spPr>
              <a:xfrm rot="19594320">
                <a:off x="10703047" y="4187798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BB89B79-68D9-DA50-E9A7-AA65989C1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10703047" y="4187798"/>
                <a:ext cx="1556020" cy="276999"/>
              </a:xfrm>
              <a:prstGeom prst="rect">
                <a:avLst/>
              </a:prstGeom>
              <a:blipFill>
                <a:blip r:embed="rId9"/>
                <a:stretch>
                  <a:fillRect r="-4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Connector: Curved 70">
            <a:extLst>
              <a:ext uri="{FF2B5EF4-FFF2-40B4-BE49-F238E27FC236}">
                <a16:creationId xmlns:a16="http://schemas.microsoft.com/office/drawing/2014/main" id="{0FF18FA5-931E-EF55-2EAF-6DB0BA87D45D}"/>
              </a:ext>
            </a:extLst>
          </p:cNvPr>
          <p:cNvCxnSpPr>
            <a:cxnSpLocks/>
          </p:cNvCxnSpPr>
          <p:nvPr/>
        </p:nvCxnSpPr>
        <p:spPr>
          <a:xfrm rot="5400000">
            <a:off x="3107178" y="4480107"/>
            <a:ext cx="2009202" cy="1511673"/>
          </a:xfrm>
          <a:prstGeom prst="curvedConnector3">
            <a:avLst>
              <a:gd name="adj1" fmla="val 49531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3896AB8-3A00-97E1-C2BD-750EA740EB17}"/>
                  </a:ext>
                </a:extLst>
              </p:cNvPr>
              <p:cNvSpPr txBox="1"/>
              <p:nvPr/>
            </p:nvSpPr>
            <p:spPr>
              <a:xfrm>
                <a:off x="3671018" y="5242601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guilty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3896AB8-3A00-97E1-C2BD-750EA740E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018" y="5242601"/>
                <a:ext cx="1079781" cy="523220"/>
              </a:xfrm>
              <a:prstGeom prst="rect">
                <a:avLst/>
              </a:prstGeom>
              <a:blipFill>
                <a:blip r:embed="rId10"/>
                <a:stretch>
                  <a:fillRect t="-2326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Connector: Curved 75">
            <a:extLst>
              <a:ext uri="{FF2B5EF4-FFF2-40B4-BE49-F238E27FC236}">
                <a16:creationId xmlns:a16="http://schemas.microsoft.com/office/drawing/2014/main" id="{C1E665FF-9C9F-C72C-CC86-CF0A77DCBCA6}"/>
              </a:ext>
            </a:extLst>
          </p:cNvPr>
          <p:cNvCxnSpPr>
            <a:cxnSpLocks/>
          </p:cNvCxnSpPr>
          <p:nvPr/>
        </p:nvCxnSpPr>
        <p:spPr>
          <a:xfrm>
            <a:off x="4882551" y="4255918"/>
            <a:ext cx="1213449" cy="836359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9362A79B-0067-C411-0776-23F57751874C}"/>
                  </a:ext>
                </a:extLst>
              </p:cNvPr>
              <p:cNvSpPr txBox="1"/>
              <p:nvPr/>
            </p:nvSpPr>
            <p:spPr>
              <a:xfrm>
                <a:off x="5477035" y="4128064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innocent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9362A79B-0067-C411-0776-23F577518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035" y="4128064"/>
                <a:ext cx="1079781" cy="523220"/>
              </a:xfrm>
              <a:prstGeom prst="rect">
                <a:avLst/>
              </a:prstGeom>
              <a:blipFill>
                <a:blip r:embed="rId11"/>
                <a:stretch>
                  <a:fillRect t="-2326" r="-1124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3B8C94D6-568F-36F6-7EFB-3F308FC6077E}"/>
              </a:ext>
            </a:extLst>
          </p:cNvPr>
          <p:cNvSpPr txBox="1"/>
          <p:nvPr/>
        </p:nvSpPr>
        <p:spPr>
          <a:xfrm>
            <a:off x="7259021" y="4796114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685F839-4493-82F0-4901-909ACFDF10E1}"/>
              </a:ext>
            </a:extLst>
          </p:cNvPr>
          <p:cNvSpPr txBox="1"/>
          <p:nvPr/>
        </p:nvSpPr>
        <p:spPr>
          <a:xfrm>
            <a:off x="6410387" y="4774980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9E26DB7-B086-F100-30C8-66AE2856C4D8}"/>
              </a:ext>
            </a:extLst>
          </p:cNvPr>
          <p:cNvSpPr txBox="1"/>
          <p:nvPr/>
        </p:nvSpPr>
        <p:spPr>
          <a:xfrm>
            <a:off x="9888651" y="2804710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4A13AFD-D9C4-0B8F-2436-3E2081505498}"/>
              </a:ext>
            </a:extLst>
          </p:cNvPr>
          <p:cNvSpPr txBox="1"/>
          <p:nvPr/>
        </p:nvSpPr>
        <p:spPr>
          <a:xfrm>
            <a:off x="9922612" y="663176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BBB8935-45A0-B863-99C6-20AACB80D369}"/>
              </a:ext>
            </a:extLst>
          </p:cNvPr>
          <p:cNvSpPr txBox="1"/>
          <p:nvPr/>
        </p:nvSpPr>
        <p:spPr>
          <a:xfrm>
            <a:off x="10936701" y="2808582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D53F7FB-4EA9-A9F0-CA62-859D295DB086}"/>
              </a:ext>
            </a:extLst>
          </p:cNvPr>
          <p:cNvSpPr txBox="1"/>
          <p:nvPr/>
        </p:nvSpPr>
        <p:spPr>
          <a:xfrm>
            <a:off x="10952944" y="651124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A15A501F-741C-5AB3-EF71-ED3480387611}"/>
                  </a:ext>
                </a:extLst>
              </p:cNvPr>
              <p:cNvSpPr txBox="1"/>
              <p:nvPr/>
            </p:nvSpPr>
            <p:spPr>
              <a:xfrm rot="19594320">
                <a:off x="7229186" y="5290422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A15A501F-741C-5AB3-EF71-ED3480387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229186" y="5290422"/>
                <a:ext cx="1556020" cy="276999"/>
              </a:xfrm>
              <a:prstGeom prst="rect">
                <a:avLst/>
              </a:prstGeom>
              <a:blipFill>
                <a:blip r:embed="rId12"/>
                <a:stretch>
                  <a:fillRect t="-559" r="-5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D60053C9-F6D0-7CF5-CC4D-B2F81771E21B}"/>
                  </a:ext>
                </a:extLst>
              </p:cNvPr>
              <p:cNvSpPr txBox="1"/>
              <p:nvPr/>
            </p:nvSpPr>
            <p:spPr>
              <a:xfrm rot="19594320">
                <a:off x="7286813" y="6068371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D60053C9-F6D0-7CF5-CC4D-B2F81771E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286813" y="6068371"/>
                <a:ext cx="1556020" cy="276999"/>
              </a:xfrm>
              <a:prstGeom prst="rect">
                <a:avLst/>
              </a:prstGeom>
              <a:blipFill>
                <a:blip r:embed="rId13"/>
                <a:stretch>
                  <a:fillRect r="-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B6BB27D-45A2-8F79-5C8C-EB916A79AE85}"/>
                  </a:ext>
                </a:extLst>
              </p:cNvPr>
              <p:cNvSpPr txBox="1"/>
              <p:nvPr/>
            </p:nvSpPr>
            <p:spPr>
              <a:xfrm rot="19594320">
                <a:off x="791684" y="6159742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B6BB27D-45A2-8F79-5C8C-EB916A79A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91684" y="6159742"/>
                <a:ext cx="1556020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FF44521-4D12-9A00-9D70-65431B3522A7}"/>
                  </a:ext>
                </a:extLst>
              </p:cNvPr>
              <p:cNvSpPr txBox="1"/>
              <p:nvPr/>
            </p:nvSpPr>
            <p:spPr>
              <a:xfrm rot="19594320">
                <a:off x="784513" y="5391608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FF44521-4D12-9A00-9D70-65431B352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84513" y="5391608"/>
                <a:ext cx="1556020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2662F64B-81B1-F1E7-2CC0-BB78B9A16B29}"/>
              </a:ext>
            </a:extLst>
          </p:cNvPr>
          <p:cNvSpPr txBox="1"/>
          <p:nvPr/>
        </p:nvSpPr>
        <p:spPr>
          <a:xfrm>
            <a:off x="3736438" y="288735"/>
            <a:ext cx="4840754" cy="64633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For instance: Suppose we use the marginal conditional method to build this model, like this: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1047CD4-3D95-10C9-0335-C2929A5C9DEE}"/>
                  </a:ext>
                </a:extLst>
              </p:cNvPr>
              <p:cNvSpPr txBox="1"/>
              <p:nvPr/>
            </p:nvSpPr>
            <p:spPr>
              <a:xfrm>
                <a:off x="7339214" y="1353670"/>
                <a:ext cx="459715" cy="429990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1047CD4-3D95-10C9-0335-C2929A5C9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9214" y="1353670"/>
                <a:ext cx="459715" cy="42999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8357C25-D998-0D32-3D99-25ACCF6A9EA9}"/>
                  </a:ext>
                </a:extLst>
              </p:cNvPr>
              <p:cNvSpPr txBox="1"/>
              <p:nvPr/>
            </p:nvSpPr>
            <p:spPr>
              <a:xfrm>
                <a:off x="6560968" y="2813857"/>
                <a:ext cx="459715" cy="415627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8357C25-D998-0D32-3D99-25ACCF6A9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968" y="2813857"/>
                <a:ext cx="459715" cy="415627"/>
              </a:xfrm>
              <a:prstGeom prst="rect">
                <a:avLst/>
              </a:prstGeom>
              <a:blipFill>
                <a:blip r:embed="rId17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077547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29C27-145C-7A67-8F8D-0823884B9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BD45D-0834-6E38-8ED6-25556713E48F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2BA9D4-12F5-E590-3615-218EF67C18F6}"/>
              </a:ext>
            </a:extLst>
          </p:cNvPr>
          <p:cNvSpPr txBox="1"/>
          <p:nvPr/>
        </p:nvSpPr>
        <p:spPr>
          <a:xfrm rot="20574304">
            <a:off x="-76372" y="443068"/>
            <a:ext cx="3093167" cy="52322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Compute what?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0A7418-E2DF-F9D0-D596-B898F07FCC53}"/>
              </a:ext>
            </a:extLst>
          </p:cNvPr>
          <p:cNvSpPr/>
          <p:nvPr/>
        </p:nvSpPr>
        <p:spPr>
          <a:xfrm>
            <a:off x="1183121" y="1792942"/>
            <a:ext cx="3684494" cy="2438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0C0605-C93C-8B71-A545-8EF00468BF0D}"/>
              </a:ext>
            </a:extLst>
          </p:cNvPr>
          <p:cNvSpPr txBox="1"/>
          <p:nvPr/>
        </p:nvSpPr>
        <p:spPr>
          <a:xfrm>
            <a:off x="1398272" y="997189"/>
            <a:ext cx="318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Is the defendant </a:t>
            </a:r>
            <a:r>
              <a:rPr lang="en-US" sz="1600" i="1" dirty="0"/>
              <a:t>actually</a:t>
            </a:r>
            <a:r>
              <a:rPr lang="en-US" sz="1600" dirty="0"/>
              <a:t> guilty?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B708CB-0041-AA6B-A7B8-75D1E04FD843}"/>
              </a:ext>
            </a:extLst>
          </p:cNvPr>
          <p:cNvSpPr txBox="1"/>
          <p:nvPr/>
        </p:nvSpPr>
        <p:spPr>
          <a:xfrm>
            <a:off x="1183120" y="1353670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guilty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99A2CE-0696-0E34-0F7E-115459BC0A3B}"/>
              </a:ext>
            </a:extLst>
          </p:cNvPr>
          <p:cNvSpPr txBox="1"/>
          <p:nvPr/>
        </p:nvSpPr>
        <p:spPr>
          <a:xfrm>
            <a:off x="3025368" y="1353670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innocent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66D8E2-645C-32E9-F1AD-254F4FD3B3D4}"/>
              </a:ext>
            </a:extLst>
          </p:cNvPr>
          <p:cNvCxnSpPr>
            <a:stCxn id="4" idx="0"/>
            <a:endCxn id="4" idx="2"/>
          </p:cNvCxnSpPr>
          <p:nvPr/>
        </p:nvCxnSpPr>
        <p:spPr>
          <a:xfrm>
            <a:off x="3025368" y="1792942"/>
            <a:ext cx="0" cy="2438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FF6C8C8-AD9A-B6BE-20AF-D862BB859E53}"/>
              </a:ext>
            </a:extLst>
          </p:cNvPr>
          <p:cNvSpPr txBox="1"/>
          <p:nvPr/>
        </p:nvSpPr>
        <p:spPr>
          <a:xfrm rot="16200000">
            <a:off x="-1104374" y="2944906"/>
            <a:ext cx="318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Will the defendant be acquitted?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0BCED7-09D6-EF1D-BF6C-3734377A83A7}"/>
              </a:ext>
            </a:extLst>
          </p:cNvPr>
          <p:cNvSpPr txBox="1"/>
          <p:nvPr/>
        </p:nvSpPr>
        <p:spPr>
          <a:xfrm rot="16200000">
            <a:off x="112806" y="2232212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convicted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B01BA8-F6A1-90F5-29B1-626A6D18A839}"/>
              </a:ext>
            </a:extLst>
          </p:cNvPr>
          <p:cNvSpPr txBox="1"/>
          <p:nvPr/>
        </p:nvSpPr>
        <p:spPr>
          <a:xfrm rot="16200000">
            <a:off x="112806" y="3355617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acquitted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3136C3-DE04-BD18-B464-FCEB67DDBCB5}"/>
              </a:ext>
            </a:extLst>
          </p:cNvPr>
          <p:cNvCxnSpPr>
            <a:cxnSpLocks/>
            <a:stCxn id="4" idx="3"/>
            <a:endCxn id="4" idx="1"/>
          </p:cNvCxnSpPr>
          <p:nvPr/>
        </p:nvCxnSpPr>
        <p:spPr>
          <a:xfrm flipH="1">
            <a:off x="1183121" y="3012142"/>
            <a:ext cx="368449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51854B0-3D8C-5318-9266-03341A0D8EB0}"/>
                  </a:ext>
                </a:extLst>
              </p:cNvPr>
              <p:cNvSpPr txBox="1"/>
              <p:nvPr/>
            </p:nvSpPr>
            <p:spPr>
              <a:xfrm rot="19594320">
                <a:off x="986118" y="2248335"/>
                <a:ext cx="229496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51854B0-3D8C-5318-9266-03341A0D8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986118" y="2248335"/>
                <a:ext cx="2294965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7573D4A-49B2-6E72-95C4-C7A47CB6C2F0}"/>
                  </a:ext>
                </a:extLst>
              </p:cNvPr>
              <p:cNvSpPr txBox="1"/>
              <p:nvPr/>
            </p:nvSpPr>
            <p:spPr>
              <a:xfrm rot="19594320">
                <a:off x="2731138" y="2190250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7573D4A-49B2-6E72-95C4-C7A47CB6C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2731138" y="2190250"/>
                <a:ext cx="250581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C82DF03-8312-1573-EE47-804EE36D979E}"/>
                  </a:ext>
                </a:extLst>
              </p:cNvPr>
              <p:cNvSpPr txBox="1"/>
              <p:nvPr/>
            </p:nvSpPr>
            <p:spPr>
              <a:xfrm rot="19594320">
                <a:off x="880690" y="3438798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C82DF03-8312-1573-EE47-804EE36D9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880690" y="3438798"/>
                <a:ext cx="250581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7B83FBD-ADC8-C3E5-F688-A9AD6C74EB04}"/>
                  </a:ext>
                </a:extLst>
              </p:cNvPr>
              <p:cNvSpPr txBox="1"/>
              <p:nvPr/>
            </p:nvSpPr>
            <p:spPr>
              <a:xfrm rot="19594320">
                <a:off x="2671152" y="3463374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7B83FBD-ADC8-C3E5-F688-A9AD6C74E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2671152" y="3463374"/>
                <a:ext cx="250581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BD8B7810-EA3F-98F3-AFDA-3CE6F7334E77}"/>
              </a:ext>
            </a:extLst>
          </p:cNvPr>
          <p:cNvSpPr/>
          <p:nvPr/>
        </p:nvSpPr>
        <p:spPr>
          <a:xfrm>
            <a:off x="9789458" y="991550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6335321-B7D3-0497-4485-7ACC19CCF2CB}"/>
              </a:ext>
            </a:extLst>
          </p:cNvPr>
          <p:cNvCxnSpPr>
            <a:cxnSpLocks/>
            <a:stCxn id="17" idx="3"/>
            <a:endCxn id="17" idx="1"/>
          </p:cNvCxnSpPr>
          <p:nvPr/>
        </p:nvCxnSpPr>
        <p:spPr>
          <a:xfrm flipH="1">
            <a:off x="9789458" y="1792942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259A2D5-E0C6-3B20-EBCC-DAE9BE2FF886}"/>
              </a:ext>
            </a:extLst>
          </p:cNvPr>
          <p:cNvCxnSpPr>
            <a:cxnSpLocks/>
            <a:stCxn id="17" idx="2"/>
            <a:endCxn id="17" idx="0"/>
          </p:cNvCxnSpPr>
          <p:nvPr/>
        </p:nvCxnSpPr>
        <p:spPr>
          <a:xfrm flipV="1">
            <a:off x="10911408" y="991550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85BBEEA-6575-252F-363E-91357B920468}"/>
              </a:ext>
            </a:extLst>
          </p:cNvPr>
          <p:cNvSpPr txBox="1"/>
          <p:nvPr/>
        </p:nvSpPr>
        <p:spPr>
          <a:xfrm rot="16200000">
            <a:off x="9032788" y="121517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C84338-D613-C7B0-3913-7ABBC000C284}"/>
              </a:ext>
            </a:extLst>
          </p:cNvPr>
          <p:cNvSpPr txBox="1"/>
          <p:nvPr/>
        </p:nvSpPr>
        <p:spPr>
          <a:xfrm rot="16200000">
            <a:off x="9032788" y="2018898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DFD2811-FFC0-EE32-DE13-3B174F5FC912}"/>
              </a:ext>
            </a:extLst>
          </p:cNvPr>
          <p:cNvSpPr/>
          <p:nvPr/>
        </p:nvSpPr>
        <p:spPr>
          <a:xfrm>
            <a:off x="9789457" y="1790961"/>
            <a:ext cx="2243899" cy="801390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CF755ED-2087-ECF8-65A9-B5B815B47056}"/>
              </a:ext>
            </a:extLst>
          </p:cNvPr>
          <p:cNvSpPr/>
          <p:nvPr/>
        </p:nvSpPr>
        <p:spPr>
          <a:xfrm>
            <a:off x="9814752" y="3134552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A232A64-6777-384E-397E-08D2C74AF66E}"/>
              </a:ext>
            </a:extLst>
          </p:cNvPr>
          <p:cNvCxnSpPr>
            <a:cxnSpLocks/>
            <a:stCxn id="29" idx="3"/>
            <a:endCxn id="29" idx="1"/>
          </p:cNvCxnSpPr>
          <p:nvPr/>
        </p:nvCxnSpPr>
        <p:spPr>
          <a:xfrm flipH="1">
            <a:off x="9814752" y="3935944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68036D4-D815-3660-0B1D-01BB068657C1}"/>
              </a:ext>
            </a:extLst>
          </p:cNvPr>
          <p:cNvCxnSpPr>
            <a:cxnSpLocks/>
            <a:stCxn id="29" idx="2"/>
            <a:endCxn id="29" idx="0"/>
          </p:cNvCxnSpPr>
          <p:nvPr/>
        </p:nvCxnSpPr>
        <p:spPr>
          <a:xfrm flipV="1">
            <a:off x="10936702" y="3134552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0294387-91AA-442E-E014-78A8FD827C30}"/>
              </a:ext>
            </a:extLst>
          </p:cNvPr>
          <p:cNvSpPr txBox="1"/>
          <p:nvPr/>
        </p:nvSpPr>
        <p:spPr>
          <a:xfrm rot="16200000">
            <a:off x="9058082" y="3358172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8497E9-7AB4-6837-E7AB-01FE6420F252}"/>
              </a:ext>
            </a:extLst>
          </p:cNvPr>
          <p:cNvSpPr txBox="1"/>
          <p:nvPr/>
        </p:nvSpPr>
        <p:spPr>
          <a:xfrm rot="16200000">
            <a:off x="9058082" y="416190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7D045BF-DE7D-7846-5F92-AEF2708E96A3}"/>
              </a:ext>
            </a:extLst>
          </p:cNvPr>
          <p:cNvSpPr/>
          <p:nvPr/>
        </p:nvSpPr>
        <p:spPr>
          <a:xfrm>
            <a:off x="6228812" y="5142092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A85B82A-39DD-DBD4-6934-3026D197F3CD}"/>
              </a:ext>
            </a:extLst>
          </p:cNvPr>
          <p:cNvCxnSpPr>
            <a:cxnSpLocks/>
            <a:stCxn id="36" idx="3"/>
            <a:endCxn id="36" idx="1"/>
          </p:cNvCxnSpPr>
          <p:nvPr/>
        </p:nvCxnSpPr>
        <p:spPr>
          <a:xfrm flipH="1">
            <a:off x="6228812" y="5943484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9C97278-DE02-EF0D-DA14-4E91261D5BC3}"/>
              </a:ext>
            </a:extLst>
          </p:cNvPr>
          <p:cNvCxnSpPr>
            <a:cxnSpLocks/>
            <a:stCxn id="36" idx="2"/>
            <a:endCxn id="36" idx="0"/>
          </p:cNvCxnSpPr>
          <p:nvPr/>
        </p:nvCxnSpPr>
        <p:spPr>
          <a:xfrm flipV="1">
            <a:off x="7350762" y="5142092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89AAD53-F88A-A3D0-4C6C-BE4FA44698F6}"/>
              </a:ext>
            </a:extLst>
          </p:cNvPr>
          <p:cNvSpPr txBox="1"/>
          <p:nvPr/>
        </p:nvSpPr>
        <p:spPr>
          <a:xfrm rot="16200000">
            <a:off x="5472142" y="5365712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010B83-A37E-0783-CDAC-89FE801B1CCF}"/>
              </a:ext>
            </a:extLst>
          </p:cNvPr>
          <p:cNvSpPr txBox="1"/>
          <p:nvPr/>
        </p:nvSpPr>
        <p:spPr>
          <a:xfrm rot="16200000">
            <a:off x="5472142" y="616944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E8BC7B8-2414-E2AB-71B5-DA8FF6D4942F}"/>
              </a:ext>
            </a:extLst>
          </p:cNvPr>
          <p:cNvSpPr/>
          <p:nvPr/>
        </p:nvSpPr>
        <p:spPr>
          <a:xfrm>
            <a:off x="1004158" y="5148886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90D4AB0-FB12-5A9B-E388-69B5727C281C}"/>
              </a:ext>
            </a:extLst>
          </p:cNvPr>
          <p:cNvCxnSpPr>
            <a:cxnSpLocks/>
            <a:stCxn id="43" idx="3"/>
            <a:endCxn id="43" idx="1"/>
          </p:cNvCxnSpPr>
          <p:nvPr/>
        </p:nvCxnSpPr>
        <p:spPr>
          <a:xfrm flipH="1">
            <a:off x="1004158" y="5950278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BE2075B-4BB2-056A-BE8E-1D374E84BD79}"/>
              </a:ext>
            </a:extLst>
          </p:cNvPr>
          <p:cNvCxnSpPr>
            <a:cxnSpLocks/>
            <a:stCxn id="43" idx="2"/>
            <a:endCxn id="43" idx="0"/>
          </p:cNvCxnSpPr>
          <p:nvPr/>
        </p:nvCxnSpPr>
        <p:spPr>
          <a:xfrm flipV="1">
            <a:off x="2126108" y="5148886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8E386E2-B095-2448-96EC-43191B5A781F}"/>
              </a:ext>
            </a:extLst>
          </p:cNvPr>
          <p:cNvSpPr txBox="1"/>
          <p:nvPr/>
        </p:nvSpPr>
        <p:spPr>
          <a:xfrm>
            <a:off x="1216444" y="4787191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323B035-56A9-EEBC-C8B7-7E3488439C28}"/>
              </a:ext>
            </a:extLst>
          </p:cNvPr>
          <p:cNvSpPr txBox="1"/>
          <p:nvPr/>
        </p:nvSpPr>
        <p:spPr>
          <a:xfrm>
            <a:off x="2112810" y="4800643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7AE6977-8F22-E20A-EC03-F42E37DB95DE}"/>
              </a:ext>
            </a:extLst>
          </p:cNvPr>
          <p:cNvSpPr txBox="1"/>
          <p:nvPr/>
        </p:nvSpPr>
        <p:spPr>
          <a:xfrm rot="16200000">
            <a:off x="247488" y="5372506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252BD0-CC90-85F7-9E71-803943F8B8B3}"/>
              </a:ext>
            </a:extLst>
          </p:cNvPr>
          <p:cNvSpPr txBox="1"/>
          <p:nvPr/>
        </p:nvSpPr>
        <p:spPr>
          <a:xfrm rot="16200000">
            <a:off x="247488" y="6176234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E1907F1-2DAF-ABB0-2B24-A60EE4B38B9C}"/>
              </a:ext>
            </a:extLst>
          </p:cNvPr>
          <p:cNvSpPr/>
          <p:nvPr/>
        </p:nvSpPr>
        <p:spPr>
          <a:xfrm>
            <a:off x="9789456" y="3134554"/>
            <a:ext cx="2243899" cy="801390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83C96A-470F-6B34-12F7-4B2EB2E4DBE5}"/>
              </a:ext>
            </a:extLst>
          </p:cNvPr>
          <p:cNvSpPr/>
          <p:nvPr/>
        </p:nvSpPr>
        <p:spPr>
          <a:xfrm rot="5400000">
            <a:off x="5988435" y="5395366"/>
            <a:ext cx="1602782" cy="1121862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6EC96D4-4972-D30E-0A31-A7ADBC60948C}"/>
              </a:ext>
            </a:extLst>
          </p:cNvPr>
          <p:cNvSpPr/>
          <p:nvPr/>
        </p:nvSpPr>
        <p:spPr>
          <a:xfrm rot="5400000">
            <a:off x="1864273" y="5367919"/>
            <a:ext cx="1602782" cy="1121862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A2B0F69A-1292-54DB-35E1-50EA5EF7851A}"/>
              </a:ext>
            </a:extLst>
          </p:cNvPr>
          <p:cNvCxnSpPr>
            <a:cxnSpLocks/>
          </p:cNvCxnSpPr>
          <p:nvPr/>
        </p:nvCxnSpPr>
        <p:spPr>
          <a:xfrm>
            <a:off x="4925310" y="1904550"/>
            <a:ext cx="4480946" cy="2059521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Curved 58">
            <a:extLst>
              <a:ext uri="{FF2B5EF4-FFF2-40B4-BE49-F238E27FC236}">
                <a16:creationId xmlns:a16="http://schemas.microsoft.com/office/drawing/2014/main" id="{D779F8DA-BDEE-9228-78DF-4A7452B1CF0B}"/>
              </a:ext>
            </a:extLst>
          </p:cNvPr>
          <p:cNvCxnSpPr>
            <a:cxnSpLocks/>
          </p:cNvCxnSpPr>
          <p:nvPr/>
        </p:nvCxnSpPr>
        <p:spPr>
          <a:xfrm>
            <a:off x="4985951" y="1780130"/>
            <a:ext cx="4333657" cy="10831"/>
          </a:xfrm>
          <a:prstGeom prst="curvedConnector3">
            <a:avLst>
              <a:gd name="adj1" fmla="val 50435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E29CF0ED-8349-3115-89E4-281EFBB14F24}"/>
              </a:ext>
            </a:extLst>
          </p:cNvPr>
          <p:cNvSpPr txBox="1"/>
          <p:nvPr/>
        </p:nvSpPr>
        <p:spPr>
          <a:xfrm>
            <a:off x="5987483" y="2463718"/>
            <a:ext cx="10797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acquitted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6B0879-D9A3-013F-14FE-AFD56BC96F29}"/>
              </a:ext>
            </a:extLst>
          </p:cNvPr>
          <p:cNvSpPr txBox="1"/>
          <p:nvPr/>
        </p:nvSpPr>
        <p:spPr>
          <a:xfrm>
            <a:off x="6183127" y="1437863"/>
            <a:ext cx="10797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A053E6E-5031-983E-9C04-1F4B556489D5}"/>
                  </a:ext>
                </a:extLst>
              </p:cNvPr>
              <p:cNvSpPr txBox="1"/>
              <p:nvPr/>
            </p:nvSpPr>
            <p:spPr>
              <a:xfrm rot="19594320">
                <a:off x="9593212" y="4202051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A053E6E-5031-983E-9C04-1F4B55648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9593212" y="4202051"/>
                <a:ext cx="1556020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2A4258D-74C4-BC7D-EFED-3A4F55027A73}"/>
                  </a:ext>
                </a:extLst>
              </p:cNvPr>
              <p:cNvSpPr txBox="1"/>
              <p:nvPr/>
            </p:nvSpPr>
            <p:spPr>
              <a:xfrm rot="19594320">
                <a:off x="10703047" y="4187798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2A4258D-74C4-BC7D-EFED-3A4F55027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10703047" y="4187798"/>
                <a:ext cx="1556020" cy="276999"/>
              </a:xfrm>
              <a:prstGeom prst="rect">
                <a:avLst/>
              </a:prstGeom>
              <a:blipFill>
                <a:blip r:embed="rId7"/>
                <a:stretch>
                  <a:fillRect r="-4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Connector: Curved 70">
            <a:extLst>
              <a:ext uri="{FF2B5EF4-FFF2-40B4-BE49-F238E27FC236}">
                <a16:creationId xmlns:a16="http://schemas.microsoft.com/office/drawing/2014/main" id="{EF541C58-98E7-8DF0-6829-932B0D2C47C8}"/>
              </a:ext>
            </a:extLst>
          </p:cNvPr>
          <p:cNvCxnSpPr>
            <a:cxnSpLocks/>
          </p:cNvCxnSpPr>
          <p:nvPr/>
        </p:nvCxnSpPr>
        <p:spPr>
          <a:xfrm rot="5400000">
            <a:off x="3107178" y="4480107"/>
            <a:ext cx="2009202" cy="1511673"/>
          </a:xfrm>
          <a:prstGeom prst="curvedConnector3">
            <a:avLst>
              <a:gd name="adj1" fmla="val 49531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1578A80-4465-DFE0-2D2D-53EAEBCC9939}"/>
                  </a:ext>
                </a:extLst>
              </p:cNvPr>
              <p:cNvSpPr txBox="1"/>
              <p:nvPr/>
            </p:nvSpPr>
            <p:spPr>
              <a:xfrm>
                <a:off x="3671018" y="5242601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guilty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1578A80-4465-DFE0-2D2D-53EAEBCC9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018" y="5242601"/>
                <a:ext cx="1079781" cy="523220"/>
              </a:xfrm>
              <a:prstGeom prst="rect">
                <a:avLst/>
              </a:prstGeom>
              <a:blipFill>
                <a:blip r:embed="rId8"/>
                <a:stretch>
                  <a:fillRect t="-2326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Connector: Curved 75">
            <a:extLst>
              <a:ext uri="{FF2B5EF4-FFF2-40B4-BE49-F238E27FC236}">
                <a16:creationId xmlns:a16="http://schemas.microsoft.com/office/drawing/2014/main" id="{CC6229BA-3B8B-2751-3D9F-C38D716AB087}"/>
              </a:ext>
            </a:extLst>
          </p:cNvPr>
          <p:cNvCxnSpPr>
            <a:cxnSpLocks/>
          </p:cNvCxnSpPr>
          <p:nvPr/>
        </p:nvCxnSpPr>
        <p:spPr>
          <a:xfrm>
            <a:off x="4882551" y="4255918"/>
            <a:ext cx="1213449" cy="836359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DD23FFB-4E97-2DC3-2166-157CD25B620E}"/>
                  </a:ext>
                </a:extLst>
              </p:cNvPr>
              <p:cNvSpPr txBox="1"/>
              <p:nvPr/>
            </p:nvSpPr>
            <p:spPr>
              <a:xfrm>
                <a:off x="5477035" y="4128064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innocent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DD23FFB-4E97-2DC3-2166-157CD25B6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035" y="4128064"/>
                <a:ext cx="1079781" cy="523220"/>
              </a:xfrm>
              <a:prstGeom prst="rect">
                <a:avLst/>
              </a:prstGeom>
              <a:blipFill>
                <a:blip r:embed="rId9"/>
                <a:stretch>
                  <a:fillRect t="-2326" r="-1124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64126EA6-B100-BC8B-B28E-1E8990BD21EB}"/>
              </a:ext>
            </a:extLst>
          </p:cNvPr>
          <p:cNvSpPr txBox="1"/>
          <p:nvPr/>
        </p:nvSpPr>
        <p:spPr>
          <a:xfrm>
            <a:off x="7259021" y="4796114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8C7BF79-37E4-4EAA-06B9-87C8127ECD32}"/>
              </a:ext>
            </a:extLst>
          </p:cNvPr>
          <p:cNvSpPr txBox="1"/>
          <p:nvPr/>
        </p:nvSpPr>
        <p:spPr>
          <a:xfrm>
            <a:off x="6410387" y="4774980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D3C879B-E650-ADF2-91DE-139B1100AB89}"/>
              </a:ext>
            </a:extLst>
          </p:cNvPr>
          <p:cNvSpPr txBox="1"/>
          <p:nvPr/>
        </p:nvSpPr>
        <p:spPr>
          <a:xfrm>
            <a:off x="9888651" y="2804710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7E4282E-8C09-BDA8-1B3F-EA5479BA0A43}"/>
              </a:ext>
            </a:extLst>
          </p:cNvPr>
          <p:cNvSpPr txBox="1"/>
          <p:nvPr/>
        </p:nvSpPr>
        <p:spPr>
          <a:xfrm>
            <a:off x="9922612" y="663176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8D8E1DB-FF7E-EF39-474C-4CDE89D09AB4}"/>
              </a:ext>
            </a:extLst>
          </p:cNvPr>
          <p:cNvSpPr txBox="1"/>
          <p:nvPr/>
        </p:nvSpPr>
        <p:spPr>
          <a:xfrm>
            <a:off x="10936701" y="2808582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42710B8-3BEB-9259-F441-47E9B50EE95C}"/>
              </a:ext>
            </a:extLst>
          </p:cNvPr>
          <p:cNvSpPr txBox="1"/>
          <p:nvPr/>
        </p:nvSpPr>
        <p:spPr>
          <a:xfrm>
            <a:off x="10952944" y="651124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AB4348C9-D669-4D5C-FFD3-FAA0743C3036}"/>
                  </a:ext>
                </a:extLst>
              </p:cNvPr>
              <p:cNvSpPr txBox="1"/>
              <p:nvPr/>
            </p:nvSpPr>
            <p:spPr>
              <a:xfrm rot="19594320">
                <a:off x="7229186" y="5290422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AB4348C9-D669-4D5C-FFD3-FAA0743C3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229186" y="5290422"/>
                <a:ext cx="1556020" cy="276999"/>
              </a:xfrm>
              <a:prstGeom prst="rect">
                <a:avLst/>
              </a:prstGeom>
              <a:blipFill>
                <a:blip r:embed="rId10"/>
                <a:stretch>
                  <a:fillRect t="-559" r="-5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618DD84-F60C-6151-97CF-49F16D13F4D8}"/>
                  </a:ext>
                </a:extLst>
              </p:cNvPr>
              <p:cNvSpPr txBox="1"/>
              <p:nvPr/>
            </p:nvSpPr>
            <p:spPr>
              <a:xfrm rot="19594320">
                <a:off x="7286813" y="6068371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618DD84-F60C-6151-97CF-49F16D13F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286813" y="6068371"/>
                <a:ext cx="1556020" cy="276999"/>
              </a:xfrm>
              <a:prstGeom prst="rect">
                <a:avLst/>
              </a:prstGeom>
              <a:blipFill>
                <a:blip r:embed="rId11"/>
                <a:stretch>
                  <a:fillRect r="-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A00AADB-6216-0834-BE6E-165B14695756}"/>
                  </a:ext>
                </a:extLst>
              </p:cNvPr>
              <p:cNvSpPr txBox="1"/>
              <p:nvPr/>
            </p:nvSpPr>
            <p:spPr>
              <a:xfrm rot="19594320">
                <a:off x="791684" y="6159742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A00AADB-6216-0834-BE6E-165B14695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91684" y="6159742"/>
                <a:ext cx="1556020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868EE09-2AB4-3CB5-235D-1B97751857F6}"/>
                  </a:ext>
                </a:extLst>
              </p:cNvPr>
              <p:cNvSpPr txBox="1"/>
              <p:nvPr/>
            </p:nvSpPr>
            <p:spPr>
              <a:xfrm rot="19594320">
                <a:off x="784513" y="5391608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868EE09-2AB4-3CB5-235D-1B9775185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84513" y="5391608"/>
                <a:ext cx="1556020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CF9DBC9D-6FFD-7487-A0A0-282766FCE063}"/>
              </a:ext>
            </a:extLst>
          </p:cNvPr>
          <p:cNvSpPr txBox="1"/>
          <p:nvPr/>
        </p:nvSpPr>
        <p:spPr>
          <a:xfrm>
            <a:off x="3736438" y="288735"/>
            <a:ext cx="4840754" cy="64633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For instance: Suppose we use the marginal conditional method to build this model, like this: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C4ECF54-5742-2857-452C-F3116DD19336}"/>
                  </a:ext>
                </a:extLst>
              </p:cNvPr>
              <p:cNvSpPr txBox="1"/>
              <p:nvPr/>
            </p:nvSpPr>
            <p:spPr>
              <a:xfrm>
                <a:off x="7339214" y="1353670"/>
                <a:ext cx="459715" cy="429990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C4ECF54-5742-2857-452C-F3116DD19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9214" y="1353670"/>
                <a:ext cx="459715" cy="42999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32943AC-49E3-8566-1824-A89827B2A0DA}"/>
                  </a:ext>
                </a:extLst>
              </p:cNvPr>
              <p:cNvSpPr txBox="1"/>
              <p:nvPr/>
            </p:nvSpPr>
            <p:spPr>
              <a:xfrm>
                <a:off x="6560968" y="2813857"/>
                <a:ext cx="459715" cy="415627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32943AC-49E3-8566-1824-A89827B2A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968" y="2813857"/>
                <a:ext cx="459715" cy="415627"/>
              </a:xfrm>
              <a:prstGeom prst="rect">
                <a:avLst/>
              </a:prstGeom>
              <a:blipFill>
                <a:blip r:embed="rId15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CDFAD34-6703-7041-CAD3-C98E79C57F69}"/>
                  </a:ext>
                </a:extLst>
              </p:cNvPr>
              <p:cNvSpPr txBox="1"/>
              <p:nvPr/>
            </p:nvSpPr>
            <p:spPr>
              <a:xfrm>
                <a:off x="10070634" y="1148717"/>
                <a:ext cx="459715" cy="41735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CDFAD34-6703-7041-CAD3-C98E79C57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634" y="1148717"/>
                <a:ext cx="459715" cy="417358"/>
              </a:xfrm>
              <a:prstGeom prst="rect">
                <a:avLst/>
              </a:prstGeom>
              <a:blipFill>
                <a:blip r:embed="rId16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3359140-4BDD-D9BB-8DD1-D387C03F16AD}"/>
                  </a:ext>
                </a:extLst>
              </p:cNvPr>
              <p:cNvSpPr txBox="1"/>
              <p:nvPr/>
            </p:nvSpPr>
            <p:spPr>
              <a:xfrm>
                <a:off x="11251199" y="1150796"/>
                <a:ext cx="459715" cy="428964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3359140-4BDD-D9BB-8DD1-D387C03F1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1199" y="1150796"/>
                <a:ext cx="459715" cy="42896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964135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EC596-D762-4C50-0753-C87B78649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5EDC4-E2DE-4F0D-E3E6-DB123A2C46CE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77A011-DA87-AD2D-5BBE-B76C9B318323}"/>
              </a:ext>
            </a:extLst>
          </p:cNvPr>
          <p:cNvSpPr txBox="1"/>
          <p:nvPr/>
        </p:nvSpPr>
        <p:spPr>
          <a:xfrm rot="20574304">
            <a:off x="-76372" y="443068"/>
            <a:ext cx="3093167" cy="52322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Compute what?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F7834C-4179-4E4E-8086-F649239E1406}"/>
              </a:ext>
            </a:extLst>
          </p:cNvPr>
          <p:cNvSpPr/>
          <p:nvPr/>
        </p:nvSpPr>
        <p:spPr>
          <a:xfrm>
            <a:off x="1183121" y="1792942"/>
            <a:ext cx="3684494" cy="2438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1299A5-3695-D7BB-EB08-652F16934E1B}"/>
              </a:ext>
            </a:extLst>
          </p:cNvPr>
          <p:cNvSpPr txBox="1"/>
          <p:nvPr/>
        </p:nvSpPr>
        <p:spPr>
          <a:xfrm>
            <a:off x="1398272" y="997189"/>
            <a:ext cx="318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Is the defendant </a:t>
            </a:r>
            <a:r>
              <a:rPr lang="en-US" sz="1600" i="1" dirty="0"/>
              <a:t>actually</a:t>
            </a:r>
            <a:r>
              <a:rPr lang="en-US" sz="1600" dirty="0"/>
              <a:t> guilty?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16815A-55DB-3D31-5833-0ED6E76499E9}"/>
              </a:ext>
            </a:extLst>
          </p:cNvPr>
          <p:cNvSpPr txBox="1"/>
          <p:nvPr/>
        </p:nvSpPr>
        <p:spPr>
          <a:xfrm>
            <a:off x="1183120" y="1353670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guilty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1163A2-C0D5-A556-6EDE-842AB7A0EAD1}"/>
              </a:ext>
            </a:extLst>
          </p:cNvPr>
          <p:cNvSpPr txBox="1"/>
          <p:nvPr/>
        </p:nvSpPr>
        <p:spPr>
          <a:xfrm>
            <a:off x="3025368" y="1353670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innocent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422A8D7-97CD-62CA-F18E-070D576B9357}"/>
              </a:ext>
            </a:extLst>
          </p:cNvPr>
          <p:cNvCxnSpPr>
            <a:stCxn id="4" idx="0"/>
            <a:endCxn id="4" idx="2"/>
          </p:cNvCxnSpPr>
          <p:nvPr/>
        </p:nvCxnSpPr>
        <p:spPr>
          <a:xfrm>
            <a:off x="3025368" y="1792942"/>
            <a:ext cx="0" cy="2438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B55D99A-C40D-08ED-B2EE-1193DE06C1D0}"/>
              </a:ext>
            </a:extLst>
          </p:cNvPr>
          <p:cNvSpPr txBox="1"/>
          <p:nvPr/>
        </p:nvSpPr>
        <p:spPr>
          <a:xfrm rot="16200000">
            <a:off x="-1104374" y="2944906"/>
            <a:ext cx="318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Will the defendant be acquitted?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1DC5BA-D076-B0FC-0AC1-C1C41189C574}"/>
              </a:ext>
            </a:extLst>
          </p:cNvPr>
          <p:cNvSpPr txBox="1"/>
          <p:nvPr/>
        </p:nvSpPr>
        <p:spPr>
          <a:xfrm rot="16200000">
            <a:off x="112806" y="2232212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convicted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0DAA58-D631-6BB1-E77B-0118D837CF25}"/>
              </a:ext>
            </a:extLst>
          </p:cNvPr>
          <p:cNvSpPr txBox="1"/>
          <p:nvPr/>
        </p:nvSpPr>
        <p:spPr>
          <a:xfrm rot="16200000">
            <a:off x="112806" y="3355617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acquitted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6B37F1-7575-980B-8AE5-CA23C2DB9FB4}"/>
              </a:ext>
            </a:extLst>
          </p:cNvPr>
          <p:cNvCxnSpPr>
            <a:cxnSpLocks/>
            <a:stCxn id="4" idx="3"/>
            <a:endCxn id="4" idx="1"/>
          </p:cNvCxnSpPr>
          <p:nvPr/>
        </p:nvCxnSpPr>
        <p:spPr>
          <a:xfrm flipH="1">
            <a:off x="1183121" y="3012142"/>
            <a:ext cx="368449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C0F6DE2-5C3D-04A4-AD7C-7E0C678C11A2}"/>
                  </a:ext>
                </a:extLst>
              </p:cNvPr>
              <p:cNvSpPr txBox="1"/>
              <p:nvPr/>
            </p:nvSpPr>
            <p:spPr>
              <a:xfrm rot="19594320">
                <a:off x="986118" y="2248335"/>
                <a:ext cx="229496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C0F6DE2-5C3D-04A4-AD7C-7E0C678C1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986118" y="2248335"/>
                <a:ext cx="2294965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79D906A-3972-5D37-DD42-6739D1D4A750}"/>
                  </a:ext>
                </a:extLst>
              </p:cNvPr>
              <p:cNvSpPr txBox="1"/>
              <p:nvPr/>
            </p:nvSpPr>
            <p:spPr>
              <a:xfrm rot="19594320">
                <a:off x="2731138" y="2190250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79D906A-3972-5D37-DD42-6739D1D4A7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2731138" y="2190250"/>
                <a:ext cx="250581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5DC54BB-0C9A-3515-BD37-0FF7CC39078D}"/>
                  </a:ext>
                </a:extLst>
              </p:cNvPr>
              <p:cNvSpPr txBox="1"/>
              <p:nvPr/>
            </p:nvSpPr>
            <p:spPr>
              <a:xfrm rot="19594320">
                <a:off x="880690" y="3438798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5DC54BB-0C9A-3515-BD37-0FF7CC390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880690" y="3438798"/>
                <a:ext cx="250581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A40A5E-37C4-B0DD-77E0-50B028C81CDB}"/>
                  </a:ext>
                </a:extLst>
              </p:cNvPr>
              <p:cNvSpPr txBox="1"/>
              <p:nvPr/>
            </p:nvSpPr>
            <p:spPr>
              <a:xfrm rot="19594320">
                <a:off x="2671152" y="3463374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A40A5E-37C4-B0DD-77E0-50B028C81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2671152" y="3463374"/>
                <a:ext cx="250581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8D91B502-09A1-DEFC-46FD-F5ED703B6700}"/>
              </a:ext>
            </a:extLst>
          </p:cNvPr>
          <p:cNvSpPr/>
          <p:nvPr/>
        </p:nvSpPr>
        <p:spPr>
          <a:xfrm>
            <a:off x="9789458" y="991550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EBD38B2-4308-9D81-69B2-3EBBF947C40F}"/>
              </a:ext>
            </a:extLst>
          </p:cNvPr>
          <p:cNvCxnSpPr>
            <a:cxnSpLocks/>
            <a:stCxn id="17" idx="3"/>
            <a:endCxn id="17" idx="1"/>
          </p:cNvCxnSpPr>
          <p:nvPr/>
        </p:nvCxnSpPr>
        <p:spPr>
          <a:xfrm flipH="1">
            <a:off x="9789458" y="1792942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3253FCB-755E-9310-BDF8-AFC199520CCB}"/>
              </a:ext>
            </a:extLst>
          </p:cNvPr>
          <p:cNvCxnSpPr>
            <a:cxnSpLocks/>
            <a:stCxn id="17" idx="2"/>
            <a:endCxn id="17" idx="0"/>
          </p:cNvCxnSpPr>
          <p:nvPr/>
        </p:nvCxnSpPr>
        <p:spPr>
          <a:xfrm flipV="1">
            <a:off x="10911408" y="991550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2843C65-1301-704D-2E8C-F2CBA3CBECD7}"/>
              </a:ext>
            </a:extLst>
          </p:cNvPr>
          <p:cNvSpPr txBox="1"/>
          <p:nvPr/>
        </p:nvSpPr>
        <p:spPr>
          <a:xfrm rot="16200000">
            <a:off x="9032788" y="121517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E8F483-2499-0D92-AA01-FED9DFE1D7EE}"/>
              </a:ext>
            </a:extLst>
          </p:cNvPr>
          <p:cNvSpPr txBox="1"/>
          <p:nvPr/>
        </p:nvSpPr>
        <p:spPr>
          <a:xfrm rot="16200000">
            <a:off x="9032788" y="2018898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542FA77-171A-9A6C-529A-8B89C20BA331}"/>
              </a:ext>
            </a:extLst>
          </p:cNvPr>
          <p:cNvSpPr/>
          <p:nvPr/>
        </p:nvSpPr>
        <p:spPr>
          <a:xfrm>
            <a:off x="9789457" y="1790961"/>
            <a:ext cx="2243899" cy="801390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2CDE39-2EFF-1B6F-7C3E-FB0522C13E37}"/>
              </a:ext>
            </a:extLst>
          </p:cNvPr>
          <p:cNvSpPr/>
          <p:nvPr/>
        </p:nvSpPr>
        <p:spPr>
          <a:xfrm>
            <a:off x="9814752" y="3134552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F4D27E7-FB80-EEC1-36C0-11F67CA34456}"/>
              </a:ext>
            </a:extLst>
          </p:cNvPr>
          <p:cNvCxnSpPr>
            <a:cxnSpLocks/>
            <a:stCxn id="29" idx="3"/>
            <a:endCxn id="29" idx="1"/>
          </p:cNvCxnSpPr>
          <p:nvPr/>
        </p:nvCxnSpPr>
        <p:spPr>
          <a:xfrm flipH="1">
            <a:off x="9814752" y="3935944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7FE9935-6D2A-7C64-E113-7E4ABFF47D9C}"/>
              </a:ext>
            </a:extLst>
          </p:cNvPr>
          <p:cNvCxnSpPr>
            <a:cxnSpLocks/>
            <a:stCxn id="29" idx="2"/>
            <a:endCxn id="29" idx="0"/>
          </p:cNvCxnSpPr>
          <p:nvPr/>
        </p:nvCxnSpPr>
        <p:spPr>
          <a:xfrm flipV="1">
            <a:off x="10936702" y="3134552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83D2710-8D8A-79E0-6089-1EDC3254C667}"/>
              </a:ext>
            </a:extLst>
          </p:cNvPr>
          <p:cNvSpPr txBox="1"/>
          <p:nvPr/>
        </p:nvSpPr>
        <p:spPr>
          <a:xfrm rot="16200000">
            <a:off x="9058082" y="3358172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10F530-2299-9FC3-3CA1-98D2543D49F0}"/>
              </a:ext>
            </a:extLst>
          </p:cNvPr>
          <p:cNvSpPr txBox="1"/>
          <p:nvPr/>
        </p:nvSpPr>
        <p:spPr>
          <a:xfrm rot="16200000">
            <a:off x="9058082" y="416190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B0ACF7D-C9D7-D190-8AC8-DE47B77AAE1B}"/>
              </a:ext>
            </a:extLst>
          </p:cNvPr>
          <p:cNvSpPr/>
          <p:nvPr/>
        </p:nvSpPr>
        <p:spPr>
          <a:xfrm>
            <a:off x="6228812" y="5142092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66D7156-9EF1-F3C0-CB41-A434FD7B1C24}"/>
              </a:ext>
            </a:extLst>
          </p:cNvPr>
          <p:cNvCxnSpPr>
            <a:cxnSpLocks/>
            <a:stCxn id="36" idx="3"/>
            <a:endCxn id="36" idx="1"/>
          </p:cNvCxnSpPr>
          <p:nvPr/>
        </p:nvCxnSpPr>
        <p:spPr>
          <a:xfrm flipH="1">
            <a:off x="6228812" y="5943484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E0CC929-2DDB-3B68-F0FB-2ABC6BE6F6DF}"/>
              </a:ext>
            </a:extLst>
          </p:cNvPr>
          <p:cNvCxnSpPr>
            <a:cxnSpLocks/>
            <a:stCxn id="36" idx="2"/>
            <a:endCxn id="36" idx="0"/>
          </p:cNvCxnSpPr>
          <p:nvPr/>
        </p:nvCxnSpPr>
        <p:spPr>
          <a:xfrm flipV="1">
            <a:off x="7350762" y="5142092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3B5236B-CC2F-C7F1-B716-2F4F650BCB51}"/>
              </a:ext>
            </a:extLst>
          </p:cNvPr>
          <p:cNvSpPr txBox="1"/>
          <p:nvPr/>
        </p:nvSpPr>
        <p:spPr>
          <a:xfrm rot="16200000">
            <a:off x="5472142" y="5365712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0299A0-6B60-9BA9-3A51-6C9582099BC8}"/>
              </a:ext>
            </a:extLst>
          </p:cNvPr>
          <p:cNvSpPr txBox="1"/>
          <p:nvPr/>
        </p:nvSpPr>
        <p:spPr>
          <a:xfrm rot="16200000">
            <a:off x="5472142" y="616944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67E040B-992F-CF9F-DB51-73F84FB685AB}"/>
              </a:ext>
            </a:extLst>
          </p:cNvPr>
          <p:cNvSpPr/>
          <p:nvPr/>
        </p:nvSpPr>
        <p:spPr>
          <a:xfrm>
            <a:off x="1004158" y="5148886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2123F91-18F7-28E9-C8FF-6CB522AF5E72}"/>
              </a:ext>
            </a:extLst>
          </p:cNvPr>
          <p:cNvCxnSpPr>
            <a:cxnSpLocks/>
            <a:stCxn id="43" idx="3"/>
            <a:endCxn id="43" idx="1"/>
          </p:cNvCxnSpPr>
          <p:nvPr/>
        </p:nvCxnSpPr>
        <p:spPr>
          <a:xfrm flipH="1">
            <a:off x="1004158" y="5950278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6FE5AF8-ED15-C2F8-FD62-EE2F09EB0C2C}"/>
              </a:ext>
            </a:extLst>
          </p:cNvPr>
          <p:cNvCxnSpPr>
            <a:cxnSpLocks/>
            <a:stCxn id="43" idx="2"/>
            <a:endCxn id="43" idx="0"/>
          </p:cNvCxnSpPr>
          <p:nvPr/>
        </p:nvCxnSpPr>
        <p:spPr>
          <a:xfrm flipV="1">
            <a:off x="2126108" y="5148886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C324E43-A768-6CA3-21B6-73E40C66081E}"/>
              </a:ext>
            </a:extLst>
          </p:cNvPr>
          <p:cNvSpPr txBox="1"/>
          <p:nvPr/>
        </p:nvSpPr>
        <p:spPr>
          <a:xfrm>
            <a:off x="1216444" y="4787191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057015-5C03-567E-2401-CDB779F57766}"/>
              </a:ext>
            </a:extLst>
          </p:cNvPr>
          <p:cNvSpPr txBox="1"/>
          <p:nvPr/>
        </p:nvSpPr>
        <p:spPr>
          <a:xfrm>
            <a:off x="2112810" y="4800643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ADA6A33-08A3-DF89-050A-AD0CF11A3087}"/>
              </a:ext>
            </a:extLst>
          </p:cNvPr>
          <p:cNvSpPr txBox="1"/>
          <p:nvPr/>
        </p:nvSpPr>
        <p:spPr>
          <a:xfrm rot="16200000">
            <a:off x="247488" y="5372506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5B68A97-83BE-CACA-B40B-9D7EF0F8CF07}"/>
              </a:ext>
            </a:extLst>
          </p:cNvPr>
          <p:cNvSpPr txBox="1"/>
          <p:nvPr/>
        </p:nvSpPr>
        <p:spPr>
          <a:xfrm rot="16200000">
            <a:off x="247488" y="6176234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2A4810F-AD61-BC19-074F-202AB5FF203F}"/>
              </a:ext>
            </a:extLst>
          </p:cNvPr>
          <p:cNvSpPr/>
          <p:nvPr/>
        </p:nvSpPr>
        <p:spPr>
          <a:xfrm>
            <a:off x="9789456" y="3134554"/>
            <a:ext cx="2243899" cy="801390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2CFD636-551C-55B4-6174-AFDCC75A8F6B}"/>
              </a:ext>
            </a:extLst>
          </p:cNvPr>
          <p:cNvSpPr/>
          <p:nvPr/>
        </p:nvSpPr>
        <p:spPr>
          <a:xfrm rot="5400000">
            <a:off x="5988435" y="5395366"/>
            <a:ext cx="1602782" cy="1121862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1BBB805-5961-0CF8-5FDF-7D45F7251077}"/>
              </a:ext>
            </a:extLst>
          </p:cNvPr>
          <p:cNvSpPr/>
          <p:nvPr/>
        </p:nvSpPr>
        <p:spPr>
          <a:xfrm rot="5400000">
            <a:off x="1864273" y="5367919"/>
            <a:ext cx="1602782" cy="1121862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41D301BB-E9DB-34E2-F2DB-6A43E483B871}"/>
              </a:ext>
            </a:extLst>
          </p:cNvPr>
          <p:cNvCxnSpPr>
            <a:cxnSpLocks/>
          </p:cNvCxnSpPr>
          <p:nvPr/>
        </p:nvCxnSpPr>
        <p:spPr>
          <a:xfrm>
            <a:off x="4925310" y="1904550"/>
            <a:ext cx="4480946" cy="2059521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Curved 58">
            <a:extLst>
              <a:ext uri="{FF2B5EF4-FFF2-40B4-BE49-F238E27FC236}">
                <a16:creationId xmlns:a16="http://schemas.microsoft.com/office/drawing/2014/main" id="{C7ECEF13-019F-1959-34FE-BB1C13FF8503}"/>
              </a:ext>
            </a:extLst>
          </p:cNvPr>
          <p:cNvCxnSpPr>
            <a:cxnSpLocks/>
          </p:cNvCxnSpPr>
          <p:nvPr/>
        </p:nvCxnSpPr>
        <p:spPr>
          <a:xfrm>
            <a:off x="4985951" y="1780130"/>
            <a:ext cx="4333657" cy="10831"/>
          </a:xfrm>
          <a:prstGeom prst="curvedConnector3">
            <a:avLst>
              <a:gd name="adj1" fmla="val 50435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E0000190-85B1-D855-8A03-69058CBA006A}"/>
              </a:ext>
            </a:extLst>
          </p:cNvPr>
          <p:cNvSpPr txBox="1"/>
          <p:nvPr/>
        </p:nvSpPr>
        <p:spPr>
          <a:xfrm>
            <a:off x="5987483" y="2463718"/>
            <a:ext cx="10797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acquitted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4FBD5FF-19EC-E685-6F15-EF0CD96619FE}"/>
              </a:ext>
            </a:extLst>
          </p:cNvPr>
          <p:cNvSpPr txBox="1"/>
          <p:nvPr/>
        </p:nvSpPr>
        <p:spPr>
          <a:xfrm>
            <a:off x="6183127" y="1437863"/>
            <a:ext cx="10797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convicted</a:t>
            </a:r>
          </a:p>
        </p:txBody>
      </p:sp>
      <p:cxnSp>
        <p:nvCxnSpPr>
          <p:cNvPr id="71" name="Connector: Curved 70">
            <a:extLst>
              <a:ext uri="{FF2B5EF4-FFF2-40B4-BE49-F238E27FC236}">
                <a16:creationId xmlns:a16="http://schemas.microsoft.com/office/drawing/2014/main" id="{DB90297F-A83A-E848-E5E3-E1348B9BE431}"/>
              </a:ext>
            </a:extLst>
          </p:cNvPr>
          <p:cNvCxnSpPr>
            <a:cxnSpLocks/>
          </p:cNvCxnSpPr>
          <p:nvPr/>
        </p:nvCxnSpPr>
        <p:spPr>
          <a:xfrm rot="5400000">
            <a:off x="3107178" y="4480107"/>
            <a:ext cx="2009202" cy="1511673"/>
          </a:xfrm>
          <a:prstGeom prst="curvedConnector3">
            <a:avLst>
              <a:gd name="adj1" fmla="val 49531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4444AD5-5F76-FB00-A6C6-8AEF489CCA7E}"/>
                  </a:ext>
                </a:extLst>
              </p:cNvPr>
              <p:cNvSpPr txBox="1"/>
              <p:nvPr/>
            </p:nvSpPr>
            <p:spPr>
              <a:xfrm>
                <a:off x="3671018" y="5242601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guilty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4444AD5-5F76-FB00-A6C6-8AEF489CC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018" y="5242601"/>
                <a:ext cx="1079781" cy="523220"/>
              </a:xfrm>
              <a:prstGeom prst="rect">
                <a:avLst/>
              </a:prstGeom>
              <a:blipFill>
                <a:blip r:embed="rId6"/>
                <a:stretch>
                  <a:fillRect t="-2326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Connector: Curved 75">
            <a:extLst>
              <a:ext uri="{FF2B5EF4-FFF2-40B4-BE49-F238E27FC236}">
                <a16:creationId xmlns:a16="http://schemas.microsoft.com/office/drawing/2014/main" id="{59F63B8F-86AD-4E1A-CD4E-1DE8A6809736}"/>
              </a:ext>
            </a:extLst>
          </p:cNvPr>
          <p:cNvCxnSpPr>
            <a:cxnSpLocks/>
          </p:cNvCxnSpPr>
          <p:nvPr/>
        </p:nvCxnSpPr>
        <p:spPr>
          <a:xfrm>
            <a:off x="4882551" y="4255918"/>
            <a:ext cx="1213449" cy="836359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B5F59C5-202E-B09C-FB4B-CA2C58BC3D16}"/>
                  </a:ext>
                </a:extLst>
              </p:cNvPr>
              <p:cNvSpPr txBox="1"/>
              <p:nvPr/>
            </p:nvSpPr>
            <p:spPr>
              <a:xfrm>
                <a:off x="5477035" y="4128064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innocent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B5F59C5-202E-B09C-FB4B-CA2C58BC3D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035" y="4128064"/>
                <a:ext cx="1079781" cy="523220"/>
              </a:xfrm>
              <a:prstGeom prst="rect">
                <a:avLst/>
              </a:prstGeom>
              <a:blipFill>
                <a:blip r:embed="rId7"/>
                <a:stretch>
                  <a:fillRect t="-2326" r="-1124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AB9969D4-2119-8413-BF6C-046C29417F3D}"/>
              </a:ext>
            </a:extLst>
          </p:cNvPr>
          <p:cNvSpPr txBox="1"/>
          <p:nvPr/>
        </p:nvSpPr>
        <p:spPr>
          <a:xfrm>
            <a:off x="7259021" y="4796114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6CD99BF-FCAC-1DFA-9162-595DB87E4A80}"/>
              </a:ext>
            </a:extLst>
          </p:cNvPr>
          <p:cNvSpPr txBox="1"/>
          <p:nvPr/>
        </p:nvSpPr>
        <p:spPr>
          <a:xfrm>
            <a:off x="6410387" y="4774980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B5400C7-085D-D863-A367-A28D116D5B3F}"/>
              </a:ext>
            </a:extLst>
          </p:cNvPr>
          <p:cNvSpPr txBox="1"/>
          <p:nvPr/>
        </p:nvSpPr>
        <p:spPr>
          <a:xfrm>
            <a:off x="9888651" y="2804710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0F09484-8E0B-8A1C-16CB-0EA4D3987135}"/>
              </a:ext>
            </a:extLst>
          </p:cNvPr>
          <p:cNvSpPr txBox="1"/>
          <p:nvPr/>
        </p:nvSpPr>
        <p:spPr>
          <a:xfrm>
            <a:off x="9922612" y="663176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183F95F-77C7-1CE8-4A81-C1D10D81001C}"/>
              </a:ext>
            </a:extLst>
          </p:cNvPr>
          <p:cNvSpPr txBox="1"/>
          <p:nvPr/>
        </p:nvSpPr>
        <p:spPr>
          <a:xfrm>
            <a:off x="10936701" y="2808582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791F26A-C3F6-7C5E-5143-47E33819D178}"/>
              </a:ext>
            </a:extLst>
          </p:cNvPr>
          <p:cNvSpPr txBox="1"/>
          <p:nvPr/>
        </p:nvSpPr>
        <p:spPr>
          <a:xfrm>
            <a:off x="10952944" y="651124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B930BA5-6C05-E6FE-923E-282721142C80}"/>
                  </a:ext>
                </a:extLst>
              </p:cNvPr>
              <p:cNvSpPr txBox="1"/>
              <p:nvPr/>
            </p:nvSpPr>
            <p:spPr>
              <a:xfrm rot="19594320">
                <a:off x="7229186" y="5290422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B930BA5-6C05-E6FE-923E-282721142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229186" y="5290422"/>
                <a:ext cx="1556020" cy="276999"/>
              </a:xfrm>
              <a:prstGeom prst="rect">
                <a:avLst/>
              </a:prstGeom>
              <a:blipFill>
                <a:blip r:embed="rId8"/>
                <a:stretch>
                  <a:fillRect t="-559" r="-5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8B3A40E-E554-A9AC-5121-D8DB6DDDC5B0}"/>
                  </a:ext>
                </a:extLst>
              </p:cNvPr>
              <p:cNvSpPr txBox="1"/>
              <p:nvPr/>
            </p:nvSpPr>
            <p:spPr>
              <a:xfrm rot="19594320">
                <a:off x="7286813" y="6068371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8B3A40E-E554-A9AC-5121-D8DB6DDDC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286813" y="6068371"/>
                <a:ext cx="1556020" cy="276999"/>
              </a:xfrm>
              <a:prstGeom prst="rect">
                <a:avLst/>
              </a:prstGeom>
              <a:blipFill>
                <a:blip r:embed="rId9"/>
                <a:stretch>
                  <a:fillRect r="-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48B372F-D22C-71BC-2C4B-B6F748E75A9C}"/>
                  </a:ext>
                </a:extLst>
              </p:cNvPr>
              <p:cNvSpPr txBox="1"/>
              <p:nvPr/>
            </p:nvSpPr>
            <p:spPr>
              <a:xfrm rot="19594320">
                <a:off x="791684" y="6159742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48B372F-D22C-71BC-2C4B-B6F748E75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91684" y="6159742"/>
                <a:ext cx="1556020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96FA9D6-93E1-AE9C-E0B9-043C64962180}"/>
                  </a:ext>
                </a:extLst>
              </p:cNvPr>
              <p:cNvSpPr txBox="1"/>
              <p:nvPr/>
            </p:nvSpPr>
            <p:spPr>
              <a:xfrm rot="19594320">
                <a:off x="784513" y="5391608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96FA9D6-93E1-AE9C-E0B9-043C64962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84513" y="5391608"/>
                <a:ext cx="1556020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B7F00D88-A667-9F86-5316-A0BF4A5590AD}"/>
              </a:ext>
            </a:extLst>
          </p:cNvPr>
          <p:cNvSpPr txBox="1"/>
          <p:nvPr/>
        </p:nvSpPr>
        <p:spPr>
          <a:xfrm>
            <a:off x="3736438" y="288735"/>
            <a:ext cx="4840754" cy="64633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For instance: Suppose we use the marginal conditional method to build this model, like this: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489FEB6-E660-EE56-C7BB-C66B88119D62}"/>
                  </a:ext>
                </a:extLst>
              </p:cNvPr>
              <p:cNvSpPr txBox="1"/>
              <p:nvPr/>
            </p:nvSpPr>
            <p:spPr>
              <a:xfrm>
                <a:off x="7339214" y="1353670"/>
                <a:ext cx="459715" cy="429990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489FEB6-E660-EE56-C7BB-C66B88119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9214" y="1353670"/>
                <a:ext cx="459715" cy="42999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D2489C8-E787-ADCA-FFB4-F522D7A9919F}"/>
                  </a:ext>
                </a:extLst>
              </p:cNvPr>
              <p:cNvSpPr txBox="1"/>
              <p:nvPr/>
            </p:nvSpPr>
            <p:spPr>
              <a:xfrm>
                <a:off x="6560968" y="2813857"/>
                <a:ext cx="459715" cy="415627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D2489C8-E787-ADCA-FFB4-F522D7A99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968" y="2813857"/>
                <a:ext cx="459715" cy="415627"/>
              </a:xfrm>
              <a:prstGeom prst="rect">
                <a:avLst/>
              </a:prstGeom>
              <a:blipFill>
                <a:blip r:embed="rId1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57C15C0-F29B-63E8-81A3-BEB0E0B84A49}"/>
                  </a:ext>
                </a:extLst>
              </p:cNvPr>
              <p:cNvSpPr txBox="1"/>
              <p:nvPr/>
            </p:nvSpPr>
            <p:spPr>
              <a:xfrm>
                <a:off x="10070634" y="1148717"/>
                <a:ext cx="459715" cy="41735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57C15C0-F29B-63E8-81A3-BEB0E0B84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634" y="1148717"/>
                <a:ext cx="459715" cy="417358"/>
              </a:xfrm>
              <a:prstGeom prst="rect">
                <a:avLst/>
              </a:prstGeom>
              <a:blipFill>
                <a:blip r:embed="rId14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6EF063B-7108-FAD7-E711-17AC9067E67B}"/>
                  </a:ext>
                </a:extLst>
              </p:cNvPr>
              <p:cNvSpPr txBox="1"/>
              <p:nvPr/>
            </p:nvSpPr>
            <p:spPr>
              <a:xfrm>
                <a:off x="11251199" y="1150796"/>
                <a:ext cx="459715" cy="428964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6EF063B-7108-FAD7-E711-17AC9067E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1199" y="1150796"/>
                <a:ext cx="459715" cy="42896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0E3A0B4-2765-BD5C-AA6D-36FAC814A539}"/>
                  </a:ext>
                </a:extLst>
              </p:cNvPr>
              <p:cNvSpPr txBox="1"/>
              <p:nvPr/>
            </p:nvSpPr>
            <p:spPr>
              <a:xfrm>
                <a:off x="10144486" y="4108598"/>
                <a:ext cx="459715" cy="41735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0E3A0B4-2765-BD5C-AA6D-36FAC814A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4486" y="4108598"/>
                <a:ext cx="459715" cy="417358"/>
              </a:xfrm>
              <a:prstGeom prst="rect">
                <a:avLst/>
              </a:prstGeom>
              <a:blipFill>
                <a:blip r:embed="rId1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A166428-4150-3355-222F-E787952F98B3}"/>
                  </a:ext>
                </a:extLst>
              </p:cNvPr>
              <p:cNvSpPr txBox="1"/>
              <p:nvPr/>
            </p:nvSpPr>
            <p:spPr>
              <a:xfrm>
                <a:off x="11251198" y="4108598"/>
                <a:ext cx="459715" cy="41735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A166428-4150-3355-222F-E787952F9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1198" y="4108598"/>
                <a:ext cx="459715" cy="417358"/>
              </a:xfrm>
              <a:prstGeom prst="rect">
                <a:avLst/>
              </a:prstGeom>
              <a:blipFill>
                <a:blip r:embed="rId17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586302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695B9-386A-4A17-F922-4DB9400A5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C8847-583B-37D3-A90E-5269FEF49F97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ED8065-7B68-E412-B369-31D535A187FA}"/>
              </a:ext>
            </a:extLst>
          </p:cNvPr>
          <p:cNvSpPr txBox="1"/>
          <p:nvPr/>
        </p:nvSpPr>
        <p:spPr>
          <a:xfrm rot="20574304">
            <a:off x="-76372" y="443068"/>
            <a:ext cx="3093167" cy="52322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Compute what?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A9762D-533B-9D4F-F15C-4788014C4263}"/>
              </a:ext>
            </a:extLst>
          </p:cNvPr>
          <p:cNvSpPr/>
          <p:nvPr/>
        </p:nvSpPr>
        <p:spPr>
          <a:xfrm>
            <a:off x="1183121" y="1792942"/>
            <a:ext cx="3684494" cy="2438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D761F0-3E71-5075-1597-63F9D8469019}"/>
              </a:ext>
            </a:extLst>
          </p:cNvPr>
          <p:cNvSpPr txBox="1"/>
          <p:nvPr/>
        </p:nvSpPr>
        <p:spPr>
          <a:xfrm>
            <a:off x="1398272" y="997189"/>
            <a:ext cx="318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Is the defendant </a:t>
            </a:r>
            <a:r>
              <a:rPr lang="en-US" sz="1600" i="1" dirty="0"/>
              <a:t>actually</a:t>
            </a:r>
            <a:r>
              <a:rPr lang="en-US" sz="1600" dirty="0"/>
              <a:t> guilty?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B65FF8-6ECE-B450-48EC-4FD4D3702895}"/>
              </a:ext>
            </a:extLst>
          </p:cNvPr>
          <p:cNvSpPr txBox="1"/>
          <p:nvPr/>
        </p:nvSpPr>
        <p:spPr>
          <a:xfrm>
            <a:off x="1183120" y="1353670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guilty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3B3766-D86E-6BD3-7A7F-97831F8E92BC}"/>
              </a:ext>
            </a:extLst>
          </p:cNvPr>
          <p:cNvSpPr txBox="1"/>
          <p:nvPr/>
        </p:nvSpPr>
        <p:spPr>
          <a:xfrm>
            <a:off x="3025368" y="1353670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innocent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0CE2DF6-E7CA-D255-47EC-0FE9C6F50109}"/>
              </a:ext>
            </a:extLst>
          </p:cNvPr>
          <p:cNvCxnSpPr>
            <a:stCxn id="4" idx="0"/>
            <a:endCxn id="4" idx="2"/>
          </p:cNvCxnSpPr>
          <p:nvPr/>
        </p:nvCxnSpPr>
        <p:spPr>
          <a:xfrm>
            <a:off x="3025368" y="1792942"/>
            <a:ext cx="0" cy="2438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5E87666-8281-D467-A9BE-86C8475B2414}"/>
              </a:ext>
            </a:extLst>
          </p:cNvPr>
          <p:cNvSpPr txBox="1"/>
          <p:nvPr/>
        </p:nvSpPr>
        <p:spPr>
          <a:xfrm rot="16200000">
            <a:off x="-1104374" y="2944906"/>
            <a:ext cx="318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Will the defendant be acquitted?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429F7F-45FA-7344-E0DA-0CD82801C0D2}"/>
              </a:ext>
            </a:extLst>
          </p:cNvPr>
          <p:cNvSpPr txBox="1"/>
          <p:nvPr/>
        </p:nvSpPr>
        <p:spPr>
          <a:xfrm rot="16200000">
            <a:off x="112806" y="2232212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convicted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193AA5-3E6F-E4A0-7B50-CCD267D74873}"/>
              </a:ext>
            </a:extLst>
          </p:cNvPr>
          <p:cNvSpPr txBox="1"/>
          <p:nvPr/>
        </p:nvSpPr>
        <p:spPr>
          <a:xfrm rot="16200000">
            <a:off x="112806" y="3355617"/>
            <a:ext cx="1613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acquitted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D19A48C-E921-AA84-4216-BC545466805C}"/>
              </a:ext>
            </a:extLst>
          </p:cNvPr>
          <p:cNvCxnSpPr>
            <a:cxnSpLocks/>
            <a:stCxn id="4" idx="3"/>
            <a:endCxn id="4" idx="1"/>
          </p:cNvCxnSpPr>
          <p:nvPr/>
        </p:nvCxnSpPr>
        <p:spPr>
          <a:xfrm flipH="1">
            <a:off x="1183121" y="3012142"/>
            <a:ext cx="368449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9884F1B-6057-1AA5-3747-DBD95B77AEA6}"/>
                  </a:ext>
                </a:extLst>
              </p:cNvPr>
              <p:cNvSpPr txBox="1"/>
              <p:nvPr/>
            </p:nvSpPr>
            <p:spPr>
              <a:xfrm rot="19594320">
                <a:off x="986118" y="2248335"/>
                <a:ext cx="229496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9884F1B-6057-1AA5-3747-DBD95B77A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986118" y="2248335"/>
                <a:ext cx="2294965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9FA56F-AC94-2472-AF57-A56D9E8F3C88}"/>
                  </a:ext>
                </a:extLst>
              </p:cNvPr>
              <p:cNvSpPr txBox="1"/>
              <p:nvPr/>
            </p:nvSpPr>
            <p:spPr>
              <a:xfrm rot="19594320">
                <a:off x="2731138" y="2190250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9FA56F-AC94-2472-AF57-A56D9E8F3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2731138" y="2190250"/>
                <a:ext cx="250581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4C11AB1-2C1F-491D-3B21-054F2C02E4D7}"/>
                  </a:ext>
                </a:extLst>
              </p:cNvPr>
              <p:cNvSpPr txBox="1"/>
              <p:nvPr/>
            </p:nvSpPr>
            <p:spPr>
              <a:xfrm rot="19594320">
                <a:off x="880690" y="3438798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4C11AB1-2C1F-491D-3B21-054F2C02E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880690" y="3438798"/>
                <a:ext cx="250581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1CAF1C4-CE52-57C1-2D78-13615D084F69}"/>
                  </a:ext>
                </a:extLst>
              </p:cNvPr>
              <p:cNvSpPr txBox="1"/>
              <p:nvPr/>
            </p:nvSpPr>
            <p:spPr>
              <a:xfrm rot="19594320">
                <a:off x="2671152" y="3463374"/>
                <a:ext cx="25058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acquitted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1CAF1C4-CE52-57C1-2D78-13615D084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2671152" y="3463374"/>
                <a:ext cx="250581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8C6376AE-FB3B-CF51-ED98-7369ABC5154B}"/>
              </a:ext>
            </a:extLst>
          </p:cNvPr>
          <p:cNvSpPr/>
          <p:nvPr/>
        </p:nvSpPr>
        <p:spPr>
          <a:xfrm>
            <a:off x="9789458" y="991550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CC1E9FA-E3AF-2140-D91D-7B15BEF67EA0}"/>
              </a:ext>
            </a:extLst>
          </p:cNvPr>
          <p:cNvCxnSpPr>
            <a:cxnSpLocks/>
            <a:stCxn id="17" idx="3"/>
            <a:endCxn id="17" idx="1"/>
          </p:cNvCxnSpPr>
          <p:nvPr/>
        </p:nvCxnSpPr>
        <p:spPr>
          <a:xfrm flipH="1">
            <a:off x="9789458" y="1792942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76B5756-0BB5-510C-B6A2-4A709A1BE098}"/>
              </a:ext>
            </a:extLst>
          </p:cNvPr>
          <p:cNvCxnSpPr>
            <a:cxnSpLocks/>
            <a:stCxn id="17" idx="2"/>
            <a:endCxn id="17" idx="0"/>
          </p:cNvCxnSpPr>
          <p:nvPr/>
        </p:nvCxnSpPr>
        <p:spPr>
          <a:xfrm flipV="1">
            <a:off x="10911408" y="991550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756AB63-C648-779F-A191-C7FC969C475A}"/>
              </a:ext>
            </a:extLst>
          </p:cNvPr>
          <p:cNvSpPr txBox="1"/>
          <p:nvPr/>
        </p:nvSpPr>
        <p:spPr>
          <a:xfrm rot="16200000">
            <a:off x="9032788" y="121517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1FDD22-E149-EB9D-736C-A74BFDE2014C}"/>
              </a:ext>
            </a:extLst>
          </p:cNvPr>
          <p:cNvSpPr txBox="1"/>
          <p:nvPr/>
        </p:nvSpPr>
        <p:spPr>
          <a:xfrm rot="16200000">
            <a:off x="9032788" y="2018898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06B0C06-3DBF-DCAE-C1B3-2B5DBCE6845A}"/>
              </a:ext>
            </a:extLst>
          </p:cNvPr>
          <p:cNvSpPr/>
          <p:nvPr/>
        </p:nvSpPr>
        <p:spPr>
          <a:xfrm>
            <a:off x="9789457" y="1790961"/>
            <a:ext cx="2243899" cy="801390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982A78-7997-66BF-001F-CDE96C938B71}"/>
              </a:ext>
            </a:extLst>
          </p:cNvPr>
          <p:cNvSpPr/>
          <p:nvPr/>
        </p:nvSpPr>
        <p:spPr>
          <a:xfrm>
            <a:off x="9814752" y="3134552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FD8B842-62F5-5EEB-9690-97E1BB772C39}"/>
              </a:ext>
            </a:extLst>
          </p:cNvPr>
          <p:cNvCxnSpPr>
            <a:cxnSpLocks/>
            <a:stCxn id="29" idx="3"/>
            <a:endCxn id="29" idx="1"/>
          </p:cNvCxnSpPr>
          <p:nvPr/>
        </p:nvCxnSpPr>
        <p:spPr>
          <a:xfrm flipH="1">
            <a:off x="9814752" y="3935944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53AD0ED-3FC0-3D70-01DD-8A7056FA8CF4}"/>
              </a:ext>
            </a:extLst>
          </p:cNvPr>
          <p:cNvCxnSpPr>
            <a:cxnSpLocks/>
            <a:stCxn id="29" idx="2"/>
            <a:endCxn id="29" idx="0"/>
          </p:cNvCxnSpPr>
          <p:nvPr/>
        </p:nvCxnSpPr>
        <p:spPr>
          <a:xfrm flipV="1">
            <a:off x="10936702" y="3134552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BF2A2FD-364D-9977-A4D4-E9B3AD0B68FE}"/>
              </a:ext>
            </a:extLst>
          </p:cNvPr>
          <p:cNvSpPr txBox="1"/>
          <p:nvPr/>
        </p:nvSpPr>
        <p:spPr>
          <a:xfrm rot="16200000">
            <a:off x="9058082" y="3358172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8EC91E-5584-33E0-AF0F-565D9D53BB77}"/>
              </a:ext>
            </a:extLst>
          </p:cNvPr>
          <p:cNvSpPr txBox="1"/>
          <p:nvPr/>
        </p:nvSpPr>
        <p:spPr>
          <a:xfrm rot="16200000">
            <a:off x="9058082" y="416190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04E4D22-C507-4B62-11A4-EE2FF72341A0}"/>
              </a:ext>
            </a:extLst>
          </p:cNvPr>
          <p:cNvSpPr/>
          <p:nvPr/>
        </p:nvSpPr>
        <p:spPr>
          <a:xfrm>
            <a:off x="6228812" y="5142092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026702B-5A63-8BFA-25AE-2678F9946577}"/>
              </a:ext>
            </a:extLst>
          </p:cNvPr>
          <p:cNvCxnSpPr>
            <a:cxnSpLocks/>
            <a:stCxn id="36" idx="3"/>
            <a:endCxn id="36" idx="1"/>
          </p:cNvCxnSpPr>
          <p:nvPr/>
        </p:nvCxnSpPr>
        <p:spPr>
          <a:xfrm flipH="1">
            <a:off x="6228812" y="5943484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3BC9AE3-C7F9-B570-8A35-85EB40F8A228}"/>
              </a:ext>
            </a:extLst>
          </p:cNvPr>
          <p:cNvCxnSpPr>
            <a:cxnSpLocks/>
            <a:stCxn id="36" idx="2"/>
            <a:endCxn id="36" idx="0"/>
          </p:cNvCxnSpPr>
          <p:nvPr/>
        </p:nvCxnSpPr>
        <p:spPr>
          <a:xfrm flipV="1">
            <a:off x="7350762" y="5142092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B84A4AC-B083-501F-BA68-8C8B811105B8}"/>
              </a:ext>
            </a:extLst>
          </p:cNvPr>
          <p:cNvSpPr txBox="1"/>
          <p:nvPr/>
        </p:nvSpPr>
        <p:spPr>
          <a:xfrm rot="16200000">
            <a:off x="5472142" y="5365712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C4D1DE-BE4A-B9A0-5224-0C951A4AEE64}"/>
              </a:ext>
            </a:extLst>
          </p:cNvPr>
          <p:cNvSpPr txBox="1"/>
          <p:nvPr/>
        </p:nvSpPr>
        <p:spPr>
          <a:xfrm rot="16200000">
            <a:off x="5472142" y="6169440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7B62343-E6EF-F50E-B4C0-B80D403046A8}"/>
              </a:ext>
            </a:extLst>
          </p:cNvPr>
          <p:cNvSpPr/>
          <p:nvPr/>
        </p:nvSpPr>
        <p:spPr>
          <a:xfrm>
            <a:off x="1004158" y="5148886"/>
            <a:ext cx="2243899" cy="16027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BD62ABB-D302-30D3-0B87-E48C267B1B60}"/>
              </a:ext>
            </a:extLst>
          </p:cNvPr>
          <p:cNvCxnSpPr>
            <a:cxnSpLocks/>
            <a:stCxn id="43" idx="3"/>
            <a:endCxn id="43" idx="1"/>
          </p:cNvCxnSpPr>
          <p:nvPr/>
        </p:nvCxnSpPr>
        <p:spPr>
          <a:xfrm flipH="1">
            <a:off x="1004158" y="5950278"/>
            <a:ext cx="22438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FA9431B-573A-6584-4D0F-4BB9296414C2}"/>
              </a:ext>
            </a:extLst>
          </p:cNvPr>
          <p:cNvCxnSpPr>
            <a:cxnSpLocks/>
            <a:stCxn id="43" idx="2"/>
            <a:endCxn id="43" idx="0"/>
          </p:cNvCxnSpPr>
          <p:nvPr/>
        </p:nvCxnSpPr>
        <p:spPr>
          <a:xfrm flipV="1">
            <a:off x="2126108" y="5148886"/>
            <a:ext cx="0" cy="1602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A15957D8-F657-F63C-D1FE-A4C6D6583EAE}"/>
              </a:ext>
            </a:extLst>
          </p:cNvPr>
          <p:cNvSpPr txBox="1"/>
          <p:nvPr/>
        </p:nvSpPr>
        <p:spPr>
          <a:xfrm>
            <a:off x="1216444" y="4787191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F0831BC-6D44-7A61-CA1C-D7110D579F19}"/>
              </a:ext>
            </a:extLst>
          </p:cNvPr>
          <p:cNvSpPr txBox="1"/>
          <p:nvPr/>
        </p:nvSpPr>
        <p:spPr>
          <a:xfrm>
            <a:off x="2112810" y="4800643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AEE6D26-3BBF-9273-6708-664648C2A6A6}"/>
              </a:ext>
            </a:extLst>
          </p:cNvPr>
          <p:cNvSpPr txBox="1"/>
          <p:nvPr/>
        </p:nvSpPr>
        <p:spPr>
          <a:xfrm rot="16200000">
            <a:off x="247488" y="5372506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convicted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1DC3DD-F5BA-2B02-20E3-BF56AACF52C8}"/>
              </a:ext>
            </a:extLst>
          </p:cNvPr>
          <p:cNvSpPr txBox="1"/>
          <p:nvPr/>
        </p:nvSpPr>
        <p:spPr>
          <a:xfrm rot="16200000">
            <a:off x="247488" y="6176234"/>
            <a:ext cx="103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acquitted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78FD523-C0B4-34EC-2B74-7EF3A5328DC8}"/>
              </a:ext>
            </a:extLst>
          </p:cNvPr>
          <p:cNvSpPr/>
          <p:nvPr/>
        </p:nvSpPr>
        <p:spPr>
          <a:xfrm>
            <a:off x="9789456" y="3134554"/>
            <a:ext cx="2243899" cy="801390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F652A6E-4CD8-CCB3-7426-7208BAED96D6}"/>
              </a:ext>
            </a:extLst>
          </p:cNvPr>
          <p:cNvSpPr/>
          <p:nvPr/>
        </p:nvSpPr>
        <p:spPr>
          <a:xfrm rot="5400000">
            <a:off x="5988435" y="5395366"/>
            <a:ext cx="1602782" cy="1121862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E9720FB-9A2B-AE77-31BA-252341CC10DE}"/>
              </a:ext>
            </a:extLst>
          </p:cNvPr>
          <p:cNvSpPr/>
          <p:nvPr/>
        </p:nvSpPr>
        <p:spPr>
          <a:xfrm rot="5400000">
            <a:off x="1864273" y="5367919"/>
            <a:ext cx="1602782" cy="1121862"/>
          </a:xfrm>
          <a:prstGeom prst="rect">
            <a:avLst/>
          </a:prstGeom>
          <a:pattFill prst="wdDnDiag">
            <a:fgClr>
              <a:srgbClr val="5E5E5E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B0C42987-644A-8FF9-FD6C-283F068F1B6A}"/>
              </a:ext>
            </a:extLst>
          </p:cNvPr>
          <p:cNvCxnSpPr>
            <a:cxnSpLocks/>
          </p:cNvCxnSpPr>
          <p:nvPr/>
        </p:nvCxnSpPr>
        <p:spPr>
          <a:xfrm>
            <a:off x="4925310" y="1904550"/>
            <a:ext cx="4480946" cy="2059521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Curved 58">
            <a:extLst>
              <a:ext uri="{FF2B5EF4-FFF2-40B4-BE49-F238E27FC236}">
                <a16:creationId xmlns:a16="http://schemas.microsoft.com/office/drawing/2014/main" id="{F9C2CE50-4B98-45ED-052E-7799201F31BC}"/>
              </a:ext>
            </a:extLst>
          </p:cNvPr>
          <p:cNvCxnSpPr>
            <a:cxnSpLocks/>
          </p:cNvCxnSpPr>
          <p:nvPr/>
        </p:nvCxnSpPr>
        <p:spPr>
          <a:xfrm>
            <a:off x="4985951" y="1780130"/>
            <a:ext cx="4333657" cy="10831"/>
          </a:xfrm>
          <a:prstGeom prst="curvedConnector3">
            <a:avLst>
              <a:gd name="adj1" fmla="val 50435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B9E2B95-68BE-69B7-E459-C8431801D076}"/>
              </a:ext>
            </a:extLst>
          </p:cNvPr>
          <p:cNvSpPr txBox="1"/>
          <p:nvPr/>
        </p:nvSpPr>
        <p:spPr>
          <a:xfrm>
            <a:off x="5987483" y="2463718"/>
            <a:ext cx="10797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acquitted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645811-C96F-0622-2CD1-8A725EA74EA7}"/>
              </a:ext>
            </a:extLst>
          </p:cNvPr>
          <p:cNvSpPr txBox="1"/>
          <p:nvPr/>
        </p:nvSpPr>
        <p:spPr>
          <a:xfrm>
            <a:off x="6183127" y="1437863"/>
            <a:ext cx="10797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convicted</a:t>
            </a:r>
          </a:p>
        </p:txBody>
      </p:sp>
      <p:cxnSp>
        <p:nvCxnSpPr>
          <p:cNvPr id="71" name="Connector: Curved 70">
            <a:extLst>
              <a:ext uri="{FF2B5EF4-FFF2-40B4-BE49-F238E27FC236}">
                <a16:creationId xmlns:a16="http://schemas.microsoft.com/office/drawing/2014/main" id="{92B39B47-5721-8F6D-F4A9-71DDD974BA84}"/>
              </a:ext>
            </a:extLst>
          </p:cNvPr>
          <p:cNvCxnSpPr>
            <a:cxnSpLocks/>
          </p:cNvCxnSpPr>
          <p:nvPr/>
        </p:nvCxnSpPr>
        <p:spPr>
          <a:xfrm rot="5400000">
            <a:off x="3107178" y="4480107"/>
            <a:ext cx="2009202" cy="1511673"/>
          </a:xfrm>
          <a:prstGeom prst="curvedConnector3">
            <a:avLst>
              <a:gd name="adj1" fmla="val 49531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D76894D-B67A-38D4-9ECD-17534DC348C3}"/>
                  </a:ext>
                </a:extLst>
              </p:cNvPr>
              <p:cNvSpPr txBox="1"/>
              <p:nvPr/>
            </p:nvSpPr>
            <p:spPr>
              <a:xfrm>
                <a:off x="3671018" y="5242601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guilty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D76894D-B67A-38D4-9ECD-17534DC34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018" y="5242601"/>
                <a:ext cx="1079781" cy="523220"/>
              </a:xfrm>
              <a:prstGeom prst="rect">
                <a:avLst/>
              </a:prstGeom>
              <a:blipFill>
                <a:blip r:embed="rId6"/>
                <a:stretch>
                  <a:fillRect t="-2326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Connector: Curved 75">
            <a:extLst>
              <a:ext uri="{FF2B5EF4-FFF2-40B4-BE49-F238E27FC236}">
                <a16:creationId xmlns:a16="http://schemas.microsoft.com/office/drawing/2014/main" id="{AF5D569A-ADC2-1B18-1393-BD1C0694FFDC}"/>
              </a:ext>
            </a:extLst>
          </p:cNvPr>
          <p:cNvCxnSpPr>
            <a:cxnSpLocks/>
          </p:cNvCxnSpPr>
          <p:nvPr/>
        </p:nvCxnSpPr>
        <p:spPr>
          <a:xfrm>
            <a:off x="4882551" y="4255918"/>
            <a:ext cx="1213449" cy="836359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04C96D33-3C0D-F87C-4C58-BBDE261C1664}"/>
                  </a:ext>
                </a:extLst>
              </p:cNvPr>
              <p:cNvSpPr txBox="1"/>
              <p:nvPr/>
            </p:nvSpPr>
            <p:spPr>
              <a:xfrm>
                <a:off x="5477035" y="4128064"/>
                <a:ext cx="10797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innocent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04C96D33-3C0D-F87C-4C58-BBDE261C1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035" y="4128064"/>
                <a:ext cx="1079781" cy="523220"/>
              </a:xfrm>
              <a:prstGeom prst="rect">
                <a:avLst/>
              </a:prstGeom>
              <a:blipFill>
                <a:blip r:embed="rId7"/>
                <a:stretch>
                  <a:fillRect t="-2326" r="-1124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321C1B14-A940-B2CA-165B-A902D84E9C0F}"/>
              </a:ext>
            </a:extLst>
          </p:cNvPr>
          <p:cNvSpPr txBox="1"/>
          <p:nvPr/>
        </p:nvSpPr>
        <p:spPr>
          <a:xfrm>
            <a:off x="7259021" y="4796114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A07C862-6271-6C15-50D2-0E8917C54FA3}"/>
              </a:ext>
            </a:extLst>
          </p:cNvPr>
          <p:cNvSpPr txBox="1"/>
          <p:nvPr/>
        </p:nvSpPr>
        <p:spPr>
          <a:xfrm>
            <a:off x="6410387" y="4774980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06A2968-19D8-F364-D039-1A77067A777E}"/>
              </a:ext>
            </a:extLst>
          </p:cNvPr>
          <p:cNvSpPr txBox="1"/>
          <p:nvPr/>
        </p:nvSpPr>
        <p:spPr>
          <a:xfrm>
            <a:off x="9888651" y="2804710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527AA93-943B-A0DB-8984-863AF6FE11E4}"/>
              </a:ext>
            </a:extLst>
          </p:cNvPr>
          <p:cNvSpPr txBox="1"/>
          <p:nvPr/>
        </p:nvSpPr>
        <p:spPr>
          <a:xfrm>
            <a:off x="9922612" y="663176"/>
            <a:ext cx="717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guilty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66F24AE-4AAB-83EE-7AE7-D2F674FD583B}"/>
              </a:ext>
            </a:extLst>
          </p:cNvPr>
          <p:cNvSpPr txBox="1"/>
          <p:nvPr/>
        </p:nvSpPr>
        <p:spPr>
          <a:xfrm>
            <a:off x="10936701" y="2808582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475960C-5BCB-7130-FE0F-217B55602CC6}"/>
              </a:ext>
            </a:extLst>
          </p:cNvPr>
          <p:cNvSpPr txBox="1"/>
          <p:nvPr/>
        </p:nvSpPr>
        <p:spPr>
          <a:xfrm>
            <a:off x="10952944" y="651124"/>
            <a:ext cx="110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32385754-9BA1-0F96-9AC0-4421B70170ED}"/>
                  </a:ext>
                </a:extLst>
              </p:cNvPr>
              <p:cNvSpPr txBox="1"/>
              <p:nvPr/>
            </p:nvSpPr>
            <p:spPr>
              <a:xfrm rot="19594320">
                <a:off x="7229186" y="5290422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32385754-9BA1-0F96-9AC0-4421B7017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229186" y="5290422"/>
                <a:ext cx="1556020" cy="276999"/>
              </a:xfrm>
              <a:prstGeom prst="rect">
                <a:avLst/>
              </a:prstGeom>
              <a:blipFill>
                <a:blip r:embed="rId8"/>
                <a:stretch>
                  <a:fillRect t="-559" r="-5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96218C84-8E81-057C-A360-D707A9E7BD76}"/>
                  </a:ext>
                </a:extLst>
              </p:cNvPr>
              <p:cNvSpPr txBox="1"/>
              <p:nvPr/>
            </p:nvSpPr>
            <p:spPr>
              <a:xfrm rot="19594320">
                <a:off x="7286813" y="6068371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96218C84-8E81-057C-A360-D707A9E7B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286813" y="6068371"/>
                <a:ext cx="1556020" cy="276999"/>
              </a:xfrm>
              <a:prstGeom prst="rect">
                <a:avLst/>
              </a:prstGeom>
              <a:blipFill>
                <a:blip r:embed="rId9"/>
                <a:stretch>
                  <a:fillRect r="-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835FFA5-6303-B56B-032C-BA59EA5A4D03}"/>
                  </a:ext>
                </a:extLst>
              </p:cNvPr>
              <p:cNvSpPr txBox="1"/>
              <p:nvPr/>
            </p:nvSpPr>
            <p:spPr>
              <a:xfrm rot="19594320">
                <a:off x="791684" y="6159742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aquitted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835FFA5-6303-B56B-032C-BA59EA5A4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91684" y="6159742"/>
                <a:ext cx="1556020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48A061A-5243-D171-D43C-1BBB04DBEB9A}"/>
                  </a:ext>
                </a:extLst>
              </p:cNvPr>
              <p:cNvSpPr txBox="1"/>
              <p:nvPr/>
            </p:nvSpPr>
            <p:spPr>
              <a:xfrm rot="19594320">
                <a:off x="784513" y="5391608"/>
                <a:ext cx="15560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convicted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48A061A-5243-D171-D43C-1BBB04DBE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320">
                <a:off x="784513" y="5391608"/>
                <a:ext cx="1556020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A6DEB5F8-A6B7-137D-C424-C2218E6418F1}"/>
              </a:ext>
            </a:extLst>
          </p:cNvPr>
          <p:cNvSpPr txBox="1"/>
          <p:nvPr/>
        </p:nvSpPr>
        <p:spPr>
          <a:xfrm>
            <a:off x="3736438" y="288735"/>
            <a:ext cx="4840754" cy="64633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For instance: Suppose we use the marginal conditional method to build this model, like this: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7C9CC74-AA3F-5C11-338D-137D8285677C}"/>
                  </a:ext>
                </a:extLst>
              </p:cNvPr>
              <p:cNvSpPr txBox="1"/>
              <p:nvPr/>
            </p:nvSpPr>
            <p:spPr>
              <a:xfrm>
                <a:off x="7339214" y="1353670"/>
                <a:ext cx="459715" cy="429990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7C9CC74-AA3F-5C11-338D-137D82856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9214" y="1353670"/>
                <a:ext cx="459715" cy="42999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B41CB65-6508-14BA-F34F-71AB3C49A870}"/>
                  </a:ext>
                </a:extLst>
              </p:cNvPr>
              <p:cNvSpPr txBox="1"/>
              <p:nvPr/>
            </p:nvSpPr>
            <p:spPr>
              <a:xfrm>
                <a:off x="6560968" y="2813857"/>
                <a:ext cx="459715" cy="415627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B41CB65-6508-14BA-F34F-71AB3C49A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968" y="2813857"/>
                <a:ext cx="459715" cy="415627"/>
              </a:xfrm>
              <a:prstGeom prst="rect">
                <a:avLst/>
              </a:prstGeom>
              <a:blipFill>
                <a:blip r:embed="rId1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BDC12DF-7FB0-4558-32D9-ACF878A0568E}"/>
                  </a:ext>
                </a:extLst>
              </p:cNvPr>
              <p:cNvSpPr txBox="1"/>
              <p:nvPr/>
            </p:nvSpPr>
            <p:spPr>
              <a:xfrm>
                <a:off x="10070634" y="1148717"/>
                <a:ext cx="459715" cy="41735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BDC12DF-7FB0-4558-32D9-ACF878A05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634" y="1148717"/>
                <a:ext cx="459715" cy="417358"/>
              </a:xfrm>
              <a:prstGeom prst="rect">
                <a:avLst/>
              </a:prstGeom>
              <a:blipFill>
                <a:blip r:embed="rId14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C092989-287E-04EF-A7E0-5D8048F7D39B}"/>
                  </a:ext>
                </a:extLst>
              </p:cNvPr>
              <p:cNvSpPr txBox="1"/>
              <p:nvPr/>
            </p:nvSpPr>
            <p:spPr>
              <a:xfrm>
                <a:off x="11251199" y="1150796"/>
                <a:ext cx="459715" cy="428964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C092989-287E-04EF-A7E0-5D8048F7D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1199" y="1150796"/>
                <a:ext cx="459715" cy="42896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160FF17-D80E-D057-3DAE-944311C47884}"/>
                  </a:ext>
                </a:extLst>
              </p:cNvPr>
              <p:cNvSpPr txBox="1"/>
              <p:nvPr/>
            </p:nvSpPr>
            <p:spPr>
              <a:xfrm>
                <a:off x="10144486" y="4108598"/>
                <a:ext cx="459715" cy="41735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160FF17-D80E-D057-3DAE-944311C47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4486" y="4108598"/>
                <a:ext cx="459715" cy="417358"/>
              </a:xfrm>
              <a:prstGeom prst="rect">
                <a:avLst/>
              </a:prstGeom>
              <a:blipFill>
                <a:blip r:embed="rId1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E6BDB49-6631-708E-075D-5B92F2ACA5CD}"/>
                  </a:ext>
                </a:extLst>
              </p:cNvPr>
              <p:cNvSpPr txBox="1"/>
              <p:nvPr/>
            </p:nvSpPr>
            <p:spPr>
              <a:xfrm>
                <a:off x="11251198" y="4108598"/>
                <a:ext cx="459715" cy="41735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E6BDB49-6631-708E-075D-5B92F2ACA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1198" y="4108598"/>
                <a:ext cx="459715" cy="417358"/>
              </a:xfrm>
              <a:prstGeom prst="rect">
                <a:avLst/>
              </a:prstGeom>
              <a:blipFill>
                <a:blip r:embed="rId17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4994975A-F281-7AE5-AE35-7FB10DD0DC9E}"/>
              </a:ext>
            </a:extLst>
          </p:cNvPr>
          <p:cNvSpPr txBox="1"/>
          <p:nvPr/>
        </p:nvSpPr>
        <p:spPr>
          <a:xfrm rot="2255357">
            <a:off x="8877335" y="4983829"/>
            <a:ext cx="2627099" cy="92333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With those probabilities specified, we can compute all of these!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6CF05AA-9D07-CAF3-668D-BCD454A1D1CE}"/>
              </a:ext>
            </a:extLst>
          </p:cNvPr>
          <p:cNvSpPr/>
          <p:nvPr/>
        </p:nvSpPr>
        <p:spPr>
          <a:xfrm rot="19418514">
            <a:off x="1197931" y="2158920"/>
            <a:ext cx="1961850" cy="414042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4A363A5-FF1E-0FAF-251E-6ADE32C92AA8}"/>
              </a:ext>
            </a:extLst>
          </p:cNvPr>
          <p:cNvSpPr/>
          <p:nvPr/>
        </p:nvSpPr>
        <p:spPr>
          <a:xfrm rot="19418514">
            <a:off x="3017124" y="2121728"/>
            <a:ext cx="1961850" cy="414042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5E89F5-FBCE-AC8F-5D8A-C50CF6A527F3}"/>
              </a:ext>
            </a:extLst>
          </p:cNvPr>
          <p:cNvSpPr/>
          <p:nvPr/>
        </p:nvSpPr>
        <p:spPr>
          <a:xfrm rot="19418514">
            <a:off x="2980922" y="3427918"/>
            <a:ext cx="1961850" cy="414042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4AC735D-9A15-C285-2C53-DE53B5C09268}"/>
              </a:ext>
            </a:extLst>
          </p:cNvPr>
          <p:cNvSpPr/>
          <p:nvPr/>
        </p:nvSpPr>
        <p:spPr>
          <a:xfrm rot="19418514">
            <a:off x="1170271" y="3344994"/>
            <a:ext cx="1961850" cy="414042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BEB7C96-7D21-0A93-7CDE-FC1792EA7154}"/>
              </a:ext>
            </a:extLst>
          </p:cNvPr>
          <p:cNvSpPr/>
          <p:nvPr/>
        </p:nvSpPr>
        <p:spPr>
          <a:xfrm rot="19418514">
            <a:off x="614814" y="5314149"/>
            <a:ext cx="1961850" cy="414042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772B145-6C6B-89E3-C71F-BB7D03FB6F76}"/>
              </a:ext>
            </a:extLst>
          </p:cNvPr>
          <p:cNvSpPr/>
          <p:nvPr/>
        </p:nvSpPr>
        <p:spPr>
          <a:xfrm rot="19418514">
            <a:off x="561011" y="6107771"/>
            <a:ext cx="1961850" cy="414042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7EA8638-D8F7-6BF8-EBCF-9DEA2A5A8D29}"/>
              </a:ext>
            </a:extLst>
          </p:cNvPr>
          <p:cNvSpPr/>
          <p:nvPr/>
        </p:nvSpPr>
        <p:spPr>
          <a:xfrm rot="19418514">
            <a:off x="7095199" y="5221899"/>
            <a:ext cx="1961850" cy="414042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C7BABDF4-96CC-FC8F-83A1-97217791C00C}"/>
              </a:ext>
            </a:extLst>
          </p:cNvPr>
          <p:cNvSpPr/>
          <p:nvPr/>
        </p:nvSpPr>
        <p:spPr>
          <a:xfrm rot="19418514">
            <a:off x="7152906" y="5982955"/>
            <a:ext cx="1961850" cy="414042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5093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5EA16-3B27-14ED-A2FC-D39FF62CE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BB6B8-4111-6718-6B3A-8C11EEE3E5DB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CB1967-6C22-AAF9-C831-0FAC6D93934B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</p:spTree>
    <p:extLst>
      <p:ext uri="{BB962C8B-B14F-4D97-AF65-F5344CB8AC3E}">
        <p14:creationId xmlns:p14="http://schemas.microsoft.com/office/powerpoint/2010/main" val="85564106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DEEC2-423F-83FD-CCAA-793C351F5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0501F-CA4B-BAE9-6FDA-B0FFE592B749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334E77-E0BD-DD57-4AA1-DB6624771E43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212214-2CD5-A973-5D8C-00E2527A38FD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17710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A625A-4FB0-A058-650D-3E0CD14ED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4850-F079-7390-AB3C-AC59690DF3B8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B85299-7AAC-729F-4670-3E2F61AB25EF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361C69-0D2D-E4C3-AC0E-1D2B02B59A24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684F0F-5F3E-8F6C-52D5-A0F3150135A3}"/>
              </a:ext>
            </a:extLst>
          </p:cNvPr>
          <p:cNvSpPr txBox="1"/>
          <p:nvPr/>
        </p:nvSpPr>
        <p:spPr>
          <a:xfrm>
            <a:off x="8283388" y="1033866"/>
            <a:ext cx="2178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what will be the outcome of the trial?</a:t>
            </a:r>
          </a:p>
        </p:txBody>
      </p:sp>
    </p:spTree>
    <p:extLst>
      <p:ext uri="{BB962C8B-B14F-4D97-AF65-F5344CB8AC3E}">
        <p14:creationId xmlns:p14="http://schemas.microsoft.com/office/powerpoint/2010/main" val="154610866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E0716-2CDF-BF68-3172-5ED0EB5FD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FD7E2-CCFE-1A34-B478-63BB67BB12C4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4ACA17-6783-6A1E-BE36-63DF8EA445C5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47BFB6-F9AA-EF62-1465-2A7511CF1BBD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A517A5-C692-058F-D3A8-8A5E88F9F0CD}"/>
              </a:ext>
            </a:extLst>
          </p:cNvPr>
          <p:cNvSpPr txBox="1"/>
          <p:nvPr/>
        </p:nvSpPr>
        <p:spPr>
          <a:xfrm>
            <a:off x="8283388" y="1033866"/>
            <a:ext cx="2178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what will be the outcome of the trial?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72EC0C-8294-34CA-F92F-C25A9103FFC5}"/>
              </a:ext>
            </a:extLst>
          </p:cNvPr>
          <p:cNvCxnSpPr/>
          <p:nvPr/>
        </p:nvCxnSpPr>
        <p:spPr>
          <a:xfrm>
            <a:off x="6660776" y="1846729"/>
            <a:ext cx="5181600" cy="0"/>
          </a:xfrm>
          <a:prstGeom prst="line">
            <a:avLst/>
          </a:prstGeom>
          <a:ln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166E8B0-F57D-21B5-C5F9-449F879A1458}"/>
              </a:ext>
            </a:extLst>
          </p:cNvPr>
          <p:cNvSpPr txBox="1"/>
          <p:nvPr/>
        </p:nvSpPr>
        <p:spPr>
          <a:xfrm>
            <a:off x="8819746" y="1708229"/>
            <a:ext cx="1105708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(fixed space!)</a:t>
            </a:r>
          </a:p>
        </p:txBody>
      </p:sp>
    </p:spTree>
    <p:extLst>
      <p:ext uri="{BB962C8B-B14F-4D97-AF65-F5344CB8AC3E}">
        <p14:creationId xmlns:p14="http://schemas.microsoft.com/office/powerpoint/2010/main" val="245367488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85343-E762-B270-04E6-3560CC185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5B343-E97C-1E83-A656-2824D7DF3CA5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0AE57E-1566-E37A-2694-EC5E9BF945E6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62CBAC-CD14-5B81-ACAA-E703FDB222F7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E52A84-27EC-C47F-DBBF-2876A1BF6059}"/>
              </a:ext>
            </a:extLst>
          </p:cNvPr>
          <p:cNvSpPr txBox="1"/>
          <p:nvPr/>
        </p:nvSpPr>
        <p:spPr>
          <a:xfrm>
            <a:off x="8283388" y="1033866"/>
            <a:ext cx="2178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what will be the outcome of the trial?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C1C5D0-9A8E-251C-3A7C-6C7646FE29AA}"/>
              </a:ext>
            </a:extLst>
          </p:cNvPr>
          <p:cNvCxnSpPr/>
          <p:nvPr/>
        </p:nvCxnSpPr>
        <p:spPr>
          <a:xfrm>
            <a:off x="6660776" y="1846729"/>
            <a:ext cx="5181600" cy="0"/>
          </a:xfrm>
          <a:prstGeom prst="line">
            <a:avLst/>
          </a:prstGeom>
          <a:ln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CB4A59B-346B-32CE-7F2A-CE4E351CDA11}"/>
              </a:ext>
            </a:extLst>
          </p:cNvPr>
          <p:cNvSpPr txBox="1"/>
          <p:nvPr/>
        </p:nvSpPr>
        <p:spPr>
          <a:xfrm>
            <a:off x="8819746" y="1708229"/>
            <a:ext cx="1105708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(fixed space!)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61D2B0-87DB-A961-DFDF-B2288C730BD1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063DF2-16D1-1044-2991-5E83A5813ED3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64F2B33-61C7-01C0-8ED5-F79CD5C646AE}"/>
              </a:ext>
            </a:extLst>
          </p:cNvPr>
          <p:cNvSpPr txBox="1"/>
          <p:nvPr/>
        </p:nvSpPr>
        <p:spPr>
          <a:xfrm>
            <a:off x="6768444" y="1916958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F8FF56-DF0B-4F67-B702-B1FFB85EC9AF}"/>
              </a:ext>
            </a:extLst>
          </p:cNvPr>
          <p:cNvSpPr txBox="1"/>
          <p:nvPr/>
        </p:nvSpPr>
        <p:spPr>
          <a:xfrm>
            <a:off x="8689156" y="1900589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EC9817-2660-348D-1198-37092C611B9A}"/>
              </a:ext>
            </a:extLst>
          </p:cNvPr>
          <p:cNvSpPr txBox="1"/>
          <p:nvPr/>
        </p:nvSpPr>
        <p:spPr>
          <a:xfrm>
            <a:off x="10717537" y="1916957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</p:spTree>
    <p:extLst>
      <p:ext uri="{BB962C8B-B14F-4D97-AF65-F5344CB8AC3E}">
        <p14:creationId xmlns:p14="http://schemas.microsoft.com/office/powerpoint/2010/main" val="124392013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920E4-827F-64FE-4B82-D6B5E9715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0D3D0-B681-F507-BB34-17646D7F2C34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1534F2-7252-1130-30C8-CA0393A5A1DB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9E5446-C72D-8934-E13A-CEEC67B1A1BB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E8C850-A9DC-307E-C83B-3746C88688DE}"/>
              </a:ext>
            </a:extLst>
          </p:cNvPr>
          <p:cNvSpPr txBox="1"/>
          <p:nvPr/>
        </p:nvSpPr>
        <p:spPr>
          <a:xfrm>
            <a:off x="8241173" y="703357"/>
            <a:ext cx="2178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CCF1A2-B323-F54A-2050-EA1E486091AA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2ED059-4404-BBAB-176D-F955C62EC0BD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B111C70-3795-3414-C258-5008AF7AAB53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B931CD-E399-0062-C464-32A5B703A0CF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D99EAB-4A91-6E58-C8BF-A71B93CD96EF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2F9BB2-DEAB-B424-42B8-255D4E9D91A4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2F9BB2-DEAB-B424-42B8-255D4E9D9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D9FDDF4-BB2C-340B-8634-B290C3844E33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D9FDDF4-BB2C-340B-8634-B290C3844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0E6F50-2F0A-521A-DCAA-6985942A314A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0E6F50-2F0A-521A-DCAA-6985942A3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875829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5F5B4-0B45-22CD-368E-EC8AC5E44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1FA58-590A-950E-8034-2477EA766161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F39073-A305-3623-DDA4-8CE24B378838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C9BC5D-40DE-692D-C02E-9A92F356BBBA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2C9B6C-FA92-F32D-AA0D-401048D0A032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B1891D-3C56-5BF4-CCEE-03C2233F988A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46E2842-6BB1-5C12-4F0F-866B59C96F3B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F5116F5-1740-41D1-A400-B963780D5182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0D442A-BD07-8FD5-C04F-0E4B7726A616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4016BE-70E8-3FF1-4A24-8F826EE4DFF4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529CE3-8654-BF0A-68C4-88D339D517CD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529CE3-8654-BF0A-68C4-88D339D51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5574592-FD2D-E11E-11AF-A8FA6B848F60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5574592-FD2D-E11E-11AF-A8FA6B848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204698C-EEFA-63B2-FE73-8DAB9C38C7A3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204698C-EEFA-63B2-FE73-8DAB9C38C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A9B99FA-F1CC-E417-8FD7-2CB08D38FBE5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</p:spTree>
    <p:extLst>
      <p:ext uri="{BB962C8B-B14F-4D97-AF65-F5344CB8AC3E}">
        <p14:creationId xmlns:p14="http://schemas.microsoft.com/office/powerpoint/2010/main" val="160015347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FCAE2-CE2B-DD2B-1748-086B98CDC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073B7-60CF-C67D-8901-96CA60EA69DB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802DBC-838C-7D48-98BB-93199E5AC4CD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8011A7-037D-3867-66E3-4A4E8EDE94AD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6249FA-87ED-82D2-41CE-6CE8DE65E09E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E4D822-4A62-216F-021F-0CF84A1F5624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1D45FFB-D3FA-16BE-359F-4F897096D435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83ED33-D91D-6451-12D6-A5FDAE092AF5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5243CF-7471-107F-67C0-0944D949DBCF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039AA0-FE04-09B6-EB7F-DA700E0C35F4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383E24F-4FEF-369F-84AF-645BD309F22A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383E24F-4FEF-369F-84AF-645BD309F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8341CBD-8763-8F95-545E-5BAF4B00925B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8341CBD-8763-8F95-545E-5BAF4B009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D6D752C-1351-DFE6-9F7A-572834D74B9F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D6D752C-1351-DFE6-9F7A-572834D74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69B8717-86C6-3158-66CF-391CB6B9CF10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71E8A1-DE6A-BD7C-B456-FE71832202E4}"/>
              </a:ext>
            </a:extLst>
          </p:cNvPr>
          <p:cNvCxnSpPr>
            <a:cxnSpLocks/>
          </p:cNvCxnSpPr>
          <p:nvPr/>
        </p:nvCxnSpPr>
        <p:spPr>
          <a:xfrm flipV="1">
            <a:off x="7596790" y="2422689"/>
            <a:ext cx="0" cy="4224463"/>
          </a:xfrm>
          <a:prstGeom prst="line">
            <a:avLst/>
          </a:prstGeom>
          <a:ln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CE177A1-C711-06A8-F23F-C7C04E0C5D14}"/>
              </a:ext>
            </a:extLst>
          </p:cNvPr>
          <p:cNvSpPr txBox="1"/>
          <p:nvPr/>
        </p:nvSpPr>
        <p:spPr>
          <a:xfrm rot="16200000">
            <a:off x="7164960" y="3917852"/>
            <a:ext cx="1105708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(fixed space!)</a:t>
            </a:r>
          </a:p>
        </p:txBody>
      </p:sp>
    </p:spTree>
    <p:extLst>
      <p:ext uri="{BB962C8B-B14F-4D97-AF65-F5344CB8AC3E}">
        <p14:creationId xmlns:p14="http://schemas.microsoft.com/office/powerpoint/2010/main" val="342988398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D3643-1AA3-64EB-FBF6-7687E14C6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6FE1D-0979-1A73-1542-A32CA7A1FF82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B1A4C3-1806-4150-4C23-5BD228B3F46A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7E5621-D17F-DBAA-0ECE-2FBC2B9BA2EB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76A43E-AF09-F6E3-001C-54820C800200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581B0A-6A8B-EF0B-616B-D2FB0C240B99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5A60D4D-CD9E-5887-A840-01B957AC7B18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6A55E8B-F7A3-E7DC-453B-0EF445200FEF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0BA895-803E-D775-89C8-0FAFD9244E4B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CFDD8F-D5E6-48EC-D09B-1121CEC8D18E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8E70EF-4494-8BDA-4D6C-0E575FDD79DC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8E70EF-4494-8BDA-4D6C-0E575FDD7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A33A912-A768-BFF7-D32A-B96FBCB1B5D4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A33A912-A768-BFF7-D32A-B96FBCB1B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8CC8D08-D72E-3955-F5DB-10F6348B052A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8CC8D08-D72E-3955-F5DB-10F6348B0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0DE3D2D-CFB4-9928-B1CF-C1514183A18D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EB5240A-3660-5E75-9137-AB2517A8B85B}"/>
              </a:ext>
            </a:extLst>
          </p:cNvPr>
          <p:cNvCxnSpPr>
            <a:cxnSpLocks/>
          </p:cNvCxnSpPr>
          <p:nvPr/>
        </p:nvCxnSpPr>
        <p:spPr>
          <a:xfrm flipV="1">
            <a:off x="7596790" y="2422689"/>
            <a:ext cx="0" cy="4224463"/>
          </a:xfrm>
          <a:prstGeom prst="line">
            <a:avLst/>
          </a:prstGeom>
          <a:ln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0CDB6B-0884-DF55-BB97-F0F69211971E}"/>
              </a:ext>
            </a:extLst>
          </p:cNvPr>
          <p:cNvSpPr txBox="1"/>
          <p:nvPr/>
        </p:nvSpPr>
        <p:spPr>
          <a:xfrm rot="16200000">
            <a:off x="7164960" y="3917852"/>
            <a:ext cx="1105708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(fixed space!)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0F33CD4-BD2A-4DD6-65E2-41D5A3E6D064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6830BFA-7EFF-6494-F07C-373562AF5C72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2F811C-D0D4-1B1D-DCF2-93A721D2BD2A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A055C9F-7A28-7395-F06D-0AC3A60B06F1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A055C9F-7A28-7395-F06D-0AC3A60B06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2F24FCF-9E4F-4121-B21C-BF6E8D9AFC5C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2F24FCF-9E4F-4121-B21C-BF6E8D9AF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034033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CCE6B-5524-8A66-68D5-07BD981E7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58768-794C-15B3-5361-0B95E65E1E91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3E6E03-73B6-8D55-14AC-F9F098866107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AA0319-4B02-32B3-22B9-C88A9F79655F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23F5AC-3296-A72F-0265-5B3C98FF7DAB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F3724E-BEEA-1FF9-623D-B8B78224BC87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1FA3365-8774-95DF-D50F-567B1AE3DBF1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405DB51-E3C7-46AD-0AFF-3EB3F9278EDF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2FFA91-FA07-7973-3E67-EC060D25DABC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77855C-8EF1-AF4D-9D95-A3D926C51623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F3D4FC-AADD-A072-7401-E875E7187F56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F3D4FC-AADD-A072-7401-E875E7187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0170762-7F2B-BC0C-154B-8ED86AB1CCFF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0170762-7F2B-BC0C-154B-8ED86AB1C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BF49ECE-4426-8294-2F4F-DE6A4BEFE3C1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BF49ECE-4426-8294-2F4F-DE6A4BEFE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356D7CD-6AFA-7F2A-DEE3-0E29EAE92A5F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F0D10BF-65F4-8D08-4964-0320D64917F9}"/>
              </a:ext>
            </a:extLst>
          </p:cNvPr>
          <p:cNvCxnSpPr>
            <a:cxnSpLocks/>
          </p:cNvCxnSpPr>
          <p:nvPr/>
        </p:nvCxnSpPr>
        <p:spPr>
          <a:xfrm flipV="1">
            <a:off x="10259168" y="2348192"/>
            <a:ext cx="0" cy="4224463"/>
          </a:xfrm>
          <a:prstGeom prst="line">
            <a:avLst/>
          </a:prstGeom>
          <a:ln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BF30C86-83B0-5AB3-6A58-2DFAA3278059}"/>
              </a:ext>
            </a:extLst>
          </p:cNvPr>
          <p:cNvSpPr txBox="1"/>
          <p:nvPr/>
        </p:nvSpPr>
        <p:spPr>
          <a:xfrm rot="16200000">
            <a:off x="9827338" y="3843355"/>
            <a:ext cx="1105708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(fixed space!)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C832B70-8D80-7688-3661-C7AAA87288A7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1A1A7A1-0D20-E64A-7331-F8DCBFD3FA7E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60CD5B-3693-637A-7EA5-3AF47196C4F7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6E7F2E6-10CE-C040-6E55-DBD6223E8314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6E7F2E6-10CE-C040-6E55-DBD6223E8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791AEE6-BF5D-F034-A026-A30E4A3091C2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791AEE6-BF5D-F034-A026-A30E4A309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898796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715B6-2ACC-9464-86FC-F4FBCA0DA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2852C-DDEF-57B4-00C3-BE028EA90B6B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6B2C9C-D9C8-D3A7-2E04-69CC51514E91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A948AA-1DB8-8A98-7C1D-8AB8E4A03C24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448A53-47C5-09C8-E41A-5225D2EF5154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EF8163-C8C5-46A5-B986-B95D4B7F6A83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56A3275-D678-4CB3-0CD0-3929D0892A3A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77B84BD-D8F8-1031-F58D-C02E7B8098FA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0C7AE5-EDA8-3D2C-BA8A-EE2E081DC3BE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052E96-F28B-1187-629B-72D90ABA14B6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00EFB5-9F1B-7619-312A-F2BEDE5D4AC5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00EFB5-9F1B-7619-312A-F2BEDE5D4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B634B7E-4C66-9864-03A9-3E3AD4CBC828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B634B7E-4C66-9864-03A9-3E3AD4CBC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D8B81D8-9533-40D8-A30B-713CB70C1E4C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D8B81D8-9533-40D8-A30B-713CB70C1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B1A11D8-5496-0529-FFB0-F821DDD6F8B4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D24340E-B0D8-1E17-4A25-4117483A992D}"/>
              </a:ext>
            </a:extLst>
          </p:cNvPr>
          <p:cNvCxnSpPr>
            <a:cxnSpLocks/>
          </p:cNvCxnSpPr>
          <p:nvPr/>
        </p:nvCxnSpPr>
        <p:spPr>
          <a:xfrm flipV="1">
            <a:off x="10259168" y="2348192"/>
            <a:ext cx="0" cy="4224463"/>
          </a:xfrm>
          <a:prstGeom prst="line">
            <a:avLst/>
          </a:prstGeom>
          <a:ln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4FB0898-1523-44E9-21C7-4012BEFCF5D7}"/>
              </a:ext>
            </a:extLst>
          </p:cNvPr>
          <p:cNvSpPr txBox="1"/>
          <p:nvPr/>
        </p:nvSpPr>
        <p:spPr>
          <a:xfrm rot="16200000">
            <a:off x="9827338" y="3843355"/>
            <a:ext cx="1105708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(fixed space!)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4B1C404-6479-23F1-F132-D4B130AC2FF5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ED38CA2-6030-64DF-2F66-C470ECEBD088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B7B493-1111-90E9-A62B-CC4885A41554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CA9A587-184B-D10D-9410-8A183C5AB4E7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CA9A587-184B-D10D-9410-8A183C5AB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AAA288-E08E-F1FD-7820-1C2BA97C646F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AAA288-E08E-F1FD-7820-1C2BA97C6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5EF3BEE-405E-1FDD-81C3-08879B229436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B5B922B-B9A9-91C8-0126-47FE1DC141B1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C0C991-0B55-B78F-7231-33CED27F6739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7A640DA-7DF3-0A30-FFBC-65FD1EB85C3C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7A640DA-7DF3-0A30-FFBC-65FD1EB85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C0609AF-0A0C-9432-EED5-ADF0AF1349D5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C0609AF-0A0C-9432-EED5-ADF0AF134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650193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57688-BB9E-9611-53DD-377122AAF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E9981-3EF5-96FD-C364-8D85E06EB955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7AE4F2-96A8-9D8D-E849-83387185BDCE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5263F6-343D-80AC-8273-281E7AE9DFB6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CB892A-0F1C-9ADC-D580-F4BA10AB5CCA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5429F1-D52B-DA1C-8276-81F50BABEDC8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D9FC103-100C-5891-74D8-E3630F59C1CE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7609430-2741-80D7-ABCD-9062A96E6DE6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DA56D0-EDB6-FDB8-5328-640E41D7BDBE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832AF0-8706-449D-6A8B-78DEF3EC015D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8E90BA0-EA95-47E2-8114-5298B137F4A7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8E90BA0-EA95-47E2-8114-5298B137F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B138F7F-EE20-41E4-4EE8-CA3306E5638F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B138F7F-EE20-41E4-4EE8-CA3306E56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EE6BCF7-13EC-05D4-BF4C-8768BB93E174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EE6BCF7-13EC-05D4-BF4C-8768BB93E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E39BABA-1E6D-C1C3-587C-B727546C5B2E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B9ED4AB-A89E-D65B-C549-E8219C833B85}"/>
              </a:ext>
            </a:extLst>
          </p:cNvPr>
          <p:cNvCxnSpPr>
            <a:cxnSpLocks/>
          </p:cNvCxnSpPr>
          <p:nvPr/>
        </p:nvCxnSpPr>
        <p:spPr>
          <a:xfrm flipV="1">
            <a:off x="11324041" y="2348191"/>
            <a:ext cx="0" cy="4224463"/>
          </a:xfrm>
          <a:prstGeom prst="line">
            <a:avLst/>
          </a:prstGeom>
          <a:ln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B06E5F9-1BFE-03C0-9A51-60341917C969}"/>
              </a:ext>
            </a:extLst>
          </p:cNvPr>
          <p:cNvSpPr txBox="1"/>
          <p:nvPr/>
        </p:nvSpPr>
        <p:spPr>
          <a:xfrm rot="16200000">
            <a:off x="10892211" y="3843354"/>
            <a:ext cx="1105708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(fixed space!)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2C843FD-EFC5-FD79-BD83-69E9F9BCFF9C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352B9D3-7B05-1688-1A8D-CE1A43394127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839E05-89CF-33C5-8DDA-82239D512D08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432F0E8-88A8-C642-434E-D4881074C9B8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432F0E8-88A8-C642-434E-D4881074C9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0CA65F5-059A-B111-0DC9-379B3D16C296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0CA65F5-059A-B111-0DC9-379B3D16C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2E05CC4-77B4-64BD-EEE7-04E406EA49A8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9FEC739-2976-7ACF-5FFE-C7DBE5F70EEC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1B3FEE-A181-9209-D35D-9C0DAB9A8029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4CDDE40-E441-801E-38AA-DC36865B089B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4CDDE40-E441-801E-38AA-DC36865B0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B2E8D0E-6E96-CABE-ECD5-C6387870375F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B2E8D0E-6E96-CABE-ECD5-C63878703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554069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6BABE-EA1A-2CD7-3DAD-3E96199EC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A27CA-4756-ABA8-E9A0-267AFD044222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62EEBD-653F-61E9-CCBD-A1986276FA32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7EE69C-F8A1-7D11-99AA-FBB035826E95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DDE0D7-E651-74E8-5F5C-67F3CB4CA48D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E840181-A403-4564-4FFF-298DC2F84F45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23B37EB-8616-9E33-FCFB-4840C594E6A0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98494C5-A6A0-2F90-D103-BC2636A6B9AC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513022-AE8F-FA22-43C0-0B8EDD3ABA2F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BE627F-9BBA-2ACE-6362-DA47A7443C63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020188-5C7D-1927-71EC-ECD334644663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020188-5C7D-1927-71EC-ECD334644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9D4144A-7BDD-ECF4-BC32-FE2C9596972E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9D4144A-7BDD-ECF4-BC32-FE2C95969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B43FE4-9309-411A-6C53-E9316FD48D10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B43FE4-9309-411A-6C53-E9316FD48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8D6EA68-77EB-52FF-53F1-D44F5EC7850B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4B83F-38EE-2FC6-9CB1-6BAA0D9C5E2E}"/>
              </a:ext>
            </a:extLst>
          </p:cNvPr>
          <p:cNvCxnSpPr>
            <a:cxnSpLocks/>
          </p:cNvCxnSpPr>
          <p:nvPr/>
        </p:nvCxnSpPr>
        <p:spPr>
          <a:xfrm flipV="1">
            <a:off x="11324041" y="2348191"/>
            <a:ext cx="0" cy="4224463"/>
          </a:xfrm>
          <a:prstGeom prst="line">
            <a:avLst/>
          </a:prstGeom>
          <a:ln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333C716-BE1A-DDF5-35B0-C434A32783B0}"/>
              </a:ext>
            </a:extLst>
          </p:cNvPr>
          <p:cNvSpPr txBox="1"/>
          <p:nvPr/>
        </p:nvSpPr>
        <p:spPr>
          <a:xfrm rot="16200000">
            <a:off x="10892211" y="3843354"/>
            <a:ext cx="1105708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(fixed space!)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1C5324A-8DAE-0976-704F-BC2B2026763A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F00C82A-0B15-6778-BEB3-5CFDAE8FAB73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27B38C-6886-D072-BF93-188B65796958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3D91A0-EA1E-9FF3-EB70-69060B20E5E1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3D91A0-EA1E-9FF3-EB70-69060B20E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F4E1633-F8CA-7419-5E4F-F475795E869D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F4E1633-F8CA-7419-5E4F-F475795E8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CEBDC68-8DB8-5587-0787-7A2FF35A418C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294F8F7-DD27-3403-AA83-9670137FD8BA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F84D36-F236-3ABB-E3CE-130A3AEBD9F5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5A1326E-3EDF-6627-5C7D-F98C95F79D0D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5A1326E-3EDF-6627-5C7D-F98C95F79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E9CA833-F271-76FC-5C3E-6822071CA6B3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E9CA833-F271-76FC-5C3E-6822071CA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8661EEC-8FB9-CE69-4D5C-FEE9CB53213A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A0FF123-68CC-57B2-A9AD-3CF97A848860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44F9D4-2F6F-773B-BD81-8E87FAF7C789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00C6FEE-F529-9C21-D9DE-D173F09E15F0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00C6FEE-F529-9C21-D9DE-D173F09E1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8868FD5-3646-0C7D-0079-5E691FBB7C14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8868FD5-3646-0C7D-0079-5E691FBB7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937154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0B260-2175-E21C-CC5E-186E1175B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9E3D9-6DB0-5F7C-A4D6-743870D129E0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6344F8-937B-110A-1F63-1F18954E1251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C1DF07-1A5F-4A83-CA93-19544C8338B7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5177BA-5D42-809A-8063-447917BA419B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4F7C64-98C8-EFB8-9D6E-3135B6B9E766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02B143-B318-B3C8-71AF-646287EEE769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620EF7B-537B-F6DF-F24F-D0F880A8B1BF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3327A7-1301-785A-18AF-0ED57961FB2B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7E727C-0D39-9298-C9D9-7868894832C2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09E0E5-AA9D-2B98-DCE7-F57B3DC7DA7A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09E0E5-AA9D-2B98-DCE7-F57B3DC7D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8E2D68-54E2-3179-38C0-BCA64BE66B5F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8E2D68-54E2-3179-38C0-BCA64BE66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69B361D-7102-04ED-B053-FDB82865C432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69B361D-7102-04ED-B053-FDB82865C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8BF3556-0E29-DD52-CD3A-8D3A08BF4A1E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0CB58A0-6CE6-157C-FE8B-00F77F196142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F3CF3F7-DDC4-630D-2E55-E6D070C56188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7424B7-8143-FB35-08AF-3A78639EECC4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9011174-E6A2-A83C-6835-FE24A0BC8656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9011174-E6A2-A83C-6835-FE24A0BC8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394B0F5-34C7-1FE6-2643-75B063D678CD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394B0F5-34C7-1FE6-2643-75B063D67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CE6AF3B-2332-BF49-67B9-0835B154E154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10C3A5E-91DF-C709-B94A-0FE4F0D111C3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A9AB8A-C837-75DA-17BD-4A82EAE3BCA0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201359E-6DF2-E019-5FE2-0E7213A0E014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201359E-6DF2-E019-5FE2-0E7213A0E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22BDB44-E686-1F45-E266-5B2F4ED503F1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22BDB44-E686-1F45-E266-5B2F4ED50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FB016DF-744E-02C6-17EC-D2513476989D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5AFD3D1-6057-7B17-97A5-46F41B45AB43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8E84A6-F2E8-EAB1-B7BE-41D6EB28BD45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7841D5E-27D1-7F10-63CE-F3957F12FF75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7841D5E-27D1-7F10-63CE-F3957F12F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057E092-B5E4-D3E4-212A-1637972C5965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057E092-B5E4-D3E4-212A-1637972C5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8A84DC2F-AB29-1EAA-A702-ADBB29C73C7A}"/>
              </a:ext>
            </a:extLst>
          </p:cNvPr>
          <p:cNvSpPr txBox="1"/>
          <p:nvPr/>
        </p:nvSpPr>
        <p:spPr>
          <a:xfrm>
            <a:off x="1310326" y="1839224"/>
            <a:ext cx="1564849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Remember...</a:t>
            </a:r>
          </a:p>
        </p:txBody>
      </p:sp>
    </p:spTree>
    <p:extLst>
      <p:ext uri="{BB962C8B-B14F-4D97-AF65-F5344CB8AC3E}">
        <p14:creationId xmlns:p14="http://schemas.microsoft.com/office/powerpoint/2010/main" val="85045117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A2B9E-CEED-AF8F-31B0-EA7BA6406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F1BEC-9E14-929F-A9E6-EFBE4CA87A33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24891A-2897-DFB8-E35B-1901C206596B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C2E677-4C22-EA0A-155D-4037A0C6DBB6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333B87-619F-B9D6-30C3-9AD8C022C458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E49C741-7A7D-EFEB-207E-90A932011104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E11639-7C61-491F-F5C8-E8723B23E14C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9A64553-A556-F7DB-B2A1-0CEC1FFA07E1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9A62DC-D2BE-B0A3-7649-52D4BC9D2D45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26321D-0AAB-384D-1F0E-546B98299AE4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A338E1-E434-3D22-EA71-726181261DCC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A338E1-E434-3D22-EA71-726181261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148A4FC-B309-AB73-956E-28D3170B8BAF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148A4FC-B309-AB73-956E-28D3170B8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058F30-6DFD-F4D8-97E8-989799DA82EF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058F30-6DFD-F4D8-97E8-989799DA8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84B0210-A916-D60D-750D-0FD52CEAF138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48379E8-0847-7EF8-A406-BB1F0EA71737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1D64E2B-4CF9-D7F6-1265-119532BA87F0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09E26B-982C-00DE-5256-5508DAB5C69E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D843476-60EF-A811-03FB-5775C6534379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D843476-60EF-A811-03FB-5775C6534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E0FFA25-DF8E-F384-3284-C2820404FC7A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E0FFA25-DF8E-F384-3284-C2820404F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6F4827-AEDE-250D-89F7-BB91F4D1CA5E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EB3BDCA-F3DC-3C52-5D90-E3EA4C9A1563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9FE4A9-953E-9053-685A-4ED6CFBE3F64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5D8959C-F7EC-785D-429E-438069C7D458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5D8959C-F7EC-785D-429E-438069C7D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7658938-FC66-1BFC-677E-FCAB78E00A9B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7658938-FC66-1BFC-677E-FCAB78E00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0E3E2A2-5CDB-07D8-CBCD-5486FF658824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B13ACDB-D5E4-2DCA-A78D-29B93A613539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1F5D45-99A9-7312-A227-84FA3623F1D4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2006709-3009-4DF4-D929-4A9D64DB8D44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2006709-3009-4DF4-D929-4A9D64DB8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699914-2494-7834-553A-9020F07AF461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699914-2494-7834-553A-9020F07AF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C917D363-28A8-6E3B-F856-752068F0FE49}"/>
              </a:ext>
            </a:extLst>
          </p:cNvPr>
          <p:cNvSpPr txBox="1"/>
          <p:nvPr/>
        </p:nvSpPr>
        <p:spPr>
          <a:xfrm>
            <a:off x="1310326" y="1839224"/>
            <a:ext cx="1564849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Remember...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9A5D64-4D0B-2C56-DF2E-F97228942866}"/>
              </a:ext>
            </a:extLst>
          </p:cNvPr>
          <p:cNvSpPr txBox="1"/>
          <p:nvPr/>
        </p:nvSpPr>
        <p:spPr>
          <a:xfrm>
            <a:off x="1310326" y="2668231"/>
            <a:ext cx="3783606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these are </a:t>
            </a:r>
            <a:r>
              <a:rPr lang="en-US" b="1" dirty="0"/>
              <a:t>MARGINAL</a:t>
            </a:r>
            <a:r>
              <a:rPr lang="en-US" dirty="0"/>
              <a:t> probabilities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13679C0-A142-3688-94EA-A5CF9458237B}"/>
              </a:ext>
            </a:extLst>
          </p:cNvPr>
          <p:cNvSpPr/>
          <p:nvPr/>
        </p:nvSpPr>
        <p:spPr>
          <a:xfrm>
            <a:off x="6975835" y="1630837"/>
            <a:ext cx="981914" cy="714021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402B00B-8F9D-796D-93A9-48EBA04A5D55}"/>
              </a:ext>
            </a:extLst>
          </p:cNvPr>
          <p:cNvSpPr/>
          <p:nvPr/>
        </p:nvSpPr>
        <p:spPr>
          <a:xfrm>
            <a:off x="8954507" y="1679058"/>
            <a:ext cx="981914" cy="714021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F0008A1-6F08-4D22-FB38-E8E1FB9D4967}"/>
              </a:ext>
            </a:extLst>
          </p:cNvPr>
          <p:cNvSpPr/>
          <p:nvPr/>
        </p:nvSpPr>
        <p:spPr>
          <a:xfrm>
            <a:off x="10933179" y="1727279"/>
            <a:ext cx="981914" cy="714021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F7DB22-6860-C4D9-A152-2C4C4F2C2B15}"/>
              </a:ext>
            </a:extLst>
          </p:cNvPr>
          <p:cNvSpPr txBox="1"/>
          <p:nvPr/>
        </p:nvSpPr>
        <p:spPr>
          <a:xfrm>
            <a:off x="1263428" y="4015703"/>
            <a:ext cx="4082669" cy="36933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these are </a:t>
            </a:r>
            <a:r>
              <a:rPr lang="en-US" b="1" dirty="0"/>
              <a:t>CONDITIONAL</a:t>
            </a:r>
            <a:r>
              <a:rPr lang="en-US" dirty="0"/>
              <a:t> probabilities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CC6BFB2-43E6-FCD7-6B41-D01CC933DF96}"/>
              </a:ext>
            </a:extLst>
          </p:cNvPr>
          <p:cNvSpPr/>
          <p:nvPr/>
        </p:nvSpPr>
        <p:spPr>
          <a:xfrm>
            <a:off x="6457954" y="2455300"/>
            <a:ext cx="981914" cy="714021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1005869-D8CF-8E23-EEC7-941FF0182D98}"/>
              </a:ext>
            </a:extLst>
          </p:cNvPr>
          <p:cNvSpPr/>
          <p:nvPr/>
        </p:nvSpPr>
        <p:spPr>
          <a:xfrm>
            <a:off x="6582211" y="4688174"/>
            <a:ext cx="981914" cy="714021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025FBBD-EC58-9FC7-4DDC-A1592CBC4EE4}"/>
              </a:ext>
            </a:extLst>
          </p:cNvPr>
          <p:cNvSpPr/>
          <p:nvPr/>
        </p:nvSpPr>
        <p:spPr>
          <a:xfrm>
            <a:off x="8136438" y="2941628"/>
            <a:ext cx="981914" cy="714021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08193C2-BB21-E927-AEBE-C67BACE3BC97}"/>
              </a:ext>
            </a:extLst>
          </p:cNvPr>
          <p:cNvSpPr/>
          <p:nvPr/>
        </p:nvSpPr>
        <p:spPr>
          <a:xfrm>
            <a:off x="8188008" y="5160237"/>
            <a:ext cx="981914" cy="714021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F31C3C3-1539-A22E-292D-9A737FC8144B}"/>
              </a:ext>
            </a:extLst>
          </p:cNvPr>
          <p:cNvSpPr/>
          <p:nvPr/>
        </p:nvSpPr>
        <p:spPr>
          <a:xfrm>
            <a:off x="10442222" y="5763771"/>
            <a:ext cx="981914" cy="714021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99625A4-3E48-6BD2-158F-41B4764E7D52}"/>
              </a:ext>
            </a:extLst>
          </p:cNvPr>
          <p:cNvSpPr/>
          <p:nvPr/>
        </p:nvSpPr>
        <p:spPr>
          <a:xfrm>
            <a:off x="10593431" y="2896771"/>
            <a:ext cx="981914" cy="714021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7788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F427A-E9B1-91F8-1D80-926A74ECB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3C5CB-8653-22F9-1B86-DFB0C2A39EE8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FDEE23-6E82-E1E1-8E10-987174F5B433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01DF9E-50A4-56A7-18D1-62CB7565F3B8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C0228E-32EC-2C26-60E8-A9BAE10758D0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026223-0BFE-B0B4-055B-12458C120D36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42B3ACE-216F-DEFC-3B50-3B540DDA2F46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698678A-225E-2FBA-C91C-AC6E34BD2689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87D4F7-1C2E-3803-FB82-596DF6D4AF19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54DCE4-C0E5-E919-842F-97B1D57AD42D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87D31D-6F1C-6CFF-527F-2C9797836505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87D31D-6F1C-6CFF-527F-2C9797836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2643C70-830C-0CE3-3C48-585C8BCDA15F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2643C70-830C-0CE3-3C48-585C8BCDA1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1453FB4-B14A-998C-CFFA-13ED200ABF41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1453FB4-B14A-998C-CFFA-13ED200AB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C7BA72D-CFB3-A9FD-AD61-B14BA37D81D9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D789739-2849-BC35-1ADB-ECA6BC1BDB5C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4985830-F864-69B3-5D04-88569E63800F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DC1E8F-DDF6-6015-CDFB-EB81F28A0DCF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93F932B-E828-E761-FA4F-48851D5ADCEE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93F932B-E828-E761-FA4F-48851D5AD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69029AB-5FAD-0D89-33FD-D6EF457E753A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69029AB-5FAD-0D89-33FD-D6EF457E7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F91FE9D-8B35-9495-110F-C1CB073C2813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B485409-3CAC-75FE-7805-9FD9E9024CFE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C8A5C5-9CF1-7156-32C7-DB0BABCDF1C6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7D4B480-C731-2C83-A9B9-AF5701AB530C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7D4B480-C731-2C83-A9B9-AF5701AB5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912FC2C-FEE6-87E6-5E76-1202AA8F245F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912FC2C-FEE6-87E6-5E76-1202AA8F2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E2613A5-7567-7228-19F9-735B48C00399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F05E5FA-33DC-3126-CD02-F496EFFAFE3F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FC1852-D627-2FDC-D0E0-D8F549890D61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2BA65D2-3D39-56CF-159D-E2813FD29E68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2BA65D2-3D39-56CF-159D-E2813FD29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696B1E4-D4C7-D426-6BBA-09021DF33859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696B1E4-D4C7-D426-6BBA-09021DF33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4286AFA5-3A58-0E4B-688A-5FA01990401B}"/>
              </a:ext>
            </a:extLst>
          </p:cNvPr>
          <p:cNvSpPr txBox="1"/>
          <p:nvPr/>
        </p:nvSpPr>
        <p:spPr>
          <a:xfrm>
            <a:off x="1310326" y="1839224"/>
            <a:ext cx="1564849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Remember...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067924-0306-458B-CF0E-9A4EFCDF77B1}"/>
              </a:ext>
            </a:extLst>
          </p:cNvPr>
          <p:cNvSpPr txBox="1"/>
          <p:nvPr/>
        </p:nvSpPr>
        <p:spPr>
          <a:xfrm>
            <a:off x="1310326" y="2668231"/>
            <a:ext cx="3783606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these are </a:t>
            </a:r>
            <a:r>
              <a:rPr lang="en-US" b="1" dirty="0"/>
              <a:t>MARGINAL</a:t>
            </a:r>
            <a:r>
              <a:rPr lang="en-US" dirty="0"/>
              <a:t> probabilities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14A119A-942C-D747-F625-C7D02AC2DFF4}"/>
              </a:ext>
            </a:extLst>
          </p:cNvPr>
          <p:cNvSpPr/>
          <p:nvPr/>
        </p:nvSpPr>
        <p:spPr>
          <a:xfrm>
            <a:off x="6975835" y="1630837"/>
            <a:ext cx="981914" cy="714021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B011B5B-DE2D-8652-9956-09649237B5A7}"/>
              </a:ext>
            </a:extLst>
          </p:cNvPr>
          <p:cNvSpPr/>
          <p:nvPr/>
        </p:nvSpPr>
        <p:spPr>
          <a:xfrm>
            <a:off x="8954507" y="1679058"/>
            <a:ext cx="981914" cy="714021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1016BD1-0ACF-2748-E5A6-EFB07F763950}"/>
              </a:ext>
            </a:extLst>
          </p:cNvPr>
          <p:cNvSpPr/>
          <p:nvPr/>
        </p:nvSpPr>
        <p:spPr>
          <a:xfrm>
            <a:off x="10933179" y="1727279"/>
            <a:ext cx="981914" cy="714021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CD69F0-3279-6AF2-C1C8-9959DE8988B9}"/>
              </a:ext>
            </a:extLst>
          </p:cNvPr>
          <p:cNvSpPr txBox="1"/>
          <p:nvPr/>
        </p:nvSpPr>
        <p:spPr>
          <a:xfrm>
            <a:off x="1263428" y="4015703"/>
            <a:ext cx="4082669" cy="36933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these are </a:t>
            </a:r>
            <a:r>
              <a:rPr lang="en-US" b="1" dirty="0"/>
              <a:t>CONDITIONAL</a:t>
            </a:r>
            <a:r>
              <a:rPr lang="en-US" dirty="0"/>
              <a:t> probabilities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6389452-0DEC-EFF5-C0FE-BE77B1834E5F}"/>
              </a:ext>
            </a:extLst>
          </p:cNvPr>
          <p:cNvSpPr/>
          <p:nvPr/>
        </p:nvSpPr>
        <p:spPr>
          <a:xfrm>
            <a:off x="6457954" y="2455300"/>
            <a:ext cx="981914" cy="714021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16434CB-439F-1132-AFEA-BAC366CACE43}"/>
              </a:ext>
            </a:extLst>
          </p:cNvPr>
          <p:cNvSpPr/>
          <p:nvPr/>
        </p:nvSpPr>
        <p:spPr>
          <a:xfrm>
            <a:off x="6582211" y="4688174"/>
            <a:ext cx="981914" cy="714021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21CC57F-BB6A-9259-AA23-88B2A082B631}"/>
              </a:ext>
            </a:extLst>
          </p:cNvPr>
          <p:cNvSpPr/>
          <p:nvPr/>
        </p:nvSpPr>
        <p:spPr>
          <a:xfrm>
            <a:off x="8136438" y="2941628"/>
            <a:ext cx="981914" cy="714021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A71F0F5-5B2C-E3B7-0B3A-0AC4EC0F0BC8}"/>
              </a:ext>
            </a:extLst>
          </p:cNvPr>
          <p:cNvSpPr/>
          <p:nvPr/>
        </p:nvSpPr>
        <p:spPr>
          <a:xfrm>
            <a:off x="8188008" y="5160237"/>
            <a:ext cx="981914" cy="714021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D7009C9-294A-F3A1-83AB-20594B4C98F4}"/>
              </a:ext>
            </a:extLst>
          </p:cNvPr>
          <p:cNvSpPr/>
          <p:nvPr/>
        </p:nvSpPr>
        <p:spPr>
          <a:xfrm>
            <a:off x="10442222" y="5763771"/>
            <a:ext cx="981914" cy="714021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2385F79-7151-E8F2-83A6-66B000A2A760}"/>
              </a:ext>
            </a:extLst>
          </p:cNvPr>
          <p:cNvSpPr/>
          <p:nvPr/>
        </p:nvSpPr>
        <p:spPr>
          <a:xfrm>
            <a:off x="10593431" y="2896771"/>
            <a:ext cx="981914" cy="714021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85813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5C369-B1B2-98B3-4EED-3C5451398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BBDB1-DA99-FEDA-F932-4052E64551E3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E910E0-8EE6-D421-06BE-166902FF16D3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ED53BD-12A5-0640-E657-AC7C5274ECFB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FE8DD2-2EC7-A057-F805-320A9C1846DF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8ABE1E-C2F5-795A-9EF8-23273E122AFB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AF48540-FF8D-450B-6ABE-80B75722F756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568330-6265-041D-637B-86C8571A0D1F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775FCD-EC5A-2473-F6A0-CDAB2252DF33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99FF2B-B643-70CA-4ADC-C29FC0BC1F31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2312529-9325-2C22-DE94-6825089AA2E0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2312529-9325-2C22-DE94-6825089AA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60F032E-B04A-8266-1505-C9D2B3F9CEFE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60F032E-B04A-8266-1505-C9D2B3F9C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A9AA16-9D96-60CE-15A7-EECC7CB7755D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A9AA16-9D96-60CE-15A7-EECC7CB77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2A58E03-5821-BB4E-7B30-2973D8792597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96074E4-2B3A-9E8E-3931-9CA4A41328E2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83E5CA5-DB95-56E3-C0E6-242A76566333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84309D-C4B7-EBD8-1B57-8C7EEF9456B3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6838745-CB1F-4928-A994-DA5F16920607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6838745-CB1F-4928-A994-DA5F16920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04A6495-1B66-4208-F8D1-CD3469FE55B0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04A6495-1B66-4208-F8D1-CD3469FE5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C973275-6658-1290-4336-F52585F58E35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4F5B7F4-30B3-735D-E370-C51225BBD05C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22334B-A217-C935-C334-A9FFD816008F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A66EA2C-D741-8608-B2E3-55096696614F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A66EA2C-D741-8608-B2E3-550966966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83629D-240B-F89C-0617-68AB6660735D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83629D-240B-F89C-0617-68AB66607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8154CAE-F134-7272-9E10-F42CA602FB26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958598F-F977-0696-B7B2-D2EAD4E1C22B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8735CA-8A73-B6FD-DC65-9A03E8967FA6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C53E74E-2F80-BFF4-FE50-1EA23B89BEAA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C53E74E-2F80-BFF4-FE50-1EA23B89B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AE2170A-27A6-38E2-2166-2878C16E3814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AE2170A-27A6-38E2-2166-2878C16E3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D85215B-C1C5-F127-D839-A616526E2772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A2E9F9-9A7C-A32C-BB01-B0A1DF64894C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</p:spTree>
    <p:extLst>
      <p:ext uri="{BB962C8B-B14F-4D97-AF65-F5344CB8AC3E}">
        <p14:creationId xmlns:p14="http://schemas.microsoft.com/office/powerpoint/2010/main" val="210814175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D542A-EC08-785C-9A77-EBAFFBCC8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5A8C-00EB-406B-39C9-51AB3CFAB7F0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02EB47-09DF-2EA6-4F72-C5557F4D8BA1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8EC887-311A-C782-87A3-28518BCCA31D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52E89A-189F-BD12-A4FD-61CF86FBE324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B50F3D-8C5F-05A6-6604-E30A53FB4C36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4BE65E-A047-6364-5004-C19EDE148EDB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434356D-9AF8-F690-46B0-2B4552263E83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C667F1-8CA9-F259-7765-208CF7698B78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587265-8382-021D-C396-9339EECD3478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C534A8-DA7A-AAA9-080A-F6D820AF38A2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C534A8-DA7A-AAA9-080A-F6D820AF3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D10469-779A-5E52-538B-248DCBD6AC49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D10469-779A-5E52-538B-248DCBD6A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1703640-4824-290A-E3A5-3935F17D8073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1703640-4824-290A-E3A5-3935F17D8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8B4B528-13CE-2C95-F24E-83550606A1E5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6B4B4E6-2AC4-59BE-9B14-00E65A1189C8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A5BC2E4-9190-120B-09B3-B7D829FE7326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A71C61-5D59-83B8-0A15-464EBE487A8F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FB5FB6-3A78-3D6A-3509-6DAFFF741CFD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FB5FB6-3A78-3D6A-3509-6DAFFF741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69066D5-1A3E-B0D5-32E6-A5883BD255CA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69066D5-1A3E-B0D5-32E6-A5883BD25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F964604-B1E5-9AAA-BB60-F9D57961C979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7BB89BD-0260-29D1-B360-56F99095CA45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B6BFB5-58C7-7802-10B8-C8EA35DE795A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B272E37-207F-3D83-7C2D-9517F331907C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B272E37-207F-3D83-7C2D-9517F3319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DC8EAB6-5309-64EA-62E1-0DBE02B43FEB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DC8EAB6-5309-64EA-62E1-0DBE02B43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576FA89-04BF-D9B7-5FBE-5769E2B7EC5F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298DDA1-E51D-148B-7409-0D6B89D9DACF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DC2A85-4B8A-F41E-E617-7AD29DE81942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951A237-1056-6DE2-4EEF-758716C67252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951A237-1056-6DE2-4EEF-758716C67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3348F86-CFA1-3EBB-2C3E-7628B7C0BCA7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3348F86-CFA1-3EBB-2C3E-7628B7C0B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FC0013E-4656-E358-5C36-B5602C078E83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D10BDD-96C0-D87C-02CF-1AA1A00FB22E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C862620-ADDD-5C65-0B6E-BA0F79864ED8}"/>
              </a:ext>
            </a:extLst>
          </p:cNvPr>
          <p:cNvSpPr/>
          <p:nvPr/>
        </p:nvSpPr>
        <p:spPr>
          <a:xfrm>
            <a:off x="886120" y="1753386"/>
            <a:ext cx="1762812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9EF70F2-4505-5F01-4BE7-5AF92377CEC8}"/>
                  </a:ext>
                </a:extLst>
              </p:cNvPr>
              <p:cNvSpPr txBox="1"/>
              <p:nvPr/>
            </p:nvSpPr>
            <p:spPr>
              <a:xfrm>
                <a:off x="339364" y="2930819"/>
                <a:ext cx="3696579" cy="369332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innocent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&amp;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conviction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9EF70F2-4505-5F01-4BE7-5AF92377C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2930819"/>
                <a:ext cx="3696579" cy="369332"/>
              </a:xfrm>
              <a:prstGeom prst="rect">
                <a:avLst/>
              </a:prstGeom>
              <a:blipFill>
                <a:blip r:embed="rId11"/>
                <a:stretch>
                  <a:fillRect l="-1316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>
            <a:extLst>
              <a:ext uri="{FF2B5EF4-FFF2-40B4-BE49-F238E27FC236}">
                <a16:creationId xmlns:a16="http://schemas.microsoft.com/office/drawing/2014/main" id="{8539693D-5186-76A0-7B7B-E27FC1049D35}"/>
              </a:ext>
            </a:extLst>
          </p:cNvPr>
          <p:cNvSpPr/>
          <p:nvPr/>
        </p:nvSpPr>
        <p:spPr>
          <a:xfrm>
            <a:off x="10903749" y="5775295"/>
            <a:ext cx="1018212" cy="839001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41530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AC57F-EBC4-9B29-997B-D75002F22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38F51-3DCE-3941-0501-BD0B57E5F1C3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01EAA5-6D45-1351-0CC3-FB1D53A5E325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6D500A-3E77-139F-ECC6-F907C70503C1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8B4D97-4D19-1594-AC45-002940209019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5CB79C0-4043-D09E-815C-E370F913D1F9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F3C27D3-9E7D-3D74-32E9-D7FD04FD5888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274A8F4-9C3A-0E9D-C646-DD88BE696A45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6F15E4-2FA9-2302-5834-6D6E3E86E0B5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10CF68-766E-E28B-D820-32E935B32B71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7D1C57-1C32-360F-3FD6-AB2B98438EF1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7D1C57-1C32-360F-3FD6-AB2B98438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61CA7B2-76F6-D542-EAC2-B18514D8FCE4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61CA7B2-76F6-D542-EAC2-B18514D8F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0527009-2FF9-31D9-C300-81065EC7C97F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0527009-2FF9-31D9-C300-81065EC7C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B2955C1-E369-1F18-2971-C11F7B764DB6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8BEBFB1-2B5A-15AC-FD1C-257217F161A0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E2337E7-574D-C9C3-02C1-D61802710F41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740437-0B96-EF61-CAB3-D02C426DEEEC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C387313-B983-4082-6D22-214115AD80D2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C387313-B983-4082-6D22-214115AD8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3B7807-5ED9-A39A-12E6-E8157373D68E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3B7807-5ED9-A39A-12E6-E8157373D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AE5D2D3-588F-7E7E-3E40-3E2CB265F93B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8289AC4-9D91-C3EC-1CA9-4C069DD8FB26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A4AA7A-F422-E46D-09A1-2B9CF6519708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6786B5A-2788-449E-87D6-BA2215B08532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6786B5A-2788-449E-87D6-BA2215B08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CF19E98-DFD5-FD45-48C1-65178926E0D5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CF19E98-DFD5-FD45-48C1-65178926E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1537B92-FE59-7818-9D3D-B1E645E0D76F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E06F83B-27ED-4F18-5E6D-071D25612139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684D98-E099-505E-7A8B-CAD71B4CE1D2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4B14EE9-8298-4E82-6A3B-5B1095FAFF16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4B14EE9-8298-4E82-6A3B-5B1095FAF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115AB3E-606D-E7D5-0992-AE7B23D1D75B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115AB3E-606D-E7D5-0992-AE7B23D1D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4DC2140-56DD-367A-591F-92546BAB74E7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A984F9-B299-1785-CB96-88B2B2FF735A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5CC62C-6484-FD3E-0890-F7D80EBC17F6}"/>
              </a:ext>
            </a:extLst>
          </p:cNvPr>
          <p:cNvSpPr/>
          <p:nvPr/>
        </p:nvSpPr>
        <p:spPr>
          <a:xfrm>
            <a:off x="886120" y="1753386"/>
            <a:ext cx="1762812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EC1C835-ADD0-00A1-C276-4D790108B20A}"/>
                  </a:ext>
                </a:extLst>
              </p:cNvPr>
              <p:cNvSpPr txBox="1"/>
              <p:nvPr/>
            </p:nvSpPr>
            <p:spPr>
              <a:xfrm>
                <a:off x="339364" y="2930819"/>
                <a:ext cx="3696579" cy="369332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innocent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&amp;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conviction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EC1C835-ADD0-00A1-C276-4D790108B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2930819"/>
                <a:ext cx="3696579" cy="369332"/>
              </a:xfrm>
              <a:prstGeom prst="rect">
                <a:avLst/>
              </a:prstGeom>
              <a:blipFill>
                <a:blip r:embed="rId11"/>
                <a:stretch>
                  <a:fillRect l="-1316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9A24EFE7-F0E0-84FF-BBB9-53FD4084D1AE}"/>
              </a:ext>
            </a:extLst>
          </p:cNvPr>
          <p:cNvSpPr/>
          <p:nvPr/>
        </p:nvSpPr>
        <p:spPr>
          <a:xfrm>
            <a:off x="6696227" y="2366128"/>
            <a:ext cx="1515881" cy="8622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74BFEBA-91B5-A918-BEEF-1CA5842C6F41}"/>
              </a:ext>
            </a:extLst>
          </p:cNvPr>
          <p:cNvSpPr/>
          <p:nvPr/>
        </p:nvSpPr>
        <p:spPr>
          <a:xfrm>
            <a:off x="8338761" y="2352512"/>
            <a:ext cx="2431775" cy="194719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C23690D-35C7-9036-BCC9-02053005F356}"/>
              </a:ext>
            </a:extLst>
          </p:cNvPr>
          <p:cNvSpPr/>
          <p:nvPr/>
        </p:nvSpPr>
        <p:spPr>
          <a:xfrm>
            <a:off x="10927565" y="2346869"/>
            <a:ext cx="1018212" cy="32428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AA6F98E-7D00-B435-E32D-087480F1D52F}"/>
              </a:ext>
            </a:extLst>
          </p:cNvPr>
          <p:cNvSpPr/>
          <p:nvPr/>
        </p:nvSpPr>
        <p:spPr>
          <a:xfrm>
            <a:off x="10894320" y="5812809"/>
            <a:ext cx="1018212" cy="83900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CFBDEA4-4087-1EE4-0FB2-B302EA1B3CE3}"/>
              </a:ext>
            </a:extLst>
          </p:cNvPr>
          <p:cNvSpPr/>
          <p:nvPr/>
        </p:nvSpPr>
        <p:spPr>
          <a:xfrm>
            <a:off x="8315659" y="4470361"/>
            <a:ext cx="2481296" cy="21814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D65DE6C-A325-5098-F7DD-071D9CDC38FF}"/>
              </a:ext>
            </a:extLst>
          </p:cNvPr>
          <p:cNvSpPr/>
          <p:nvPr/>
        </p:nvSpPr>
        <p:spPr>
          <a:xfrm>
            <a:off x="6688626" y="3362402"/>
            <a:ext cx="1512972" cy="318922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B793F5-6C58-75EA-F8C3-883442709F7E}"/>
              </a:ext>
            </a:extLst>
          </p:cNvPr>
          <p:cNvSpPr txBox="1"/>
          <p:nvPr/>
        </p:nvSpPr>
        <p:spPr>
          <a:xfrm>
            <a:off x="339364" y="3498780"/>
            <a:ext cx="4422178" cy="147732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Notice that each subsection of the rectangle corresponds to exactly one joint event, and together they cover the exhaustive list of joint events!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52838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31DFC-C200-FB15-EBFE-32F165916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908AD-E553-FDFB-59BC-9394F59CC9D2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AB4927-E0C2-9BFD-DC23-8F5188C19CED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ED6B26-44D7-78BC-3C46-A260A745B695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D1DC62-FD1D-9CE5-D066-8B806A333F86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D1BFCA-C036-86B3-6D1A-4D9C0E7A4F86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FC3CF4C-B9DB-991F-6327-F8070656BFB6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293585-C841-4ECD-48AD-FC532E2247A9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40C554-F76F-9F6C-7DF3-0497B7D3E66E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167335-8279-1A9B-CBDA-F1DD06DE9D21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534B71-A8DC-15B9-F792-C1A231D9B775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534B71-A8DC-15B9-F792-C1A231D9B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C9AD204-70C8-ECDE-3876-3324EB61C512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C9AD204-70C8-ECDE-3876-3324EB61C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36B6908-A1E3-912C-9E58-4C6A4BC5EEEC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36B6908-A1E3-912C-9E58-4C6A4BC5E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2F03320-7F9A-503C-BA6A-966442BE3307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59F5C62-5782-0021-D288-3EF06B467277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CA171B3-A426-9BDD-4B2E-887E3773C3F1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678F48-ADF4-B417-228F-92F470E61027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F5138B4-E83B-67C5-3F70-96656F5BDE17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F5138B4-E83B-67C5-3F70-96656F5BDE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7B53B1-E420-C1D0-084C-C9B9E80937EB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7B53B1-E420-C1D0-084C-C9B9E8093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F0BA15D-3C07-F2CE-DCCD-827A985C28E4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C74D061-7FC1-2971-8030-4242E1BC91CE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ED9738-BF62-134B-7CAF-CCB118522EF3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E5155B-F682-7C04-8925-B77454B10274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E5155B-F682-7C04-8925-B77454B10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6487C7E-BDA0-D55C-E4F4-7014617ACA19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6487C7E-BDA0-D55C-E4F4-7014617AC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BF0D040-DEA7-4865-3D08-7B77A85B4AF9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174DC7C-553F-E4A2-71A9-C89733D966DA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8B783D-66DD-6F03-737C-F38470C5C41E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B6AED63-CD2A-2420-F95E-FD5652B439EE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B6AED63-CD2A-2420-F95E-FD5652B43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20EBCE1-05C2-AF26-7AA8-E8CB2437A17C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20EBCE1-05C2-AF26-7AA8-E8CB2437A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9D23195-0B30-5311-C2B6-121FF724428E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9E920A-5C60-53E9-0394-01D3D8CEAB1F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9D14D38-6A5A-1B2F-AD72-911A35D06B08}"/>
              </a:ext>
            </a:extLst>
          </p:cNvPr>
          <p:cNvSpPr/>
          <p:nvPr/>
        </p:nvSpPr>
        <p:spPr>
          <a:xfrm>
            <a:off x="886120" y="1753386"/>
            <a:ext cx="1762812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66A9609-01CD-D22C-F6FF-6D67CB57D93E}"/>
                  </a:ext>
                </a:extLst>
              </p:cNvPr>
              <p:cNvSpPr txBox="1"/>
              <p:nvPr/>
            </p:nvSpPr>
            <p:spPr>
              <a:xfrm>
                <a:off x="339364" y="2930819"/>
                <a:ext cx="3696579" cy="369332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innocent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&amp;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conviction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66A9609-01CD-D22C-F6FF-6D67CB57D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2930819"/>
                <a:ext cx="3696579" cy="369332"/>
              </a:xfrm>
              <a:prstGeom prst="rect">
                <a:avLst/>
              </a:prstGeom>
              <a:blipFill>
                <a:blip r:embed="rId11"/>
                <a:stretch>
                  <a:fillRect l="-1316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>
            <a:extLst>
              <a:ext uri="{FF2B5EF4-FFF2-40B4-BE49-F238E27FC236}">
                <a16:creationId xmlns:a16="http://schemas.microsoft.com/office/drawing/2014/main" id="{B6F6A4C8-8672-3D61-B963-EB6712ADC280}"/>
              </a:ext>
            </a:extLst>
          </p:cNvPr>
          <p:cNvSpPr/>
          <p:nvPr/>
        </p:nvSpPr>
        <p:spPr>
          <a:xfrm>
            <a:off x="10903749" y="5775295"/>
            <a:ext cx="1018212" cy="839001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58AE301-D7FA-B517-1C51-91E80CB33019}"/>
                  </a:ext>
                </a:extLst>
              </p:cNvPr>
              <p:cNvSpPr txBox="1"/>
              <p:nvPr/>
            </p:nvSpPr>
            <p:spPr>
              <a:xfrm>
                <a:off x="339364" y="3601039"/>
                <a:ext cx="5351945" cy="12214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conviction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US" b="0" i="0" dirty="0">
                    <a:latin typeface="Cambria Math" panose="02040503050406030204" pitchFamily="18" charset="0"/>
                  </a:rPr>
                </a:br>
                <a:br>
                  <a:rPr lang="en-US" b="0" i="0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innocent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&amp;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conviction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section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whole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rectangle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58AE301-D7FA-B517-1C51-91E80CB33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3601039"/>
                <a:ext cx="5351945" cy="122148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330379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0ED46-4655-7DA3-80D6-FFEB92D8E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83E8D-0DF1-30E3-8BE9-E81648891BA7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C545E9-52D9-63CE-9C2E-B37582DE3AC5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53CA8F-BDE0-4155-374A-34A67B3C65E1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9654DB-C6B0-4637-C26B-D50E20D5FC96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450EEE6-572B-F411-91C1-053A6D08AB65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783A9A-4047-E837-1BC8-313147EB7E3F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C3435AD-F183-BB6E-F881-B46C86D1CAC9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042195-9B02-22CA-0C32-161C3260E89E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126D78-DB7E-B1ED-547E-DC73D8057543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40B5AD-4EBB-DD55-363D-788D37EBD010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40B5AD-4EBB-DD55-363D-788D37EBD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FD9C655-EA23-CA01-574A-52EB63C332FC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FD9C655-EA23-CA01-574A-52EB63C33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A5A2D74-368E-3A67-A9BB-C30EDA6CAE0D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A5A2D74-368E-3A67-A9BB-C30EDA6CA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7ED9F18-4B31-B5F2-3E1A-1E5C4B3B0E5F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CC2637-EE17-06FA-0AD1-ABFDA76EDF8C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7150030-9F65-5856-52F7-68775D948F4E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F8681C-4A38-A876-219D-0AE121D6A1B7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6C1371F-3549-64B5-15F3-E64CAC87B969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6C1371F-3549-64B5-15F3-E64CAC87B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A9904C0-0AD8-67F0-5F55-A135656CF5F8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A9904C0-0AD8-67F0-5F55-A135656CF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F727833-FA4E-CB9E-A7BD-F9776C741FBE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577AC7E-391A-DEE0-C1D6-8AE8704F6E76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592255-9054-D760-5DF4-41667DFFE85F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275B1F6-FC3D-3E8D-12EA-56743C2BB57A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275B1F6-FC3D-3E8D-12EA-56743C2BB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519FC74-0D90-DF5D-A747-A4A852543954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519FC74-0D90-DF5D-A747-A4A852543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59C3267-88C9-9F29-9615-2CF07BF72777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8B80E00-1109-4F2C-3EF9-35FDB0AD1A2E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A997F9-6D42-4FDE-ABF7-44320D32928A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F6DD231-F551-3216-A8E8-DCB4E60A2143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F6DD231-F551-3216-A8E8-DCB4E60A2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A5C1873-3B80-F772-B6F6-51FC9D4FCA81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A5C1873-3B80-F772-B6F6-51FC9D4FC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4355696-2D0F-9FFF-3E2F-F7D3AAB5EAA0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ADB44C-04E9-5BA3-4C78-825B9F358BF3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19C7C59-5B24-4E17-E71C-A7028E451BD7}"/>
              </a:ext>
            </a:extLst>
          </p:cNvPr>
          <p:cNvSpPr/>
          <p:nvPr/>
        </p:nvSpPr>
        <p:spPr>
          <a:xfrm>
            <a:off x="886120" y="1753386"/>
            <a:ext cx="1762812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02E4CD3-9455-F54C-D935-F5B6226C0FE9}"/>
                  </a:ext>
                </a:extLst>
              </p:cNvPr>
              <p:cNvSpPr txBox="1"/>
              <p:nvPr/>
            </p:nvSpPr>
            <p:spPr>
              <a:xfrm>
                <a:off x="339364" y="2930819"/>
                <a:ext cx="3696579" cy="369332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innocent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&amp;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conviction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02E4CD3-9455-F54C-D935-F5B6226C0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2930819"/>
                <a:ext cx="3696579" cy="369332"/>
              </a:xfrm>
              <a:prstGeom prst="rect">
                <a:avLst/>
              </a:prstGeom>
              <a:blipFill>
                <a:blip r:embed="rId11"/>
                <a:stretch>
                  <a:fillRect l="-1316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>
            <a:extLst>
              <a:ext uri="{FF2B5EF4-FFF2-40B4-BE49-F238E27FC236}">
                <a16:creationId xmlns:a16="http://schemas.microsoft.com/office/drawing/2014/main" id="{A298937B-ED9F-A07F-E48A-37D3B249B352}"/>
              </a:ext>
            </a:extLst>
          </p:cNvPr>
          <p:cNvSpPr/>
          <p:nvPr/>
        </p:nvSpPr>
        <p:spPr>
          <a:xfrm>
            <a:off x="10903749" y="5775295"/>
            <a:ext cx="1018212" cy="839001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6E611A1-2360-C9F3-C4FD-C01EE619EE3C}"/>
                  </a:ext>
                </a:extLst>
              </p:cNvPr>
              <p:cNvSpPr txBox="1"/>
              <p:nvPr/>
            </p:nvSpPr>
            <p:spPr>
              <a:xfrm>
                <a:off x="339364" y="3601039"/>
                <a:ext cx="5351945" cy="1171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conviction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US" b="0" i="0" dirty="0">
                    <a:latin typeface="Cambria Math" panose="02040503050406030204" pitchFamily="18" charset="0"/>
                  </a:rPr>
                </a:br>
                <a:br>
                  <a:rPr lang="en-US" b="0" i="0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innocent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&amp;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conviction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section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6E611A1-2360-C9F3-C4FD-C01EE619E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3601039"/>
                <a:ext cx="5351945" cy="117109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781488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C7071-25D7-596D-E88A-5E53A5EB5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E2349-6BD8-91C6-3903-0902FA6A4BD8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B4605E-5F18-C85C-6651-C976579DC5CD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A6789C-5AC9-3C8B-1B5A-197DCED32792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B10F06-E83B-7A4F-7BA2-60A3425D6D1B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178666-51D9-A133-7C5B-8819C1C66614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39B2539-4D2B-66AB-461E-64B049797068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7554116-AEA1-422B-5C96-17964EA617E4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48CEC1-E5EE-6635-1079-931DC94B613D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881D31-68CF-4F2D-2B4E-8367EF20760C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719B11-031F-57A9-501E-E6FE0FCB5B53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719B11-031F-57A9-501E-E6FE0FCB5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7438193-C8C7-7024-4251-4D6FD3735C2C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7438193-C8C7-7024-4251-4D6FD3735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7F09845-0BAB-51D5-BC9B-278D9C2B1D1A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7F09845-0BAB-51D5-BC9B-278D9C2B1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5507FE4-2379-DB88-9F7C-8AC5A6346302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758DF9-669E-CF65-9B8F-6E66EBB48FAD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1668C16-F880-75CA-9CC1-C5C2AD033128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A21810-9416-6C08-C9BB-4D8EC6CE1E5F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BAE85B1-C84B-D52C-3E9C-8914932BFDA3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BAE85B1-C84B-D52C-3E9C-8914932BF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A0416B8-3756-8BCA-CB21-07114FED23C9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A0416B8-3756-8BCA-CB21-07114FED2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AEB3DB5-BE98-89A2-C8C5-18CE6B699DB1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3F3EFD4-8373-7716-F6B6-497E9055D801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DEFBEE-5426-2DE6-96A6-0A13BE400579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8C1308C-9645-1E43-101E-C28C50F08286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8C1308C-9645-1E43-101E-C28C50F08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CD2A4F3-850F-A949-C9BF-ECFD0B0C3976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CD2A4F3-850F-A949-C9BF-ECFD0B0C3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1081689-B22E-906C-7F22-ECDED781F407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A0AD212-1914-E8F8-2EAA-D7C4B872D56E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DBA6F2-C2EC-8371-AF7C-7F1E63AB0E93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C7BB0B0-37E2-F678-5F64-472DE7A45279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C7BB0B0-37E2-F678-5F64-472DE7A45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EA6685A-0855-7EC9-F1D5-0C0C5896104A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EA6685A-0855-7EC9-F1D5-0C0C58961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FE32219-6D54-0440-D881-58C35C5827DF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035D44-B45D-D043-0B3F-97C7AE58717C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B72C7C-F055-E58F-BD90-A8DB4A780F66}"/>
              </a:ext>
            </a:extLst>
          </p:cNvPr>
          <p:cNvSpPr/>
          <p:nvPr/>
        </p:nvSpPr>
        <p:spPr>
          <a:xfrm>
            <a:off x="886120" y="1753386"/>
            <a:ext cx="1762812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441EF56-262A-3E92-96FF-D5E0299AC2C5}"/>
                  </a:ext>
                </a:extLst>
              </p:cNvPr>
              <p:cNvSpPr txBox="1"/>
              <p:nvPr/>
            </p:nvSpPr>
            <p:spPr>
              <a:xfrm>
                <a:off x="339364" y="2930819"/>
                <a:ext cx="3696579" cy="369332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innocent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&amp;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conviction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441EF56-262A-3E92-96FF-D5E0299AC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2930819"/>
                <a:ext cx="3696579" cy="369332"/>
              </a:xfrm>
              <a:prstGeom prst="rect">
                <a:avLst/>
              </a:prstGeom>
              <a:blipFill>
                <a:blip r:embed="rId11"/>
                <a:stretch>
                  <a:fillRect l="-1316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>
            <a:extLst>
              <a:ext uri="{FF2B5EF4-FFF2-40B4-BE49-F238E27FC236}">
                <a16:creationId xmlns:a16="http://schemas.microsoft.com/office/drawing/2014/main" id="{C6962331-F467-D0C2-9E46-297E0C7C1F0D}"/>
              </a:ext>
            </a:extLst>
          </p:cNvPr>
          <p:cNvSpPr/>
          <p:nvPr/>
        </p:nvSpPr>
        <p:spPr>
          <a:xfrm>
            <a:off x="10903749" y="5775295"/>
            <a:ext cx="1018212" cy="839001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613FE80-B8D4-DF9E-8DAE-D03EE52B9A9F}"/>
                  </a:ext>
                </a:extLst>
              </p:cNvPr>
              <p:cNvSpPr txBox="1"/>
              <p:nvPr/>
            </p:nvSpPr>
            <p:spPr>
              <a:xfrm>
                <a:off x="339364" y="3601039"/>
                <a:ext cx="5351945" cy="12661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conviction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US" b="0" i="0" dirty="0">
                    <a:latin typeface="Cambria Math" panose="02040503050406030204" pitchFamily="18" charset="0"/>
                  </a:rPr>
                </a:br>
                <a:br>
                  <a:rPr lang="en-US" b="0" i="0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den>
                              </m:f>
                            </m:e>
                          </m:box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613FE80-B8D4-DF9E-8DAE-D03EE52B9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3601039"/>
                <a:ext cx="5351945" cy="126618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188243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BF25F-FC90-5F21-D531-D6F0E4085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734F-5EEB-00A1-55B9-794D71C2175C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82967-F1A7-C9E3-A8D4-76EDD9041224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811266-EC5B-5BBB-6EA8-A277238D2CAE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6C68F5-57C3-384F-491E-1D6FFACD4820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728328-933A-03A0-4B8E-AADA60E742EC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E968588-62C4-07C4-A72A-EA07C1FF2036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2D1EBD6-6B4C-4B50-B0FA-A51F7BB0F982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DFA4A5-1072-1030-0F6A-114251419DC7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5777B4-99BC-15AA-59EF-468AB6439DA3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4A5F63C-449E-E64E-A185-05C56063BFF2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4A5F63C-449E-E64E-A185-05C56063BF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3348DB3-3C9D-1F16-9CF9-E2FAC2507BD8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3348DB3-3C9D-1F16-9CF9-E2FAC2507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3F6EAB0-6684-5BB3-AC3B-73881AC8319E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3F6EAB0-6684-5BB3-AC3B-73881AC83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D764EE6-74D7-AC96-30CD-2C13AF33ECAB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AB04B1-EC29-E1B4-C904-59B250439B3A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C913EC2-8C11-E900-DB44-3418A14BC563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37861D-6611-72A1-53DE-1A03ECD324EB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720955F-1F8F-8D4B-8C9F-0EEB56D23DEC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720955F-1F8F-8D4B-8C9F-0EEB56D23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60F9D88-822D-608E-5002-EC0F0918BEAB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60F9D88-822D-608E-5002-EC0F0918B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2E7CC9F-B53C-463B-A612-763265B2D88C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F95E55C-FD5E-B6DF-186F-64438837EDF7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1924DF-4010-26E2-6003-FABBA855371E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7C6378C-1077-E10A-1F81-5DFCB2B649CA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7C6378C-1077-E10A-1F81-5DFCB2B64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A8D687C-9047-9A97-E53C-5F9EE9E26835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A8D687C-9047-9A97-E53C-5F9EE9E268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9F4C5FB-2ACE-5368-49C0-D3204B957236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70B6F8C-E9E8-A717-2A66-F1B888FE1224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A5F23A-7057-3885-5C95-A3DB009996A5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FBCB1A7-955E-7BC2-6238-BFA418AF6000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FBCB1A7-955E-7BC2-6238-BFA418AF6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F3C5CD6-617E-E4A3-08D2-4ECE1F5E13BA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F3C5CD6-617E-E4A3-08D2-4ECE1F5E1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1311A6B-E55C-F4FB-3038-50D0EA1B84F1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B08169-D60C-02EF-343A-6C6AB8FDCB89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82197CE-8C88-ED47-1E59-A35B49935D50}"/>
              </a:ext>
            </a:extLst>
          </p:cNvPr>
          <p:cNvSpPr/>
          <p:nvPr/>
        </p:nvSpPr>
        <p:spPr>
          <a:xfrm>
            <a:off x="886120" y="1753386"/>
            <a:ext cx="1762812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866D51E-A628-7A5D-2AC1-4259E9E6536E}"/>
                  </a:ext>
                </a:extLst>
              </p:cNvPr>
              <p:cNvSpPr txBox="1"/>
              <p:nvPr/>
            </p:nvSpPr>
            <p:spPr>
              <a:xfrm>
                <a:off x="339364" y="2930819"/>
                <a:ext cx="3696579" cy="36933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b="0"/>
                  <a:t>TRY IT: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guilty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&amp;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hung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jury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866D51E-A628-7A5D-2AC1-4259E9E65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2930819"/>
                <a:ext cx="3696579" cy="369332"/>
              </a:xfrm>
              <a:prstGeom prst="rect">
                <a:avLst/>
              </a:prstGeom>
              <a:blipFill>
                <a:blip r:embed="rId11"/>
                <a:stretch>
                  <a:fillRect l="-1316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732753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778C1-CFE8-6165-C25C-5DBBAD2C7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A1B93-2950-A51B-4D70-8D6DB48963AD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9A867F-6239-BA99-D6C5-F3233FA79CC2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0DF29E-0098-F1EF-4607-4E32FAF85902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5F410A-4CE5-54A1-2849-B821AC300EC4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4B0A74-F0D1-6DB1-5CAA-70173C819D48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FCD1A2-D842-3E05-E50D-91FED5D24252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79F462D-F276-9310-0B36-59C637045493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6DFB3A-70F6-991D-52CF-DA6D507515A6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46C2D8-693E-8823-F549-91518F0580F0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B006B6-C729-D515-ED1A-1BDB59011A2D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B006B6-C729-D515-ED1A-1BDB59011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49B9396-6CE0-1CC7-0003-CCB9C3725D27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49B9396-6CE0-1CC7-0003-CCB9C3725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A5B4BC0-3A73-9E9D-46FD-9E8AA33421A8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A5B4BC0-3A73-9E9D-46FD-9E8AA3342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3E1FA2F-3641-D366-FF4C-6891E5C5C3C0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E269170-3F0A-3BAB-679A-A2065F42CD89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DEF7FAD-AA0B-C1A6-BCCD-B7CBB6134BD1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136188-F0A5-A176-E3D5-152B1A8E5D5F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C7B8E4B-84B6-88E4-3EDB-9463AC897028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C7B8E4B-84B6-88E4-3EDB-9463AC897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E0357FD-E1F7-6827-5ACA-7DA81E950D43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E0357FD-E1F7-6827-5ACA-7DA81E950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AA05A0E-6841-DF94-53D9-87C54EFE6D63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F047EBA-3C02-F149-FA2C-4FC741A38B5D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238E44-B828-6D4A-2B38-01230809F24E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E2C10C3-4099-730B-725D-AF8E53251F42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E2C10C3-4099-730B-725D-AF8E53251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418108B-BF1A-C53E-CCC5-F39FAE3D87DD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418108B-BF1A-C53E-CCC5-F39FAE3D8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DF998B8-80A5-2663-0030-BE93B5E98180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071E42C-6279-DB2F-D23C-AA921DB0C3CA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A67FAD-0E85-E76B-35A4-9B094E40680A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1A23D3D-079E-4D9C-1864-032C760FB47B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1A23D3D-079E-4D9C-1864-032C760FB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B5BAD3E-F4AE-E431-E0E4-3900FDED7C8F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B5BAD3E-F4AE-E431-E0E4-3900FDED7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7810392-BB19-2AE0-4CA7-8AFCA4CB8BAF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FC8DDC-5F42-405D-757D-233CD2539AA5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318B72-3DE7-F4B2-1F7B-4C25B4440CBF}"/>
              </a:ext>
            </a:extLst>
          </p:cNvPr>
          <p:cNvSpPr/>
          <p:nvPr/>
        </p:nvSpPr>
        <p:spPr>
          <a:xfrm>
            <a:off x="886120" y="1753386"/>
            <a:ext cx="1762812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367EF9C-0CC2-1D5C-B289-B58A0DC7EFF5}"/>
                  </a:ext>
                </a:extLst>
              </p:cNvPr>
              <p:cNvSpPr txBox="1"/>
              <p:nvPr/>
            </p:nvSpPr>
            <p:spPr>
              <a:xfrm>
                <a:off x="339364" y="2930819"/>
                <a:ext cx="3696579" cy="36933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b="0"/>
                  <a:t>TRY IT: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guilty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&amp;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hung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jury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367EF9C-0CC2-1D5C-B289-B58A0DC7EF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2930819"/>
                <a:ext cx="3696579" cy="369332"/>
              </a:xfrm>
              <a:prstGeom prst="rect">
                <a:avLst/>
              </a:prstGeom>
              <a:blipFill>
                <a:blip r:embed="rId11"/>
                <a:stretch>
                  <a:fillRect l="-1316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>
            <a:extLst>
              <a:ext uri="{FF2B5EF4-FFF2-40B4-BE49-F238E27FC236}">
                <a16:creationId xmlns:a16="http://schemas.microsoft.com/office/drawing/2014/main" id="{C2805508-CE49-E369-4C20-CFA4C215036F}"/>
              </a:ext>
            </a:extLst>
          </p:cNvPr>
          <p:cNvSpPr/>
          <p:nvPr/>
        </p:nvSpPr>
        <p:spPr>
          <a:xfrm>
            <a:off x="10903749" y="5775295"/>
            <a:ext cx="1018212" cy="839001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6A0B071-021B-E6D6-A30A-213B20E03844}"/>
                  </a:ext>
                </a:extLst>
              </p:cNvPr>
              <p:cNvSpPr txBox="1"/>
              <p:nvPr/>
            </p:nvSpPr>
            <p:spPr>
              <a:xfrm>
                <a:off x="562113" y="3905250"/>
                <a:ext cx="4140597" cy="22325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guilty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&amp;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hung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jury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where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guilty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&amp;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hung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jury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whole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rectangle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b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6A0B071-021B-E6D6-A30A-213B20E03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113" y="3905250"/>
                <a:ext cx="4140597" cy="22325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D41FE334-9280-E28A-7AAA-91F5A6A6A079}"/>
              </a:ext>
            </a:extLst>
          </p:cNvPr>
          <p:cNvSpPr/>
          <p:nvPr/>
        </p:nvSpPr>
        <p:spPr>
          <a:xfrm>
            <a:off x="8283388" y="2294964"/>
            <a:ext cx="2539242" cy="205008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47301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C42B3-EF17-AD47-EEFC-299D642B6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87A43-B322-D660-43AE-22EDAD1A1AEC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55B27E-7AE8-5E26-A797-26E51713E460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EE4E65-146E-5785-3BE8-05DA4F0947DF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06C3D-342E-89F1-1C8A-86D3D1098403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0D26E7C-9267-1C75-7553-3E49E25C22F3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FB87792-2794-B6DB-B55B-FAE6A72752D4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6098E52-90A6-DCD0-B580-4859C3674C2E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FA746B-0F8A-03B4-FCC1-3490155E028F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133855-5B93-FA91-9C26-0E8264EDAA5B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7812677-DEA6-FBE6-031D-9FA34C9E58E3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7812677-DEA6-FBE6-031D-9FA34C9E5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ED79748-97FE-35F7-5628-075006C9ADDB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ED79748-97FE-35F7-5628-075006C9A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F40A00D-A6B1-8393-6E40-6EF9A96ECB19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F40A00D-A6B1-8393-6E40-6EF9A96EC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BC373EA-9D8E-8906-E8DF-4A5B286C6C9F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ECA976-2749-389C-7774-4B7CC94F1A74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513A5C7-7826-7FCF-5868-2961DEE7CBB4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63032A-3FBA-E14A-3D2F-EBC35D76AB2A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F7881D6-C3B4-CD4B-6ADA-AA89345EEA01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F7881D6-C3B4-CD4B-6ADA-AA89345EE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C24B1CC-0FA8-D27F-C8C8-5B41668E97BC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C24B1CC-0FA8-D27F-C8C8-5B41668E9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2ECD83B-BBF9-5473-6F89-876DED094EC6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8F43E85-8CB7-4557-660E-9473CC8EADD7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2DF6DD-A2B8-B159-66CA-A824C573EF0C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C396850-DE93-F5EE-7670-99666DA1926C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C396850-DE93-F5EE-7670-99666DA19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3715496-835E-B60F-C8C0-7B0AB92874EA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3715496-835E-B60F-C8C0-7B0AB9287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7C5C819-B0D4-DD80-6363-B2359CC51C8E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17DD8BA-91DB-C3E7-01BE-C674E1509FB6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8AB752-9A63-32CB-7B14-B0E6FDFF8EC5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89B3835-2D62-C9A0-CEF5-EE178BBBAD56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89B3835-2D62-C9A0-CEF5-EE178BBBA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D0B9E31-E452-3021-14E9-317F98D9AC3B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D0B9E31-E452-3021-14E9-317F98D9A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C423827-69D1-1F50-213D-551834D2F770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FE17D0-C67A-E5A7-9056-F1D0D11599AC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5D05B9-1175-0D70-CC2D-A6C141CDFA18}"/>
              </a:ext>
            </a:extLst>
          </p:cNvPr>
          <p:cNvSpPr/>
          <p:nvPr/>
        </p:nvSpPr>
        <p:spPr>
          <a:xfrm>
            <a:off x="904786" y="2047101"/>
            <a:ext cx="2147724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2598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21796-1A08-7470-907D-7EDDB567A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B2BB3-5D01-D618-0E39-31E767E803DC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DCB6C4-6EB4-92EE-F9AB-93F4934CA6FB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6F8BC3-0E74-59F6-D34B-2D8416278A74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B8B6C0-D942-A85F-D612-68BA25D59C0D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DD7AD50-A09B-08D1-14E2-8D605C290259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457D22-AAFD-0401-0E03-3E995512A0CE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EBE038C-0E58-302D-871A-E0BDA1530DB3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1B14F6-DF54-CBD9-7CC2-1DB593B65FA6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5D9F8C-9583-995C-254A-B68E4FD54E17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337469-BCFD-65DD-7209-D7FF184EDEF4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337469-BCFD-65DD-7209-D7FF184ED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71D463B-31D9-6BB1-09A2-6367BD103CF4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71D463B-31D9-6BB1-09A2-6367BD103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2628CC4-516B-FEBA-C5A0-2E4FD9600D99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2628CC4-516B-FEBA-C5A0-2E4FD9600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AA5FF6A-19BC-6EA1-CF8B-B6890EA2C1FB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081769-949F-F488-A5B5-011498119C55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9A31826-CAA9-146C-93C2-541742AA5FAE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2F4CFB-2B56-8EBF-3DBB-DEE4553ACA11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12FFAA6-CADC-549E-C8D9-400362423041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12FFAA6-CADC-549E-C8D9-400362423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5113505-C857-CCDA-918D-EAC365CB8F67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5113505-C857-CCDA-918D-EAC365CB8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359CAB9-BC8D-064F-5E84-6E781B0D1780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46C9DB1-FD03-368D-FA40-6C45827EC8C0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EBC95C-AF59-363F-2C55-2D1D61D17943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A9D3CEE-AC63-D37F-5857-1EC37CE437F6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A9D3CEE-AC63-D37F-5857-1EC37CE43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CC263DD-5DA8-EB8F-E7A1-7808CCB66660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CC263DD-5DA8-EB8F-E7A1-7808CCB66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EDBE042-ED61-AF64-5D11-2E0A98CC42D3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7D76DE2-58CC-F884-0062-9C64FD0A08D1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5CA017-F147-9083-F70E-92C3FA00C5A9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C0E7812-B0BE-BC16-3E3C-B1DAFA22DCC7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C0E7812-B0BE-BC16-3E3C-B1DAFA22D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0B5213F-C481-0F49-8D44-992BBAA29981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0B5213F-C481-0F49-8D44-992BBAA29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6860F39-77F4-64FC-DB8B-79148FA47C14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0F7ACA-6D39-B184-DF27-9504624C1046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AA01C3-3D25-750D-79F3-D88DB19CCFD8}"/>
              </a:ext>
            </a:extLst>
          </p:cNvPr>
          <p:cNvSpPr/>
          <p:nvPr/>
        </p:nvSpPr>
        <p:spPr>
          <a:xfrm>
            <a:off x="904786" y="2047101"/>
            <a:ext cx="2147724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0D38DFA-CB86-52A1-E79E-97C24053770D}"/>
                  </a:ext>
                </a:extLst>
              </p:cNvPr>
              <p:cNvSpPr txBox="1"/>
              <p:nvPr/>
            </p:nvSpPr>
            <p:spPr>
              <a:xfrm>
                <a:off x="339365" y="2930819"/>
                <a:ext cx="2309568" cy="369332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innocent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0D38DFA-CB86-52A1-E79E-97C240537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5" y="2930819"/>
                <a:ext cx="2309568" cy="369332"/>
              </a:xfrm>
              <a:prstGeom prst="rect">
                <a:avLst/>
              </a:prstGeom>
              <a:blipFill>
                <a:blip r:embed="rId11"/>
                <a:stretch>
                  <a:fillRect l="-2100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062335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6C27F-86BD-CEBF-09A9-9FC5EA226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95E87-9E36-B421-1133-9AB033C60F74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52533-0514-EB0E-7C10-4EE803C9D265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CCE368-40D1-F6D8-A5FC-A09F2CC49FE8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D8931C-C4E2-88B7-1180-A23196D8E150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EFDBABA-1DEC-2008-B966-AF49BDF852BA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E72DA9-9673-B686-A043-0C60456B901B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756992B-4E0A-AC6B-90C0-909E42E41380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2550C2-CF9C-945A-F800-3311C816D69B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5C0B79-47D5-AD77-46C7-6B20C4B03ABB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D8DC1B-0BF7-42DB-B3C2-EF78CF0A6CA0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D8DC1B-0BF7-42DB-B3C2-EF78CF0A6C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489625-B1B0-FD5F-A73A-348130080BD3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489625-B1B0-FD5F-A73A-348130080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D97749D-7CAA-D751-28A6-D43D02E8BB2B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D97749D-7CAA-D751-28A6-D43D02E8B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0A8D263-0AA6-DD85-32F3-EA3380AB4DC9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7DE067B-E605-3C3E-FED4-6EB04486F064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01AB19B-268A-F923-941E-A412389C2082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E425F8-8C39-D289-7514-9BFE4E860403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2A08F98-D38D-4A83-AFAD-EE669B60F422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2A08F98-D38D-4A83-AFAD-EE669B60F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74BF40D-51E5-7B42-ECED-163520A0458C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74BF40D-51E5-7B42-ECED-163520A04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DB950B-FED3-3E52-B9D4-C957DC71361F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66FCA0D-74B1-4DB2-2AF9-02E1A9B38332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16AF09-AF01-E7C5-56CA-DC117BBF4156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72249A9-8EC5-9FB0-737A-ECFA3CB9F0C1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72249A9-8EC5-9FB0-737A-ECFA3CB9F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F1E73CE-3514-62F7-FD60-D37A7C79923C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F1E73CE-3514-62F7-FD60-D37A7C799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9268A25-4CDF-DD79-E25E-27C8F4ED5642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E6B53E6-045C-6594-7AE5-4E19B785816B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1DD937-F89F-E466-5178-DB40937DCE7F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CE0BBD0-F562-B304-D617-08430DF001EB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CE0BBD0-F562-B304-D617-08430DF00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96BA6BE-4A95-E8DE-A14D-0734FAF2C4A0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96BA6BE-4A95-E8DE-A14D-0734FAF2C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99BA088-3AEB-C9F1-9213-C0D50D86461E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B516F4-0E68-C861-E1FF-C1D16ABDBD7E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88FEC0-7136-0936-B37E-050FC09B2C47}"/>
              </a:ext>
            </a:extLst>
          </p:cNvPr>
          <p:cNvSpPr/>
          <p:nvPr/>
        </p:nvSpPr>
        <p:spPr>
          <a:xfrm>
            <a:off x="904786" y="2047101"/>
            <a:ext cx="2147724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8CCD5C6-50B6-72C6-62EF-E9EC7C745740}"/>
                  </a:ext>
                </a:extLst>
              </p:cNvPr>
              <p:cNvSpPr txBox="1"/>
              <p:nvPr/>
            </p:nvSpPr>
            <p:spPr>
              <a:xfrm>
                <a:off x="339365" y="2930819"/>
                <a:ext cx="2309568" cy="369332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innocent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8CCD5C6-50B6-72C6-62EF-E9EC7C745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5" y="2930819"/>
                <a:ext cx="2309568" cy="369332"/>
              </a:xfrm>
              <a:prstGeom prst="rect">
                <a:avLst/>
              </a:prstGeom>
              <a:blipFill>
                <a:blip r:embed="rId11"/>
                <a:stretch>
                  <a:fillRect l="-2100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7DE4EF14-8E65-E3C3-98C1-FF5599E9D1B2}"/>
              </a:ext>
            </a:extLst>
          </p:cNvPr>
          <p:cNvSpPr txBox="1"/>
          <p:nvPr/>
        </p:nvSpPr>
        <p:spPr>
          <a:xfrm>
            <a:off x="339365" y="3572759"/>
            <a:ext cx="39129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Notice that we can divide the rectangle into two pieces – one covering the events in which the defendant is innocent, one covering the events in which the defendant is guilty.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1AE8458-91D6-1325-FE1D-399758347E9B}"/>
              </a:ext>
            </a:extLst>
          </p:cNvPr>
          <p:cNvSpPr/>
          <p:nvPr/>
        </p:nvSpPr>
        <p:spPr>
          <a:xfrm>
            <a:off x="6660776" y="2270059"/>
            <a:ext cx="5289177" cy="1029322"/>
          </a:xfrm>
          <a:prstGeom prst="rect">
            <a:avLst/>
          </a:prstGeom>
          <a:solidFill>
            <a:srgbClr val="418AB3">
              <a:alpha val="69804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938194-682A-AB13-AFF2-056494FCC05A}"/>
              </a:ext>
            </a:extLst>
          </p:cNvPr>
          <p:cNvSpPr/>
          <p:nvPr/>
        </p:nvSpPr>
        <p:spPr>
          <a:xfrm>
            <a:off x="8283388" y="3299381"/>
            <a:ext cx="3649487" cy="1029322"/>
          </a:xfrm>
          <a:prstGeom prst="rect">
            <a:avLst/>
          </a:prstGeom>
          <a:solidFill>
            <a:srgbClr val="418AB3">
              <a:alpha val="69804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00FCC97-A88D-C3C9-C359-F8094A848063}"/>
              </a:ext>
            </a:extLst>
          </p:cNvPr>
          <p:cNvSpPr/>
          <p:nvPr/>
        </p:nvSpPr>
        <p:spPr>
          <a:xfrm>
            <a:off x="10849050" y="4328703"/>
            <a:ext cx="1092364" cy="1351528"/>
          </a:xfrm>
          <a:prstGeom prst="rect">
            <a:avLst/>
          </a:prstGeom>
          <a:solidFill>
            <a:srgbClr val="418AB3">
              <a:alpha val="69804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345157B-B18E-CBEB-0A4E-CEC1A296EA63}"/>
              </a:ext>
            </a:extLst>
          </p:cNvPr>
          <p:cNvSpPr/>
          <p:nvPr/>
        </p:nvSpPr>
        <p:spPr>
          <a:xfrm>
            <a:off x="6657866" y="3321411"/>
            <a:ext cx="1599099" cy="3330393"/>
          </a:xfrm>
          <a:prstGeom prst="rect">
            <a:avLst/>
          </a:prstGeom>
          <a:solidFill>
            <a:schemeClr val="accent5">
              <a:alpha val="69804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7A3FACD-F1FF-35E0-AD06-3F7482B68269}"/>
              </a:ext>
            </a:extLst>
          </p:cNvPr>
          <p:cNvSpPr/>
          <p:nvPr/>
        </p:nvSpPr>
        <p:spPr>
          <a:xfrm>
            <a:off x="8274849" y="4363590"/>
            <a:ext cx="2592080" cy="2288214"/>
          </a:xfrm>
          <a:prstGeom prst="rect">
            <a:avLst/>
          </a:prstGeom>
          <a:solidFill>
            <a:schemeClr val="accent5">
              <a:alpha val="69804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075B28C-A386-4BBA-4AB6-7C0030EF7B3D}"/>
              </a:ext>
            </a:extLst>
          </p:cNvPr>
          <p:cNvSpPr/>
          <p:nvPr/>
        </p:nvSpPr>
        <p:spPr>
          <a:xfrm>
            <a:off x="10799750" y="5713893"/>
            <a:ext cx="1141663" cy="962822"/>
          </a:xfrm>
          <a:prstGeom prst="rect">
            <a:avLst/>
          </a:prstGeom>
          <a:solidFill>
            <a:schemeClr val="accent5">
              <a:alpha val="69804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75128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67C2E-4E66-C7E4-090D-9C58D8786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52799-03AA-AD3A-B08F-87E49BF757DA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8D9F64-B3BC-B31C-1AE2-4726BA451580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44057A-1044-6806-FCF7-EBE70C464BE1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45EF65-5E31-C58F-7275-475F72AAB9C2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33B8250-82A9-2B4D-7928-D03E2D39332B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0D4445-4B2D-AD4C-CE84-8FCEE7C26F16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39466AC-613B-F85C-408E-71E0B1FC8E5E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AD9764-A482-7E0C-E008-B8ACF83A01EA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F673D5-7A01-1D6B-836B-7C0F4AF38F54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35AFC0-EE6A-31BD-B69F-9B28A06DD091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35AFC0-EE6A-31BD-B69F-9B28A06DD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218A4B2-0E58-2416-EE22-78B06EDF1921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218A4B2-0E58-2416-EE22-78B06EDF1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8DDD73E-F749-BF9B-C8B1-3973F073DF73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8DDD73E-F749-BF9B-C8B1-3973F073D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782559E-48F4-21C6-8171-2B469BCB8748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0DB80AD-E4D1-0290-AC05-2660F04A0DD9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F3A0892-A3E9-EC69-106C-FF4D8DB04C74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837EF8-36F4-A484-DE72-1C78461AFA2E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CCF9B7B-427C-1ECB-9AB6-52992991FEEC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CCF9B7B-427C-1ECB-9AB6-52992991F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FE53E24-ADD6-4BBE-7B3F-BFE510E8B162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FE53E24-ADD6-4BBE-7B3F-BFE510E8B1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4D302AA-AE3F-0F59-6448-8DF4C985C6AE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6FCCE32-9FAC-9FB7-5110-78D7DC1DADAD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06A4A2-F372-6742-B1FC-63C57A0A9128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F01FA53-AC9D-5D1B-1DC2-6B1AE39CBE5B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F01FA53-AC9D-5D1B-1DC2-6B1AE39CB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4DDBC0-D716-7678-B92C-4CC0E449DCA9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4DDBC0-D716-7678-B92C-4CC0E449D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7FD2BC3-E55D-3FC6-C168-5C2757B2F62D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90565B6-4CB3-315C-FE20-ED73DDCEF40B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ED9F0A-4306-3121-A491-F6593A7455AE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DB507BA-BA04-9027-412D-674FAB0BAB4B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DB507BA-BA04-9027-412D-674FAB0BAB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91B485E-9E1D-E8C9-B227-A0C1FA48E927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91B485E-9E1D-E8C9-B227-A0C1FA48E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EB25C66-17C6-A16C-FD7D-CDA73C5EA4B4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1C41F9-A989-82FC-B01E-70111ECF7F9F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0A08C53-4937-B1F0-1180-10B32F20EEFA}"/>
              </a:ext>
            </a:extLst>
          </p:cNvPr>
          <p:cNvSpPr/>
          <p:nvPr/>
        </p:nvSpPr>
        <p:spPr>
          <a:xfrm>
            <a:off x="904786" y="2047101"/>
            <a:ext cx="2147724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07759F2-7364-5D22-124D-88456955E113}"/>
                  </a:ext>
                </a:extLst>
              </p:cNvPr>
              <p:cNvSpPr txBox="1"/>
              <p:nvPr/>
            </p:nvSpPr>
            <p:spPr>
              <a:xfrm>
                <a:off x="339365" y="2930819"/>
                <a:ext cx="2309568" cy="369332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innocent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07759F2-7364-5D22-124D-88456955E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5" y="2930819"/>
                <a:ext cx="2309568" cy="369332"/>
              </a:xfrm>
              <a:prstGeom prst="rect">
                <a:avLst/>
              </a:prstGeom>
              <a:blipFill>
                <a:blip r:embed="rId11"/>
                <a:stretch>
                  <a:fillRect l="-2100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BE478E5-1049-7CDB-3E85-10EDFE61A6C8}"/>
                  </a:ext>
                </a:extLst>
              </p:cNvPr>
              <p:cNvSpPr txBox="1"/>
              <p:nvPr/>
            </p:nvSpPr>
            <p:spPr>
              <a:xfrm>
                <a:off x="97396" y="4139929"/>
                <a:ext cx="5032781" cy="6669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where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defendant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is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innocent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whole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rectangle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BE478E5-1049-7CDB-3E85-10EDFE61A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96" y="4139929"/>
                <a:ext cx="5032781" cy="66691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F90CB9D5-9E95-A77F-7426-53F08AE8F4E7}"/>
              </a:ext>
            </a:extLst>
          </p:cNvPr>
          <p:cNvSpPr/>
          <p:nvPr/>
        </p:nvSpPr>
        <p:spPr>
          <a:xfrm>
            <a:off x="6660776" y="2270059"/>
            <a:ext cx="5289177" cy="1029322"/>
          </a:xfrm>
          <a:prstGeom prst="rect">
            <a:avLst/>
          </a:prstGeom>
          <a:solidFill>
            <a:srgbClr val="418AB3">
              <a:alpha val="69804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ECEDE8C-8A4E-A4EF-9912-7ACBFAAA0F34}"/>
              </a:ext>
            </a:extLst>
          </p:cNvPr>
          <p:cNvSpPr/>
          <p:nvPr/>
        </p:nvSpPr>
        <p:spPr>
          <a:xfrm>
            <a:off x="8283388" y="3299381"/>
            <a:ext cx="3649487" cy="1029322"/>
          </a:xfrm>
          <a:prstGeom prst="rect">
            <a:avLst/>
          </a:prstGeom>
          <a:solidFill>
            <a:srgbClr val="418AB3">
              <a:alpha val="69804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84647E2-F939-EDDE-9B4C-1D3E98FECE66}"/>
              </a:ext>
            </a:extLst>
          </p:cNvPr>
          <p:cNvSpPr/>
          <p:nvPr/>
        </p:nvSpPr>
        <p:spPr>
          <a:xfrm>
            <a:off x="10849050" y="4328703"/>
            <a:ext cx="1092364" cy="1351528"/>
          </a:xfrm>
          <a:prstGeom prst="rect">
            <a:avLst/>
          </a:prstGeom>
          <a:solidFill>
            <a:srgbClr val="418AB3">
              <a:alpha val="69804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4232A6-F900-3560-86E1-56C22757FDA0}"/>
              </a:ext>
            </a:extLst>
          </p:cNvPr>
          <p:cNvSpPr/>
          <p:nvPr/>
        </p:nvSpPr>
        <p:spPr>
          <a:xfrm>
            <a:off x="6657866" y="3321411"/>
            <a:ext cx="1599099" cy="3330393"/>
          </a:xfrm>
          <a:prstGeom prst="rect">
            <a:avLst/>
          </a:prstGeom>
          <a:solidFill>
            <a:schemeClr val="accent5">
              <a:alpha val="69804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633C0A0-77AB-12DD-07DC-CC37DEEABE81}"/>
              </a:ext>
            </a:extLst>
          </p:cNvPr>
          <p:cNvSpPr/>
          <p:nvPr/>
        </p:nvSpPr>
        <p:spPr>
          <a:xfrm>
            <a:off x="8274849" y="4363590"/>
            <a:ext cx="2592080" cy="2288214"/>
          </a:xfrm>
          <a:prstGeom prst="rect">
            <a:avLst/>
          </a:prstGeom>
          <a:solidFill>
            <a:schemeClr val="accent5">
              <a:alpha val="69804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14DF31B-52FA-D316-4A47-30B541BADE2B}"/>
              </a:ext>
            </a:extLst>
          </p:cNvPr>
          <p:cNvSpPr/>
          <p:nvPr/>
        </p:nvSpPr>
        <p:spPr>
          <a:xfrm>
            <a:off x="10799750" y="5713893"/>
            <a:ext cx="1141663" cy="962822"/>
          </a:xfrm>
          <a:prstGeom prst="rect">
            <a:avLst/>
          </a:prstGeom>
          <a:solidFill>
            <a:schemeClr val="accent5">
              <a:alpha val="69804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6573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90A05-192F-E743-8008-D3AAFC776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CDD3D-F736-03C1-6578-2E7300D3C19F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832691-A333-6815-1FC3-8F3F759E08AA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DAB08C-B207-5F90-FF24-6822A13F7AFF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7EF2B0-8E6A-BD2E-AA55-73EE0F291F8D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17E814-7163-67EB-8EBE-1647528C90CB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985609-6F91-7A77-F62E-AB18615F8AAE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68C0DC7-8BFF-CD25-A235-F26F8B44BAD2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FED1ED-C98E-8FF2-AB4A-38C576B4818C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5B8766-7350-03B4-7763-E07684BB42AF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AAA0974-8368-55E5-A35A-C645E7F4E6CF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AAA0974-8368-55E5-A35A-C645E7F4E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A651EA-9EE5-7070-25CE-B693641F7D86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A651EA-9EE5-7070-25CE-B693641F7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B945B9C-1430-2B4D-1364-0483A5808B44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B945B9C-1430-2B4D-1364-0483A5808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5D5B212-B1EE-978A-727F-34F811257312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276332-E921-9C1D-EBE6-173C66D66481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7CB7AD0-1E38-9472-D56A-22AA1F4A29F9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B150E2-6048-2531-F657-7FEE29422FEF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1ED6718-38FC-86E3-E12A-FFE1EF884DD2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1ED6718-38FC-86E3-E12A-FFE1EF884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32134BD-DE99-66AC-552D-AF2608D3B655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32134BD-DE99-66AC-552D-AF2608D3B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AF43FA0-294D-C72D-B5A2-A39D89A9607D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BDD5EF7-4EA4-9F29-B54B-33C4F6DEE864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15F644-FD29-BA60-EE45-26568A73965C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4DCD4A4-98C2-98C6-95BC-54356499502C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4DCD4A4-98C2-98C6-95BC-543564995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E87AF2F-24FC-8528-1F96-10B075AD0609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E87AF2F-24FC-8528-1F96-10B075AD0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C2CA992-C106-3F13-36E4-80B512DF194C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33B3F18-AEA1-1445-AD53-234F2BD60369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1C0984-5DC3-4221-4ED3-9DB2FDA63DF1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3372367-761E-7B56-92A3-E4162C28BD90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3372367-761E-7B56-92A3-E4162C28B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E676656-9EE1-718B-AECE-BA054A4F35CC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E676656-9EE1-718B-AECE-BA054A4F3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0D2EA6D-5E9F-6F07-A437-44E2CC407533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84A7A0-9287-8F8B-3522-EF50C814E1B3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F7BFC8E-E5D3-9CBE-ABA2-7E6650353DEE}"/>
              </a:ext>
            </a:extLst>
          </p:cNvPr>
          <p:cNvSpPr/>
          <p:nvPr/>
        </p:nvSpPr>
        <p:spPr>
          <a:xfrm>
            <a:off x="904786" y="2047101"/>
            <a:ext cx="2147724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1710075-5306-8BE3-ED12-2890003D0176}"/>
                  </a:ext>
                </a:extLst>
              </p:cNvPr>
              <p:cNvSpPr txBox="1"/>
              <p:nvPr/>
            </p:nvSpPr>
            <p:spPr>
              <a:xfrm>
                <a:off x="339365" y="2930819"/>
                <a:ext cx="2309568" cy="369332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innocent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1710075-5306-8BE3-ED12-2890003D0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5" y="2930819"/>
                <a:ext cx="2309568" cy="369332"/>
              </a:xfrm>
              <a:prstGeom prst="rect">
                <a:avLst/>
              </a:prstGeom>
              <a:blipFill>
                <a:blip r:embed="rId11"/>
                <a:stretch>
                  <a:fillRect l="-2100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48C108C-EAD6-581B-BC0E-50E95752E006}"/>
                  </a:ext>
                </a:extLst>
              </p:cNvPr>
              <p:cNvSpPr txBox="1"/>
              <p:nvPr/>
            </p:nvSpPr>
            <p:spPr>
              <a:xfrm>
                <a:off x="97396" y="4139929"/>
                <a:ext cx="5032781" cy="617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where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defendant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is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innocent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48C108C-EAD6-581B-BC0E-50E95752E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96" y="4139929"/>
                <a:ext cx="5032781" cy="61709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0EDAF19B-3F0F-EA70-DE9A-729BE16E0370}"/>
              </a:ext>
            </a:extLst>
          </p:cNvPr>
          <p:cNvSpPr/>
          <p:nvPr/>
        </p:nvSpPr>
        <p:spPr>
          <a:xfrm>
            <a:off x="6660776" y="2270059"/>
            <a:ext cx="5289177" cy="1029322"/>
          </a:xfrm>
          <a:prstGeom prst="rect">
            <a:avLst/>
          </a:prstGeom>
          <a:solidFill>
            <a:srgbClr val="418AB3">
              <a:alpha val="69804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E551530-A9F3-E0D9-848A-60BDB017AC6D}"/>
              </a:ext>
            </a:extLst>
          </p:cNvPr>
          <p:cNvSpPr/>
          <p:nvPr/>
        </p:nvSpPr>
        <p:spPr>
          <a:xfrm>
            <a:off x="8283388" y="3299381"/>
            <a:ext cx="3649487" cy="1029322"/>
          </a:xfrm>
          <a:prstGeom prst="rect">
            <a:avLst/>
          </a:prstGeom>
          <a:solidFill>
            <a:srgbClr val="418AB3">
              <a:alpha val="69804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15A7AFE-E472-C695-2A21-DBF344BD004F}"/>
              </a:ext>
            </a:extLst>
          </p:cNvPr>
          <p:cNvSpPr/>
          <p:nvPr/>
        </p:nvSpPr>
        <p:spPr>
          <a:xfrm>
            <a:off x="10849050" y="4328703"/>
            <a:ext cx="1092364" cy="1351528"/>
          </a:xfrm>
          <a:prstGeom prst="rect">
            <a:avLst/>
          </a:prstGeom>
          <a:solidFill>
            <a:srgbClr val="418AB3">
              <a:alpha val="69804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16F5A51-4168-2310-EF41-A14E574DA04F}"/>
              </a:ext>
            </a:extLst>
          </p:cNvPr>
          <p:cNvSpPr/>
          <p:nvPr/>
        </p:nvSpPr>
        <p:spPr>
          <a:xfrm>
            <a:off x="6657866" y="3321411"/>
            <a:ext cx="1599099" cy="3330393"/>
          </a:xfrm>
          <a:prstGeom prst="rect">
            <a:avLst/>
          </a:prstGeom>
          <a:solidFill>
            <a:schemeClr val="accent5">
              <a:alpha val="69804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2195062-3640-EB46-FDC8-A975DC3185DD}"/>
              </a:ext>
            </a:extLst>
          </p:cNvPr>
          <p:cNvSpPr/>
          <p:nvPr/>
        </p:nvSpPr>
        <p:spPr>
          <a:xfrm>
            <a:off x="8274849" y="4363590"/>
            <a:ext cx="2592080" cy="2288214"/>
          </a:xfrm>
          <a:prstGeom prst="rect">
            <a:avLst/>
          </a:prstGeom>
          <a:solidFill>
            <a:schemeClr val="accent5">
              <a:alpha val="69804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21A152E-4CC1-AAC8-2A23-7498A14BC3A4}"/>
              </a:ext>
            </a:extLst>
          </p:cNvPr>
          <p:cNvSpPr/>
          <p:nvPr/>
        </p:nvSpPr>
        <p:spPr>
          <a:xfrm>
            <a:off x="10799750" y="5713893"/>
            <a:ext cx="1141663" cy="962822"/>
          </a:xfrm>
          <a:prstGeom prst="rect">
            <a:avLst/>
          </a:prstGeom>
          <a:solidFill>
            <a:schemeClr val="accent5">
              <a:alpha val="69804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91627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0DB58-CA95-96B8-DB10-B946613B8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ECAE0-AFEB-A7B3-0D30-8E06AB399C63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FD5286-662D-D975-788C-BD286CA5AAFC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A7C6CA-DB51-20AC-F806-A185A5AA0F54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92C81F-FC61-CBAC-1287-93369D7FEE46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605E80-8714-30C2-BB28-A7E9ABA3707E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BD720A-9A68-3039-218F-2D48D379B232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3BAEA61-B7E7-39F0-A35D-8936B24B2AF6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B3DCE0-2FF1-6799-5A9D-3D9E49CF455D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92EEEA-1F3A-48D8-FC1B-12D201AE565C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EEA218-E322-4638-1161-8B7075C4E638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EEA218-E322-4638-1161-8B7075C4E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696D966-9DC5-207B-D8F7-340B353E0DF1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696D966-9DC5-207B-D8F7-340B353E0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34BF003-BAE8-6BCB-35AC-FE147725E110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34BF003-BAE8-6BCB-35AC-FE147725E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2EA6AB1-497B-E144-DF83-7932350CA3FE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FE376F7-BBF6-7FBA-CFA1-1D0A3245D7FE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F396C4A-B4D7-1A89-9572-311472A38688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D5C531-9444-CA33-11F6-8ECBA18B621D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E71EF00-155C-7522-52DF-25DF7063FBDD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E71EF00-155C-7522-52DF-25DF7063F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7D39892-AAD4-1FDE-3CB7-188206AA192F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7D39892-AAD4-1FDE-3CB7-188206AA1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8CF50F2-D5D8-6D37-6223-456485BFA70A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D4C223B-FB5D-E7C1-2E76-D105C62F212D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988EA6-FFF5-415C-8BE9-70C46CE5E8F0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5946A2B-C8C7-D0D4-DDE7-04651ED2120D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5946A2B-C8C7-D0D4-DDE7-04651ED21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0F53304-50D9-2BCC-D8AB-006790807FC1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0F53304-50D9-2BCC-D8AB-006790807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7F24974-3D68-9366-A79D-04B38B67EFCD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70B90C8-351B-6A6F-7E99-A9EE99E08485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938771-4133-D04E-0E50-223BA15E4B70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38A78A5-119E-39EC-7A85-EF69B63FC8D2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38A78A5-119E-39EC-7A85-EF69B63FC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D3EC49E-1A9F-09EE-F7D1-1DB87107066A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D3EC49E-1A9F-09EE-F7D1-1DB871070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F59F53C-EC81-98F5-AB5C-8CDC14E8B3E8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3C5B54-D762-A00D-7E28-2263C71C7424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63242B3-6195-D364-8077-716498B14622}"/>
              </a:ext>
            </a:extLst>
          </p:cNvPr>
          <p:cNvSpPr/>
          <p:nvPr/>
        </p:nvSpPr>
        <p:spPr>
          <a:xfrm>
            <a:off x="904786" y="2047101"/>
            <a:ext cx="2147724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C652F12-B99B-5848-C583-71CB8091CC20}"/>
                  </a:ext>
                </a:extLst>
              </p:cNvPr>
              <p:cNvSpPr txBox="1"/>
              <p:nvPr/>
            </p:nvSpPr>
            <p:spPr>
              <a:xfrm>
                <a:off x="339365" y="2930819"/>
                <a:ext cx="2309568" cy="369332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innocent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C652F12-B99B-5848-C583-71CB8091C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5" y="2930819"/>
                <a:ext cx="2309568" cy="369332"/>
              </a:xfrm>
              <a:prstGeom prst="rect">
                <a:avLst/>
              </a:prstGeom>
              <a:blipFill>
                <a:blip r:embed="rId11"/>
                <a:stretch>
                  <a:fillRect l="-2100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55FBD97-5CE4-6043-D3EE-60C23ECD582C}"/>
                  </a:ext>
                </a:extLst>
              </p:cNvPr>
              <p:cNvSpPr txBox="1"/>
              <p:nvPr/>
            </p:nvSpPr>
            <p:spPr>
              <a:xfrm>
                <a:off x="97396" y="4139929"/>
                <a:ext cx="5032781" cy="6783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box>
                                <m:box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den>
                                  </m:f>
                                </m:e>
                              </m:box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box>
                                <m:box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16</m:t>
                                      </m:r>
                                    </m:den>
                                  </m:f>
                                </m:e>
                              </m:box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box>
                                <m:box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box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box>
                                <m:box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16</m:t>
                                      </m:r>
                                    </m:den>
                                  </m:f>
                                </m:e>
                              </m:box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box>
                                <m:box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den>
                                  </m:f>
                                </m:e>
                              </m:box>
                            </m:e>
                          </m:box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55FBD97-5CE4-6043-D3EE-60C23ECD5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96" y="4139929"/>
                <a:ext cx="5032781" cy="67839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F2527641-7BCB-C89A-043B-86153AEB1EC1}"/>
              </a:ext>
            </a:extLst>
          </p:cNvPr>
          <p:cNvSpPr/>
          <p:nvPr/>
        </p:nvSpPr>
        <p:spPr>
          <a:xfrm>
            <a:off x="6660776" y="2270059"/>
            <a:ext cx="5289177" cy="1029322"/>
          </a:xfrm>
          <a:prstGeom prst="rect">
            <a:avLst/>
          </a:prstGeom>
          <a:solidFill>
            <a:srgbClr val="418AB3">
              <a:alpha val="69804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B4C788D-E5DF-10E6-6CF3-E3B89173B442}"/>
              </a:ext>
            </a:extLst>
          </p:cNvPr>
          <p:cNvSpPr/>
          <p:nvPr/>
        </p:nvSpPr>
        <p:spPr>
          <a:xfrm>
            <a:off x="8283388" y="3299381"/>
            <a:ext cx="3649487" cy="1029322"/>
          </a:xfrm>
          <a:prstGeom prst="rect">
            <a:avLst/>
          </a:prstGeom>
          <a:solidFill>
            <a:srgbClr val="418AB3">
              <a:alpha val="69804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D3E4FC2-7934-A003-A6FC-714D3CE089F1}"/>
              </a:ext>
            </a:extLst>
          </p:cNvPr>
          <p:cNvSpPr/>
          <p:nvPr/>
        </p:nvSpPr>
        <p:spPr>
          <a:xfrm>
            <a:off x="10849050" y="4328703"/>
            <a:ext cx="1092364" cy="1351528"/>
          </a:xfrm>
          <a:prstGeom prst="rect">
            <a:avLst/>
          </a:prstGeom>
          <a:solidFill>
            <a:srgbClr val="418AB3">
              <a:alpha val="69804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1804DC1-D32B-FD89-A0B3-D543C861F054}"/>
              </a:ext>
            </a:extLst>
          </p:cNvPr>
          <p:cNvSpPr/>
          <p:nvPr/>
        </p:nvSpPr>
        <p:spPr>
          <a:xfrm>
            <a:off x="6657866" y="3321411"/>
            <a:ext cx="1599099" cy="3330393"/>
          </a:xfrm>
          <a:prstGeom prst="rect">
            <a:avLst/>
          </a:prstGeom>
          <a:solidFill>
            <a:schemeClr val="accent5">
              <a:alpha val="69804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A801D96-E568-8450-2F64-DEE02C818ABA}"/>
              </a:ext>
            </a:extLst>
          </p:cNvPr>
          <p:cNvSpPr/>
          <p:nvPr/>
        </p:nvSpPr>
        <p:spPr>
          <a:xfrm>
            <a:off x="8274849" y="4363590"/>
            <a:ext cx="2592080" cy="2288214"/>
          </a:xfrm>
          <a:prstGeom prst="rect">
            <a:avLst/>
          </a:prstGeom>
          <a:solidFill>
            <a:schemeClr val="accent5">
              <a:alpha val="69804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1D2B28B-2041-FD1B-986C-B6CB64C7D24B}"/>
              </a:ext>
            </a:extLst>
          </p:cNvPr>
          <p:cNvSpPr/>
          <p:nvPr/>
        </p:nvSpPr>
        <p:spPr>
          <a:xfrm>
            <a:off x="10799750" y="5713893"/>
            <a:ext cx="1141663" cy="962822"/>
          </a:xfrm>
          <a:prstGeom prst="rect">
            <a:avLst/>
          </a:prstGeom>
          <a:solidFill>
            <a:schemeClr val="accent5">
              <a:alpha val="69804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612735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CD469-C008-F81C-DBE5-695A2B83C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29F21-6810-F07A-8F67-AB8B1E53827B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7CDF43-7B24-C331-FE80-E6C48B776E94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62404B-F607-78E0-8BFE-372567FF6873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79129C-E348-E95F-F2B5-5C5B388D404B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7DE02D-78C0-F7D1-1E6B-FED395F983DC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1468B30-75EE-1E5E-1480-8E55B9616043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855B14D-F305-ECD2-5530-C6017EB0E655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834FD4-3370-723A-F3BC-5ED1E337E01E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98C304-04B9-DBCD-9D89-546BE8DAFC2C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2296EF6-8E1C-A606-1B5D-7D711743345C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2296EF6-8E1C-A606-1B5D-7D7117433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A3CF298-968C-D256-98F6-3F2B8CB52A91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A3CF298-968C-D256-98F6-3F2B8CB52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8EFB4E8-1356-2FE3-5F20-E3FF11ACD5B8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8EFB4E8-1356-2FE3-5F20-E3FF11ACD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A21FDDE-A822-7578-CEC9-D594A9BF673E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D86881C-CB00-24FE-2325-F36B63E1DBC6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311D6BD-E933-BC1A-D31D-5DED5B8ECFBE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DBBAF7-4120-8CB8-85CD-3F2F1EA7E230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94995B6-89D8-11CC-1E67-7F1B10C24189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94995B6-89D8-11CC-1E67-7F1B10C24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EAFCC19-DF2F-79E5-B3E6-8B817F1A0AE3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EAFCC19-DF2F-79E5-B3E6-8B817F1A0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0051B26-0D69-6142-2F4D-4D357911D3F3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EC88DAB-CFA3-C5ED-A5F8-44FFD12AEB2F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062EDF-35F6-3E21-ABA6-AE9CA32D2212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FB75B82-C15A-60CE-34F7-31BD81893D2D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FB75B82-C15A-60CE-34F7-31BD81893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80B890D-2245-16B0-F385-C920A84D06A4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80B890D-2245-16B0-F385-C920A84D0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4C0DBC8-0EFD-26E1-B2DA-4E1487F703FE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8789C5F-AF74-23C5-2E94-F567F530AC94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3C15E4-EB39-8911-1562-37A5273536CD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EF29735-175A-B332-B1A6-594DF62D5834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EF29735-175A-B332-B1A6-594DF62D5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82AC46B-C843-6612-EFA1-03A763F226DB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82AC46B-C843-6612-EFA1-03A763F22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6DA97CB-A712-643E-AC4A-FA42D696F548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AF235E-EB3B-B2F4-4D58-0425C78A67AB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EE80CC1-61F4-6E99-1B19-93A4E6C01B90}"/>
              </a:ext>
            </a:extLst>
          </p:cNvPr>
          <p:cNvSpPr/>
          <p:nvPr/>
        </p:nvSpPr>
        <p:spPr>
          <a:xfrm>
            <a:off x="904786" y="2047101"/>
            <a:ext cx="2147724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2E03095-B667-D3A7-19E1-D941FB504F78}"/>
                  </a:ext>
                </a:extLst>
              </p:cNvPr>
              <p:cNvSpPr txBox="1"/>
              <p:nvPr/>
            </p:nvSpPr>
            <p:spPr>
              <a:xfrm>
                <a:off x="339365" y="2930819"/>
                <a:ext cx="2309568" cy="369332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innocent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2E03095-B667-D3A7-19E1-D941FB504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5" y="2930819"/>
                <a:ext cx="2309568" cy="369332"/>
              </a:xfrm>
              <a:prstGeom prst="rect">
                <a:avLst/>
              </a:prstGeom>
              <a:blipFill>
                <a:blip r:embed="rId11"/>
                <a:stretch>
                  <a:fillRect l="-2100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790684F-67F1-81DE-E582-2662809B9355}"/>
                  </a:ext>
                </a:extLst>
              </p:cNvPr>
              <p:cNvSpPr txBox="1"/>
              <p:nvPr/>
            </p:nvSpPr>
            <p:spPr>
              <a:xfrm>
                <a:off x="97396" y="4139929"/>
                <a:ext cx="5032781" cy="6783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box>
                                <m:box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den>
                                  </m:f>
                                </m:e>
                              </m:box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box>
                                <m:box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16</m:t>
                                      </m:r>
                                    </m:den>
                                  </m:f>
                                </m:e>
                              </m:box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box>
                                <m:box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box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box>
                                <m:box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16</m:t>
                                      </m:r>
                                    </m:den>
                                  </m:f>
                                </m:e>
                              </m:box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box>
                                <m:box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den>
                                  </m:f>
                                </m:e>
                              </m:box>
                            </m:e>
                          </m:box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790684F-67F1-81DE-E582-2662809B9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96" y="4139929"/>
                <a:ext cx="5032781" cy="67839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AE3E7E8E-879B-0194-46F5-8D44411428F3}"/>
              </a:ext>
            </a:extLst>
          </p:cNvPr>
          <p:cNvSpPr/>
          <p:nvPr/>
        </p:nvSpPr>
        <p:spPr>
          <a:xfrm>
            <a:off x="6660776" y="2270059"/>
            <a:ext cx="5289177" cy="1029322"/>
          </a:xfrm>
          <a:prstGeom prst="rect">
            <a:avLst/>
          </a:prstGeom>
          <a:solidFill>
            <a:srgbClr val="418AB3">
              <a:alpha val="69804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7215324-B45A-2C10-B0DD-052F5024F888}"/>
              </a:ext>
            </a:extLst>
          </p:cNvPr>
          <p:cNvSpPr/>
          <p:nvPr/>
        </p:nvSpPr>
        <p:spPr>
          <a:xfrm>
            <a:off x="8283388" y="3299381"/>
            <a:ext cx="3649487" cy="1029322"/>
          </a:xfrm>
          <a:prstGeom prst="rect">
            <a:avLst/>
          </a:prstGeom>
          <a:solidFill>
            <a:srgbClr val="418AB3">
              <a:alpha val="69804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12E2270-181B-216D-EAB2-919045E87845}"/>
              </a:ext>
            </a:extLst>
          </p:cNvPr>
          <p:cNvSpPr/>
          <p:nvPr/>
        </p:nvSpPr>
        <p:spPr>
          <a:xfrm>
            <a:off x="10849050" y="4328703"/>
            <a:ext cx="1092364" cy="1351528"/>
          </a:xfrm>
          <a:prstGeom prst="rect">
            <a:avLst/>
          </a:prstGeom>
          <a:solidFill>
            <a:srgbClr val="418AB3">
              <a:alpha val="69804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74E21E3-9E8B-BD66-466F-7F4973B2FB34}"/>
              </a:ext>
            </a:extLst>
          </p:cNvPr>
          <p:cNvSpPr/>
          <p:nvPr/>
        </p:nvSpPr>
        <p:spPr>
          <a:xfrm>
            <a:off x="6657866" y="3321411"/>
            <a:ext cx="1599099" cy="3330393"/>
          </a:xfrm>
          <a:prstGeom prst="rect">
            <a:avLst/>
          </a:prstGeom>
          <a:solidFill>
            <a:schemeClr val="accent5">
              <a:alpha val="69804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07CB8DE-782F-2682-02AE-3231EEF2D73B}"/>
              </a:ext>
            </a:extLst>
          </p:cNvPr>
          <p:cNvSpPr/>
          <p:nvPr/>
        </p:nvSpPr>
        <p:spPr>
          <a:xfrm>
            <a:off x="8274849" y="4363590"/>
            <a:ext cx="2592080" cy="2288214"/>
          </a:xfrm>
          <a:prstGeom prst="rect">
            <a:avLst/>
          </a:prstGeom>
          <a:solidFill>
            <a:schemeClr val="accent5">
              <a:alpha val="69804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7BB60F2-EB69-40A5-2F08-49009D2FCC1D}"/>
              </a:ext>
            </a:extLst>
          </p:cNvPr>
          <p:cNvSpPr/>
          <p:nvPr/>
        </p:nvSpPr>
        <p:spPr>
          <a:xfrm>
            <a:off x="10799750" y="5713893"/>
            <a:ext cx="1141663" cy="962822"/>
          </a:xfrm>
          <a:prstGeom prst="rect">
            <a:avLst/>
          </a:prstGeom>
          <a:solidFill>
            <a:schemeClr val="accent5">
              <a:alpha val="69804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A7BC788-905C-C50D-43D6-6E0D78187007}"/>
              </a:ext>
            </a:extLst>
          </p:cNvPr>
          <p:cNvSpPr/>
          <p:nvPr/>
        </p:nvSpPr>
        <p:spPr>
          <a:xfrm>
            <a:off x="2427235" y="4024394"/>
            <a:ext cx="671260" cy="67839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88E4C7A-707B-20D0-AA7F-F6C497965DEE}"/>
              </a:ext>
            </a:extLst>
          </p:cNvPr>
          <p:cNvSpPr/>
          <p:nvPr/>
        </p:nvSpPr>
        <p:spPr>
          <a:xfrm>
            <a:off x="6657860" y="3275751"/>
            <a:ext cx="1607643" cy="3376053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5685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13F10-CF4F-68D2-721C-E9938BB56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ACB47-863A-035B-58EE-0278817A4312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0E913C-7C8B-8D3C-72D6-A474675363B3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994F56-2D6A-23CB-E6CF-E59A76BC2B68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0A726E-2974-D288-F6C2-281E7A44678D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231D06-95AC-2214-C0AB-6349722B699A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BC22ED9-0D50-BCE7-9456-111579A445FD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327F7B9-6ABB-6782-883B-003A1F0887C0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EAE06A-6693-C78C-B69A-67F698DD393F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4CF5B9-AC4E-17ED-B24E-A436626F9A0E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892D22-808A-D29F-A417-B1E78EEB514B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892D22-808A-D29F-A417-B1E78EEB5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26DFC04-BB6B-33CD-8251-9D357C355BBB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26DFC04-BB6B-33CD-8251-9D357C355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F0DAF0-A6FF-3B16-6E07-C51F27D1A066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F0DAF0-A6FF-3B16-6E07-C51F27D1A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AA3E320-3E29-1AB2-D768-0B3C0D655196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FDB25EF-0392-905C-B33B-43D4C779C068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5FA9BFD-1C50-893B-5FE2-4347A74EEBAE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7C99A7-C869-8C9C-90A6-152ABC80C19C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C89C15E-3AC6-8A7D-1E10-A7B91BA211A4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C89C15E-3AC6-8A7D-1E10-A7B91BA21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58962D4-EBD3-0CBF-02C3-5D2416B53D1F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58962D4-EBD3-0CBF-02C3-5D2416B53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BC87B97-C158-5BE9-2C5D-CAF6BAF95266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AC5B8BA-D399-0097-CCCC-9FAE8C5BA790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6B5C36-EF81-6EB5-BD51-8D1ED4E13860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9E13D49-7772-B4EA-30D4-BC3116C1587D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9E13D49-7772-B4EA-30D4-BC3116C15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0FA1FD4-406B-F67E-032F-90A9BEB15591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0FA1FD4-406B-F67E-032F-90A9BEB15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C3D5E46-7A2C-D144-926D-69DBB115076E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0F220CE-1164-97A1-649E-6F7453E89774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20704A-8093-2DBE-96A0-B39DCD85EBD9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44A52CA-8823-9CE3-0B4F-5459A1488961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44A52CA-8823-9CE3-0B4F-5459A1488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D7D58B2-4ADC-304D-15B8-BDECB4B507A7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D7D58B2-4ADC-304D-15B8-BDECB4B50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9A9A3FD-AF9A-1F00-7EA6-39150B66E426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54E36F-FF78-DA6D-EBBE-DCB79719AC27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7584C5-2E8D-AB19-AA66-25A1D67FA5A3}"/>
              </a:ext>
            </a:extLst>
          </p:cNvPr>
          <p:cNvSpPr/>
          <p:nvPr/>
        </p:nvSpPr>
        <p:spPr>
          <a:xfrm>
            <a:off x="904786" y="2047101"/>
            <a:ext cx="2147724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6E6C88E-38CC-FE82-5D6B-BA3430D2B0F1}"/>
                  </a:ext>
                </a:extLst>
              </p:cNvPr>
              <p:cNvSpPr txBox="1"/>
              <p:nvPr/>
            </p:nvSpPr>
            <p:spPr>
              <a:xfrm>
                <a:off x="339365" y="2930819"/>
                <a:ext cx="2309568" cy="369332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innocent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6E6C88E-38CC-FE82-5D6B-BA3430D2B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5" y="2930819"/>
                <a:ext cx="2309568" cy="369332"/>
              </a:xfrm>
              <a:prstGeom prst="rect">
                <a:avLst/>
              </a:prstGeom>
              <a:blipFill>
                <a:blip r:embed="rId11"/>
                <a:stretch>
                  <a:fillRect l="-2100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1FD9B1E-2F85-36F8-9305-7654A645D94E}"/>
                  </a:ext>
                </a:extLst>
              </p:cNvPr>
              <p:cNvSpPr txBox="1"/>
              <p:nvPr/>
            </p:nvSpPr>
            <p:spPr>
              <a:xfrm>
                <a:off x="97396" y="4139929"/>
                <a:ext cx="5032781" cy="6783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box>
                                <m:box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den>
                                  </m:f>
                                </m:e>
                              </m:box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box>
                                <m:box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16</m:t>
                                      </m:r>
                                    </m:den>
                                  </m:f>
                                </m:e>
                              </m:box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box>
                                <m:box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box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box>
                                <m:box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16</m:t>
                                      </m:r>
                                    </m:den>
                                  </m:f>
                                </m:e>
                              </m:box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box>
                                <m:box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den>
                                  </m:f>
                                </m:e>
                              </m:box>
                            </m:e>
                          </m:box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1FD9B1E-2F85-36F8-9305-7654A645D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96" y="4139929"/>
                <a:ext cx="5032781" cy="67839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5F87E4BA-97D4-67E1-48C1-705C0EEC5D24}"/>
              </a:ext>
            </a:extLst>
          </p:cNvPr>
          <p:cNvSpPr/>
          <p:nvPr/>
        </p:nvSpPr>
        <p:spPr>
          <a:xfrm>
            <a:off x="6660776" y="2270059"/>
            <a:ext cx="5289177" cy="1029322"/>
          </a:xfrm>
          <a:prstGeom prst="rect">
            <a:avLst/>
          </a:prstGeom>
          <a:solidFill>
            <a:srgbClr val="418AB3">
              <a:alpha val="69804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52B57D0-2772-BEC7-AB6C-1F32CE7960CF}"/>
              </a:ext>
            </a:extLst>
          </p:cNvPr>
          <p:cNvSpPr/>
          <p:nvPr/>
        </p:nvSpPr>
        <p:spPr>
          <a:xfrm>
            <a:off x="8283388" y="3299381"/>
            <a:ext cx="3649487" cy="1029322"/>
          </a:xfrm>
          <a:prstGeom prst="rect">
            <a:avLst/>
          </a:prstGeom>
          <a:solidFill>
            <a:srgbClr val="418AB3">
              <a:alpha val="69804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1228839-6B3D-7077-469C-22BE11437EA1}"/>
              </a:ext>
            </a:extLst>
          </p:cNvPr>
          <p:cNvSpPr/>
          <p:nvPr/>
        </p:nvSpPr>
        <p:spPr>
          <a:xfrm>
            <a:off x="10849050" y="4328703"/>
            <a:ext cx="1092364" cy="1351528"/>
          </a:xfrm>
          <a:prstGeom prst="rect">
            <a:avLst/>
          </a:prstGeom>
          <a:solidFill>
            <a:srgbClr val="418AB3">
              <a:alpha val="69804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A0D24DD-92AE-F44B-ADEA-1F76A55F8DCC}"/>
              </a:ext>
            </a:extLst>
          </p:cNvPr>
          <p:cNvSpPr/>
          <p:nvPr/>
        </p:nvSpPr>
        <p:spPr>
          <a:xfrm>
            <a:off x="6657866" y="3321411"/>
            <a:ext cx="1599099" cy="3330393"/>
          </a:xfrm>
          <a:prstGeom prst="rect">
            <a:avLst/>
          </a:prstGeom>
          <a:solidFill>
            <a:schemeClr val="accent5">
              <a:alpha val="69804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CB1D47B-CE90-4D1C-733A-141764874FA4}"/>
              </a:ext>
            </a:extLst>
          </p:cNvPr>
          <p:cNvSpPr/>
          <p:nvPr/>
        </p:nvSpPr>
        <p:spPr>
          <a:xfrm>
            <a:off x="8274849" y="4363590"/>
            <a:ext cx="2592080" cy="2288214"/>
          </a:xfrm>
          <a:prstGeom prst="rect">
            <a:avLst/>
          </a:prstGeom>
          <a:solidFill>
            <a:schemeClr val="accent5">
              <a:alpha val="69804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849A805-AF87-5D1F-FEBC-26183996C39A}"/>
              </a:ext>
            </a:extLst>
          </p:cNvPr>
          <p:cNvSpPr/>
          <p:nvPr/>
        </p:nvSpPr>
        <p:spPr>
          <a:xfrm>
            <a:off x="10799750" y="5713893"/>
            <a:ext cx="1141663" cy="962822"/>
          </a:xfrm>
          <a:prstGeom prst="rect">
            <a:avLst/>
          </a:prstGeom>
          <a:solidFill>
            <a:schemeClr val="accent5">
              <a:alpha val="69804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D2A2761-C276-3C31-C5F2-E803E5A815E2}"/>
              </a:ext>
            </a:extLst>
          </p:cNvPr>
          <p:cNvSpPr/>
          <p:nvPr/>
        </p:nvSpPr>
        <p:spPr>
          <a:xfrm>
            <a:off x="2996343" y="3989507"/>
            <a:ext cx="671260" cy="67839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C02EA34-DBE1-F57B-6F62-3814ACA3D2AF}"/>
              </a:ext>
            </a:extLst>
          </p:cNvPr>
          <p:cNvSpPr/>
          <p:nvPr/>
        </p:nvSpPr>
        <p:spPr>
          <a:xfrm>
            <a:off x="8294868" y="4362365"/>
            <a:ext cx="2572061" cy="2297473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65950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08B3E-DDA0-0E2F-36AC-09EE2497B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FCA4-17A4-16A3-EDF2-886377672E91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777922-83D9-43AB-BB7E-93AE01E719C1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57A885-0C09-3217-DE83-350506C2F963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07330A-E4B1-DA21-32E5-529FA07E795D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60D8208-64CA-B2A3-5A39-CA919672E478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946F728-2C75-901F-4474-882358D60E52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3734025-7904-1DC1-84E1-43E7DB48B65B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BC6570-96AF-97A0-E191-DC069D598223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C1EBBD-5EC9-743D-58F2-A318B7E33E38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1E3A30B-1886-8316-0AEC-4B5555C8A095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1E3A30B-1886-8316-0AEC-4B5555C8A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8FE737F-4E2A-D679-D1C9-30E4645EEA9C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8FE737F-4E2A-D679-D1C9-30E4645EE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A5291B5-97B0-66FF-B39C-7BFC293A0AD9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A5291B5-97B0-66FF-B39C-7BFC293A0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9784E03-ACB3-5C07-F1AE-AA3533871671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82CE9F6-AB18-2FAF-1EDE-71638161BC72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AB9C0F9-F000-B6CB-2599-0C6404D8518D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CC4C95-CB8F-6C1C-0768-AB5ECB5D423B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F2CE67-760E-E0E8-568F-2060A4B7BC83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F2CE67-760E-E0E8-568F-2060A4B7B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AC3AE6D-44A5-9CFC-E3EB-6AC4C271EFA1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AC3AE6D-44A5-9CFC-E3EB-6AC4C271E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90F8150-7595-0237-4A42-E91FFC2652A1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18FCF92-B47A-5068-9C1A-768021EB2C1B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6FB75F-94F5-71DA-05E5-B4FB3A7088B5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855489C-B39D-5990-3899-D3EBC114FF77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855489C-B39D-5990-3899-D3EBC114F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D5A45CD-D8BE-B7E4-6C9A-865CEFC60F3C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D5A45CD-D8BE-B7E4-6C9A-865CEFC60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F7DEE31-4B9F-4CE7-192B-79A1B8895242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5596F55-27C3-E942-9906-E6FCCD94FE8D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08E830-E18C-C6B8-AF8E-E4792935E99E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A9D90B1-DAF1-C4BD-B501-1C934F04907B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A9D90B1-DAF1-C4BD-B501-1C934F049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0450921-88CC-6285-AF22-F7FBFFE8080D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0450921-88CC-6285-AF22-F7FBFFE80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BB50D4A-EE61-2E00-39C4-A904FEA1EDD7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999BD8-B69D-5978-3393-6CCB9FC4E5DB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FD014F-A606-7AD4-3D48-76299E556BA2}"/>
              </a:ext>
            </a:extLst>
          </p:cNvPr>
          <p:cNvSpPr/>
          <p:nvPr/>
        </p:nvSpPr>
        <p:spPr>
          <a:xfrm>
            <a:off x="904786" y="2047101"/>
            <a:ext cx="2147724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1051924-6A6F-029C-7688-EA90BAED1A17}"/>
                  </a:ext>
                </a:extLst>
              </p:cNvPr>
              <p:cNvSpPr txBox="1"/>
              <p:nvPr/>
            </p:nvSpPr>
            <p:spPr>
              <a:xfrm>
                <a:off x="339365" y="2930819"/>
                <a:ext cx="2309568" cy="369332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innocent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1051924-6A6F-029C-7688-EA90BAED1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5" y="2930819"/>
                <a:ext cx="2309568" cy="369332"/>
              </a:xfrm>
              <a:prstGeom prst="rect">
                <a:avLst/>
              </a:prstGeom>
              <a:blipFill>
                <a:blip r:embed="rId11"/>
                <a:stretch>
                  <a:fillRect l="-2100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9BE696-FF87-CC12-EE11-944DE29296B3}"/>
                  </a:ext>
                </a:extLst>
              </p:cNvPr>
              <p:cNvSpPr txBox="1"/>
              <p:nvPr/>
            </p:nvSpPr>
            <p:spPr>
              <a:xfrm>
                <a:off x="97396" y="4139929"/>
                <a:ext cx="5032781" cy="6783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box>
                                <m:box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den>
                                  </m:f>
                                </m:e>
                              </m:box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box>
                                <m:box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16</m:t>
                                      </m:r>
                                    </m:den>
                                  </m:f>
                                </m:e>
                              </m:box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box>
                                <m:box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box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box>
                                <m:box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16</m:t>
                                      </m:r>
                                    </m:den>
                                  </m:f>
                                </m:e>
                              </m:box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box>
                                <m:box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den>
                                  </m:f>
                                </m:e>
                              </m:box>
                            </m:e>
                          </m:box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9BE696-FF87-CC12-EE11-944DE2929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96" y="4139929"/>
                <a:ext cx="5032781" cy="67839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2BE8CE64-213D-B9D8-1996-5EA9B1E8F4E7}"/>
              </a:ext>
            </a:extLst>
          </p:cNvPr>
          <p:cNvSpPr/>
          <p:nvPr/>
        </p:nvSpPr>
        <p:spPr>
          <a:xfrm>
            <a:off x="6660776" y="2270059"/>
            <a:ext cx="5289177" cy="1029322"/>
          </a:xfrm>
          <a:prstGeom prst="rect">
            <a:avLst/>
          </a:prstGeom>
          <a:solidFill>
            <a:srgbClr val="418AB3">
              <a:alpha val="69804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84BE03C-020B-6CFA-D739-60F6FA1DFC15}"/>
              </a:ext>
            </a:extLst>
          </p:cNvPr>
          <p:cNvSpPr/>
          <p:nvPr/>
        </p:nvSpPr>
        <p:spPr>
          <a:xfrm>
            <a:off x="8283388" y="3299381"/>
            <a:ext cx="3649487" cy="1029322"/>
          </a:xfrm>
          <a:prstGeom prst="rect">
            <a:avLst/>
          </a:prstGeom>
          <a:solidFill>
            <a:srgbClr val="418AB3">
              <a:alpha val="69804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DC85E40-AAA4-03F4-B0D3-0EC84082463D}"/>
              </a:ext>
            </a:extLst>
          </p:cNvPr>
          <p:cNvSpPr/>
          <p:nvPr/>
        </p:nvSpPr>
        <p:spPr>
          <a:xfrm>
            <a:off x="10849050" y="4328703"/>
            <a:ext cx="1092364" cy="1351528"/>
          </a:xfrm>
          <a:prstGeom prst="rect">
            <a:avLst/>
          </a:prstGeom>
          <a:solidFill>
            <a:srgbClr val="418AB3">
              <a:alpha val="69804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AF4210F-0F22-6ABF-94F2-B76CF30A9AD9}"/>
              </a:ext>
            </a:extLst>
          </p:cNvPr>
          <p:cNvSpPr/>
          <p:nvPr/>
        </p:nvSpPr>
        <p:spPr>
          <a:xfrm>
            <a:off x="6657866" y="3321411"/>
            <a:ext cx="1599099" cy="3330393"/>
          </a:xfrm>
          <a:prstGeom prst="rect">
            <a:avLst/>
          </a:prstGeom>
          <a:solidFill>
            <a:schemeClr val="accent5">
              <a:alpha val="69804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9634BC0-7A41-56E0-4E9A-35359C6682FC}"/>
              </a:ext>
            </a:extLst>
          </p:cNvPr>
          <p:cNvSpPr/>
          <p:nvPr/>
        </p:nvSpPr>
        <p:spPr>
          <a:xfrm>
            <a:off x="8274849" y="4363590"/>
            <a:ext cx="2592080" cy="2288214"/>
          </a:xfrm>
          <a:prstGeom prst="rect">
            <a:avLst/>
          </a:prstGeom>
          <a:solidFill>
            <a:schemeClr val="accent5">
              <a:alpha val="69804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8470603-C0B5-291F-3FF0-F576DD02527E}"/>
              </a:ext>
            </a:extLst>
          </p:cNvPr>
          <p:cNvSpPr/>
          <p:nvPr/>
        </p:nvSpPr>
        <p:spPr>
          <a:xfrm>
            <a:off x="10799750" y="5713893"/>
            <a:ext cx="1141663" cy="962822"/>
          </a:xfrm>
          <a:prstGeom prst="rect">
            <a:avLst/>
          </a:prstGeom>
          <a:solidFill>
            <a:schemeClr val="accent5">
              <a:alpha val="69804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D258DD2-2F88-26C1-4AB2-88D0FD9DD40A}"/>
              </a:ext>
            </a:extLst>
          </p:cNvPr>
          <p:cNvSpPr/>
          <p:nvPr/>
        </p:nvSpPr>
        <p:spPr>
          <a:xfrm>
            <a:off x="3645055" y="3989507"/>
            <a:ext cx="671260" cy="67839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1C85615-3D20-1000-3974-E6548B32043D}"/>
              </a:ext>
            </a:extLst>
          </p:cNvPr>
          <p:cNvSpPr/>
          <p:nvPr/>
        </p:nvSpPr>
        <p:spPr>
          <a:xfrm>
            <a:off x="10823002" y="5701281"/>
            <a:ext cx="1109873" cy="933741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313654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52273-CE1A-AA56-286D-4A422C1BA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46027-F798-C2DF-83B0-BDDF63C6A99D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1C3E22-E0E1-2E6B-0DD8-7950B547C33C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DE2E67-20A4-8422-3E03-89FC74B17D34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13AD6E-F058-E759-2F9F-77C6D4DB6A65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A58EAAF-C8A9-FACA-531C-F2BD20B0697D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4248778-A1F8-F26A-EBD7-E975A7437AC6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06291BA-1D71-BB38-E625-B0201031C418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865E7D-B0C0-DC6B-5D42-ACEAAF313970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956AC3-D104-8D02-1237-22F298DFD427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9507DE-61A8-9072-C19E-CAB18411C956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9507DE-61A8-9072-C19E-CAB18411C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B3126D-B26C-6AD0-2475-A79D3AA637C8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B3126D-B26C-6AD0-2475-A79D3AA63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457B918-E474-2973-95B2-34D2A792C50A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457B918-E474-2973-95B2-34D2A792C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2985CD5-7F0F-8F53-A561-45A235C7A575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BE0E0A5-CB19-E5D4-3544-4F0D945CEC62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CB20023-E96D-79F5-48C8-822DCA3245D2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1DD8FC-00A1-AE94-1FEF-CD357889C76A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D15768E-E2C7-52ED-CF25-3E730ACF8E5B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D15768E-E2C7-52ED-CF25-3E730ACF8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1FB1526-52C5-91C7-1A10-030EF5D84406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1FB1526-52C5-91C7-1A10-030EF5D84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48B4831-BC44-48A5-CBA8-E169F68185B3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E4344F2-C5A8-BCF1-53E3-C0A9CCDD7A10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C0D629-0435-FFE3-D888-77DB160EB200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EB4D2BF-15C8-2945-4145-EBA5AAD5BC0C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EB4D2BF-15C8-2945-4145-EBA5AAD5B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31443DF-BD59-50A3-F491-9725C10A5C89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31443DF-BD59-50A3-F491-9725C10A5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F770FB6-97C8-A108-E567-97192B3B8EC1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FF54AB4-48C3-B567-EDAE-96FAD369A7AD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DFF1B9-D0D4-3BCD-F565-A016B27BC50D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CB04C17-DA3E-0D6F-546D-FF15E19CFA0A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CB04C17-DA3E-0D6F-546D-FF15E19CF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D127383-3F26-BFF4-9B5A-BCA39C42ADFA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D127383-3F26-BFF4-9B5A-BCA39C42AD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AA75CDD-47D7-DB9C-FC70-E2A625A8802C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787F37-8DFD-83C8-7529-6E36E13D17F2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C24148-B4D9-EECF-5F04-E2E1628685B4}"/>
              </a:ext>
            </a:extLst>
          </p:cNvPr>
          <p:cNvSpPr/>
          <p:nvPr/>
        </p:nvSpPr>
        <p:spPr>
          <a:xfrm>
            <a:off x="904786" y="2047101"/>
            <a:ext cx="2147724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20639AC-FBF5-01E4-3231-A481ADF6EEE4}"/>
                  </a:ext>
                </a:extLst>
              </p:cNvPr>
              <p:cNvSpPr txBox="1"/>
              <p:nvPr/>
            </p:nvSpPr>
            <p:spPr>
              <a:xfrm>
                <a:off x="339365" y="2930819"/>
                <a:ext cx="2309568" cy="36933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/>
                  <a:t>TRY IT: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guilty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20639AC-FBF5-01E4-3231-A481ADF6E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5" y="2930819"/>
                <a:ext cx="2309568" cy="369332"/>
              </a:xfrm>
              <a:prstGeom prst="rect">
                <a:avLst/>
              </a:prstGeom>
              <a:blipFill>
                <a:blip r:embed="rId11"/>
                <a:stretch>
                  <a:fillRect l="-2100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614808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70403-1198-9A0E-AEDA-1481121DF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0E2E8-370D-46B1-96D7-D8CEDD07EA0E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B157AE-E1F7-E8CF-E893-6653E5073E57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C07A28-9B07-7BFB-C761-8A49E03AF153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3B7AEA-0892-E470-7C28-6241A3F28C09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A473B8-2081-9D93-A9EE-9E3B7E365769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68A5B8-61A4-0650-F009-F3B41B6654A6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B50CDE1-757B-29FD-A1CB-01AC1563ED50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23E87A-5AF7-9479-16D7-856934C3B805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CC774F-ED02-D152-21AD-0DB5E0707C75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99A13D-FC19-0D74-E4C8-3499AF22956A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99A13D-FC19-0D74-E4C8-3499AF2295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99B98EF-BC29-DC7B-89C6-2A1BD1069AD4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99B98EF-BC29-DC7B-89C6-2A1BD1069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E065793-56B1-2B7E-4B5D-17AB87DB5B22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E065793-56B1-2B7E-4B5D-17AB87DB5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5B12639-B425-D749-59FC-CAA22B1E1EF4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58CDA71-92B4-D90E-5BEF-5B70FE05A209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FDBB442-F96A-41F7-6D04-AA75AB66F248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707C43-2056-04A3-C970-32F13707E8B5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28AE9FE-D1E1-BD5C-AE11-5873E2230679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28AE9FE-D1E1-BD5C-AE11-5873E2230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9FC706A-663C-BE47-8407-6E7A2D99E5FC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9FC706A-663C-BE47-8407-6E7A2D99E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961549D-B7CA-8933-D95D-7583D889C772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85D66C1-7188-2A4F-97A4-DD2889723B3C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A1D01F-7CAB-17CA-D81A-3EC26E572AE7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B4157BE-81D5-39CC-CE21-59300E58B4D7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B4157BE-81D5-39CC-CE21-59300E58B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8C0E949-AB9F-A845-EBEA-076A1BCEF00A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8C0E949-AB9F-A845-EBEA-076A1BCEF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DE9733-DCE4-93DF-3B87-2F3760B5DCAA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A0E5E4A-3596-0E26-AAA7-A069D31EEDD1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7F1C49-8E0A-31AE-7C87-7B0D2C273246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9B8D6F1-CF4A-1FFD-C094-FEDEA7D81DCA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9B8D6F1-CF4A-1FFD-C094-FEDEA7D81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7E696CC-D2FB-3908-87AE-B8D6B195123A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7E696CC-D2FB-3908-87AE-B8D6B1951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1E2896E-7B51-397B-5896-791C7F32C56D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CD99EA-4DE2-1A8F-58DE-B29EA8E744EB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07EC8A-D54B-130F-1F04-5E2A7818A6A6}"/>
              </a:ext>
            </a:extLst>
          </p:cNvPr>
          <p:cNvSpPr/>
          <p:nvPr/>
        </p:nvSpPr>
        <p:spPr>
          <a:xfrm>
            <a:off x="904786" y="2047101"/>
            <a:ext cx="2147724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025AD52-B79D-F18C-2113-D79E53EFC9C9}"/>
                  </a:ext>
                </a:extLst>
              </p:cNvPr>
              <p:cNvSpPr txBox="1"/>
              <p:nvPr/>
            </p:nvSpPr>
            <p:spPr>
              <a:xfrm>
                <a:off x="339365" y="2930819"/>
                <a:ext cx="2309568" cy="36933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/>
                  <a:t>TRY IT: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guilty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025AD52-B79D-F18C-2113-D79E53EFC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5" y="2930819"/>
                <a:ext cx="2309568" cy="369332"/>
              </a:xfrm>
              <a:prstGeom prst="rect">
                <a:avLst/>
              </a:prstGeom>
              <a:blipFill>
                <a:blip r:embed="rId11"/>
                <a:stretch>
                  <a:fillRect l="-2100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C5BF755-1561-78EF-8AC3-43CAF2336DCC}"/>
                  </a:ext>
                </a:extLst>
              </p:cNvPr>
              <p:cNvSpPr txBox="1"/>
              <p:nvPr/>
            </p:nvSpPr>
            <p:spPr>
              <a:xfrm>
                <a:off x="562113" y="3790950"/>
                <a:ext cx="5023524" cy="2242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guilty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where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guilty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whole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rectangle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m:rPr>
                              <m:brk m:alnAt="6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C5BF755-1561-78EF-8AC3-43CAF2336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113" y="3790950"/>
                <a:ext cx="5023524" cy="224285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611697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BE300-F199-E8B0-4E0B-7FD9277FE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50E60-C507-EA45-DE86-2E9C4C14E487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FED4FF-563B-93CE-4AFD-1214CF2D3C84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B2A35A-AE85-677F-3935-D7E123C253D8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4A3D85-D1A7-E63B-56D8-C7E802C93BB7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519C7A-79D9-0761-6487-4B59D810B07A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BA5C0D-34CF-7170-92D2-1B10CB8986C3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A5BC111-4C32-B2AF-C743-A585DD590BEB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EBF64-1E65-AB11-E614-DD87C55263E4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FDC67E-E4D3-4E1C-7288-9D2E00E462EA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074A11D-662B-D2FF-A72A-0AEE7DB5B514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074A11D-662B-D2FF-A72A-0AEE7DB5B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55BD29C-B95E-B2A9-CB50-B47262CD60C1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55BD29C-B95E-B2A9-CB50-B47262CD6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B7116A7-250A-150A-C21A-D9AB82D274B1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B7116A7-250A-150A-C21A-D9AB82D27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B1B3C45-F75A-474D-D93C-9D9E6A0DCA1B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4E380F-1DD6-D977-7D88-5DD73668A93D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B3E2720-A460-BD62-5C1E-5810495AE3F5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96FBA9-465A-A3B6-7FBC-367931AF08D1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CDFDB0A-E4DF-38A8-574B-761C5DCED41A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CDFDB0A-E4DF-38A8-574B-761C5DCED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4B9971C-9FAA-3FDE-7326-837A9B0F23E3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4B9971C-9FAA-3FDE-7326-837A9B0F2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0729134-348E-DEC4-7F64-DC487B561A44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E0ECFB4-9028-5338-7162-15E7E2BF03F2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E86DAB-1C9D-8CC7-AF49-40E8A5452D11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16C88E6-E98E-DCA3-BA4B-5C2E081035B1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16C88E6-E98E-DCA3-BA4B-5C2E081035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B032A3E-6EC3-C056-AF36-F80FC0ACFA51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B032A3E-6EC3-C056-AF36-F80FC0ACF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3B36776-B3F7-2391-084B-D2B31A823343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8269A8D-FE2A-9DCA-A4A9-E5014A332863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7B4167-7E08-07DD-68BD-D9D1B9C537BB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83C2EE9-2652-577B-3B14-E31253C7ED13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83C2EE9-2652-577B-3B14-E31253C7E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BDE6590-7C9F-0C59-6E93-A83E29D5EB88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BDE6590-7C9F-0C59-6E93-A83E29D5E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A44E8A5-85AF-049F-6E87-8DD0BC863804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FD01AC-00F7-82AA-328B-7AB00C767139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CFB653-8877-86C5-8D55-9C75D6EEC617}"/>
              </a:ext>
            </a:extLst>
          </p:cNvPr>
          <p:cNvSpPr/>
          <p:nvPr/>
        </p:nvSpPr>
        <p:spPr>
          <a:xfrm>
            <a:off x="856913" y="2356581"/>
            <a:ext cx="2309568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48811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3E4B0-F1EE-DF98-696D-9BFA5FC17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B5F65-FD5E-BAE5-18D0-8F4C6E30D8CC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CDBDBC-8A7D-9D4B-2171-D060F8523A3F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1B7808-032F-5E5B-12BF-B9A88565479B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7FFFF0-0BA1-C988-5A59-E01EA0657126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033C207-2FD8-1F28-1AF2-4AA82ED5B904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C3AE5F-3169-A44F-C022-F54943C9280D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04ABF10-5CD4-4146-285B-5125866A76EF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BF8271-E59D-DCEA-E8A1-A7797C43177C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9DE90F-53BC-CACC-6C07-C3B9D7B33CEE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AABE0D-BE87-EBC4-A992-4929C41DB557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AABE0D-BE87-EBC4-A992-4929C41DB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6589B66-5735-6431-150C-7372B769DDB5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6589B66-5735-6431-150C-7372B769D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1AC6B0-3339-7B93-0ED5-28F15DA7C457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1AC6B0-3339-7B93-0ED5-28F15DA7C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701C9F9-D382-073F-B16C-33629934FF0F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4CF8793-0B68-7770-FC3B-49FB234EC13F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79FC51A-64BD-08E1-BF10-27008FAFD645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E82DEA-14EE-FE96-8E26-C93622BEE571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E746BF-81FD-D6CD-2DA1-861A69F42E4E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E746BF-81FD-D6CD-2DA1-861A69F42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9E920EE-75B8-FB3C-7174-864C64B9ABDE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9E920EE-75B8-FB3C-7174-864C64B9A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BE0116-1224-88D8-EFB5-9AD01CD327D2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3AE106C-16C1-6FFF-F0E8-200D09408BB3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F898E6-95F5-CC4D-F94B-E904EE060E95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4E5091-5FB9-C68B-70DC-28C9EC68878B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4E5091-5FB9-C68B-70DC-28C9EC688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2C2B18F-70F2-82B3-57F2-071CB75B7986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2C2B18F-70F2-82B3-57F2-071CB75B7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2A57C97-272A-B06F-24A5-EA219E94B174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3D86283-750A-4C89-15D7-E7D79F546559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6F5236-A7B7-BEFA-B045-6DA691FC26EC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B7E0B4B-247F-FE0C-8465-DAD88CEB9BD7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B7E0B4B-247F-FE0C-8465-DAD88CEB9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CB54B7C-AE05-457A-DDE6-0ED88064C0AC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CB54B7C-AE05-457A-DDE6-0ED88064C0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CDBC34A-3470-48AC-9B6A-1ED7C1CE4ED6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0A941B-74DC-7C1F-B4E8-85ED79FECEB2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5C4D59-31D0-D0DC-00AD-6D96DE93283C}"/>
              </a:ext>
            </a:extLst>
          </p:cNvPr>
          <p:cNvSpPr/>
          <p:nvPr/>
        </p:nvSpPr>
        <p:spPr>
          <a:xfrm>
            <a:off x="856913" y="2356581"/>
            <a:ext cx="2309568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64299F1-BB1D-5BC2-43BB-210EF722EFA8}"/>
                  </a:ext>
                </a:extLst>
              </p:cNvPr>
              <p:cNvSpPr txBox="1"/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acquittal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innocent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64299F1-BB1D-5BC2-43BB-210EF722E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  <a:blipFill>
                <a:blip r:embed="rId11"/>
                <a:stretch>
                  <a:fillRect l="-1345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3620722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E2402-FF96-8EA0-7966-8B0D3AE73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89EEB-E565-84EF-FEAA-8A84D5AC96BA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90D084-020C-FE9A-6F84-19B6D98DF06A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B9B4CB-6595-C668-E3AC-C02A1F03DA19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839791-EA53-E82B-86F6-138E050FAA23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D8B64C3-6A8C-0571-A466-AC027BB546FD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4C34A68-0152-FFC7-1EA0-2F250EF852DD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8106F80-B3C9-614F-CFF6-04AEC4CF1A04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FB8EF0-89FB-3E37-485F-003BF6D285D1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51C0B7-869C-0849-A7E1-7AA8FB4865C4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71F1A6-D835-C5DD-8177-93836E294CAC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71F1A6-D835-C5DD-8177-93836E294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30F634-4144-CF77-DAC8-A4C090119171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30F634-4144-CF77-DAC8-A4C090119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04F69F4-DA55-2A50-4A13-92376E995A86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04F69F4-DA55-2A50-4A13-92376E995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940BF42-7FBB-B562-657F-4D74390AD8D6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3A141F4-CAA9-948E-F1F3-726088945272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47483A9-0933-5BF6-CD7F-1E2F4BFC9242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1C066E-090E-E200-CAA2-5F55B131A1D5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5754FE6-00A8-3034-D54A-3BCB84C81C9C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5754FE6-00A8-3034-D54A-3BCB84C81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2E249F-5031-BB7F-282C-41757CB4D280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2E249F-5031-BB7F-282C-41757CB4D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5CD2D17-98F9-36B2-CD3A-4475342F54BF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19F2240-E226-19C1-ABFF-444128CFF4B5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C97B8D-D32F-9E98-51CF-525A88AB2A9F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8DA0C78-AE2C-A746-39B6-0DA752F32FA9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8DA0C78-AE2C-A746-39B6-0DA752F32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4FBFDFE-4684-2321-115B-C43DDC45F62E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4FBFDFE-4684-2321-115B-C43DDC45F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D8A7E64-1129-8073-8AFE-19B25566AAFA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6BC9CE7-EB57-CC2F-6C43-711B97AD9C43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93450B-C9A9-21E1-07D0-1D6D390F5FAE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0886E83-5BCE-0FC1-FB8A-637854AB756C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0886E83-5BCE-0FC1-FB8A-637854AB7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8F59C79-6272-3837-2FF5-DB02A054DB09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8F59C79-6272-3837-2FF5-DB02A054D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37504B3-3ED4-274D-049F-556CF1F69631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E633D6-D4AD-75B1-D048-FEA093B6239E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04A452-4DB4-8954-9542-9E48654335EF}"/>
              </a:ext>
            </a:extLst>
          </p:cNvPr>
          <p:cNvSpPr/>
          <p:nvPr/>
        </p:nvSpPr>
        <p:spPr>
          <a:xfrm>
            <a:off x="856913" y="2356581"/>
            <a:ext cx="2309568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A959B63-DC9D-71EC-0AF5-CE8BB2B2B0BE}"/>
                  </a:ext>
                </a:extLst>
              </p:cNvPr>
              <p:cNvSpPr txBox="1"/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acquittal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innocent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A959B63-DC9D-71EC-0AF5-CE8BB2B2B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  <a:blipFill>
                <a:blip r:embed="rId11"/>
                <a:stretch>
                  <a:fillRect l="-1345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A3FBC053-7E92-972F-7667-0885898CDBD5}"/>
              </a:ext>
            </a:extLst>
          </p:cNvPr>
          <p:cNvSpPr txBox="1"/>
          <p:nvPr/>
        </p:nvSpPr>
        <p:spPr>
          <a:xfrm>
            <a:off x="339364" y="3638746"/>
            <a:ext cx="3619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Suppose we know that the defendant is innocent.</a:t>
            </a:r>
          </a:p>
        </p:txBody>
      </p:sp>
    </p:spTree>
    <p:extLst>
      <p:ext uri="{BB962C8B-B14F-4D97-AF65-F5344CB8AC3E}">
        <p14:creationId xmlns:p14="http://schemas.microsoft.com/office/powerpoint/2010/main" val="402339087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9C751-32D5-9772-2AB4-291D0A9B4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8D036-7014-8AE9-8A5E-BA0AC6A35E5B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0B5C0C-DAF0-9B75-73C9-8F0F146C6A60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1D87EF-DCC5-C725-A153-02E5497CBEC2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3CA454-68A1-542D-5A11-8872E1AA7E61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023ED2-93E3-51ED-4417-ED78EFAEAC6C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47CE0E-AFD2-AEFA-B4FB-496B915C09BA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DFEEBBC-437A-8B10-818D-41B1364C52B2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EB5ADB-85B5-B37F-7563-12CF64340EB0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74F8CE-4663-FB79-C220-28AB3E728250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28139E-0B26-6E18-F9A5-5B8D434580B8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28139E-0B26-6E18-F9A5-5B8D43458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07E0DE5-EB20-DEE3-9668-38BCF8944FF1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07E0DE5-EB20-DEE3-9668-38BCF8944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DAA850-0CAE-E033-65F0-8511C7459FCF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DAA850-0CAE-E033-65F0-8511C7459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B650443-577D-A91B-21D7-747D445E04A4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F67C8F6-5143-BF7D-1B79-C961D7DE8768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E857295-0A88-8763-12A6-98BE9534AFAA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854173-08A7-2721-E1CB-B1691A09E87E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9FFF6AF-A6CE-E794-26D2-D32F96003AC1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9FFF6AF-A6CE-E794-26D2-D32F96003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DE5250D-D56C-19CD-D34F-1037220165FC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DE5250D-D56C-19CD-D34F-103722016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2EE9A6B-3B39-061B-F48F-D9C0A378B3D9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0953844-2DD4-F84C-3911-816F54575D3A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FF9712-F7A0-6E45-611C-374F313BF330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D8A6659-11EC-1454-258A-FE527CFDFC77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D8A6659-11EC-1454-258A-FE527CFDF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3A1D974-DCB0-3838-30AF-10DBD031A0B5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3A1D974-DCB0-3838-30AF-10DBD031A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E5ECDFD-B89B-1F8F-EF49-C1AF1949D1DB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8EAA940-6E39-DB90-34B4-8DC392790102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D56654-D708-EDDE-1FF6-2098A7561AF7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DA8FF65-AA89-D422-F30D-E6AF80F20B61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DA8FF65-AA89-D422-F30D-E6AF80F20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697C82C-F8DD-6E40-3465-CBA8DFDCE9AE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697C82C-F8DD-6E40-3465-CBA8DFDCE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E83EA40-7FA7-EEE9-B643-933F4D14F2DF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9E3B1E-A4F9-7A87-35B8-7444FA738184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76FDB82-5D01-9C4B-5318-E55198D117EC}"/>
              </a:ext>
            </a:extLst>
          </p:cNvPr>
          <p:cNvSpPr/>
          <p:nvPr/>
        </p:nvSpPr>
        <p:spPr>
          <a:xfrm>
            <a:off x="856913" y="2356581"/>
            <a:ext cx="2309568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3C1A4E2-A723-8F0E-434A-264066104A49}"/>
                  </a:ext>
                </a:extLst>
              </p:cNvPr>
              <p:cNvSpPr txBox="1"/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acquittal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innocent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3C1A4E2-A723-8F0E-434A-264066104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  <a:blipFill>
                <a:blip r:embed="rId11"/>
                <a:stretch>
                  <a:fillRect l="-1345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A6367F3B-3BA1-C96B-8927-4A785694B157}"/>
              </a:ext>
            </a:extLst>
          </p:cNvPr>
          <p:cNvSpPr txBox="1"/>
          <p:nvPr/>
        </p:nvSpPr>
        <p:spPr>
          <a:xfrm>
            <a:off x="339364" y="3638746"/>
            <a:ext cx="36198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Suppose we know that the defendant is innocent.  Then we know that these portions of the rectangle are ruled out.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BCE9D19-DDE0-A4DE-2E2A-D9C3D3EFEFF3}"/>
              </a:ext>
            </a:extLst>
          </p:cNvPr>
          <p:cNvSpPr/>
          <p:nvPr/>
        </p:nvSpPr>
        <p:spPr>
          <a:xfrm>
            <a:off x="6660776" y="2294964"/>
            <a:ext cx="5289177" cy="1004417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5F4F63D-C770-AFDB-DF37-6801EA475ED7}"/>
              </a:ext>
            </a:extLst>
          </p:cNvPr>
          <p:cNvSpPr/>
          <p:nvPr/>
        </p:nvSpPr>
        <p:spPr>
          <a:xfrm>
            <a:off x="8272859" y="3295077"/>
            <a:ext cx="3677094" cy="1004417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1C62086-9B5B-FA57-79AD-162810E89358}"/>
              </a:ext>
            </a:extLst>
          </p:cNvPr>
          <p:cNvSpPr/>
          <p:nvPr/>
        </p:nvSpPr>
        <p:spPr>
          <a:xfrm>
            <a:off x="10849050" y="4348044"/>
            <a:ext cx="1085014" cy="1313540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691984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4EE6D-1085-461E-3B2E-DA6A44689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B5764-206A-CD6F-8898-8B3463BAF949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50958C-C85B-60BF-8AFA-1EEDF682E7E7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02B326-925F-F4C0-D9D6-E4F17FD21E8D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AE526C-C12B-A9E0-31EE-4C6DBF5ABD66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628B07-48CE-0370-397A-913F1E172CF5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95B6777-8E83-0764-9B88-25489F2F909A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6C572BD-5011-08C2-9908-2FC05EF44C6C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3B57ED-2154-35D9-7FA6-599CBEDCC090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1407C0-1428-A743-CBDC-5BA46C2A4A7F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3B796C-0C62-D20D-6A1D-496E7D30B66E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3B796C-0C62-D20D-6A1D-496E7D30B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2229E62-F881-DEC6-F4BF-111A2F1D0ABC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2229E62-F881-DEC6-F4BF-111A2F1D0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2ADFCBD-1EF6-9B20-C629-965BE5F26D0A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2ADFCBD-1EF6-9B20-C629-965BE5F26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81D98AC-9AD4-931B-98CF-E0C4ADA91689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EACD00E-ED65-97F5-628A-A8B5B9FFF082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DAA8F38-C03F-13F7-8647-AB5A797C87E7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C0FF0C-CE0E-54D0-C29A-C55B85FC1021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DCEA63A-86AB-0385-494C-209919896A7E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DCEA63A-86AB-0385-494C-209919896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0320AB5-CCDA-EDA6-2823-035D9EDBF922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0320AB5-CCDA-EDA6-2823-035D9EDBF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7649297-0A07-F2A1-B647-0E4CCB4A9774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0D54056-E291-9C43-47AE-13391F5ACD9F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23A869-F961-61D6-7A69-859FD56BC7F8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AD9931-7709-E373-C219-C6E1A135C1B5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AD9931-7709-E373-C219-C6E1A135C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D3AAD4-421E-2FFD-A664-309BC09B22F9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D3AAD4-421E-2FFD-A664-309BC09B2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4D14A3A-3D4C-DACD-8E9D-53D54E843693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0416A19-CA7A-65BF-BB09-EA942EDB4EE1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FB0DB6-1D93-E3BF-6E37-4CE30BDA3CF8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FFF9F68-9978-FB50-EB0B-2241413186C5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FFF9F68-9978-FB50-EB0B-224141318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2E5F2A5-47F5-13DE-6E7A-DB6940EBEADC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2E5F2A5-47F5-13DE-6E7A-DB6940EBE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7DC88EA-49C4-4857-E7CB-542C2D1717C3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FA0ABC-F922-A0F1-6C97-E85BB733F105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939CE4-1E58-5152-0192-27FA7C82A544}"/>
              </a:ext>
            </a:extLst>
          </p:cNvPr>
          <p:cNvSpPr/>
          <p:nvPr/>
        </p:nvSpPr>
        <p:spPr>
          <a:xfrm>
            <a:off x="856913" y="2356581"/>
            <a:ext cx="2309568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037EE8F-1C7A-C5CF-F0A4-5B23AD7992DC}"/>
                  </a:ext>
                </a:extLst>
              </p:cNvPr>
              <p:cNvSpPr txBox="1"/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acquittal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innocent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037EE8F-1C7A-C5CF-F0A4-5B23AD799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  <a:blipFill>
                <a:blip r:embed="rId11"/>
                <a:stretch>
                  <a:fillRect l="-1345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8052C44-E472-E374-2885-2A314303A899}"/>
                  </a:ext>
                </a:extLst>
              </p:cNvPr>
              <p:cNvSpPr txBox="1"/>
              <p:nvPr/>
            </p:nvSpPr>
            <p:spPr>
              <a:xfrm>
                <a:off x="339364" y="3638746"/>
                <a:ext cx="3619893" cy="2606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Suppose we know that the defendant is innocent.  Then we know that these portions of the rectangle are ruled out.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acquittal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br>
                  <a:rPr lang="en-US" b="0" dirty="0"/>
                </a:br>
                <a:br>
                  <a:rPr lang="en-US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remaining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portion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where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defendant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is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acquitted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total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remaining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portion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8052C44-E472-E374-2885-2A314303A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3638746"/>
                <a:ext cx="3619893" cy="2606483"/>
              </a:xfrm>
              <a:prstGeom prst="rect">
                <a:avLst/>
              </a:prstGeom>
              <a:blipFill>
                <a:blip r:embed="rId12"/>
                <a:stretch>
                  <a:fillRect l="-1518" t="-1405" r="-32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41726349-7317-B256-41E9-8199AAA49C8C}"/>
              </a:ext>
            </a:extLst>
          </p:cNvPr>
          <p:cNvSpPr/>
          <p:nvPr/>
        </p:nvSpPr>
        <p:spPr>
          <a:xfrm>
            <a:off x="6660776" y="2294964"/>
            <a:ext cx="5289177" cy="1004417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FD059C1-3369-A879-F582-6646AFBFB039}"/>
              </a:ext>
            </a:extLst>
          </p:cNvPr>
          <p:cNvSpPr/>
          <p:nvPr/>
        </p:nvSpPr>
        <p:spPr>
          <a:xfrm>
            <a:off x="8272859" y="3295077"/>
            <a:ext cx="3677094" cy="1004417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E7BAB6-1DCC-50E1-21A1-E21090D94636}"/>
              </a:ext>
            </a:extLst>
          </p:cNvPr>
          <p:cNvSpPr/>
          <p:nvPr/>
        </p:nvSpPr>
        <p:spPr>
          <a:xfrm>
            <a:off x="10849050" y="4348044"/>
            <a:ext cx="1085014" cy="1313540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66796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BF480-1E26-E572-F805-DDE81E978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FBD4-0D4F-CBAA-1369-9EA8CFB5186B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9D3462-68F1-8BE5-62AC-A7C0ED754B93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DCEE38-88A2-9A93-E5D6-836C75857BB2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4BFED0-D6BE-EC3C-9BEB-702FE839FCB4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B5686E0-D235-7856-0158-DB880383A113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3251354-E324-FC46-930A-36306C4F659D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44CD4FC-2D2A-B991-5F04-E18E1258971C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C04ED6-74CE-B1D8-4BDF-D54EB798B217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F621B5-6FC8-BA3E-2B68-F7D22A72CC96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F04E61-3A50-088B-F693-88765BEBF1E3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F04E61-3A50-088B-F693-88765BEBF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AA4B726-F019-6A9F-9E0B-C2B87B4D4EDA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AA4B726-F019-6A9F-9E0B-C2B87B4D4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0D0428D-5CB9-9557-B4CF-744F09288E4E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0D0428D-5CB9-9557-B4CF-744F09288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37A085C-6A49-D953-3879-F9DE8A5CAADA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F7EEAB0-2D0C-5FDA-2B3E-FCE903D1C4C7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AF739DB-7A50-6106-442D-7489723A0000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654D58-9F31-6EE3-47C8-E70601077039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E40997A-FCE7-7381-73CD-9C0C3AF41A53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E40997A-FCE7-7381-73CD-9C0C3AF41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F2551AB-3CBB-8069-1A1C-77BFB39F7D62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F2551AB-3CBB-8069-1A1C-77BFB39F7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AAD0490-9D18-9506-7962-415A3057C131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E9F361D-A28A-11E7-080B-2182EF328284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32829F-2989-5C7B-ADD3-291331D920DA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E693137-82E0-303B-038A-43FDF95901A9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E693137-82E0-303B-038A-43FDF9590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17B07DA-1C44-D88D-CFDB-2F4826FCDDDB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17B07DA-1C44-D88D-CFDB-2F4826FCD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5765D17-F032-40E3-6910-63E52DD5DA93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BD3A4E5-E1E0-7757-3971-E84894D66073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AF69CE-C0F2-8435-BB42-2FEB6D596D17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12DD5BB-6605-E2EC-10E6-12BB57B1613B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12DD5BB-6605-E2EC-10E6-12BB57B16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71C75A6-7EAC-CE37-D652-8460A9F5A0EA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71C75A6-7EAC-CE37-D652-8460A9F5A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6936BD1-7A9F-5A35-9F3C-C51DBBCF51E5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B59206-DEE0-9277-967D-7D6D500DED5F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C1584D-E72E-FA01-9CD3-AFA3647C3604}"/>
              </a:ext>
            </a:extLst>
          </p:cNvPr>
          <p:cNvSpPr/>
          <p:nvPr/>
        </p:nvSpPr>
        <p:spPr>
          <a:xfrm>
            <a:off x="856913" y="2356581"/>
            <a:ext cx="2309568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28641B5-7DB7-F5B8-4CEC-85953205353C}"/>
                  </a:ext>
                </a:extLst>
              </p:cNvPr>
              <p:cNvSpPr txBox="1"/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acquittal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innocent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28641B5-7DB7-F5B8-4CEC-859532053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  <a:blipFill>
                <a:blip r:embed="rId11"/>
                <a:stretch>
                  <a:fillRect l="-1345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318E67B-35A0-591C-9937-D2E287C415FF}"/>
                  </a:ext>
                </a:extLst>
              </p:cNvPr>
              <p:cNvSpPr txBox="1"/>
              <p:nvPr/>
            </p:nvSpPr>
            <p:spPr>
              <a:xfrm>
                <a:off x="339364" y="3638746"/>
                <a:ext cx="3619893" cy="2606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Suppose we know that the defendant is innocent.  Then we know that these portions of the rectangle are ruled out.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acquittal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br>
                  <a:rPr lang="en-US" b="0" dirty="0"/>
                </a:br>
                <a:br>
                  <a:rPr lang="en-US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remaining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portion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where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defendant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is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acquitted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total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remaining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portion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318E67B-35A0-591C-9937-D2E287C41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3638746"/>
                <a:ext cx="3619893" cy="2606483"/>
              </a:xfrm>
              <a:prstGeom prst="rect">
                <a:avLst/>
              </a:prstGeom>
              <a:blipFill>
                <a:blip r:embed="rId12"/>
                <a:stretch>
                  <a:fillRect l="-1518" t="-1405" r="-32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81E35E18-0C47-BEBB-E83C-BD464F2A2DE8}"/>
              </a:ext>
            </a:extLst>
          </p:cNvPr>
          <p:cNvSpPr/>
          <p:nvPr/>
        </p:nvSpPr>
        <p:spPr>
          <a:xfrm>
            <a:off x="6660776" y="2294964"/>
            <a:ext cx="5289177" cy="1004417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E00F8FF-7D48-9D8B-8B0E-4255207C667D}"/>
              </a:ext>
            </a:extLst>
          </p:cNvPr>
          <p:cNvSpPr/>
          <p:nvPr/>
        </p:nvSpPr>
        <p:spPr>
          <a:xfrm>
            <a:off x="8272859" y="3295077"/>
            <a:ext cx="3677094" cy="1004417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B3B3449-6862-4728-356E-0DCCE9850772}"/>
              </a:ext>
            </a:extLst>
          </p:cNvPr>
          <p:cNvSpPr/>
          <p:nvPr/>
        </p:nvSpPr>
        <p:spPr>
          <a:xfrm>
            <a:off x="10849050" y="4348044"/>
            <a:ext cx="1085014" cy="1313540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586C97C-24A1-2868-EB06-0F8EE7412223}"/>
              </a:ext>
            </a:extLst>
          </p:cNvPr>
          <p:cNvSpPr/>
          <p:nvPr/>
        </p:nvSpPr>
        <p:spPr>
          <a:xfrm>
            <a:off x="339364" y="5510787"/>
            <a:ext cx="4842236" cy="338888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8C4F210-9C81-F4D1-AEC8-5A10B4DFC000}"/>
              </a:ext>
            </a:extLst>
          </p:cNvPr>
          <p:cNvSpPr/>
          <p:nvPr/>
        </p:nvSpPr>
        <p:spPr>
          <a:xfrm>
            <a:off x="6669724" y="3331237"/>
            <a:ext cx="1613664" cy="3320569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301847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9875F-FF0A-50B5-0003-456A806AD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23442-9FB5-12D3-48A0-1C3D413E7C24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166737-B724-4144-5A96-1B15D6307840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263DBC-B8CA-7A9E-8424-F53372838BFC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B7905F-DDCD-A82D-4FE3-8D51F6EE3E71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464B5-9EDC-FC9F-CD5A-A185BA35ABC8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2119-D839-9532-5810-774888E5BAE9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62697C7-032D-4A57-C3BC-501C0B3831AF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FA72E0-437C-8BFD-3703-A089BD818770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5011C2-2966-EDDB-DBDB-EB06807969A4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9F7314-60E4-8714-38A3-C9BB3595AB1E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9F7314-60E4-8714-38A3-C9BB3595A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170A4A9-5105-0C62-BD7A-6AA7AF59BC32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170A4A9-5105-0C62-BD7A-6AA7AF59B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282DA1A-0D00-4C29-FCAC-4B109ABD28E9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282DA1A-0D00-4C29-FCAC-4B109ABD2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2CA6D01-EC71-9154-BEFC-CF95BE73B203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D516A0A-2549-3289-E9DE-AD7FA06D81C2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57BD599-E2CB-0B97-651B-140B385BF555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F2D7C3-EE79-9A3F-C8AA-EFDDB7A99B93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05716F0-27BD-0E34-2FB2-534A064509FB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05716F0-27BD-0E34-2FB2-534A06450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6287C6B-BD4C-2149-6243-3DFD96E2A685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6287C6B-BD4C-2149-6243-3DFD96E2A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59BE4BD-ED3C-8871-196E-28E6E10CB6DF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ACC2273-1F29-9E05-6C70-3CB81004A809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7E0C27-507B-29CC-82FF-BEF11B9988D7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88BC169-9DD9-AD8E-FC45-A285866A3760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88BC169-9DD9-AD8E-FC45-A285866A3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1EBEA04-33FF-A8FA-6EBE-EFD1FD22BF73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1EBEA04-33FF-A8FA-6EBE-EFD1FD22B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295B72C-83B3-0CA0-930B-29B113CB30E4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B550621-D275-6631-5565-1BA8297575E3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74ECE9-1759-6514-938B-07896CA869C5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D021F32-1F81-C017-47D4-85A919BA67E7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D021F32-1F81-C017-47D4-85A919BA6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2DD561B-FF23-74BD-954A-7CBBCB647751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2DD561B-FF23-74BD-954A-7CBBCB647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B48CEC6-0C19-2F47-B84C-855BFE4B17E2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833364-8B36-DBE8-891F-CC7DA04703AD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85FDBE-9515-F38A-A3DE-2F842ACCAD5E}"/>
              </a:ext>
            </a:extLst>
          </p:cNvPr>
          <p:cNvSpPr/>
          <p:nvPr/>
        </p:nvSpPr>
        <p:spPr>
          <a:xfrm>
            <a:off x="856913" y="2356581"/>
            <a:ext cx="2309568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52C48F2-2E26-4B93-52A3-0278342C3389}"/>
                  </a:ext>
                </a:extLst>
              </p:cNvPr>
              <p:cNvSpPr txBox="1"/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acquittal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innocent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52C48F2-2E26-4B93-52A3-0278342C3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  <a:blipFill>
                <a:blip r:embed="rId11"/>
                <a:stretch>
                  <a:fillRect l="-1345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7B3DD68-7DF8-4563-0817-1134F1B49678}"/>
                  </a:ext>
                </a:extLst>
              </p:cNvPr>
              <p:cNvSpPr txBox="1"/>
              <p:nvPr/>
            </p:nvSpPr>
            <p:spPr>
              <a:xfrm>
                <a:off x="339364" y="3638746"/>
                <a:ext cx="3619893" cy="2701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Suppose we know that the defendant is innocent.  Then we know that these portions of the rectangle are ruled out.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acquittal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br>
                  <a:rPr lang="en-US" b="0" dirty="0"/>
                </a:br>
                <a:br>
                  <a:rPr lang="en-US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remaining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portion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where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defendant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is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acquitted</m:t>
                          </m:r>
                        </m:num>
                        <m:den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den>
                              </m:f>
                            </m:e>
                          </m:box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7B3DD68-7DF8-4563-0817-1134F1B49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3638746"/>
                <a:ext cx="3619893" cy="2701509"/>
              </a:xfrm>
              <a:prstGeom prst="rect">
                <a:avLst/>
              </a:prstGeom>
              <a:blipFill>
                <a:blip r:embed="rId12"/>
                <a:stretch>
                  <a:fillRect l="-1518" t="-1354" r="-32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8C45FB2E-2805-C865-1295-93916A7C9700}"/>
              </a:ext>
            </a:extLst>
          </p:cNvPr>
          <p:cNvSpPr/>
          <p:nvPr/>
        </p:nvSpPr>
        <p:spPr>
          <a:xfrm>
            <a:off x="6660776" y="2294964"/>
            <a:ext cx="5289177" cy="1004417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3865D1A-A6C0-12C4-76AA-4ADDC4998F19}"/>
              </a:ext>
            </a:extLst>
          </p:cNvPr>
          <p:cNvSpPr/>
          <p:nvPr/>
        </p:nvSpPr>
        <p:spPr>
          <a:xfrm>
            <a:off x="8272859" y="3295077"/>
            <a:ext cx="3677094" cy="1004417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E40BFB2-3FFF-44B0-C7CF-5B0DED53355C}"/>
              </a:ext>
            </a:extLst>
          </p:cNvPr>
          <p:cNvSpPr/>
          <p:nvPr/>
        </p:nvSpPr>
        <p:spPr>
          <a:xfrm>
            <a:off x="10849050" y="4348044"/>
            <a:ext cx="1085014" cy="1313540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48439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06C71-EFE3-2A5D-D30D-FAB1D7EE6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F822A-E245-2DDB-2664-CA93A75E8BE5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3E66D4-8315-7F49-5D11-F8788F0869F1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18F5D8-D715-2BFB-B0AF-CD8F9A7D5FB0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935BD6-F1DA-80EC-EE8A-0670AA806955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1F68599-2DF4-46AA-0533-3681EC896834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21C5D86-309F-78C1-1960-FA9D89CBE075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1F3F2A0-E95F-BA6E-1D39-1DABA8AEEC86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7ECF65-F228-2235-23CC-1E6FF9DF5300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B2FA96-1DF7-9F29-EB6D-63D20B711287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8D46748-2A4B-4BC3-5E8B-4D199EE47680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8D46748-2A4B-4BC3-5E8B-4D199EE47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AB5DB9F-B41D-C810-E9ED-2892256D99C0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AB5DB9F-B41D-C810-E9ED-2892256D9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EB4DBB0-E903-6CBB-F448-4A8C79595DA1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EB4DBB0-E903-6CBB-F448-4A8C79595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0EFE37B-F91F-7382-6F94-20AEC420DBE2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91377F6-3154-579E-59CA-054D161C6BB8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B9B3569-AE36-8B57-9F11-6EBB981559CD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4D526B-5BE1-1F8E-DCFB-29B6B54BA925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10F2CAD-0D3A-2660-1455-DBE159A35AA6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10F2CAD-0D3A-2660-1455-DBE159A35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C814FDF-7644-9CE0-FAED-A0C1E566322A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C814FDF-7644-9CE0-FAED-A0C1E5663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8C499A-E4C4-AB06-6AC3-AAF422D31219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5DE509E-A9ED-413C-A7FA-3F1BBB6914ED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C5BF15-949E-44B3-83B5-532C63A445EB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FD3F63E-2425-D10E-690F-D2FFCE113E19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FD3F63E-2425-D10E-690F-D2FFCE113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400CC80-A06E-6957-5B47-F726C854793C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400CC80-A06E-6957-5B47-F726C8547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10FAD7-71F9-8484-2C32-5F22A9109AA5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1C74AF8-805E-9204-C826-45899D7C54D3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691042-5971-3E35-17D4-E9C8F620D204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F73D422-0E0A-047B-7180-6E260068BFED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F73D422-0E0A-047B-7180-6E260068B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AA547E4-4C7F-9D24-066E-097F66E60B78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AA547E4-4C7F-9D24-066E-097F66E60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6D78E44-1E6D-B1A2-F7DA-346E73956319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4A9D7D-4082-7E42-4242-D93FF2EA54FF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D64CE5-E059-99CB-667E-B51D168FE0B2}"/>
              </a:ext>
            </a:extLst>
          </p:cNvPr>
          <p:cNvSpPr/>
          <p:nvPr/>
        </p:nvSpPr>
        <p:spPr>
          <a:xfrm>
            <a:off x="856913" y="2356581"/>
            <a:ext cx="2309568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2C08848-ACF8-837B-CAD3-CA1B59B48FFD}"/>
                  </a:ext>
                </a:extLst>
              </p:cNvPr>
              <p:cNvSpPr txBox="1"/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acquittal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innocent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2C08848-ACF8-837B-CAD3-CA1B59B48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  <a:blipFill>
                <a:blip r:embed="rId11"/>
                <a:stretch>
                  <a:fillRect l="-1345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AABE1C5-BAAB-F6A5-05A9-1DC35EEDC5CC}"/>
                  </a:ext>
                </a:extLst>
              </p:cNvPr>
              <p:cNvSpPr txBox="1"/>
              <p:nvPr/>
            </p:nvSpPr>
            <p:spPr>
              <a:xfrm>
                <a:off x="339364" y="3638746"/>
                <a:ext cx="3619893" cy="2701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Suppose we know that the defendant is innocent.  Then we know that these portions of the rectangle are ruled out.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acquittal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br>
                  <a:rPr lang="en-US" b="0" dirty="0"/>
                </a:br>
                <a:br>
                  <a:rPr lang="en-US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remaining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portion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where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defendant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is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acquitted</m:t>
                          </m:r>
                        </m:num>
                        <m:den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den>
                              </m:f>
                            </m:e>
                          </m:box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AABE1C5-BAAB-F6A5-05A9-1DC35EEDC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3638746"/>
                <a:ext cx="3619893" cy="2701509"/>
              </a:xfrm>
              <a:prstGeom prst="rect">
                <a:avLst/>
              </a:prstGeom>
              <a:blipFill>
                <a:blip r:embed="rId12"/>
                <a:stretch>
                  <a:fillRect l="-1518" t="-1354" r="-32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06D6A8CA-0864-A609-5129-EE71E655EC33}"/>
              </a:ext>
            </a:extLst>
          </p:cNvPr>
          <p:cNvSpPr/>
          <p:nvPr/>
        </p:nvSpPr>
        <p:spPr>
          <a:xfrm>
            <a:off x="6660776" y="2294964"/>
            <a:ext cx="5289177" cy="1004417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8C63EA0-B4C7-7250-CC8B-9145470C437F}"/>
              </a:ext>
            </a:extLst>
          </p:cNvPr>
          <p:cNvSpPr/>
          <p:nvPr/>
        </p:nvSpPr>
        <p:spPr>
          <a:xfrm>
            <a:off x="8272859" y="3295077"/>
            <a:ext cx="3677094" cy="1004417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5BB3B8E-7C4D-5125-B5E9-64B43B53257F}"/>
              </a:ext>
            </a:extLst>
          </p:cNvPr>
          <p:cNvSpPr/>
          <p:nvPr/>
        </p:nvSpPr>
        <p:spPr>
          <a:xfrm>
            <a:off x="10849050" y="4348044"/>
            <a:ext cx="1085014" cy="1313540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8F12503-1B4D-388C-626C-0985AB0E1531}"/>
              </a:ext>
            </a:extLst>
          </p:cNvPr>
          <p:cNvSpPr/>
          <p:nvPr/>
        </p:nvSpPr>
        <p:spPr>
          <a:xfrm>
            <a:off x="1438275" y="5911013"/>
            <a:ext cx="838200" cy="419538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DE10585-FF9D-E5BA-3123-5BFE9F4F8B73}"/>
              </a:ext>
            </a:extLst>
          </p:cNvPr>
          <p:cNvSpPr/>
          <p:nvPr/>
        </p:nvSpPr>
        <p:spPr>
          <a:xfrm>
            <a:off x="6634727" y="3337762"/>
            <a:ext cx="1638131" cy="3314047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36071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6C2C1-D8D5-EE4C-683D-95D143AB0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762CD-DE2F-04B7-7664-C28E30DE19A5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8EA8EA-1E1C-A0F0-0A62-FCBDDADEE95D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509B3F-240F-B0A3-D3DD-08049184A9AC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CA6BAA-13C2-C73F-31DF-2FCE8F2D2EB9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D40F8CD-7F37-00AB-1E1F-CACA7125E5DC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3404CA-E0A8-20F0-26C2-79F9512D594B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DAD6B1D-C09B-16D2-FE2D-345E86ABB826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99AF6C-C55C-B23E-A42B-F870F91E6BAE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5B5D0A-4964-8A4D-0B29-FFA24335059C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FDE2DD-5BAB-1C89-7C2B-C5E679177093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FDE2DD-5BAB-1C89-7C2B-C5E679177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6574499-37F3-DA62-643B-A664E06C3D03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6574499-37F3-DA62-643B-A664E06C3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2AF9194-A066-9324-58D5-952D199B02C8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2AF9194-A066-9324-58D5-952D199B0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86A181A-9C5B-FBCA-F779-DB8BFE827085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0FA3F8B-D09C-3518-F44B-D843A9408511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B27748B-2420-FF98-A169-35EBB15FCF23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1A26EB-DD6A-A72E-0F97-AA6916B5ABC5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F579458-99C6-1F7E-4A80-F27C6F9C4D12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F579458-99C6-1F7E-4A80-F27C6F9C4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DC19B3C-8469-0636-4393-EEBE32B574C1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DC19B3C-8469-0636-4393-EEBE32B57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E606EB4-276E-C098-E444-87FC975786D0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F8AB4FC-8C0E-3F88-039C-C6C8F006AFCB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6BEEF1-F5EB-A775-258F-44B4496A8CAF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C049485-3051-A7AE-F9C5-B5B6895C02B5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C049485-3051-A7AE-F9C5-B5B6895C0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056E3CD-0D2D-ABB6-8679-A9BE0EE06DBA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056E3CD-0D2D-ABB6-8679-A9BE0EE06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53BBF41-165B-E9B8-8308-43E5FBAEFA15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E33EC88-6DC1-3B51-BDBF-3C0F14844B08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14916C-B789-90BE-DD20-A915C9459A92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8F203A4-D997-2BA9-02D3-E8B2FBA1779C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8F203A4-D997-2BA9-02D3-E8B2FBA17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9CD8FBB-DACB-FCA4-6CD9-E1CF79CC478F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9CD8FBB-DACB-FCA4-6CD9-E1CF79CC4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FA18CBC-DA9C-8361-3D80-605246BC4790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226DAD-CFD2-9B07-FEFF-227F6A76BDF8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55F948-6B9E-C12A-76E0-5621EF3080DD}"/>
              </a:ext>
            </a:extLst>
          </p:cNvPr>
          <p:cNvSpPr/>
          <p:nvPr/>
        </p:nvSpPr>
        <p:spPr>
          <a:xfrm>
            <a:off x="856913" y="2356581"/>
            <a:ext cx="2309568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2B52FA8-1021-8B24-6188-CACC080C3EB3}"/>
                  </a:ext>
                </a:extLst>
              </p:cNvPr>
              <p:cNvSpPr txBox="1"/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acquittal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innocent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2B52FA8-1021-8B24-6188-CACC080C3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  <a:blipFill>
                <a:blip r:embed="rId11"/>
                <a:stretch>
                  <a:fillRect l="-1345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174B3D0-6672-8A8C-6B3C-F517F30AEBB7}"/>
                  </a:ext>
                </a:extLst>
              </p:cNvPr>
              <p:cNvSpPr txBox="1"/>
              <p:nvPr/>
            </p:nvSpPr>
            <p:spPr>
              <a:xfrm>
                <a:off x="339364" y="3638746"/>
                <a:ext cx="3619893" cy="2701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Suppose we know that the defendant is innocent.  Then we know that these portions of the rectangle are ruled out.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acquittal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br>
                  <a:rPr lang="en-US" b="0" dirty="0"/>
                </a:br>
                <a:br>
                  <a:rPr lang="en-US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remaining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portion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where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defendant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is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acquitted</m:t>
                          </m:r>
                        </m:num>
                        <m:den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den>
                              </m:f>
                            </m:e>
                          </m:box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174B3D0-6672-8A8C-6B3C-F517F30AE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3638746"/>
                <a:ext cx="3619893" cy="2701509"/>
              </a:xfrm>
              <a:prstGeom prst="rect">
                <a:avLst/>
              </a:prstGeom>
              <a:blipFill>
                <a:blip r:embed="rId12"/>
                <a:stretch>
                  <a:fillRect l="-1518" t="-1354" r="-32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3CA60A68-E952-C027-F85A-FE348ABCB3CE}"/>
              </a:ext>
            </a:extLst>
          </p:cNvPr>
          <p:cNvSpPr/>
          <p:nvPr/>
        </p:nvSpPr>
        <p:spPr>
          <a:xfrm>
            <a:off x="6660776" y="2294964"/>
            <a:ext cx="5289177" cy="1004417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AAE299-7592-0064-AE5F-79441AC7443A}"/>
              </a:ext>
            </a:extLst>
          </p:cNvPr>
          <p:cNvSpPr/>
          <p:nvPr/>
        </p:nvSpPr>
        <p:spPr>
          <a:xfrm>
            <a:off x="8272859" y="3295077"/>
            <a:ext cx="3677094" cy="1004417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3F2EB9A-9A2D-99A7-7EC2-3A6E15B0936F}"/>
              </a:ext>
            </a:extLst>
          </p:cNvPr>
          <p:cNvSpPr/>
          <p:nvPr/>
        </p:nvSpPr>
        <p:spPr>
          <a:xfrm>
            <a:off x="10849050" y="4348044"/>
            <a:ext cx="1085014" cy="1313540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2B970E6-F98E-FF57-BFF6-EEF49F6842D5}"/>
              </a:ext>
            </a:extLst>
          </p:cNvPr>
          <p:cNvSpPr/>
          <p:nvPr/>
        </p:nvSpPr>
        <p:spPr>
          <a:xfrm>
            <a:off x="2343765" y="5911013"/>
            <a:ext cx="838200" cy="419538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631A3A1-E1AE-CEE3-8CA2-775DB28B97C8}"/>
              </a:ext>
            </a:extLst>
          </p:cNvPr>
          <p:cNvSpPr/>
          <p:nvPr/>
        </p:nvSpPr>
        <p:spPr>
          <a:xfrm>
            <a:off x="8272859" y="4385035"/>
            <a:ext cx="2605034" cy="2237493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63318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50D8C-ABD0-4A93-EFAA-30E6D025C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045F6-3021-FB2D-96AF-0919290DC80A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367363-F796-3E1B-636A-11DE99080643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853680-2CFE-DE08-D502-7AF41040DD57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D7F0F5-C957-D9A4-00CE-19863623AC5D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B03D970-EAF1-6360-0563-7236BDE42012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17C660D-4E5E-9400-FF3C-CBE5C15FB2AE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946195A-C377-8F1B-2F64-43BC6EAD5DCE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7C2216-21FD-C048-84E0-28B0F49653F6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D23449-EFCE-B41C-6ED2-2BA09AF5D297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9EC8BE-5741-949C-1970-A5444D725E1F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9EC8BE-5741-949C-1970-A5444D725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B3DFBCB-6718-4F37-59B6-708C4AF44C20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B3DFBCB-6718-4F37-59B6-708C4AF44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F83098A-E697-11E0-3E82-477EFA004D56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F83098A-E697-11E0-3E82-477EFA004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C2D43FC-D7F1-C680-EC7D-3FE9E96C72F2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51B4668-37B8-C083-5D10-4BA1267D3EE3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EA31B2B-9D74-D6AB-BF8E-273A55C4DEDD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BF5117-38C7-42C5-4412-3DF4711B9E59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4E0864A-69F0-CF80-186B-68E629762B10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4E0864A-69F0-CF80-186B-68E629762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06178EB-8C49-55DF-AECC-9551CDCBF251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06178EB-8C49-55DF-AECC-9551CDCBF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EE6035-9971-28B1-A9E3-17B2F5C22F96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A7DA820-D1AF-9906-D407-6505822341A5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9874B9-7DD2-E57F-E1C8-1FA8DF2700D3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28EFFD4-7446-74AF-B56C-9E8281E40387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28EFFD4-7446-74AF-B56C-9E8281E40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B90727A-5E52-C40F-76A1-DA87E75A4BB0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B90727A-5E52-C40F-76A1-DA87E75A4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C0AD768-A0FC-51E3-521E-FAE72A2C0ACF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A9957F0-BE80-22A3-4716-BF78023C60F1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07619C-748B-EC5D-6403-1F14F7E30651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9E136D2-2214-318C-C523-6ED54812C32A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9E136D2-2214-318C-C523-6ED54812C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14C14FE-ADD0-E315-FC60-8B99DA14F72C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14C14FE-ADD0-E315-FC60-8B99DA14F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9FA54A7-7986-B994-8DF0-553986E14440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B7557F-7B32-43F8-EC44-24B92C6B0409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CAC6D6D-A807-D9D5-1DB4-654ACD050376}"/>
              </a:ext>
            </a:extLst>
          </p:cNvPr>
          <p:cNvSpPr/>
          <p:nvPr/>
        </p:nvSpPr>
        <p:spPr>
          <a:xfrm>
            <a:off x="856913" y="2356581"/>
            <a:ext cx="2309568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52A8E34-2DFD-1DF9-3711-29DCF9126AAB}"/>
                  </a:ext>
                </a:extLst>
              </p:cNvPr>
              <p:cNvSpPr txBox="1"/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acquittal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innocent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52A8E34-2DFD-1DF9-3711-29DCF9126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  <a:blipFill>
                <a:blip r:embed="rId11"/>
                <a:stretch>
                  <a:fillRect l="-1345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A4099D9-E48E-2625-5DFE-BB151E2C1E93}"/>
                  </a:ext>
                </a:extLst>
              </p:cNvPr>
              <p:cNvSpPr txBox="1"/>
              <p:nvPr/>
            </p:nvSpPr>
            <p:spPr>
              <a:xfrm>
                <a:off x="339364" y="3638746"/>
                <a:ext cx="3619893" cy="2701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Suppose we know that the defendant is innocent.  Then we know that these portions of the rectangle are ruled out.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acquittal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br>
                  <a:rPr lang="en-US" b="0" dirty="0"/>
                </a:br>
                <a:br>
                  <a:rPr lang="en-US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remaining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portion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where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defendant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is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acquitted</m:t>
                          </m:r>
                        </m:num>
                        <m:den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den>
                              </m:f>
                            </m:e>
                          </m:box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A4099D9-E48E-2625-5DFE-BB151E2C1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3638746"/>
                <a:ext cx="3619893" cy="2701509"/>
              </a:xfrm>
              <a:prstGeom prst="rect">
                <a:avLst/>
              </a:prstGeom>
              <a:blipFill>
                <a:blip r:embed="rId12"/>
                <a:stretch>
                  <a:fillRect l="-1518" t="-1354" r="-32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3A5BD0AE-EA35-67CD-E005-7887C956310E}"/>
              </a:ext>
            </a:extLst>
          </p:cNvPr>
          <p:cNvSpPr/>
          <p:nvPr/>
        </p:nvSpPr>
        <p:spPr>
          <a:xfrm>
            <a:off x="6660776" y="2294964"/>
            <a:ext cx="5289177" cy="1004417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203C079-CF6C-F9AB-D4DD-45F83E2D851C}"/>
              </a:ext>
            </a:extLst>
          </p:cNvPr>
          <p:cNvSpPr/>
          <p:nvPr/>
        </p:nvSpPr>
        <p:spPr>
          <a:xfrm>
            <a:off x="8272859" y="3295077"/>
            <a:ext cx="3677094" cy="1004417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55C6C1D-5E7B-77EA-C999-98FD04372929}"/>
              </a:ext>
            </a:extLst>
          </p:cNvPr>
          <p:cNvSpPr/>
          <p:nvPr/>
        </p:nvSpPr>
        <p:spPr>
          <a:xfrm>
            <a:off x="10849050" y="4348044"/>
            <a:ext cx="1085014" cy="1313540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2C01BF0-308D-B2E8-F5A4-EF20F41956DE}"/>
              </a:ext>
            </a:extLst>
          </p:cNvPr>
          <p:cNvSpPr/>
          <p:nvPr/>
        </p:nvSpPr>
        <p:spPr>
          <a:xfrm>
            <a:off x="3237987" y="5867744"/>
            <a:ext cx="838200" cy="419538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35BA4EA-43B5-5630-5F49-D69E2651DA71}"/>
              </a:ext>
            </a:extLst>
          </p:cNvPr>
          <p:cNvSpPr/>
          <p:nvPr/>
        </p:nvSpPr>
        <p:spPr>
          <a:xfrm>
            <a:off x="10875467" y="5726187"/>
            <a:ext cx="1071123" cy="896340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955837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0ECB0-3427-D097-C525-EE44394B6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EC171-4983-A279-E44F-24F8223520DA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0CADE8-1CCB-A3E7-9C80-F946E88308CF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A660EA-8125-DC7E-84CE-32480569D470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3AEFA5-C17F-CF32-D4CF-C0E32F0ECE09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296C74A-7398-18B2-C058-981FE251535D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606CC8-D3BE-F5D3-3FC4-7BDF29F7EA79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BD0D300-8A37-3DFA-9ADD-37B8A60BB6A1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0DEC31-3774-BDED-966F-864C4C89C8B1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12978F-70E8-6647-6C3B-4F6F7014EEDB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86FE47-8E69-59DA-A0A6-1C56BF3C48D6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86FE47-8E69-59DA-A0A6-1C56BF3C4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0C85723-895A-9EC1-EDD6-B3CAED6C4190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0C85723-895A-9EC1-EDD6-B3CAED6C4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EDD7C48-F9CC-C59B-5072-9CBC66505BC1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EDD7C48-F9CC-C59B-5072-9CBC66505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1D886CA-CD7D-7E9E-D825-FAE841A0BAC9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FA76036-F383-A0DA-8505-83AA32FCE12E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C14D78E-229A-D812-4DE0-8A0423F9B0BD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75DB60-8E4F-EBAF-6DD2-BE04FCD46414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F868D9-54F5-3E24-8178-653DF2245E35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F868D9-54F5-3E24-8178-653DF2245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9ECA476-58C8-D5CD-FBC4-7EF7E91B2671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9ECA476-58C8-D5CD-FBC4-7EF7E91B2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7F63DE6-8B6C-3522-53C8-7889391CCC9E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56A41F2-0982-63EE-729B-8C6AF81519E4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AC15C5-C506-18EF-A778-3E1670587E4C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677858C-E959-0241-4B85-CC01F479E819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677858C-E959-0241-4B85-CC01F479E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E597BAA-D8C9-70EA-221C-0E11FB885D04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E597BAA-D8C9-70EA-221C-0E11FB885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EED5B48-4E50-DAC9-725B-9BB4E9100A18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B0CE567-2A5B-0F10-B488-D5787A3A556E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BED19A-DC2F-4761-F895-66476C621F5D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ABEB4A-CB7F-1529-7879-5B64EE325273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3ABEB4A-CB7F-1529-7879-5B64EE325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B7BF463-1CD5-46E3-6C54-728E6FA9E071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B7BF463-1CD5-46E3-6C54-728E6FA9E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66D9748-AB0B-835B-F6AF-1CDFAED04E61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F97151-E780-4EB0-0623-26DDA34CABCB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D59135-80AD-AE25-4253-4FAEB9B745E9}"/>
              </a:ext>
            </a:extLst>
          </p:cNvPr>
          <p:cNvSpPr/>
          <p:nvPr/>
        </p:nvSpPr>
        <p:spPr>
          <a:xfrm>
            <a:off x="856913" y="2356581"/>
            <a:ext cx="2309568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DC5E288-3D34-92EA-D74D-99F94DF94FC7}"/>
                  </a:ext>
                </a:extLst>
              </p:cNvPr>
              <p:cNvSpPr txBox="1"/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acquittal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innocent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DC5E288-3D34-92EA-D74D-99F94DF94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  <a:blipFill>
                <a:blip r:embed="rId11"/>
                <a:stretch>
                  <a:fillRect l="-1345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943D00E-9499-1454-C03C-480E7FB96F80}"/>
                  </a:ext>
                </a:extLst>
              </p:cNvPr>
              <p:cNvSpPr txBox="1"/>
              <p:nvPr/>
            </p:nvSpPr>
            <p:spPr>
              <a:xfrm>
                <a:off x="339364" y="3638746"/>
                <a:ext cx="3619893" cy="2701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Suppose we know that the defendant is innocent.  Then we know that these portions of the rectangle are ruled out.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acquittal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innocent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br>
                  <a:rPr lang="en-US" b="0" dirty="0"/>
                </a:br>
                <a:br>
                  <a:rPr lang="en-US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ox>
                            <m:box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box>
                        </m:num>
                        <m:den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den>
                              </m:f>
                            </m:e>
                          </m:box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943D00E-9499-1454-C03C-480E7FB96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3638746"/>
                <a:ext cx="3619893" cy="2701509"/>
              </a:xfrm>
              <a:prstGeom prst="rect">
                <a:avLst/>
              </a:prstGeom>
              <a:blipFill>
                <a:blip r:embed="rId12"/>
                <a:stretch>
                  <a:fillRect l="-1518" t="-13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861D5504-1067-3B09-868F-8B4AD9ABEA4C}"/>
              </a:ext>
            </a:extLst>
          </p:cNvPr>
          <p:cNvSpPr/>
          <p:nvPr/>
        </p:nvSpPr>
        <p:spPr>
          <a:xfrm>
            <a:off x="6660776" y="2294964"/>
            <a:ext cx="5289177" cy="1004417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B0B88D-A2AE-AF50-3129-9F180288AA15}"/>
              </a:ext>
            </a:extLst>
          </p:cNvPr>
          <p:cNvSpPr/>
          <p:nvPr/>
        </p:nvSpPr>
        <p:spPr>
          <a:xfrm>
            <a:off x="8272859" y="3295077"/>
            <a:ext cx="3677094" cy="1004417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5010DA8-D74D-C786-8E27-1028EE180D1B}"/>
              </a:ext>
            </a:extLst>
          </p:cNvPr>
          <p:cNvSpPr/>
          <p:nvPr/>
        </p:nvSpPr>
        <p:spPr>
          <a:xfrm>
            <a:off x="10849050" y="4348044"/>
            <a:ext cx="1085014" cy="1313540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41888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E8DEE-4A50-B3E9-86A0-F3B9F37F4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07B7D-0ADF-64BC-B949-3D09A7B535C2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A1C551-442E-0314-AFB0-D008EF7F641D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6DAFDC-DA96-B09C-2EE6-966302ADED27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B11996-A057-9304-F373-E72DFEE204A0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F0D09B-2E2B-2B33-C83F-FE04F6FDD7B7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777C5E-8E79-6A55-063F-662A5EA9EEEE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D575D14-4371-96A4-C360-CE8F8A8643F0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F25635-0C86-6A8A-2079-8471839BF9A8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978EBD-B269-8CBE-D110-A32BA5BEF70C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5AE489-7715-DD8F-DC08-56BF81B3918B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5AE489-7715-DD8F-DC08-56BF81B39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6049447-9C18-4BEA-C10F-DC999FF572AA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6049447-9C18-4BEA-C10F-DC999FF57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198426B-37CE-7A08-DBC2-FC8398ABB567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198426B-37CE-7A08-DBC2-FC8398ABB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6C2D7A0-7E3B-039F-7BA4-D3651277DF0B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55B88E7-C451-6049-7734-15518C4F5FA2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4C27855-4401-E588-5CCC-DA48622BAAAA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47F48D-0618-B819-16F2-5B81EA31F07E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C75B2FB-D95E-A4C8-0085-96E4540964AA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C75B2FB-D95E-A4C8-0085-96E454096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3129690-6075-C9E1-CDDE-057D15F5E252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3129690-6075-C9E1-CDDE-057D15F5E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8A236CD-2466-62B9-6FCD-BE78ECC0BD98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0E81D52-16A1-9330-6CA0-74D404CFAB64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EDF6D7-3D61-C6EC-B471-422B3C4848C6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2246C08-8C8B-80A0-7DD4-C04D87A43704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2246C08-8C8B-80A0-7DD4-C04D87A43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0B70CA3-C427-6FA3-54DA-B8E41DBE2EB2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0B70CA3-C427-6FA3-54DA-B8E41DBE2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B962A53-AA4C-7ECB-76B4-DCB957B8E195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A1EB367-6A0E-1330-1659-5B9209B0B581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657368-6148-4C28-F347-7658A6115FFE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A892B84-B3EE-699E-8B6C-8BC7608AC980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A892B84-B3EE-699E-8B6C-8BC7608AC9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91C8757-5B4D-BCA5-DBCF-8CC4C6BBC36A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91C8757-5B4D-BCA5-DBCF-8CC4C6BBC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5E4C5D4-854D-A0E4-B605-617F44225FDA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320A57-B92C-6123-7317-2566559972F5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3F4553-6950-DDD2-1E02-0904514AF48D}"/>
              </a:ext>
            </a:extLst>
          </p:cNvPr>
          <p:cNvSpPr/>
          <p:nvPr/>
        </p:nvSpPr>
        <p:spPr>
          <a:xfrm>
            <a:off x="856913" y="2356581"/>
            <a:ext cx="2309568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331513E-164D-7E41-CEBB-13144C921D3F}"/>
                  </a:ext>
                </a:extLst>
              </p:cNvPr>
              <p:cNvSpPr txBox="1"/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/>
                  <a:t>TRY IT: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hung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jury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guilty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331513E-164D-7E41-CEBB-13144C921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  <a:blipFill>
                <a:blip r:embed="rId11"/>
                <a:stretch>
                  <a:fillRect l="-1345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2891661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7117B-5659-168E-055E-F260E05BE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2535C-5A64-A433-74BF-28CA050744D7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24BB3B-DC04-7446-D1A7-674254EE5878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A983AF-D09E-9146-65E1-112EBDDD511E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B48D6F-97E6-30A2-C41C-8DA3157F3159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6980AD-B640-0F79-D0A9-92C62367CE42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063C4F-C21C-7D69-8013-D05FC8DC13B7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43B3978-0DD4-5AB5-68AC-69815E7CB073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0DE5E9-8383-B555-F7E1-554364A92AE5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2A35AC-0946-E11A-E0A0-7635A7877F23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CBDA26-88E1-C53A-7F95-9252C0E46923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CBDA26-88E1-C53A-7F95-9252C0E46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CF2A323-CBD4-4435-1FB3-7FF709E45A95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CF2A323-CBD4-4435-1FB3-7FF709E45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3F8EB6B-7E74-4BF8-E8A8-A3F1F20D2438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3F8EB6B-7E74-4BF8-E8A8-A3F1F20D2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9E5780F-2E33-5B41-BF0B-A7BEAF4CE972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A2EE320-0CDD-2374-FAC9-AAC6520185AD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269AA07-7FB7-9711-7D03-E4663ED26D7C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A79BBA-D6A8-24C9-E53A-B66AEC465344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E50E4FF-B660-E597-36CD-03C150834B7B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E50E4FF-B660-E597-36CD-03C150834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D794F1B-3576-0D17-BDDC-35F6E3BC5FBC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D794F1B-3576-0D17-BDDC-35F6E3BC5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F0DC239-1401-79A6-C022-347284DCEBBF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3C7665B-C3C5-E83A-A889-018E32D4F614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DC61E4-1F1D-7B04-C6DB-04641C225D15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1CA3B76-48A4-2A53-413A-53357B277FA6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1CA3B76-48A4-2A53-413A-53357B277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2CE0D4F-8AD0-93ED-A346-B7FFD6D1A23A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2CE0D4F-8AD0-93ED-A346-B7FFD6D1A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90EB57D-C2A5-BCA3-0EAE-AC3F26EC14C8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2EFF596-A9CD-7386-133D-07477E363B5D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51299A-744A-4F57-6B79-025FA0337D85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72C7690-7325-953B-C78C-BEEA7BBBF539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72C7690-7325-953B-C78C-BEEA7BBBF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3B36251-FF98-A830-0030-E0B3981FE9F4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3B36251-FF98-A830-0030-E0B3981FE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E755611-1A79-2979-9EB0-265D66D1E0CF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B5E45A-E893-F2F9-6A57-55CF085B9B0D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7F42820-8CA6-5A86-68BF-6BCF873EC2A7}"/>
              </a:ext>
            </a:extLst>
          </p:cNvPr>
          <p:cNvSpPr/>
          <p:nvPr/>
        </p:nvSpPr>
        <p:spPr>
          <a:xfrm>
            <a:off x="856913" y="2356581"/>
            <a:ext cx="2309568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F21419B-8B4F-CFCB-AF32-4742DB59EDBB}"/>
                  </a:ext>
                </a:extLst>
              </p:cNvPr>
              <p:cNvSpPr txBox="1"/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/>
                  <a:t>TRY IT: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hung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jury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guilty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F21419B-8B4F-CFCB-AF32-4742DB59E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  <a:blipFill>
                <a:blip r:embed="rId11"/>
                <a:stretch>
                  <a:fillRect l="-1345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23499DA-9FB4-C7C0-7780-27EE168CE8CE}"/>
                  </a:ext>
                </a:extLst>
              </p:cNvPr>
              <p:cNvSpPr txBox="1"/>
              <p:nvPr/>
            </p:nvSpPr>
            <p:spPr>
              <a:xfrm>
                <a:off x="339364" y="3829050"/>
                <a:ext cx="5284626" cy="2404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hung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jury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hung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jury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&amp;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guilty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where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guilty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</m:num>
                        <m:den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den>
                              </m:f>
                            </m:e>
                          </m:box>
                        </m:den>
                      </m:f>
                    </m:oMath>
                  </m:oMathPara>
                </a14:m>
                <a:endParaRPr lang="en-US" b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23499DA-9FB4-C7C0-7780-27EE168CE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3829050"/>
                <a:ext cx="5284626" cy="240450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BA55EC0A-3CEB-1E3F-178F-5BAA42BF52FA}"/>
              </a:ext>
            </a:extLst>
          </p:cNvPr>
          <p:cNvSpPr/>
          <p:nvPr/>
        </p:nvSpPr>
        <p:spPr>
          <a:xfrm>
            <a:off x="6667642" y="3324287"/>
            <a:ext cx="1596194" cy="3247962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C3B8502-E84A-9F11-B5F3-1CCC352BC0DA}"/>
              </a:ext>
            </a:extLst>
          </p:cNvPr>
          <p:cNvSpPr/>
          <p:nvPr/>
        </p:nvSpPr>
        <p:spPr>
          <a:xfrm>
            <a:off x="8287087" y="4389535"/>
            <a:ext cx="2561961" cy="2182712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4F4C78A-3788-A758-EFA0-5DFB48BFEF6D}"/>
              </a:ext>
            </a:extLst>
          </p:cNvPr>
          <p:cNvSpPr/>
          <p:nvPr/>
        </p:nvSpPr>
        <p:spPr>
          <a:xfrm>
            <a:off x="10865994" y="5680231"/>
            <a:ext cx="1106271" cy="971580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92218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D5020-51B2-3EAA-E829-E3C48B8F1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770D5-8D5A-18CF-17E2-EF535A237821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1F344B-B6C7-5040-C4B7-AA60C9499D36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C0CC10-5838-1BEB-CC23-AB516618C5EB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DBA2F3-63FB-3C21-FDDB-649E88C4E5C9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ADC6-6C0C-E150-FC62-D88892BFC39C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5405D4-3FEF-5711-A818-14B46D47EE7F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AC6A157-788D-98A3-B072-157E62DE83A3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6040DC-4561-D2AD-73F5-0BA69A4A2710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FEF6F3-F8F7-359F-5041-7491B71645E0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4FFC8B-8DEB-48E8-86EA-45733AA568D0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4FFC8B-8DEB-48E8-86EA-45733AA56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3C273B-809B-D96B-D511-BBB302457CFD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3C273B-809B-D96B-D511-BBB302457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1864DCC-24F3-5403-4A8A-EF6A7C3E1D3A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1864DCC-24F3-5403-4A8A-EF6A7C3E1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FC9C96F-62B8-B226-B680-E28754F11274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6B7EF5C-C160-0C47-B871-DD830B72D024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423B003-47CE-B2A4-AB6A-0F7ED5DF449C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5E98E7-F942-D93C-13D2-885A64D24401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58191B8-50F2-EE26-9B90-3650D7AC51B5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58191B8-50F2-EE26-9B90-3650D7AC5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1A4CDC1-6910-DF4E-B3AB-82932CA66375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1A4CDC1-6910-DF4E-B3AB-82932CA66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DC1D750-A08A-1526-CAA6-6CC9494E7F1F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33F9627-1547-0DEB-7426-2DE2B5E1BBEC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3FD6F2-79FF-17C3-790B-B7D3C7AF2335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1571ABA-35BE-2D7B-D760-9E4917D2E84A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1571ABA-35BE-2D7B-D760-9E4917D2E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E1203FA-EA34-4489-C3CA-D049A3B3A8D3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E1203FA-EA34-4489-C3CA-D049A3B3A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8B3929B-6AA6-7652-7C5C-75577C0F1F92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D335608-D73B-C1E0-B8EB-1FD45BBBF614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9CD3BC-67A5-9900-8B13-153DFAE040D7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271652-8B05-B720-E514-394C64320672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271652-8B05-B720-E514-394C64320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7BE9FAD-FC65-5E36-4F3D-DBCE928146CF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7BE9FAD-FC65-5E36-4F3D-DBCE92814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5A55A41-799A-39B0-EAC2-5329BD63DA5A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71C160-09F0-957D-1375-02767B8FF70D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8105FE-C2CD-60D5-C7E3-B370F2BFFCAD}"/>
              </a:ext>
            </a:extLst>
          </p:cNvPr>
          <p:cNvSpPr/>
          <p:nvPr/>
        </p:nvSpPr>
        <p:spPr>
          <a:xfrm>
            <a:off x="856913" y="2356581"/>
            <a:ext cx="2309568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ED7A02D-81BB-5362-9B56-C7D7DDDBDFEF}"/>
                  </a:ext>
                </a:extLst>
              </p:cNvPr>
              <p:cNvSpPr txBox="1"/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/>
                  <a:t>TRY IT: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hung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jury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guilty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ED7A02D-81BB-5362-9B56-C7D7DDDBD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  <a:blipFill>
                <a:blip r:embed="rId11"/>
                <a:stretch>
                  <a:fillRect l="-1345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F042691-1951-277E-CC58-E89FDCFD98E9}"/>
                  </a:ext>
                </a:extLst>
              </p:cNvPr>
              <p:cNvSpPr txBox="1"/>
              <p:nvPr/>
            </p:nvSpPr>
            <p:spPr>
              <a:xfrm>
                <a:off x="339364" y="3829050"/>
                <a:ext cx="5284626" cy="2404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hung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jury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hung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jury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&amp;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guilty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where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guilty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</m:num>
                        <m:den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den>
                              </m:f>
                            </m:e>
                          </m:box>
                        </m:den>
                      </m:f>
                    </m:oMath>
                  </m:oMathPara>
                </a14:m>
                <a:endParaRPr lang="en-US" b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F042691-1951-277E-CC58-E89FDCFD9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3829050"/>
                <a:ext cx="5284626" cy="240450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07F596A5-5E77-7FFE-27F1-B7934E0F7828}"/>
              </a:ext>
            </a:extLst>
          </p:cNvPr>
          <p:cNvSpPr/>
          <p:nvPr/>
        </p:nvSpPr>
        <p:spPr>
          <a:xfrm>
            <a:off x="6667642" y="3324287"/>
            <a:ext cx="1596194" cy="3247962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5CA4903-9A6C-2D40-2022-5F44D9F5FEBF}"/>
              </a:ext>
            </a:extLst>
          </p:cNvPr>
          <p:cNvSpPr/>
          <p:nvPr/>
        </p:nvSpPr>
        <p:spPr>
          <a:xfrm>
            <a:off x="8287087" y="4389535"/>
            <a:ext cx="2561961" cy="2182712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ED9F15-989A-F6A1-D744-0F10A2F3982E}"/>
              </a:ext>
            </a:extLst>
          </p:cNvPr>
          <p:cNvSpPr/>
          <p:nvPr/>
        </p:nvSpPr>
        <p:spPr>
          <a:xfrm>
            <a:off x="10865994" y="5680231"/>
            <a:ext cx="1106271" cy="971580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A0018D9-C63B-00A5-D48D-A4DE96A716F7}"/>
              </a:ext>
            </a:extLst>
          </p:cNvPr>
          <p:cNvSpPr/>
          <p:nvPr/>
        </p:nvSpPr>
        <p:spPr>
          <a:xfrm>
            <a:off x="2676525" y="5372454"/>
            <a:ext cx="752475" cy="43941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016836D-6950-26F0-CD21-5DD5370762A7}"/>
              </a:ext>
            </a:extLst>
          </p:cNvPr>
          <p:cNvSpPr/>
          <p:nvPr/>
        </p:nvSpPr>
        <p:spPr>
          <a:xfrm>
            <a:off x="8299377" y="2294963"/>
            <a:ext cx="2532730" cy="210536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87713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B2BC-49C3-0682-99AC-C49321B35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A7B50-F556-711C-7EA6-D64CDEC5CCAF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571391-34BA-1536-A73A-C0B30D7A87F0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E74ABC-4A7C-ED22-D023-05C5C9ACD594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70F28F-4003-C55A-C85C-6A4569D8DB93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1DCB8CE-B48F-6E46-D6BA-F3D3D034D1B5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80FC05-6131-DED4-FB3C-4D58D76869AA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692D4CA-CA9F-BA3F-E59B-E630FB684542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077110-8E1D-037D-6601-40DB92BEB257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F4EFF6-D09C-2005-0169-CAC6A7DCE1E6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EC51E2-65A4-2173-7A44-2370741D68B0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EC51E2-65A4-2173-7A44-2370741D6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3BAEE15-D55B-CCA0-D208-1E68C0B57012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3BAEE15-D55B-CCA0-D208-1E68C0B57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4764D89-EDD0-700B-2F9D-311DB3A9A1D9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4764D89-EDD0-700B-2F9D-311DB3A9A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7274FCC-0CCA-E209-FF68-E79BEF42045D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C82048-2E31-3F1C-3A32-63EB3E50C828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F5BE839-205D-84CD-47CF-8F12BFB17951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26585C-C0F0-2354-3069-3AFBB66C4005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A022B94-B92C-FD57-0CF8-D9141C11DECB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A022B94-B92C-FD57-0CF8-D9141C11D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A9CCDC0-5A72-35B0-E365-4CB8E0276BDC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A9CCDC0-5A72-35B0-E365-4CB8E0276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F167BA-8156-88E0-F48B-68F78D7A8F9E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B2D1389-554C-4575-0A51-0DEAFBE3BC24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3260FC-7D59-DD9C-643D-0A2FC34EC8EF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E981F3D-3B92-33FB-E3A0-0B67FFCE5CD6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E981F3D-3B92-33FB-E3A0-0B67FFCE5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E562514-1833-4DFB-034B-A00DEF3BFFF5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E562514-1833-4DFB-034B-A00DEF3BFF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5CC2B66-2D65-E391-F984-28D540FEF302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F8BC49B-E4CD-DD7F-9407-F007778AF133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59D4A6-5EB7-32E1-4A5F-1016477C6B8C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5BD60A6-27C2-5037-2E5A-95F5754B3A7C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5BD60A6-27C2-5037-2E5A-95F5754B3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C207E35-5256-6063-45DD-2513F946BD0A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C207E35-5256-6063-45DD-2513F946B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E77570A-2431-61A6-002F-C427B45C797C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F8D480-8EC9-D4DB-A95E-4D48649DF289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11749E-227B-7951-516F-FAE5DDB28B0B}"/>
              </a:ext>
            </a:extLst>
          </p:cNvPr>
          <p:cNvSpPr/>
          <p:nvPr/>
        </p:nvSpPr>
        <p:spPr>
          <a:xfrm>
            <a:off x="856913" y="2356581"/>
            <a:ext cx="2309568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73A0024-15EB-A79F-9936-DDD86111AE40}"/>
                  </a:ext>
                </a:extLst>
              </p:cNvPr>
              <p:cNvSpPr txBox="1"/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/>
                  <a:t>TRY IT: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hung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jury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guilty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73A0024-15EB-A79F-9936-DDD86111A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  <a:blipFill>
                <a:blip r:embed="rId11"/>
                <a:stretch>
                  <a:fillRect l="-1345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D218933-648F-9B9C-6642-E9B39283A946}"/>
                  </a:ext>
                </a:extLst>
              </p:cNvPr>
              <p:cNvSpPr txBox="1"/>
              <p:nvPr/>
            </p:nvSpPr>
            <p:spPr>
              <a:xfrm>
                <a:off x="339364" y="3829050"/>
                <a:ext cx="5284626" cy="2404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hung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jury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hung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jury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&amp;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guilty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where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guilty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</m:num>
                        <m:den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den>
                              </m:f>
                            </m:e>
                          </m:box>
                        </m:den>
                      </m:f>
                    </m:oMath>
                  </m:oMathPara>
                </a14:m>
                <a:endParaRPr lang="en-US" b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D218933-648F-9B9C-6642-E9B39283A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3829050"/>
                <a:ext cx="5284626" cy="240450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BFD71663-324D-E8EA-59DB-99427F8EA00C}"/>
              </a:ext>
            </a:extLst>
          </p:cNvPr>
          <p:cNvSpPr/>
          <p:nvPr/>
        </p:nvSpPr>
        <p:spPr>
          <a:xfrm>
            <a:off x="6667642" y="3324287"/>
            <a:ext cx="1596194" cy="3247962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A397271-17D3-02B1-27CC-0DD6B0FB849F}"/>
              </a:ext>
            </a:extLst>
          </p:cNvPr>
          <p:cNvSpPr/>
          <p:nvPr/>
        </p:nvSpPr>
        <p:spPr>
          <a:xfrm>
            <a:off x="8287087" y="4389535"/>
            <a:ext cx="2561961" cy="2182712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ECF4A8E-570F-3836-E7BB-4FCE67DD7914}"/>
              </a:ext>
            </a:extLst>
          </p:cNvPr>
          <p:cNvSpPr/>
          <p:nvPr/>
        </p:nvSpPr>
        <p:spPr>
          <a:xfrm>
            <a:off x="10865994" y="5680231"/>
            <a:ext cx="1106271" cy="971580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D7185C7-D6AC-DF0D-8577-4F2F966317BE}"/>
              </a:ext>
            </a:extLst>
          </p:cNvPr>
          <p:cNvSpPr/>
          <p:nvPr/>
        </p:nvSpPr>
        <p:spPr>
          <a:xfrm>
            <a:off x="1768173" y="5813542"/>
            <a:ext cx="752475" cy="43941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0A9DAAB-2F56-301A-3C2B-886C29A0E41C}"/>
              </a:ext>
            </a:extLst>
          </p:cNvPr>
          <p:cNvSpPr/>
          <p:nvPr/>
        </p:nvSpPr>
        <p:spPr>
          <a:xfrm>
            <a:off x="6670105" y="2321736"/>
            <a:ext cx="1643031" cy="9392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0457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12943-A155-ED18-BD75-09B98720A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9F318-F841-02E9-BFC7-36F4BC89DA5B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B73913-838C-5DFD-CC22-7599E4432455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DB6A45-17C0-83B7-DB4C-62379AF0E2FB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8CFC34-96A2-156E-D16E-0D5F84AC01EC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550E489-6217-D742-10FB-F192580674F2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FE3B85B-4781-D6C6-CB91-FF98FFC61207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34A1E0A-2118-6C8E-9206-91AA6F8689C0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5B19C9-1D28-B19C-2E81-6162FF04BC22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79814F-E396-B300-5750-EA4427603A33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34D6B6-5415-B85B-8649-D6336E98EAA7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34D6B6-5415-B85B-8649-D6336E98E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61F8D5-B030-065F-3EA5-D97373B93125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61F8D5-B030-065F-3EA5-D97373B93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1B7CCA9-1D64-6EA4-8665-C5EA282D1D7A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1B7CCA9-1D64-6EA4-8665-C5EA282D1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FE1DF15-74FA-150C-D0C1-572FB09AE552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2D5B47C-CD80-7E01-4C2B-AAC57362B804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11F3327-1099-D854-6452-FAF68EC16379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97402F-8F0E-90E4-A8FA-2DB37CBD146B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1CF66E6-3848-2187-73A3-9113CBA2761C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1CF66E6-3848-2187-73A3-9113CBA27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E969C14-C7CF-34A1-2FC4-131B806CFADD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E969C14-C7CF-34A1-2FC4-131B806CF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A4D7653-C5AA-2C8F-2368-72F99923C00F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0D10D6D-8A12-9B38-3875-3AAA25E1DC8C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2E03E2-5EE1-6599-0B9F-39E6952EFAA6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A6CD57F-41F3-553E-7C64-34407AA7E017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A6CD57F-41F3-553E-7C64-34407AA7E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3FE3907-DB02-0F9E-4FC7-E82D9CD89D81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3FE3907-DB02-0F9E-4FC7-E82D9CD89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36F24A-1981-9D3A-D570-26DCFB71E902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70AB929-24B5-DEA3-28AC-3D060165F72A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29AAEF-CC0A-7BFA-8774-454DE8AFBE28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B9B7E19-DE06-DD05-6C08-F6F0CF45D9F6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B9B7E19-DE06-DD05-6C08-F6F0CF45D9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A2C2A19-04CD-2472-6BC7-E11FD71E1ED4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A2C2A19-04CD-2472-6BC7-E11FD71E1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D4413C7-BB1D-D8A0-B439-7FF172E44B2B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6288A0-B819-1E38-CA87-98BFD5A9CADF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3B8EF2D-041A-F334-1879-2B8E54755D66}"/>
              </a:ext>
            </a:extLst>
          </p:cNvPr>
          <p:cNvSpPr/>
          <p:nvPr/>
        </p:nvSpPr>
        <p:spPr>
          <a:xfrm>
            <a:off x="856913" y="2356581"/>
            <a:ext cx="2309568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8A26A70-183C-545D-1D56-14D2B6211708}"/>
                  </a:ext>
                </a:extLst>
              </p:cNvPr>
              <p:cNvSpPr txBox="1"/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/>
                  <a:t>TRY IT: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hung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jury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guilty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8A26A70-183C-545D-1D56-14D2B62117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  <a:blipFill>
                <a:blip r:embed="rId11"/>
                <a:stretch>
                  <a:fillRect l="-1345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AC3421C-16C0-2AD9-DB21-2740F23656AD}"/>
                  </a:ext>
                </a:extLst>
              </p:cNvPr>
              <p:cNvSpPr txBox="1"/>
              <p:nvPr/>
            </p:nvSpPr>
            <p:spPr>
              <a:xfrm>
                <a:off x="339364" y="3829050"/>
                <a:ext cx="5284626" cy="2404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hung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jury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hung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jury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&amp;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guilty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where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guilty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</m:num>
                        <m:den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den>
                              </m:f>
                            </m:e>
                          </m:box>
                        </m:den>
                      </m:f>
                    </m:oMath>
                  </m:oMathPara>
                </a14:m>
                <a:endParaRPr lang="en-US" b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AC3421C-16C0-2AD9-DB21-2740F2365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3829050"/>
                <a:ext cx="5284626" cy="240450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0B0E9A39-FC3A-6102-266E-0BA2D944E87C}"/>
              </a:ext>
            </a:extLst>
          </p:cNvPr>
          <p:cNvSpPr/>
          <p:nvPr/>
        </p:nvSpPr>
        <p:spPr>
          <a:xfrm>
            <a:off x="6667642" y="3324287"/>
            <a:ext cx="1596194" cy="3247962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789EEFB-C993-AAEF-B84A-D58D81304B2B}"/>
              </a:ext>
            </a:extLst>
          </p:cNvPr>
          <p:cNvSpPr/>
          <p:nvPr/>
        </p:nvSpPr>
        <p:spPr>
          <a:xfrm>
            <a:off x="8287087" y="4389535"/>
            <a:ext cx="2561961" cy="2182712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8E970CA-7E93-F9CD-DF39-95EC5D257102}"/>
              </a:ext>
            </a:extLst>
          </p:cNvPr>
          <p:cNvSpPr/>
          <p:nvPr/>
        </p:nvSpPr>
        <p:spPr>
          <a:xfrm>
            <a:off x="10865994" y="5680231"/>
            <a:ext cx="1106271" cy="971580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4E4C377-104F-2850-244A-5818C032F3CE}"/>
              </a:ext>
            </a:extLst>
          </p:cNvPr>
          <p:cNvSpPr/>
          <p:nvPr/>
        </p:nvSpPr>
        <p:spPr>
          <a:xfrm>
            <a:off x="2676272" y="5829627"/>
            <a:ext cx="752475" cy="43941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1ABF29B-6604-30CB-B61C-3ABEC0EC834C}"/>
              </a:ext>
            </a:extLst>
          </p:cNvPr>
          <p:cNvSpPr/>
          <p:nvPr/>
        </p:nvSpPr>
        <p:spPr>
          <a:xfrm>
            <a:off x="8299377" y="2294963"/>
            <a:ext cx="2532730" cy="210536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434021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19919-402C-7DDB-965F-73C8E6F26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59639-4E6C-4FD5-8C3F-497BFF8A8FA1}"/>
              </a:ext>
            </a:extLst>
          </p:cNvPr>
          <p:cNvSpPr txBox="1">
            <a:spLocks/>
          </p:cNvSpPr>
          <p:nvPr/>
        </p:nvSpPr>
        <p:spPr>
          <a:xfrm>
            <a:off x="2762865" y="0"/>
            <a:ext cx="942913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 anchorCtr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Compute With A marginal-Conditional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52D8A1-A35D-115D-D4E3-B82FA2331BF7}"/>
              </a:ext>
            </a:extLst>
          </p:cNvPr>
          <p:cNvSpPr txBox="1"/>
          <p:nvPr/>
        </p:nvSpPr>
        <p:spPr>
          <a:xfrm rot="20574304">
            <a:off x="-76372" y="350735"/>
            <a:ext cx="3093167" cy="707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Remember: Probabilities are Proportions!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ECE7F4-F9F4-FCC8-79F8-BE03828BB8B5}"/>
              </a:ext>
            </a:extLst>
          </p:cNvPr>
          <p:cNvSpPr/>
          <p:nvPr/>
        </p:nvSpPr>
        <p:spPr>
          <a:xfrm>
            <a:off x="6660776" y="2294964"/>
            <a:ext cx="5289177" cy="43568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AAA6F4-9151-3404-5068-5CB4242951D9}"/>
              </a:ext>
            </a:extLst>
          </p:cNvPr>
          <p:cNvSpPr txBox="1"/>
          <p:nvPr/>
        </p:nvSpPr>
        <p:spPr>
          <a:xfrm>
            <a:off x="8440417" y="719205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what will be the outcome of the trial?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5E5ACE5-6198-42FF-0DE0-79CB65341BCB}"/>
              </a:ext>
            </a:extLst>
          </p:cNvPr>
          <p:cNvCxnSpPr/>
          <p:nvPr/>
        </p:nvCxnSpPr>
        <p:spPr>
          <a:xfrm>
            <a:off x="8283388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7E8ED1-812A-4689-C1CE-26B61464A573}"/>
              </a:ext>
            </a:extLst>
          </p:cNvPr>
          <p:cNvCxnSpPr/>
          <p:nvPr/>
        </p:nvCxnSpPr>
        <p:spPr>
          <a:xfrm>
            <a:off x="10849050" y="2294964"/>
            <a:ext cx="0" cy="43568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A8971EA-99DB-F236-353E-784DFFA66DC3}"/>
              </a:ext>
            </a:extLst>
          </p:cNvPr>
          <p:cNvSpPr txBox="1"/>
          <p:nvPr/>
        </p:nvSpPr>
        <p:spPr>
          <a:xfrm>
            <a:off x="6793988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acquittal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E845AA-0A68-9CC4-C81E-905A488BDD41}"/>
              </a:ext>
            </a:extLst>
          </p:cNvPr>
          <p:cNvSpPr txBox="1"/>
          <p:nvPr/>
        </p:nvSpPr>
        <p:spPr>
          <a:xfrm>
            <a:off x="8726863" y="1531716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hung jury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714CA9-47B6-9795-A6E5-74EC6E0A226A}"/>
              </a:ext>
            </a:extLst>
          </p:cNvPr>
          <p:cNvSpPr txBox="1"/>
          <p:nvPr/>
        </p:nvSpPr>
        <p:spPr>
          <a:xfrm>
            <a:off x="10659738" y="1531715"/>
            <a:ext cx="136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conviction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192506-BE5A-B147-F4AD-DBFD242FD2CA}"/>
                  </a:ext>
                </a:extLst>
              </p:cNvPr>
              <p:cNvSpPr txBox="1"/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192506-BE5A-B147-F4AD-DBFD242FD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797" y="1839492"/>
                <a:ext cx="480767" cy="430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8B19243-9D14-17AB-01DE-0EFDDB5818B4}"/>
                  </a:ext>
                </a:extLst>
              </p:cNvPr>
              <p:cNvSpPr txBox="1"/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8B19243-9D14-17AB-01DE-0EFDDB581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47" y="1839224"/>
                <a:ext cx="480767" cy="417358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70C23F3-5482-B492-D2A4-824FD3E6E1DC}"/>
                  </a:ext>
                </a:extLst>
              </p:cNvPr>
              <p:cNvSpPr txBox="1"/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70C23F3-5482-B492-D2A4-824FD3E6E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922" y="1839224"/>
                <a:ext cx="480767" cy="41575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2ABE189-AEAA-FB6D-AE1F-7CCB82C93D2A}"/>
              </a:ext>
            </a:extLst>
          </p:cNvPr>
          <p:cNvSpPr txBox="1"/>
          <p:nvPr/>
        </p:nvSpPr>
        <p:spPr>
          <a:xfrm rot="16200000">
            <a:off x="5126112" y="4180999"/>
            <a:ext cx="1939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is the defendant actually guilty?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8193D2-545D-A855-3AA2-0B6E756BD1E9}"/>
              </a:ext>
            </a:extLst>
          </p:cNvPr>
          <p:cNvCxnSpPr>
            <a:cxnSpLocks/>
          </p:cNvCxnSpPr>
          <p:nvPr/>
        </p:nvCxnSpPr>
        <p:spPr>
          <a:xfrm flipH="1">
            <a:off x="6660776" y="3299381"/>
            <a:ext cx="16226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BC31897-D46C-29DD-AE1C-FD82DEC6CC0D}"/>
              </a:ext>
            </a:extLst>
          </p:cNvPr>
          <p:cNvSpPr txBox="1"/>
          <p:nvPr/>
        </p:nvSpPr>
        <p:spPr>
          <a:xfrm>
            <a:off x="7455658" y="2668231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57A8D3-F54E-C19D-F537-70301C71CA3E}"/>
              </a:ext>
            </a:extLst>
          </p:cNvPr>
          <p:cNvSpPr txBox="1"/>
          <p:nvPr/>
        </p:nvSpPr>
        <p:spPr>
          <a:xfrm>
            <a:off x="7377143" y="5064677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F760B6C-DF89-6096-A0C6-508A5F600499}"/>
                  </a:ext>
                </a:extLst>
              </p:cNvPr>
              <p:cNvSpPr txBox="1"/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F760B6C-DF89-6096-A0C6-508A5F600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27" y="2513461"/>
                <a:ext cx="480767" cy="417358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D8D7D68-BD0F-0E3C-9D5C-37B946772145}"/>
                  </a:ext>
                </a:extLst>
              </p:cNvPr>
              <p:cNvSpPr txBox="1"/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D8D7D68-BD0F-0E3C-9D5C-37B946772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35" y="4766917"/>
                <a:ext cx="480767" cy="417358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A7FA93D-3DF1-31F4-F043-81808D9DF417}"/>
              </a:ext>
            </a:extLst>
          </p:cNvPr>
          <p:cNvCxnSpPr>
            <a:cxnSpLocks/>
          </p:cNvCxnSpPr>
          <p:nvPr/>
        </p:nvCxnSpPr>
        <p:spPr>
          <a:xfrm flipH="1">
            <a:off x="8256970" y="4385035"/>
            <a:ext cx="25920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1B3E84F-7AE3-2395-5C6B-FB281D04FA43}"/>
              </a:ext>
            </a:extLst>
          </p:cNvPr>
          <p:cNvSpPr txBox="1"/>
          <p:nvPr/>
        </p:nvSpPr>
        <p:spPr>
          <a:xfrm>
            <a:off x="9463587" y="297600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5745EA-BAC2-C251-D8E8-EEF6EEC1BE86}"/>
              </a:ext>
            </a:extLst>
          </p:cNvPr>
          <p:cNvSpPr txBox="1"/>
          <p:nvPr/>
        </p:nvSpPr>
        <p:spPr>
          <a:xfrm>
            <a:off x="9385072" y="5372454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645F148-A142-8E38-5C12-C73AC811338E}"/>
                  </a:ext>
                </a:extLst>
              </p:cNvPr>
              <p:cNvSpPr txBox="1"/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645F148-A142-8E38-5C12-C73AC8113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85" y="3068790"/>
                <a:ext cx="480767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0A6A970-3C19-F90E-383B-BE0DBE1A048D}"/>
                  </a:ext>
                </a:extLst>
              </p:cNvPr>
              <p:cNvSpPr txBox="1"/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0A6A970-3C19-F90E-383B-BE0DBE1A0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724" y="5271291"/>
                <a:ext cx="480767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0EDFC8-BFBF-193E-AD6B-6557FA13CAEC}"/>
              </a:ext>
            </a:extLst>
          </p:cNvPr>
          <p:cNvCxnSpPr>
            <a:cxnSpLocks/>
          </p:cNvCxnSpPr>
          <p:nvPr/>
        </p:nvCxnSpPr>
        <p:spPr>
          <a:xfrm flipH="1">
            <a:off x="10849050" y="5701281"/>
            <a:ext cx="11009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4DAA85-5D89-7B32-139B-963CBDF9CA03}"/>
              </a:ext>
            </a:extLst>
          </p:cNvPr>
          <p:cNvSpPr txBox="1"/>
          <p:nvPr/>
        </p:nvSpPr>
        <p:spPr>
          <a:xfrm>
            <a:off x="11062892" y="5983079"/>
            <a:ext cx="958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innocent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EC035B-BDBE-4F42-212C-4215F7096ADD}"/>
              </a:ext>
            </a:extLst>
          </p:cNvPr>
          <p:cNvSpPr txBox="1"/>
          <p:nvPr/>
        </p:nvSpPr>
        <p:spPr>
          <a:xfrm>
            <a:off x="11174689" y="2819638"/>
            <a:ext cx="80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guilty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FEB1E98-B510-67AB-8338-8A5115D57124}"/>
                  </a:ext>
                </a:extLst>
              </p:cNvPr>
              <p:cNvSpPr txBox="1"/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FEB1E98-B510-67AB-8338-8A5115D57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50" y="2997484"/>
                <a:ext cx="480767" cy="415755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0738EF9-8440-645D-55B2-C2A80938582D}"/>
                  </a:ext>
                </a:extLst>
              </p:cNvPr>
              <p:cNvSpPr txBox="1"/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0738EF9-8440-645D-55B2-C2A809385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798" y="5911013"/>
                <a:ext cx="480767" cy="419538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37E6B9D-D259-0343-7488-96FB0B2F4D70}"/>
              </a:ext>
            </a:extLst>
          </p:cNvPr>
          <p:cNvSpPr txBox="1"/>
          <p:nvPr/>
        </p:nvSpPr>
        <p:spPr>
          <a:xfrm>
            <a:off x="622170" y="1303980"/>
            <a:ext cx="214069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things to 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D7463E-B692-8F9E-77FB-C7E2F6365472}"/>
              </a:ext>
            </a:extLst>
          </p:cNvPr>
          <p:cNvSpPr txBox="1"/>
          <p:nvPr/>
        </p:nvSpPr>
        <p:spPr>
          <a:xfrm>
            <a:off x="562113" y="1685603"/>
            <a:ext cx="316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marginal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probabilities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3B88B5-5ABC-DEB8-0EE8-4F15576024EB}"/>
              </a:ext>
            </a:extLst>
          </p:cNvPr>
          <p:cNvSpPr/>
          <p:nvPr/>
        </p:nvSpPr>
        <p:spPr>
          <a:xfrm>
            <a:off x="856913" y="2356581"/>
            <a:ext cx="2309568" cy="28280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CA4926D-0DDF-9439-6B9C-1EC06E134EE4}"/>
                  </a:ext>
                </a:extLst>
              </p:cNvPr>
              <p:cNvSpPr txBox="1"/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/>
                  <a:t>TRY IT: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hung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jury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guilty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CA4926D-0DDF-9439-6B9C-1EC06E134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2930819"/>
                <a:ext cx="3619893" cy="369332"/>
              </a:xfrm>
              <a:prstGeom prst="rect">
                <a:avLst/>
              </a:prstGeom>
              <a:blipFill>
                <a:blip r:embed="rId11"/>
                <a:stretch>
                  <a:fillRect l="-1345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854B557-FB10-883F-AFEC-E25FED3D9EB5}"/>
                  </a:ext>
                </a:extLst>
              </p:cNvPr>
              <p:cNvSpPr txBox="1"/>
              <p:nvPr/>
            </p:nvSpPr>
            <p:spPr>
              <a:xfrm>
                <a:off x="339364" y="3829050"/>
                <a:ext cx="5284626" cy="2404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hung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jury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guilty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hung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jury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&amp;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guilty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where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guilty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</m:num>
                        <m:den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den>
                              </m:f>
                            </m:e>
                          </m:box>
                        </m:den>
                      </m:f>
                    </m:oMath>
                  </m:oMathPara>
                </a14:m>
                <a:endParaRPr lang="en-US" b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854B557-FB10-883F-AFEC-E25FED3D9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4" y="3829050"/>
                <a:ext cx="5284626" cy="240450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3A069181-4E9D-A44A-44EF-B2039884C0EE}"/>
              </a:ext>
            </a:extLst>
          </p:cNvPr>
          <p:cNvSpPr/>
          <p:nvPr/>
        </p:nvSpPr>
        <p:spPr>
          <a:xfrm>
            <a:off x="6667642" y="3324287"/>
            <a:ext cx="1596194" cy="3247962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1A6CE95-05FC-BC21-9750-90D30542AD92}"/>
              </a:ext>
            </a:extLst>
          </p:cNvPr>
          <p:cNvSpPr/>
          <p:nvPr/>
        </p:nvSpPr>
        <p:spPr>
          <a:xfrm>
            <a:off x="8287087" y="4389535"/>
            <a:ext cx="2561961" cy="2182712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89863D6-A96A-B0A9-AD04-73AD02FD883D}"/>
              </a:ext>
            </a:extLst>
          </p:cNvPr>
          <p:cNvSpPr/>
          <p:nvPr/>
        </p:nvSpPr>
        <p:spPr>
          <a:xfrm>
            <a:off x="10865994" y="5680231"/>
            <a:ext cx="1106271" cy="971580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261D88-FD4E-FB1A-81CC-5C90B71CB65D}"/>
              </a:ext>
            </a:extLst>
          </p:cNvPr>
          <p:cNvSpPr/>
          <p:nvPr/>
        </p:nvSpPr>
        <p:spPr>
          <a:xfrm>
            <a:off x="3583019" y="5846473"/>
            <a:ext cx="752475" cy="43941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99ABE5C-E995-97B3-1ED9-0D531A6B0458}"/>
              </a:ext>
            </a:extLst>
          </p:cNvPr>
          <p:cNvSpPr/>
          <p:nvPr/>
        </p:nvSpPr>
        <p:spPr>
          <a:xfrm>
            <a:off x="10825798" y="2271348"/>
            <a:ext cx="1124156" cy="346831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39474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4e17f4-cf11-4ce2-b3ef-5de76bf4ce41}" enabled="0" method="" siteId="{374e17f4-cf11-4ce2-b3ef-5de76bf4ce4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375</TotalTime>
  <Words>14169</Words>
  <Application>Microsoft Office PowerPoint</Application>
  <PresentationFormat>Widescreen</PresentationFormat>
  <Paragraphs>3937</Paragraphs>
  <Slides>148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148</vt:i4>
      </vt:variant>
    </vt:vector>
  </HeadingPairs>
  <TitlesOfParts>
    <vt:vector size="154" baseType="lpstr">
      <vt:lpstr>Aptos</vt:lpstr>
      <vt:lpstr>Arial</vt:lpstr>
      <vt:lpstr>Cambria Math</vt:lpstr>
      <vt:lpstr>Gill Sans MT</vt:lpstr>
      <vt:lpstr>Wingdings</vt:lpstr>
      <vt:lpstr>Parcel</vt:lpstr>
      <vt:lpstr>Marginal-Conditional Diagrams</vt:lpstr>
      <vt:lpstr>PowerPoint Presentation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Review: The Marginal-Conditional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Review: The Marginal-Conditional Method</vt:lpstr>
      <vt:lpstr>Review: The Marginal-Conditional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Jordan, Stuart</dc:creator>
  <cp:lastModifiedBy>Jordan, Stuart</cp:lastModifiedBy>
  <cp:revision>2</cp:revision>
  <dcterms:created xsi:type="dcterms:W3CDTF">2025-03-03T21:32:09Z</dcterms:created>
  <dcterms:modified xsi:type="dcterms:W3CDTF">2026-03-05T15:50:14Z</dcterms:modified>
</cp:coreProperties>
</file>