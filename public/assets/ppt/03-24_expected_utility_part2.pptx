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430" r:id="rId3"/>
    <p:sldId id="257" r:id="rId4"/>
    <p:sldId id="258" r:id="rId5"/>
    <p:sldId id="259" r:id="rId6"/>
    <p:sldId id="262" r:id="rId7"/>
    <p:sldId id="344" r:id="rId8"/>
    <p:sldId id="349" r:id="rId9"/>
    <p:sldId id="346" r:id="rId10"/>
    <p:sldId id="347" r:id="rId11"/>
    <p:sldId id="348" r:id="rId12"/>
    <p:sldId id="350" r:id="rId13"/>
    <p:sldId id="351" r:id="rId14"/>
    <p:sldId id="352" r:id="rId15"/>
    <p:sldId id="356" r:id="rId16"/>
    <p:sldId id="357" r:id="rId17"/>
    <p:sldId id="358" r:id="rId18"/>
    <p:sldId id="359" r:id="rId19"/>
    <p:sldId id="360" r:id="rId20"/>
    <p:sldId id="361" r:id="rId21"/>
    <p:sldId id="362" r:id="rId22"/>
    <p:sldId id="363" r:id="rId23"/>
    <p:sldId id="277" r:id="rId24"/>
    <p:sldId id="278" r:id="rId25"/>
    <p:sldId id="279" r:id="rId26"/>
    <p:sldId id="280" r:id="rId27"/>
    <p:sldId id="364" r:id="rId28"/>
    <p:sldId id="366" r:id="rId29"/>
    <p:sldId id="365" r:id="rId30"/>
    <p:sldId id="284" r:id="rId31"/>
    <p:sldId id="367" r:id="rId32"/>
    <p:sldId id="285" r:id="rId33"/>
    <p:sldId id="287" r:id="rId34"/>
    <p:sldId id="286" r:id="rId35"/>
    <p:sldId id="288" r:id="rId36"/>
    <p:sldId id="289" r:id="rId37"/>
    <p:sldId id="368" r:id="rId38"/>
    <p:sldId id="290" r:id="rId39"/>
    <p:sldId id="293" r:id="rId40"/>
    <p:sldId id="291" r:id="rId41"/>
    <p:sldId id="294" r:id="rId42"/>
    <p:sldId id="296" r:id="rId43"/>
    <p:sldId id="295"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69" r:id="rId68"/>
    <p:sldId id="370" r:id="rId69"/>
    <p:sldId id="371" r:id="rId70"/>
    <p:sldId id="372" r:id="rId71"/>
    <p:sldId id="373" r:id="rId72"/>
    <p:sldId id="374" r:id="rId73"/>
    <p:sldId id="376" r:id="rId74"/>
    <p:sldId id="377" r:id="rId75"/>
    <p:sldId id="378" r:id="rId76"/>
    <p:sldId id="383" r:id="rId77"/>
    <p:sldId id="384" r:id="rId78"/>
    <p:sldId id="385" r:id="rId79"/>
    <p:sldId id="386" r:id="rId80"/>
    <p:sldId id="387" r:id="rId81"/>
    <p:sldId id="388" r:id="rId82"/>
    <p:sldId id="389" r:id="rId83"/>
    <p:sldId id="375" r:id="rId84"/>
    <p:sldId id="320" r:id="rId85"/>
    <p:sldId id="324" r:id="rId86"/>
    <p:sldId id="321" r:id="rId87"/>
    <p:sldId id="322" r:id="rId88"/>
    <p:sldId id="325" r:id="rId89"/>
    <p:sldId id="323" r:id="rId90"/>
    <p:sldId id="326" r:id="rId91"/>
    <p:sldId id="327" r:id="rId92"/>
    <p:sldId id="390" r:id="rId93"/>
    <p:sldId id="328" r:id="rId94"/>
    <p:sldId id="329" r:id="rId95"/>
    <p:sldId id="332" r:id="rId96"/>
    <p:sldId id="333" r:id="rId97"/>
    <p:sldId id="335" r:id="rId98"/>
    <p:sldId id="393" r:id="rId99"/>
    <p:sldId id="392" r:id="rId100"/>
    <p:sldId id="394" r:id="rId101"/>
    <p:sldId id="395" r:id="rId102"/>
    <p:sldId id="336" r:id="rId103"/>
    <p:sldId id="337" r:id="rId104"/>
    <p:sldId id="338" r:id="rId105"/>
    <p:sldId id="339" r:id="rId106"/>
    <p:sldId id="340" r:id="rId107"/>
    <p:sldId id="341" r:id="rId108"/>
    <p:sldId id="343" r:id="rId109"/>
    <p:sldId id="342" r:id="rId110"/>
    <p:sldId id="396" r:id="rId111"/>
    <p:sldId id="397" r:id="rId112"/>
    <p:sldId id="398" r:id="rId113"/>
    <p:sldId id="399" r:id="rId114"/>
    <p:sldId id="400" r:id="rId115"/>
    <p:sldId id="401" r:id="rId116"/>
    <p:sldId id="403" r:id="rId117"/>
    <p:sldId id="404" r:id="rId118"/>
    <p:sldId id="405" r:id="rId119"/>
    <p:sldId id="406" r:id="rId120"/>
    <p:sldId id="407" r:id="rId121"/>
    <p:sldId id="408" r:id="rId122"/>
    <p:sldId id="409" r:id="rId123"/>
    <p:sldId id="410" r:id="rId124"/>
    <p:sldId id="411" r:id="rId125"/>
    <p:sldId id="413" r:id="rId126"/>
    <p:sldId id="414" r:id="rId127"/>
    <p:sldId id="415" r:id="rId128"/>
    <p:sldId id="416" r:id="rId129"/>
    <p:sldId id="417" r:id="rId130"/>
    <p:sldId id="418" r:id="rId131"/>
    <p:sldId id="419" r:id="rId132"/>
    <p:sldId id="420" r:id="rId133"/>
    <p:sldId id="421" r:id="rId134"/>
    <p:sldId id="422" r:id="rId135"/>
    <p:sldId id="423" r:id="rId136"/>
    <p:sldId id="424" r:id="rId137"/>
    <p:sldId id="425" r:id="rId138"/>
    <p:sldId id="426" r:id="rId139"/>
    <p:sldId id="427" r:id="rId140"/>
    <p:sldId id="428" r:id="rId141"/>
    <p:sldId id="429" r:id="rId1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7132"/>
    <a:srgbClr val="4EA7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dan, Stuart" userId="1bf9a496-f356-4f9c-b15f-a24cde0408c2" providerId="ADAL" clId="{E4EA7936-689B-4FFE-B345-A1A5C78211DA}"/>
    <pc:docChg chg="modSld">
      <pc:chgData name="Jordan, Stuart" userId="1bf9a496-f356-4f9c-b15f-a24cde0408c2" providerId="ADAL" clId="{E4EA7936-689B-4FFE-B345-A1A5C78211DA}" dt="2026-03-24T14:01:29.827" v="81" actId="20577"/>
      <pc:docMkLst>
        <pc:docMk/>
      </pc:docMkLst>
      <pc:sldChg chg="modSp mod">
        <pc:chgData name="Jordan, Stuart" userId="1bf9a496-f356-4f9c-b15f-a24cde0408c2" providerId="ADAL" clId="{E4EA7936-689B-4FFE-B345-A1A5C78211DA}" dt="2026-03-24T14:01:29.827" v="81" actId="20577"/>
        <pc:sldMkLst>
          <pc:docMk/>
          <pc:sldMk cId="2840704148" sldId="430"/>
        </pc:sldMkLst>
        <pc:spChg chg="mod">
          <ac:chgData name="Jordan, Stuart" userId="1bf9a496-f356-4f9c-b15f-a24cde0408c2" providerId="ADAL" clId="{E4EA7936-689B-4FFE-B345-A1A5C78211DA}" dt="2026-03-24T14:01:29.827" v="81" actId="20577"/>
          <ac:spMkLst>
            <pc:docMk/>
            <pc:sldMk cId="2840704148" sldId="430"/>
            <ac:spMk id="3" creationId="{37CCCB04-4692-292C-64FD-BAE40A63C244}"/>
          </ac:spMkLst>
        </pc:spChg>
      </pc:sldChg>
    </pc:docChg>
  </pc:docChgLst>
  <pc:docChgLst>
    <pc:chgData name="Jordan, Stuart" userId="1bf9a496-f356-4f9c-b15f-a24cde0408c2" providerId="ADAL" clId="{D610E14A-756D-4778-AAB0-AFD182EFE9D3}"/>
    <pc:docChg chg="delSld">
      <pc:chgData name="Jordan, Stuart" userId="1bf9a496-f356-4f9c-b15f-a24cde0408c2" providerId="ADAL" clId="{D610E14A-756D-4778-AAB0-AFD182EFE9D3}" dt="2026-03-24T15:43:06.373" v="2" actId="47"/>
      <pc:docMkLst>
        <pc:docMk/>
      </pc:docMkLst>
      <pc:sldChg chg="del">
        <pc:chgData name="Jordan, Stuart" userId="1bf9a496-f356-4f9c-b15f-a24cde0408c2" providerId="ADAL" clId="{D610E14A-756D-4778-AAB0-AFD182EFE9D3}" dt="2026-03-24T15:42:56.920" v="0" actId="47"/>
        <pc:sldMkLst>
          <pc:docMk/>
          <pc:sldMk cId="1874211031" sldId="353"/>
        </pc:sldMkLst>
      </pc:sldChg>
      <pc:sldChg chg="del">
        <pc:chgData name="Jordan, Stuart" userId="1bf9a496-f356-4f9c-b15f-a24cde0408c2" providerId="ADAL" clId="{D610E14A-756D-4778-AAB0-AFD182EFE9D3}" dt="2026-03-24T15:43:01.832" v="1" actId="47"/>
        <pc:sldMkLst>
          <pc:docMk/>
          <pc:sldMk cId="2604645919" sldId="354"/>
        </pc:sldMkLst>
      </pc:sldChg>
      <pc:sldChg chg="del">
        <pc:chgData name="Jordan, Stuart" userId="1bf9a496-f356-4f9c-b15f-a24cde0408c2" providerId="ADAL" clId="{D610E14A-756D-4778-AAB0-AFD182EFE9D3}" dt="2026-03-24T15:43:06.373" v="2" actId="47"/>
        <pc:sldMkLst>
          <pc:docMk/>
          <pc:sldMk cId="78686448" sldId="35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35DCE2-F4FC-43C2-BA34-B56A8B6FF1CE}"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7D2D29-A3C6-4787-BD39-6140D5B89013}" type="slidenum">
              <a:rPr lang="en-US" smtClean="0"/>
              <a:t>‹#›</a:t>
            </a:fld>
            <a:endParaRPr lang="en-US"/>
          </a:p>
        </p:txBody>
      </p:sp>
    </p:spTree>
    <p:extLst>
      <p:ext uri="{BB962C8B-B14F-4D97-AF65-F5344CB8AC3E}">
        <p14:creationId xmlns:p14="http://schemas.microsoft.com/office/powerpoint/2010/main" val="977373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35DCE2-F4FC-43C2-BA34-B56A8B6FF1CE}"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7D2D29-A3C6-4787-BD39-6140D5B89013}" type="slidenum">
              <a:rPr lang="en-US" smtClean="0"/>
              <a:t>‹#›</a:t>
            </a:fld>
            <a:endParaRPr lang="en-US"/>
          </a:p>
        </p:txBody>
      </p:sp>
    </p:spTree>
    <p:extLst>
      <p:ext uri="{BB962C8B-B14F-4D97-AF65-F5344CB8AC3E}">
        <p14:creationId xmlns:p14="http://schemas.microsoft.com/office/powerpoint/2010/main" val="571994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35DCE2-F4FC-43C2-BA34-B56A8B6FF1CE}"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7D2D29-A3C6-4787-BD39-6140D5B89013}" type="slidenum">
              <a:rPr lang="en-US" smtClean="0"/>
              <a:t>‹#›</a:t>
            </a:fld>
            <a:endParaRPr lang="en-US"/>
          </a:p>
        </p:txBody>
      </p:sp>
    </p:spTree>
    <p:extLst>
      <p:ext uri="{BB962C8B-B14F-4D97-AF65-F5344CB8AC3E}">
        <p14:creationId xmlns:p14="http://schemas.microsoft.com/office/powerpoint/2010/main" val="2312618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35DCE2-F4FC-43C2-BA34-B56A8B6FF1CE}"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7D2D29-A3C6-4787-BD39-6140D5B89013}" type="slidenum">
              <a:rPr lang="en-US" smtClean="0"/>
              <a:t>‹#›</a:t>
            </a:fld>
            <a:endParaRPr lang="en-US"/>
          </a:p>
        </p:txBody>
      </p:sp>
    </p:spTree>
    <p:extLst>
      <p:ext uri="{BB962C8B-B14F-4D97-AF65-F5344CB8AC3E}">
        <p14:creationId xmlns:p14="http://schemas.microsoft.com/office/powerpoint/2010/main" val="1112486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35DCE2-F4FC-43C2-BA34-B56A8B6FF1CE}"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E7D2D29-A3C6-4787-BD39-6140D5B89013}" type="slidenum">
              <a:rPr lang="en-US" smtClean="0"/>
              <a:t>‹#›</a:t>
            </a:fld>
            <a:endParaRPr lang="en-US"/>
          </a:p>
        </p:txBody>
      </p:sp>
    </p:spTree>
    <p:extLst>
      <p:ext uri="{BB962C8B-B14F-4D97-AF65-F5344CB8AC3E}">
        <p14:creationId xmlns:p14="http://schemas.microsoft.com/office/powerpoint/2010/main" val="462011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35DCE2-F4FC-43C2-BA34-B56A8B6FF1CE}"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E7D2D29-A3C6-4787-BD39-6140D5B89013}" type="slidenum">
              <a:rPr lang="en-US" smtClean="0"/>
              <a:t>‹#›</a:t>
            </a:fld>
            <a:endParaRPr lang="en-US"/>
          </a:p>
        </p:txBody>
      </p:sp>
    </p:spTree>
    <p:extLst>
      <p:ext uri="{BB962C8B-B14F-4D97-AF65-F5344CB8AC3E}">
        <p14:creationId xmlns:p14="http://schemas.microsoft.com/office/powerpoint/2010/main" val="3782457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35DCE2-F4FC-43C2-BA34-B56A8B6FF1CE}"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E7D2D29-A3C6-4787-BD39-6140D5B89013}" type="slidenum">
              <a:rPr lang="en-US" smtClean="0"/>
              <a:t>‹#›</a:t>
            </a:fld>
            <a:endParaRPr lang="en-US"/>
          </a:p>
        </p:txBody>
      </p:sp>
    </p:spTree>
    <p:extLst>
      <p:ext uri="{BB962C8B-B14F-4D97-AF65-F5344CB8AC3E}">
        <p14:creationId xmlns:p14="http://schemas.microsoft.com/office/powerpoint/2010/main" val="1118717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35DCE2-F4FC-43C2-BA34-B56A8B6FF1CE}"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7D2D29-A3C6-4787-BD39-6140D5B89013}" type="slidenum">
              <a:rPr lang="en-US" smtClean="0"/>
              <a:t>‹#›</a:t>
            </a:fld>
            <a:endParaRPr lang="en-US"/>
          </a:p>
        </p:txBody>
      </p:sp>
    </p:spTree>
    <p:extLst>
      <p:ext uri="{BB962C8B-B14F-4D97-AF65-F5344CB8AC3E}">
        <p14:creationId xmlns:p14="http://schemas.microsoft.com/office/powerpoint/2010/main" val="3837049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35DCE2-F4FC-43C2-BA34-B56A8B6FF1CE}"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E7D2D29-A3C6-4787-BD39-6140D5B89013}" type="slidenum">
              <a:rPr lang="en-US" smtClean="0"/>
              <a:t>‹#›</a:t>
            </a:fld>
            <a:endParaRPr lang="en-US"/>
          </a:p>
        </p:txBody>
      </p:sp>
    </p:spTree>
    <p:extLst>
      <p:ext uri="{BB962C8B-B14F-4D97-AF65-F5344CB8AC3E}">
        <p14:creationId xmlns:p14="http://schemas.microsoft.com/office/powerpoint/2010/main" val="1503365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35DCE2-F4FC-43C2-BA34-B56A8B6FF1CE}"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7D2D29-A3C6-4787-BD39-6140D5B89013}" type="slidenum">
              <a:rPr lang="en-US" smtClean="0"/>
              <a:t>‹#›</a:t>
            </a:fld>
            <a:endParaRPr lang="en-US"/>
          </a:p>
        </p:txBody>
      </p:sp>
    </p:spTree>
    <p:extLst>
      <p:ext uri="{BB962C8B-B14F-4D97-AF65-F5344CB8AC3E}">
        <p14:creationId xmlns:p14="http://schemas.microsoft.com/office/powerpoint/2010/main" val="1008163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35DCE2-F4FC-43C2-BA34-B56A8B6FF1CE}"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7D2D29-A3C6-4787-BD39-6140D5B89013}" type="slidenum">
              <a:rPr lang="en-US" smtClean="0"/>
              <a:t>‹#›</a:t>
            </a:fld>
            <a:endParaRPr lang="en-US"/>
          </a:p>
        </p:txBody>
      </p:sp>
    </p:spTree>
    <p:extLst>
      <p:ext uri="{BB962C8B-B14F-4D97-AF65-F5344CB8AC3E}">
        <p14:creationId xmlns:p14="http://schemas.microsoft.com/office/powerpoint/2010/main" val="3197904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C935DCE2-F4FC-43C2-BA34-B56A8B6FF1CE}" type="datetimeFigureOut">
              <a:rPr lang="en-US" smtClean="0"/>
              <a:t>3/24/2026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2E7D2D29-A3C6-4787-BD39-6140D5B89013}" type="slidenum">
              <a:rPr lang="en-US" smtClean="0"/>
              <a:t>‹#›</a:t>
            </a:fld>
            <a:endParaRPr lang="en-US"/>
          </a:p>
        </p:txBody>
      </p:sp>
    </p:spTree>
    <p:extLst>
      <p:ext uri="{BB962C8B-B14F-4D97-AF65-F5344CB8AC3E}">
        <p14:creationId xmlns:p14="http://schemas.microsoft.com/office/powerpoint/2010/main" val="3577676002"/>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3.png"/><Relationship Id="rId5" Type="http://schemas.openxmlformats.org/officeDocument/2006/relationships/image" Target="../media/image8.png"/><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3.png"/><Relationship Id="rId5" Type="http://schemas.openxmlformats.org/officeDocument/2006/relationships/image" Target="../media/image8.png"/><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image" Target="../media/image16.png"/></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3.png"/><Relationship Id="rId5" Type="http://schemas.openxmlformats.org/officeDocument/2006/relationships/image" Target="../media/image8.pn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image" Target="../media/image16.png"/><Relationship Id="rId1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6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57.png"/></Relationships>
</file>

<file path=ppt/slides/_rels/slide7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7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7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66.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77.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78.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79.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80.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s>
</file>

<file path=ppt/slides/_rels/slide81.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s>
</file>

<file path=ppt/slides/_rels/slide82.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image" Target="../media/image54.png"/><Relationship Id="rId16" Type="http://schemas.openxmlformats.org/officeDocument/2006/relationships/image" Target="../media/image76.png"/><Relationship Id="rId1" Type="http://schemas.openxmlformats.org/officeDocument/2006/relationships/slideLayout" Target="../slideLayouts/slideLayout7.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5" Type="http://schemas.openxmlformats.org/officeDocument/2006/relationships/image" Target="../media/image7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 Id="rId14" Type="http://schemas.openxmlformats.org/officeDocument/2006/relationships/image" Target="../media/image74.png"/></Relationships>
</file>

<file path=ppt/slides/_rels/slide8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10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10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11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81.png"/></Relationships>
</file>

<file path=ppt/slides/_rels/slide11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112.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6" Type="http://schemas.openxmlformats.org/officeDocument/2006/relationships/image" Target="../media/image84.png"/><Relationship Id="rId5" Type="http://schemas.openxmlformats.org/officeDocument/2006/relationships/image" Target="../media/image82.png"/><Relationship Id="rId4" Type="http://schemas.openxmlformats.org/officeDocument/2006/relationships/image" Target="../media/image81.png"/></Relationships>
</file>

<file path=ppt/slides/_rels/slide11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7.xml"/><Relationship Id="rId6" Type="http://schemas.openxmlformats.org/officeDocument/2006/relationships/image" Target="../media/image84.png"/><Relationship Id="rId5" Type="http://schemas.openxmlformats.org/officeDocument/2006/relationships/image" Target="../media/image85.png"/><Relationship Id="rId4" Type="http://schemas.openxmlformats.org/officeDocument/2006/relationships/image" Target="../media/image81.png"/></Relationships>
</file>

<file path=ppt/slides/_rels/slide114.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image" Target="../media/image80.png"/><Relationship Id="rId7" Type="http://schemas.openxmlformats.org/officeDocument/2006/relationships/image" Target="../media/image86.png"/><Relationship Id="rId12" Type="http://schemas.openxmlformats.org/officeDocument/2006/relationships/image" Target="../media/image91.png"/><Relationship Id="rId2" Type="http://schemas.openxmlformats.org/officeDocument/2006/relationships/image" Target="../media/image79.png"/><Relationship Id="rId1" Type="http://schemas.openxmlformats.org/officeDocument/2006/relationships/slideLayout" Target="../slideLayouts/slideLayout7.xml"/><Relationship Id="rId6" Type="http://schemas.openxmlformats.org/officeDocument/2006/relationships/image" Target="../media/image84.png"/><Relationship Id="rId11" Type="http://schemas.openxmlformats.org/officeDocument/2006/relationships/image" Target="../media/image90.png"/><Relationship Id="rId5" Type="http://schemas.openxmlformats.org/officeDocument/2006/relationships/image" Target="../media/image85.png"/><Relationship Id="rId15" Type="http://schemas.openxmlformats.org/officeDocument/2006/relationships/image" Target="../media/image94.png"/><Relationship Id="rId10" Type="http://schemas.openxmlformats.org/officeDocument/2006/relationships/image" Target="../media/image89.png"/><Relationship Id="rId4" Type="http://schemas.openxmlformats.org/officeDocument/2006/relationships/image" Target="../media/image81.png"/><Relationship Id="rId9" Type="http://schemas.openxmlformats.org/officeDocument/2006/relationships/image" Target="../media/image88.png"/><Relationship Id="rId14" Type="http://schemas.openxmlformats.org/officeDocument/2006/relationships/image" Target="../media/image93.png"/></Relationships>
</file>

<file path=ppt/slides/_rels/slide115.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image" Target="../media/image80.png"/><Relationship Id="rId7" Type="http://schemas.openxmlformats.org/officeDocument/2006/relationships/image" Target="../media/image86.png"/><Relationship Id="rId12" Type="http://schemas.openxmlformats.org/officeDocument/2006/relationships/image" Target="../media/image91.png"/><Relationship Id="rId2" Type="http://schemas.openxmlformats.org/officeDocument/2006/relationships/image" Target="../media/image79.png"/><Relationship Id="rId1" Type="http://schemas.openxmlformats.org/officeDocument/2006/relationships/slideLayout" Target="../slideLayouts/slideLayout7.xml"/><Relationship Id="rId6" Type="http://schemas.openxmlformats.org/officeDocument/2006/relationships/image" Target="../media/image84.png"/><Relationship Id="rId11" Type="http://schemas.openxmlformats.org/officeDocument/2006/relationships/image" Target="../media/image90.png"/><Relationship Id="rId5" Type="http://schemas.openxmlformats.org/officeDocument/2006/relationships/image" Target="../media/image85.png"/><Relationship Id="rId15" Type="http://schemas.openxmlformats.org/officeDocument/2006/relationships/image" Target="../media/image95.png"/><Relationship Id="rId10" Type="http://schemas.openxmlformats.org/officeDocument/2006/relationships/image" Target="../media/image89.png"/><Relationship Id="rId4" Type="http://schemas.openxmlformats.org/officeDocument/2006/relationships/image" Target="../media/image81.png"/><Relationship Id="rId9" Type="http://schemas.openxmlformats.org/officeDocument/2006/relationships/image" Target="../media/image88.png"/><Relationship Id="rId14" Type="http://schemas.openxmlformats.org/officeDocument/2006/relationships/image" Target="../media/image93.png"/></Relationships>
</file>

<file path=ppt/slides/_rels/slide116.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image" Target="../media/image80.png"/><Relationship Id="rId7" Type="http://schemas.openxmlformats.org/officeDocument/2006/relationships/image" Target="../media/image86.png"/><Relationship Id="rId12" Type="http://schemas.openxmlformats.org/officeDocument/2006/relationships/image" Target="../media/image91.png"/><Relationship Id="rId2" Type="http://schemas.openxmlformats.org/officeDocument/2006/relationships/image" Target="../media/image79.png"/><Relationship Id="rId16" Type="http://schemas.openxmlformats.org/officeDocument/2006/relationships/image" Target="../media/image97.png"/><Relationship Id="rId1" Type="http://schemas.openxmlformats.org/officeDocument/2006/relationships/slideLayout" Target="../slideLayouts/slideLayout7.xml"/><Relationship Id="rId6" Type="http://schemas.openxmlformats.org/officeDocument/2006/relationships/image" Target="../media/image84.png"/><Relationship Id="rId11" Type="http://schemas.openxmlformats.org/officeDocument/2006/relationships/image" Target="../media/image90.png"/><Relationship Id="rId5" Type="http://schemas.openxmlformats.org/officeDocument/2006/relationships/image" Target="../media/image85.png"/><Relationship Id="rId15" Type="http://schemas.openxmlformats.org/officeDocument/2006/relationships/image" Target="../media/image94.png"/><Relationship Id="rId10" Type="http://schemas.openxmlformats.org/officeDocument/2006/relationships/image" Target="../media/image89.png"/><Relationship Id="rId4" Type="http://schemas.openxmlformats.org/officeDocument/2006/relationships/image" Target="../media/image81.png"/><Relationship Id="rId9" Type="http://schemas.openxmlformats.org/officeDocument/2006/relationships/image" Target="../media/image88.png"/><Relationship Id="rId14" Type="http://schemas.openxmlformats.org/officeDocument/2006/relationships/image" Target="../media/image96.png"/></Relationships>
</file>

<file path=ppt/slides/_rels/slide117.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3.png"/><Relationship Id="rId3" Type="http://schemas.openxmlformats.org/officeDocument/2006/relationships/image" Target="../media/image80.png"/><Relationship Id="rId7" Type="http://schemas.openxmlformats.org/officeDocument/2006/relationships/image" Target="../media/image86.png"/><Relationship Id="rId12" Type="http://schemas.openxmlformats.org/officeDocument/2006/relationships/image" Target="../media/image91.png"/><Relationship Id="rId17" Type="http://schemas.openxmlformats.org/officeDocument/2006/relationships/image" Target="../media/image100.png"/><Relationship Id="rId2" Type="http://schemas.openxmlformats.org/officeDocument/2006/relationships/image" Target="../media/image79.png"/><Relationship Id="rId16" Type="http://schemas.openxmlformats.org/officeDocument/2006/relationships/image" Target="../media/image99.png"/><Relationship Id="rId1" Type="http://schemas.openxmlformats.org/officeDocument/2006/relationships/slideLayout" Target="../slideLayouts/slideLayout7.xml"/><Relationship Id="rId6" Type="http://schemas.openxmlformats.org/officeDocument/2006/relationships/image" Target="../media/image84.png"/><Relationship Id="rId11" Type="http://schemas.openxmlformats.org/officeDocument/2006/relationships/image" Target="../media/image90.png"/><Relationship Id="rId5" Type="http://schemas.openxmlformats.org/officeDocument/2006/relationships/image" Target="../media/image85.png"/><Relationship Id="rId15" Type="http://schemas.openxmlformats.org/officeDocument/2006/relationships/image" Target="../media/image98.png"/><Relationship Id="rId10" Type="http://schemas.openxmlformats.org/officeDocument/2006/relationships/image" Target="../media/image89.png"/><Relationship Id="rId4" Type="http://schemas.openxmlformats.org/officeDocument/2006/relationships/image" Target="../media/image81.png"/><Relationship Id="rId9" Type="http://schemas.openxmlformats.org/officeDocument/2006/relationships/image" Target="../media/image88.png"/><Relationship Id="rId14" Type="http://schemas.openxmlformats.org/officeDocument/2006/relationships/image" Target="../media/image94.png"/></Relationships>
</file>

<file path=ppt/slides/_rels/slide118.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4.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3.png"/><Relationship Id="rId17" Type="http://schemas.openxmlformats.org/officeDocument/2006/relationships/image" Target="../media/image102.png"/><Relationship Id="rId2" Type="http://schemas.openxmlformats.org/officeDocument/2006/relationships/image" Target="../media/image80.png"/><Relationship Id="rId16" Type="http://schemas.openxmlformats.org/officeDocument/2006/relationships/image" Target="../media/image101.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92.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98.png"/></Relationships>
</file>

<file path=ppt/slides/_rels/slide119.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20.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21.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22.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17" Type="http://schemas.openxmlformats.org/officeDocument/2006/relationships/image" Target="../media/image106.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23.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24.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17" Type="http://schemas.openxmlformats.org/officeDocument/2006/relationships/image" Target="../media/image107.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25.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26.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17" Type="http://schemas.openxmlformats.org/officeDocument/2006/relationships/image" Target="../media/image108.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27.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28.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29.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30.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31.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17" Type="http://schemas.openxmlformats.org/officeDocument/2006/relationships/image" Target="../media/image109.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32.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17" Type="http://schemas.openxmlformats.org/officeDocument/2006/relationships/image" Target="../media/image110.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33.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17" Type="http://schemas.openxmlformats.org/officeDocument/2006/relationships/image" Target="../media/image111.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34.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35.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01.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0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36.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103.png"/><Relationship Id="rId3" Type="http://schemas.openxmlformats.org/officeDocument/2006/relationships/image" Target="../media/image85.png"/><Relationship Id="rId7" Type="http://schemas.openxmlformats.org/officeDocument/2006/relationships/image" Target="../media/image88.png"/><Relationship Id="rId12" Type="http://schemas.openxmlformats.org/officeDocument/2006/relationships/image" Target="../media/image101.png"/><Relationship Id="rId17" Type="http://schemas.openxmlformats.org/officeDocument/2006/relationships/image" Target="../media/image80.png"/><Relationship Id="rId2" Type="http://schemas.openxmlformats.org/officeDocument/2006/relationships/image" Target="../media/image81.png"/><Relationship Id="rId16" Type="http://schemas.openxmlformats.org/officeDocument/2006/relationships/image" Target="../media/image112.png"/><Relationship Id="rId1" Type="http://schemas.openxmlformats.org/officeDocument/2006/relationships/slideLayout" Target="../slideLayouts/slideLayout7.xml"/><Relationship Id="rId6" Type="http://schemas.openxmlformats.org/officeDocument/2006/relationships/image" Target="../media/image87.png"/><Relationship Id="rId11" Type="http://schemas.openxmlformats.org/officeDocument/2006/relationships/image" Target="../media/image98.png"/><Relationship Id="rId5" Type="http://schemas.openxmlformats.org/officeDocument/2006/relationships/image" Target="../media/image86.png"/><Relationship Id="rId15" Type="http://schemas.openxmlformats.org/officeDocument/2006/relationships/image" Target="../media/image105.png"/><Relationship Id="rId10" Type="http://schemas.openxmlformats.org/officeDocument/2006/relationships/image" Target="../media/image91.png"/><Relationship Id="rId4" Type="http://schemas.openxmlformats.org/officeDocument/2006/relationships/image" Target="../media/image84.png"/><Relationship Id="rId9" Type="http://schemas.openxmlformats.org/officeDocument/2006/relationships/image" Target="../media/image90.png"/><Relationship Id="rId14" Type="http://schemas.openxmlformats.org/officeDocument/2006/relationships/image" Target="../media/image104.png"/></Relationships>
</file>

<file path=ppt/slides/_rels/slide137.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13.png"/><Relationship Id="rId18" Type="http://schemas.openxmlformats.org/officeDocument/2006/relationships/image" Target="../media/image115.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17" Type="http://schemas.openxmlformats.org/officeDocument/2006/relationships/image" Target="../media/image112.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1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38.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13.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17" Type="http://schemas.openxmlformats.org/officeDocument/2006/relationships/image" Target="../media/image115.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1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39.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13.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17" Type="http://schemas.openxmlformats.org/officeDocument/2006/relationships/image" Target="../media/image115.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1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40.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13.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17" Type="http://schemas.openxmlformats.org/officeDocument/2006/relationships/image" Target="../media/image115.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1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_rels/slide141.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113.png"/><Relationship Id="rId3" Type="http://schemas.openxmlformats.org/officeDocument/2006/relationships/image" Target="../media/image81.png"/><Relationship Id="rId7" Type="http://schemas.openxmlformats.org/officeDocument/2006/relationships/image" Target="../media/image87.png"/><Relationship Id="rId12" Type="http://schemas.openxmlformats.org/officeDocument/2006/relationships/image" Target="../media/image98.png"/><Relationship Id="rId17" Type="http://schemas.openxmlformats.org/officeDocument/2006/relationships/image" Target="../media/image115.png"/><Relationship Id="rId2" Type="http://schemas.openxmlformats.org/officeDocument/2006/relationships/image" Target="../media/image80.png"/><Relationship Id="rId16" Type="http://schemas.openxmlformats.org/officeDocument/2006/relationships/image" Target="../media/image105.png"/><Relationship Id="rId1" Type="http://schemas.openxmlformats.org/officeDocument/2006/relationships/slideLayout" Target="../slideLayouts/slideLayout7.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4.png"/><Relationship Id="rId15" Type="http://schemas.openxmlformats.org/officeDocument/2006/relationships/image" Target="../media/image114.png"/><Relationship Id="rId10" Type="http://schemas.openxmlformats.org/officeDocument/2006/relationships/image" Target="../media/image90.png"/><Relationship Id="rId4" Type="http://schemas.openxmlformats.org/officeDocument/2006/relationships/image" Target="../media/image85.png"/><Relationship Id="rId9" Type="http://schemas.openxmlformats.org/officeDocument/2006/relationships/image" Target="../media/image89.png"/><Relationship Id="rId14" Type="http://schemas.openxmlformats.org/officeDocument/2006/relationships/image" Target="../media/image10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2EC2-52E5-F967-1C0C-D0C0397A0D56}"/>
              </a:ext>
            </a:extLst>
          </p:cNvPr>
          <p:cNvSpPr>
            <a:spLocks noGrp="1"/>
          </p:cNvSpPr>
          <p:nvPr>
            <p:ph type="ctrTitle"/>
          </p:nvPr>
        </p:nvSpPr>
        <p:spPr/>
        <p:txBody>
          <a:bodyPr/>
          <a:lstStyle/>
          <a:p>
            <a:r>
              <a:rPr lang="en-US" dirty="0"/>
              <a:t>Expected Utility:</a:t>
            </a:r>
            <a:br>
              <a:rPr lang="en-US" dirty="0"/>
            </a:br>
            <a:r>
              <a:rPr lang="en-US" dirty="0"/>
              <a:t>Parameterized Models</a:t>
            </a:r>
          </a:p>
        </p:txBody>
      </p:sp>
    </p:spTree>
    <p:extLst>
      <p:ext uri="{BB962C8B-B14F-4D97-AF65-F5344CB8AC3E}">
        <p14:creationId xmlns:p14="http://schemas.microsoft.com/office/powerpoint/2010/main" val="4061176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005B2-C305-D989-E01B-AD69BC220177}"/>
              </a:ext>
            </a:extLst>
          </p:cNvPr>
          <p:cNvSpPr>
            <a:spLocks noGrp="1"/>
          </p:cNvSpPr>
          <p:nvPr>
            <p:ph type="title"/>
          </p:nvPr>
        </p:nvSpPr>
        <p:spPr/>
        <p:txBody>
          <a:bodyPr/>
          <a:lstStyle/>
          <a:p>
            <a:r>
              <a:rPr lang="en-US" dirty="0"/>
              <a:t>What’s Coming Up</a:t>
            </a:r>
          </a:p>
        </p:txBody>
      </p:sp>
      <p:sp>
        <p:nvSpPr>
          <p:cNvPr id="3" name="Content Placeholder 2">
            <a:extLst>
              <a:ext uri="{FF2B5EF4-FFF2-40B4-BE49-F238E27FC236}">
                <a16:creationId xmlns:a16="http://schemas.microsoft.com/office/drawing/2014/main" id="{37CCCB04-4692-292C-64FD-BAE40A63C244}"/>
              </a:ext>
            </a:extLst>
          </p:cNvPr>
          <p:cNvSpPr>
            <a:spLocks noGrp="1"/>
          </p:cNvSpPr>
          <p:nvPr>
            <p:ph idx="1"/>
          </p:nvPr>
        </p:nvSpPr>
        <p:spPr/>
        <p:txBody>
          <a:bodyPr/>
          <a:lstStyle/>
          <a:p>
            <a:pPr>
              <a:lnSpc>
                <a:spcPct val="150000"/>
              </a:lnSpc>
            </a:pPr>
            <a:r>
              <a:rPr lang="en-US" dirty="0"/>
              <a:t>This week: Module 2 practice exams</a:t>
            </a:r>
          </a:p>
          <a:p>
            <a:pPr>
              <a:lnSpc>
                <a:spcPct val="150000"/>
              </a:lnSpc>
            </a:pPr>
            <a:r>
              <a:rPr lang="en-US" dirty="0"/>
              <a:t>This week: Problem solving sessions</a:t>
            </a:r>
          </a:p>
          <a:p>
            <a:pPr>
              <a:lnSpc>
                <a:spcPct val="150000"/>
              </a:lnSpc>
            </a:pPr>
            <a:r>
              <a:rPr lang="en-US" dirty="0"/>
              <a:t>In class, next Tuesday 3/31: Module 2 Exam.  Please get here early.</a:t>
            </a:r>
          </a:p>
          <a:p>
            <a:pPr>
              <a:lnSpc>
                <a:spcPct val="150000"/>
              </a:lnSpc>
            </a:pPr>
            <a:r>
              <a:rPr lang="en-US" dirty="0"/>
              <a:t>No class next Thursday, nothing due next Friday.  Forget about PSCI 107 for a few days.</a:t>
            </a:r>
          </a:p>
        </p:txBody>
      </p:sp>
    </p:spTree>
    <p:extLst>
      <p:ext uri="{BB962C8B-B14F-4D97-AF65-F5344CB8AC3E}">
        <p14:creationId xmlns:p14="http://schemas.microsoft.com/office/powerpoint/2010/main" val="2840704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F2DF686-01A6-CB99-5CF8-CC0C5E7A8F79}"/>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8" name="TextBox 7">
            <a:extLst>
              <a:ext uri="{FF2B5EF4-FFF2-40B4-BE49-F238E27FC236}">
                <a16:creationId xmlns:a16="http://schemas.microsoft.com/office/drawing/2014/main" id="{940D72DA-F521-2DCD-E9D3-8F5CE0D30326}"/>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2167450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C719D-3510-0C92-98FC-DBC3BB04B58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DBFAACC-7DCB-3CC1-C8EA-E7640D1FCD9E}"/>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9CAB3F66-9983-5FD6-2914-AF5902B16B2D}"/>
              </a:ext>
            </a:extLst>
          </p:cNvPr>
          <p:cNvSpPr txBox="1"/>
          <p:nvPr/>
        </p:nvSpPr>
        <p:spPr>
          <a:xfrm>
            <a:off x="3200401" y="358588"/>
            <a:ext cx="1927412" cy="36933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C176941E-0633-4D4A-BB73-AD65BC45DE21}"/>
              </a:ext>
            </a:extLst>
          </p:cNvPr>
          <p:cNvSpPr txBox="1"/>
          <p:nvPr/>
        </p:nvSpPr>
        <p:spPr>
          <a:xfrm>
            <a:off x="3200400" y="860612"/>
            <a:ext cx="2133599" cy="36933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E3970C60-90D6-6C7B-AB0D-46EF1CF48288}"/>
              </a:ext>
            </a:extLst>
          </p:cNvPr>
          <p:cNvSpPr txBox="1"/>
          <p:nvPr/>
        </p:nvSpPr>
        <p:spPr>
          <a:xfrm>
            <a:off x="3200399" y="1362636"/>
            <a:ext cx="2895601" cy="36933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0CF5F595-0093-598E-85FF-832A58B784B6}"/>
              </a:ext>
            </a:extLst>
          </p:cNvPr>
          <p:cNvSpPr txBox="1"/>
          <p:nvPr/>
        </p:nvSpPr>
        <p:spPr>
          <a:xfrm>
            <a:off x="3200399" y="1864660"/>
            <a:ext cx="2599766" cy="36933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7" name="TextBox 6">
            <a:extLst>
              <a:ext uri="{FF2B5EF4-FFF2-40B4-BE49-F238E27FC236}">
                <a16:creationId xmlns:a16="http://schemas.microsoft.com/office/drawing/2014/main" id="{8572CCC9-2E08-D568-41B6-EC8555097AAF}"/>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3626402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86CBE-B61B-8235-5EB0-C9390C0F9D8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74DDAF3-4370-D125-9514-BE03D8A34904}"/>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DF773DE7-8A07-4D00-9654-4224B7B1C8F7}"/>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1698DCD3-A031-8AFE-9549-FAFD18CFA746}"/>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8EEEBE14-EF85-2EAA-961D-5553B5414970}"/>
              </a:ext>
            </a:extLst>
          </p:cNvPr>
          <p:cNvSpPr txBox="1"/>
          <p:nvPr/>
        </p:nvSpPr>
        <p:spPr>
          <a:xfrm>
            <a:off x="3200399" y="1362636"/>
            <a:ext cx="2895601" cy="36933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45070FCE-58A9-1E70-D590-BB496DAC6BB3}"/>
              </a:ext>
            </a:extLst>
          </p:cNvPr>
          <p:cNvSpPr txBox="1"/>
          <p:nvPr/>
        </p:nvSpPr>
        <p:spPr>
          <a:xfrm>
            <a:off x="3200399" y="2366684"/>
            <a:ext cx="2599766" cy="36933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7D5E525D-00FE-7A40-B185-BD13F2A40D60}"/>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9" name="TextBox 8">
            <a:extLst>
              <a:ext uri="{FF2B5EF4-FFF2-40B4-BE49-F238E27FC236}">
                <a16:creationId xmlns:a16="http://schemas.microsoft.com/office/drawing/2014/main" id="{DFB84671-DA76-226C-BE37-8E1581F641EA}"/>
              </a:ext>
            </a:extLst>
          </p:cNvPr>
          <p:cNvSpPr txBox="1"/>
          <p:nvPr/>
        </p:nvSpPr>
        <p:spPr>
          <a:xfrm>
            <a:off x="5342963" y="860612"/>
            <a:ext cx="5290472" cy="369332"/>
          </a:xfrm>
          <a:prstGeom prst="rect">
            <a:avLst/>
          </a:prstGeom>
          <a:noFill/>
          <a:ln w="38100">
            <a:solidFill>
              <a:schemeClr val="accent4"/>
            </a:solidFill>
          </a:ln>
        </p:spPr>
        <p:txBody>
          <a:bodyPr wrap="square" rtlCol="0">
            <a:spAutoFit/>
          </a:bodyPr>
          <a:lstStyle/>
          <a:p>
            <a:r>
              <a:rPr lang="en-US" dirty="0"/>
              <a:t>Faith runs and wins, runs and loses, or doesn’t run</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4B54E26-2F65-0738-D5AD-5E53F92F3619}"/>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2" name="TextBox 11">
                <a:extLst>
                  <a:ext uri="{FF2B5EF4-FFF2-40B4-BE49-F238E27FC236}">
                    <a16:creationId xmlns:a16="http://schemas.microsoft.com/office/drawing/2014/main" id="{C4B54E26-2F65-0738-D5AD-5E53F92F3619}"/>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38356CA9-6634-BF47-44E0-FA130BF2E3CA}"/>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4533465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94439-2C40-4070-2218-D1D61D832F9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28CBCDA-22D9-4F22-2840-3547C1DD84D1}"/>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43E1744B-2DF9-D89D-5A3D-F44E00355A1A}"/>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5BA959D9-893A-EED0-8012-76E02569C129}"/>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443157C7-2738-F59E-8529-FDA41091A553}"/>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284BFDDF-D784-0030-81CA-692D8A5A7520}"/>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3ADA3AC4-C367-50DF-081C-FDA2FFD8420D}"/>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C9523E70-2058-7CDA-78B2-2BE1D93C768D}"/>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FD38449-AEDC-C066-089C-D4AA9653589D}"/>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1FD38449-AEDC-C066-089C-D4AA9653589D}"/>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A99D28BE-1C54-BC32-B85D-2BC6F64C46EA}"/>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p:sp>
        <p:nvSpPr>
          <p:cNvPr id="9" name="TextBox 8">
            <a:extLst>
              <a:ext uri="{FF2B5EF4-FFF2-40B4-BE49-F238E27FC236}">
                <a16:creationId xmlns:a16="http://schemas.microsoft.com/office/drawing/2014/main" id="{CFA0F799-AE4C-4D7D-5F9A-73DD17E5D406}"/>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2942938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AA367-2FB7-6AB3-47F8-CB22DFE82D6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7EBD1E0-1991-2028-50DC-A792E0177A48}"/>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DEF220FE-8004-1A22-1896-AB0E8A6D825D}"/>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90A6E77D-B6A3-0A24-C849-838668E2C405}"/>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F35DF01A-3613-E62D-95CB-35B86A9D0EA4}"/>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BB8F1776-7D4B-2BD5-7812-E37CBADDCB2A}"/>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A42CE2E7-5D20-0034-C588-0C372B0D87D6}"/>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CC707AC8-28E1-8C95-054D-0F60BAF31285}"/>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B5A8249-93D7-7397-0E71-2AC15132E18A}"/>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7B5A8249-93D7-7397-0E71-2AC15132E18A}"/>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A1224AF7-B11E-D7E5-7C7E-8AE023CD2A63}"/>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p:sp>
        <p:nvSpPr>
          <p:cNvPr id="9" name="Rectangle 8">
            <a:extLst>
              <a:ext uri="{FF2B5EF4-FFF2-40B4-BE49-F238E27FC236}">
                <a16:creationId xmlns:a16="http://schemas.microsoft.com/office/drawing/2014/main" id="{D2742DC1-E8B0-19B2-3C5D-39219B17D7CE}"/>
              </a:ext>
            </a:extLst>
          </p:cNvPr>
          <p:cNvSpPr/>
          <p:nvPr/>
        </p:nvSpPr>
        <p:spPr>
          <a:xfrm>
            <a:off x="3352800" y="4039524"/>
            <a:ext cx="8695766" cy="27377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A26E3D8-2E11-9977-8E03-C62E4788877A}"/>
              </a:ext>
            </a:extLst>
          </p:cNvPr>
          <p:cNvSpPr txBox="1"/>
          <p:nvPr/>
        </p:nvSpPr>
        <p:spPr>
          <a:xfrm>
            <a:off x="5728448" y="3259996"/>
            <a:ext cx="3594847" cy="307777"/>
          </a:xfrm>
          <a:prstGeom prst="rect">
            <a:avLst/>
          </a:prstGeom>
          <a:noFill/>
        </p:spPr>
        <p:txBody>
          <a:bodyPr wrap="square" rtlCol="0">
            <a:spAutoFit/>
          </a:bodyPr>
          <a:lstStyle/>
          <a:p>
            <a:pPr algn="ctr"/>
            <a:r>
              <a:rPr lang="en-US" sz="1400" dirty="0"/>
              <a:t>number &amp; quality of other persons running</a:t>
            </a:r>
          </a:p>
        </p:txBody>
      </p:sp>
      <p:sp>
        <p:nvSpPr>
          <p:cNvPr id="11" name="TextBox 10">
            <a:extLst>
              <a:ext uri="{FF2B5EF4-FFF2-40B4-BE49-F238E27FC236}">
                <a16:creationId xmlns:a16="http://schemas.microsoft.com/office/drawing/2014/main" id="{F66C85B0-7928-CB86-45FC-D27A48A619B3}"/>
              </a:ext>
            </a:extLst>
          </p:cNvPr>
          <p:cNvSpPr txBox="1"/>
          <p:nvPr/>
        </p:nvSpPr>
        <p:spPr>
          <a:xfrm rot="16200000">
            <a:off x="2501156" y="5124655"/>
            <a:ext cx="1237128" cy="307777"/>
          </a:xfrm>
          <a:prstGeom prst="rect">
            <a:avLst/>
          </a:prstGeom>
          <a:noFill/>
        </p:spPr>
        <p:txBody>
          <a:bodyPr wrap="square" rtlCol="0">
            <a:spAutoFit/>
          </a:bodyPr>
          <a:lstStyle/>
          <a:p>
            <a:pPr algn="ctr"/>
            <a:r>
              <a:rPr lang="en-US" sz="1400" dirty="0"/>
              <a:t>win/lose</a:t>
            </a:r>
          </a:p>
        </p:txBody>
      </p:sp>
      <p:sp>
        <p:nvSpPr>
          <p:cNvPr id="12" name="TextBox 11">
            <a:extLst>
              <a:ext uri="{FF2B5EF4-FFF2-40B4-BE49-F238E27FC236}">
                <a16:creationId xmlns:a16="http://schemas.microsoft.com/office/drawing/2014/main" id="{A6C5A7E8-B5D0-7FA2-543F-3D1B4F0A266E}"/>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1300850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AFBA3-0E4B-ABE4-4CB1-ED8987F70D9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1EFD0BD-4A98-5824-2AEE-EDB1DC6C14EB}"/>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2454E62D-6965-7810-975B-00EDC0BD7907}"/>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851286EF-BE1E-52D7-B8CA-52D94FB817B8}"/>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42383161-B090-8E0E-C7A8-09F8872EA734}"/>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87240C27-08C9-3DD8-5216-2ED0E5EDA4F3}"/>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5853CD03-647B-E039-4A37-322F6FD6ABA7}"/>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57C3342A-D21D-3DDF-6287-FEEF4F1881AC}"/>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D3A5D99-15DC-6A8D-626E-B66A7E7713C2}"/>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BD3A5D99-15DC-6A8D-626E-B66A7E7713C2}"/>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321EBE84-DAB1-FDCA-D273-87AE140FD6E5}"/>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p:sp>
        <p:nvSpPr>
          <p:cNvPr id="9" name="Rectangle 8">
            <a:extLst>
              <a:ext uri="{FF2B5EF4-FFF2-40B4-BE49-F238E27FC236}">
                <a16:creationId xmlns:a16="http://schemas.microsoft.com/office/drawing/2014/main" id="{DA3DCC2C-1AF0-BBBD-BB4A-BA42CCF148D6}"/>
              </a:ext>
            </a:extLst>
          </p:cNvPr>
          <p:cNvSpPr/>
          <p:nvPr/>
        </p:nvSpPr>
        <p:spPr>
          <a:xfrm>
            <a:off x="3352800" y="4039524"/>
            <a:ext cx="8695766" cy="27377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DA2D3D3-360F-E94E-70A9-2D2FA457C075}"/>
              </a:ext>
            </a:extLst>
          </p:cNvPr>
          <p:cNvSpPr txBox="1"/>
          <p:nvPr/>
        </p:nvSpPr>
        <p:spPr>
          <a:xfrm>
            <a:off x="5728448" y="3259996"/>
            <a:ext cx="3594847" cy="307777"/>
          </a:xfrm>
          <a:prstGeom prst="rect">
            <a:avLst/>
          </a:prstGeom>
          <a:noFill/>
        </p:spPr>
        <p:txBody>
          <a:bodyPr wrap="square" rtlCol="0">
            <a:spAutoFit/>
          </a:bodyPr>
          <a:lstStyle/>
          <a:p>
            <a:pPr algn="ctr"/>
            <a:r>
              <a:rPr lang="en-US" sz="1400" dirty="0"/>
              <a:t>number &amp; quality of other persons running</a:t>
            </a:r>
          </a:p>
        </p:txBody>
      </p:sp>
      <p:sp>
        <p:nvSpPr>
          <p:cNvPr id="11" name="TextBox 10">
            <a:extLst>
              <a:ext uri="{FF2B5EF4-FFF2-40B4-BE49-F238E27FC236}">
                <a16:creationId xmlns:a16="http://schemas.microsoft.com/office/drawing/2014/main" id="{461BFFA7-A6E7-0C8B-3A5D-7DA49E6C39EF}"/>
              </a:ext>
            </a:extLst>
          </p:cNvPr>
          <p:cNvSpPr txBox="1"/>
          <p:nvPr/>
        </p:nvSpPr>
        <p:spPr>
          <a:xfrm rot="16200000">
            <a:off x="2501156" y="5124655"/>
            <a:ext cx="1237128" cy="307777"/>
          </a:xfrm>
          <a:prstGeom prst="rect">
            <a:avLst/>
          </a:prstGeom>
          <a:noFill/>
        </p:spPr>
        <p:txBody>
          <a:bodyPr wrap="square" rtlCol="0">
            <a:spAutoFit/>
          </a:bodyPr>
          <a:lstStyle/>
          <a:p>
            <a:pPr algn="ctr"/>
            <a:r>
              <a:rPr lang="en-US" sz="1400" dirty="0"/>
              <a:t>win/lose</a:t>
            </a:r>
          </a:p>
        </p:txBody>
      </p:sp>
      <p:sp>
        <p:nvSpPr>
          <p:cNvPr id="12" name="TextBox 11">
            <a:extLst>
              <a:ext uri="{FF2B5EF4-FFF2-40B4-BE49-F238E27FC236}">
                <a16:creationId xmlns:a16="http://schemas.microsoft.com/office/drawing/2014/main" id="{F6A65AFA-5089-EF50-D40F-CBC616890E41}"/>
              </a:ext>
            </a:extLst>
          </p:cNvPr>
          <p:cNvSpPr txBox="1"/>
          <p:nvPr/>
        </p:nvSpPr>
        <p:spPr>
          <a:xfrm rot="684324">
            <a:off x="5831674" y="5085255"/>
            <a:ext cx="3281082" cy="646331"/>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Working with someone nearby you, build the rest of this model</a:t>
            </a:r>
          </a:p>
        </p:txBody>
      </p:sp>
      <p:sp>
        <p:nvSpPr>
          <p:cNvPr id="13" name="TextBox 12">
            <a:extLst>
              <a:ext uri="{FF2B5EF4-FFF2-40B4-BE49-F238E27FC236}">
                <a16:creationId xmlns:a16="http://schemas.microsoft.com/office/drawing/2014/main" id="{9883B359-4FB9-76A4-8990-A112FC55C66A}"/>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17900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1ACE7-DBDC-09A5-32D3-C7C1FC9B881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88C5330-A080-BECC-35B0-A3526699F697}"/>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C0460032-A97A-4F00-9909-E571F2906D47}"/>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0B596303-DCFE-4F7E-2810-8540C874DE1D}"/>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6E004C0D-4769-7632-02E5-59FA0F2074C1}"/>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B600755B-2915-68DE-E366-EE7C2625E7D8}"/>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7F6E5F50-E759-9CF6-3919-A88C85D9D61D}"/>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5D7640A3-BC52-9A55-CD04-B53D7B21A308}"/>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738F419-A7DC-5901-F8FD-5BD5ABD70021}"/>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4738F419-A7DC-5901-F8FD-5BD5ABD70021}"/>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CA462FFC-0DE5-9683-EBEA-D7CA40EBD504}"/>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p:sp>
        <p:nvSpPr>
          <p:cNvPr id="9" name="Rectangle 8">
            <a:extLst>
              <a:ext uri="{FF2B5EF4-FFF2-40B4-BE49-F238E27FC236}">
                <a16:creationId xmlns:a16="http://schemas.microsoft.com/office/drawing/2014/main" id="{FCEE3586-B480-D44E-41AA-29A7A38ABAE9}"/>
              </a:ext>
            </a:extLst>
          </p:cNvPr>
          <p:cNvSpPr/>
          <p:nvPr/>
        </p:nvSpPr>
        <p:spPr>
          <a:xfrm>
            <a:off x="3352800" y="4039524"/>
            <a:ext cx="8695766" cy="27377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0F6113F-31F7-831D-A101-A1257446C69B}"/>
              </a:ext>
            </a:extLst>
          </p:cNvPr>
          <p:cNvSpPr txBox="1"/>
          <p:nvPr/>
        </p:nvSpPr>
        <p:spPr>
          <a:xfrm>
            <a:off x="5728448" y="3259996"/>
            <a:ext cx="3594847" cy="307777"/>
          </a:xfrm>
          <a:prstGeom prst="rect">
            <a:avLst/>
          </a:prstGeom>
          <a:noFill/>
        </p:spPr>
        <p:txBody>
          <a:bodyPr wrap="square" rtlCol="0">
            <a:spAutoFit/>
          </a:bodyPr>
          <a:lstStyle/>
          <a:p>
            <a:pPr algn="ctr"/>
            <a:r>
              <a:rPr lang="en-US" sz="1400" dirty="0"/>
              <a:t>number &amp; quality of other persons running</a:t>
            </a:r>
          </a:p>
        </p:txBody>
      </p:sp>
      <p:sp>
        <p:nvSpPr>
          <p:cNvPr id="11" name="TextBox 10">
            <a:extLst>
              <a:ext uri="{FF2B5EF4-FFF2-40B4-BE49-F238E27FC236}">
                <a16:creationId xmlns:a16="http://schemas.microsoft.com/office/drawing/2014/main" id="{BA2A5527-8305-DDAD-C1F9-E121776F183D}"/>
              </a:ext>
            </a:extLst>
          </p:cNvPr>
          <p:cNvSpPr txBox="1"/>
          <p:nvPr/>
        </p:nvSpPr>
        <p:spPr>
          <a:xfrm rot="16200000">
            <a:off x="2501156" y="5124655"/>
            <a:ext cx="1237128" cy="307777"/>
          </a:xfrm>
          <a:prstGeom prst="rect">
            <a:avLst/>
          </a:prstGeom>
          <a:noFill/>
        </p:spPr>
        <p:txBody>
          <a:bodyPr wrap="square" rtlCol="0">
            <a:spAutoFit/>
          </a:bodyPr>
          <a:lstStyle/>
          <a:p>
            <a:pPr algn="ctr"/>
            <a:r>
              <a:rPr lang="en-US" sz="1400" dirty="0"/>
              <a:t>win/lose</a:t>
            </a:r>
          </a:p>
        </p:txBody>
      </p:sp>
      <p:sp>
        <p:nvSpPr>
          <p:cNvPr id="12" name="TextBox 11">
            <a:extLst>
              <a:ext uri="{FF2B5EF4-FFF2-40B4-BE49-F238E27FC236}">
                <a16:creationId xmlns:a16="http://schemas.microsoft.com/office/drawing/2014/main" id="{F586F57C-DB77-9CF1-8F76-64413A6FB8E4}"/>
              </a:ext>
            </a:extLst>
          </p:cNvPr>
          <p:cNvSpPr txBox="1"/>
          <p:nvPr/>
        </p:nvSpPr>
        <p:spPr>
          <a:xfrm>
            <a:off x="11147613" y="3643337"/>
            <a:ext cx="502023" cy="338554"/>
          </a:xfrm>
          <a:prstGeom prst="rect">
            <a:avLst/>
          </a:prstGeom>
          <a:noFill/>
        </p:spPr>
        <p:txBody>
          <a:bodyPr wrap="square" rtlCol="0">
            <a:spAutoFit/>
          </a:bodyPr>
          <a:lstStyle/>
          <a:p>
            <a:r>
              <a:rPr lang="en-US" sz="1600" dirty="0"/>
              <a:t>2 H</a:t>
            </a:r>
          </a:p>
        </p:txBody>
      </p:sp>
      <p:sp>
        <p:nvSpPr>
          <p:cNvPr id="13" name="TextBox 12">
            <a:extLst>
              <a:ext uri="{FF2B5EF4-FFF2-40B4-BE49-F238E27FC236}">
                <a16:creationId xmlns:a16="http://schemas.microsoft.com/office/drawing/2014/main" id="{1368E63C-CC88-D7DC-E400-88EE2D3FC621}"/>
              </a:ext>
            </a:extLst>
          </p:cNvPr>
          <p:cNvSpPr txBox="1"/>
          <p:nvPr/>
        </p:nvSpPr>
        <p:spPr>
          <a:xfrm>
            <a:off x="9323295" y="3634371"/>
            <a:ext cx="502023" cy="338554"/>
          </a:xfrm>
          <a:prstGeom prst="rect">
            <a:avLst/>
          </a:prstGeom>
          <a:noFill/>
        </p:spPr>
        <p:txBody>
          <a:bodyPr wrap="square" rtlCol="0">
            <a:spAutoFit/>
          </a:bodyPr>
          <a:lstStyle/>
          <a:p>
            <a:r>
              <a:rPr lang="en-US" sz="1600" dirty="0"/>
              <a:t>1 H</a:t>
            </a:r>
          </a:p>
        </p:txBody>
      </p:sp>
      <p:sp>
        <p:nvSpPr>
          <p:cNvPr id="16" name="TextBox 15">
            <a:extLst>
              <a:ext uri="{FF2B5EF4-FFF2-40B4-BE49-F238E27FC236}">
                <a16:creationId xmlns:a16="http://schemas.microsoft.com/office/drawing/2014/main" id="{E51DA50A-288C-BD9B-1A2D-39565DCCD9C9}"/>
              </a:ext>
            </a:extLst>
          </p:cNvPr>
          <p:cNvSpPr txBox="1"/>
          <p:nvPr/>
        </p:nvSpPr>
        <p:spPr>
          <a:xfrm>
            <a:off x="7579660" y="3621892"/>
            <a:ext cx="793376" cy="338554"/>
          </a:xfrm>
          <a:prstGeom prst="rect">
            <a:avLst/>
          </a:prstGeom>
          <a:noFill/>
        </p:spPr>
        <p:txBody>
          <a:bodyPr wrap="square" rtlCol="0">
            <a:spAutoFit/>
          </a:bodyPr>
          <a:lstStyle/>
          <a:p>
            <a:r>
              <a:rPr lang="en-US" sz="1600" dirty="0"/>
              <a:t>1 H, 1L</a:t>
            </a:r>
          </a:p>
        </p:txBody>
      </p:sp>
      <p:sp>
        <p:nvSpPr>
          <p:cNvPr id="17" name="TextBox 16">
            <a:extLst>
              <a:ext uri="{FF2B5EF4-FFF2-40B4-BE49-F238E27FC236}">
                <a16:creationId xmlns:a16="http://schemas.microsoft.com/office/drawing/2014/main" id="{C51F5C48-18BF-9E48-359A-6DA08C0F045F}"/>
              </a:ext>
            </a:extLst>
          </p:cNvPr>
          <p:cNvSpPr txBox="1"/>
          <p:nvPr/>
        </p:nvSpPr>
        <p:spPr>
          <a:xfrm>
            <a:off x="5871882" y="3634371"/>
            <a:ext cx="528918" cy="338554"/>
          </a:xfrm>
          <a:prstGeom prst="rect">
            <a:avLst/>
          </a:prstGeom>
          <a:noFill/>
        </p:spPr>
        <p:txBody>
          <a:bodyPr wrap="square" rtlCol="0">
            <a:spAutoFit/>
          </a:bodyPr>
          <a:lstStyle/>
          <a:p>
            <a:r>
              <a:rPr lang="en-US" sz="1600" dirty="0"/>
              <a:t> 1L</a:t>
            </a:r>
          </a:p>
        </p:txBody>
      </p:sp>
      <p:sp>
        <p:nvSpPr>
          <p:cNvPr id="18" name="TextBox 17">
            <a:extLst>
              <a:ext uri="{FF2B5EF4-FFF2-40B4-BE49-F238E27FC236}">
                <a16:creationId xmlns:a16="http://schemas.microsoft.com/office/drawing/2014/main" id="{1705F4CF-C45E-F3A4-BF22-26C59B9BE12B}"/>
              </a:ext>
            </a:extLst>
          </p:cNvPr>
          <p:cNvSpPr txBox="1"/>
          <p:nvPr/>
        </p:nvSpPr>
        <p:spPr>
          <a:xfrm>
            <a:off x="4002741" y="3621892"/>
            <a:ext cx="528918" cy="338554"/>
          </a:xfrm>
          <a:prstGeom prst="rect">
            <a:avLst/>
          </a:prstGeom>
          <a:noFill/>
        </p:spPr>
        <p:txBody>
          <a:bodyPr wrap="square" rtlCol="0">
            <a:spAutoFit/>
          </a:bodyPr>
          <a:lstStyle/>
          <a:p>
            <a:r>
              <a:rPr lang="en-US" sz="1600" dirty="0"/>
              <a:t> 2L</a:t>
            </a:r>
          </a:p>
        </p:txBody>
      </p:sp>
      <p:cxnSp>
        <p:nvCxnSpPr>
          <p:cNvPr id="20" name="Straight Connector 19">
            <a:extLst>
              <a:ext uri="{FF2B5EF4-FFF2-40B4-BE49-F238E27FC236}">
                <a16:creationId xmlns:a16="http://schemas.microsoft.com/office/drawing/2014/main" id="{3621AC17-89B6-51CD-1998-060A0A6542FC}"/>
              </a:ext>
            </a:extLst>
          </p:cNvPr>
          <p:cNvCxnSpPr/>
          <p:nvPr/>
        </p:nvCxnSpPr>
        <p:spPr>
          <a:xfrm>
            <a:off x="5047129"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91C62E1-A804-B177-6101-4B160B6782A8}"/>
              </a:ext>
            </a:extLst>
          </p:cNvPr>
          <p:cNvCxnSpPr/>
          <p:nvPr/>
        </p:nvCxnSpPr>
        <p:spPr>
          <a:xfrm>
            <a:off x="7010400"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CB0E758-982E-4FAB-9819-F04F902D93D8}"/>
              </a:ext>
            </a:extLst>
          </p:cNvPr>
          <p:cNvCxnSpPr/>
          <p:nvPr/>
        </p:nvCxnSpPr>
        <p:spPr>
          <a:xfrm>
            <a:off x="8973671"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40D1C478-5CC8-B469-B416-5EC2B94AD41B}"/>
              </a:ext>
            </a:extLst>
          </p:cNvPr>
          <p:cNvCxnSpPr/>
          <p:nvPr/>
        </p:nvCxnSpPr>
        <p:spPr>
          <a:xfrm>
            <a:off x="10542495"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E08E4525-20C6-0CFA-8D27-B61A559D6639}"/>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3881487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26C9C-1C65-D69C-AA15-F5BAC9F2BF4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51847CD-5974-4386-3D69-C04A9B98E90B}"/>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79ECA7A4-E628-2D23-4417-3266071B139D}"/>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F2EC6788-73B8-0569-D23C-2789B091008B}"/>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82FF879D-5F53-238C-BAF3-090802478201}"/>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126CE54F-45F5-7E71-7008-80A80FECA6C0}"/>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8C024B9F-FE04-5B27-EF87-DC4602BF2D1B}"/>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5DA3F3B0-9860-ABD5-8640-00FF732FB9E6}"/>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4C6E202-7F35-61A4-F6B3-EA4FAE0FA346}"/>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D4C6E202-7F35-61A4-F6B3-EA4FAE0FA346}"/>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04F185E1-5C29-786E-88BA-3862D1723B08}"/>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p:sp>
        <p:nvSpPr>
          <p:cNvPr id="9" name="Rectangle 8">
            <a:extLst>
              <a:ext uri="{FF2B5EF4-FFF2-40B4-BE49-F238E27FC236}">
                <a16:creationId xmlns:a16="http://schemas.microsoft.com/office/drawing/2014/main" id="{87B51C9E-DBA6-EF87-0F99-9052945E590F}"/>
              </a:ext>
            </a:extLst>
          </p:cNvPr>
          <p:cNvSpPr/>
          <p:nvPr/>
        </p:nvSpPr>
        <p:spPr>
          <a:xfrm>
            <a:off x="3352800" y="4039524"/>
            <a:ext cx="8695766" cy="27377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D50AE88-865A-84A6-03E1-AE723A553307}"/>
              </a:ext>
            </a:extLst>
          </p:cNvPr>
          <p:cNvSpPr txBox="1"/>
          <p:nvPr/>
        </p:nvSpPr>
        <p:spPr>
          <a:xfrm>
            <a:off x="5728448" y="3259996"/>
            <a:ext cx="3594847" cy="307777"/>
          </a:xfrm>
          <a:prstGeom prst="rect">
            <a:avLst/>
          </a:prstGeom>
          <a:noFill/>
        </p:spPr>
        <p:txBody>
          <a:bodyPr wrap="square" rtlCol="0">
            <a:spAutoFit/>
          </a:bodyPr>
          <a:lstStyle/>
          <a:p>
            <a:pPr algn="ctr"/>
            <a:r>
              <a:rPr lang="en-US" sz="1400" dirty="0"/>
              <a:t>number &amp; quality of other persons running</a:t>
            </a:r>
          </a:p>
        </p:txBody>
      </p:sp>
      <p:sp>
        <p:nvSpPr>
          <p:cNvPr id="11" name="TextBox 10">
            <a:extLst>
              <a:ext uri="{FF2B5EF4-FFF2-40B4-BE49-F238E27FC236}">
                <a16:creationId xmlns:a16="http://schemas.microsoft.com/office/drawing/2014/main" id="{CF252165-2B60-FD52-4005-08CDF53A2C14}"/>
              </a:ext>
            </a:extLst>
          </p:cNvPr>
          <p:cNvSpPr txBox="1"/>
          <p:nvPr/>
        </p:nvSpPr>
        <p:spPr>
          <a:xfrm rot="16200000">
            <a:off x="2501156" y="5124655"/>
            <a:ext cx="1237128" cy="307777"/>
          </a:xfrm>
          <a:prstGeom prst="rect">
            <a:avLst/>
          </a:prstGeom>
          <a:noFill/>
        </p:spPr>
        <p:txBody>
          <a:bodyPr wrap="square" rtlCol="0">
            <a:spAutoFit/>
          </a:bodyPr>
          <a:lstStyle/>
          <a:p>
            <a:pPr algn="ctr"/>
            <a:r>
              <a:rPr lang="en-US" sz="1400" dirty="0"/>
              <a:t>win/lose</a:t>
            </a:r>
          </a:p>
        </p:txBody>
      </p:sp>
      <p:sp>
        <p:nvSpPr>
          <p:cNvPr id="12" name="TextBox 11">
            <a:extLst>
              <a:ext uri="{FF2B5EF4-FFF2-40B4-BE49-F238E27FC236}">
                <a16:creationId xmlns:a16="http://schemas.microsoft.com/office/drawing/2014/main" id="{B430A180-2C0D-9DC1-A3B7-F10D504C3E91}"/>
              </a:ext>
            </a:extLst>
          </p:cNvPr>
          <p:cNvSpPr txBox="1"/>
          <p:nvPr/>
        </p:nvSpPr>
        <p:spPr>
          <a:xfrm>
            <a:off x="11147613" y="3643337"/>
            <a:ext cx="502023" cy="338554"/>
          </a:xfrm>
          <a:prstGeom prst="rect">
            <a:avLst/>
          </a:prstGeom>
          <a:noFill/>
        </p:spPr>
        <p:txBody>
          <a:bodyPr wrap="square" rtlCol="0">
            <a:spAutoFit/>
          </a:bodyPr>
          <a:lstStyle/>
          <a:p>
            <a:r>
              <a:rPr lang="en-US" sz="1600" dirty="0"/>
              <a:t>2 H</a:t>
            </a:r>
          </a:p>
        </p:txBody>
      </p:sp>
      <p:sp>
        <p:nvSpPr>
          <p:cNvPr id="13" name="TextBox 12">
            <a:extLst>
              <a:ext uri="{FF2B5EF4-FFF2-40B4-BE49-F238E27FC236}">
                <a16:creationId xmlns:a16="http://schemas.microsoft.com/office/drawing/2014/main" id="{B098694A-8602-4B79-2AFE-54301EF288AA}"/>
              </a:ext>
            </a:extLst>
          </p:cNvPr>
          <p:cNvSpPr txBox="1"/>
          <p:nvPr/>
        </p:nvSpPr>
        <p:spPr>
          <a:xfrm>
            <a:off x="9323295" y="3634371"/>
            <a:ext cx="502023" cy="338554"/>
          </a:xfrm>
          <a:prstGeom prst="rect">
            <a:avLst/>
          </a:prstGeom>
          <a:noFill/>
        </p:spPr>
        <p:txBody>
          <a:bodyPr wrap="square" rtlCol="0">
            <a:spAutoFit/>
          </a:bodyPr>
          <a:lstStyle/>
          <a:p>
            <a:r>
              <a:rPr lang="en-US" sz="1600" dirty="0"/>
              <a:t>1 H</a:t>
            </a:r>
          </a:p>
        </p:txBody>
      </p:sp>
      <p:sp>
        <p:nvSpPr>
          <p:cNvPr id="16" name="TextBox 15">
            <a:extLst>
              <a:ext uri="{FF2B5EF4-FFF2-40B4-BE49-F238E27FC236}">
                <a16:creationId xmlns:a16="http://schemas.microsoft.com/office/drawing/2014/main" id="{F2F91313-1CFB-CDD5-1979-98DFDC88894C}"/>
              </a:ext>
            </a:extLst>
          </p:cNvPr>
          <p:cNvSpPr txBox="1"/>
          <p:nvPr/>
        </p:nvSpPr>
        <p:spPr>
          <a:xfrm>
            <a:off x="7579660" y="3621892"/>
            <a:ext cx="793376" cy="338554"/>
          </a:xfrm>
          <a:prstGeom prst="rect">
            <a:avLst/>
          </a:prstGeom>
          <a:noFill/>
        </p:spPr>
        <p:txBody>
          <a:bodyPr wrap="square" rtlCol="0">
            <a:spAutoFit/>
          </a:bodyPr>
          <a:lstStyle/>
          <a:p>
            <a:r>
              <a:rPr lang="en-US" sz="1600" dirty="0"/>
              <a:t>1 H, 1L</a:t>
            </a:r>
          </a:p>
        </p:txBody>
      </p:sp>
      <p:sp>
        <p:nvSpPr>
          <p:cNvPr id="17" name="TextBox 16">
            <a:extLst>
              <a:ext uri="{FF2B5EF4-FFF2-40B4-BE49-F238E27FC236}">
                <a16:creationId xmlns:a16="http://schemas.microsoft.com/office/drawing/2014/main" id="{2305B18C-7938-9F8E-F9A9-D659E3610BE8}"/>
              </a:ext>
            </a:extLst>
          </p:cNvPr>
          <p:cNvSpPr txBox="1"/>
          <p:nvPr/>
        </p:nvSpPr>
        <p:spPr>
          <a:xfrm>
            <a:off x="5871882" y="3634371"/>
            <a:ext cx="528918" cy="338554"/>
          </a:xfrm>
          <a:prstGeom prst="rect">
            <a:avLst/>
          </a:prstGeom>
          <a:noFill/>
        </p:spPr>
        <p:txBody>
          <a:bodyPr wrap="square" rtlCol="0">
            <a:spAutoFit/>
          </a:bodyPr>
          <a:lstStyle/>
          <a:p>
            <a:r>
              <a:rPr lang="en-US" sz="1600" dirty="0"/>
              <a:t> 1L</a:t>
            </a:r>
          </a:p>
        </p:txBody>
      </p:sp>
      <p:sp>
        <p:nvSpPr>
          <p:cNvPr id="18" name="TextBox 17">
            <a:extLst>
              <a:ext uri="{FF2B5EF4-FFF2-40B4-BE49-F238E27FC236}">
                <a16:creationId xmlns:a16="http://schemas.microsoft.com/office/drawing/2014/main" id="{A5729951-4A08-7666-D072-FDDC113631C0}"/>
              </a:ext>
            </a:extLst>
          </p:cNvPr>
          <p:cNvSpPr txBox="1"/>
          <p:nvPr/>
        </p:nvSpPr>
        <p:spPr>
          <a:xfrm>
            <a:off x="4002741" y="3621892"/>
            <a:ext cx="528918" cy="338554"/>
          </a:xfrm>
          <a:prstGeom prst="rect">
            <a:avLst/>
          </a:prstGeom>
          <a:noFill/>
        </p:spPr>
        <p:txBody>
          <a:bodyPr wrap="square" rtlCol="0">
            <a:spAutoFit/>
          </a:bodyPr>
          <a:lstStyle/>
          <a:p>
            <a:r>
              <a:rPr lang="en-US" sz="1600" dirty="0"/>
              <a:t> 2L</a:t>
            </a:r>
          </a:p>
        </p:txBody>
      </p:sp>
      <p:cxnSp>
        <p:nvCxnSpPr>
          <p:cNvPr id="20" name="Straight Connector 19">
            <a:extLst>
              <a:ext uri="{FF2B5EF4-FFF2-40B4-BE49-F238E27FC236}">
                <a16:creationId xmlns:a16="http://schemas.microsoft.com/office/drawing/2014/main" id="{C8FC0AE8-A08B-C225-A28E-B5DF25B5A3A6}"/>
              </a:ext>
            </a:extLst>
          </p:cNvPr>
          <p:cNvCxnSpPr/>
          <p:nvPr/>
        </p:nvCxnSpPr>
        <p:spPr>
          <a:xfrm>
            <a:off x="5047129"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F739A46-87EF-BC38-6DE4-F02444132EDF}"/>
              </a:ext>
            </a:extLst>
          </p:cNvPr>
          <p:cNvCxnSpPr/>
          <p:nvPr/>
        </p:nvCxnSpPr>
        <p:spPr>
          <a:xfrm>
            <a:off x="7010400"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5A09BD2B-A37E-16B5-E425-738957B4E2F6}"/>
              </a:ext>
            </a:extLst>
          </p:cNvPr>
          <p:cNvCxnSpPr/>
          <p:nvPr/>
        </p:nvCxnSpPr>
        <p:spPr>
          <a:xfrm>
            <a:off x="8973671"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75BF660-DD1A-7FD5-EBBF-B19E771DB709}"/>
              </a:ext>
            </a:extLst>
          </p:cNvPr>
          <p:cNvCxnSpPr/>
          <p:nvPr/>
        </p:nvCxnSpPr>
        <p:spPr>
          <a:xfrm>
            <a:off x="10542495"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FF79485B-D07E-7EE0-5BAD-815BCDAEAA14}"/>
              </a:ext>
            </a:extLst>
          </p:cNvPr>
          <p:cNvSpPr txBox="1"/>
          <p:nvPr/>
        </p:nvSpPr>
        <p:spPr>
          <a:xfrm>
            <a:off x="3545541" y="5199413"/>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7B4217FD-7761-2785-2730-656B5459AF05}"/>
                  </a:ext>
                </a:extLst>
              </p:cNvPr>
              <p:cNvSpPr txBox="1"/>
              <p:nvPr/>
            </p:nvSpPr>
            <p:spPr>
              <a:xfrm>
                <a:off x="3285565" y="4727842"/>
                <a:ext cx="38548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oMath>
                  </m:oMathPara>
                </a14:m>
                <a:endParaRPr lang="en-US" sz="1400" dirty="0"/>
              </a:p>
            </p:txBody>
          </p:sp>
        </mc:Choice>
        <mc:Fallback xmlns="">
          <p:sp>
            <p:nvSpPr>
              <p:cNvPr id="24" name="TextBox 23">
                <a:extLst>
                  <a:ext uri="{FF2B5EF4-FFF2-40B4-BE49-F238E27FC236}">
                    <a16:creationId xmlns:a16="http://schemas.microsoft.com/office/drawing/2014/main" id="{7B4217FD-7761-2785-2730-656B5459AF05}"/>
                  </a:ext>
                </a:extLst>
              </p:cNvPr>
              <p:cNvSpPr txBox="1">
                <a:spLocks noRot="1" noChangeAspect="1" noMove="1" noResize="1" noEditPoints="1" noAdjustHandles="1" noChangeArrowheads="1" noChangeShapeType="1" noTextEdit="1"/>
              </p:cNvSpPr>
              <p:nvPr/>
            </p:nvSpPr>
            <p:spPr>
              <a:xfrm>
                <a:off x="3285565" y="4727842"/>
                <a:ext cx="385482" cy="307777"/>
              </a:xfrm>
              <a:prstGeom prst="rect">
                <a:avLst/>
              </a:prstGeom>
              <a:blipFill>
                <a:blip r:embed="rId3"/>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0FCE231A-E3B1-4538-3B75-F993B9F4992A}"/>
              </a:ext>
            </a:extLst>
          </p:cNvPr>
          <p:cNvSpPr txBox="1"/>
          <p:nvPr/>
        </p:nvSpPr>
        <p:spPr>
          <a:xfrm>
            <a:off x="10797990" y="5291770"/>
            <a:ext cx="699246" cy="307777"/>
          </a:xfrm>
          <a:prstGeom prst="rect">
            <a:avLst/>
          </a:prstGeom>
          <a:noFill/>
        </p:spPr>
        <p:txBody>
          <a:bodyPr wrap="square" rtlCol="0">
            <a:spAutoFit/>
          </a:bodyPr>
          <a:lstStyle/>
          <a:p>
            <a:r>
              <a:rPr lang="en-US" sz="1400" dirty="0"/>
              <a:t>lose</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6E10009-0856-CC23-3E7D-72353379A8C3}"/>
                  </a:ext>
                </a:extLst>
              </p:cNvPr>
              <p:cNvSpPr txBox="1"/>
              <p:nvPr/>
            </p:nvSpPr>
            <p:spPr>
              <a:xfrm>
                <a:off x="10538014" y="4820199"/>
                <a:ext cx="38548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oMath>
                  </m:oMathPara>
                </a14:m>
                <a:endParaRPr lang="en-US" sz="1400" dirty="0"/>
              </a:p>
            </p:txBody>
          </p:sp>
        </mc:Choice>
        <mc:Fallback xmlns="">
          <p:sp>
            <p:nvSpPr>
              <p:cNvPr id="26" name="TextBox 25">
                <a:extLst>
                  <a:ext uri="{FF2B5EF4-FFF2-40B4-BE49-F238E27FC236}">
                    <a16:creationId xmlns:a16="http://schemas.microsoft.com/office/drawing/2014/main" id="{96E10009-0856-CC23-3E7D-72353379A8C3}"/>
                  </a:ext>
                </a:extLst>
              </p:cNvPr>
              <p:cNvSpPr txBox="1">
                <a:spLocks noRot="1" noChangeAspect="1" noMove="1" noResize="1" noEditPoints="1" noAdjustHandles="1" noChangeArrowheads="1" noChangeShapeType="1" noTextEdit="1"/>
              </p:cNvSpPr>
              <p:nvPr/>
            </p:nvSpPr>
            <p:spPr>
              <a:xfrm>
                <a:off x="10538014" y="4820199"/>
                <a:ext cx="385482" cy="307777"/>
              </a:xfrm>
              <a:prstGeom prst="rect">
                <a:avLst/>
              </a:prstGeom>
              <a:blipFill>
                <a:blip r:embed="rId3"/>
                <a:stretch>
                  <a:fillRect/>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54D75D84-C97E-C54D-8F2C-351C274EB2D3}"/>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236936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CD5AF-4D89-551A-40EA-269D615F4E8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781DF5DC-22ED-C429-4EDB-C8E61C448F72}"/>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3275397F-A976-8E29-B7D2-E4E3550F28B1}"/>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252A19F9-0FD6-EA4F-B06B-10E7BD54F854}"/>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250F8087-7E3C-B248-D10F-902EF04EB762}"/>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B62D072E-4F5A-C1D3-2D66-8920CE3A2455}"/>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0F2F94C2-D20F-E76A-2C4E-BE82C209B181}"/>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0576CC99-9D05-D3F4-0601-B24FFA22BD91}"/>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575CFAB-E184-2AFC-82C1-A47EA4D3AC71}"/>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6575CFAB-E184-2AFC-82C1-A47EA4D3AC71}"/>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0E01C572-2C43-EC5B-AE95-782DE5AD0308}"/>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p:sp>
        <p:nvSpPr>
          <p:cNvPr id="9" name="Rectangle 8">
            <a:extLst>
              <a:ext uri="{FF2B5EF4-FFF2-40B4-BE49-F238E27FC236}">
                <a16:creationId xmlns:a16="http://schemas.microsoft.com/office/drawing/2014/main" id="{09A880EC-D723-3417-1428-DBCEAA6D4C6F}"/>
              </a:ext>
            </a:extLst>
          </p:cNvPr>
          <p:cNvSpPr/>
          <p:nvPr/>
        </p:nvSpPr>
        <p:spPr>
          <a:xfrm>
            <a:off x="3352800" y="4039524"/>
            <a:ext cx="8695766" cy="27377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BDEA503-D1FF-560F-7D76-90C2AE7E02C5}"/>
              </a:ext>
            </a:extLst>
          </p:cNvPr>
          <p:cNvSpPr txBox="1"/>
          <p:nvPr/>
        </p:nvSpPr>
        <p:spPr>
          <a:xfrm>
            <a:off x="5728448" y="3259996"/>
            <a:ext cx="3594847" cy="307777"/>
          </a:xfrm>
          <a:prstGeom prst="rect">
            <a:avLst/>
          </a:prstGeom>
          <a:noFill/>
        </p:spPr>
        <p:txBody>
          <a:bodyPr wrap="square" rtlCol="0">
            <a:spAutoFit/>
          </a:bodyPr>
          <a:lstStyle/>
          <a:p>
            <a:pPr algn="ctr"/>
            <a:r>
              <a:rPr lang="en-US" sz="1400" dirty="0"/>
              <a:t>number &amp; quality of other persons running</a:t>
            </a:r>
          </a:p>
        </p:txBody>
      </p:sp>
      <p:sp>
        <p:nvSpPr>
          <p:cNvPr id="11" name="TextBox 10">
            <a:extLst>
              <a:ext uri="{FF2B5EF4-FFF2-40B4-BE49-F238E27FC236}">
                <a16:creationId xmlns:a16="http://schemas.microsoft.com/office/drawing/2014/main" id="{B62D880E-3A48-A669-ACC8-8C62FB6B58A9}"/>
              </a:ext>
            </a:extLst>
          </p:cNvPr>
          <p:cNvSpPr txBox="1"/>
          <p:nvPr/>
        </p:nvSpPr>
        <p:spPr>
          <a:xfrm rot="16200000">
            <a:off x="2501156" y="5124655"/>
            <a:ext cx="1237128" cy="307777"/>
          </a:xfrm>
          <a:prstGeom prst="rect">
            <a:avLst/>
          </a:prstGeom>
          <a:noFill/>
        </p:spPr>
        <p:txBody>
          <a:bodyPr wrap="square" rtlCol="0">
            <a:spAutoFit/>
          </a:bodyPr>
          <a:lstStyle/>
          <a:p>
            <a:pPr algn="ctr"/>
            <a:r>
              <a:rPr lang="en-US" sz="1400" dirty="0"/>
              <a:t>win/lose</a:t>
            </a:r>
          </a:p>
        </p:txBody>
      </p:sp>
      <p:sp>
        <p:nvSpPr>
          <p:cNvPr id="12" name="TextBox 11">
            <a:extLst>
              <a:ext uri="{FF2B5EF4-FFF2-40B4-BE49-F238E27FC236}">
                <a16:creationId xmlns:a16="http://schemas.microsoft.com/office/drawing/2014/main" id="{8CCA3133-46F2-DC42-68F3-8B38B3CA65C0}"/>
              </a:ext>
            </a:extLst>
          </p:cNvPr>
          <p:cNvSpPr txBox="1"/>
          <p:nvPr/>
        </p:nvSpPr>
        <p:spPr>
          <a:xfrm>
            <a:off x="11147613" y="3643337"/>
            <a:ext cx="502023" cy="338554"/>
          </a:xfrm>
          <a:prstGeom prst="rect">
            <a:avLst/>
          </a:prstGeom>
          <a:noFill/>
        </p:spPr>
        <p:txBody>
          <a:bodyPr wrap="square" rtlCol="0">
            <a:spAutoFit/>
          </a:bodyPr>
          <a:lstStyle/>
          <a:p>
            <a:r>
              <a:rPr lang="en-US" sz="1600" dirty="0"/>
              <a:t>2 H</a:t>
            </a:r>
          </a:p>
        </p:txBody>
      </p:sp>
      <p:sp>
        <p:nvSpPr>
          <p:cNvPr id="13" name="TextBox 12">
            <a:extLst>
              <a:ext uri="{FF2B5EF4-FFF2-40B4-BE49-F238E27FC236}">
                <a16:creationId xmlns:a16="http://schemas.microsoft.com/office/drawing/2014/main" id="{1D965F98-AA8F-39ED-800E-866C4D56D9F7}"/>
              </a:ext>
            </a:extLst>
          </p:cNvPr>
          <p:cNvSpPr txBox="1"/>
          <p:nvPr/>
        </p:nvSpPr>
        <p:spPr>
          <a:xfrm>
            <a:off x="9323295" y="3634371"/>
            <a:ext cx="502023" cy="338554"/>
          </a:xfrm>
          <a:prstGeom prst="rect">
            <a:avLst/>
          </a:prstGeom>
          <a:noFill/>
        </p:spPr>
        <p:txBody>
          <a:bodyPr wrap="square" rtlCol="0">
            <a:spAutoFit/>
          </a:bodyPr>
          <a:lstStyle/>
          <a:p>
            <a:r>
              <a:rPr lang="en-US" sz="1600" dirty="0"/>
              <a:t>1 H</a:t>
            </a:r>
          </a:p>
        </p:txBody>
      </p:sp>
      <p:sp>
        <p:nvSpPr>
          <p:cNvPr id="16" name="TextBox 15">
            <a:extLst>
              <a:ext uri="{FF2B5EF4-FFF2-40B4-BE49-F238E27FC236}">
                <a16:creationId xmlns:a16="http://schemas.microsoft.com/office/drawing/2014/main" id="{4171E78D-0556-07B1-6A03-A4FE82B86345}"/>
              </a:ext>
            </a:extLst>
          </p:cNvPr>
          <p:cNvSpPr txBox="1"/>
          <p:nvPr/>
        </p:nvSpPr>
        <p:spPr>
          <a:xfrm>
            <a:off x="7579660" y="3621892"/>
            <a:ext cx="793376" cy="338554"/>
          </a:xfrm>
          <a:prstGeom prst="rect">
            <a:avLst/>
          </a:prstGeom>
          <a:noFill/>
        </p:spPr>
        <p:txBody>
          <a:bodyPr wrap="square" rtlCol="0">
            <a:spAutoFit/>
          </a:bodyPr>
          <a:lstStyle/>
          <a:p>
            <a:r>
              <a:rPr lang="en-US" sz="1600" dirty="0"/>
              <a:t>1 H, 1L</a:t>
            </a:r>
          </a:p>
        </p:txBody>
      </p:sp>
      <p:sp>
        <p:nvSpPr>
          <p:cNvPr id="17" name="TextBox 16">
            <a:extLst>
              <a:ext uri="{FF2B5EF4-FFF2-40B4-BE49-F238E27FC236}">
                <a16:creationId xmlns:a16="http://schemas.microsoft.com/office/drawing/2014/main" id="{8213566E-BEAA-62C4-BA31-A8BB284A0A2E}"/>
              </a:ext>
            </a:extLst>
          </p:cNvPr>
          <p:cNvSpPr txBox="1"/>
          <p:nvPr/>
        </p:nvSpPr>
        <p:spPr>
          <a:xfrm>
            <a:off x="5871882" y="3634371"/>
            <a:ext cx="528918" cy="338554"/>
          </a:xfrm>
          <a:prstGeom prst="rect">
            <a:avLst/>
          </a:prstGeom>
          <a:noFill/>
        </p:spPr>
        <p:txBody>
          <a:bodyPr wrap="square" rtlCol="0">
            <a:spAutoFit/>
          </a:bodyPr>
          <a:lstStyle/>
          <a:p>
            <a:r>
              <a:rPr lang="en-US" sz="1600" dirty="0"/>
              <a:t> 1L</a:t>
            </a:r>
          </a:p>
        </p:txBody>
      </p:sp>
      <p:sp>
        <p:nvSpPr>
          <p:cNvPr id="18" name="TextBox 17">
            <a:extLst>
              <a:ext uri="{FF2B5EF4-FFF2-40B4-BE49-F238E27FC236}">
                <a16:creationId xmlns:a16="http://schemas.microsoft.com/office/drawing/2014/main" id="{D92B34E7-99BE-1766-7356-7F0C0E01326D}"/>
              </a:ext>
            </a:extLst>
          </p:cNvPr>
          <p:cNvSpPr txBox="1"/>
          <p:nvPr/>
        </p:nvSpPr>
        <p:spPr>
          <a:xfrm>
            <a:off x="4002741" y="3621892"/>
            <a:ext cx="528918" cy="338554"/>
          </a:xfrm>
          <a:prstGeom prst="rect">
            <a:avLst/>
          </a:prstGeom>
          <a:noFill/>
        </p:spPr>
        <p:txBody>
          <a:bodyPr wrap="square" rtlCol="0">
            <a:spAutoFit/>
          </a:bodyPr>
          <a:lstStyle/>
          <a:p>
            <a:r>
              <a:rPr lang="en-US" sz="1600" dirty="0"/>
              <a:t> 2L</a:t>
            </a:r>
          </a:p>
        </p:txBody>
      </p:sp>
      <p:cxnSp>
        <p:nvCxnSpPr>
          <p:cNvPr id="20" name="Straight Connector 19">
            <a:extLst>
              <a:ext uri="{FF2B5EF4-FFF2-40B4-BE49-F238E27FC236}">
                <a16:creationId xmlns:a16="http://schemas.microsoft.com/office/drawing/2014/main" id="{F94F50B6-5CA3-1B19-A366-951819088708}"/>
              </a:ext>
            </a:extLst>
          </p:cNvPr>
          <p:cNvCxnSpPr/>
          <p:nvPr/>
        </p:nvCxnSpPr>
        <p:spPr>
          <a:xfrm>
            <a:off x="5047129"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75A81FEB-4AF6-C2F3-0211-6CA3DA989F83}"/>
              </a:ext>
            </a:extLst>
          </p:cNvPr>
          <p:cNvCxnSpPr/>
          <p:nvPr/>
        </p:nvCxnSpPr>
        <p:spPr>
          <a:xfrm>
            <a:off x="7010400"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5E68FA72-EBA2-0808-592B-4C5878CBB31D}"/>
              </a:ext>
            </a:extLst>
          </p:cNvPr>
          <p:cNvCxnSpPr/>
          <p:nvPr/>
        </p:nvCxnSpPr>
        <p:spPr>
          <a:xfrm>
            <a:off x="8973671"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EF691FE2-E96E-2D44-B338-E32053DBC15B}"/>
              </a:ext>
            </a:extLst>
          </p:cNvPr>
          <p:cNvCxnSpPr/>
          <p:nvPr/>
        </p:nvCxnSpPr>
        <p:spPr>
          <a:xfrm>
            <a:off x="10542495"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67087844-29EC-D5BC-CA87-F288E359D450}"/>
              </a:ext>
            </a:extLst>
          </p:cNvPr>
          <p:cNvSpPr txBox="1"/>
          <p:nvPr/>
        </p:nvSpPr>
        <p:spPr>
          <a:xfrm>
            <a:off x="3545541" y="5199413"/>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1142039-1E64-DCEE-6F3F-2BE04A4D0F2A}"/>
                  </a:ext>
                </a:extLst>
              </p:cNvPr>
              <p:cNvSpPr txBox="1"/>
              <p:nvPr/>
            </p:nvSpPr>
            <p:spPr>
              <a:xfrm>
                <a:off x="3285565" y="4727842"/>
                <a:ext cx="38548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oMath>
                  </m:oMathPara>
                </a14:m>
                <a:endParaRPr lang="en-US" sz="1400" dirty="0"/>
              </a:p>
            </p:txBody>
          </p:sp>
        </mc:Choice>
        <mc:Fallback xmlns="">
          <p:sp>
            <p:nvSpPr>
              <p:cNvPr id="24" name="TextBox 23">
                <a:extLst>
                  <a:ext uri="{FF2B5EF4-FFF2-40B4-BE49-F238E27FC236}">
                    <a16:creationId xmlns:a16="http://schemas.microsoft.com/office/drawing/2014/main" id="{A1142039-1E64-DCEE-6F3F-2BE04A4D0F2A}"/>
                  </a:ext>
                </a:extLst>
              </p:cNvPr>
              <p:cNvSpPr txBox="1">
                <a:spLocks noRot="1" noChangeAspect="1" noMove="1" noResize="1" noEditPoints="1" noAdjustHandles="1" noChangeArrowheads="1" noChangeShapeType="1" noTextEdit="1"/>
              </p:cNvSpPr>
              <p:nvPr/>
            </p:nvSpPr>
            <p:spPr>
              <a:xfrm>
                <a:off x="3285565" y="4727842"/>
                <a:ext cx="385482" cy="307777"/>
              </a:xfrm>
              <a:prstGeom prst="rect">
                <a:avLst/>
              </a:prstGeom>
              <a:blipFill>
                <a:blip r:embed="rId3"/>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46A9D3CE-4913-C494-81DA-7586F91BC651}"/>
              </a:ext>
            </a:extLst>
          </p:cNvPr>
          <p:cNvSpPr txBox="1"/>
          <p:nvPr/>
        </p:nvSpPr>
        <p:spPr>
          <a:xfrm>
            <a:off x="10797990" y="5291770"/>
            <a:ext cx="699246" cy="307777"/>
          </a:xfrm>
          <a:prstGeom prst="rect">
            <a:avLst/>
          </a:prstGeom>
          <a:noFill/>
        </p:spPr>
        <p:txBody>
          <a:bodyPr wrap="square" rtlCol="0">
            <a:spAutoFit/>
          </a:bodyPr>
          <a:lstStyle/>
          <a:p>
            <a:r>
              <a:rPr lang="en-US" sz="1400" dirty="0"/>
              <a:t>lose</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14E9778-93B1-DD61-9ED5-D292087D84D5}"/>
                  </a:ext>
                </a:extLst>
              </p:cNvPr>
              <p:cNvSpPr txBox="1"/>
              <p:nvPr/>
            </p:nvSpPr>
            <p:spPr>
              <a:xfrm>
                <a:off x="10538014" y="4820199"/>
                <a:ext cx="38548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oMath>
                  </m:oMathPara>
                </a14:m>
                <a:endParaRPr lang="en-US" sz="1400" dirty="0"/>
              </a:p>
            </p:txBody>
          </p:sp>
        </mc:Choice>
        <mc:Fallback xmlns="">
          <p:sp>
            <p:nvSpPr>
              <p:cNvPr id="26" name="TextBox 25">
                <a:extLst>
                  <a:ext uri="{FF2B5EF4-FFF2-40B4-BE49-F238E27FC236}">
                    <a16:creationId xmlns:a16="http://schemas.microsoft.com/office/drawing/2014/main" id="{714E9778-93B1-DD61-9ED5-D292087D84D5}"/>
                  </a:ext>
                </a:extLst>
              </p:cNvPr>
              <p:cNvSpPr txBox="1">
                <a:spLocks noRot="1" noChangeAspect="1" noMove="1" noResize="1" noEditPoints="1" noAdjustHandles="1" noChangeArrowheads="1" noChangeShapeType="1" noTextEdit="1"/>
              </p:cNvSpPr>
              <p:nvPr/>
            </p:nvSpPr>
            <p:spPr>
              <a:xfrm>
                <a:off x="10538014" y="4820199"/>
                <a:ext cx="385482" cy="307777"/>
              </a:xfrm>
              <a:prstGeom prst="rect">
                <a:avLst/>
              </a:prstGeom>
              <a:blipFill>
                <a:blip r:embed="rId3"/>
                <a:stretch>
                  <a:fillRect/>
                </a:stretch>
              </a:blipFill>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40F22387-E59A-4465-69ED-1E5E81B4E874}"/>
              </a:ext>
            </a:extLst>
          </p:cNvPr>
          <p:cNvCxnSpPr/>
          <p:nvPr/>
        </p:nvCxnSpPr>
        <p:spPr>
          <a:xfrm>
            <a:off x="5047129" y="5897108"/>
            <a:ext cx="196327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2FFADD0C-FC5C-16EA-713A-3797204B3A03}"/>
              </a:ext>
            </a:extLst>
          </p:cNvPr>
          <p:cNvCxnSpPr/>
          <p:nvPr/>
        </p:nvCxnSpPr>
        <p:spPr>
          <a:xfrm>
            <a:off x="7010400" y="5386120"/>
            <a:ext cx="196327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77EBA074-7959-00B7-9330-4249E0B96FB8}"/>
              </a:ext>
            </a:extLst>
          </p:cNvPr>
          <p:cNvCxnSpPr>
            <a:cxnSpLocks/>
          </p:cNvCxnSpPr>
          <p:nvPr/>
        </p:nvCxnSpPr>
        <p:spPr>
          <a:xfrm>
            <a:off x="8973671" y="4875132"/>
            <a:ext cx="156434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005B82D8-5337-7E52-703F-4AB806768417}"/>
              </a:ext>
            </a:extLst>
          </p:cNvPr>
          <p:cNvSpPr txBox="1"/>
          <p:nvPr/>
        </p:nvSpPr>
        <p:spPr>
          <a:xfrm>
            <a:off x="5284694" y="4964366"/>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0078B1DF-C57B-44C4-0FAE-D78E5F1D4DB0}"/>
                  </a:ext>
                </a:extLst>
              </p:cNvPr>
              <p:cNvSpPr txBox="1"/>
              <p:nvPr/>
            </p:nvSpPr>
            <p:spPr>
              <a:xfrm>
                <a:off x="5024718" y="4492795"/>
                <a:ext cx="385482" cy="3553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3</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34" name="TextBox 33">
                <a:extLst>
                  <a:ext uri="{FF2B5EF4-FFF2-40B4-BE49-F238E27FC236}">
                    <a16:creationId xmlns:a16="http://schemas.microsoft.com/office/drawing/2014/main" id="{0078B1DF-C57B-44C4-0FAE-D78E5F1D4DB0}"/>
                  </a:ext>
                </a:extLst>
              </p:cNvPr>
              <p:cNvSpPr txBox="1">
                <a:spLocks noRot="1" noChangeAspect="1" noMove="1" noResize="1" noEditPoints="1" noAdjustHandles="1" noChangeArrowheads="1" noChangeShapeType="1" noTextEdit="1"/>
              </p:cNvSpPr>
              <p:nvPr/>
            </p:nvSpPr>
            <p:spPr>
              <a:xfrm>
                <a:off x="5024718" y="4492795"/>
                <a:ext cx="385482" cy="3553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1BDBC9F1-475C-C722-AEDB-96B6BA562B0D}"/>
                  </a:ext>
                </a:extLst>
              </p:cNvPr>
              <p:cNvSpPr txBox="1"/>
              <p:nvPr/>
            </p:nvSpPr>
            <p:spPr>
              <a:xfrm>
                <a:off x="4988860" y="6099147"/>
                <a:ext cx="385482" cy="3434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35" name="TextBox 34">
                <a:extLst>
                  <a:ext uri="{FF2B5EF4-FFF2-40B4-BE49-F238E27FC236}">
                    <a16:creationId xmlns:a16="http://schemas.microsoft.com/office/drawing/2014/main" id="{1BDBC9F1-475C-C722-AEDB-96B6BA562B0D}"/>
                  </a:ext>
                </a:extLst>
              </p:cNvPr>
              <p:cNvSpPr txBox="1">
                <a:spLocks noRot="1" noChangeAspect="1" noMove="1" noResize="1" noEditPoints="1" noAdjustHandles="1" noChangeArrowheads="1" noChangeShapeType="1" noTextEdit="1"/>
              </p:cNvSpPr>
              <p:nvPr/>
            </p:nvSpPr>
            <p:spPr>
              <a:xfrm>
                <a:off x="4988860" y="6099147"/>
                <a:ext cx="385482" cy="343427"/>
              </a:xfrm>
              <a:prstGeom prst="rect">
                <a:avLst/>
              </a:prstGeom>
              <a:blipFill>
                <a:blip r:embed="rId5"/>
                <a:stretch>
                  <a:fillRect/>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3BED59A7-1DAB-9E68-D4BB-148173C0003D}"/>
              </a:ext>
            </a:extLst>
          </p:cNvPr>
          <p:cNvSpPr txBox="1"/>
          <p:nvPr/>
        </p:nvSpPr>
        <p:spPr>
          <a:xfrm>
            <a:off x="5629836" y="6289209"/>
            <a:ext cx="699246" cy="307777"/>
          </a:xfrm>
          <a:prstGeom prst="rect">
            <a:avLst/>
          </a:prstGeom>
          <a:noFill/>
        </p:spPr>
        <p:txBody>
          <a:bodyPr wrap="square" rtlCol="0">
            <a:spAutoFit/>
          </a:bodyPr>
          <a:lstStyle/>
          <a:p>
            <a:r>
              <a:rPr lang="en-US" sz="1400" dirty="0"/>
              <a:t>lose</a:t>
            </a:r>
          </a:p>
        </p:txBody>
      </p:sp>
      <p:sp>
        <p:nvSpPr>
          <p:cNvPr id="37" name="TextBox 36">
            <a:extLst>
              <a:ext uri="{FF2B5EF4-FFF2-40B4-BE49-F238E27FC236}">
                <a16:creationId xmlns:a16="http://schemas.microsoft.com/office/drawing/2014/main" id="{9A8F4425-5FA0-939B-CFF5-D080115B3B99}"/>
              </a:ext>
            </a:extLst>
          </p:cNvPr>
          <p:cNvSpPr txBox="1"/>
          <p:nvPr/>
        </p:nvSpPr>
        <p:spPr>
          <a:xfrm>
            <a:off x="7292788" y="4900718"/>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5354B71-8758-C42A-F454-89F927F463EF}"/>
                  </a:ext>
                </a:extLst>
              </p:cNvPr>
              <p:cNvSpPr txBox="1"/>
              <p:nvPr/>
            </p:nvSpPr>
            <p:spPr>
              <a:xfrm>
                <a:off x="7032812" y="4429147"/>
                <a:ext cx="385482" cy="3549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den>
                          </m:f>
                        </m:e>
                      </m:box>
                    </m:oMath>
                  </m:oMathPara>
                </a14:m>
                <a:endParaRPr lang="en-US" sz="1400" dirty="0"/>
              </a:p>
            </p:txBody>
          </p:sp>
        </mc:Choice>
        <mc:Fallback xmlns="">
          <p:sp>
            <p:nvSpPr>
              <p:cNvPr id="38" name="TextBox 37">
                <a:extLst>
                  <a:ext uri="{FF2B5EF4-FFF2-40B4-BE49-F238E27FC236}">
                    <a16:creationId xmlns:a16="http://schemas.microsoft.com/office/drawing/2014/main" id="{35354B71-8758-C42A-F454-89F927F463EF}"/>
                  </a:ext>
                </a:extLst>
              </p:cNvPr>
              <p:cNvSpPr txBox="1">
                <a:spLocks noRot="1" noChangeAspect="1" noMove="1" noResize="1" noEditPoints="1" noAdjustHandles="1" noChangeArrowheads="1" noChangeShapeType="1" noTextEdit="1"/>
              </p:cNvSpPr>
              <p:nvPr/>
            </p:nvSpPr>
            <p:spPr>
              <a:xfrm>
                <a:off x="7032812" y="4429147"/>
                <a:ext cx="385482" cy="35490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B3A1758-D914-24F5-F269-F2FD883A62DD}"/>
                  </a:ext>
                </a:extLst>
              </p:cNvPr>
              <p:cNvSpPr txBox="1"/>
              <p:nvPr/>
            </p:nvSpPr>
            <p:spPr>
              <a:xfrm>
                <a:off x="6996954" y="6035499"/>
                <a:ext cx="385482" cy="3549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den>
                          </m:f>
                        </m:e>
                      </m:box>
                    </m:oMath>
                  </m:oMathPara>
                </a14:m>
                <a:endParaRPr lang="en-US" sz="1400" dirty="0"/>
              </a:p>
            </p:txBody>
          </p:sp>
        </mc:Choice>
        <mc:Fallback xmlns="">
          <p:sp>
            <p:nvSpPr>
              <p:cNvPr id="39" name="TextBox 38">
                <a:extLst>
                  <a:ext uri="{FF2B5EF4-FFF2-40B4-BE49-F238E27FC236}">
                    <a16:creationId xmlns:a16="http://schemas.microsoft.com/office/drawing/2014/main" id="{8B3A1758-D914-24F5-F269-F2FD883A62DD}"/>
                  </a:ext>
                </a:extLst>
              </p:cNvPr>
              <p:cNvSpPr txBox="1">
                <a:spLocks noRot="1" noChangeAspect="1" noMove="1" noResize="1" noEditPoints="1" noAdjustHandles="1" noChangeArrowheads="1" noChangeShapeType="1" noTextEdit="1"/>
              </p:cNvSpPr>
              <p:nvPr/>
            </p:nvSpPr>
            <p:spPr>
              <a:xfrm>
                <a:off x="6996954" y="6035499"/>
                <a:ext cx="385482" cy="354905"/>
              </a:xfrm>
              <a:prstGeom prst="rect">
                <a:avLst/>
              </a:prstGeom>
              <a:blipFill>
                <a:blip r:embed="rId7"/>
                <a:stretch>
                  <a:fillRect/>
                </a:stretch>
              </a:blipFill>
            </p:spPr>
            <p:txBody>
              <a:bodyPr/>
              <a:lstStyle/>
              <a:p>
                <a:r>
                  <a:rPr lang="en-US">
                    <a:noFill/>
                  </a:rPr>
                  <a:t> </a:t>
                </a:r>
              </a:p>
            </p:txBody>
          </p:sp>
        </mc:Fallback>
      </mc:AlternateContent>
      <p:sp>
        <p:nvSpPr>
          <p:cNvPr id="40" name="TextBox 39">
            <a:extLst>
              <a:ext uri="{FF2B5EF4-FFF2-40B4-BE49-F238E27FC236}">
                <a16:creationId xmlns:a16="http://schemas.microsoft.com/office/drawing/2014/main" id="{9F1D21CD-D086-3D96-4F56-3C2AF5EB3731}"/>
              </a:ext>
            </a:extLst>
          </p:cNvPr>
          <p:cNvSpPr txBox="1"/>
          <p:nvPr/>
        </p:nvSpPr>
        <p:spPr>
          <a:xfrm>
            <a:off x="7637930" y="6225561"/>
            <a:ext cx="699246" cy="307777"/>
          </a:xfrm>
          <a:prstGeom prst="rect">
            <a:avLst/>
          </a:prstGeom>
          <a:noFill/>
        </p:spPr>
        <p:txBody>
          <a:bodyPr wrap="square" rtlCol="0">
            <a:spAutoFit/>
          </a:bodyPr>
          <a:lstStyle/>
          <a:p>
            <a:r>
              <a:rPr lang="en-US" sz="1400" dirty="0"/>
              <a:t>lose</a:t>
            </a:r>
          </a:p>
        </p:txBody>
      </p:sp>
      <p:sp>
        <p:nvSpPr>
          <p:cNvPr id="41" name="TextBox 40">
            <a:extLst>
              <a:ext uri="{FF2B5EF4-FFF2-40B4-BE49-F238E27FC236}">
                <a16:creationId xmlns:a16="http://schemas.microsoft.com/office/drawing/2014/main" id="{C3D632D4-5166-46E4-63BC-CE215BB4F3E9}"/>
              </a:ext>
            </a:extLst>
          </p:cNvPr>
          <p:cNvSpPr txBox="1"/>
          <p:nvPr/>
        </p:nvSpPr>
        <p:spPr>
          <a:xfrm>
            <a:off x="9475695" y="4429147"/>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B8FBFBD-0E77-B09E-6B66-BB90FFFB7214}"/>
                  </a:ext>
                </a:extLst>
              </p:cNvPr>
              <p:cNvSpPr txBox="1"/>
              <p:nvPr/>
            </p:nvSpPr>
            <p:spPr>
              <a:xfrm>
                <a:off x="8927356" y="5680195"/>
                <a:ext cx="385482" cy="3553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3</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42" name="TextBox 41">
                <a:extLst>
                  <a:ext uri="{FF2B5EF4-FFF2-40B4-BE49-F238E27FC236}">
                    <a16:creationId xmlns:a16="http://schemas.microsoft.com/office/drawing/2014/main" id="{7B8FBFBD-0E77-B09E-6B66-BB90FFFB7214}"/>
                  </a:ext>
                </a:extLst>
              </p:cNvPr>
              <p:cNvSpPr txBox="1">
                <a:spLocks noRot="1" noChangeAspect="1" noMove="1" noResize="1" noEditPoints="1" noAdjustHandles="1" noChangeArrowheads="1" noChangeShapeType="1" noTextEdit="1"/>
              </p:cNvSpPr>
              <p:nvPr/>
            </p:nvSpPr>
            <p:spPr>
              <a:xfrm>
                <a:off x="8927356" y="5680195"/>
                <a:ext cx="385482" cy="3553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BF9E715-9133-F812-B117-DACCCBDCF81E}"/>
                  </a:ext>
                </a:extLst>
              </p:cNvPr>
              <p:cNvSpPr txBox="1"/>
              <p:nvPr/>
            </p:nvSpPr>
            <p:spPr>
              <a:xfrm>
                <a:off x="8986374" y="4278862"/>
                <a:ext cx="385482" cy="3434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43" name="TextBox 42">
                <a:extLst>
                  <a:ext uri="{FF2B5EF4-FFF2-40B4-BE49-F238E27FC236}">
                    <a16:creationId xmlns:a16="http://schemas.microsoft.com/office/drawing/2014/main" id="{FBF9E715-9133-F812-B117-DACCCBDCF81E}"/>
                  </a:ext>
                </a:extLst>
              </p:cNvPr>
              <p:cNvSpPr txBox="1">
                <a:spLocks noRot="1" noChangeAspect="1" noMove="1" noResize="1" noEditPoints="1" noAdjustHandles="1" noChangeArrowheads="1" noChangeShapeType="1" noTextEdit="1"/>
              </p:cNvSpPr>
              <p:nvPr/>
            </p:nvSpPr>
            <p:spPr>
              <a:xfrm>
                <a:off x="8986374" y="4278862"/>
                <a:ext cx="385482" cy="343427"/>
              </a:xfrm>
              <a:prstGeom prst="rect">
                <a:avLst/>
              </a:prstGeom>
              <a:blipFill>
                <a:blip r:embed="rId9"/>
                <a:stretch>
                  <a:fillRect/>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D343ED8A-C05B-1393-B2AF-872D0B69FC6D}"/>
              </a:ext>
            </a:extLst>
          </p:cNvPr>
          <p:cNvSpPr txBox="1"/>
          <p:nvPr/>
        </p:nvSpPr>
        <p:spPr>
          <a:xfrm>
            <a:off x="9282955" y="5803159"/>
            <a:ext cx="699246" cy="307777"/>
          </a:xfrm>
          <a:prstGeom prst="rect">
            <a:avLst/>
          </a:prstGeom>
          <a:noFill/>
        </p:spPr>
        <p:txBody>
          <a:bodyPr wrap="square" rtlCol="0">
            <a:spAutoFit/>
          </a:bodyPr>
          <a:lstStyle/>
          <a:p>
            <a:r>
              <a:rPr lang="en-US" sz="1400" dirty="0"/>
              <a:t>lose</a:t>
            </a:r>
          </a:p>
        </p:txBody>
      </p:sp>
      <p:sp>
        <p:nvSpPr>
          <p:cNvPr id="27" name="TextBox 26">
            <a:extLst>
              <a:ext uri="{FF2B5EF4-FFF2-40B4-BE49-F238E27FC236}">
                <a16:creationId xmlns:a16="http://schemas.microsoft.com/office/drawing/2014/main" id="{1675B698-01EC-60D7-19E0-E5FA10BAE097}"/>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3795815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4CBE4-EDD5-1FD8-FF4A-5F32008C08C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37A92E1-6C3F-CAEE-928C-995642296215}"/>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BB9FF139-A584-ACE4-32BC-88BE44DFDFB4}"/>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C8A01192-2B39-7F7F-4C04-5F07E584FEE2}"/>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BB2EE4CF-2FDB-7AE4-B7FB-F7518EBDCA59}"/>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DEF52502-539B-A577-D960-1C0981C17652}"/>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2A3A7662-49E0-A09A-92C1-BB7D0BF47062}"/>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0A638F0C-7F3C-82F6-A756-5443A216D5B3}"/>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5EC4690-BCAC-8C37-B473-90185374B03E}"/>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D5EC4690-BCAC-8C37-B473-90185374B03E}"/>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F5DCE6CD-AC13-96B6-D58C-21AE01A118A5}"/>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p:sp>
        <p:nvSpPr>
          <p:cNvPr id="9" name="Rectangle 8">
            <a:extLst>
              <a:ext uri="{FF2B5EF4-FFF2-40B4-BE49-F238E27FC236}">
                <a16:creationId xmlns:a16="http://schemas.microsoft.com/office/drawing/2014/main" id="{6ECE5622-DC9D-D88E-8D6D-D67BE76F02F5}"/>
              </a:ext>
            </a:extLst>
          </p:cNvPr>
          <p:cNvSpPr/>
          <p:nvPr/>
        </p:nvSpPr>
        <p:spPr>
          <a:xfrm>
            <a:off x="3352800" y="4039524"/>
            <a:ext cx="8695766" cy="27377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4379221-1E3D-5C74-A973-1FF2DCB5210C}"/>
              </a:ext>
            </a:extLst>
          </p:cNvPr>
          <p:cNvSpPr txBox="1"/>
          <p:nvPr/>
        </p:nvSpPr>
        <p:spPr>
          <a:xfrm>
            <a:off x="5728448" y="3090725"/>
            <a:ext cx="3594847" cy="307777"/>
          </a:xfrm>
          <a:prstGeom prst="rect">
            <a:avLst/>
          </a:prstGeom>
          <a:noFill/>
        </p:spPr>
        <p:txBody>
          <a:bodyPr wrap="square" rtlCol="0">
            <a:spAutoFit/>
          </a:bodyPr>
          <a:lstStyle/>
          <a:p>
            <a:pPr algn="ctr"/>
            <a:r>
              <a:rPr lang="en-US" sz="1400" dirty="0"/>
              <a:t>number &amp; quality of other persons running</a:t>
            </a:r>
          </a:p>
        </p:txBody>
      </p:sp>
      <p:sp>
        <p:nvSpPr>
          <p:cNvPr id="11" name="TextBox 10">
            <a:extLst>
              <a:ext uri="{FF2B5EF4-FFF2-40B4-BE49-F238E27FC236}">
                <a16:creationId xmlns:a16="http://schemas.microsoft.com/office/drawing/2014/main" id="{164FC207-5AFC-93D8-3D40-2DB2ACDF1A32}"/>
              </a:ext>
            </a:extLst>
          </p:cNvPr>
          <p:cNvSpPr txBox="1"/>
          <p:nvPr/>
        </p:nvSpPr>
        <p:spPr>
          <a:xfrm rot="16200000">
            <a:off x="2501156" y="5124655"/>
            <a:ext cx="1237128" cy="307777"/>
          </a:xfrm>
          <a:prstGeom prst="rect">
            <a:avLst/>
          </a:prstGeom>
          <a:noFill/>
        </p:spPr>
        <p:txBody>
          <a:bodyPr wrap="square" rtlCol="0">
            <a:spAutoFit/>
          </a:bodyPr>
          <a:lstStyle/>
          <a:p>
            <a:pPr algn="ctr"/>
            <a:r>
              <a:rPr lang="en-US" sz="1400" dirty="0"/>
              <a:t>win/lose</a:t>
            </a:r>
          </a:p>
        </p:txBody>
      </p:sp>
      <p:sp>
        <p:nvSpPr>
          <p:cNvPr id="12" name="TextBox 11">
            <a:extLst>
              <a:ext uri="{FF2B5EF4-FFF2-40B4-BE49-F238E27FC236}">
                <a16:creationId xmlns:a16="http://schemas.microsoft.com/office/drawing/2014/main" id="{46E30C68-CC3E-34B1-8160-0C1EA073EEFE}"/>
              </a:ext>
            </a:extLst>
          </p:cNvPr>
          <p:cNvSpPr txBox="1"/>
          <p:nvPr/>
        </p:nvSpPr>
        <p:spPr>
          <a:xfrm>
            <a:off x="11147613" y="3370425"/>
            <a:ext cx="502023" cy="338554"/>
          </a:xfrm>
          <a:prstGeom prst="rect">
            <a:avLst/>
          </a:prstGeom>
          <a:noFill/>
        </p:spPr>
        <p:txBody>
          <a:bodyPr wrap="square" rtlCol="0">
            <a:spAutoFit/>
          </a:bodyPr>
          <a:lstStyle/>
          <a:p>
            <a:r>
              <a:rPr lang="en-US" sz="1600" dirty="0"/>
              <a:t>2 H</a:t>
            </a:r>
          </a:p>
        </p:txBody>
      </p:sp>
      <p:sp>
        <p:nvSpPr>
          <p:cNvPr id="13" name="TextBox 12">
            <a:extLst>
              <a:ext uri="{FF2B5EF4-FFF2-40B4-BE49-F238E27FC236}">
                <a16:creationId xmlns:a16="http://schemas.microsoft.com/office/drawing/2014/main" id="{1B415B35-E4FE-FB48-DE1C-1C70B3229504}"/>
              </a:ext>
            </a:extLst>
          </p:cNvPr>
          <p:cNvSpPr txBox="1"/>
          <p:nvPr/>
        </p:nvSpPr>
        <p:spPr>
          <a:xfrm>
            <a:off x="9323295" y="3338247"/>
            <a:ext cx="502023" cy="338554"/>
          </a:xfrm>
          <a:prstGeom prst="rect">
            <a:avLst/>
          </a:prstGeom>
          <a:noFill/>
        </p:spPr>
        <p:txBody>
          <a:bodyPr wrap="square" rtlCol="0">
            <a:spAutoFit/>
          </a:bodyPr>
          <a:lstStyle/>
          <a:p>
            <a:r>
              <a:rPr lang="en-US" sz="1600" dirty="0"/>
              <a:t>1 H</a:t>
            </a:r>
          </a:p>
        </p:txBody>
      </p:sp>
      <p:sp>
        <p:nvSpPr>
          <p:cNvPr id="16" name="TextBox 15">
            <a:extLst>
              <a:ext uri="{FF2B5EF4-FFF2-40B4-BE49-F238E27FC236}">
                <a16:creationId xmlns:a16="http://schemas.microsoft.com/office/drawing/2014/main" id="{57778AF4-4C19-BB9E-3982-73432A7BC797}"/>
              </a:ext>
            </a:extLst>
          </p:cNvPr>
          <p:cNvSpPr txBox="1"/>
          <p:nvPr/>
        </p:nvSpPr>
        <p:spPr>
          <a:xfrm>
            <a:off x="7579659" y="3349186"/>
            <a:ext cx="793376" cy="338554"/>
          </a:xfrm>
          <a:prstGeom prst="rect">
            <a:avLst/>
          </a:prstGeom>
          <a:noFill/>
        </p:spPr>
        <p:txBody>
          <a:bodyPr wrap="square" rtlCol="0">
            <a:spAutoFit/>
          </a:bodyPr>
          <a:lstStyle/>
          <a:p>
            <a:r>
              <a:rPr lang="en-US" sz="1600" dirty="0"/>
              <a:t>1 H, 1L</a:t>
            </a:r>
          </a:p>
        </p:txBody>
      </p:sp>
      <p:sp>
        <p:nvSpPr>
          <p:cNvPr id="17" name="TextBox 16">
            <a:extLst>
              <a:ext uri="{FF2B5EF4-FFF2-40B4-BE49-F238E27FC236}">
                <a16:creationId xmlns:a16="http://schemas.microsoft.com/office/drawing/2014/main" id="{8EA365B6-925C-B6DD-57AF-3AE5F7084551}"/>
              </a:ext>
            </a:extLst>
          </p:cNvPr>
          <p:cNvSpPr txBox="1"/>
          <p:nvPr/>
        </p:nvSpPr>
        <p:spPr>
          <a:xfrm>
            <a:off x="5869641" y="3348253"/>
            <a:ext cx="528918" cy="338554"/>
          </a:xfrm>
          <a:prstGeom prst="rect">
            <a:avLst/>
          </a:prstGeom>
          <a:noFill/>
        </p:spPr>
        <p:txBody>
          <a:bodyPr wrap="square" rtlCol="0">
            <a:spAutoFit/>
          </a:bodyPr>
          <a:lstStyle/>
          <a:p>
            <a:r>
              <a:rPr lang="en-US" sz="1600" dirty="0"/>
              <a:t> 1L</a:t>
            </a:r>
          </a:p>
        </p:txBody>
      </p:sp>
      <p:sp>
        <p:nvSpPr>
          <p:cNvPr id="18" name="TextBox 17">
            <a:extLst>
              <a:ext uri="{FF2B5EF4-FFF2-40B4-BE49-F238E27FC236}">
                <a16:creationId xmlns:a16="http://schemas.microsoft.com/office/drawing/2014/main" id="{5DAB4FF8-7FF4-21D1-F64B-55798A16DBF1}"/>
              </a:ext>
            </a:extLst>
          </p:cNvPr>
          <p:cNvSpPr txBox="1"/>
          <p:nvPr/>
        </p:nvSpPr>
        <p:spPr>
          <a:xfrm>
            <a:off x="4025153" y="3307242"/>
            <a:ext cx="528918" cy="338554"/>
          </a:xfrm>
          <a:prstGeom prst="rect">
            <a:avLst/>
          </a:prstGeom>
          <a:noFill/>
        </p:spPr>
        <p:txBody>
          <a:bodyPr wrap="square" rtlCol="0">
            <a:spAutoFit/>
          </a:bodyPr>
          <a:lstStyle/>
          <a:p>
            <a:r>
              <a:rPr lang="en-US" sz="1600" dirty="0"/>
              <a:t> 2L</a:t>
            </a:r>
          </a:p>
        </p:txBody>
      </p:sp>
      <p:cxnSp>
        <p:nvCxnSpPr>
          <p:cNvPr id="20" name="Straight Connector 19">
            <a:extLst>
              <a:ext uri="{FF2B5EF4-FFF2-40B4-BE49-F238E27FC236}">
                <a16:creationId xmlns:a16="http://schemas.microsoft.com/office/drawing/2014/main" id="{6C73EB0E-2D02-6EB5-A8C2-8BEAE51B34F4}"/>
              </a:ext>
            </a:extLst>
          </p:cNvPr>
          <p:cNvCxnSpPr/>
          <p:nvPr/>
        </p:nvCxnSpPr>
        <p:spPr>
          <a:xfrm>
            <a:off x="5047129"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65D465C6-BFB5-BF52-3647-FAC23EC0769E}"/>
              </a:ext>
            </a:extLst>
          </p:cNvPr>
          <p:cNvCxnSpPr/>
          <p:nvPr/>
        </p:nvCxnSpPr>
        <p:spPr>
          <a:xfrm>
            <a:off x="7010400"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C94C3E03-DA24-39CC-2360-41A00C9D9A13}"/>
              </a:ext>
            </a:extLst>
          </p:cNvPr>
          <p:cNvCxnSpPr/>
          <p:nvPr/>
        </p:nvCxnSpPr>
        <p:spPr>
          <a:xfrm>
            <a:off x="8973671"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C6A78665-8E81-ED94-CD85-808D703DA326}"/>
              </a:ext>
            </a:extLst>
          </p:cNvPr>
          <p:cNvCxnSpPr/>
          <p:nvPr/>
        </p:nvCxnSpPr>
        <p:spPr>
          <a:xfrm>
            <a:off x="10542495"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A470AF5C-9FDF-A6B9-D47C-7B33BF37F6C5}"/>
              </a:ext>
            </a:extLst>
          </p:cNvPr>
          <p:cNvSpPr txBox="1"/>
          <p:nvPr/>
        </p:nvSpPr>
        <p:spPr>
          <a:xfrm>
            <a:off x="3545541" y="5199413"/>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6FB112F-EE93-F669-241A-B8E0AED3D19E}"/>
                  </a:ext>
                </a:extLst>
              </p:cNvPr>
              <p:cNvSpPr txBox="1"/>
              <p:nvPr/>
            </p:nvSpPr>
            <p:spPr>
              <a:xfrm>
                <a:off x="3285565" y="4727842"/>
                <a:ext cx="38548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oMath>
                  </m:oMathPara>
                </a14:m>
                <a:endParaRPr lang="en-US" sz="1400" dirty="0"/>
              </a:p>
            </p:txBody>
          </p:sp>
        </mc:Choice>
        <mc:Fallback xmlns="">
          <p:sp>
            <p:nvSpPr>
              <p:cNvPr id="24" name="TextBox 23">
                <a:extLst>
                  <a:ext uri="{FF2B5EF4-FFF2-40B4-BE49-F238E27FC236}">
                    <a16:creationId xmlns:a16="http://schemas.microsoft.com/office/drawing/2014/main" id="{36FB112F-EE93-F669-241A-B8E0AED3D19E}"/>
                  </a:ext>
                </a:extLst>
              </p:cNvPr>
              <p:cNvSpPr txBox="1">
                <a:spLocks noRot="1" noChangeAspect="1" noMove="1" noResize="1" noEditPoints="1" noAdjustHandles="1" noChangeArrowheads="1" noChangeShapeType="1" noTextEdit="1"/>
              </p:cNvSpPr>
              <p:nvPr/>
            </p:nvSpPr>
            <p:spPr>
              <a:xfrm>
                <a:off x="3285565" y="4727842"/>
                <a:ext cx="385482" cy="307777"/>
              </a:xfrm>
              <a:prstGeom prst="rect">
                <a:avLst/>
              </a:prstGeom>
              <a:blipFill>
                <a:blip r:embed="rId3"/>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F6890865-998A-7A29-DC18-27AEDDEFF9A7}"/>
              </a:ext>
            </a:extLst>
          </p:cNvPr>
          <p:cNvSpPr txBox="1"/>
          <p:nvPr/>
        </p:nvSpPr>
        <p:spPr>
          <a:xfrm>
            <a:off x="10797990" y="5291770"/>
            <a:ext cx="699246" cy="307777"/>
          </a:xfrm>
          <a:prstGeom prst="rect">
            <a:avLst/>
          </a:prstGeom>
          <a:noFill/>
        </p:spPr>
        <p:txBody>
          <a:bodyPr wrap="square" rtlCol="0">
            <a:spAutoFit/>
          </a:bodyPr>
          <a:lstStyle/>
          <a:p>
            <a:r>
              <a:rPr lang="en-US" sz="1400" dirty="0"/>
              <a:t>lose</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6702FC2-D73B-CDB9-0679-1BE402F752E7}"/>
                  </a:ext>
                </a:extLst>
              </p:cNvPr>
              <p:cNvSpPr txBox="1"/>
              <p:nvPr/>
            </p:nvSpPr>
            <p:spPr>
              <a:xfrm>
                <a:off x="10538014" y="4820199"/>
                <a:ext cx="38548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oMath>
                  </m:oMathPara>
                </a14:m>
                <a:endParaRPr lang="en-US" sz="1400" dirty="0"/>
              </a:p>
            </p:txBody>
          </p:sp>
        </mc:Choice>
        <mc:Fallback xmlns="">
          <p:sp>
            <p:nvSpPr>
              <p:cNvPr id="26" name="TextBox 25">
                <a:extLst>
                  <a:ext uri="{FF2B5EF4-FFF2-40B4-BE49-F238E27FC236}">
                    <a16:creationId xmlns:a16="http://schemas.microsoft.com/office/drawing/2014/main" id="{56702FC2-D73B-CDB9-0679-1BE402F752E7}"/>
                  </a:ext>
                </a:extLst>
              </p:cNvPr>
              <p:cNvSpPr txBox="1">
                <a:spLocks noRot="1" noChangeAspect="1" noMove="1" noResize="1" noEditPoints="1" noAdjustHandles="1" noChangeArrowheads="1" noChangeShapeType="1" noTextEdit="1"/>
              </p:cNvSpPr>
              <p:nvPr/>
            </p:nvSpPr>
            <p:spPr>
              <a:xfrm>
                <a:off x="10538014" y="4820199"/>
                <a:ext cx="385482" cy="307777"/>
              </a:xfrm>
              <a:prstGeom prst="rect">
                <a:avLst/>
              </a:prstGeom>
              <a:blipFill>
                <a:blip r:embed="rId3"/>
                <a:stretch>
                  <a:fillRect/>
                </a:stretch>
              </a:blipFill>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8A8B2A30-5E74-FE48-06C3-067485F3BB14}"/>
              </a:ext>
            </a:extLst>
          </p:cNvPr>
          <p:cNvCxnSpPr/>
          <p:nvPr/>
        </p:nvCxnSpPr>
        <p:spPr>
          <a:xfrm>
            <a:off x="5047129" y="5897108"/>
            <a:ext cx="196327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4A28AFCF-937D-5F19-7E3F-14E0C92D543A}"/>
              </a:ext>
            </a:extLst>
          </p:cNvPr>
          <p:cNvCxnSpPr/>
          <p:nvPr/>
        </p:nvCxnSpPr>
        <p:spPr>
          <a:xfrm>
            <a:off x="7010400" y="5386120"/>
            <a:ext cx="196327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4292D81F-4002-6ACC-2379-0DD059EE13E8}"/>
              </a:ext>
            </a:extLst>
          </p:cNvPr>
          <p:cNvCxnSpPr>
            <a:cxnSpLocks/>
          </p:cNvCxnSpPr>
          <p:nvPr/>
        </p:nvCxnSpPr>
        <p:spPr>
          <a:xfrm>
            <a:off x="8973671" y="4875132"/>
            <a:ext cx="156434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22C0C317-CA04-614A-6E7E-EFF9F3C0B714}"/>
              </a:ext>
            </a:extLst>
          </p:cNvPr>
          <p:cNvSpPr txBox="1"/>
          <p:nvPr/>
        </p:nvSpPr>
        <p:spPr>
          <a:xfrm>
            <a:off x="5284694" y="4964366"/>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8D1B408-F13B-0D7B-8744-7AAA9E643876}"/>
                  </a:ext>
                </a:extLst>
              </p:cNvPr>
              <p:cNvSpPr txBox="1"/>
              <p:nvPr/>
            </p:nvSpPr>
            <p:spPr>
              <a:xfrm>
                <a:off x="5024718" y="4492795"/>
                <a:ext cx="385482" cy="3553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3</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34" name="TextBox 33">
                <a:extLst>
                  <a:ext uri="{FF2B5EF4-FFF2-40B4-BE49-F238E27FC236}">
                    <a16:creationId xmlns:a16="http://schemas.microsoft.com/office/drawing/2014/main" id="{A8D1B408-F13B-0D7B-8744-7AAA9E643876}"/>
                  </a:ext>
                </a:extLst>
              </p:cNvPr>
              <p:cNvSpPr txBox="1">
                <a:spLocks noRot="1" noChangeAspect="1" noMove="1" noResize="1" noEditPoints="1" noAdjustHandles="1" noChangeArrowheads="1" noChangeShapeType="1" noTextEdit="1"/>
              </p:cNvSpPr>
              <p:nvPr/>
            </p:nvSpPr>
            <p:spPr>
              <a:xfrm>
                <a:off x="5024718" y="4492795"/>
                <a:ext cx="385482" cy="3553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D7616ADF-DFC9-7A0A-8B59-4302CF815FC2}"/>
                  </a:ext>
                </a:extLst>
              </p:cNvPr>
              <p:cNvSpPr txBox="1"/>
              <p:nvPr/>
            </p:nvSpPr>
            <p:spPr>
              <a:xfrm>
                <a:off x="4988860" y="6099147"/>
                <a:ext cx="385482" cy="3434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35" name="TextBox 34">
                <a:extLst>
                  <a:ext uri="{FF2B5EF4-FFF2-40B4-BE49-F238E27FC236}">
                    <a16:creationId xmlns:a16="http://schemas.microsoft.com/office/drawing/2014/main" id="{D7616ADF-DFC9-7A0A-8B59-4302CF815FC2}"/>
                  </a:ext>
                </a:extLst>
              </p:cNvPr>
              <p:cNvSpPr txBox="1">
                <a:spLocks noRot="1" noChangeAspect="1" noMove="1" noResize="1" noEditPoints="1" noAdjustHandles="1" noChangeArrowheads="1" noChangeShapeType="1" noTextEdit="1"/>
              </p:cNvSpPr>
              <p:nvPr/>
            </p:nvSpPr>
            <p:spPr>
              <a:xfrm>
                <a:off x="4988860" y="6099147"/>
                <a:ext cx="385482" cy="343427"/>
              </a:xfrm>
              <a:prstGeom prst="rect">
                <a:avLst/>
              </a:prstGeom>
              <a:blipFill>
                <a:blip r:embed="rId5"/>
                <a:stretch>
                  <a:fillRect/>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A3030744-458F-640A-CD6D-7738FA3BABD3}"/>
              </a:ext>
            </a:extLst>
          </p:cNvPr>
          <p:cNvSpPr txBox="1"/>
          <p:nvPr/>
        </p:nvSpPr>
        <p:spPr>
          <a:xfrm>
            <a:off x="5629836" y="6289209"/>
            <a:ext cx="699246" cy="307777"/>
          </a:xfrm>
          <a:prstGeom prst="rect">
            <a:avLst/>
          </a:prstGeom>
          <a:noFill/>
        </p:spPr>
        <p:txBody>
          <a:bodyPr wrap="square" rtlCol="0">
            <a:spAutoFit/>
          </a:bodyPr>
          <a:lstStyle/>
          <a:p>
            <a:r>
              <a:rPr lang="en-US" sz="1400" dirty="0"/>
              <a:t>lose</a:t>
            </a:r>
          </a:p>
        </p:txBody>
      </p:sp>
      <p:sp>
        <p:nvSpPr>
          <p:cNvPr id="37" name="TextBox 36">
            <a:extLst>
              <a:ext uri="{FF2B5EF4-FFF2-40B4-BE49-F238E27FC236}">
                <a16:creationId xmlns:a16="http://schemas.microsoft.com/office/drawing/2014/main" id="{25463BA3-B276-091B-A928-E6BD212F0B78}"/>
              </a:ext>
            </a:extLst>
          </p:cNvPr>
          <p:cNvSpPr txBox="1"/>
          <p:nvPr/>
        </p:nvSpPr>
        <p:spPr>
          <a:xfrm>
            <a:off x="7292788" y="4900718"/>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FC2BB74-10A5-A92F-B65B-2336C0E14964}"/>
                  </a:ext>
                </a:extLst>
              </p:cNvPr>
              <p:cNvSpPr txBox="1"/>
              <p:nvPr/>
            </p:nvSpPr>
            <p:spPr>
              <a:xfrm>
                <a:off x="7032812" y="4429147"/>
                <a:ext cx="385482" cy="3549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den>
                          </m:f>
                        </m:e>
                      </m:box>
                    </m:oMath>
                  </m:oMathPara>
                </a14:m>
                <a:endParaRPr lang="en-US" sz="1400" dirty="0"/>
              </a:p>
            </p:txBody>
          </p:sp>
        </mc:Choice>
        <mc:Fallback xmlns="">
          <p:sp>
            <p:nvSpPr>
              <p:cNvPr id="38" name="TextBox 37">
                <a:extLst>
                  <a:ext uri="{FF2B5EF4-FFF2-40B4-BE49-F238E27FC236}">
                    <a16:creationId xmlns:a16="http://schemas.microsoft.com/office/drawing/2014/main" id="{9FC2BB74-10A5-A92F-B65B-2336C0E14964}"/>
                  </a:ext>
                </a:extLst>
              </p:cNvPr>
              <p:cNvSpPr txBox="1">
                <a:spLocks noRot="1" noChangeAspect="1" noMove="1" noResize="1" noEditPoints="1" noAdjustHandles="1" noChangeArrowheads="1" noChangeShapeType="1" noTextEdit="1"/>
              </p:cNvSpPr>
              <p:nvPr/>
            </p:nvSpPr>
            <p:spPr>
              <a:xfrm>
                <a:off x="7032812" y="4429147"/>
                <a:ext cx="385482" cy="35490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E82000D-6B42-3CC5-9F0F-1632128CA9CC}"/>
                  </a:ext>
                </a:extLst>
              </p:cNvPr>
              <p:cNvSpPr txBox="1"/>
              <p:nvPr/>
            </p:nvSpPr>
            <p:spPr>
              <a:xfrm>
                <a:off x="6996954" y="6035499"/>
                <a:ext cx="385482" cy="3549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den>
                          </m:f>
                        </m:e>
                      </m:box>
                    </m:oMath>
                  </m:oMathPara>
                </a14:m>
                <a:endParaRPr lang="en-US" sz="1400" dirty="0"/>
              </a:p>
            </p:txBody>
          </p:sp>
        </mc:Choice>
        <mc:Fallback xmlns="">
          <p:sp>
            <p:nvSpPr>
              <p:cNvPr id="39" name="TextBox 38">
                <a:extLst>
                  <a:ext uri="{FF2B5EF4-FFF2-40B4-BE49-F238E27FC236}">
                    <a16:creationId xmlns:a16="http://schemas.microsoft.com/office/drawing/2014/main" id="{BE82000D-6B42-3CC5-9F0F-1632128CA9CC}"/>
                  </a:ext>
                </a:extLst>
              </p:cNvPr>
              <p:cNvSpPr txBox="1">
                <a:spLocks noRot="1" noChangeAspect="1" noMove="1" noResize="1" noEditPoints="1" noAdjustHandles="1" noChangeArrowheads="1" noChangeShapeType="1" noTextEdit="1"/>
              </p:cNvSpPr>
              <p:nvPr/>
            </p:nvSpPr>
            <p:spPr>
              <a:xfrm>
                <a:off x="6996954" y="6035499"/>
                <a:ext cx="385482" cy="354905"/>
              </a:xfrm>
              <a:prstGeom prst="rect">
                <a:avLst/>
              </a:prstGeom>
              <a:blipFill>
                <a:blip r:embed="rId7"/>
                <a:stretch>
                  <a:fillRect/>
                </a:stretch>
              </a:blipFill>
            </p:spPr>
            <p:txBody>
              <a:bodyPr/>
              <a:lstStyle/>
              <a:p>
                <a:r>
                  <a:rPr lang="en-US">
                    <a:noFill/>
                  </a:rPr>
                  <a:t> </a:t>
                </a:r>
              </a:p>
            </p:txBody>
          </p:sp>
        </mc:Fallback>
      </mc:AlternateContent>
      <p:sp>
        <p:nvSpPr>
          <p:cNvPr id="40" name="TextBox 39">
            <a:extLst>
              <a:ext uri="{FF2B5EF4-FFF2-40B4-BE49-F238E27FC236}">
                <a16:creationId xmlns:a16="http://schemas.microsoft.com/office/drawing/2014/main" id="{0DA7FB4B-9558-2FFD-5608-B319A5B342FF}"/>
              </a:ext>
            </a:extLst>
          </p:cNvPr>
          <p:cNvSpPr txBox="1"/>
          <p:nvPr/>
        </p:nvSpPr>
        <p:spPr>
          <a:xfrm>
            <a:off x="7637930" y="6225561"/>
            <a:ext cx="699246" cy="307777"/>
          </a:xfrm>
          <a:prstGeom prst="rect">
            <a:avLst/>
          </a:prstGeom>
          <a:noFill/>
        </p:spPr>
        <p:txBody>
          <a:bodyPr wrap="square" rtlCol="0">
            <a:spAutoFit/>
          </a:bodyPr>
          <a:lstStyle/>
          <a:p>
            <a:r>
              <a:rPr lang="en-US" sz="1400" dirty="0"/>
              <a:t>lose</a:t>
            </a:r>
          </a:p>
        </p:txBody>
      </p:sp>
      <p:sp>
        <p:nvSpPr>
          <p:cNvPr id="41" name="TextBox 40">
            <a:extLst>
              <a:ext uri="{FF2B5EF4-FFF2-40B4-BE49-F238E27FC236}">
                <a16:creationId xmlns:a16="http://schemas.microsoft.com/office/drawing/2014/main" id="{0B205912-3BBD-633F-43A9-BAF5451D8D32}"/>
              </a:ext>
            </a:extLst>
          </p:cNvPr>
          <p:cNvSpPr txBox="1"/>
          <p:nvPr/>
        </p:nvSpPr>
        <p:spPr>
          <a:xfrm>
            <a:off x="9475695" y="4429147"/>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27F5416-2649-662D-9957-7310F78B6812}"/>
                  </a:ext>
                </a:extLst>
              </p:cNvPr>
              <p:cNvSpPr txBox="1"/>
              <p:nvPr/>
            </p:nvSpPr>
            <p:spPr>
              <a:xfrm>
                <a:off x="8927356" y="5680195"/>
                <a:ext cx="385482" cy="3553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3</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42" name="TextBox 41">
                <a:extLst>
                  <a:ext uri="{FF2B5EF4-FFF2-40B4-BE49-F238E27FC236}">
                    <a16:creationId xmlns:a16="http://schemas.microsoft.com/office/drawing/2014/main" id="{F27F5416-2649-662D-9957-7310F78B6812}"/>
                  </a:ext>
                </a:extLst>
              </p:cNvPr>
              <p:cNvSpPr txBox="1">
                <a:spLocks noRot="1" noChangeAspect="1" noMove="1" noResize="1" noEditPoints="1" noAdjustHandles="1" noChangeArrowheads="1" noChangeShapeType="1" noTextEdit="1"/>
              </p:cNvSpPr>
              <p:nvPr/>
            </p:nvSpPr>
            <p:spPr>
              <a:xfrm>
                <a:off x="8927356" y="5680195"/>
                <a:ext cx="385482" cy="3553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3766D83-95F2-0CE4-8FCC-FF62270AB282}"/>
                  </a:ext>
                </a:extLst>
              </p:cNvPr>
              <p:cNvSpPr txBox="1"/>
              <p:nvPr/>
            </p:nvSpPr>
            <p:spPr>
              <a:xfrm>
                <a:off x="8986374" y="4278862"/>
                <a:ext cx="385482" cy="3434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43" name="TextBox 42">
                <a:extLst>
                  <a:ext uri="{FF2B5EF4-FFF2-40B4-BE49-F238E27FC236}">
                    <a16:creationId xmlns:a16="http://schemas.microsoft.com/office/drawing/2014/main" id="{83766D83-95F2-0CE4-8FCC-FF62270AB282}"/>
                  </a:ext>
                </a:extLst>
              </p:cNvPr>
              <p:cNvSpPr txBox="1">
                <a:spLocks noRot="1" noChangeAspect="1" noMove="1" noResize="1" noEditPoints="1" noAdjustHandles="1" noChangeArrowheads="1" noChangeShapeType="1" noTextEdit="1"/>
              </p:cNvSpPr>
              <p:nvPr/>
            </p:nvSpPr>
            <p:spPr>
              <a:xfrm>
                <a:off x="8986374" y="4278862"/>
                <a:ext cx="385482" cy="343427"/>
              </a:xfrm>
              <a:prstGeom prst="rect">
                <a:avLst/>
              </a:prstGeom>
              <a:blipFill>
                <a:blip r:embed="rId9"/>
                <a:stretch>
                  <a:fillRect/>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6210D41C-D987-F54F-9D92-E85808A78ADD}"/>
              </a:ext>
            </a:extLst>
          </p:cNvPr>
          <p:cNvSpPr txBox="1"/>
          <p:nvPr/>
        </p:nvSpPr>
        <p:spPr>
          <a:xfrm>
            <a:off x="9282955" y="5803159"/>
            <a:ext cx="699246" cy="307777"/>
          </a:xfrm>
          <a:prstGeom prst="rect">
            <a:avLst/>
          </a:prstGeom>
          <a:noFill/>
        </p:spPr>
        <p:txBody>
          <a:bodyPr wrap="square" rtlCol="0">
            <a:spAutoFit/>
          </a:bodyPr>
          <a:lstStyle/>
          <a:p>
            <a:r>
              <a:rPr lang="en-US" sz="1400" dirty="0"/>
              <a:t>lose</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7DD2A0F-2C02-C528-86B7-2638F05475F0}"/>
                  </a:ext>
                </a:extLst>
              </p:cNvPr>
              <p:cNvSpPr txBox="1"/>
              <p:nvPr/>
            </p:nvSpPr>
            <p:spPr>
              <a:xfrm>
                <a:off x="7734301" y="3666705"/>
                <a:ext cx="385482" cy="3544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4</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27" name="TextBox 26">
                <a:extLst>
                  <a:ext uri="{FF2B5EF4-FFF2-40B4-BE49-F238E27FC236}">
                    <a16:creationId xmlns:a16="http://schemas.microsoft.com/office/drawing/2014/main" id="{A7DD2A0F-2C02-C528-86B7-2638F05475F0}"/>
                  </a:ext>
                </a:extLst>
              </p:cNvPr>
              <p:cNvSpPr txBox="1">
                <a:spLocks noRot="1" noChangeAspect="1" noMove="1" noResize="1" noEditPoints="1" noAdjustHandles="1" noChangeArrowheads="1" noChangeShapeType="1" noTextEdit="1"/>
              </p:cNvSpPr>
              <p:nvPr/>
            </p:nvSpPr>
            <p:spPr>
              <a:xfrm>
                <a:off x="7734301" y="3666705"/>
                <a:ext cx="385482" cy="35445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EA5C3DFC-9E90-355C-3099-9D261CCBD814}"/>
                  </a:ext>
                </a:extLst>
              </p:cNvPr>
              <p:cNvSpPr txBox="1"/>
              <p:nvPr/>
            </p:nvSpPr>
            <p:spPr>
              <a:xfrm>
                <a:off x="9412944" y="3608413"/>
                <a:ext cx="385482" cy="345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2</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31" name="TextBox 30">
                <a:extLst>
                  <a:ext uri="{FF2B5EF4-FFF2-40B4-BE49-F238E27FC236}">
                    <a16:creationId xmlns:a16="http://schemas.microsoft.com/office/drawing/2014/main" id="{EA5C3DFC-9E90-355C-3099-9D261CCBD814}"/>
                  </a:ext>
                </a:extLst>
              </p:cNvPr>
              <p:cNvSpPr txBox="1">
                <a:spLocks noRot="1" noChangeAspect="1" noMove="1" noResize="1" noEditPoints="1" noAdjustHandles="1" noChangeArrowheads="1" noChangeShapeType="1" noTextEdit="1"/>
              </p:cNvSpPr>
              <p:nvPr/>
            </p:nvSpPr>
            <p:spPr>
              <a:xfrm>
                <a:off x="9412944" y="3608413"/>
                <a:ext cx="385482" cy="345223"/>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8D3F4AA-C5A4-76AB-0290-8EC24F7F3A29}"/>
                  </a:ext>
                </a:extLst>
              </p:cNvPr>
              <p:cNvSpPr txBox="1"/>
              <p:nvPr/>
            </p:nvSpPr>
            <p:spPr>
              <a:xfrm>
                <a:off x="11091587" y="3622480"/>
                <a:ext cx="385482" cy="3447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45" name="TextBox 44">
                <a:extLst>
                  <a:ext uri="{FF2B5EF4-FFF2-40B4-BE49-F238E27FC236}">
                    <a16:creationId xmlns:a16="http://schemas.microsoft.com/office/drawing/2014/main" id="{B8D3F4AA-C5A4-76AB-0290-8EC24F7F3A29}"/>
                  </a:ext>
                </a:extLst>
              </p:cNvPr>
              <p:cNvSpPr txBox="1">
                <a:spLocks noRot="1" noChangeAspect="1" noMove="1" noResize="1" noEditPoints="1" noAdjustHandles="1" noChangeArrowheads="1" noChangeShapeType="1" noTextEdit="1"/>
              </p:cNvSpPr>
              <p:nvPr/>
            </p:nvSpPr>
            <p:spPr>
              <a:xfrm>
                <a:off x="11091587" y="3622480"/>
                <a:ext cx="385482" cy="34477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58AF58D-79FB-7A14-59D1-0F3FB6167801}"/>
                  </a:ext>
                </a:extLst>
              </p:cNvPr>
              <p:cNvSpPr txBox="1"/>
              <p:nvPr/>
            </p:nvSpPr>
            <p:spPr>
              <a:xfrm>
                <a:off x="4078941" y="3628067"/>
                <a:ext cx="385482" cy="3447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46" name="TextBox 45">
                <a:extLst>
                  <a:ext uri="{FF2B5EF4-FFF2-40B4-BE49-F238E27FC236}">
                    <a16:creationId xmlns:a16="http://schemas.microsoft.com/office/drawing/2014/main" id="{C58AF58D-79FB-7A14-59D1-0F3FB6167801}"/>
                  </a:ext>
                </a:extLst>
              </p:cNvPr>
              <p:cNvSpPr txBox="1">
                <a:spLocks noRot="1" noChangeAspect="1" noMove="1" noResize="1" noEditPoints="1" noAdjustHandles="1" noChangeArrowheads="1" noChangeShapeType="1" noTextEdit="1"/>
              </p:cNvSpPr>
              <p:nvPr/>
            </p:nvSpPr>
            <p:spPr>
              <a:xfrm>
                <a:off x="4078941" y="3628067"/>
                <a:ext cx="385482" cy="34477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F910C6E2-E316-B55C-11C1-6A0A4083D1F1}"/>
                  </a:ext>
                </a:extLst>
              </p:cNvPr>
              <p:cNvSpPr txBox="1"/>
              <p:nvPr/>
            </p:nvSpPr>
            <p:spPr>
              <a:xfrm>
                <a:off x="5920071" y="3645796"/>
                <a:ext cx="385482" cy="345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2</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47" name="TextBox 46">
                <a:extLst>
                  <a:ext uri="{FF2B5EF4-FFF2-40B4-BE49-F238E27FC236}">
                    <a16:creationId xmlns:a16="http://schemas.microsoft.com/office/drawing/2014/main" id="{F910C6E2-E316-B55C-11C1-6A0A4083D1F1}"/>
                  </a:ext>
                </a:extLst>
              </p:cNvPr>
              <p:cNvSpPr txBox="1">
                <a:spLocks noRot="1" noChangeAspect="1" noMove="1" noResize="1" noEditPoints="1" noAdjustHandles="1" noChangeArrowheads="1" noChangeShapeType="1" noTextEdit="1"/>
              </p:cNvSpPr>
              <p:nvPr/>
            </p:nvSpPr>
            <p:spPr>
              <a:xfrm>
                <a:off x="5920071" y="3645796"/>
                <a:ext cx="385482" cy="345223"/>
              </a:xfrm>
              <a:prstGeom prst="rect">
                <a:avLst/>
              </a:prstGeom>
              <a:blipFill>
                <a:blip r:embed="rId14"/>
                <a:stretch>
                  <a:fillRect/>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0FC090B9-F9F8-6017-B397-6AA2DE066E53}"/>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8889848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B1EBE-BBE2-AB50-48BA-DD25BF5F635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F21F278-DD6D-AC19-DF8C-F9AFC1F4F689}"/>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D42AC3DC-056E-E84F-9783-F37F6C4A9737}"/>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3A0BCDBB-FE2B-1FE7-01C7-962303235F2D}"/>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A8E123C2-7EBA-4CAD-A548-95BE909E25F7}"/>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F4AC23B1-DABE-DAA8-2028-E2F4BCBC4592}"/>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51CD06C5-DDDD-520F-494B-B49CC743998F}"/>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84C6C626-0993-C2F6-1F87-FA6965D4E3BB}"/>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BE25BA4-9877-2B72-2A73-4FA51D1713C4}"/>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1BE25BA4-9877-2B72-2A73-4FA51D1713C4}"/>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CAAEA726-17F4-36D8-381E-6A8F56E1D5B3}"/>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p:sp>
        <p:nvSpPr>
          <p:cNvPr id="9" name="Rectangle 8">
            <a:extLst>
              <a:ext uri="{FF2B5EF4-FFF2-40B4-BE49-F238E27FC236}">
                <a16:creationId xmlns:a16="http://schemas.microsoft.com/office/drawing/2014/main" id="{14DBA62E-F5D6-9D43-E928-D0211282711D}"/>
              </a:ext>
            </a:extLst>
          </p:cNvPr>
          <p:cNvSpPr/>
          <p:nvPr/>
        </p:nvSpPr>
        <p:spPr>
          <a:xfrm>
            <a:off x="3352800" y="4039524"/>
            <a:ext cx="8695766" cy="27377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3B679CF-C99C-CB3C-C4D1-455C857E7DBC}"/>
              </a:ext>
            </a:extLst>
          </p:cNvPr>
          <p:cNvSpPr txBox="1"/>
          <p:nvPr/>
        </p:nvSpPr>
        <p:spPr>
          <a:xfrm>
            <a:off x="5728448" y="3090725"/>
            <a:ext cx="3594847" cy="307777"/>
          </a:xfrm>
          <a:prstGeom prst="rect">
            <a:avLst/>
          </a:prstGeom>
          <a:noFill/>
        </p:spPr>
        <p:txBody>
          <a:bodyPr wrap="square" rtlCol="0">
            <a:spAutoFit/>
          </a:bodyPr>
          <a:lstStyle/>
          <a:p>
            <a:pPr algn="ctr"/>
            <a:r>
              <a:rPr lang="en-US" sz="1400" dirty="0"/>
              <a:t>number &amp; quality of other persons running</a:t>
            </a:r>
          </a:p>
        </p:txBody>
      </p:sp>
      <p:sp>
        <p:nvSpPr>
          <p:cNvPr id="11" name="TextBox 10">
            <a:extLst>
              <a:ext uri="{FF2B5EF4-FFF2-40B4-BE49-F238E27FC236}">
                <a16:creationId xmlns:a16="http://schemas.microsoft.com/office/drawing/2014/main" id="{2107FF8A-ECE6-5409-A643-8DE184C7EF6B}"/>
              </a:ext>
            </a:extLst>
          </p:cNvPr>
          <p:cNvSpPr txBox="1"/>
          <p:nvPr/>
        </p:nvSpPr>
        <p:spPr>
          <a:xfrm rot="16200000">
            <a:off x="2501156" y="5124655"/>
            <a:ext cx="1237128" cy="307777"/>
          </a:xfrm>
          <a:prstGeom prst="rect">
            <a:avLst/>
          </a:prstGeom>
          <a:noFill/>
        </p:spPr>
        <p:txBody>
          <a:bodyPr wrap="square" rtlCol="0">
            <a:spAutoFit/>
          </a:bodyPr>
          <a:lstStyle/>
          <a:p>
            <a:pPr algn="ctr"/>
            <a:r>
              <a:rPr lang="en-US" sz="1400" dirty="0"/>
              <a:t>win/lose</a:t>
            </a:r>
          </a:p>
        </p:txBody>
      </p:sp>
      <p:sp>
        <p:nvSpPr>
          <p:cNvPr id="12" name="TextBox 11">
            <a:extLst>
              <a:ext uri="{FF2B5EF4-FFF2-40B4-BE49-F238E27FC236}">
                <a16:creationId xmlns:a16="http://schemas.microsoft.com/office/drawing/2014/main" id="{27177E5F-8964-434D-70BF-A489B502F13F}"/>
              </a:ext>
            </a:extLst>
          </p:cNvPr>
          <p:cNvSpPr txBox="1"/>
          <p:nvPr/>
        </p:nvSpPr>
        <p:spPr>
          <a:xfrm>
            <a:off x="11389660" y="3361225"/>
            <a:ext cx="502023" cy="338554"/>
          </a:xfrm>
          <a:prstGeom prst="rect">
            <a:avLst/>
          </a:prstGeom>
          <a:noFill/>
        </p:spPr>
        <p:txBody>
          <a:bodyPr wrap="square" rtlCol="0">
            <a:spAutoFit/>
          </a:bodyPr>
          <a:lstStyle/>
          <a:p>
            <a:r>
              <a:rPr lang="en-US" sz="1600" dirty="0"/>
              <a:t>2 H</a:t>
            </a:r>
          </a:p>
        </p:txBody>
      </p:sp>
      <p:sp>
        <p:nvSpPr>
          <p:cNvPr id="13" name="TextBox 12">
            <a:extLst>
              <a:ext uri="{FF2B5EF4-FFF2-40B4-BE49-F238E27FC236}">
                <a16:creationId xmlns:a16="http://schemas.microsoft.com/office/drawing/2014/main" id="{9FAC3665-66F2-C297-F0DF-EB8E80177010}"/>
              </a:ext>
            </a:extLst>
          </p:cNvPr>
          <p:cNvSpPr txBox="1"/>
          <p:nvPr/>
        </p:nvSpPr>
        <p:spPr>
          <a:xfrm>
            <a:off x="10102478" y="3328151"/>
            <a:ext cx="502023" cy="338554"/>
          </a:xfrm>
          <a:prstGeom prst="rect">
            <a:avLst/>
          </a:prstGeom>
          <a:noFill/>
        </p:spPr>
        <p:txBody>
          <a:bodyPr wrap="square" rtlCol="0">
            <a:spAutoFit/>
          </a:bodyPr>
          <a:lstStyle/>
          <a:p>
            <a:r>
              <a:rPr lang="en-US" sz="1600" dirty="0"/>
              <a:t>1 H</a:t>
            </a:r>
          </a:p>
        </p:txBody>
      </p:sp>
      <p:sp>
        <p:nvSpPr>
          <p:cNvPr id="16" name="TextBox 15">
            <a:extLst>
              <a:ext uri="{FF2B5EF4-FFF2-40B4-BE49-F238E27FC236}">
                <a16:creationId xmlns:a16="http://schemas.microsoft.com/office/drawing/2014/main" id="{1BF4123A-0F1F-54F8-A93F-3D4C1787D94C}"/>
              </a:ext>
            </a:extLst>
          </p:cNvPr>
          <p:cNvSpPr txBox="1"/>
          <p:nvPr/>
        </p:nvSpPr>
        <p:spPr>
          <a:xfrm>
            <a:off x="7355543" y="3359260"/>
            <a:ext cx="793376" cy="338554"/>
          </a:xfrm>
          <a:prstGeom prst="rect">
            <a:avLst/>
          </a:prstGeom>
          <a:noFill/>
        </p:spPr>
        <p:txBody>
          <a:bodyPr wrap="square" rtlCol="0">
            <a:spAutoFit/>
          </a:bodyPr>
          <a:lstStyle/>
          <a:p>
            <a:r>
              <a:rPr lang="en-US" sz="1600" dirty="0"/>
              <a:t>1 H, 1L</a:t>
            </a:r>
          </a:p>
        </p:txBody>
      </p:sp>
      <p:sp>
        <p:nvSpPr>
          <p:cNvPr id="17" name="TextBox 16">
            <a:extLst>
              <a:ext uri="{FF2B5EF4-FFF2-40B4-BE49-F238E27FC236}">
                <a16:creationId xmlns:a16="http://schemas.microsoft.com/office/drawing/2014/main" id="{FF293A63-012D-73E2-3900-15DA39C810CA}"/>
              </a:ext>
            </a:extLst>
          </p:cNvPr>
          <p:cNvSpPr txBox="1"/>
          <p:nvPr/>
        </p:nvSpPr>
        <p:spPr>
          <a:xfrm>
            <a:off x="4896224" y="3328291"/>
            <a:ext cx="528918" cy="338554"/>
          </a:xfrm>
          <a:prstGeom prst="rect">
            <a:avLst/>
          </a:prstGeom>
          <a:noFill/>
        </p:spPr>
        <p:txBody>
          <a:bodyPr wrap="square" rtlCol="0">
            <a:spAutoFit/>
          </a:bodyPr>
          <a:lstStyle/>
          <a:p>
            <a:r>
              <a:rPr lang="en-US" sz="1600" dirty="0"/>
              <a:t> 1L</a:t>
            </a:r>
          </a:p>
        </p:txBody>
      </p:sp>
      <p:sp>
        <p:nvSpPr>
          <p:cNvPr id="18" name="TextBox 17">
            <a:extLst>
              <a:ext uri="{FF2B5EF4-FFF2-40B4-BE49-F238E27FC236}">
                <a16:creationId xmlns:a16="http://schemas.microsoft.com/office/drawing/2014/main" id="{BB1A05A2-144C-562A-5E9C-142012D88724}"/>
              </a:ext>
            </a:extLst>
          </p:cNvPr>
          <p:cNvSpPr txBox="1"/>
          <p:nvPr/>
        </p:nvSpPr>
        <p:spPr>
          <a:xfrm>
            <a:off x="3585883" y="3307242"/>
            <a:ext cx="528918" cy="338554"/>
          </a:xfrm>
          <a:prstGeom prst="rect">
            <a:avLst/>
          </a:prstGeom>
          <a:noFill/>
        </p:spPr>
        <p:txBody>
          <a:bodyPr wrap="square" rtlCol="0">
            <a:spAutoFit/>
          </a:bodyPr>
          <a:lstStyle/>
          <a:p>
            <a:r>
              <a:rPr lang="en-US" sz="1600" dirty="0"/>
              <a:t> 2L</a:t>
            </a:r>
          </a:p>
        </p:txBody>
      </p:sp>
      <p:cxnSp>
        <p:nvCxnSpPr>
          <p:cNvPr id="20" name="Straight Connector 19">
            <a:extLst>
              <a:ext uri="{FF2B5EF4-FFF2-40B4-BE49-F238E27FC236}">
                <a16:creationId xmlns:a16="http://schemas.microsoft.com/office/drawing/2014/main" id="{F9990C07-2736-3DE6-B5C7-9C67B79D795C}"/>
              </a:ext>
            </a:extLst>
          </p:cNvPr>
          <p:cNvCxnSpPr/>
          <p:nvPr/>
        </p:nvCxnSpPr>
        <p:spPr>
          <a:xfrm>
            <a:off x="4164107" y="4039688"/>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0B9F84CD-2651-F145-5872-FF23813ADA77}"/>
              </a:ext>
            </a:extLst>
          </p:cNvPr>
          <p:cNvCxnSpPr/>
          <p:nvPr/>
        </p:nvCxnSpPr>
        <p:spPr>
          <a:xfrm>
            <a:off x="6104965" y="4036423"/>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ABE2FB50-9408-50BE-221F-F5AF0A72E9B0}"/>
              </a:ext>
            </a:extLst>
          </p:cNvPr>
          <p:cNvCxnSpPr/>
          <p:nvPr/>
        </p:nvCxnSpPr>
        <p:spPr>
          <a:xfrm>
            <a:off x="9412944" y="4038537"/>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01747215-BB73-05E9-5CB0-BAA919DB06D2}"/>
              </a:ext>
            </a:extLst>
          </p:cNvPr>
          <p:cNvCxnSpPr/>
          <p:nvPr/>
        </p:nvCxnSpPr>
        <p:spPr>
          <a:xfrm>
            <a:off x="11241742"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2C89038F-AF02-37E9-7D9C-41F1643E5C6F}"/>
              </a:ext>
            </a:extLst>
          </p:cNvPr>
          <p:cNvSpPr txBox="1"/>
          <p:nvPr/>
        </p:nvSpPr>
        <p:spPr>
          <a:xfrm>
            <a:off x="3545541" y="5199413"/>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6BC3EDB-4F41-C3B7-65B6-DB0DBE614A00}"/>
                  </a:ext>
                </a:extLst>
              </p:cNvPr>
              <p:cNvSpPr txBox="1"/>
              <p:nvPr/>
            </p:nvSpPr>
            <p:spPr>
              <a:xfrm>
                <a:off x="3285565" y="4727842"/>
                <a:ext cx="38548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oMath>
                  </m:oMathPara>
                </a14:m>
                <a:endParaRPr lang="en-US" sz="1400" dirty="0"/>
              </a:p>
            </p:txBody>
          </p:sp>
        </mc:Choice>
        <mc:Fallback xmlns="">
          <p:sp>
            <p:nvSpPr>
              <p:cNvPr id="24" name="TextBox 23">
                <a:extLst>
                  <a:ext uri="{FF2B5EF4-FFF2-40B4-BE49-F238E27FC236}">
                    <a16:creationId xmlns:a16="http://schemas.microsoft.com/office/drawing/2014/main" id="{96BC3EDB-4F41-C3B7-65B6-DB0DBE614A00}"/>
                  </a:ext>
                </a:extLst>
              </p:cNvPr>
              <p:cNvSpPr txBox="1">
                <a:spLocks noRot="1" noChangeAspect="1" noMove="1" noResize="1" noEditPoints="1" noAdjustHandles="1" noChangeArrowheads="1" noChangeShapeType="1" noTextEdit="1"/>
              </p:cNvSpPr>
              <p:nvPr/>
            </p:nvSpPr>
            <p:spPr>
              <a:xfrm>
                <a:off x="3285565" y="4727842"/>
                <a:ext cx="385482" cy="307777"/>
              </a:xfrm>
              <a:prstGeom prst="rect">
                <a:avLst/>
              </a:prstGeom>
              <a:blipFill>
                <a:blip r:embed="rId3"/>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2972B0E1-4C68-AB2B-476A-90D76A480199}"/>
              </a:ext>
            </a:extLst>
          </p:cNvPr>
          <p:cNvSpPr txBox="1"/>
          <p:nvPr/>
        </p:nvSpPr>
        <p:spPr>
          <a:xfrm>
            <a:off x="11602573" y="5353301"/>
            <a:ext cx="699246" cy="307777"/>
          </a:xfrm>
          <a:prstGeom prst="rect">
            <a:avLst/>
          </a:prstGeom>
          <a:noFill/>
        </p:spPr>
        <p:txBody>
          <a:bodyPr wrap="square" rtlCol="0">
            <a:spAutoFit/>
          </a:bodyPr>
          <a:lstStyle/>
          <a:p>
            <a:r>
              <a:rPr lang="en-US" sz="1400" dirty="0"/>
              <a:t>lose</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904679B-ED25-F0A8-491D-5FA91337471B}"/>
                  </a:ext>
                </a:extLst>
              </p:cNvPr>
              <p:cNvSpPr txBox="1"/>
              <p:nvPr/>
            </p:nvSpPr>
            <p:spPr>
              <a:xfrm>
                <a:off x="11342597" y="4881730"/>
                <a:ext cx="38548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oMath>
                  </m:oMathPara>
                </a14:m>
                <a:endParaRPr lang="en-US" sz="1400" dirty="0"/>
              </a:p>
            </p:txBody>
          </p:sp>
        </mc:Choice>
        <mc:Fallback xmlns="">
          <p:sp>
            <p:nvSpPr>
              <p:cNvPr id="26" name="TextBox 25">
                <a:extLst>
                  <a:ext uri="{FF2B5EF4-FFF2-40B4-BE49-F238E27FC236}">
                    <a16:creationId xmlns:a16="http://schemas.microsoft.com/office/drawing/2014/main" id="{A904679B-ED25-F0A8-491D-5FA91337471B}"/>
                  </a:ext>
                </a:extLst>
              </p:cNvPr>
              <p:cNvSpPr txBox="1">
                <a:spLocks noRot="1" noChangeAspect="1" noMove="1" noResize="1" noEditPoints="1" noAdjustHandles="1" noChangeArrowheads="1" noChangeShapeType="1" noTextEdit="1"/>
              </p:cNvSpPr>
              <p:nvPr/>
            </p:nvSpPr>
            <p:spPr>
              <a:xfrm>
                <a:off x="11342597" y="4881730"/>
                <a:ext cx="385482" cy="307777"/>
              </a:xfrm>
              <a:prstGeom prst="rect">
                <a:avLst/>
              </a:prstGeom>
              <a:blipFill>
                <a:blip r:embed="rId3"/>
                <a:stretch>
                  <a:fillRect/>
                </a:stretch>
              </a:blipFill>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E9AF958A-6BF6-90E6-8CDB-CE68BC2F1CE3}"/>
              </a:ext>
            </a:extLst>
          </p:cNvPr>
          <p:cNvCxnSpPr/>
          <p:nvPr/>
        </p:nvCxnSpPr>
        <p:spPr>
          <a:xfrm>
            <a:off x="4164107" y="5897108"/>
            <a:ext cx="196327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F6F480F0-072B-0C43-3884-7FFBA753CF8E}"/>
              </a:ext>
            </a:extLst>
          </p:cNvPr>
          <p:cNvCxnSpPr>
            <a:cxnSpLocks/>
          </p:cNvCxnSpPr>
          <p:nvPr/>
        </p:nvCxnSpPr>
        <p:spPr>
          <a:xfrm>
            <a:off x="6127378" y="5386120"/>
            <a:ext cx="3285566"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2A1F0E6C-6833-5EF0-C966-244BBF2D05CA}"/>
              </a:ext>
            </a:extLst>
          </p:cNvPr>
          <p:cNvCxnSpPr>
            <a:cxnSpLocks/>
          </p:cNvCxnSpPr>
          <p:nvPr/>
        </p:nvCxnSpPr>
        <p:spPr>
          <a:xfrm>
            <a:off x="9412944" y="4881730"/>
            <a:ext cx="182879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04DF6A4D-74E3-DBF6-EBE4-8D650B52EDB7}"/>
              </a:ext>
            </a:extLst>
          </p:cNvPr>
          <p:cNvSpPr txBox="1"/>
          <p:nvPr/>
        </p:nvSpPr>
        <p:spPr>
          <a:xfrm>
            <a:off x="4782670" y="4911672"/>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FA38B8C-6E9E-4C4A-7293-1E048883D742}"/>
                  </a:ext>
                </a:extLst>
              </p:cNvPr>
              <p:cNvSpPr txBox="1"/>
              <p:nvPr/>
            </p:nvSpPr>
            <p:spPr>
              <a:xfrm>
                <a:off x="4522694" y="4440101"/>
                <a:ext cx="385482" cy="3553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3</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34" name="TextBox 33">
                <a:extLst>
                  <a:ext uri="{FF2B5EF4-FFF2-40B4-BE49-F238E27FC236}">
                    <a16:creationId xmlns:a16="http://schemas.microsoft.com/office/drawing/2014/main" id="{AFA38B8C-6E9E-4C4A-7293-1E048883D742}"/>
                  </a:ext>
                </a:extLst>
              </p:cNvPr>
              <p:cNvSpPr txBox="1">
                <a:spLocks noRot="1" noChangeAspect="1" noMove="1" noResize="1" noEditPoints="1" noAdjustHandles="1" noChangeArrowheads="1" noChangeShapeType="1" noTextEdit="1"/>
              </p:cNvSpPr>
              <p:nvPr/>
            </p:nvSpPr>
            <p:spPr>
              <a:xfrm>
                <a:off x="4522694" y="4440101"/>
                <a:ext cx="385482" cy="3553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3DA1A49E-2D37-82A0-9D9D-85E4830E9372}"/>
                  </a:ext>
                </a:extLst>
              </p:cNvPr>
              <p:cNvSpPr txBox="1"/>
              <p:nvPr/>
            </p:nvSpPr>
            <p:spPr>
              <a:xfrm>
                <a:off x="4486836" y="6046453"/>
                <a:ext cx="385482" cy="3434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35" name="TextBox 34">
                <a:extLst>
                  <a:ext uri="{FF2B5EF4-FFF2-40B4-BE49-F238E27FC236}">
                    <a16:creationId xmlns:a16="http://schemas.microsoft.com/office/drawing/2014/main" id="{3DA1A49E-2D37-82A0-9D9D-85E4830E9372}"/>
                  </a:ext>
                </a:extLst>
              </p:cNvPr>
              <p:cNvSpPr txBox="1">
                <a:spLocks noRot="1" noChangeAspect="1" noMove="1" noResize="1" noEditPoints="1" noAdjustHandles="1" noChangeArrowheads="1" noChangeShapeType="1" noTextEdit="1"/>
              </p:cNvSpPr>
              <p:nvPr/>
            </p:nvSpPr>
            <p:spPr>
              <a:xfrm>
                <a:off x="4486836" y="6046453"/>
                <a:ext cx="385482" cy="343427"/>
              </a:xfrm>
              <a:prstGeom prst="rect">
                <a:avLst/>
              </a:prstGeom>
              <a:blipFill>
                <a:blip r:embed="rId5"/>
                <a:stretch>
                  <a:fillRect/>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30359FEA-E847-FCF8-7024-F7F5939B9BEB}"/>
              </a:ext>
            </a:extLst>
          </p:cNvPr>
          <p:cNvSpPr txBox="1"/>
          <p:nvPr/>
        </p:nvSpPr>
        <p:spPr>
          <a:xfrm>
            <a:off x="5127812" y="6236515"/>
            <a:ext cx="699246" cy="307777"/>
          </a:xfrm>
          <a:prstGeom prst="rect">
            <a:avLst/>
          </a:prstGeom>
          <a:noFill/>
        </p:spPr>
        <p:txBody>
          <a:bodyPr wrap="square" rtlCol="0">
            <a:spAutoFit/>
          </a:bodyPr>
          <a:lstStyle/>
          <a:p>
            <a:r>
              <a:rPr lang="en-US" sz="1400" dirty="0"/>
              <a:t>lose</a:t>
            </a:r>
          </a:p>
        </p:txBody>
      </p:sp>
      <p:sp>
        <p:nvSpPr>
          <p:cNvPr id="37" name="TextBox 36">
            <a:extLst>
              <a:ext uri="{FF2B5EF4-FFF2-40B4-BE49-F238E27FC236}">
                <a16:creationId xmlns:a16="http://schemas.microsoft.com/office/drawing/2014/main" id="{F3D042A6-9605-F9C3-CBE9-71D7A93E27B6}"/>
              </a:ext>
            </a:extLst>
          </p:cNvPr>
          <p:cNvSpPr txBox="1"/>
          <p:nvPr/>
        </p:nvSpPr>
        <p:spPr>
          <a:xfrm>
            <a:off x="7292788" y="4900718"/>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21CF707-25E0-88C9-4C9D-858E99C69F89}"/>
                  </a:ext>
                </a:extLst>
              </p:cNvPr>
              <p:cNvSpPr txBox="1"/>
              <p:nvPr/>
            </p:nvSpPr>
            <p:spPr>
              <a:xfrm>
                <a:off x="6181162" y="4441756"/>
                <a:ext cx="385482" cy="3549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den>
                          </m:f>
                        </m:e>
                      </m:box>
                    </m:oMath>
                  </m:oMathPara>
                </a14:m>
                <a:endParaRPr lang="en-US" sz="1400" dirty="0"/>
              </a:p>
            </p:txBody>
          </p:sp>
        </mc:Choice>
        <mc:Fallback xmlns="">
          <p:sp>
            <p:nvSpPr>
              <p:cNvPr id="38" name="TextBox 37">
                <a:extLst>
                  <a:ext uri="{FF2B5EF4-FFF2-40B4-BE49-F238E27FC236}">
                    <a16:creationId xmlns:a16="http://schemas.microsoft.com/office/drawing/2014/main" id="{121CF707-25E0-88C9-4C9D-858E99C69F89}"/>
                  </a:ext>
                </a:extLst>
              </p:cNvPr>
              <p:cNvSpPr txBox="1">
                <a:spLocks noRot="1" noChangeAspect="1" noMove="1" noResize="1" noEditPoints="1" noAdjustHandles="1" noChangeArrowheads="1" noChangeShapeType="1" noTextEdit="1"/>
              </p:cNvSpPr>
              <p:nvPr/>
            </p:nvSpPr>
            <p:spPr>
              <a:xfrm>
                <a:off x="6181162" y="4441756"/>
                <a:ext cx="385482" cy="35490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9DF03586-8E30-6A3A-C6AC-BA148AFBC43C}"/>
                  </a:ext>
                </a:extLst>
              </p:cNvPr>
              <p:cNvSpPr txBox="1"/>
              <p:nvPr/>
            </p:nvSpPr>
            <p:spPr>
              <a:xfrm>
                <a:off x="6145304" y="6048108"/>
                <a:ext cx="385482" cy="3549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den>
                          </m:f>
                        </m:e>
                      </m:box>
                    </m:oMath>
                  </m:oMathPara>
                </a14:m>
                <a:endParaRPr lang="en-US" sz="1400" dirty="0"/>
              </a:p>
            </p:txBody>
          </p:sp>
        </mc:Choice>
        <mc:Fallback xmlns="">
          <p:sp>
            <p:nvSpPr>
              <p:cNvPr id="39" name="TextBox 38">
                <a:extLst>
                  <a:ext uri="{FF2B5EF4-FFF2-40B4-BE49-F238E27FC236}">
                    <a16:creationId xmlns:a16="http://schemas.microsoft.com/office/drawing/2014/main" id="{9DF03586-8E30-6A3A-C6AC-BA148AFBC43C}"/>
                  </a:ext>
                </a:extLst>
              </p:cNvPr>
              <p:cNvSpPr txBox="1">
                <a:spLocks noRot="1" noChangeAspect="1" noMove="1" noResize="1" noEditPoints="1" noAdjustHandles="1" noChangeArrowheads="1" noChangeShapeType="1" noTextEdit="1"/>
              </p:cNvSpPr>
              <p:nvPr/>
            </p:nvSpPr>
            <p:spPr>
              <a:xfrm>
                <a:off x="6145304" y="6048108"/>
                <a:ext cx="385482" cy="354905"/>
              </a:xfrm>
              <a:prstGeom prst="rect">
                <a:avLst/>
              </a:prstGeom>
              <a:blipFill>
                <a:blip r:embed="rId7"/>
                <a:stretch>
                  <a:fillRect/>
                </a:stretch>
              </a:blipFill>
            </p:spPr>
            <p:txBody>
              <a:bodyPr/>
              <a:lstStyle/>
              <a:p>
                <a:r>
                  <a:rPr lang="en-US">
                    <a:noFill/>
                  </a:rPr>
                  <a:t> </a:t>
                </a:r>
              </a:p>
            </p:txBody>
          </p:sp>
        </mc:Fallback>
      </mc:AlternateContent>
      <p:sp>
        <p:nvSpPr>
          <p:cNvPr id="40" name="TextBox 39">
            <a:extLst>
              <a:ext uri="{FF2B5EF4-FFF2-40B4-BE49-F238E27FC236}">
                <a16:creationId xmlns:a16="http://schemas.microsoft.com/office/drawing/2014/main" id="{DEA0DB59-E091-5F20-2E4B-35017E0B88CD}"/>
              </a:ext>
            </a:extLst>
          </p:cNvPr>
          <p:cNvSpPr txBox="1"/>
          <p:nvPr/>
        </p:nvSpPr>
        <p:spPr>
          <a:xfrm>
            <a:off x="7637930" y="6225561"/>
            <a:ext cx="699246" cy="307777"/>
          </a:xfrm>
          <a:prstGeom prst="rect">
            <a:avLst/>
          </a:prstGeom>
          <a:noFill/>
        </p:spPr>
        <p:txBody>
          <a:bodyPr wrap="square" rtlCol="0">
            <a:spAutoFit/>
          </a:bodyPr>
          <a:lstStyle/>
          <a:p>
            <a:r>
              <a:rPr lang="en-US" sz="1400" dirty="0"/>
              <a:t>lose</a:t>
            </a:r>
          </a:p>
        </p:txBody>
      </p:sp>
      <p:sp>
        <p:nvSpPr>
          <p:cNvPr id="41" name="TextBox 40">
            <a:extLst>
              <a:ext uri="{FF2B5EF4-FFF2-40B4-BE49-F238E27FC236}">
                <a16:creationId xmlns:a16="http://schemas.microsoft.com/office/drawing/2014/main" id="{3FE397A3-B777-1D08-F3A3-9A4E13FD61F6}"/>
              </a:ext>
            </a:extLst>
          </p:cNvPr>
          <p:cNvSpPr txBox="1"/>
          <p:nvPr/>
        </p:nvSpPr>
        <p:spPr>
          <a:xfrm>
            <a:off x="10591799" y="4369207"/>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0A23715-9CA9-CA42-935C-2542EA2A3F60}"/>
                  </a:ext>
                </a:extLst>
              </p:cNvPr>
              <p:cNvSpPr txBox="1"/>
              <p:nvPr/>
            </p:nvSpPr>
            <p:spPr>
              <a:xfrm>
                <a:off x="10043460" y="5620255"/>
                <a:ext cx="385482" cy="3553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3</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42" name="TextBox 41">
                <a:extLst>
                  <a:ext uri="{FF2B5EF4-FFF2-40B4-BE49-F238E27FC236}">
                    <a16:creationId xmlns:a16="http://schemas.microsoft.com/office/drawing/2014/main" id="{E0A23715-9CA9-CA42-935C-2542EA2A3F60}"/>
                  </a:ext>
                </a:extLst>
              </p:cNvPr>
              <p:cNvSpPr txBox="1">
                <a:spLocks noRot="1" noChangeAspect="1" noMove="1" noResize="1" noEditPoints="1" noAdjustHandles="1" noChangeArrowheads="1" noChangeShapeType="1" noTextEdit="1"/>
              </p:cNvSpPr>
              <p:nvPr/>
            </p:nvSpPr>
            <p:spPr>
              <a:xfrm>
                <a:off x="10043460" y="5620255"/>
                <a:ext cx="385482" cy="3553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55D3451-DD3B-186B-47A1-48C04510BCB0}"/>
                  </a:ext>
                </a:extLst>
              </p:cNvPr>
              <p:cNvSpPr txBox="1"/>
              <p:nvPr/>
            </p:nvSpPr>
            <p:spPr>
              <a:xfrm>
                <a:off x="10102478" y="4218922"/>
                <a:ext cx="385482" cy="3434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43" name="TextBox 42">
                <a:extLst>
                  <a:ext uri="{FF2B5EF4-FFF2-40B4-BE49-F238E27FC236}">
                    <a16:creationId xmlns:a16="http://schemas.microsoft.com/office/drawing/2014/main" id="{055D3451-DD3B-186B-47A1-48C04510BCB0}"/>
                  </a:ext>
                </a:extLst>
              </p:cNvPr>
              <p:cNvSpPr txBox="1">
                <a:spLocks noRot="1" noChangeAspect="1" noMove="1" noResize="1" noEditPoints="1" noAdjustHandles="1" noChangeArrowheads="1" noChangeShapeType="1" noTextEdit="1"/>
              </p:cNvSpPr>
              <p:nvPr/>
            </p:nvSpPr>
            <p:spPr>
              <a:xfrm>
                <a:off x="10102478" y="4218922"/>
                <a:ext cx="385482" cy="343427"/>
              </a:xfrm>
              <a:prstGeom prst="rect">
                <a:avLst/>
              </a:prstGeom>
              <a:blipFill>
                <a:blip r:embed="rId9"/>
                <a:stretch>
                  <a:fillRect/>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2282C368-820F-F74E-3C73-F3C55C33C2EF}"/>
              </a:ext>
            </a:extLst>
          </p:cNvPr>
          <p:cNvSpPr txBox="1"/>
          <p:nvPr/>
        </p:nvSpPr>
        <p:spPr>
          <a:xfrm>
            <a:off x="10399059" y="5743219"/>
            <a:ext cx="699246" cy="307777"/>
          </a:xfrm>
          <a:prstGeom prst="rect">
            <a:avLst/>
          </a:prstGeom>
          <a:noFill/>
        </p:spPr>
        <p:txBody>
          <a:bodyPr wrap="square" rtlCol="0">
            <a:spAutoFit/>
          </a:bodyPr>
          <a:lstStyle/>
          <a:p>
            <a:r>
              <a:rPr lang="en-US" sz="1400" dirty="0"/>
              <a:t>lose</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A7A9B93-2D81-1396-04E6-93632BAE8F71}"/>
                  </a:ext>
                </a:extLst>
              </p:cNvPr>
              <p:cNvSpPr txBox="1"/>
              <p:nvPr/>
            </p:nvSpPr>
            <p:spPr>
              <a:xfrm>
                <a:off x="7510185" y="3676779"/>
                <a:ext cx="385482" cy="3544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4</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27" name="TextBox 26">
                <a:extLst>
                  <a:ext uri="{FF2B5EF4-FFF2-40B4-BE49-F238E27FC236}">
                    <a16:creationId xmlns:a16="http://schemas.microsoft.com/office/drawing/2014/main" id="{1A7A9B93-2D81-1396-04E6-93632BAE8F71}"/>
                  </a:ext>
                </a:extLst>
              </p:cNvPr>
              <p:cNvSpPr txBox="1">
                <a:spLocks noRot="1" noChangeAspect="1" noMove="1" noResize="1" noEditPoints="1" noAdjustHandles="1" noChangeArrowheads="1" noChangeShapeType="1" noTextEdit="1"/>
              </p:cNvSpPr>
              <p:nvPr/>
            </p:nvSpPr>
            <p:spPr>
              <a:xfrm>
                <a:off x="7510185" y="3676779"/>
                <a:ext cx="385482" cy="35445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0634B066-AB8A-5315-F392-AAA7D3D41BF9}"/>
                  </a:ext>
                </a:extLst>
              </p:cNvPr>
              <p:cNvSpPr txBox="1"/>
              <p:nvPr/>
            </p:nvSpPr>
            <p:spPr>
              <a:xfrm>
                <a:off x="10192127" y="3598317"/>
                <a:ext cx="385482" cy="345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2</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31" name="TextBox 30">
                <a:extLst>
                  <a:ext uri="{FF2B5EF4-FFF2-40B4-BE49-F238E27FC236}">
                    <a16:creationId xmlns:a16="http://schemas.microsoft.com/office/drawing/2014/main" id="{0634B066-AB8A-5315-F392-AAA7D3D41BF9}"/>
                  </a:ext>
                </a:extLst>
              </p:cNvPr>
              <p:cNvSpPr txBox="1">
                <a:spLocks noRot="1" noChangeAspect="1" noMove="1" noResize="1" noEditPoints="1" noAdjustHandles="1" noChangeArrowheads="1" noChangeShapeType="1" noTextEdit="1"/>
              </p:cNvSpPr>
              <p:nvPr/>
            </p:nvSpPr>
            <p:spPr>
              <a:xfrm>
                <a:off x="10192127" y="3598317"/>
                <a:ext cx="385482" cy="345223"/>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617CAF2-8E69-B3A3-2528-D6F1743427AD}"/>
                  </a:ext>
                </a:extLst>
              </p:cNvPr>
              <p:cNvSpPr txBox="1"/>
              <p:nvPr/>
            </p:nvSpPr>
            <p:spPr>
              <a:xfrm>
                <a:off x="11333634" y="3613280"/>
                <a:ext cx="385482" cy="3447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45" name="TextBox 44">
                <a:extLst>
                  <a:ext uri="{FF2B5EF4-FFF2-40B4-BE49-F238E27FC236}">
                    <a16:creationId xmlns:a16="http://schemas.microsoft.com/office/drawing/2014/main" id="{B617CAF2-8E69-B3A3-2528-D6F1743427AD}"/>
                  </a:ext>
                </a:extLst>
              </p:cNvPr>
              <p:cNvSpPr txBox="1">
                <a:spLocks noRot="1" noChangeAspect="1" noMove="1" noResize="1" noEditPoints="1" noAdjustHandles="1" noChangeArrowheads="1" noChangeShapeType="1" noTextEdit="1"/>
              </p:cNvSpPr>
              <p:nvPr/>
            </p:nvSpPr>
            <p:spPr>
              <a:xfrm>
                <a:off x="11333634" y="3613280"/>
                <a:ext cx="385482" cy="34477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ECEA532A-2630-3D18-6881-F56206117615}"/>
                  </a:ext>
                </a:extLst>
              </p:cNvPr>
              <p:cNvSpPr txBox="1"/>
              <p:nvPr/>
            </p:nvSpPr>
            <p:spPr>
              <a:xfrm>
                <a:off x="3657601" y="3637203"/>
                <a:ext cx="385482" cy="3447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46" name="TextBox 45">
                <a:extLst>
                  <a:ext uri="{FF2B5EF4-FFF2-40B4-BE49-F238E27FC236}">
                    <a16:creationId xmlns:a16="http://schemas.microsoft.com/office/drawing/2014/main" id="{ECEA532A-2630-3D18-6881-F56206117615}"/>
                  </a:ext>
                </a:extLst>
              </p:cNvPr>
              <p:cNvSpPr txBox="1">
                <a:spLocks noRot="1" noChangeAspect="1" noMove="1" noResize="1" noEditPoints="1" noAdjustHandles="1" noChangeArrowheads="1" noChangeShapeType="1" noTextEdit="1"/>
              </p:cNvSpPr>
              <p:nvPr/>
            </p:nvSpPr>
            <p:spPr>
              <a:xfrm>
                <a:off x="3657601" y="3637203"/>
                <a:ext cx="385482" cy="34477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980B7096-DDD2-0370-4821-1D001AC3A837}"/>
                  </a:ext>
                </a:extLst>
              </p:cNvPr>
              <p:cNvSpPr txBox="1"/>
              <p:nvPr/>
            </p:nvSpPr>
            <p:spPr>
              <a:xfrm>
                <a:off x="4946654" y="3625834"/>
                <a:ext cx="385482" cy="345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2</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47" name="TextBox 46">
                <a:extLst>
                  <a:ext uri="{FF2B5EF4-FFF2-40B4-BE49-F238E27FC236}">
                    <a16:creationId xmlns:a16="http://schemas.microsoft.com/office/drawing/2014/main" id="{980B7096-DDD2-0370-4821-1D001AC3A837}"/>
                  </a:ext>
                </a:extLst>
              </p:cNvPr>
              <p:cNvSpPr txBox="1">
                <a:spLocks noRot="1" noChangeAspect="1" noMove="1" noResize="1" noEditPoints="1" noAdjustHandles="1" noChangeArrowheads="1" noChangeShapeType="1" noTextEdit="1"/>
              </p:cNvSpPr>
              <p:nvPr/>
            </p:nvSpPr>
            <p:spPr>
              <a:xfrm>
                <a:off x="4946654" y="3625834"/>
                <a:ext cx="385482" cy="345223"/>
              </a:xfrm>
              <a:prstGeom prst="rect">
                <a:avLst/>
              </a:prstGeom>
              <a:blipFill>
                <a:blip r:embed="rId13"/>
                <a:stretch>
                  <a:fillRect/>
                </a:stretch>
              </a:blipFill>
            </p:spPr>
            <p:txBody>
              <a:bodyPr/>
              <a:lstStyle/>
              <a:p>
                <a:r>
                  <a:rPr lang="en-US">
                    <a:noFill/>
                  </a:rPr>
                  <a:t> </a:t>
                </a:r>
              </a:p>
            </p:txBody>
          </p:sp>
        </mc:Fallback>
      </mc:AlternateContent>
      <p:sp>
        <p:nvSpPr>
          <p:cNvPr id="48" name="TextBox 47">
            <a:extLst>
              <a:ext uri="{FF2B5EF4-FFF2-40B4-BE49-F238E27FC236}">
                <a16:creationId xmlns:a16="http://schemas.microsoft.com/office/drawing/2014/main" id="{02FD6043-2B7C-2DD8-8594-EBBCF99CD533}"/>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1638175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A2C53-C37F-9602-78C9-E7AE45CEB81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C7096E3-78EA-8178-5137-384E4C119D33}"/>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85BE7D59-6F1C-AA03-D22A-E61CCDFC61CA}"/>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E5959698-84F6-5C96-5674-273A49C4AFBD}"/>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CBBC1596-7CF1-2ABD-A987-B2E6A099BC79}"/>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BDE41A2B-61B6-0AC0-2498-68D103E474F8}"/>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A8C0EE08-5517-F5F8-0256-EB3BD12841BD}"/>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311345A7-B123-ADDE-B565-E3BA8B4342A9}"/>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55BDCFE-F752-9385-3061-FEAB15211DB6}"/>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D55BDCFE-F752-9385-3061-FEAB15211DB6}"/>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D977619D-A70C-7516-0EC1-AFF018A0E07B}"/>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p:sp>
        <p:nvSpPr>
          <p:cNvPr id="9" name="Rectangle 8">
            <a:extLst>
              <a:ext uri="{FF2B5EF4-FFF2-40B4-BE49-F238E27FC236}">
                <a16:creationId xmlns:a16="http://schemas.microsoft.com/office/drawing/2014/main" id="{A681BB05-46AA-3838-9C31-EEBE8F21E2C9}"/>
              </a:ext>
            </a:extLst>
          </p:cNvPr>
          <p:cNvSpPr/>
          <p:nvPr/>
        </p:nvSpPr>
        <p:spPr>
          <a:xfrm>
            <a:off x="3352800" y="4039524"/>
            <a:ext cx="8695766" cy="27377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0548E1C-3A5A-BAC7-B064-2F0FDF4C4BD2}"/>
              </a:ext>
            </a:extLst>
          </p:cNvPr>
          <p:cNvSpPr txBox="1"/>
          <p:nvPr/>
        </p:nvSpPr>
        <p:spPr>
          <a:xfrm>
            <a:off x="5728448" y="3090725"/>
            <a:ext cx="3594847" cy="307777"/>
          </a:xfrm>
          <a:prstGeom prst="rect">
            <a:avLst/>
          </a:prstGeom>
          <a:noFill/>
        </p:spPr>
        <p:txBody>
          <a:bodyPr wrap="square" rtlCol="0">
            <a:spAutoFit/>
          </a:bodyPr>
          <a:lstStyle/>
          <a:p>
            <a:pPr algn="ctr"/>
            <a:r>
              <a:rPr lang="en-US" sz="1400" dirty="0"/>
              <a:t>number &amp; quality of other persons running</a:t>
            </a:r>
          </a:p>
        </p:txBody>
      </p:sp>
      <p:sp>
        <p:nvSpPr>
          <p:cNvPr id="11" name="TextBox 10">
            <a:extLst>
              <a:ext uri="{FF2B5EF4-FFF2-40B4-BE49-F238E27FC236}">
                <a16:creationId xmlns:a16="http://schemas.microsoft.com/office/drawing/2014/main" id="{4D7D6E68-B8F7-E5AC-3CA8-9B2A5D49458C}"/>
              </a:ext>
            </a:extLst>
          </p:cNvPr>
          <p:cNvSpPr txBox="1"/>
          <p:nvPr/>
        </p:nvSpPr>
        <p:spPr>
          <a:xfrm rot="16200000">
            <a:off x="2501156" y="5124655"/>
            <a:ext cx="1237128" cy="307777"/>
          </a:xfrm>
          <a:prstGeom prst="rect">
            <a:avLst/>
          </a:prstGeom>
          <a:noFill/>
        </p:spPr>
        <p:txBody>
          <a:bodyPr wrap="square" rtlCol="0">
            <a:spAutoFit/>
          </a:bodyPr>
          <a:lstStyle/>
          <a:p>
            <a:pPr algn="ctr"/>
            <a:r>
              <a:rPr lang="en-US" sz="1400" dirty="0"/>
              <a:t>win/lose</a:t>
            </a:r>
          </a:p>
        </p:txBody>
      </p:sp>
      <p:sp>
        <p:nvSpPr>
          <p:cNvPr id="12" name="TextBox 11">
            <a:extLst>
              <a:ext uri="{FF2B5EF4-FFF2-40B4-BE49-F238E27FC236}">
                <a16:creationId xmlns:a16="http://schemas.microsoft.com/office/drawing/2014/main" id="{A2AF2C46-1CD8-0E31-77F9-4B29DCEC2295}"/>
              </a:ext>
            </a:extLst>
          </p:cNvPr>
          <p:cNvSpPr txBox="1"/>
          <p:nvPr/>
        </p:nvSpPr>
        <p:spPr>
          <a:xfrm>
            <a:off x="11389660" y="3361225"/>
            <a:ext cx="502023" cy="338554"/>
          </a:xfrm>
          <a:prstGeom prst="rect">
            <a:avLst/>
          </a:prstGeom>
          <a:noFill/>
        </p:spPr>
        <p:txBody>
          <a:bodyPr wrap="square" rtlCol="0">
            <a:spAutoFit/>
          </a:bodyPr>
          <a:lstStyle/>
          <a:p>
            <a:r>
              <a:rPr lang="en-US" sz="1600" dirty="0"/>
              <a:t>2 H</a:t>
            </a:r>
          </a:p>
        </p:txBody>
      </p:sp>
      <p:sp>
        <p:nvSpPr>
          <p:cNvPr id="13" name="TextBox 12">
            <a:extLst>
              <a:ext uri="{FF2B5EF4-FFF2-40B4-BE49-F238E27FC236}">
                <a16:creationId xmlns:a16="http://schemas.microsoft.com/office/drawing/2014/main" id="{7EB123BA-97A3-DFA9-CD04-0A2C918A2B7F}"/>
              </a:ext>
            </a:extLst>
          </p:cNvPr>
          <p:cNvSpPr txBox="1"/>
          <p:nvPr/>
        </p:nvSpPr>
        <p:spPr>
          <a:xfrm>
            <a:off x="10102478" y="3328151"/>
            <a:ext cx="502023" cy="338554"/>
          </a:xfrm>
          <a:prstGeom prst="rect">
            <a:avLst/>
          </a:prstGeom>
          <a:noFill/>
        </p:spPr>
        <p:txBody>
          <a:bodyPr wrap="square" rtlCol="0">
            <a:spAutoFit/>
          </a:bodyPr>
          <a:lstStyle/>
          <a:p>
            <a:r>
              <a:rPr lang="en-US" sz="1600" dirty="0"/>
              <a:t>1 H</a:t>
            </a:r>
          </a:p>
        </p:txBody>
      </p:sp>
      <p:sp>
        <p:nvSpPr>
          <p:cNvPr id="16" name="TextBox 15">
            <a:extLst>
              <a:ext uri="{FF2B5EF4-FFF2-40B4-BE49-F238E27FC236}">
                <a16:creationId xmlns:a16="http://schemas.microsoft.com/office/drawing/2014/main" id="{8BF08CE3-91DA-FD90-F087-2DADD5486FC9}"/>
              </a:ext>
            </a:extLst>
          </p:cNvPr>
          <p:cNvSpPr txBox="1"/>
          <p:nvPr/>
        </p:nvSpPr>
        <p:spPr>
          <a:xfrm>
            <a:off x="7355543" y="3359260"/>
            <a:ext cx="793376" cy="338554"/>
          </a:xfrm>
          <a:prstGeom prst="rect">
            <a:avLst/>
          </a:prstGeom>
          <a:noFill/>
        </p:spPr>
        <p:txBody>
          <a:bodyPr wrap="square" rtlCol="0">
            <a:spAutoFit/>
          </a:bodyPr>
          <a:lstStyle/>
          <a:p>
            <a:r>
              <a:rPr lang="en-US" sz="1600" dirty="0"/>
              <a:t>1 H, 1L</a:t>
            </a:r>
          </a:p>
        </p:txBody>
      </p:sp>
      <p:sp>
        <p:nvSpPr>
          <p:cNvPr id="17" name="TextBox 16">
            <a:extLst>
              <a:ext uri="{FF2B5EF4-FFF2-40B4-BE49-F238E27FC236}">
                <a16:creationId xmlns:a16="http://schemas.microsoft.com/office/drawing/2014/main" id="{29C23BA2-7CB6-7800-732F-809257B47B7A}"/>
              </a:ext>
            </a:extLst>
          </p:cNvPr>
          <p:cNvSpPr txBox="1"/>
          <p:nvPr/>
        </p:nvSpPr>
        <p:spPr>
          <a:xfrm>
            <a:off x="4896224" y="3328291"/>
            <a:ext cx="528918" cy="338554"/>
          </a:xfrm>
          <a:prstGeom prst="rect">
            <a:avLst/>
          </a:prstGeom>
          <a:noFill/>
        </p:spPr>
        <p:txBody>
          <a:bodyPr wrap="square" rtlCol="0">
            <a:spAutoFit/>
          </a:bodyPr>
          <a:lstStyle/>
          <a:p>
            <a:r>
              <a:rPr lang="en-US" sz="1600" dirty="0"/>
              <a:t> 1L</a:t>
            </a:r>
          </a:p>
        </p:txBody>
      </p:sp>
      <p:sp>
        <p:nvSpPr>
          <p:cNvPr id="18" name="TextBox 17">
            <a:extLst>
              <a:ext uri="{FF2B5EF4-FFF2-40B4-BE49-F238E27FC236}">
                <a16:creationId xmlns:a16="http://schemas.microsoft.com/office/drawing/2014/main" id="{583337F3-45AE-7FBF-1D99-012A59F8C60C}"/>
              </a:ext>
            </a:extLst>
          </p:cNvPr>
          <p:cNvSpPr txBox="1"/>
          <p:nvPr/>
        </p:nvSpPr>
        <p:spPr>
          <a:xfrm>
            <a:off x="3585883" y="3307242"/>
            <a:ext cx="528918" cy="338554"/>
          </a:xfrm>
          <a:prstGeom prst="rect">
            <a:avLst/>
          </a:prstGeom>
          <a:noFill/>
        </p:spPr>
        <p:txBody>
          <a:bodyPr wrap="square" rtlCol="0">
            <a:spAutoFit/>
          </a:bodyPr>
          <a:lstStyle/>
          <a:p>
            <a:r>
              <a:rPr lang="en-US" sz="1600" dirty="0"/>
              <a:t> 2L</a:t>
            </a:r>
          </a:p>
        </p:txBody>
      </p:sp>
      <p:cxnSp>
        <p:nvCxnSpPr>
          <p:cNvPr id="20" name="Straight Connector 19">
            <a:extLst>
              <a:ext uri="{FF2B5EF4-FFF2-40B4-BE49-F238E27FC236}">
                <a16:creationId xmlns:a16="http://schemas.microsoft.com/office/drawing/2014/main" id="{73EACFBA-06C8-27B7-9A0C-7DF6C38FE92A}"/>
              </a:ext>
            </a:extLst>
          </p:cNvPr>
          <p:cNvCxnSpPr/>
          <p:nvPr/>
        </p:nvCxnSpPr>
        <p:spPr>
          <a:xfrm>
            <a:off x="4164107" y="4039688"/>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C2759DC9-8A44-9679-F072-B1FE0DF07DB4}"/>
              </a:ext>
            </a:extLst>
          </p:cNvPr>
          <p:cNvCxnSpPr/>
          <p:nvPr/>
        </p:nvCxnSpPr>
        <p:spPr>
          <a:xfrm>
            <a:off x="6104965" y="4036423"/>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33FE59F6-65BA-3C57-4A88-D6DC1FEBC01A}"/>
              </a:ext>
            </a:extLst>
          </p:cNvPr>
          <p:cNvCxnSpPr/>
          <p:nvPr/>
        </p:nvCxnSpPr>
        <p:spPr>
          <a:xfrm>
            <a:off x="9412944" y="4038537"/>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9826A8BE-AE06-6B46-64FB-2DDD9D77B4CC}"/>
              </a:ext>
            </a:extLst>
          </p:cNvPr>
          <p:cNvCxnSpPr/>
          <p:nvPr/>
        </p:nvCxnSpPr>
        <p:spPr>
          <a:xfrm>
            <a:off x="11241742"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2AB27F91-AACA-2176-D743-304E3D4EB54B}"/>
              </a:ext>
            </a:extLst>
          </p:cNvPr>
          <p:cNvSpPr txBox="1"/>
          <p:nvPr/>
        </p:nvSpPr>
        <p:spPr>
          <a:xfrm>
            <a:off x="3545541" y="5199413"/>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0CD4E4E-EB9B-FB68-EFFA-3B606E13F489}"/>
                  </a:ext>
                </a:extLst>
              </p:cNvPr>
              <p:cNvSpPr txBox="1"/>
              <p:nvPr/>
            </p:nvSpPr>
            <p:spPr>
              <a:xfrm>
                <a:off x="3285565" y="4727842"/>
                <a:ext cx="38548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oMath>
                  </m:oMathPara>
                </a14:m>
                <a:endParaRPr lang="en-US" sz="1400" dirty="0"/>
              </a:p>
            </p:txBody>
          </p:sp>
        </mc:Choice>
        <mc:Fallback xmlns="">
          <p:sp>
            <p:nvSpPr>
              <p:cNvPr id="24" name="TextBox 23">
                <a:extLst>
                  <a:ext uri="{FF2B5EF4-FFF2-40B4-BE49-F238E27FC236}">
                    <a16:creationId xmlns:a16="http://schemas.microsoft.com/office/drawing/2014/main" id="{F0CD4E4E-EB9B-FB68-EFFA-3B606E13F489}"/>
                  </a:ext>
                </a:extLst>
              </p:cNvPr>
              <p:cNvSpPr txBox="1">
                <a:spLocks noRot="1" noChangeAspect="1" noMove="1" noResize="1" noEditPoints="1" noAdjustHandles="1" noChangeArrowheads="1" noChangeShapeType="1" noTextEdit="1"/>
              </p:cNvSpPr>
              <p:nvPr/>
            </p:nvSpPr>
            <p:spPr>
              <a:xfrm>
                <a:off x="3285565" y="4727842"/>
                <a:ext cx="385482" cy="307777"/>
              </a:xfrm>
              <a:prstGeom prst="rect">
                <a:avLst/>
              </a:prstGeom>
              <a:blipFill>
                <a:blip r:embed="rId3"/>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026D3042-531F-F7FD-3797-6A24B584C7BD}"/>
              </a:ext>
            </a:extLst>
          </p:cNvPr>
          <p:cNvSpPr txBox="1"/>
          <p:nvPr/>
        </p:nvSpPr>
        <p:spPr>
          <a:xfrm>
            <a:off x="11602573" y="5353301"/>
            <a:ext cx="699246" cy="307777"/>
          </a:xfrm>
          <a:prstGeom prst="rect">
            <a:avLst/>
          </a:prstGeom>
          <a:noFill/>
        </p:spPr>
        <p:txBody>
          <a:bodyPr wrap="square" rtlCol="0">
            <a:spAutoFit/>
          </a:bodyPr>
          <a:lstStyle/>
          <a:p>
            <a:r>
              <a:rPr lang="en-US" sz="1400" dirty="0"/>
              <a:t>lose</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030224DB-D2A8-BC8D-0BA2-7571BE61CE5D}"/>
                  </a:ext>
                </a:extLst>
              </p:cNvPr>
              <p:cNvSpPr txBox="1"/>
              <p:nvPr/>
            </p:nvSpPr>
            <p:spPr>
              <a:xfrm>
                <a:off x="11342597" y="4881730"/>
                <a:ext cx="38548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oMath>
                  </m:oMathPara>
                </a14:m>
                <a:endParaRPr lang="en-US" sz="1400" dirty="0"/>
              </a:p>
            </p:txBody>
          </p:sp>
        </mc:Choice>
        <mc:Fallback xmlns="">
          <p:sp>
            <p:nvSpPr>
              <p:cNvPr id="26" name="TextBox 25">
                <a:extLst>
                  <a:ext uri="{FF2B5EF4-FFF2-40B4-BE49-F238E27FC236}">
                    <a16:creationId xmlns:a16="http://schemas.microsoft.com/office/drawing/2014/main" id="{030224DB-D2A8-BC8D-0BA2-7571BE61CE5D}"/>
                  </a:ext>
                </a:extLst>
              </p:cNvPr>
              <p:cNvSpPr txBox="1">
                <a:spLocks noRot="1" noChangeAspect="1" noMove="1" noResize="1" noEditPoints="1" noAdjustHandles="1" noChangeArrowheads="1" noChangeShapeType="1" noTextEdit="1"/>
              </p:cNvSpPr>
              <p:nvPr/>
            </p:nvSpPr>
            <p:spPr>
              <a:xfrm>
                <a:off x="11342597" y="4881730"/>
                <a:ext cx="385482" cy="307777"/>
              </a:xfrm>
              <a:prstGeom prst="rect">
                <a:avLst/>
              </a:prstGeom>
              <a:blipFill>
                <a:blip r:embed="rId3"/>
                <a:stretch>
                  <a:fillRect/>
                </a:stretch>
              </a:blipFill>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FBA2A530-8354-6948-2082-9BE84EBFC893}"/>
              </a:ext>
            </a:extLst>
          </p:cNvPr>
          <p:cNvCxnSpPr/>
          <p:nvPr/>
        </p:nvCxnSpPr>
        <p:spPr>
          <a:xfrm>
            <a:off x="4164107" y="5897108"/>
            <a:ext cx="196327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5F1071F-2F22-6CE6-3245-CD34F4841CAD}"/>
              </a:ext>
            </a:extLst>
          </p:cNvPr>
          <p:cNvCxnSpPr>
            <a:cxnSpLocks/>
          </p:cNvCxnSpPr>
          <p:nvPr/>
        </p:nvCxnSpPr>
        <p:spPr>
          <a:xfrm>
            <a:off x="6127378" y="5386120"/>
            <a:ext cx="3285566"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B5538E68-56D1-4335-B931-08DBF0C3A93C}"/>
              </a:ext>
            </a:extLst>
          </p:cNvPr>
          <p:cNvCxnSpPr>
            <a:cxnSpLocks/>
          </p:cNvCxnSpPr>
          <p:nvPr/>
        </p:nvCxnSpPr>
        <p:spPr>
          <a:xfrm>
            <a:off x="9412944" y="4881730"/>
            <a:ext cx="182879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B58AB155-FABA-F552-1FEB-F9420009B65D}"/>
              </a:ext>
            </a:extLst>
          </p:cNvPr>
          <p:cNvSpPr txBox="1"/>
          <p:nvPr/>
        </p:nvSpPr>
        <p:spPr>
          <a:xfrm>
            <a:off x="4782670" y="4911672"/>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5CEE9035-51B9-8930-1CE9-634149E006D6}"/>
                  </a:ext>
                </a:extLst>
              </p:cNvPr>
              <p:cNvSpPr txBox="1"/>
              <p:nvPr/>
            </p:nvSpPr>
            <p:spPr>
              <a:xfrm>
                <a:off x="4522694" y="4440101"/>
                <a:ext cx="385482" cy="3553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3</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34" name="TextBox 33">
                <a:extLst>
                  <a:ext uri="{FF2B5EF4-FFF2-40B4-BE49-F238E27FC236}">
                    <a16:creationId xmlns:a16="http://schemas.microsoft.com/office/drawing/2014/main" id="{5CEE9035-51B9-8930-1CE9-634149E006D6}"/>
                  </a:ext>
                </a:extLst>
              </p:cNvPr>
              <p:cNvSpPr txBox="1">
                <a:spLocks noRot="1" noChangeAspect="1" noMove="1" noResize="1" noEditPoints="1" noAdjustHandles="1" noChangeArrowheads="1" noChangeShapeType="1" noTextEdit="1"/>
              </p:cNvSpPr>
              <p:nvPr/>
            </p:nvSpPr>
            <p:spPr>
              <a:xfrm>
                <a:off x="4522694" y="4440101"/>
                <a:ext cx="385482" cy="3553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5D8CBB2-0A5B-8774-FBC3-D132EC958455}"/>
                  </a:ext>
                </a:extLst>
              </p:cNvPr>
              <p:cNvSpPr txBox="1"/>
              <p:nvPr/>
            </p:nvSpPr>
            <p:spPr>
              <a:xfrm>
                <a:off x="4486836" y="6046453"/>
                <a:ext cx="385482" cy="3434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35" name="TextBox 34">
                <a:extLst>
                  <a:ext uri="{FF2B5EF4-FFF2-40B4-BE49-F238E27FC236}">
                    <a16:creationId xmlns:a16="http://schemas.microsoft.com/office/drawing/2014/main" id="{E5D8CBB2-0A5B-8774-FBC3-D132EC958455}"/>
                  </a:ext>
                </a:extLst>
              </p:cNvPr>
              <p:cNvSpPr txBox="1">
                <a:spLocks noRot="1" noChangeAspect="1" noMove="1" noResize="1" noEditPoints="1" noAdjustHandles="1" noChangeArrowheads="1" noChangeShapeType="1" noTextEdit="1"/>
              </p:cNvSpPr>
              <p:nvPr/>
            </p:nvSpPr>
            <p:spPr>
              <a:xfrm>
                <a:off x="4486836" y="6046453"/>
                <a:ext cx="385482" cy="343427"/>
              </a:xfrm>
              <a:prstGeom prst="rect">
                <a:avLst/>
              </a:prstGeom>
              <a:blipFill>
                <a:blip r:embed="rId5"/>
                <a:stretch>
                  <a:fillRect/>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343C12B1-4F9A-197B-3BD0-BFD36A707084}"/>
              </a:ext>
            </a:extLst>
          </p:cNvPr>
          <p:cNvSpPr txBox="1"/>
          <p:nvPr/>
        </p:nvSpPr>
        <p:spPr>
          <a:xfrm>
            <a:off x="5127812" y="6236515"/>
            <a:ext cx="699246" cy="307777"/>
          </a:xfrm>
          <a:prstGeom prst="rect">
            <a:avLst/>
          </a:prstGeom>
          <a:noFill/>
        </p:spPr>
        <p:txBody>
          <a:bodyPr wrap="square" rtlCol="0">
            <a:spAutoFit/>
          </a:bodyPr>
          <a:lstStyle/>
          <a:p>
            <a:r>
              <a:rPr lang="en-US" sz="1400" dirty="0"/>
              <a:t>lose</a:t>
            </a:r>
          </a:p>
        </p:txBody>
      </p:sp>
      <p:sp>
        <p:nvSpPr>
          <p:cNvPr id="37" name="TextBox 36">
            <a:extLst>
              <a:ext uri="{FF2B5EF4-FFF2-40B4-BE49-F238E27FC236}">
                <a16:creationId xmlns:a16="http://schemas.microsoft.com/office/drawing/2014/main" id="{4E81074A-EB68-6939-2E65-49F625ABE429}"/>
              </a:ext>
            </a:extLst>
          </p:cNvPr>
          <p:cNvSpPr txBox="1"/>
          <p:nvPr/>
        </p:nvSpPr>
        <p:spPr>
          <a:xfrm>
            <a:off x="7292788" y="4900718"/>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2206102F-3483-D4E9-5D57-415EC006D9BE}"/>
                  </a:ext>
                </a:extLst>
              </p:cNvPr>
              <p:cNvSpPr txBox="1"/>
              <p:nvPr/>
            </p:nvSpPr>
            <p:spPr>
              <a:xfrm>
                <a:off x="6181162" y="4441756"/>
                <a:ext cx="385482" cy="3549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den>
                          </m:f>
                        </m:e>
                      </m:box>
                    </m:oMath>
                  </m:oMathPara>
                </a14:m>
                <a:endParaRPr lang="en-US" sz="1400" dirty="0"/>
              </a:p>
            </p:txBody>
          </p:sp>
        </mc:Choice>
        <mc:Fallback xmlns="">
          <p:sp>
            <p:nvSpPr>
              <p:cNvPr id="38" name="TextBox 37">
                <a:extLst>
                  <a:ext uri="{FF2B5EF4-FFF2-40B4-BE49-F238E27FC236}">
                    <a16:creationId xmlns:a16="http://schemas.microsoft.com/office/drawing/2014/main" id="{2206102F-3483-D4E9-5D57-415EC006D9BE}"/>
                  </a:ext>
                </a:extLst>
              </p:cNvPr>
              <p:cNvSpPr txBox="1">
                <a:spLocks noRot="1" noChangeAspect="1" noMove="1" noResize="1" noEditPoints="1" noAdjustHandles="1" noChangeArrowheads="1" noChangeShapeType="1" noTextEdit="1"/>
              </p:cNvSpPr>
              <p:nvPr/>
            </p:nvSpPr>
            <p:spPr>
              <a:xfrm>
                <a:off x="6181162" y="4441756"/>
                <a:ext cx="385482" cy="35490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E724295-EDCB-85B9-3885-C6658EC30F3F}"/>
                  </a:ext>
                </a:extLst>
              </p:cNvPr>
              <p:cNvSpPr txBox="1"/>
              <p:nvPr/>
            </p:nvSpPr>
            <p:spPr>
              <a:xfrm>
                <a:off x="6145304" y="6048108"/>
                <a:ext cx="385482" cy="3549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den>
                          </m:f>
                        </m:e>
                      </m:box>
                    </m:oMath>
                  </m:oMathPara>
                </a14:m>
                <a:endParaRPr lang="en-US" sz="1400" dirty="0"/>
              </a:p>
            </p:txBody>
          </p:sp>
        </mc:Choice>
        <mc:Fallback xmlns="">
          <p:sp>
            <p:nvSpPr>
              <p:cNvPr id="39" name="TextBox 38">
                <a:extLst>
                  <a:ext uri="{FF2B5EF4-FFF2-40B4-BE49-F238E27FC236}">
                    <a16:creationId xmlns:a16="http://schemas.microsoft.com/office/drawing/2014/main" id="{EE724295-EDCB-85B9-3885-C6658EC30F3F}"/>
                  </a:ext>
                </a:extLst>
              </p:cNvPr>
              <p:cNvSpPr txBox="1">
                <a:spLocks noRot="1" noChangeAspect="1" noMove="1" noResize="1" noEditPoints="1" noAdjustHandles="1" noChangeArrowheads="1" noChangeShapeType="1" noTextEdit="1"/>
              </p:cNvSpPr>
              <p:nvPr/>
            </p:nvSpPr>
            <p:spPr>
              <a:xfrm>
                <a:off x="6145304" y="6048108"/>
                <a:ext cx="385482" cy="354905"/>
              </a:xfrm>
              <a:prstGeom prst="rect">
                <a:avLst/>
              </a:prstGeom>
              <a:blipFill>
                <a:blip r:embed="rId7"/>
                <a:stretch>
                  <a:fillRect/>
                </a:stretch>
              </a:blipFill>
            </p:spPr>
            <p:txBody>
              <a:bodyPr/>
              <a:lstStyle/>
              <a:p>
                <a:r>
                  <a:rPr lang="en-US">
                    <a:noFill/>
                  </a:rPr>
                  <a:t> </a:t>
                </a:r>
              </a:p>
            </p:txBody>
          </p:sp>
        </mc:Fallback>
      </mc:AlternateContent>
      <p:sp>
        <p:nvSpPr>
          <p:cNvPr id="40" name="TextBox 39">
            <a:extLst>
              <a:ext uri="{FF2B5EF4-FFF2-40B4-BE49-F238E27FC236}">
                <a16:creationId xmlns:a16="http://schemas.microsoft.com/office/drawing/2014/main" id="{DB60D601-4540-76F6-2E83-48D4D539F5AE}"/>
              </a:ext>
            </a:extLst>
          </p:cNvPr>
          <p:cNvSpPr txBox="1"/>
          <p:nvPr/>
        </p:nvSpPr>
        <p:spPr>
          <a:xfrm>
            <a:off x="7637930" y="6225561"/>
            <a:ext cx="699246" cy="307777"/>
          </a:xfrm>
          <a:prstGeom prst="rect">
            <a:avLst/>
          </a:prstGeom>
          <a:noFill/>
        </p:spPr>
        <p:txBody>
          <a:bodyPr wrap="square" rtlCol="0">
            <a:spAutoFit/>
          </a:bodyPr>
          <a:lstStyle/>
          <a:p>
            <a:r>
              <a:rPr lang="en-US" sz="1400" dirty="0"/>
              <a:t>lose</a:t>
            </a:r>
          </a:p>
        </p:txBody>
      </p:sp>
      <p:sp>
        <p:nvSpPr>
          <p:cNvPr id="41" name="TextBox 40">
            <a:extLst>
              <a:ext uri="{FF2B5EF4-FFF2-40B4-BE49-F238E27FC236}">
                <a16:creationId xmlns:a16="http://schemas.microsoft.com/office/drawing/2014/main" id="{69B92E97-5209-609E-B757-AB8BFA543792}"/>
              </a:ext>
            </a:extLst>
          </p:cNvPr>
          <p:cNvSpPr txBox="1"/>
          <p:nvPr/>
        </p:nvSpPr>
        <p:spPr>
          <a:xfrm>
            <a:off x="10591799" y="4369207"/>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7DB6055-38C6-39E1-E713-8B4AE38E526E}"/>
                  </a:ext>
                </a:extLst>
              </p:cNvPr>
              <p:cNvSpPr txBox="1"/>
              <p:nvPr/>
            </p:nvSpPr>
            <p:spPr>
              <a:xfrm>
                <a:off x="10043460" y="5620255"/>
                <a:ext cx="385482" cy="3553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3</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42" name="TextBox 41">
                <a:extLst>
                  <a:ext uri="{FF2B5EF4-FFF2-40B4-BE49-F238E27FC236}">
                    <a16:creationId xmlns:a16="http://schemas.microsoft.com/office/drawing/2014/main" id="{47DB6055-38C6-39E1-E713-8B4AE38E526E}"/>
                  </a:ext>
                </a:extLst>
              </p:cNvPr>
              <p:cNvSpPr txBox="1">
                <a:spLocks noRot="1" noChangeAspect="1" noMove="1" noResize="1" noEditPoints="1" noAdjustHandles="1" noChangeArrowheads="1" noChangeShapeType="1" noTextEdit="1"/>
              </p:cNvSpPr>
              <p:nvPr/>
            </p:nvSpPr>
            <p:spPr>
              <a:xfrm>
                <a:off x="10043460" y="5620255"/>
                <a:ext cx="385482" cy="3553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7DB2255-7881-DAB8-0220-2DF2102CD69D}"/>
                  </a:ext>
                </a:extLst>
              </p:cNvPr>
              <p:cNvSpPr txBox="1"/>
              <p:nvPr/>
            </p:nvSpPr>
            <p:spPr>
              <a:xfrm>
                <a:off x="10102478" y="4218922"/>
                <a:ext cx="385482" cy="3434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43" name="TextBox 42">
                <a:extLst>
                  <a:ext uri="{FF2B5EF4-FFF2-40B4-BE49-F238E27FC236}">
                    <a16:creationId xmlns:a16="http://schemas.microsoft.com/office/drawing/2014/main" id="{B7DB2255-7881-DAB8-0220-2DF2102CD69D}"/>
                  </a:ext>
                </a:extLst>
              </p:cNvPr>
              <p:cNvSpPr txBox="1">
                <a:spLocks noRot="1" noChangeAspect="1" noMove="1" noResize="1" noEditPoints="1" noAdjustHandles="1" noChangeArrowheads="1" noChangeShapeType="1" noTextEdit="1"/>
              </p:cNvSpPr>
              <p:nvPr/>
            </p:nvSpPr>
            <p:spPr>
              <a:xfrm>
                <a:off x="10102478" y="4218922"/>
                <a:ext cx="385482" cy="343427"/>
              </a:xfrm>
              <a:prstGeom prst="rect">
                <a:avLst/>
              </a:prstGeom>
              <a:blipFill>
                <a:blip r:embed="rId9"/>
                <a:stretch>
                  <a:fillRect/>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A0B03862-ED61-0F5B-5525-0C2C27958B2E}"/>
              </a:ext>
            </a:extLst>
          </p:cNvPr>
          <p:cNvSpPr txBox="1"/>
          <p:nvPr/>
        </p:nvSpPr>
        <p:spPr>
          <a:xfrm>
            <a:off x="10399059" y="5743219"/>
            <a:ext cx="699246" cy="307777"/>
          </a:xfrm>
          <a:prstGeom prst="rect">
            <a:avLst/>
          </a:prstGeom>
          <a:noFill/>
        </p:spPr>
        <p:txBody>
          <a:bodyPr wrap="square" rtlCol="0">
            <a:spAutoFit/>
          </a:bodyPr>
          <a:lstStyle/>
          <a:p>
            <a:r>
              <a:rPr lang="en-US" sz="1400" dirty="0"/>
              <a:t>lose</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5FCA962-E760-F6B4-920A-FE7F206B0D31}"/>
                  </a:ext>
                </a:extLst>
              </p:cNvPr>
              <p:cNvSpPr txBox="1"/>
              <p:nvPr/>
            </p:nvSpPr>
            <p:spPr>
              <a:xfrm>
                <a:off x="7510185" y="3676779"/>
                <a:ext cx="385482" cy="3544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4</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27" name="TextBox 26">
                <a:extLst>
                  <a:ext uri="{FF2B5EF4-FFF2-40B4-BE49-F238E27FC236}">
                    <a16:creationId xmlns:a16="http://schemas.microsoft.com/office/drawing/2014/main" id="{95FCA962-E760-F6B4-920A-FE7F206B0D31}"/>
                  </a:ext>
                </a:extLst>
              </p:cNvPr>
              <p:cNvSpPr txBox="1">
                <a:spLocks noRot="1" noChangeAspect="1" noMove="1" noResize="1" noEditPoints="1" noAdjustHandles="1" noChangeArrowheads="1" noChangeShapeType="1" noTextEdit="1"/>
              </p:cNvSpPr>
              <p:nvPr/>
            </p:nvSpPr>
            <p:spPr>
              <a:xfrm>
                <a:off x="7510185" y="3676779"/>
                <a:ext cx="385482" cy="35445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A80ECB5-63B0-991B-6B50-77AF14145004}"/>
                  </a:ext>
                </a:extLst>
              </p:cNvPr>
              <p:cNvSpPr txBox="1"/>
              <p:nvPr/>
            </p:nvSpPr>
            <p:spPr>
              <a:xfrm>
                <a:off x="10192127" y="3598317"/>
                <a:ext cx="385482" cy="345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2</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31" name="TextBox 30">
                <a:extLst>
                  <a:ext uri="{FF2B5EF4-FFF2-40B4-BE49-F238E27FC236}">
                    <a16:creationId xmlns:a16="http://schemas.microsoft.com/office/drawing/2014/main" id="{DA80ECB5-63B0-991B-6B50-77AF14145004}"/>
                  </a:ext>
                </a:extLst>
              </p:cNvPr>
              <p:cNvSpPr txBox="1">
                <a:spLocks noRot="1" noChangeAspect="1" noMove="1" noResize="1" noEditPoints="1" noAdjustHandles="1" noChangeArrowheads="1" noChangeShapeType="1" noTextEdit="1"/>
              </p:cNvSpPr>
              <p:nvPr/>
            </p:nvSpPr>
            <p:spPr>
              <a:xfrm>
                <a:off x="10192127" y="3598317"/>
                <a:ext cx="385482" cy="345223"/>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9DE6951-62EF-0220-1315-16D1635FC945}"/>
                  </a:ext>
                </a:extLst>
              </p:cNvPr>
              <p:cNvSpPr txBox="1"/>
              <p:nvPr/>
            </p:nvSpPr>
            <p:spPr>
              <a:xfrm>
                <a:off x="11333634" y="3613280"/>
                <a:ext cx="385482" cy="3447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45" name="TextBox 44">
                <a:extLst>
                  <a:ext uri="{FF2B5EF4-FFF2-40B4-BE49-F238E27FC236}">
                    <a16:creationId xmlns:a16="http://schemas.microsoft.com/office/drawing/2014/main" id="{D9DE6951-62EF-0220-1315-16D1635FC945}"/>
                  </a:ext>
                </a:extLst>
              </p:cNvPr>
              <p:cNvSpPr txBox="1">
                <a:spLocks noRot="1" noChangeAspect="1" noMove="1" noResize="1" noEditPoints="1" noAdjustHandles="1" noChangeArrowheads="1" noChangeShapeType="1" noTextEdit="1"/>
              </p:cNvSpPr>
              <p:nvPr/>
            </p:nvSpPr>
            <p:spPr>
              <a:xfrm>
                <a:off x="11333634" y="3613280"/>
                <a:ext cx="385482" cy="34477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F8422AC-AA79-57E8-2F16-4BF3D87AE379}"/>
                  </a:ext>
                </a:extLst>
              </p:cNvPr>
              <p:cNvSpPr txBox="1"/>
              <p:nvPr/>
            </p:nvSpPr>
            <p:spPr>
              <a:xfrm>
                <a:off x="3657601" y="3637203"/>
                <a:ext cx="385482" cy="3447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46" name="TextBox 45">
                <a:extLst>
                  <a:ext uri="{FF2B5EF4-FFF2-40B4-BE49-F238E27FC236}">
                    <a16:creationId xmlns:a16="http://schemas.microsoft.com/office/drawing/2014/main" id="{DF8422AC-AA79-57E8-2F16-4BF3D87AE379}"/>
                  </a:ext>
                </a:extLst>
              </p:cNvPr>
              <p:cNvSpPr txBox="1">
                <a:spLocks noRot="1" noChangeAspect="1" noMove="1" noResize="1" noEditPoints="1" noAdjustHandles="1" noChangeArrowheads="1" noChangeShapeType="1" noTextEdit="1"/>
              </p:cNvSpPr>
              <p:nvPr/>
            </p:nvSpPr>
            <p:spPr>
              <a:xfrm>
                <a:off x="3657601" y="3637203"/>
                <a:ext cx="385482" cy="34477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8C8D005-6C1A-EFBA-2B99-B3221676D6C0}"/>
                  </a:ext>
                </a:extLst>
              </p:cNvPr>
              <p:cNvSpPr txBox="1"/>
              <p:nvPr/>
            </p:nvSpPr>
            <p:spPr>
              <a:xfrm>
                <a:off x="4946654" y="3625834"/>
                <a:ext cx="385482" cy="345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2</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47" name="TextBox 46">
                <a:extLst>
                  <a:ext uri="{FF2B5EF4-FFF2-40B4-BE49-F238E27FC236}">
                    <a16:creationId xmlns:a16="http://schemas.microsoft.com/office/drawing/2014/main" id="{68C8D005-6C1A-EFBA-2B99-B3221676D6C0}"/>
                  </a:ext>
                </a:extLst>
              </p:cNvPr>
              <p:cNvSpPr txBox="1">
                <a:spLocks noRot="1" noChangeAspect="1" noMove="1" noResize="1" noEditPoints="1" noAdjustHandles="1" noChangeArrowheads="1" noChangeShapeType="1" noTextEdit="1"/>
              </p:cNvSpPr>
              <p:nvPr/>
            </p:nvSpPr>
            <p:spPr>
              <a:xfrm>
                <a:off x="4946654" y="3625834"/>
                <a:ext cx="385482" cy="345223"/>
              </a:xfrm>
              <a:prstGeom prst="rect">
                <a:avLst/>
              </a:prstGeom>
              <a:blipFill>
                <a:blip r:embed="rId13"/>
                <a:stretch>
                  <a:fillRect/>
                </a:stretch>
              </a:blipFill>
            </p:spPr>
            <p:txBody>
              <a:bodyPr/>
              <a:lstStyle/>
              <a:p>
                <a:r>
                  <a:rPr lang="en-US">
                    <a:noFill/>
                  </a:rPr>
                  <a:t> </a:t>
                </a:r>
              </a:p>
            </p:txBody>
          </p:sp>
        </mc:Fallback>
      </mc:AlternateContent>
      <p:sp>
        <p:nvSpPr>
          <p:cNvPr id="50" name="TextBox 49">
            <a:extLst>
              <a:ext uri="{FF2B5EF4-FFF2-40B4-BE49-F238E27FC236}">
                <a16:creationId xmlns:a16="http://schemas.microsoft.com/office/drawing/2014/main" id="{B0D0C29F-A8A3-8A47-9ED4-1A87B1FF4AEA}"/>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
        <p:nvSpPr>
          <p:cNvPr id="48" name="TextBox 47">
            <a:extLst>
              <a:ext uri="{FF2B5EF4-FFF2-40B4-BE49-F238E27FC236}">
                <a16:creationId xmlns:a16="http://schemas.microsoft.com/office/drawing/2014/main" id="{1A6E1EA7-3084-0B25-BBBF-55CF40F3AD40}"/>
              </a:ext>
            </a:extLst>
          </p:cNvPr>
          <p:cNvSpPr txBox="1"/>
          <p:nvPr/>
        </p:nvSpPr>
        <p:spPr>
          <a:xfrm rot="19317379">
            <a:off x="1038831" y="3426005"/>
            <a:ext cx="3142506" cy="58477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sz="1600" dirty="0"/>
              <a:t>calculate the marginal probability that Faith </a:t>
            </a:r>
            <a:r>
              <a:rPr lang="en-US" sz="1600" b="1" dirty="0"/>
              <a:t>wins</a:t>
            </a:r>
            <a:r>
              <a:rPr lang="en-US" sz="1600" dirty="0"/>
              <a:t> if she runs.</a:t>
            </a:r>
          </a:p>
        </p:txBody>
      </p:sp>
      <p:sp>
        <p:nvSpPr>
          <p:cNvPr id="49" name="TextBox 48">
            <a:extLst>
              <a:ext uri="{FF2B5EF4-FFF2-40B4-BE49-F238E27FC236}">
                <a16:creationId xmlns:a16="http://schemas.microsoft.com/office/drawing/2014/main" id="{23CE641C-0581-3E15-3176-A077EEA2F36F}"/>
              </a:ext>
            </a:extLst>
          </p:cNvPr>
          <p:cNvSpPr txBox="1"/>
          <p:nvPr/>
        </p:nvSpPr>
        <p:spPr>
          <a:xfrm rot="19317379">
            <a:off x="195031" y="5306831"/>
            <a:ext cx="3142506" cy="58477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1600" dirty="0"/>
              <a:t>and the marginal probability that Faith </a:t>
            </a:r>
            <a:r>
              <a:rPr lang="en-US" sz="1600" b="1" dirty="0"/>
              <a:t>loses</a:t>
            </a:r>
            <a:r>
              <a:rPr lang="en-US" sz="1600" dirty="0"/>
              <a:t> if she runs.</a:t>
            </a:r>
          </a:p>
        </p:txBody>
      </p:sp>
    </p:spTree>
    <p:extLst>
      <p:ext uri="{BB962C8B-B14F-4D97-AF65-F5344CB8AC3E}">
        <p14:creationId xmlns:p14="http://schemas.microsoft.com/office/powerpoint/2010/main" val="3784497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08ECE-14F7-DC9C-F6ED-B1537016FB2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5DE57C6-D2D5-174D-F020-027AD0DA0577}"/>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1AB80CF1-D866-B625-938B-546EF76026AE}"/>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5AFFF2DE-571C-B55D-157C-FD17BE544DC8}"/>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D863A5A1-133A-A149-33AB-B1C23D1A0F75}"/>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416DE67E-B297-4D61-F0FD-A860642C5234}"/>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A5301E1B-CD06-82F0-5E8E-FDA560576D1A}"/>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F4D0FBC8-74D8-DC61-D97A-3F4F99C7493D}"/>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214326D-55D7-D164-6194-4A566D38B796}"/>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E214326D-55D7-D164-6194-4A566D38B796}"/>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4B744C08-8A84-12FB-56B8-21EB7B1FBB83}"/>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p:sp>
        <p:nvSpPr>
          <p:cNvPr id="9" name="Rectangle 8">
            <a:extLst>
              <a:ext uri="{FF2B5EF4-FFF2-40B4-BE49-F238E27FC236}">
                <a16:creationId xmlns:a16="http://schemas.microsoft.com/office/drawing/2014/main" id="{EAA4C0E5-F39A-7B45-3CE0-A252FD8CB206}"/>
              </a:ext>
            </a:extLst>
          </p:cNvPr>
          <p:cNvSpPr/>
          <p:nvPr/>
        </p:nvSpPr>
        <p:spPr>
          <a:xfrm>
            <a:off x="3352800" y="4039524"/>
            <a:ext cx="8695766" cy="27377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F4AB82D-140E-213A-91BC-A53931FE8F51}"/>
              </a:ext>
            </a:extLst>
          </p:cNvPr>
          <p:cNvSpPr txBox="1"/>
          <p:nvPr/>
        </p:nvSpPr>
        <p:spPr>
          <a:xfrm>
            <a:off x="5728448" y="3090725"/>
            <a:ext cx="3594847" cy="307777"/>
          </a:xfrm>
          <a:prstGeom prst="rect">
            <a:avLst/>
          </a:prstGeom>
          <a:noFill/>
        </p:spPr>
        <p:txBody>
          <a:bodyPr wrap="square" rtlCol="0">
            <a:spAutoFit/>
          </a:bodyPr>
          <a:lstStyle/>
          <a:p>
            <a:pPr algn="ctr"/>
            <a:r>
              <a:rPr lang="en-US" sz="1400" dirty="0"/>
              <a:t>number &amp; quality of other persons running</a:t>
            </a:r>
          </a:p>
        </p:txBody>
      </p:sp>
      <p:sp>
        <p:nvSpPr>
          <p:cNvPr id="11" name="TextBox 10">
            <a:extLst>
              <a:ext uri="{FF2B5EF4-FFF2-40B4-BE49-F238E27FC236}">
                <a16:creationId xmlns:a16="http://schemas.microsoft.com/office/drawing/2014/main" id="{4859C36E-5D3F-DB87-A035-3B79FD0657BC}"/>
              </a:ext>
            </a:extLst>
          </p:cNvPr>
          <p:cNvSpPr txBox="1"/>
          <p:nvPr/>
        </p:nvSpPr>
        <p:spPr>
          <a:xfrm rot="16200000">
            <a:off x="2501156" y="5124655"/>
            <a:ext cx="1237128" cy="307777"/>
          </a:xfrm>
          <a:prstGeom prst="rect">
            <a:avLst/>
          </a:prstGeom>
          <a:noFill/>
        </p:spPr>
        <p:txBody>
          <a:bodyPr wrap="square" rtlCol="0">
            <a:spAutoFit/>
          </a:bodyPr>
          <a:lstStyle/>
          <a:p>
            <a:pPr algn="ctr"/>
            <a:r>
              <a:rPr lang="en-US" sz="1400" dirty="0"/>
              <a:t>win/lose</a:t>
            </a:r>
          </a:p>
        </p:txBody>
      </p:sp>
      <p:sp>
        <p:nvSpPr>
          <p:cNvPr id="12" name="TextBox 11">
            <a:extLst>
              <a:ext uri="{FF2B5EF4-FFF2-40B4-BE49-F238E27FC236}">
                <a16:creationId xmlns:a16="http://schemas.microsoft.com/office/drawing/2014/main" id="{5AC9B6CC-F5F1-928E-2A65-600A11E18900}"/>
              </a:ext>
            </a:extLst>
          </p:cNvPr>
          <p:cNvSpPr txBox="1"/>
          <p:nvPr/>
        </p:nvSpPr>
        <p:spPr>
          <a:xfrm>
            <a:off x="11389660" y="3361225"/>
            <a:ext cx="502023" cy="338554"/>
          </a:xfrm>
          <a:prstGeom prst="rect">
            <a:avLst/>
          </a:prstGeom>
          <a:noFill/>
        </p:spPr>
        <p:txBody>
          <a:bodyPr wrap="square" rtlCol="0">
            <a:spAutoFit/>
          </a:bodyPr>
          <a:lstStyle/>
          <a:p>
            <a:r>
              <a:rPr lang="en-US" sz="1600" dirty="0"/>
              <a:t>2 H</a:t>
            </a:r>
          </a:p>
        </p:txBody>
      </p:sp>
      <p:sp>
        <p:nvSpPr>
          <p:cNvPr id="13" name="TextBox 12">
            <a:extLst>
              <a:ext uri="{FF2B5EF4-FFF2-40B4-BE49-F238E27FC236}">
                <a16:creationId xmlns:a16="http://schemas.microsoft.com/office/drawing/2014/main" id="{1FDA3362-E491-D093-F64A-94D9BA1B62D2}"/>
              </a:ext>
            </a:extLst>
          </p:cNvPr>
          <p:cNvSpPr txBox="1"/>
          <p:nvPr/>
        </p:nvSpPr>
        <p:spPr>
          <a:xfrm>
            <a:off x="10102478" y="3328151"/>
            <a:ext cx="502023" cy="338554"/>
          </a:xfrm>
          <a:prstGeom prst="rect">
            <a:avLst/>
          </a:prstGeom>
          <a:noFill/>
        </p:spPr>
        <p:txBody>
          <a:bodyPr wrap="square" rtlCol="0">
            <a:spAutoFit/>
          </a:bodyPr>
          <a:lstStyle/>
          <a:p>
            <a:r>
              <a:rPr lang="en-US" sz="1600" dirty="0"/>
              <a:t>1 H</a:t>
            </a:r>
          </a:p>
        </p:txBody>
      </p:sp>
      <p:sp>
        <p:nvSpPr>
          <p:cNvPr id="16" name="TextBox 15">
            <a:extLst>
              <a:ext uri="{FF2B5EF4-FFF2-40B4-BE49-F238E27FC236}">
                <a16:creationId xmlns:a16="http://schemas.microsoft.com/office/drawing/2014/main" id="{6DD2B875-C81E-BAC5-FD56-42B8902FF4B1}"/>
              </a:ext>
            </a:extLst>
          </p:cNvPr>
          <p:cNvSpPr txBox="1"/>
          <p:nvPr/>
        </p:nvSpPr>
        <p:spPr>
          <a:xfrm>
            <a:off x="7355543" y="3359260"/>
            <a:ext cx="793376" cy="338554"/>
          </a:xfrm>
          <a:prstGeom prst="rect">
            <a:avLst/>
          </a:prstGeom>
          <a:noFill/>
        </p:spPr>
        <p:txBody>
          <a:bodyPr wrap="square" rtlCol="0">
            <a:spAutoFit/>
          </a:bodyPr>
          <a:lstStyle/>
          <a:p>
            <a:r>
              <a:rPr lang="en-US" sz="1600" dirty="0"/>
              <a:t>1 H, 1L</a:t>
            </a:r>
          </a:p>
        </p:txBody>
      </p:sp>
      <p:sp>
        <p:nvSpPr>
          <p:cNvPr id="17" name="TextBox 16">
            <a:extLst>
              <a:ext uri="{FF2B5EF4-FFF2-40B4-BE49-F238E27FC236}">
                <a16:creationId xmlns:a16="http://schemas.microsoft.com/office/drawing/2014/main" id="{10AC804E-C887-68FF-9FB4-C798BD82E14B}"/>
              </a:ext>
            </a:extLst>
          </p:cNvPr>
          <p:cNvSpPr txBox="1"/>
          <p:nvPr/>
        </p:nvSpPr>
        <p:spPr>
          <a:xfrm>
            <a:off x="4896224" y="3328291"/>
            <a:ext cx="528918" cy="338554"/>
          </a:xfrm>
          <a:prstGeom prst="rect">
            <a:avLst/>
          </a:prstGeom>
          <a:noFill/>
        </p:spPr>
        <p:txBody>
          <a:bodyPr wrap="square" rtlCol="0">
            <a:spAutoFit/>
          </a:bodyPr>
          <a:lstStyle/>
          <a:p>
            <a:r>
              <a:rPr lang="en-US" sz="1600" dirty="0"/>
              <a:t> 1L</a:t>
            </a:r>
          </a:p>
        </p:txBody>
      </p:sp>
      <p:sp>
        <p:nvSpPr>
          <p:cNvPr id="18" name="TextBox 17">
            <a:extLst>
              <a:ext uri="{FF2B5EF4-FFF2-40B4-BE49-F238E27FC236}">
                <a16:creationId xmlns:a16="http://schemas.microsoft.com/office/drawing/2014/main" id="{EEA0BD07-B658-50BE-D2DF-E89C5B60F224}"/>
              </a:ext>
            </a:extLst>
          </p:cNvPr>
          <p:cNvSpPr txBox="1"/>
          <p:nvPr/>
        </p:nvSpPr>
        <p:spPr>
          <a:xfrm>
            <a:off x="3585883" y="3307242"/>
            <a:ext cx="528918" cy="338554"/>
          </a:xfrm>
          <a:prstGeom prst="rect">
            <a:avLst/>
          </a:prstGeom>
          <a:noFill/>
        </p:spPr>
        <p:txBody>
          <a:bodyPr wrap="square" rtlCol="0">
            <a:spAutoFit/>
          </a:bodyPr>
          <a:lstStyle/>
          <a:p>
            <a:r>
              <a:rPr lang="en-US" sz="1600" dirty="0"/>
              <a:t> 2L</a:t>
            </a:r>
          </a:p>
        </p:txBody>
      </p:sp>
      <p:cxnSp>
        <p:nvCxnSpPr>
          <p:cNvPr id="20" name="Straight Connector 19">
            <a:extLst>
              <a:ext uri="{FF2B5EF4-FFF2-40B4-BE49-F238E27FC236}">
                <a16:creationId xmlns:a16="http://schemas.microsoft.com/office/drawing/2014/main" id="{90194F94-6706-8A0A-514F-616FA1890BC7}"/>
              </a:ext>
            </a:extLst>
          </p:cNvPr>
          <p:cNvCxnSpPr/>
          <p:nvPr/>
        </p:nvCxnSpPr>
        <p:spPr>
          <a:xfrm>
            <a:off x="4164107" y="4039688"/>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8B26C8C0-AB88-DECD-9658-5BFB330FBF08}"/>
              </a:ext>
            </a:extLst>
          </p:cNvPr>
          <p:cNvCxnSpPr/>
          <p:nvPr/>
        </p:nvCxnSpPr>
        <p:spPr>
          <a:xfrm>
            <a:off x="6104965" y="4036423"/>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07311ADB-7BBA-B98D-3E67-28C325E14CE0}"/>
              </a:ext>
            </a:extLst>
          </p:cNvPr>
          <p:cNvCxnSpPr/>
          <p:nvPr/>
        </p:nvCxnSpPr>
        <p:spPr>
          <a:xfrm>
            <a:off x="9412944" y="4038537"/>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8E3DF0C6-D49E-C5A9-92CB-F13F0D6A238D}"/>
              </a:ext>
            </a:extLst>
          </p:cNvPr>
          <p:cNvCxnSpPr/>
          <p:nvPr/>
        </p:nvCxnSpPr>
        <p:spPr>
          <a:xfrm>
            <a:off x="11241742" y="4039524"/>
            <a:ext cx="0" cy="273779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4361738E-126C-A59B-F089-4041F5B50C49}"/>
              </a:ext>
            </a:extLst>
          </p:cNvPr>
          <p:cNvSpPr txBox="1"/>
          <p:nvPr/>
        </p:nvSpPr>
        <p:spPr>
          <a:xfrm>
            <a:off x="3545541" y="5199413"/>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919BE93-3CD2-34F3-64ED-DD119F7AAE1C}"/>
                  </a:ext>
                </a:extLst>
              </p:cNvPr>
              <p:cNvSpPr txBox="1"/>
              <p:nvPr/>
            </p:nvSpPr>
            <p:spPr>
              <a:xfrm>
                <a:off x="3285565" y="4727842"/>
                <a:ext cx="38548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oMath>
                  </m:oMathPara>
                </a14:m>
                <a:endParaRPr lang="en-US" sz="1400" dirty="0"/>
              </a:p>
            </p:txBody>
          </p:sp>
        </mc:Choice>
        <mc:Fallback xmlns="">
          <p:sp>
            <p:nvSpPr>
              <p:cNvPr id="24" name="TextBox 23">
                <a:extLst>
                  <a:ext uri="{FF2B5EF4-FFF2-40B4-BE49-F238E27FC236}">
                    <a16:creationId xmlns:a16="http://schemas.microsoft.com/office/drawing/2014/main" id="{0919BE93-3CD2-34F3-64ED-DD119F7AAE1C}"/>
                  </a:ext>
                </a:extLst>
              </p:cNvPr>
              <p:cNvSpPr txBox="1">
                <a:spLocks noRot="1" noChangeAspect="1" noMove="1" noResize="1" noEditPoints="1" noAdjustHandles="1" noChangeArrowheads="1" noChangeShapeType="1" noTextEdit="1"/>
              </p:cNvSpPr>
              <p:nvPr/>
            </p:nvSpPr>
            <p:spPr>
              <a:xfrm>
                <a:off x="3285565" y="4727842"/>
                <a:ext cx="385482" cy="307777"/>
              </a:xfrm>
              <a:prstGeom prst="rect">
                <a:avLst/>
              </a:prstGeom>
              <a:blipFill>
                <a:blip r:embed="rId3"/>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5130F65B-D7CA-3B42-354F-C64AB1B0C0F1}"/>
              </a:ext>
            </a:extLst>
          </p:cNvPr>
          <p:cNvSpPr txBox="1"/>
          <p:nvPr/>
        </p:nvSpPr>
        <p:spPr>
          <a:xfrm>
            <a:off x="11602573" y="5353301"/>
            <a:ext cx="699246" cy="307777"/>
          </a:xfrm>
          <a:prstGeom prst="rect">
            <a:avLst/>
          </a:prstGeom>
          <a:noFill/>
        </p:spPr>
        <p:txBody>
          <a:bodyPr wrap="square" rtlCol="0">
            <a:spAutoFit/>
          </a:bodyPr>
          <a:lstStyle/>
          <a:p>
            <a:r>
              <a:rPr lang="en-US" sz="1400" dirty="0"/>
              <a:t>lose</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7FE88D87-936B-C39D-3488-15755E56E89B}"/>
                  </a:ext>
                </a:extLst>
              </p:cNvPr>
              <p:cNvSpPr txBox="1"/>
              <p:nvPr/>
            </p:nvSpPr>
            <p:spPr>
              <a:xfrm>
                <a:off x="11342597" y="4881730"/>
                <a:ext cx="38548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1</m:t>
                      </m:r>
                    </m:oMath>
                  </m:oMathPara>
                </a14:m>
                <a:endParaRPr lang="en-US" sz="1400" dirty="0"/>
              </a:p>
            </p:txBody>
          </p:sp>
        </mc:Choice>
        <mc:Fallback xmlns="">
          <p:sp>
            <p:nvSpPr>
              <p:cNvPr id="26" name="TextBox 25">
                <a:extLst>
                  <a:ext uri="{FF2B5EF4-FFF2-40B4-BE49-F238E27FC236}">
                    <a16:creationId xmlns:a16="http://schemas.microsoft.com/office/drawing/2014/main" id="{7FE88D87-936B-C39D-3488-15755E56E89B}"/>
                  </a:ext>
                </a:extLst>
              </p:cNvPr>
              <p:cNvSpPr txBox="1">
                <a:spLocks noRot="1" noChangeAspect="1" noMove="1" noResize="1" noEditPoints="1" noAdjustHandles="1" noChangeArrowheads="1" noChangeShapeType="1" noTextEdit="1"/>
              </p:cNvSpPr>
              <p:nvPr/>
            </p:nvSpPr>
            <p:spPr>
              <a:xfrm>
                <a:off x="11342597" y="4881730"/>
                <a:ext cx="385482" cy="307777"/>
              </a:xfrm>
              <a:prstGeom prst="rect">
                <a:avLst/>
              </a:prstGeom>
              <a:blipFill>
                <a:blip r:embed="rId3"/>
                <a:stretch>
                  <a:fillRect/>
                </a:stretch>
              </a:blipFill>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1F8E9520-55F1-92D9-9BEF-D5E15E6B38C0}"/>
              </a:ext>
            </a:extLst>
          </p:cNvPr>
          <p:cNvCxnSpPr/>
          <p:nvPr/>
        </p:nvCxnSpPr>
        <p:spPr>
          <a:xfrm>
            <a:off x="4164107" y="5897108"/>
            <a:ext cx="196327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BEA4ACA-690C-5B60-9D0D-A5C3FBF0C0EB}"/>
              </a:ext>
            </a:extLst>
          </p:cNvPr>
          <p:cNvCxnSpPr>
            <a:cxnSpLocks/>
          </p:cNvCxnSpPr>
          <p:nvPr/>
        </p:nvCxnSpPr>
        <p:spPr>
          <a:xfrm>
            <a:off x="6127378" y="5386120"/>
            <a:ext cx="3285566"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DAC91B14-5F99-A28D-7820-617C206E8BB8}"/>
              </a:ext>
            </a:extLst>
          </p:cNvPr>
          <p:cNvCxnSpPr>
            <a:cxnSpLocks/>
          </p:cNvCxnSpPr>
          <p:nvPr/>
        </p:nvCxnSpPr>
        <p:spPr>
          <a:xfrm>
            <a:off x="9412944" y="4881730"/>
            <a:ext cx="1828798"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9BC714DF-6E46-C4CF-E55D-62669792BCF0}"/>
              </a:ext>
            </a:extLst>
          </p:cNvPr>
          <p:cNvSpPr txBox="1"/>
          <p:nvPr/>
        </p:nvSpPr>
        <p:spPr>
          <a:xfrm>
            <a:off x="4782670" y="4911672"/>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72904AA-86A4-6A5C-2629-33F470C49BC0}"/>
                  </a:ext>
                </a:extLst>
              </p:cNvPr>
              <p:cNvSpPr txBox="1"/>
              <p:nvPr/>
            </p:nvSpPr>
            <p:spPr>
              <a:xfrm>
                <a:off x="4522694" y="4440101"/>
                <a:ext cx="385482" cy="3553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3</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34" name="TextBox 33">
                <a:extLst>
                  <a:ext uri="{FF2B5EF4-FFF2-40B4-BE49-F238E27FC236}">
                    <a16:creationId xmlns:a16="http://schemas.microsoft.com/office/drawing/2014/main" id="{872904AA-86A4-6A5C-2629-33F470C49BC0}"/>
                  </a:ext>
                </a:extLst>
              </p:cNvPr>
              <p:cNvSpPr txBox="1">
                <a:spLocks noRot="1" noChangeAspect="1" noMove="1" noResize="1" noEditPoints="1" noAdjustHandles="1" noChangeArrowheads="1" noChangeShapeType="1" noTextEdit="1"/>
              </p:cNvSpPr>
              <p:nvPr/>
            </p:nvSpPr>
            <p:spPr>
              <a:xfrm>
                <a:off x="4522694" y="4440101"/>
                <a:ext cx="385482" cy="35535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2F6EC95-3BC5-EB9F-0892-FFF3CE54B57B}"/>
                  </a:ext>
                </a:extLst>
              </p:cNvPr>
              <p:cNvSpPr txBox="1"/>
              <p:nvPr/>
            </p:nvSpPr>
            <p:spPr>
              <a:xfrm>
                <a:off x="4486836" y="6046453"/>
                <a:ext cx="385482" cy="3434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35" name="TextBox 34">
                <a:extLst>
                  <a:ext uri="{FF2B5EF4-FFF2-40B4-BE49-F238E27FC236}">
                    <a16:creationId xmlns:a16="http://schemas.microsoft.com/office/drawing/2014/main" id="{A2F6EC95-3BC5-EB9F-0892-FFF3CE54B57B}"/>
                  </a:ext>
                </a:extLst>
              </p:cNvPr>
              <p:cNvSpPr txBox="1">
                <a:spLocks noRot="1" noChangeAspect="1" noMove="1" noResize="1" noEditPoints="1" noAdjustHandles="1" noChangeArrowheads="1" noChangeShapeType="1" noTextEdit="1"/>
              </p:cNvSpPr>
              <p:nvPr/>
            </p:nvSpPr>
            <p:spPr>
              <a:xfrm>
                <a:off x="4486836" y="6046453"/>
                <a:ext cx="385482" cy="343427"/>
              </a:xfrm>
              <a:prstGeom prst="rect">
                <a:avLst/>
              </a:prstGeom>
              <a:blipFill>
                <a:blip r:embed="rId5"/>
                <a:stretch>
                  <a:fillRect/>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9A465E37-4263-602C-4C60-25950FE103A1}"/>
              </a:ext>
            </a:extLst>
          </p:cNvPr>
          <p:cNvSpPr txBox="1"/>
          <p:nvPr/>
        </p:nvSpPr>
        <p:spPr>
          <a:xfrm>
            <a:off x="5127812" y="6236515"/>
            <a:ext cx="699246" cy="307777"/>
          </a:xfrm>
          <a:prstGeom prst="rect">
            <a:avLst/>
          </a:prstGeom>
          <a:noFill/>
        </p:spPr>
        <p:txBody>
          <a:bodyPr wrap="square" rtlCol="0">
            <a:spAutoFit/>
          </a:bodyPr>
          <a:lstStyle/>
          <a:p>
            <a:r>
              <a:rPr lang="en-US" sz="1400" dirty="0"/>
              <a:t>lose</a:t>
            </a:r>
          </a:p>
        </p:txBody>
      </p:sp>
      <p:sp>
        <p:nvSpPr>
          <p:cNvPr id="37" name="TextBox 36">
            <a:extLst>
              <a:ext uri="{FF2B5EF4-FFF2-40B4-BE49-F238E27FC236}">
                <a16:creationId xmlns:a16="http://schemas.microsoft.com/office/drawing/2014/main" id="{950DC602-748B-7DC6-56D2-B8C539ECA6C1}"/>
              </a:ext>
            </a:extLst>
          </p:cNvPr>
          <p:cNvSpPr txBox="1"/>
          <p:nvPr/>
        </p:nvSpPr>
        <p:spPr>
          <a:xfrm>
            <a:off x="7292788" y="4900718"/>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22971A3-797D-1005-BF16-F961A7987D5D}"/>
                  </a:ext>
                </a:extLst>
              </p:cNvPr>
              <p:cNvSpPr txBox="1"/>
              <p:nvPr/>
            </p:nvSpPr>
            <p:spPr>
              <a:xfrm>
                <a:off x="6181162" y="4441756"/>
                <a:ext cx="385482" cy="3549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den>
                          </m:f>
                        </m:e>
                      </m:box>
                    </m:oMath>
                  </m:oMathPara>
                </a14:m>
                <a:endParaRPr lang="en-US" sz="1400" dirty="0"/>
              </a:p>
            </p:txBody>
          </p:sp>
        </mc:Choice>
        <mc:Fallback xmlns="">
          <p:sp>
            <p:nvSpPr>
              <p:cNvPr id="38" name="TextBox 37">
                <a:extLst>
                  <a:ext uri="{FF2B5EF4-FFF2-40B4-BE49-F238E27FC236}">
                    <a16:creationId xmlns:a16="http://schemas.microsoft.com/office/drawing/2014/main" id="{922971A3-797D-1005-BF16-F961A7987D5D}"/>
                  </a:ext>
                </a:extLst>
              </p:cNvPr>
              <p:cNvSpPr txBox="1">
                <a:spLocks noRot="1" noChangeAspect="1" noMove="1" noResize="1" noEditPoints="1" noAdjustHandles="1" noChangeArrowheads="1" noChangeShapeType="1" noTextEdit="1"/>
              </p:cNvSpPr>
              <p:nvPr/>
            </p:nvSpPr>
            <p:spPr>
              <a:xfrm>
                <a:off x="6181162" y="4441756"/>
                <a:ext cx="385482" cy="35490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D6DD1DB-7E6B-3BD4-ED72-4A9625E880D2}"/>
                  </a:ext>
                </a:extLst>
              </p:cNvPr>
              <p:cNvSpPr txBox="1"/>
              <p:nvPr/>
            </p:nvSpPr>
            <p:spPr>
              <a:xfrm>
                <a:off x="6145304" y="6048108"/>
                <a:ext cx="385482" cy="3549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2</m:t>
                              </m:r>
                            </m:den>
                          </m:f>
                        </m:e>
                      </m:box>
                    </m:oMath>
                  </m:oMathPara>
                </a14:m>
                <a:endParaRPr lang="en-US" sz="1400" dirty="0"/>
              </a:p>
            </p:txBody>
          </p:sp>
        </mc:Choice>
        <mc:Fallback xmlns="">
          <p:sp>
            <p:nvSpPr>
              <p:cNvPr id="39" name="TextBox 38">
                <a:extLst>
                  <a:ext uri="{FF2B5EF4-FFF2-40B4-BE49-F238E27FC236}">
                    <a16:creationId xmlns:a16="http://schemas.microsoft.com/office/drawing/2014/main" id="{5D6DD1DB-7E6B-3BD4-ED72-4A9625E880D2}"/>
                  </a:ext>
                </a:extLst>
              </p:cNvPr>
              <p:cNvSpPr txBox="1">
                <a:spLocks noRot="1" noChangeAspect="1" noMove="1" noResize="1" noEditPoints="1" noAdjustHandles="1" noChangeArrowheads="1" noChangeShapeType="1" noTextEdit="1"/>
              </p:cNvSpPr>
              <p:nvPr/>
            </p:nvSpPr>
            <p:spPr>
              <a:xfrm>
                <a:off x="6145304" y="6048108"/>
                <a:ext cx="385482" cy="354905"/>
              </a:xfrm>
              <a:prstGeom prst="rect">
                <a:avLst/>
              </a:prstGeom>
              <a:blipFill>
                <a:blip r:embed="rId7"/>
                <a:stretch>
                  <a:fillRect/>
                </a:stretch>
              </a:blipFill>
            </p:spPr>
            <p:txBody>
              <a:bodyPr/>
              <a:lstStyle/>
              <a:p>
                <a:r>
                  <a:rPr lang="en-US">
                    <a:noFill/>
                  </a:rPr>
                  <a:t> </a:t>
                </a:r>
              </a:p>
            </p:txBody>
          </p:sp>
        </mc:Fallback>
      </mc:AlternateContent>
      <p:sp>
        <p:nvSpPr>
          <p:cNvPr id="40" name="TextBox 39">
            <a:extLst>
              <a:ext uri="{FF2B5EF4-FFF2-40B4-BE49-F238E27FC236}">
                <a16:creationId xmlns:a16="http://schemas.microsoft.com/office/drawing/2014/main" id="{849B2AF7-C2CA-BD59-D636-D0BB045E0FA5}"/>
              </a:ext>
            </a:extLst>
          </p:cNvPr>
          <p:cNvSpPr txBox="1"/>
          <p:nvPr/>
        </p:nvSpPr>
        <p:spPr>
          <a:xfrm>
            <a:off x="7637930" y="6225561"/>
            <a:ext cx="699246" cy="307777"/>
          </a:xfrm>
          <a:prstGeom prst="rect">
            <a:avLst/>
          </a:prstGeom>
          <a:noFill/>
        </p:spPr>
        <p:txBody>
          <a:bodyPr wrap="square" rtlCol="0">
            <a:spAutoFit/>
          </a:bodyPr>
          <a:lstStyle/>
          <a:p>
            <a:r>
              <a:rPr lang="en-US" sz="1400" dirty="0"/>
              <a:t>lose</a:t>
            </a:r>
          </a:p>
        </p:txBody>
      </p:sp>
      <p:sp>
        <p:nvSpPr>
          <p:cNvPr id="41" name="TextBox 40">
            <a:extLst>
              <a:ext uri="{FF2B5EF4-FFF2-40B4-BE49-F238E27FC236}">
                <a16:creationId xmlns:a16="http://schemas.microsoft.com/office/drawing/2014/main" id="{F74E67DB-87F0-48C3-97C9-5350BA19C932}"/>
              </a:ext>
            </a:extLst>
          </p:cNvPr>
          <p:cNvSpPr txBox="1"/>
          <p:nvPr/>
        </p:nvSpPr>
        <p:spPr>
          <a:xfrm>
            <a:off x="10591799" y="4369207"/>
            <a:ext cx="699246" cy="307777"/>
          </a:xfrm>
          <a:prstGeom prst="rect">
            <a:avLst/>
          </a:prstGeom>
          <a:noFill/>
        </p:spPr>
        <p:txBody>
          <a:bodyPr wrap="square" rtlCol="0">
            <a:spAutoFit/>
          </a:bodyPr>
          <a:lstStyle/>
          <a:p>
            <a:r>
              <a:rPr lang="en-US" sz="1400" dirty="0"/>
              <a:t>win</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C4D7E238-7DBD-3C61-22D8-5D8E25A45C66}"/>
                  </a:ext>
                </a:extLst>
              </p:cNvPr>
              <p:cNvSpPr txBox="1"/>
              <p:nvPr/>
            </p:nvSpPr>
            <p:spPr>
              <a:xfrm>
                <a:off x="10043460" y="5620255"/>
                <a:ext cx="385482" cy="3553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3</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42" name="TextBox 41">
                <a:extLst>
                  <a:ext uri="{FF2B5EF4-FFF2-40B4-BE49-F238E27FC236}">
                    <a16:creationId xmlns:a16="http://schemas.microsoft.com/office/drawing/2014/main" id="{C4D7E238-7DBD-3C61-22D8-5D8E25A45C66}"/>
                  </a:ext>
                </a:extLst>
              </p:cNvPr>
              <p:cNvSpPr txBox="1">
                <a:spLocks noRot="1" noChangeAspect="1" noMove="1" noResize="1" noEditPoints="1" noAdjustHandles="1" noChangeArrowheads="1" noChangeShapeType="1" noTextEdit="1"/>
              </p:cNvSpPr>
              <p:nvPr/>
            </p:nvSpPr>
            <p:spPr>
              <a:xfrm>
                <a:off x="10043460" y="5620255"/>
                <a:ext cx="385482" cy="3553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9363AB28-BCCF-42B5-1B60-954A2C90F0C4}"/>
                  </a:ext>
                </a:extLst>
              </p:cNvPr>
              <p:cNvSpPr txBox="1"/>
              <p:nvPr/>
            </p:nvSpPr>
            <p:spPr>
              <a:xfrm>
                <a:off x="10102478" y="4218922"/>
                <a:ext cx="385482" cy="3434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4</m:t>
                              </m:r>
                            </m:den>
                          </m:f>
                        </m:e>
                      </m:box>
                    </m:oMath>
                  </m:oMathPara>
                </a14:m>
                <a:endParaRPr lang="en-US" sz="1400" dirty="0"/>
              </a:p>
            </p:txBody>
          </p:sp>
        </mc:Choice>
        <mc:Fallback xmlns="">
          <p:sp>
            <p:nvSpPr>
              <p:cNvPr id="43" name="TextBox 42">
                <a:extLst>
                  <a:ext uri="{FF2B5EF4-FFF2-40B4-BE49-F238E27FC236}">
                    <a16:creationId xmlns:a16="http://schemas.microsoft.com/office/drawing/2014/main" id="{9363AB28-BCCF-42B5-1B60-954A2C90F0C4}"/>
                  </a:ext>
                </a:extLst>
              </p:cNvPr>
              <p:cNvSpPr txBox="1">
                <a:spLocks noRot="1" noChangeAspect="1" noMove="1" noResize="1" noEditPoints="1" noAdjustHandles="1" noChangeArrowheads="1" noChangeShapeType="1" noTextEdit="1"/>
              </p:cNvSpPr>
              <p:nvPr/>
            </p:nvSpPr>
            <p:spPr>
              <a:xfrm>
                <a:off x="10102478" y="4218922"/>
                <a:ext cx="385482" cy="343427"/>
              </a:xfrm>
              <a:prstGeom prst="rect">
                <a:avLst/>
              </a:prstGeom>
              <a:blipFill>
                <a:blip r:embed="rId9"/>
                <a:stretch>
                  <a:fillRect/>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86BB4142-04A5-FD04-B935-AFD78DB92FAB}"/>
              </a:ext>
            </a:extLst>
          </p:cNvPr>
          <p:cNvSpPr txBox="1"/>
          <p:nvPr/>
        </p:nvSpPr>
        <p:spPr>
          <a:xfrm>
            <a:off x="10399059" y="5743219"/>
            <a:ext cx="699246" cy="307777"/>
          </a:xfrm>
          <a:prstGeom prst="rect">
            <a:avLst/>
          </a:prstGeom>
          <a:noFill/>
        </p:spPr>
        <p:txBody>
          <a:bodyPr wrap="square" rtlCol="0">
            <a:spAutoFit/>
          </a:bodyPr>
          <a:lstStyle/>
          <a:p>
            <a:r>
              <a:rPr lang="en-US" sz="1400" dirty="0"/>
              <a:t>lose</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587EED4-A0D6-1A11-9892-45DB9FA1CB2D}"/>
                  </a:ext>
                </a:extLst>
              </p:cNvPr>
              <p:cNvSpPr txBox="1"/>
              <p:nvPr/>
            </p:nvSpPr>
            <p:spPr>
              <a:xfrm>
                <a:off x="7510185" y="3676779"/>
                <a:ext cx="385482" cy="3544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4</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27" name="TextBox 26">
                <a:extLst>
                  <a:ext uri="{FF2B5EF4-FFF2-40B4-BE49-F238E27FC236}">
                    <a16:creationId xmlns:a16="http://schemas.microsoft.com/office/drawing/2014/main" id="{3587EED4-A0D6-1A11-9892-45DB9FA1CB2D}"/>
                  </a:ext>
                </a:extLst>
              </p:cNvPr>
              <p:cNvSpPr txBox="1">
                <a:spLocks noRot="1" noChangeAspect="1" noMove="1" noResize="1" noEditPoints="1" noAdjustHandles="1" noChangeArrowheads="1" noChangeShapeType="1" noTextEdit="1"/>
              </p:cNvSpPr>
              <p:nvPr/>
            </p:nvSpPr>
            <p:spPr>
              <a:xfrm>
                <a:off x="7510185" y="3676779"/>
                <a:ext cx="385482" cy="35445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61EA209-34CB-80A2-DFF1-51E0D98E7123}"/>
                  </a:ext>
                </a:extLst>
              </p:cNvPr>
              <p:cNvSpPr txBox="1"/>
              <p:nvPr/>
            </p:nvSpPr>
            <p:spPr>
              <a:xfrm>
                <a:off x="10192127" y="3598317"/>
                <a:ext cx="385482" cy="345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2</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31" name="TextBox 30">
                <a:extLst>
                  <a:ext uri="{FF2B5EF4-FFF2-40B4-BE49-F238E27FC236}">
                    <a16:creationId xmlns:a16="http://schemas.microsoft.com/office/drawing/2014/main" id="{161EA209-34CB-80A2-DFF1-51E0D98E7123}"/>
                  </a:ext>
                </a:extLst>
              </p:cNvPr>
              <p:cNvSpPr txBox="1">
                <a:spLocks noRot="1" noChangeAspect="1" noMove="1" noResize="1" noEditPoints="1" noAdjustHandles="1" noChangeArrowheads="1" noChangeShapeType="1" noTextEdit="1"/>
              </p:cNvSpPr>
              <p:nvPr/>
            </p:nvSpPr>
            <p:spPr>
              <a:xfrm>
                <a:off x="10192127" y="3598317"/>
                <a:ext cx="385482" cy="345223"/>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01AB044-2707-5D01-722A-61E10840924A}"/>
                  </a:ext>
                </a:extLst>
              </p:cNvPr>
              <p:cNvSpPr txBox="1"/>
              <p:nvPr/>
            </p:nvSpPr>
            <p:spPr>
              <a:xfrm>
                <a:off x="11333634" y="3613280"/>
                <a:ext cx="385482" cy="3447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45" name="TextBox 44">
                <a:extLst>
                  <a:ext uri="{FF2B5EF4-FFF2-40B4-BE49-F238E27FC236}">
                    <a16:creationId xmlns:a16="http://schemas.microsoft.com/office/drawing/2014/main" id="{901AB044-2707-5D01-722A-61E10840924A}"/>
                  </a:ext>
                </a:extLst>
              </p:cNvPr>
              <p:cNvSpPr txBox="1">
                <a:spLocks noRot="1" noChangeAspect="1" noMove="1" noResize="1" noEditPoints="1" noAdjustHandles="1" noChangeArrowheads="1" noChangeShapeType="1" noTextEdit="1"/>
              </p:cNvSpPr>
              <p:nvPr/>
            </p:nvSpPr>
            <p:spPr>
              <a:xfrm>
                <a:off x="11333634" y="3613280"/>
                <a:ext cx="385482" cy="34477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4B32714-CF94-F7E7-463F-B5BA7E8006F7}"/>
                  </a:ext>
                </a:extLst>
              </p:cNvPr>
              <p:cNvSpPr txBox="1"/>
              <p:nvPr/>
            </p:nvSpPr>
            <p:spPr>
              <a:xfrm>
                <a:off x="3657601" y="3637203"/>
                <a:ext cx="385482" cy="3447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46" name="TextBox 45">
                <a:extLst>
                  <a:ext uri="{FF2B5EF4-FFF2-40B4-BE49-F238E27FC236}">
                    <a16:creationId xmlns:a16="http://schemas.microsoft.com/office/drawing/2014/main" id="{C4B32714-CF94-F7E7-463F-B5BA7E8006F7}"/>
                  </a:ext>
                </a:extLst>
              </p:cNvPr>
              <p:cNvSpPr txBox="1">
                <a:spLocks noRot="1" noChangeAspect="1" noMove="1" noResize="1" noEditPoints="1" noAdjustHandles="1" noChangeArrowheads="1" noChangeShapeType="1" noTextEdit="1"/>
              </p:cNvSpPr>
              <p:nvPr/>
            </p:nvSpPr>
            <p:spPr>
              <a:xfrm>
                <a:off x="3657601" y="3637203"/>
                <a:ext cx="385482" cy="34477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884E80FB-A07F-A92C-03B7-3535A21954A4}"/>
                  </a:ext>
                </a:extLst>
              </p:cNvPr>
              <p:cNvSpPr txBox="1"/>
              <p:nvPr/>
            </p:nvSpPr>
            <p:spPr>
              <a:xfrm>
                <a:off x="4946654" y="3625834"/>
                <a:ext cx="385482" cy="34522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2</m:t>
                              </m:r>
                            </m:num>
                            <m:den>
                              <m:r>
                                <a:rPr lang="en-US" sz="1400" b="0" i="1" smtClean="0">
                                  <a:latin typeface="Cambria Math" panose="02040503050406030204" pitchFamily="18" charset="0"/>
                                </a:rPr>
                                <m:t>10</m:t>
                              </m:r>
                            </m:den>
                          </m:f>
                        </m:e>
                      </m:box>
                    </m:oMath>
                  </m:oMathPara>
                </a14:m>
                <a:endParaRPr lang="en-US" sz="1400" dirty="0"/>
              </a:p>
            </p:txBody>
          </p:sp>
        </mc:Choice>
        <mc:Fallback xmlns="">
          <p:sp>
            <p:nvSpPr>
              <p:cNvPr id="47" name="TextBox 46">
                <a:extLst>
                  <a:ext uri="{FF2B5EF4-FFF2-40B4-BE49-F238E27FC236}">
                    <a16:creationId xmlns:a16="http://schemas.microsoft.com/office/drawing/2014/main" id="{884E80FB-A07F-A92C-03B7-3535A21954A4}"/>
                  </a:ext>
                </a:extLst>
              </p:cNvPr>
              <p:cNvSpPr txBox="1">
                <a:spLocks noRot="1" noChangeAspect="1" noMove="1" noResize="1" noEditPoints="1" noAdjustHandles="1" noChangeArrowheads="1" noChangeShapeType="1" noTextEdit="1"/>
              </p:cNvSpPr>
              <p:nvPr/>
            </p:nvSpPr>
            <p:spPr>
              <a:xfrm>
                <a:off x="4946654" y="3625834"/>
                <a:ext cx="385482" cy="345223"/>
              </a:xfrm>
              <a:prstGeom prst="rect">
                <a:avLst/>
              </a:prstGeom>
              <a:blipFill>
                <a:blip r:embed="rId13"/>
                <a:stretch>
                  <a:fillRect/>
                </a:stretch>
              </a:blipFill>
            </p:spPr>
            <p:txBody>
              <a:bodyPr/>
              <a:lstStyle/>
              <a:p>
                <a:r>
                  <a:rPr lang="en-US">
                    <a:noFill/>
                  </a:rPr>
                  <a:t> </a:t>
                </a:r>
              </a:p>
            </p:txBody>
          </p:sp>
        </mc:Fallback>
      </mc:AlternateContent>
      <p:sp>
        <p:nvSpPr>
          <p:cNvPr id="87" name="Rectangle 86">
            <a:extLst>
              <a:ext uri="{FF2B5EF4-FFF2-40B4-BE49-F238E27FC236}">
                <a16:creationId xmlns:a16="http://schemas.microsoft.com/office/drawing/2014/main" id="{B652759D-4E6D-0E02-E060-7B126D16F99D}"/>
              </a:ext>
            </a:extLst>
          </p:cNvPr>
          <p:cNvSpPr/>
          <p:nvPr/>
        </p:nvSpPr>
        <p:spPr>
          <a:xfrm>
            <a:off x="3352800" y="4051730"/>
            <a:ext cx="7888942" cy="799042"/>
          </a:xfrm>
          <a:prstGeom prst="rect">
            <a:avLst/>
          </a:prstGeom>
          <a:solidFill>
            <a:srgbClr val="4EA72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738DC77A-7706-37DC-11B1-12E201C0F131}"/>
              </a:ext>
            </a:extLst>
          </p:cNvPr>
          <p:cNvSpPr/>
          <p:nvPr/>
        </p:nvSpPr>
        <p:spPr>
          <a:xfrm>
            <a:off x="3340844" y="4855183"/>
            <a:ext cx="6081062" cy="498118"/>
          </a:xfrm>
          <a:prstGeom prst="rect">
            <a:avLst/>
          </a:prstGeom>
          <a:solidFill>
            <a:srgbClr val="4EA72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85602226-E85A-D850-72B4-959BA4375C6E}"/>
              </a:ext>
            </a:extLst>
          </p:cNvPr>
          <p:cNvSpPr/>
          <p:nvPr/>
        </p:nvSpPr>
        <p:spPr>
          <a:xfrm>
            <a:off x="3352800" y="5339263"/>
            <a:ext cx="2774577" cy="544692"/>
          </a:xfrm>
          <a:prstGeom prst="rect">
            <a:avLst/>
          </a:prstGeom>
          <a:solidFill>
            <a:srgbClr val="4EA72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8E53821A-EAFA-2F0B-1C49-3728C331A628}"/>
              </a:ext>
            </a:extLst>
          </p:cNvPr>
          <p:cNvSpPr/>
          <p:nvPr/>
        </p:nvSpPr>
        <p:spPr>
          <a:xfrm>
            <a:off x="3364756" y="5867102"/>
            <a:ext cx="776939" cy="892111"/>
          </a:xfrm>
          <a:prstGeom prst="rect">
            <a:avLst/>
          </a:prstGeom>
          <a:solidFill>
            <a:srgbClr val="4EA72E">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BCA20721-7DF7-F8D2-10BB-A6B6DEE03AA1}"/>
                  </a:ext>
                </a:extLst>
              </p:cNvPr>
              <p:cNvSpPr txBox="1"/>
              <p:nvPr/>
            </p:nvSpPr>
            <p:spPr>
              <a:xfrm>
                <a:off x="3389134" y="4069350"/>
                <a:ext cx="3626971" cy="430567"/>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10</m:t>
                              </m:r>
                            </m:den>
                          </m:f>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4</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10</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10</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4</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10</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e>
                          </m:box>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20</m:t>
                                  </m:r>
                                </m:num>
                                <m:den>
                                  <m:r>
                                    <a:rPr lang="en-US" b="0" i="1" smtClean="0">
                                      <a:latin typeface="Cambria Math" panose="02040503050406030204" pitchFamily="18" charset="0"/>
                                    </a:rPr>
                                    <m:t>40</m:t>
                                  </m:r>
                                </m:den>
                              </m:f>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e>
                          </m:box>
                        </m:e>
                      </m:box>
                    </m:oMath>
                  </m:oMathPara>
                </a14:m>
                <a:endParaRPr lang="en-US" dirty="0"/>
              </a:p>
            </p:txBody>
          </p:sp>
        </mc:Choice>
        <mc:Fallback xmlns="">
          <p:sp>
            <p:nvSpPr>
              <p:cNvPr id="50" name="TextBox 49">
                <a:extLst>
                  <a:ext uri="{FF2B5EF4-FFF2-40B4-BE49-F238E27FC236}">
                    <a16:creationId xmlns:a16="http://schemas.microsoft.com/office/drawing/2014/main" id="{BCA20721-7DF7-F8D2-10BB-A6B6DEE03AA1}"/>
                  </a:ext>
                </a:extLst>
              </p:cNvPr>
              <p:cNvSpPr txBox="1">
                <a:spLocks noRot="1" noChangeAspect="1" noMove="1" noResize="1" noEditPoints="1" noAdjustHandles="1" noChangeArrowheads="1" noChangeShapeType="1" noTextEdit="1"/>
              </p:cNvSpPr>
              <p:nvPr/>
            </p:nvSpPr>
            <p:spPr>
              <a:xfrm>
                <a:off x="3389134" y="4069350"/>
                <a:ext cx="3626971" cy="430567"/>
              </a:xfrm>
              <a:prstGeom prst="rect">
                <a:avLst/>
              </a:prstGeom>
              <a:blipFill>
                <a:blip r:embed="rId14"/>
                <a:stretch>
                  <a:fillRect/>
                </a:stretch>
              </a:blipFill>
            </p:spPr>
            <p:txBody>
              <a:bodyPr/>
              <a:lstStyle/>
              <a:p>
                <a:r>
                  <a:rPr lang="en-US">
                    <a:noFill/>
                  </a:rPr>
                  <a:t> </a:t>
                </a:r>
              </a:p>
            </p:txBody>
          </p:sp>
        </mc:Fallback>
      </mc:AlternateContent>
      <p:sp>
        <p:nvSpPr>
          <p:cNvPr id="51" name="Rectangle 50">
            <a:extLst>
              <a:ext uri="{FF2B5EF4-FFF2-40B4-BE49-F238E27FC236}">
                <a16:creationId xmlns:a16="http://schemas.microsoft.com/office/drawing/2014/main" id="{D7C00D2F-7E4A-7596-762F-EEC8A2922790}"/>
              </a:ext>
            </a:extLst>
          </p:cNvPr>
          <p:cNvSpPr/>
          <p:nvPr/>
        </p:nvSpPr>
        <p:spPr>
          <a:xfrm>
            <a:off x="4164107" y="5897108"/>
            <a:ext cx="7896415" cy="896843"/>
          </a:xfrm>
          <a:prstGeom prst="rect">
            <a:avLst/>
          </a:prstGeom>
          <a:solidFill>
            <a:srgbClr val="E9713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B75ECFA9-5802-972B-E656-FBCA9658C030}"/>
              </a:ext>
            </a:extLst>
          </p:cNvPr>
          <p:cNvSpPr/>
          <p:nvPr/>
        </p:nvSpPr>
        <p:spPr>
          <a:xfrm>
            <a:off x="6139333" y="5384259"/>
            <a:ext cx="5889814" cy="520579"/>
          </a:xfrm>
          <a:prstGeom prst="rect">
            <a:avLst/>
          </a:prstGeom>
          <a:solidFill>
            <a:srgbClr val="E9713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60837498-D880-AC0F-03C1-54ACC9B80EDA}"/>
              </a:ext>
            </a:extLst>
          </p:cNvPr>
          <p:cNvSpPr/>
          <p:nvPr/>
        </p:nvSpPr>
        <p:spPr>
          <a:xfrm>
            <a:off x="9421906" y="4871410"/>
            <a:ext cx="2626660" cy="520579"/>
          </a:xfrm>
          <a:prstGeom prst="rect">
            <a:avLst/>
          </a:prstGeom>
          <a:solidFill>
            <a:srgbClr val="E9713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5AE81DBB-130C-67A0-6836-FD582058178F}"/>
              </a:ext>
            </a:extLst>
          </p:cNvPr>
          <p:cNvSpPr/>
          <p:nvPr/>
        </p:nvSpPr>
        <p:spPr>
          <a:xfrm>
            <a:off x="11250703" y="4054039"/>
            <a:ext cx="806824" cy="815956"/>
          </a:xfrm>
          <a:prstGeom prst="rect">
            <a:avLst/>
          </a:prstGeom>
          <a:solidFill>
            <a:srgbClr val="E97132">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4F35024D-CD7A-F511-AA06-0CF0CDC7D58F}"/>
                  </a:ext>
                </a:extLst>
              </p:cNvPr>
              <p:cNvSpPr txBox="1"/>
              <p:nvPr/>
            </p:nvSpPr>
            <p:spPr>
              <a:xfrm>
                <a:off x="6684264" y="5620255"/>
                <a:ext cx="4069080" cy="392993"/>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2</m:t>
                              </m:r>
                            </m:num>
                            <m:den>
                              <m:r>
                                <a:rPr lang="en-US" sz="1600" b="0" i="1" smtClean="0">
                                  <a:latin typeface="Cambria Math" panose="02040503050406030204" pitchFamily="18" charset="0"/>
                                </a:rPr>
                                <m:t>10</m:t>
                              </m:r>
                            </m:den>
                          </m:f>
                        </m:e>
                      </m:box>
                      <m:r>
                        <a:rPr lang="en-US" sz="1600" b="0" i="1" smtClean="0">
                          <a:latin typeface="Cambria Math" panose="02040503050406030204" pitchFamily="18" charset="0"/>
                        </a:rPr>
                        <m:t>×</m:t>
                      </m:r>
                      <m:box>
                        <m:boxPr>
                          <m:ctrlPr>
                            <a:rPr lang="en-US" sz="1600" b="0" i="1" smtClean="0">
                              <a:latin typeface="Cambria Math" panose="02040503050406030204" pitchFamily="18" charset="0"/>
                            </a:rPr>
                          </m:ctrlPr>
                        </m:boxPr>
                        <m:e>
                          <m:argPr>
                            <m:argSz m:val="-1"/>
                          </m:argP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4</m:t>
                              </m:r>
                            </m:den>
                          </m:f>
                        </m:e>
                      </m:box>
                      <m:r>
                        <a:rPr lang="en-US" sz="1600" b="0" i="1" smtClean="0">
                          <a:latin typeface="Cambria Math" panose="02040503050406030204" pitchFamily="18" charset="0"/>
                        </a:rPr>
                        <m:t>+</m:t>
                      </m:r>
                      <m:box>
                        <m:boxPr>
                          <m:ctrlPr>
                            <a:rPr lang="en-US" sz="1600" b="0" i="1" smtClean="0">
                              <a:latin typeface="Cambria Math" panose="02040503050406030204" pitchFamily="18" charset="0"/>
                            </a:rPr>
                          </m:ctrlPr>
                        </m:boxPr>
                        <m:e>
                          <m:argPr>
                            <m:argSz m:val="-1"/>
                          </m:argP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4</m:t>
                              </m:r>
                            </m:num>
                            <m:den>
                              <m:r>
                                <a:rPr lang="en-US" sz="1600" b="0" i="1" smtClean="0">
                                  <a:latin typeface="Cambria Math" panose="02040503050406030204" pitchFamily="18" charset="0"/>
                                </a:rPr>
                                <m:t>10</m:t>
                              </m:r>
                            </m:den>
                          </m:f>
                        </m:e>
                      </m:box>
                      <m:r>
                        <a:rPr lang="en-US" sz="1600" b="0" i="1" smtClean="0">
                          <a:latin typeface="Cambria Math" panose="02040503050406030204" pitchFamily="18" charset="0"/>
                        </a:rPr>
                        <m:t>×</m:t>
                      </m:r>
                      <m:box>
                        <m:boxPr>
                          <m:ctrlPr>
                            <a:rPr lang="en-US" sz="1600" b="0" i="1" smtClean="0">
                              <a:latin typeface="Cambria Math" panose="02040503050406030204" pitchFamily="18" charset="0"/>
                            </a:rPr>
                          </m:ctrlPr>
                        </m:boxPr>
                        <m:e>
                          <m:argPr>
                            <m:argSz m:val="-1"/>
                          </m:argP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2</m:t>
                              </m:r>
                            </m:num>
                            <m:den>
                              <m:r>
                                <a:rPr lang="en-US" sz="1600" b="0" i="1" smtClean="0">
                                  <a:latin typeface="Cambria Math" panose="02040503050406030204" pitchFamily="18" charset="0"/>
                                </a:rPr>
                                <m:t>4</m:t>
                              </m:r>
                            </m:den>
                          </m:f>
                        </m:e>
                      </m:box>
                      <m:r>
                        <a:rPr lang="en-US" sz="1600" b="0" i="1" smtClean="0">
                          <a:latin typeface="Cambria Math" panose="02040503050406030204" pitchFamily="18" charset="0"/>
                        </a:rPr>
                        <m:t>+</m:t>
                      </m:r>
                      <m:box>
                        <m:boxPr>
                          <m:ctrlPr>
                            <a:rPr lang="en-US" sz="1600" b="0" i="1" smtClean="0">
                              <a:latin typeface="Cambria Math" panose="02040503050406030204" pitchFamily="18" charset="0"/>
                            </a:rPr>
                          </m:ctrlPr>
                        </m:boxPr>
                        <m:e>
                          <m:argPr>
                            <m:argSz m:val="-1"/>
                          </m:argP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2</m:t>
                              </m:r>
                            </m:num>
                            <m:den>
                              <m:r>
                                <a:rPr lang="en-US" sz="1600" b="0" i="1" smtClean="0">
                                  <a:latin typeface="Cambria Math" panose="02040503050406030204" pitchFamily="18" charset="0"/>
                                </a:rPr>
                                <m:t>10</m:t>
                              </m:r>
                            </m:den>
                          </m:f>
                        </m:e>
                      </m:box>
                      <m:r>
                        <a:rPr lang="en-US" sz="1600" b="0" i="1" smtClean="0">
                          <a:latin typeface="Cambria Math" panose="02040503050406030204" pitchFamily="18" charset="0"/>
                        </a:rPr>
                        <m:t>×</m:t>
                      </m:r>
                      <m:box>
                        <m:boxPr>
                          <m:ctrlPr>
                            <a:rPr lang="en-US" sz="1600" b="0" i="1" smtClean="0">
                              <a:latin typeface="Cambria Math" panose="02040503050406030204" pitchFamily="18" charset="0"/>
                            </a:rPr>
                          </m:ctrlPr>
                        </m:boxPr>
                        <m:e>
                          <m:argPr>
                            <m:argSz m:val="-1"/>
                          </m:argP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3</m:t>
                              </m:r>
                            </m:num>
                            <m:den>
                              <m:r>
                                <a:rPr lang="en-US" sz="1600" b="0" i="1" smtClean="0">
                                  <a:latin typeface="Cambria Math" panose="02040503050406030204" pitchFamily="18" charset="0"/>
                                </a:rPr>
                                <m:t>4</m:t>
                              </m:r>
                            </m:den>
                          </m:f>
                        </m:e>
                      </m:box>
                      <m:r>
                        <a:rPr lang="en-US" sz="1600" b="0" i="1" smtClean="0">
                          <a:latin typeface="Cambria Math" panose="02040503050406030204" pitchFamily="18" charset="0"/>
                        </a:rPr>
                        <m:t>+</m:t>
                      </m:r>
                      <m:box>
                        <m:boxPr>
                          <m:ctrlPr>
                            <a:rPr lang="en-US" sz="1600" b="0" i="1" smtClean="0">
                              <a:latin typeface="Cambria Math" panose="02040503050406030204" pitchFamily="18" charset="0"/>
                            </a:rPr>
                          </m:ctrlPr>
                        </m:boxPr>
                        <m:e>
                          <m:argPr>
                            <m:argSz m:val="-1"/>
                          </m:argP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10</m:t>
                              </m:r>
                            </m:den>
                          </m:f>
                        </m:e>
                      </m:box>
                      <m:r>
                        <a:rPr lang="en-US" sz="1600" b="0" i="1" smtClean="0">
                          <a:latin typeface="Cambria Math" panose="02040503050406030204" pitchFamily="18" charset="0"/>
                        </a:rPr>
                        <m:t>×</m:t>
                      </m:r>
                      <m:box>
                        <m:boxPr>
                          <m:ctrlPr>
                            <a:rPr lang="en-US" sz="1600" b="0" i="1" smtClean="0">
                              <a:latin typeface="Cambria Math" panose="02040503050406030204" pitchFamily="18" charset="0"/>
                            </a:rPr>
                          </m:ctrlPr>
                        </m:boxPr>
                        <m:e>
                          <m:argPr>
                            <m:argSz m:val="-1"/>
                          </m:argP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4</m:t>
                              </m:r>
                            </m:num>
                            <m:den>
                              <m:r>
                                <a:rPr lang="en-US" sz="1600" b="0" i="1" smtClean="0">
                                  <a:latin typeface="Cambria Math" panose="02040503050406030204" pitchFamily="18" charset="0"/>
                                </a:rPr>
                                <m:t>4</m:t>
                              </m:r>
                            </m:den>
                          </m:f>
                        </m:e>
                      </m:box>
                      <m:r>
                        <a:rPr lang="en-US" sz="1600" b="0" i="1" smtClean="0">
                          <a:latin typeface="Cambria Math" panose="02040503050406030204" pitchFamily="18" charset="0"/>
                        </a:rPr>
                        <m:t>=</m:t>
                      </m:r>
                      <m:box>
                        <m:boxPr>
                          <m:ctrlPr>
                            <a:rPr lang="en-US" sz="1600" b="0" i="1" smtClean="0">
                              <a:latin typeface="Cambria Math" panose="02040503050406030204" pitchFamily="18" charset="0"/>
                            </a:rPr>
                          </m:ctrlPr>
                        </m:boxPr>
                        <m:e>
                          <m:argPr>
                            <m:argSz m:val="-1"/>
                          </m:argP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20</m:t>
                              </m:r>
                            </m:num>
                            <m:den>
                              <m:r>
                                <a:rPr lang="en-US" sz="1600" b="0" i="1" smtClean="0">
                                  <a:latin typeface="Cambria Math" panose="02040503050406030204" pitchFamily="18" charset="0"/>
                                </a:rPr>
                                <m:t>40</m:t>
                              </m:r>
                            </m:den>
                          </m:f>
                        </m:e>
                      </m:box>
                      <m:r>
                        <a:rPr lang="en-US" sz="1600" b="0" i="1" smtClean="0">
                          <a:latin typeface="Cambria Math" panose="02040503050406030204" pitchFamily="18" charset="0"/>
                        </a:rPr>
                        <m:t>=</m:t>
                      </m:r>
                      <m:box>
                        <m:boxPr>
                          <m:ctrlPr>
                            <a:rPr lang="en-US" sz="1600" b="0" i="1" smtClean="0">
                              <a:latin typeface="Cambria Math" panose="02040503050406030204" pitchFamily="18" charset="0"/>
                            </a:rPr>
                          </m:ctrlPr>
                        </m:boxPr>
                        <m:e>
                          <m:argPr>
                            <m:argSz m:val="-1"/>
                          </m:argPr>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m:oMathPara>
                </a14:m>
                <a:endParaRPr lang="en-US" sz="1600" dirty="0"/>
              </a:p>
            </p:txBody>
          </p:sp>
        </mc:Choice>
        <mc:Fallback xmlns="">
          <p:sp>
            <p:nvSpPr>
              <p:cNvPr id="55" name="TextBox 54">
                <a:extLst>
                  <a:ext uri="{FF2B5EF4-FFF2-40B4-BE49-F238E27FC236}">
                    <a16:creationId xmlns:a16="http://schemas.microsoft.com/office/drawing/2014/main" id="{4F35024D-CD7A-F511-AA06-0CF0CDC7D58F}"/>
                  </a:ext>
                </a:extLst>
              </p:cNvPr>
              <p:cNvSpPr txBox="1">
                <a:spLocks noRot="1" noChangeAspect="1" noMove="1" noResize="1" noEditPoints="1" noAdjustHandles="1" noChangeArrowheads="1" noChangeShapeType="1" noTextEdit="1"/>
              </p:cNvSpPr>
              <p:nvPr/>
            </p:nvSpPr>
            <p:spPr>
              <a:xfrm>
                <a:off x="6684264" y="5620255"/>
                <a:ext cx="4069080" cy="392993"/>
              </a:xfrm>
              <a:prstGeom prst="rect">
                <a:avLst/>
              </a:prstGeom>
              <a:blipFill>
                <a:blip r:embed="rId15"/>
                <a:stretch>
                  <a:fillRect/>
                </a:stretch>
              </a:blipFill>
            </p:spPr>
            <p:txBody>
              <a:bodyPr/>
              <a:lstStyle/>
              <a:p>
                <a:r>
                  <a:rPr lang="en-US">
                    <a:noFill/>
                  </a:rPr>
                  <a:t> </a:t>
                </a:r>
              </a:p>
            </p:txBody>
          </p:sp>
        </mc:Fallback>
      </mc:AlternateContent>
      <p:sp>
        <p:nvSpPr>
          <p:cNvPr id="56" name="TextBox 55">
            <a:extLst>
              <a:ext uri="{FF2B5EF4-FFF2-40B4-BE49-F238E27FC236}">
                <a16:creationId xmlns:a16="http://schemas.microsoft.com/office/drawing/2014/main" id="{C4F4924F-07E5-9F15-9505-3AB0CDDBDBAD}"/>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
        <p:nvSpPr>
          <p:cNvPr id="57" name="TextBox 56">
            <a:extLst>
              <a:ext uri="{FF2B5EF4-FFF2-40B4-BE49-F238E27FC236}">
                <a16:creationId xmlns:a16="http://schemas.microsoft.com/office/drawing/2014/main" id="{2AC1572C-F7E9-A42B-DC16-40A189D76D0A}"/>
              </a:ext>
            </a:extLst>
          </p:cNvPr>
          <p:cNvSpPr txBox="1"/>
          <p:nvPr/>
        </p:nvSpPr>
        <p:spPr>
          <a:xfrm rot="19317379">
            <a:off x="1038831" y="3426005"/>
            <a:ext cx="3142506" cy="58477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sz="1600" dirty="0"/>
              <a:t>calculate the marginal probability that Faith </a:t>
            </a:r>
            <a:r>
              <a:rPr lang="en-US" sz="1600" b="1" dirty="0"/>
              <a:t>wins</a:t>
            </a:r>
            <a:r>
              <a:rPr lang="en-US" sz="1600" dirty="0"/>
              <a:t> if she runs.</a:t>
            </a:r>
          </a:p>
        </p:txBody>
      </p:sp>
      <p:sp>
        <p:nvSpPr>
          <p:cNvPr id="58" name="TextBox 57">
            <a:extLst>
              <a:ext uri="{FF2B5EF4-FFF2-40B4-BE49-F238E27FC236}">
                <a16:creationId xmlns:a16="http://schemas.microsoft.com/office/drawing/2014/main" id="{07F87EDE-5B83-F86F-867B-D1E1B77720CC}"/>
              </a:ext>
            </a:extLst>
          </p:cNvPr>
          <p:cNvSpPr txBox="1"/>
          <p:nvPr/>
        </p:nvSpPr>
        <p:spPr>
          <a:xfrm rot="19317379">
            <a:off x="195031" y="5306831"/>
            <a:ext cx="3142506" cy="58477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sz="1600" dirty="0"/>
              <a:t>and the marginal probability that Faith </a:t>
            </a:r>
            <a:r>
              <a:rPr lang="en-US" sz="1600" b="1" dirty="0"/>
              <a:t>loses</a:t>
            </a:r>
            <a:r>
              <a:rPr lang="en-US" sz="1600" dirty="0"/>
              <a:t> if she runs.</a:t>
            </a:r>
          </a:p>
        </p:txBody>
      </p:sp>
    </p:spTree>
    <p:extLst>
      <p:ext uri="{BB962C8B-B14F-4D97-AF65-F5344CB8AC3E}">
        <p14:creationId xmlns:p14="http://schemas.microsoft.com/office/powerpoint/2010/main" val="257577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14C61-4C1F-1C3B-B27C-F7C626C622B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1CD1AE6-A35B-B04C-20AE-77A76027BC93}"/>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F731E1B1-4E83-9163-578B-8EFD10AED3C0}"/>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8382BE7D-4CBE-EA65-CB11-7F316470EFCD}"/>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8F50EB84-B857-4DED-9B40-9B34C7E96BAD}"/>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7EC2B110-4711-4BA3-FFE0-B035BDCE5E19}"/>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44FD50DA-A48B-2948-E856-8D1FD5EB10CC}"/>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64B2D291-C7A1-E0C8-05BE-E7FD4DE419A5}"/>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7781B86-7EC2-FA0D-D0BF-2FF9E3B99F5B}"/>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A7781B86-7EC2-FA0D-D0BF-2FF9E3B99F5B}"/>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79C3B103-8BD2-B813-C651-63B2A6DFE091}"/>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93FA27D5-CFB7-EE31-999B-E095A80B352C}"/>
                  </a:ext>
                </a:extLst>
              </p:cNvPr>
              <p:cNvSpPr txBox="1"/>
              <p:nvPr/>
            </p:nvSpPr>
            <p:spPr>
              <a:xfrm>
                <a:off x="2904564" y="3233153"/>
                <a:ext cx="8633012" cy="60869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1600" dirty="0"/>
                  <a:t>Calculate Faith’s expected utility from each of her available actions (remembering that if she runs, she wins with probability </a:t>
                </a:r>
                <a14:m>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a14:m>
                <a:r>
                  <a:rPr lang="en-US" sz="1600" dirty="0"/>
                  <a:t> and loses with probability </a:t>
                </a:r>
                <a14:m>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a14:m>
                <a:r>
                  <a:rPr lang="en-US" sz="1600" dirty="0"/>
                  <a:t>).</a:t>
                </a:r>
              </a:p>
            </p:txBody>
          </p:sp>
        </mc:Choice>
        <mc:Fallback xmlns="">
          <p:sp>
            <p:nvSpPr>
              <p:cNvPr id="56" name="TextBox 55">
                <a:extLst>
                  <a:ext uri="{FF2B5EF4-FFF2-40B4-BE49-F238E27FC236}">
                    <a16:creationId xmlns:a16="http://schemas.microsoft.com/office/drawing/2014/main" id="{93FA27D5-CFB7-EE31-999B-E095A80B352C}"/>
                  </a:ext>
                </a:extLst>
              </p:cNvPr>
              <p:cNvSpPr txBox="1">
                <a:spLocks noRot="1" noChangeAspect="1" noMove="1" noResize="1" noEditPoints="1" noAdjustHandles="1" noChangeArrowheads="1" noChangeShapeType="1" noTextEdit="1"/>
              </p:cNvSpPr>
              <p:nvPr/>
            </p:nvSpPr>
            <p:spPr>
              <a:xfrm>
                <a:off x="2904564" y="3233153"/>
                <a:ext cx="8633012" cy="608693"/>
              </a:xfrm>
              <a:prstGeom prst="rect">
                <a:avLst/>
              </a:prstGeom>
              <a:blipFill>
                <a:blip r:embed="rId3"/>
                <a:stretch>
                  <a:fillRect l="-282" t="-1942" b="-6796"/>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8918D65E-1E5D-3591-0051-7D0AE851FECA}"/>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352114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FF1F8-C316-4435-DC8D-AD6100E51C2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DC19C86-C478-53C3-FD2C-BDCA54B8D280}"/>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58283601-0067-319F-6873-7393A30F5671}"/>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CB720962-D190-04DE-7FA1-3840B9B0AB4E}"/>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7F3FD4AB-C7D0-511C-DE3F-4E416A861560}"/>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CD502B72-47E3-955F-A0F6-4CE67987E6C0}"/>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9236689B-D2A2-5E85-ED28-35C3BF96DC8A}"/>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D3FC2C8A-D6D4-4B90-C389-8BA3C107CDC7}"/>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AD316D7-9694-ED88-4DC0-00982E90E7DB}"/>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AAD316D7-9694-ED88-4DC0-00982E90E7DB}"/>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18D93065-9998-A3E7-6E9C-AF6BC06AA095}"/>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EBB88F4-39C9-E15F-2477-AF97B04BEA2A}"/>
                  </a:ext>
                </a:extLst>
              </p:cNvPr>
              <p:cNvSpPr txBox="1"/>
              <p:nvPr/>
            </p:nvSpPr>
            <p:spPr>
              <a:xfrm>
                <a:off x="2904564" y="3233153"/>
                <a:ext cx="8633012" cy="60869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1600" dirty="0"/>
                  <a:t>Calculate Faith’s expected utility from each of her available actions (remembering that if she runs, she wins with probability </a:t>
                </a:r>
                <a14:m>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a14:m>
                <a:r>
                  <a:rPr lang="en-US" sz="1600" dirty="0"/>
                  <a:t> and loses with probability </a:t>
                </a:r>
                <a14:m>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a14:m>
                <a:r>
                  <a:rPr lang="en-US" sz="1600" dirty="0"/>
                  <a:t>).</a:t>
                </a:r>
              </a:p>
            </p:txBody>
          </p:sp>
        </mc:Choice>
        <mc:Fallback xmlns="">
          <p:sp>
            <p:nvSpPr>
              <p:cNvPr id="56" name="TextBox 55">
                <a:extLst>
                  <a:ext uri="{FF2B5EF4-FFF2-40B4-BE49-F238E27FC236}">
                    <a16:creationId xmlns:a16="http://schemas.microsoft.com/office/drawing/2014/main" id="{FEBB88F4-39C9-E15F-2477-AF97B04BEA2A}"/>
                  </a:ext>
                </a:extLst>
              </p:cNvPr>
              <p:cNvSpPr txBox="1">
                <a:spLocks noRot="1" noChangeAspect="1" noMove="1" noResize="1" noEditPoints="1" noAdjustHandles="1" noChangeArrowheads="1" noChangeShapeType="1" noTextEdit="1"/>
              </p:cNvSpPr>
              <p:nvPr/>
            </p:nvSpPr>
            <p:spPr>
              <a:xfrm>
                <a:off x="2904564" y="3233153"/>
                <a:ext cx="8633012" cy="608693"/>
              </a:xfrm>
              <a:prstGeom prst="rect">
                <a:avLst/>
              </a:prstGeom>
              <a:blipFill>
                <a:blip r:embed="rId3"/>
                <a:stretch>
                  <a:fillRect l="-282" t="-1942" b="-6796"/>
                </a:stretch>
              </a:blipFill>
            </p:spPr>
            <p:txBody>
              <a:bodyPr/>
              <a:lstStyle/>
              <a:p>
                <a:r>
                  <a:rPr lang="en-US">
                    <a:noFill/>
                  </a:rPr>
                  <a:t> </a:t>
                </a:r>
              </a:p>
            </p:txBody>
          </p:sp>
        </mc:Fallback>
      </mc:AlternateContent>
      <p:graphicFrame>
        <p:nvGraphicFramePr>
          <p:cNvPr id="9" name="Table 8">
            <a:extLst>
              <a:ext uri="{FF2B5EF4-FFF2-40B4-BE49-F238E27FC236}">
                <a16:creationId xmlns:a16="http://schemas.microsoft.com/office/drawing/2014/main" id="{B0F0C323-25D2-BE8F-D741-92E67BB81FA4}"/>
              </a:ext>
            </a:extLst>
          </p:cNvPr>
          <p:cNvGraphicFramePr>
            <a:graphicFrameLocks noGrp="1"/>
          </p:cNvGraphicFramePr>
          <p:nvPr>
            <p:extLst>
              <p:ext uri="{D42A27DB-BD31-4B8C-83A1-F6EECF244321}">
                <p14:modId xmlns:p14="http://schemas.microsoft.com/office/powerpoint/2010/main" val="3181609133"/>
              </p:ext>
            </p:extLst>
          </p:nvPr>
        </p:nvGraphicFramePr>
        <p:xfrm>
          <a:off x="3200399" y="4080929"/>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64570893"/>
                    </a:ext>
                  </a:extLst>
                </a:gridCol>
                <a:gridCol w="2032000">
                  <a:extLst>
                    <a:ext uri="{9D8B030D-6E8A-4147-A177-3AD203B41FA5}">
                      <a16:colId xmlns:a16="http://schemas.microsoft.com/office/drawing/2014/main" val="647845297"/>
                    </a:ext>
                  </a:extLst>
                </a:gridCol>
                <a:gridCol w="2032000">
                  <a:extLst>
                    <a:ext uri="{9D8B030D-6E8A-4147-A177-3AD203B41FA5}">
                      <a16:colId xmlns:a16="http://schemas.microsoft.com/office/drawing/2014/main" val="4224279288"/>
                    </a:ext>
                  </a:extLst>
                </a:gridCol>
                <a:gridCol w="2032000">
                  <a:extLst>
                    <a:ext uri="{9D8B030D-6E8A-4147-A177-3AD203B41FA5}">
                      <a16:colId xmlns:a16="http://schemas.microsoft.com/office/drawing/2014/main" val="60495856"/>
                    </a:ext>
                  </a:extLst>
                </a:gridCol>
              </a:tblGrid>
              <a:tr h="370840">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2289210250"/>
                  </a:ext>
                </a:extLst>
              </a:tr>
              <a:tr h="370840">
                <a:tc rowSpan="2">
                  <a:txBody>
                    <a:bodyPr/>
                    <a:lstStyle/>
                    <a:p>
                      <a:r>
                        <a:rPr lang="en-US" dirty="0"/>
                        <a:t>run</a:t>
                      </a:r>
                    </a:p>
                  </a:txBody>
                  <a:tcPr anchor="ctr">
                    <a:solidFill>
                      <a:schemeClr val="accent2">
                        <a:lumMod val="20000"/>
                        <a:lumOff val="80000"/>
                      </a:schemeClr>
                    </a:solidFill>
                  </a:tcPr>
                </a:tc>
                <a:tc>
                  <a:txBody>
                    <a:bodyPr/>
                    <a:lstStyle/>
                    <a:p>
                      <a:r>
                        <a:rPr lang="en-US" dirty="0"/>
                        <a:t>win</a:t>
                      </a:r>
                    </a:p>
                  </a:txBody>
                  <a:tcPr>
                    <a:solidFill>
                      <a:schemeClr val="accent2">
                        <a:lumMod val="20000"/>
                        <a:lumOff val="80000"/>
                      </a:schemeClr>
                    </a:solidFill>
                  </a:tcPr>
                </a:tc>
                <a:tc>
                  <a:txBody>
                    <a:bodyPr/>
                    <a:lstStyle/>
                    <a:p>
                      <a:endParaRPr lang="en-US" dirty="0"/>
                    </a:p>
                  </a:txBody>
                  <a:tcPr>
                    <a:solidFill>
                      <a:schemeClr val="accent2">
                        <a:lumMod val="20000"/>
                        <a:lumOff val="80000"/>
                      </a:schemeClr>
                    </a:solidFill>
                  </a:tcPr>
                </a:tc>
                <a:tc>
                  <a:txBody>
                    <a:bodyPr/>
                    <a:lstStyle/>
                    <a:p>
                      <a:endParaRPr lang="en-US"/>
                    </a:p>
                  </a:txBody>
                  <a:tcPr>
                    <a:solidFill>
                      <a:schemeClr val="accent2">
                        <a:lumMod val="20000"/>
                        <a:lumOff val="80000"/>
                      </a:schemeClr>
                    </a:solidFill>
                  </a:tcPr>
                </a:tc>
                <a:extLst>
                  <a:ext uri="{0D108BD9-81ED-4DB2-BD59-A6C34878D82A}">
                    <a16:rowId xmlns:a16="http://schemas.microsoft.com/office/drawing/2014/main" val="2879976811"/>
                  </a:ext>
                </a:extLst>
              </a:tr>
              <a:tr h="370840">
                <a:tc vMerge="1">
                  <a:txBody>
                    <a:bodyPr/>
                    <a:lstStyle/>
                    <a:p>
                      <a:endParaRPr lang="en-US" dirty="0"/>
                    </a:p>
                  </a:txBody>
                  <a:tcPr/>
                </a:tc>
                <a:tc>
                  <a:txBody>
                    <a:bodyPr/>
                    <a:lstStyle/>
                    <a:p>
                      <a:r>
                        <a:rPr lang="en-US" dirty="0"/>
                        <a:t>lose</a:t>
                      </a:r>
                    </a:p>
                  </a:txBody>
                  <a:tcPr>
                    <a:solidFill>
                      <a:schemeClr val="accent2">
                        <a:lumMod val="20000"/>
                        <a:lumOff val="80000"/>
                      </a:schemeClr>
                    </a:solidFill>
                  </a:tcPr>
                </a:tc>
                <a:tc>
                  <a:txBody>
                    <a:bodyPr/>
                    <a:lstStyle/>
                    <a:p>
                      <a:endParaRPr lang="en-US" dirty="0"/>
                    </a:p>
                  </a:txBody>
                  <a:tcPr>
                    <a:solidFill>
                      <a:schemeClr val="accent2">
                        <a:lumMod val="20000"/>
                        <a:lumOff val="80000"/>
                      </a:schemeClr>
                    </a:solidFill>
                  </a:tcPr>
                </a:tc>
                <a:tc>
                  <a:txBody>
                    <a:bodyPr/>
                    <a:lstStyle/>
                    <a:p>
                      <a:endParaRPr lang="en-US" dirty="0"/>
                    </a:p>
                  </a:txBody>
                  <a:tcPr>
                    <a:solidFill>
                      <a:schemeClr val="accent2">
                        <a:lumMod val="20000"/>
                        <a:lumOff val="80000"/>
                      </a:schemeClr>
                    </a:solidFill>
                  </a:tcPr>
                </a:tc>
                <a:extLst>
                  <a:ext uri="{0D108BD9-81ED-4DB2-BD59-A6C34878D82A}">
                    <a16:rowId xmlns:a16="http://schemas.microsoft.com/office/drawing/2014/main" val="1352842019"/>
                  </a:ext>
                </a:extLst>
              </a:tr>
              <a:tr h="370840">
                <a:tc>
                  <a:txBody>
                    <a:bodyPr/>
                    <a:lstStyle/>
                    <a:p>
                      <a:r>
                        <a:rPr lang="en-US" dirty="0"/>
                        <a:t>don’t run</a:t>
                      </a:r>
                    </a:p>
                  </a:txBody>
                  <a:tcPr/>
                </a:tc>
                <a:tc>
                  <a:txBody>
                    <a:bodyPr/>
                    <a:lstStyle/>
                    <a:p>
                      <a:r>
                        <a:rPr lang="en-US" dirty="0"/>
                        <a:t>NA</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523633854"/>
                  </a:ext>
                </a:extLst>
              </a:tr>
            </a:tbl>
          </a:graphicData>
        </a:graphic>
      </p:graphicFrame>
      <p:sp>
        <p:nvSpPr>
          <p:cNvPr id="10" name="TextBox 9">
            <a:extLst>
              <a:ext uri="{FF2B5EF4-FFF2-40B4-BE49-F238E27FC236}">
                <a16:creationId xmlns:a16="http://schemas.microsoft.com/office/drawing/2014/main" id="{EDC7B1C8-D500-29E7-9B81-97A13442E4F3}"/>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4247020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8B9C9-442A-775A-9463-64A68A50E94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032A4EE-88B8-16CA-5E25-A12F834230F4}"/>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3F451115-132A-C49B-C71F-F87E01BECBCE}"/>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C2F14C25-5250-EC9E-16E4-A93A8F09A964}"/>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805E0E1F-7831-B08C-9073-741F5195DAB4}"/>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972B6DE0-AB5A-A26C-7135-4232D484FC64}"/>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47B02406-39C6-DCAE-36BF-720F7CEDC7DF}"/>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F7338BA2-8BA5-77DA-B59F-E2A214DA8C4D}"/>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187E852-21A7-52A4-4335-FF675450F034}"/>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0187E852-21A7-52A4-4335-FF675450F034}"/>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C8828820-F372-DA41-8CEE-AD0F3DB946DD}"/>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D2F10BC5-1186-956A-E9E5-D9CB29C76B95}"/>
                  </a:ext>
                </a:extLst>
              </p:cNvPr>
              <p:cNvSpPr txBox="1"/>
              <p:nvPr/>
            </p:nvSpPr>
            <p:spPr>
              <a:xfrm>
                <a:off x="2904564" y="3233153"/>
                <a:ext cx="8633012" cy="60869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1600" dirty="0"/>
                  <a:t>Calculate Faith’s expected utility from each of her available actions (remembering that if she runs, she wins with probability </a:t>
                </a:r>
                <a14:m>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a14:m>
                <a:r>
                  <a:rPr lang="en-US" sz="1600" dirty="0"/>
                  <a:t> and loses with probability </a:t>
                </a:r>
                <a14:m>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a14:m>
                <a:r>
                  <a:rPr lang="en-US" sz="1600" dirty="0"/>
                  <a:t>).</a:t>
                </a:r>
              </a:p>
            </p:txBody>
          </p:sp>
        </mc:Choice>
        <mc:Fallback xmlns="">
          <p:sp>
            <p:nvSpPr>
              <p:cNvPr id="56" name="TextBox 55">
                <a:extLst>
                  <a:ext uri="{FF2B5EF4-FFF2-40B4-BE49-F238E27FC236}">
                    <a16:creationId xmlns:a16="http://schemas.microsoft.com/office/drawing/2014/main" id="{D2F10BC5-1186-956A-E9E5-D9CB29C76B95}"/>
                  </a:ext>
                </a:extLst>
              </p:cNvPr>
              <p:cNvSpPr txBox="1">
                <a:spLocks noRot="1" noChangeAspect="1" noMove="1" noResize="1" noEditPoints="1" noAdjustHandles="1" noChangeArrowheads="1" noChangeShapeType="1" noTextEdit="1"/>
              </p:cNvSpPr>
              <p:nvPr/>
            </p:nvSpPr>
            <p:spPr>
              <a:xfrm>
                <a:off x="2904564" y="3233153"/>
                <a:ext cx="8633012" cy="608693"/>
              </a:xfrm>
              <a:prstGeom prst="rect">
                <a:avLst/>
              </a:prstGeom>
              <a:blipFill>
                <a:blip r:embed="rId3"/>
                <a:stretch>
                  <a:fillRect l="-282" t="-1942" b="-67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DDFD2BFA-676C-1222-CEF3-2E69F4CEA391}"/>
                  </a:ext>
                </a:extLst>
              </p:cNvPr>
              <p:cNvGraphicFramePr>
                <a:graphicFrameLocks noGrp="1"/>
              </p:cNvGraphicFramePr>
              <p:nvPr>
                <p:extLst>
                  <p:ext uri="{D42A27DB-BD31-4B8C-83A1-F6EECF244321}">
                    <p14:modId xmlns:p14="http://schemas.microsoft.com/office/powerpoint/2010/main" val="2061244922"/>
                  </p:ext>
                </p:extLst>
              </p:nvPr>
            </p:nvGraphicFramePr>
            <p:xfrm>
              <a:off x="3200399" y="4080929"/>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64570893"/>
                        </a:ext>
                      </a:extLst>
                    </a:gridCol>
                    <a:gridCol w="2032000">
                      <a:extLst>
                        <a:ext uri="{9D8B030D-6E8A-4147-A177-3AD203B41FA5}">
                          <a16:colId xmlns:a16="http://schemas.microsoft.com/office/drawing/2014/main" val="647845297"/>
                        </a:ext>
                      </a:extLst>
                    </a:gridCol>
                    <a:gridCol w="2032000">
                      <a:extLst>
                        <a:ext uri="{9D8B030D-6E8A-4147-A177-3AD203B41FA5}">
                          <a16:colId xmlns:a16="http://schemas.microsoft.com/office/drawing/2014/main" val="4224279288"/>
                        </a:ext>
                      </a:extLst>
                    </a:gridCol>
                    <a:gridCol w="2032000">
                      <a:extLst>
                        <a:ext uri="{9D8B030D-6E8A-4147-A177-3AD203B41FA5}">
                          <a16:colId xmlns:a16="http://schemas.microsoft.com/office/drawing/2014/main" val="60495856"/>
                        </a:ext>
                      </a:extLst>
                    </a:gridCol>
                  </a:tblGrid>
                  <a:tr h="370840">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2289210250"/>
                      </a:ext>
                    </a:extLst>
                  </a:tr>
                  <a:tr h="370840">
                    <a:tc rowSpan="2">
                      <a:txBody>
                        <a:bodyPr/>
                        <a:lstStyle/>
                        <a:p>
                          <a:r>
                            <a:rPr lang="en-US" dirty="0"/>
                            <a:t>run</a:t>
                          </a:r>
                        </a:p>
                      </a:txBody>
                      <a:tcPr anchor="ctr">
                        <a:solidFill>
                          <a:schemeClr val="accent2">
                            <a:lumMod val="20000"/>
                            <a:lumOff val="80000"/>
                          </a:schemeClr>
                        </a:solidFill>
                      </a:tcPr>
                    </a:tc>
                    <a:tc>
                      <a:txBody>
                        <a:bodyPr/>
                        <a:lstStyle/>
                        <a:p>
                          <a:r>
                            <a:rPr lang="en-US" dirty="0"/>
                            <a:t>win</a:t>
                          </a:r>
                        </a:p>
                      </a:txBody>
                      <a:tcPr>
                        <a:solidFill>
                          <a:schemeClr val="accent2">
                            <a:lumMod val="20000"/>
                            <a:lumOff val="80000"/>
                          </a:schemeClr>
                        </a:solidFill>
                      </a:tcPr>
                    </a:tc>
                    <a:tc>
                      <a:txBody>
                        <a:bodyPr/>
                        <a:lstStyle/>
                        <a:p>
                          <a:endParaRPr lang="en-US" dirty="0"/>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solidFill>
                          <a:schemeClr val="accent2">
                            <a:lumMod val="20000"/>
                            <a:lumOff val="80000"/>
                          </a:schemeClr>
                        </a:solidFill>
                      </a:tcPr>
                    </a:tc>
                    <a:extLst>
                      <a:ext uri="{0D108BD9-81ED-4DB2-BD59-A6C34878D82A}">
                        <a16:rowId xmlns:a16="http://schemas.microsoft.com/office/drawing/2014/main" val="2879976811"/>
                      </a:ext>
                    </a:extLst>
                  </a:tr>
                  <a:tr h="370840">
                    <a:tc vMerge="1">
                      <a:txBody>
                        <a:bodyPr/>
                        <a:lstStyle/>
                        <a:p>
                          <a:endParaRPr lang="en-US" dirty="0"/>
                        </a:p>
                      </a:txBody>
                      <a:tcPr/>
                    </a:tc>
                    <a:tc>
                      <a:txBody>
                        <a:bodyPr/>
                        <a:lstStyle/>
                        <a:p>
                          <a:r>
                            <a:rPr lang="en-US" dirty="0"/>
                            <a:t>lose</a:t>
                          </a:r>
                        </a:p>
                      </a:txBody>
                      <a:tcPr>
                        <a:solidFill>
                          <a:schemeClr val="accent2">
                            <a:lumMod val="20000"/>
                            <a:lumOff val="80000"/>
                          </a:schemeClr>
                        </a:solidFill>
                      </a:tcPr>
                    </a:tc>
                    <a:tc>
                      <a:txBody>
                        <a:bodyPr/>
                        <a:lstStyle/>
                        <a:p>
                          <a:endParaRPr lang="en-US" dirty="0"/>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solidFill>
                          <a:schemeClr val="accent2">
                            <a:lumMod val="20000"/>
                            <a:lumOff val="80000"/>
                          </a:schemeClr>
                        </a:solidFill>
                      </a:tcPr>
                    </a:tc>
                    <a:extLst>
                      <a:ext uri="{0D108BD9-81ED-4DB2-BD59-A6C34878D82A}">
                        <a16:rowId xmlns:a16="http://schemas.microsoft.com/office/drawing/2014/main" val="1352842019"/>
                      </a:ext>
                    </a:extLst>
                  </a:tr>
                  <a:tr h="370840">
                    <a:tc>
                      <a:txBody>
                        <a:bodyPr/>
                        <a:lstStyle/>
                        <a:p>
                          <a:r>
                            <a:rPr lang="en-US" dirty="0"/>
                            <a:t>don’t run</a:t>
                          </a:r>
                        </a:p>
                      </a:txBody>
                      <a:tcPr/>
                    </a:tc>
                    <a:tc>
                      <a:txBody>
                        <a:bodyPr/>
                        <a:lstStyle/>
                        <a:p>
                          <a:r>
                            <a:rPr lang="en-US" dirty="0"/>
                            <a:t>NA</a:t>
                          </a:r>
                        </a:p>
                      </a:txBody>
                      <a:tcPr/>
                    </a:tc>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1523633854"/>
                      </a:ext>
                    </a:extLst>
                  </a:tr>
                </a:tbl>
              </a:graphicData>
            </a:graphic>
          </p:graphicFrame>
        </mc:Choice>
        <mc:Fallback xmlns="">
          <p:graphicFrame>
            <p:nvGraphicFramePr>
              <p:cNvPr id="9" name="Table 8">
                <a:extLst>
                  <a:ext uri="{FF2B5EF4-FFF2-40B4-BE49-F238E27FC236}">
                    <a16:creationId xmlns:a16="http://schemas.microsoft.com/office/drawing/2014/main" id="{DDFD2BFA-676C-1222-CEF3-2E69F4CEA391}"/>
                  </a:ext>
                </a:extLst>
              </p:cNvPr>
              <p:cNvGraphicFramePr>
                <a:graphicFrameLocks noGrp="1"/>
              </p:cNvGraphicFramePr>
              <p:nvPr>
                <p:extLst>
                  <p:ext uri="{D42A27DB-BD31-4B8C-83A1-F6EECF244321}">
                    <p14:modId xmlns:p14="http://schemas.microsoft.com/office/powerpoint/2010/main" val="2061244922"/>
                  </p:ext>
                </p:extLst>
              </p:nvPr>
            </p:nvGraphicFramePr>
            <p:xfrm>
              <a:off x="3200399" y="4080929"/>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64570893"/>
                        </a:ext>
                      </a:extLst>
                    </a:gridCol>
                    <a:gridCol w="2032000">
                      <a:extLst>
                        <a:ext uri="{9D8B030D-6E8A-4147-A177-3AD203B41FA5}">
                          <a16:colId xmlns:a16="http://schemas.microsoft.com/office/drawing/2014/main" val="647845297"/>
                        </a:ext>
                      </a:extLst>
                    </a:gridCol>
                    <a:gridCol w="2032000">
                      <a:extLst>
                        <a:ext uri="{9D8B030D-6E8A-4147-A177-3AD203B41FA5}">
                          <a16:colId xmlns:a16="http://schemas.microsoft.com/office/drawing/2014/main" val="4224279288"/>
                        </a:ext>
                      </a:extLst>
                    </a:gridCol>
                    <a:gridCol w="2032000">
                      <a:extLst>
                        <a:ext uri="{9D8B030D-6E8A-4147-A177-3AD203B41FA5}">
                          <a16:colId xmlns:a16="http://schemas.microsoft.com/office/drawing/2014/main" val="60495856"/>
                        </a:ext>
                      </a:extLst>
                    </a:gridCol>
                  </a:tblGrid>
                  <a:tr h="370840">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2289210250"/>
                      </a:ext>
                    </a:extLst>
                  </a:tr>
                  <a:tr h="370840">
                    <a:tc rowSpan="2">
                      <a:txBody>
                        <a:bodyPr/>
                        <a:lstStyle/>
                        <a:p>
                          <a:r>
                            <a:rPr lang="en-US" dirty="0"/>
                            <a:t>run</a:t>
                          </a:r>
                        </a:p>
                      </a:txBody>
                      <a:tcPr anchor="ctr">
                        <a:solidFill>
                          <a:schemeClr val="accent2">
                            <a:lumMod val="20000"/>
                            <a:lumOff val="80000"/>
                          </a:schemeClr>
                        </a:solidFill>
                      </a:tcPr>
                    </a:tc>
                    <a:tc>
                      <a:txBody>
                        <a:bodyPr/>
                        <a:lstStyle/>
                        <a:p>
                          <a:r>
                            <a:rPr lang="en-US" dirty="0"/>
                            <a:t>win</a:t>
                          </a:r>
                        </a:p>
                      </a:txBody>
                      <a:tcPr>
                        <a:solidFill>
                          <a:schemeClr val="accent2">
                            <a:lumMod val="20000"/>
                            <a:lumOff val="80000"/>
                          </a:schemeClr>
                        </a:solidFill>
                      </a:tcPr>
                    </a:tc>
                    <a:tc>
                      <a:txBody>
                        <a:bodyPr/>
                        <a:lstStyle/>
                        <a:p>
                          <a:endParaRPr lang="en-US" dirty="0"/>
                        </a:p>
                      </a:txBody>
                      <a:tcPr>
                        <a:solidFill>
                          <a:schemeClr val="accent2">
                            <a:lumMod val="20000"/>
                            <a:lumOff val="80000"/>
                          </a:schemeClr>
                        </a:solidFill>
                      </a:tcPr>
                    </a:tc>
                    <a:tc>
                      <a:txBody>
                        <a:bodyPr/>
                        <a:lstStyle/>
                        <a:p>
                          <a:endParaRPr lang="en-US"/>
                        </a:p>
                      </a:txBody>
                      <a:tcPr>
                        <a:blipFill>
                          <a:blip r:embed="rId4"/>
                          <a:stretch>
                            <a:fillRect l="-300000" t="-106557" r="-1198" b="-226230"/>
                          </a:stretch>
                        </a:blipFill>
                      </a:tcPr>
                    </a:tc>
                    <a:extLst>
                      <a:ext uri="{0D108BD9-81ED-4DB2-BD59-A6C34878D82A}">
                        <a16:rowId xmlns:a16="http://schemas.microsoft.com/office/drawing/2014/main" val="2879976811"/>
                      </a:ext>
                    </a:extLst>
                  </a:tr>
                  <a:tr h="370840">
                    <a:tc vMerge="1">
                      <a:txBody>
                        <a:bodyPr/>
                        <a:lstStyle/>
                        <a:p>
                          <a:endParaRPr lang="en-US" dirty="0"/>
                        </a:p>
                      </a:txBody>
                      <a:tcPr/>
                    </a:tc>
                    <a:tc>
                      <a:txBody>
                        <a:bodyPr/>
                        <a:lstStyle/>
                        <a:p>
                          <a:r>
                            <a:rPr lang="en-US" dirty="0"/>
                            <a:t>lose</a:t>
                          </a:r>
                        </a:p>
                      </a:txBody>
                      <a:tcPr>
                        <a:solidFill>
                          <a:schemeClr val="accent2">
                            <a:lumMod val="20000"/>
                            <a:lumOff val="80000"/>
                          </a:schemeClr>
                        </a:solidFill>
                      </a:tcPr>
                    </a:tc>
                    <a:tc>
                      <a:txBody>
                        <a:bodyPr/>
                        <a:lstStyle/>
                        <a:p>
                          <a:endParaRPr lang="en-US" dirty="0"/>
                        </a:p>
                      </a:txBody>
                      <a:tcPr>
                        <a:solidFill>
                          <a:schemeClr val="accent2">
                            <a:lumMod val="20000"/>
                            <a:lumOff val="80000"/>
                          </a:schemeClr>
                        </a:solidFill>
                      </a:tcPr>
                    </a:tc>
                    <a:tc>
                      <a:txBody>
                        <a:bodyPr/>
                        <a:lstStyle/>
                        <a:p>
                          <a:endParaRPr lang="en-US"/>
                        </a:p>
                      </a:txBody>
                      <a:tcPr>
                        <a:blipFill>
                          <a:blip r:embed="rId4"/>
                          <a:stretch>
                            <a:fillRect l="-300000" t="-206557" r="-1198" b="-126230"/>
                          </a:stretch>
                        </a:blipFill>
                      </a:tcPr>
                    </a:tc>
                    <a:extLst>
                      <a:ext uri="{0D108BD9-81ED-4DB2-BD59-A6C34878D82A}">
                        <a16:rowId xmlns:a16="http://schemas.microsoft.com/office/drawing/2014/main" val="1352842019"/>
                      </a:ext>
                    </a:extLst>
                  </a:tr>
                  <a:tr h="370840">
                    <a:tc>
                      <a:txBody>
                        <a:bodyPr/>
                        <a:lstStyle/>
                        <a:p>
                          <a:r>
                            <a:rPr lang="en-US" dirty="0"/>
                            <a:t>don’t run</a:t>
                          </a:r>
                        </a:p>
                      </a:txBody>
                      <a:tcPr/>
                    </a:tc>
                    <a:tc>
                      <a:txBody>
                        <a:bodyPr/>
                        <a:lstStyle/>
                        <a:p>
                          <a:r>
                            <a:rPr lang="en-US" dirty="0"/>
                            <a:t>NA</a:t>
                          </a:r>
                        </a:p>
                      </a:txBody>
                      <a:tcPr/>
                    </a:tc>
                    <a:tc>
                      <a:txBody>
                        <a:bodyPr/>
                        <a:lstStyle/>
                        <a:p>
                          <a:endParaRPr lang="en-US" dirty="0"/>
                        </a:p>
                      </a:txBody>
                      <a:tcPr/>
                    </a:tc>
                    <a:tc>
                      <a:txBody>
                        <a:bodyPr/>
                        <a:lstStyle/>
                        <a:p>
                          <a:endParaRPr lang="en-US"/>
                        </a:p>
                      </a:txBody>
                      <a:tcPr>
                        <a:blipFill>
                          <a:blip r:embed="rId4"/>
                          <a:stretch>
                            <a:fillRect l="-300000" t="-306557" r="-1198" b="-26230"/>
                          </a:stretch>
                        </a:blipFill>
                      </a:tcPr>
                    </a:tc>
                    <a:extLst>
                      <a:ext uri="{0D108BD9-81ED-4DB2-BD59-A6C34878D82A}">
                        <a16:rowId xmlns:a16="http://schemas.microsoft.com/office/drawing/2014/main" val="1523633854"/>
                      </a:ext>
                    </a:extLst>
                  </a:tr>
                </a:tbl>
              </a:graphicData>
            </a:graphic>
          </p:graphicFrame>
        </mc:Fallback>
      </mc:AlternateContent>
      <p:sp>
        <p:nvSpPr>
          <p:cNvPr id="10" name="TextBox 9">
            <a:extLst>
              <a:ext uri="{FF2B5EF4-FFF2-40B4-BE49-F238E27FC236}">
                <a16:creationId xmlns:a16="http://schemas.microsoft.com/office/drawing/2014/main" id="{E1EC90BA-DC23-4183-11DC-0F4D63D57F38}"/>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2460218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CE7A6-96DF-9EA7-4F32-1890319CC5C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00D7469-FFB3-05D8-C73C-9EF42551D8FD}"/>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0AC74D6A-8E94-9252-D063-356693EB04D8}"/>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5FF1162F-F5EF-E9A8-D2B8-B191CBA7ABED}"/>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6F272CEC-5448-E075-146F-A16231F9CBEA}"/>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8BFBB49B-07DD-DFFF-AB2B-431FEEB87903}"/>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DD621EF9-46FD-03F2-B862-B4DF76D37A1F}"/>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3C6173EF-DBDA-6E8F-B5A5-78242999BEBC}"/>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BEF3D6C-690F-1638-149C-642AB7FECE16}"/>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2BEF3D6C-690F-1638-149C-642AB7FECE16}"/>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C7B083F3-3824-5210-4545-0AF4464CF09C}"/>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78E88FA5-440A-C114-AB40-A9381000B583}"/>
                  </a:ext>
                </a:extLst>
              </p:cNvPr>
              <p:cNvSpPr txBox="1"/>
              <p:nvPr/>
            </p:nvSpPr>
            <p:spPr>
              <a:xfrm>
                <a:off x="2904564" y="3233153"/>
                <a:ext cx="8633012" cy="60869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1600" dirty="0"/>
                  <a:t>Calculate Faith’s expected utility from each of her available actions (remembering that if she runs, she wins with probability </a:t>
                </a:r>
                <a14:m>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a14:m>
                <a:r>
                  <a:rPr lang="en-US" sz="1600" dirty="0"/>
                  <a:t> and loses with probability </a:t>
                </a:r>
                <a14:m>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a14:m>
                <a:r>
                  <a:rPr lang="en-US" sz="1600" dirty="0"/>
                  <a:t>).</a:t>
                </a:r>
              </a:p>
            </p:txBody>
          </p:sp>
        </mc:Choice>
        <mc:Fallback xmlns="">
          <p:sp>
            <p:nvSpPr>
              <p:cNvPr id="56" name="TextBox 55">
                <a:extLst>
                  <a:ext uri="{FF2B5EF4-FFF2-40B4-BE49-F238E27FC236}">
                    <a16:creationId xmlns:a16="http://schemas.microsoft.com/office/drawing/2014/main" id="{78E88FA5-440A-C114-AB40-A9381000B583}"/>
                  </a:ext>
                </a:extLst>
              </p:cNvPr>
              <p:cNvSpPr txBox="1">
                <a:spLocks noRot="1" noChangeAspect="1" noMove="1" noResize="1" noEditPoints="1" noAdjustHandles="1" noChangeArrowheads="1" noChangeShapeType="1" noTextEdit="1"/>
              </p:cNvSpPr>
              <p:nvPr/>
            </p:nvSpPr>
            <p:spPr>
              <a:xfrm>
                <a:off x="2904564" y="3233153"/>
                <a:ext cx="8633012" cy="608693"/>
              </a:xfrm>
              <a:prstGeom prst="rect">
                <a:avLst/>
              </a:prstGeom>
              <a:blipFill>
                <a:blip r:embed="rId3"/>
                <a:stretch>
                  <a:fillRect l="-282" t="-1942" b="-67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39D62161-7C89-5459-E94A-0082BCABFED4}"/>
                  </a:ext>
                </a:extLst>
              </p:cNvPr>
              <p:cNvGraphicFramePr>
                <a:graphicFrameLocks noGrp="1"/>
              </p:cNvGraphicFramePr>
              <p:nvPr>
                <p:extLst>
                  <p:ext uri="{D42A27DB-BD31-4B8C-83A1-F6EECF244321}">
                    <p14:modId xmlns:p14="http://schemas.microsoft.com/office/powerpoint/2010/main" val="1231915589"/>
                  </p:ext>
                </p:extLst>
              </p:nvPr>
            </p:nvGraphicFramePr>
            <p:xfrm>
              <a:off x="3200399" y="4080929"/>
              <a:ext cx="8128000" cy="1563752"/>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64570893"/>
                        </a:ext>
                      </a:extLst>
                    </a:gridCol>
                    <a:gridCol w="2032000">
                      <a:extLst>
                        <a:ext uri="{9D8B030D-6E8A-4147-A177-3AD203B41FA5}">
                          <a16:colId xmlns:a16="http://schemas.microsoft.com/office/drawing/2014/main" val="647845297"/>
                        </a:ext>
                      </a:extLst>
                    </a:gridCol>
                    <a:gridCol w="2032000">
                      <a:extLst>
                        <a:ext uri="{9D8B030D-6E8A-4147-A177-3AD203B41FA5}">
                          <a16:colId xmlns:a16="http://schemas.microsoft.com/office/drawing/2014/main" val="4224279288"/>
                        </a:ext>
                      </a:extLst>
                    </a:gridCol>
                    <a:gridCol w="2032000">
                      <a:extLst>
                        <a:ext uri="{9D8B030D-6E8A-4147-A177-3AD203B41FA5}">
                          <a16:colId xmlns:a16="http://schemas.microsoft.com/office/drawing/2014/main" val="60495856"/>
                        </a:ext>
                      </a:extLst>
                    </a:gridCol>
                  </a:tblGrid>
                  <a:tr h="370840">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2289210250"/>
                      </a:ext>
                    </a:extLst>
                  </a:tr>
                  <a:tr h="370840">
                    <a:tc rowSpan="2">
                      <a:txBody>
                        <a:bodyPr/>
                        <a:lstStyle/>
                        <a:p>
                          <a:r>
                            <a:rPr lang="en-US" dirty="0"/>
                            <a:t>run</a:t>
                          </a:r>
                        </a:p>
                      </a:txBody>
                      <a:tcPr anchor="ctr">
                        <a:solidFill>
                          <a:schemeClr val="accent2">
                            <a:lumMod val="20000"/>
                            <a:lumOff val="80000"/>
                          </a:schemeClr>
                        </a:solidFill>
                      </a:tcPr>
                    </a:tc>
                    <a:tc>
                      <a:txBody>
                        <a:bodyPr/>
                        <a:lstStyle/>
                        <a:p>
                          <a:r>
                            <a:rPr lang="en-US" dirty="0"/>
                            <a:t>win</a:t>
                          </a:r>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solidFill>
                          <a:schemeClr val="accent2">
                            <a:lumMod val="20000"/>
                            <a:lumOff val="80000"/>
                          </a:schemeClr>
                        </a:solidFill>
                      </a:tcPr>
                    </a:tc>
                    <a:extLst>
                      <a:ext uri="{0D108BD9-81ED-4DB2-BD59-A6C34878D82A}">
                        <a16:rowId xmlns:a16="http://schemas.microsoft.com/office/drawing/2014/main" val="2879976811"/>
                      </a:ext>
                    </a:extLst>
                  </a:tr>
                  <a:tr h="370840">
                    <a:tc vMerge="1">
                      <a:txBody>
                        <a:bodyPr/>
                        <a:lstStyle/>
                        <a:p>
                          <a:endParaRPr lang="en-US" dirty="0"/>
                        </a:p>
                      </a:txBody>
                      <a:tcPr/>
                    </a:tc>
                    <a:tc>
                      <a:txBody>
                        <a:bodyPr/>
                        <a:lstStyle/>
                        <a:p>
                          <a:r>
                            <a:rPr lang="en-US" dirty="0"/>
                            <a:t>lose</a:t>
                          </a:r>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solidFill>
                          <a:schemeClr val="accent2">
                            <a:lumMod val="20000"/>
                            <a:lumOff val="80000"/>
                          </a:schemeClr>
                        </a:solidFill>
                      </a:tcPr>
                    </a:tc>
                    <a:extLst>
                      <a:ext uri="{0D108BD9-81ED-4DB2-BD59-A6C34878D82A}">
                        <a16:rowId xmlns:a16="http://schemas.microsoft.com/office/drawing/2014/main" val="1352842019"/>
                      </a:ext>
                    </a:extLst>
                  </a:tr>
                  <a:tr h="370840">
                    <a:tc>
                      <a:txBody>
                        <a:bodyPr/>
                        <a:lstStyle/>
                        <a:p>
                          <a:r>
                            <a:rPr lang="en-US" dirty="0"/>
                            <a:t>don’t run</a:t>
                          </a:r>
                        </a:p>
                      </a:txBody>
                      <a:tcPr/>
                    </a:tc>
                    <a:tc>
                      <a:txBody>
                        <a:bodyPr/>
                        <a:lstStyle/>
                        <a:p>
                          <a:r>
                            <a:rPr lang="en-US" dirty="0"/>
                            <a:t>NA</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1523633854"/>
                      </a:ext>
                    </a:extLst>
                  </a:tr>
                </a:tbl>
              </a:graphicData>
            </a:graphic>
          </p:graphicFrame>
        </mc:Choice>
        <mc:Fallback xmlns="">
          <p:graphicFrame>
            <p:nvGraphicFramePr>
              <p:cNvPr id="9" name="Table 8">
                <a:extLst>
                  <a:ext uri="{FF2B5EF4-FFF2-40B4-BE49-F238E27FC236}">
                    <a16:creationId xmlns:a16="http://schemas.microsoft.com/office/drawing/2014/main" id="{39D62161-7C89-5459-E94A-0082BCABFED4}"/>
                  </a:ext>
                </a:extLst>
              </p:cNvPr>
              <p:cNvGraphicFramePr>
                <a:graphicFrameLocks noGrp="1"/>
              </p:cNvGraphicFramePr>
              <p:nvPr>
                <p:extLst>
                  <p:ext uri="{D42A27DB-BD31-4B8C-83A1-F6EECF244321}">
                    <p14:modId xmlns:p14="http://schemas.microsoft.com/office/powerpoint/2010/main" val="1231915589"/>
                  </p:ext>
                </p:extLst>
              </p:nvPr>
            </p:nvGraphicFramePr>
            <p:xfrm>
              <a:off x="3200399" y="4080929"/>
              <a:ext cx="8128000" cy="1563752"/>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64570893"/>
                        </a:ext>
                      </a:extLst>
                    </a:gridCol>
                    <a:gridCol w="2032000">
                      <a:extLst>
                        <a:ext uri="{9D8B030D-6E8A-4147-A177-3AD203B41FA5}">
                          <a16:colId xmlns:a16="http://schemas.microsoft.com/office/drawing/2014/main" val="647845297"/>
                        </a:ext>
                      </a:extLst>
                    </a:gridCol>
                    <a:gridCol w="2032000">
                      <a:extLst>
                        <a:ext uri="{9D8B030D-6E8A-4147-A177-3AD203B41FA5}">
                          <a16:colId xmlns:a16="http://schemas.microsoft.com/office/drawing/2014/main" val="4224279288"/>
                        </a:ext>
                      </a:extLst>
                    </a:gridCol>
                    <a:gridCol w="2032000">
                      <a:extLst>
                        <a:ext uri="{9D8B030D-6E8A-4147-A177-3AD203B41FA5}">
                          <a16:colId xmlns:a16="http://schemas.microsoft.com/office/drawing/2014/main" val="60495856"/>
                        </a:ext>
                      </a:extLst>
                    </a:gridCol>
                  </a:tblGrid>
                  <a:tr h="370840">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2289210250"/>
                      </a:ext>
                    </a:extLst>
                  </a:tr>
                  <a:tr h="411036">
                    <a:tc rowSpan="2">
                      <a:txBody>
                        <a:bodyPr/>
                        <a:lstStyle/>
                        <a:p>
                          <a:r>
                            <a:rPr lang="en-US" dirty="0"/>
                            <a:t>run</a:t>
                          </a:r>
                        </a:p>
                      </a:txBody>
                      <a:tcPr anchor="ctr">
                        <a:solidFill>
                          <a:schemeClr val="accent2">
                            <a:lumMod val="20000"/>
                            <a:lumOff val="80000"/>
                          </a:schemeClr>
                        </a:solidFill>
                      </a:tcPr>
                    </a:tc>
                    <a:tc>
                      <a:txBody>
                        <a:bodyPr/>
                        <a:lstStyle/>
                        <a:p>
                          <a:r>
                            <a:rPr lang="en-US" dirty="0"/>
                            <a:t>win</a:t>
                          </a:r>
                        </a:p>
                      </a:txBody>
                      <a:tcPr>
                        <a:solidFill>
                          <a:schemeClr val="accent2">
                            <a:lumMod val="20000"/>
                            <a:lumOff val="80000"/>
                          </a:schemeClr>
                        </a:solidFill>
                      </a:tcPr>
                    </a:tc>
                    <a:tc>
                      <a:txBody>
                        <a:bodyPr/>
                        <a:lstStyle/>
                        <a:p>
                          <a:endParaRPr lang="en-US"/>
                        </a:p>
                      </a:txBody>
                      <a:tcPr>
                        <a:blipFill>
                          <a:blip r:embed="rId4"/>
                          <a:stretch>
                            <a:fillRect l="-200901" t="-95588" r="-101502" b="-211765"/>
                          </a:stretch>
                        </a:blipFill>
                      </a:tcPr>
                    </a:tc>
                    <a:tc>
                      <a:txBody>
                        <a:bodyPr/>
                        <a:lstStyle/>
                        <a:p>
                          <a:endParaRPr lang="en-US"/>
                        </a:p>
                      </a:txBody>
                      <a:tcPr>
                        <a:blipFill>
                          <a:blip r:embed="rId4"/>
                          <a:stretch>
                            <a:fillRect l="-300000" t="-95588" r="-1198" b="-211765"/>
                          </a:stretch>
                        </a:blipFill>
                      </a:tcPr>
                    </a:tc>
                    <a:extLst>
                      <a:ext uri="{0D108BD9-81ED-4DB2-BD59-A6C34878D82A}">
                        <a16:rowId xmlns:a16="http://schemas.microsoft.com/office/drawing/2014/main" val="2879976811"/>
                      </a:ext>
                    </a:extLst>
                  </a:tr>
                  <a:tr h="411036">
                    <a:tc vMerge="1">
                      <a:txBody>
                        <a:bodyPr/>
                        <a:lstStyle/>
                        <a:p>
                          <a:endParaRPr lang="en-US" dirty="0"/>
                        </a:p>
                      </a:txBody>
                      <a:tcPr/>
                    </a:tc>
                    <a:tc>
                      <a:txBody>
                        <a:bodyPr/>
                        <a:lstStyle/>
                        <a:p>
                          <a:r>
                            <a:rPr lang="en-US" dirty="0"/>
                            <a:t>lose</a:t>
                          </a:r>
                        </a:p>
                      </a:txBody>
                      <a:tcPr>
                        <a:solidFill>
                          <a:schemeClr val="accent2">
                            <a:lumMod val="20000"/>
                            <a:lumOff val="80000"/>
                          </a:schemeClr>
                        </a:solidFill>
                      </a:tcPr>
                    </a:tc>
                    <a:tc>
                      <a:txBody>
                        <a:bodyPr/>
                        <a:lstStyle/>
                        <a:p>
                          <a:endParaRPr lang="en-US"/>
                        </a:p>
                      </a:txBody>
                      <a:tcPr>
                        <a:blipFill>
                          <a:blip r:embed="rId4"/>
                          <a:stretch>
                            <a:fillRect l="-200901" t="-198507" r="-101502" b="-114925"/>
                          </a:stretch>
                        </a:blipFill>
                      </a:tcPr>
                    </a:tc>
                    <a:tc>
                      <a:txBody>
                        <a:bodyPr/>
                        <a:lstStyle/>
                        <a:p>
                          <a:endParaRPr lang="en-US"/>
                        </a:p>
                      </a:txBody>
                      <a:tcPr>
                        <a:blipFill>
                          <a:blip r:embed="rId4"/>
                          <a:stretch>
                            <a:fillRect l="-300000" t="-198507" r="-1198" b="-114925"/>
                          </a:stretch>
                        </a:blipFill>
                      </a:tcPr>
                    </a:tc>
                    <a:extLst>
                      <a:ext uri="{0D108BD9-81ED-4DB2-BD59-A6C34878D82A}">
                        <a16:rowId xmlns:a16="http://schemas.microsoft.com/office/drawing/2014/main" val="1352842019"/>
                      </a:ext>
                    </a:extLst>
                  </a:tr>
                  <a:tr h="370840">
                    <a:tc>
                      <a:txBody>
                        <a:bodyPr/>
                        <a:lstStyle/>
                        <a:p>
                          <a:r>
                            <a:rPr lang="en-US" dirty="0"/>
                            <a:t>don’t run</a:t>
                          </a:r>
                        </a:p>
                      </a:txBody>
                      <a:tcPr/>
                    </a:tc>
                    <a:tc>
                      <a:txBody>
                        <a:bodyPr/>
                        <a:lstStyle/>
                        <a:p>
                          <a:r>
                            <a:rPr lang="en-US" dirty="0"/>
                            <a:t>NA</a:t>
                          </a:r>
                        </a:p>
                      </a:txBody>
                      <a:tcPr/>
                    </a:tc>
                    <a:tc>
                      <a:txBody>
                        <a:bodyPr/>
                        <a:lstStyle/>
                        <a:p>
                          <a:endParaRPr lang="en-US"/>
                        </a:p>
                      </a:txBody>
                      <a:tcPr>
                        <a:blipFill>
                          <a:blip r:embed="rId4"/>
                          <a:stretch>
                            <a:fillRect l="-200901" t="-327869" r="-101502" b="-26230"/>
                          </a:stretch>
                        </a:blipFill>
                      </a:tcPr>
                    </a:tc>
                    <a:tc>
                      <a:txBody>
                        <a:bodyPr/>
                        <a:lstStyle/>
                        <a:p>
                          <a:endParaRPr lang="en-US"/>
                        </a:p>
                      </a:txBody>
                      <a:tcPr>
                        <a:blipFill>
                          <a:blip r:embed="rId4"/>
                          <a:stretch>
                            <a:fillRect l="-300000" t="-327869" r="-1198" b="-26230"/>
                          </a:stretch>
                        </a:blipFill>
                      </a:tcPr>
                    </a:tc>
                    <a:extLst>
                      <a:ext uri="{0D108BD9-81ED-4DB2-BD59-A6C34878D82A}">
                        <a16:rowId xmlns:a16="http://schemas.microsoft.com/office/drawing/2014/main" val="1523633854"/>
                      </a:ext>
                    </a:extLst>
                  </a:tr>
                </a:tbl>
              </a:graphicData>
            </a:graphic>
          </p:graphicFrame>
        </mc:Fallback>
      </mc:AlternateContent>
      <p:sp>
        <p:nvSpPr>
          <p:cNvPr id="10" name="TextBox 9">
            <a:extLst>
              <a:ext uri="{FF2B5EF4-FFF2-40B4-BE49-F238E27FC236}">
                <a16:creationId xmlns:a16="http://schemas.microsoft.com/office/drawing/2014/main" id="{C33EC08F-D165-E7FC-7CB7-C462F9845DC8}"/>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1969079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244A6-9FAD-6488-1063-49FB2FAC40C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1BB405F-1B97-9782-84F1-DB5499F2F012}"/>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731BD6C9-59B0-AA50-B873-2AC1613CBE68}"/>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ABA54057-6E58-BB6B-39C9-E56934D3B15F}"/>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4CAE1FDE-288D-61AC-E2EF-E6CB7E48EB85}"/>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B4602332-CECC-C274-C964-B72FDADB0D61}"/>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D792082C-9F24-67FF-90E3-16FA6B340D20}"/>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DFBADDD4-7BCE-E0FB-EFCA-CD1824BFDFD4}"/>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8D064DE-07A6-09C2-0CFA-B2080175976B}"/>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D8D064DE-07A6-09C2-0CFA-B2080175976B}"/>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BE2CECE8-0AB4-EC66-D86E-AD61029857D0}"/>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4FB1E419-EE7A-762C-F3CF-2192C866A317}"/>
                  </a:ext>
                </a:extLst>
              </p:cNvPr>
              <p:cNvSpPr txBox="1"/>
              <p:nvPr/>
            </p:nvSpPr>
            <p:spPr>
              <a:xfrm>
                <a:off x="2904564" y="3233153"/>
                <a:ext cx="8633012" cy="60869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1600" dirty="0"/>
                  <a:t>Calculate Faith’s expected utility from each of her available actions (remembering that if she runs, she wins with probability </a:t>
                </a:r>
                <a14:m>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a14:m>
                <a:r>
                  <a:rPr lang="en-US" sz="1600" dirty="0"/>
                  <a:t> and loses with probability </a:t>
                </a:r>
                <a14:m>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a14:m>
                <a:r>
                  <a:rPr lang="en-US" sz="1600" dirty="0"/>
                  <a:t>).</a:t>
                </a:r>
              </a:p>
            </p:txBody>
          </p:sp>
        </mc:Choice>
        <mc:Fallback xmlns="">
          <p:sp>
            <p:nvSpPr>
              <p:cNvPr id="56" name="TextBox 55">
                <a:extLst>
                  <a:ext uri="{FF2B5EF4-FFF2-40B4-BE49-F238E27FC236}">
                    <a16:creationId xmlns:a16="http://schemas.microsoft.com/office/drawing/2014/main" id="{4FB1E419-EE7A-762C-F3CF-2192C866A317}"/>
                  </a:ext>
                </a:extLst>
              </p:cNvPr>
              <p:cNvSpPr txBox="1">
                <a:spLocks noRot="1" noChangeAspect="1" noMove="1" noResize="1" noEditPoints="1" noAdjustHandles="1" noChangeArrowheads="1" noChangeShapeType="1" noTextEdit="1"/>
              </p:cNvSpPr>
              <p:nvPr/>
            </p:nvSpPr>
            <p:spPr>
              <a:xfrm>
                <a:off x="2904564" y="3233153"/>
                <a:ext cx="8633012" cy="608693"/>
              </a:xfrm>
              <a:prstGeom prst="rect">
                <a:avLst/>
              </a:prstGeom>
              <a:blipFill>
                <a:blip r:embed="rId3"/>
                <a:stretch>
                  <a:fillRect l="-282" t="-1942" b="-67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0980BDD0-FD9B-B8AD-51CD-18E7129A8B94}"/>
                  </a:ext>
                </a:extLst>
              </p:cNvPr>
              <p:cNvGraphicFramePr>
                <a:graphicFrameLocks noGrp="1"/>
              </p:cNvGraphicFramePr>
              <p:nvPr/>
            </p:nvGraphicFramePr>
            <p:xfrm>
              <a:off x="3200399" y="4080929"/>
              <a:ext cx="8128000" cy="1563752"/>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64570893"/>
                        </a:ext>
                      </a:extLst>
                    </a:gridCol>
                    <a:gridCol w="2032000">
                      <a:extLst>
                        <a:ext uri="{9D8B030D-6E8A-4147-A177-3AD203B41FA5}">
                          <a16:colId xmlns:a16="http://schemas.microsoft.com/office/drawing/2014/main" val="647845297"/>
                        </a:ext>
                      </a:extLst>
                    </a:gridCol>
                    <a:gridCol w="2032000">
                      <a:extLst>
                        <a:ext uri="{9D8B030D-6E8A-4147-A177-3AD203B41FA5}">
                          <a16:colId xmlns:a16="http://schemas.microsoft.com/office/drawing/2014/main" val="4224279288"/>
                        </a:ext>
                      </a:extLst>
                    </a:gridCol>
                    <a:gridCol w="2032000">
                      <a:extLst>
                        <a:ext uri="{9D8B030D-6E8A-4147-A177-3AD203B41FA5}">
                          <a16:colId xmlns:a16="http://schemas.microsoft.com/office/drawing/2014/main" val="60495856"/>
                        </a:ext>
                      </a:extLst>
                    </a:gridCol>
                  </a:tblGrid>
                  <a:tr h="370840">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2289210250"/>
                      </a:ext>
                    </a:extLst>
                  </a:tr>
                  <a:tr h="370840">
                    <a:tc rowSpan="2">
                      <a:txBody>
                        <a:bodyPr/>
                        <a:lstStyle/>
                        <a:p>
                          <a:r>
                            <a:rPr lang="en-US" dirty="0"/>
                            <a:t>run</a:t>
                          </a:r>
                        </a:p>
                      </a:txBody>
                      <a:tcPr anchor="ctr">
                        <a:solidFill>
                          <a:schemeClr val="accent2">
                            <a:lumMod val="20000"/>
                            <a:lumOff val="80000"/>
                          </a:schemeClr>
                        </a:solidFill>
                      </a:tcPr>
                    </a:tc>
                    <a:tc>
                      <a:txBody>
                        <a:bodyPr/>
                        <a:lstStyle/>
                        <a:p>
                          <a:r>
                            <a:rPr lang="en-US" dirty="0"/>
                            <a:t>win</a:t>
                          </a:r>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solidFill>
                          <a:schemeClr val="accent2">
                            <a:lumMod val="20000"/>
                            <a:lumOff val="80000"/>
                          </a:schemeClr>
                        </a:solidFill>
                      </a:tcPr>
                    </a:tc>
                    <a:extLst>
                      <a:ext uri="{0D108BD9-81ED-4DB2-BD59-A6C34878D82A}">
                        <a16:rowId xmlns:a16="http://schemas.microsoft.com/office/drawing/2014/main" val="2879976811"/>
                      </a:ext>
                    </a:extLst>
                  </a:tr>
                  <a:tr h="370840">
                    <a:tc vMerge="1">
                      <a:txBody>
                        <a:bodyPr/>
                        <a:lstStyle/>
                        <a:p>
                          <a:endParaRPr lang="en-US" dirty="0"/>
                        </a:p>
                      </a:txBody>
                      <a:tcPr/>
                    </a:tc>
                    <a:tc>
                      <a:txBody>
                        <a:bodyPr/>
                        <a:lstStyle/>
                        <a:p>
                          <a:r>
                            <a:rPr lang="en-US" dirty="0"/>
                            <a:t>lose</a:t>
                          </a:r>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solidFill>
                          <a:schemeClr val="accent2">
                            <a:lumMod val="20000"/>
                            <a:lumOff val="80000"/>
                          </a:schemeClr>
                        </a:solidFill>
                      </a:tcPr>
                    </a:tc>
                    <a:extLst>
                      <a:ext uri="{0D108BD9-81ED-4DB2-BD59-A6C34878D82A}">
                        <a16:rowId xmlns:a16="http://schemas.microsoft.com/office/drawing/2014/main" val="1352842019"/>
                      </a:ext>
                    </a:extLst>
                  </a:tr>
                  <a:tr h="370840">
                    <a:tc>
                      <a:txBody>
                        <a:bodyPr/>
                        <a:lstStyle/>
                        <a:p>
                          <a:r>
                            <a:rPr lang="en-US" dirty="0"/>
                            <a:t>don’t run</a:t>
                          </a:r>
                        </a:p>
                      </a:txBody>
                      <a:tcPr/>
                    </a:tc>
                    <a:tc>
                      <a:txBody>
                        <a:bodyPr/>
                        <a:lstStyle/>
                        <a:p>
                          <a:r>
                            <a:rPr lang="en-US" dirty="0"/>
                            <a:t>NA</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1523633854"/>
                      </a:ext>
                    </a:extLst>
                  </a:tr>
                </a:tbl>
              </a:graphicData>
            </a:graphic>
          </p:graphicFrame>
        </mc:Choice>
        <mc:Fallback xmlns="">
          <p:graphicFrame>
            <p:nvGraphicFramePr>
              <p:cNvPr id="9" name="Table 8">
                <a:extLst>
                  <a:ext uri="{FF2B5EF4-FFF2-40B4-BE49-F238E27FC236}">
                    <a16:creationId xmlns:a16="http://schemas.microsoft.com/office/drawing/2014/main" id="{0980BDD0-FD9B-B8AD-51CD-18E7129A8B94}"/>
                  </a:ext>
                </a:extLst>
              </p:cNvPr>
              <p:cNvGraphicFramePr>
                <a:graphicFrameLocks noGrp="1"/>
              </p:cNvGraphicFramePr>
              <p:nvPr/>
            </p:nvGraphicFramePr>
            <p:xfrm>
              <a:off x="3200399" y="4080929"/>
              <a:ext cx="8128000" cy="1563752"/>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64570893"/>
                        </a:ext>
                      </a:extLst>
                    </a:gridCol>
                    <a:gridCol w="2032000">
                      <a:extLst>
                        <a:ext uri="{9D8B030D-6E8A-4147-A177-3AD203B41FA5}">
                          <a16:colId xmlns:a16="http://schemas.microsoft.com/office/drawing/2014/main" val="647845297"/>
                        </a:ext>
                      </a:extLst>
                    </a:gridCol>
                    <a:gridCol w="2032000">
                      <a:extLst>
                        <a:ext uri="{9D8B030D-6E8A-4147-A177-3AD203B41FA5}">
                          <a16:colId xmlns:a16="http://schemas.microsoft.com/office/drawing/2014/main" val="4224279288"/>
                        </a:ext>
                      </a:extLst>
                    </a:gridCol>
                    <a:gridCol w="2032000">
                      <a:extLst>
                        <a:ext uri="{9D8B030D-6E8A-4147-A177-3AD203B41FA5}">
                          <a16:colId xmlns:a16="http://schemas.microsoft.com/office/drawing/2014/main" val="60495856"/>
                        </a:ext>
                      </a:extLst>
                    </a:gridCol>
                  </a:tblGrid>
                  <a:tr h="370840">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2289210250"/>
                      </a:ext>
                    </a:extLst>
                  </a:tr>
                  <a:tr h="411036">
                    <a:tc rowSpan="2">
                      <a:txBody>
                        <a:bodyPr/>
                        <a:lstStyle/>
                        <a:p>
                          <a:r>
                            <a:rPr lang="en-US" dirty="0"/>
                            <a:t>run</a:t>
                          </a:r>
                        </a:p>
                      </a:txBody>
                      <a:tcPr anchor="ctr">
                        <a:solidFill>
                          <a:schemeClr val="accent2">
                            <a:lumMod val="20000"/>
                            <a:lumOff val="80000"/>
                          </a:schemeClr>
                        </a:solidFill>
                      </a:tcPr>
                    </a:tc>
                    <a:tc>
                      <a:txBody>
                        <a:bodyPr/>
                        <a:lstStyle/>
                        <a:p>
                          <a:r>
                            <a:rPr lang="en-US" dirty="0"/>
                            <a:t>win</a:t>
                          </a:r>
                        </a:p>
                      </a:txBody>
                      <a:tcPr>
                        <a:solidFill>
                          <a:schemeClr val="accent2">
                            <a:lumMod val="20000"/>
                            <a:lumOff val="80000"/>
                          </a:schemeClr>
                        </a:solidFill>
                      </a:tcPr>
                    </a:tc>
                    <a:tc>
                      <a:txBody>
                        <a:bodyPr/>
                        <a:lstStyle/>
                        <a:p>
                          <a:endParaRPr lang="en-US"/>
                        </a:p>
                      </a:txBody>
                      <a:tcPr>
                        <a:blipFill>
                          <a:blip r:embed="rId4"/>
                          <a:stretch>
                            <a:fillRect l="-200901" t="-95588" r="-101502" b="-211765"/>
                          </a:stretch>
                        </a:blipFill>
                      </a:tcPr>
                    </a:tc>
                    <a:tc>
                      <a:txBody>
                        <a:bodyPr/>
                        <a:lstStyle/>
                        <a:p>
                          <a:endParaRPr lang="en-US"/>
                        </a:p>
                      </a:txBody>
                      <a:tcPr>
                        <a:blipFill>
                          <a:blip r:embed="rId4"/>
                          <a:stretch>
                            <a:fillRect l="-300000" t="-95588" r="-1198" b="-211765"/>
                          </a:stretch>
                        </a:blipFill>
                      </a:tcPr>
                    </a:tc>
                    <a:extLst>
                      <a:ext uri="{0D108BD9-81ED-4DB2-BD59-A6C34878D82A}">
                        <a16:rowId xmlns:a16="http://schemas.microsoft.com/office/drawing/2014/main" val="2879976811"/>
                      </a:ext>
                    </a:extLst>
                  </a:tr>
                  <a:tr h="411036">
                    <a:tc vMerge="1">
                      <a:txBody>
                        <a:bodyPr/>
                        <a:lstStyle/>
                        <a:p>
                          <a:endParaRPr lang="en-US" dirty="0"/>
                        </a:p>
                      </a:txBody>
                      <a:tcPr/>
                    </a:tc>
                    <a:tc>
                      <a:txBody>
                        <a:bodyPr/>
                        <a:lstStyle/>
                        <a:p>
                          <a:r>
                            <a:rPr lang="en-US" dirty="0"/>
                            <a:t>lose</a:t>
                          </a:r>
                        </a:p>
                      </a:txBody>
                      <a:tcPr>
                        <a:solidFill>
                          <a:schemeClr val="accent2">
                            <a:lumMod val="20000"/>
                            <a:lumOff val="80000"/>
                          </a:schemeClr>
                        </a:solidFill>
                      </a:tcPr>
                    </a:tc>
                    <a:tc>
                      <a:txBody>
                        <a:bodyPr/>
                        <a:lstStyle/>
                        <a:p>
                          <a:endParaRPr lang="en-US"/>
                        </a:p>
                      </a:txBody>
                      <a:tcPr>
                        <a:blipFill>
                          <a:blip r:embed="rId4"/>
                          <a:stretch>
                            <a:fillRect l="-200901" t="-198507" r="-101502" b="-114925"/>
                          </a:stretch>
                        </a:blipFill>
                      </a:tcPr>
                    </a:tc>
                    <a:tc>
                      <a:txBody>
                        <a:bodyPr/>
                        <a:lstStyle/>
                        <a:p>
                          <a:endParaRPr lang="en-US"/>
                        </a:p>
                      </a:txBody>
                      <a:tcPr>
                        <a:blipFill>
                          <a:blip r:embed="rId4"/>
                          <a:stretch>
                            <a:fillRect l="-300000" t="-198507" r="-1198" b="-114925"/>
                          </a:stretch>
                        </a:blipFill>
                      </a:tcPr>
                    </a:tc>
                    <a:extLst>
                      <a:ext uri="{0D108BD9-81ED-4DB2-BD59-A6C34878D82A}">
                        <a16:rowId xmlns:a16="http://schemas.microsoft.com/office/drawing/2014/main" val="1352842019"/>
                      </a:ext>
                    </a:extLst>
                  </a:tr>
                  <a:tr h="370840">
                    <a:tc>
                      <a:txBody>
                        <a:bodyPr/>
                        <a:lstStyle/>
                        <a:p>
                          <a:r>
                            <a:rPr lang="en-US" dirty="0"/>
                            <a:t>don’t run</a:t>
                          </a:r>
                        </a:p>
                      </a:txBody>
                      <a:tcPr/>
                    </a:tc>
                    <a:tc>
                      <a:txBody>
                        <a:bodyPr/>
                        <a:lstStyle/>
                        <a:p>
                          <a:r>
                            <a:rPr lang="en-US" dirty="0"/>
                            <a:t>NA</a:t>
                          </a:r>
                        </a:p>
                      </a:txBody>
                      <a:tcPr/>
                    </a:tc>
                    <a:tc>
                      <a:txBody>
                        <a:bodyPr/>
                        <a:lstStyle/>
                        <a:p>
                          <a:endParaRPr lang="en-US"/>
                        </a:p>
                      </a:txBody>
                      <a:tcPr>
                        <a:blipFill>
                          <a:blip r:embed="rId4"/>
                          <a:stretch>
                            <a:fillRect l="-200901" t="-327869" r="-101502" b="-26230"/>
                          </a:stretch>
                        </a:blipFill>
                      </a:tcPr>
                    </a:tc>
                    <a:tc>
                      <a:txBody>
                        <a:bodyPr/>
                        <a:lstStyle/>
                        <a:p>
                          <a:endParaRPr lang="en-US"/>
                        </a:p>
                      </a:txBody>
                      <a:tcPr>
                        <a:blipFill>
                          <a:blip r:embed="rId4"/>
                          <a:stretch>
                            <a:fillRect l="-300000" t="-327869" r="-1198" b="-26230"/>
                          </a:stretch>
                        </a:blipFill>
                      </a:tcPr>
                    </a:tc>
                    <a:extLst>
                      <a:ext uri="{0D108BD9-81ED-4DB2-BD59-A6C34878D82A}">
                        <a16:rowId xmlns:a16="http://schemas.microsoft.com/office/drawing/2014/main" val="1523633854"/>
                      </a:ext>
                    </a:extLst>
                  </a:tr>
                </a:tbl>
              </a:graphicData>
            </a:graphic>
          </p:graphicFrame>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779E905-64B4-EBBE-EBCE-E077A7B1043F}"/>
                  </a:ext>
                </a:extLst>
              </p:cNvPr>
              <p:cNvSpPr txBox="1"/>
              <p:nvPr/>
            </p:nvSpPr>
            <p:spPr>
              <a:xfrm>
                <a:off x="4857375" y="5883764"/>
                <a:ext cx="4814048"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EU formula: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_</m:t>
                    </m:r>
                    <m:r>
                      <a:rPr lang="en-US" b="0" i="1" smtClean="0">
                        <a:latin typeface="Cambria Math" panose="02040503050406030204" pitchFamily="18" charset="0"/>
                      </a:rPr>
                      <m:t>𝑁</m:t>
                    </m:r>
                  </m:oMath>
                </a14:m>
                <a:endParaRPr lang="en-US" dirty="0"/>
              </a:p>
            </p:txBody>
          </p:sp>
        </mc:Choice>
        <mc:Fallback xmlns="">
          <p:sp>
            <p:nvSpPr>
              <p:cNvPr id="10" name="TextBox 9">
                <a:extLst>
                  <a:ext uri="{FF2B5EF4-FFF2-40B4-BE49-F238E27FC236}">
                    <a16:creationId xmlns:a16="http://schemas.microsoft.com/office/drawing/2014/main" id="{2779E905-64B4-EBBE-EBCE-E077A7B1043F}"/>
                  </a:ext>
                </a:extLst>
              </p:cNvPr>
              <p:cNvSpPr txBox="1">
                <a:spLocks noRot="1" noChangeAspect="1" noMove="1" noResize="1" noEditPoints="1" noAdjustHandles="1" noChangeArrowheads="1" noChangeShapeType="1" noTextEdit="1"/>
              </p:cNvSpPr>
              <p:nvPr/>
            </p:nvSpPr>
            <p:spPr>
              <a:xfrm>
                <a:off x="4857375" y="5883764"/>
                <a:ext cx="4814048" cy="369332"/>
              </a:xfrm>
              <a:prstGeom prst="rect">
                <a:avLst/>
              </a:prstGeom>
              <a:blipFill>
                <a:blip r:embed="rId5"/>
                <a:stretch>
                  <a:fillRect l="-1009" t="-4688" b="-21875"/>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5B8C8256-4503-3A3C-A751-5DB236822833}"/>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1289712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55B09-A789-4534-63F4-EF653B7502D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6077E7E-3F3F-FE8F-3941-4A9C32EB4B07}"/>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86C748C7-CA25-C7BC-8539-E804FC6E3E45}"/>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001CBF7F-C654-E838-91D2-874CEFAF22BF}"/>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E3533C6C-4C7C-9FB2-2F3A-E123AE2A6F9B}"/>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15345BCA-F7C6-12B7-43E1-17D7B78E6A71}"/>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FC90624D-92CA-5CE4-B7BB-EF5FB8D1C48F}"/>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DF85D70D-625C-8026-2D74-346A39E71A98}"/>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439D4D1-A554-904D-D7B8-956F81798630}"/>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3439D4D1-A554-904D-D7B8-956F81798630}"/>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E1D21612-6B28-BF0B-410B-3B5D2CDFA8A7}"/>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256FEF58-5F57-400A-DF35-426A4B29357D}"/>
                  </a:ext>
                </a:extLst>
              </p:cNvPr>
              <p:cNvSpPr txBox="1"/>
              <p:nvPr/>
            </p:nvSpPr>
            <p:spPr>
              <a:xfrm>
                <a:off x="2904564" y="3233153"/>
                <a:ext cx="8633012" cy="60869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1600" dirty="0"/>
                  <a:t>Calculate Faith’s expected utility from each of her available actions (remembering that if she runs, she wins with probability </a:t>
                </a:r>
                <a14:m>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a14:m>
                <a:r>
                  <a:rPr lang="en-US" sz="1600" dirty="0"/>
                  <a:t> and loses with probability </a:t>
                </a:r>
                <a14:m>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a14:m>
                <a:r>
                  <a:rPr lang="en-US" sz="1600" dirty="0"/>
                  <a:t>).</a:t>
                </a:r>
              </a:p>
            </p:txBody>
          </p:sp>
        </mc:Choice>
        <mc:Fallback xmlns="">
          <p:sp>
            <p:nvSpPr>
              <p:cNvPr id="56" name="TextBox 55">
                <a:extLst>
                  <a:ext uri="{FF2B5EF4-FFF2-40B4-BE49-F238E27FC236}">
                    <a16:creationId xmlns:a16="http://schemas.microsoft.com/office/drawing/2014/main" id="{256FEF58-5F57-400A-DF35-426A4B29357D}"/>
                  </a:ext>
                </a:extLst>
              </p:cNvPr>
              <p:cNvSpPr txBox="1">
                <a:spLocks noRot="1" noChangeAspect="1" noMove="1" noResize="1" noEditPoints="1" noAdjustHandles="1" noChangeArrowheads="1" noChangeShapeType="1" noTextEdit="1"/>
              </p:cNvSpPr>
              <p:nvPr/>
            </p:nvSpPr>
            <p:spPr>
              <a:xfrm>
                <a:off x="2904564" y="3233153"/>
                <a:ext cx="8633012" cy="608693"/>
              </a:xfrm>
              <a:prstGeom prst="rect">
                <a:avLst/>
              </a:prstGeom>
              <a:blipFill>
                <a:blip r:embed="rId3"/>
                <a:stretch>
                  <a:fillRect l="-282" t="-1942" b="-67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9890CDC0-445E-C852-5828-6B300D0CAB71}"/>
                  </a:ext>
                </a:extLst>
              </p:cNvPr>
              <p:cNvGraphicFramePr>
                <a:graphicFrameLocks noGrp="1"/>
              </p:cNvGraphicFramePr>
              <p:nvPr>
                <p:extLst>
                  <p:ext uri="{D42A27DB-BD31-4B8C-83A1-F6EECF244321}">
                    <p14:modId xmlns:p14="http://schemas.microsoft.com/office/powerpoint/2010/main" val="2208760976"/>
                  </p:ext>
                </p:extLst>
              </p:nvPr>
            </p:nvGraphicFramePr>
            <p:xfrm>
              <a:off x="3200398" y="4080929"/>
              <a:ext cx="8848165" cy="1563752"/>
            </p:xfrm>
            <a:graphic>
              <a:graphicData uri="http://schemas.openxmlformats.org/drawingml/2006/table">
                <a:tbl>
                  <a:tblPr firstRow="1" bandRow="1">
                    <a:tableStyleId>{5C22544A-7EE6-4342-B048-85BDC9FD1C3A}</a:tableStyleId>
                  </a:tblPr>
                  <a:tblGrid>
                    <a:gridCol w="1769633">
                      <a:extLst>
                        <a:ext uri="{9D8B030D-6E8A-4147-A177-3AD203B41FA5}">
                          <a16:colId xmlns:a16="http://schemas.microsoft.com/office/drawing/2014/main" val="2064570893"/>
                        </a:ext>
                      </a:extLst>
                    </a:gridCol>
                    <a:gridCol w="1769633">
                      <a:extLst>
                        <a:ext uri="{9D8B030D-6E8A-4147-A177-3AD203B41FA5}">
                          <a16:colId xmlns:a16="http://schemas.microsoft.com/office/drawing/2014/main" val="647845297"/>
                        </a:ext>
                      </a:extLst>
                    </a:gridCol>
                    <a:gridCol w="1769633">
                      <a:extLst>
                        <a:ext uri="{9D8B030D-6E8A-4147-A177-3AD203B41FA5}">
                          <a16:colId xmlns:a16="http://schemas.microsoft.com/office/drawing/2014/main" val="4224279288"/>
                        </a:ext>
                      </a:extLst>
                    </a:gridCol>
                    <a:gridCol w="1073974">
                      <a:extLst>
                        <a:ext uri="{9D8B030D-6E8A-4147-A177-3AD203B41FA5}">
                          <a16:colId xmlns:a16="http://schemas.microsoft.com/office/drawing/2014/main" val="60495856"/>
                        </a:ext>
                      </a:extLst>
                    </a:gridCol>
                    <a:gridCol w="2465292">
                      <a:extLst>
                        <a:ext uri="{9D8B030D-6E8A-4147-A177-3AD203B41FA5}">
                          <a16:colId xmlns:a16="http://schemas.microsoft.com/office/drawing/2014/main" val="2842670161"/>
                        </a:ext>
                      </a:extLst>
                    </a:gridCol>
                  </a:tblGrid>
                  <a:tr h="370840">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2289210250"/>
                      </a:ext>
                    </a:extLst>
                  </a:tr>
                  <a:tr h="370840">
                    <a:tc rowSpan="2">
                      <a:txBody>
                        <a:bodyPr/>
                        <a:lstStyle/>
                        <a:p>
                          <a:r>
                            <a:rPr lang="en-US" dirty="0"/>
                            <a:t>run</a:t>
                          </a:r>
                        </a:p>
                      </a:txBody>
                      <a:tcPr anchor="ctr">
                        <a:solidFill>
                          <a:schemeClr val="accent2">
                            <a:lumMod val="20000"/>
                            <a:lumOff val="80000"/>
                          </a:schemeClr>
                        </a:solidFill>
                      </a:tcPr>
                    </a:tc>
                    <a:tc>
                      <a:txBody>
                        <a:bodyPr/>
                        <a:lstStyle/>
                        <a:p>
                          <a:r>
                            <a:rPr lang="en-US" dirty="0"/>
                            <a:t>win</a:t>
                          </a:r>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solidFill>
                          <a:schemeClr val="accent2">
                            <a:lumMod val="20000"/>
                            <a:lumOff val="80000"/>
                          </a:schemeClr>
                        </a:solidFill>
                      </a:tcPr>
                    </a:tc>
                    <a:tc rowSpan="2">
                      <a:txBody>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r>
                                  <a:rPr lang="en-US" b="0" i="1" smtClean="0">
                                    <a:latin typeface="Cambria Math" panose="02040503050406030204" pitchFamily="18" charset="0"/>
                                  </a:rPr>
                                  <m:t>×1+</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=0</m:t>
                                </m:r>
                              </m:oMath>
                            </m:oMathPara>
                          </a14:m>
                          <a:endParaRPr lang="en-US" dirty="0"/>
                        </a:p>
                      </a:txBody>
                      <a:tcPr anchor="ctr">
                        <a:solidFill>
                          <a:schemeClr val="accent2">
                            <a:lumMod val="20000"/>
                            <a:lumOff val="80000"/>
                          </a:schemeClr>
                        </a:solidFill>
                      </a:tcPr>
                    </a:tc>
                    <a:extLst>
                      <a:ext uri="{0D108BD9-81ED-4DB2-BD59-A6C34878D82A}">
                        <a16:rowId xmlns:a16="http://schemas.microsoft.com/office/drawing/2014/main" val="2879976811"/>
                      </a:ext>
                    </a:extLst>
                  </a:tr>
                  <a:tr h="370840">
                    <a:tc vMerge="1">
                      <a:txBody>
                        <a:bodyPr/>
                        <a:lstStyle/>
                        <a:p>
                          <a:endParaRPr lang="en-US" dirty="0"/>
                        </a:p>
                      </a:txBody>
                      <a:tcPr/>
                    </a:tc>
                    <a:tc>
                      <a:txBody>
                        <a:bodyPr/>
                        <a:lstStyle/>
                        <a:p>
                          <a:r>
                            <a:rPr lang="en-US" dirty="0"/>
                            <a:t>lose</a:t>
                          </a:r>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solidFill>
                          <a:schemeClr val="accent2">
                            <a:lumMod val="20000"/>
                            <a:lumOff val="80000"/>
                          </a:schemeClr>
                        </a:solidFill>
                      </a:tcPr>
                    </a:tc>
                    <a:tc vMerge="1">
                      <a:txBody>
                        <a:bodyPr/>
                        <a:lstStyle/>
                        <a:p>
                          <a:endParaRPr lang="en-US" dirty="0"/>
                        </a:p>
                      </a:txBody>
                      <a:tcPr>
                        <a:solidFill>
                          <a:schemeClr val="accent2">
                            <a:lumMod val="20000"/>
                            <a:lumOff val="80000"/>
                          </a:schemeClr>
                        </a:solidFill>
                      </a:tcPr>
                    </a:tc>
                    <a:extLst>
                      <a:ext uri="{0D108BD9-81ED-4DB2-BD59-A6C34878D82A}">
                        <a16:rowId xmlns:a16="http://schemas.microsoft.com/office/drawing/2014/main" val="1352842019"/>
                      </a:ext>
                    </a:extLst>
                  </a:tr>
                  <a:tr h="370840">
                    <a:tc>
                      <a:txBody>
                        <a:bodyPr/>
                        <a:lstStyle/>
                        <a:p>
                          <a:r>
                            <a:rPr lang="en-US" dirty="0"/>
                            <a:t>don’t run</a:t>
                          </a:r>
                        </a:p>
                      </a:txBody>
                      <a:tcPr/>
                    </a:tc>
                    <a:tc>
                      <a:txBody>
                        <a:bodyPr/>
                        <a:lstStyle/>
                        <a:p>
                          <a:r>
                            <a:rPr lang="en-US" dirty="0"/>
                            <a:t>NA</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tc>
                      <a:txBody>
                        <a:bodyPr/>
                        <a:lstStyle/>
                        <a:p>
                          <a:endParaRPr lang="en-US" dirty="0"/>
                        </a:p>
                      </a:txBody>
                      <a:tcPr/>
                    </a:tc>
                    <a:extLst>
                      <a:ext uri="{0D108BD9-81ED-4DB2-BD59-A6C34878D82A}">
                        <a16:rowId xmlns:a16="http://schemas.microsoft.com/office/drawing/2014/main" val="1523633854"/>
                      </a:ext>
                    </a:extLst>
                  </a:tr>
                </a:tbl>
              </a:graphicData>
            </a:graphic>
          </p:graphicFrame>
        </mc:Choice>
        <mc:Fallback xmlns="">
          <p:graphicFrame>
            <p:nvGraphicFramePr>
              <p:cNvPr id="9" name="Table 8">
                <a:extLst>
                  <a:ext uri="{FF2B5EF4-FFF2-40B4-BE49-F238E27FC236}">
                    <a16:creationId xmlns:a16="http://schemas.microsoft.com/office/drawing/2014/main" id="{9890CDC0-445E-C852-5828-6B300D0CAB71}"/>
                  </a:ext>
                </a:extLst>
              </p:cNvPr>
              <p:cNvGraphicFramePr>
                <a:graphicFrameLocks noGrp="1"/>
              </p:cNvGraphicFramePr>
              <p:nvPr>
                <p:extLst>
                  <p:ext uri="{D42A27DB-BD31-4B8C-83A1-F6EECF244321}">
                    <p14:modId xmlns:p14="http://schemas.microsoft.com/office/powerpoint/2010/main" val="2208760976"/>
                  </p:ext>
                </p:extLst>
              </p:nvPr>
            </p:nvGraphicFramePr>
            <p:xfrm>
              <a:off x="3200398" y="4080929"/>
              <a:ext cx="8848165" cy="1563752"/>
            </p:xfrm>
            <a:graphic>
              <a:graphicData uri="http://schemas.openxmlformats.org/drawingml/2006/table">
                <a:tbl>
                  <a:tblPr firstRow="1" bandRow="1">
                    <a:tableStyleId>{5C22544A-7EE6-4342-B048-85BDC9FD1C3A}</a:tableStyleId>
                  </a:tblPr>
                  <a:tblGrid>
                    <a:gridCol w="1769633">
                      <a:extLst>
                        <a:ext uri="{9D8B030D-6E8A-4147-A177-3AD203B41FA5}">
                          <a16:colId xmlns:a16="http://schemas.microsoft.com/office/drawing/2014/main" val="2064570893"/>
                        </a:ext>
                      </a:extLst>
                    </a:gridCol>
                    <a:gridCol w="1769633">
                      <a:extLst>
                        <a:ext uri="{9D8B030D-6E8A-4147-A177-3AD203B41FA5}">
                          <a16:colId xmlns:a16="http://schemas.microsoft.com/office/drawing/2014/main" val="647845297"/>
                        </a:ext>
                      </a:extLst>
                    </a:gridCol>
                    <a:gridCol w="1769633">
                      <a:extLst>
                        <a:ext uri="{9D8B030D-6E8A-4147-A177-3AD203B41FA5}">
                          <a16:colId xmlns:a16="http://schemas.microsoft.com/office/drawing/2014/main" val="4224279288"/>
                        </a:ext>
                      </a:extLst>
                    </a:gridCol>
                    <a:gridCol w="1073974">
                      <a:extLst>
                        <a:ext uri="{9D8B030D-6E8A-4147-A177-3AD203B41FA5}">
                          <a16:colId xmlns:a16="http://schemas.microsoft.com/office/drawing/2014/main" val="60495856"/>
                        </a:ext>
                      </a:extLst>
                    </a:gridCol>
                    <a:gridCol w="2465292">
                      <a:extLst>
                        <a:ext uri="{9D8B030D-6E8A-4147-A177-3AD203B41FA5}">
                          <a16:colId xmlns:a16="http://schemas.microsoft.com/office/drawing/2014/main" val="2842670161"/>
                        </a:ext>
                      </a:extLst>
                    </a:gridCol>
                  </a:tblGrid>
                  <a:tr h="370840">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2289210250"/>
                      </a:ext>
                    </a:extLst>
                  </a:tr>
                  <a:tr h="411036">
                    <a:tc rowSpan="2">
                      <a:txBody>
                        <a:bodyPr/>
                        <a:lstStyle/>
                        <a:p>
                          <a:r>
                            <a:rPr lang="en-US" dirty="0"/>
                            <a:t>run</a:t>
                          </a:r>
                        </a:p>
                      </a:txBody>
                      <a:tcPr anchor="ctr">
                        <a:solidFill>
                          <a:schemeClr val="accent2">
                            <a:lumMod val="20000"/>
                            <a:lumOff val="80000"/>
                          </a:schemeClr>
                        </a:solidFill>
                      </a:tcPr>
                    </a:tc>
                    <a:tc>
                      <a:txBody>
                        <a:bodyPr/>
                        <a:lstStyle/>
                        <a:p>
                          <a:r>
                            <a:rPr lang="en-US" dirty="0"/>
                            <a:t>win</a:t>
                          </a:r>
                        </a:p>
                      </a:txBody>
                      <a:tcPr>
                        <a:solidFill>
                          <a:schemeClr val="accent2">
                            <a:lumMod val="20000"/>
                            <a:lumOff val="80000"/>
                          </a:schemeClr>
                        </a:solidFill>
                      </a:tcPr>
                    </a:tc>
                    <a:tc>
                      <a:txBody>
                        <a:bodyPr/>
                        <a:lstStyle/>
                        <a:p>
                          <a:endParaRPr lang="en-US"/>
                        </a:p>
                      </a:txBody>
                      <a:tcPr>
                        <a:blipFill>
                          <a:blip r:embed="rId4"/>
                          <a:stretch>
                            <a:fillRect l="-200000" t="-95588" r="-201031" b="-211765"/>
                          </a:stretch>
                        </a:blipFill>
                      </a:tcPr>
                    </a:tc>
                    <a:tc>
                      <a:txBody>
                        <a:bodyPr/>
                        <a:lstStyle/>
                        <a:p>
                          <a:endParaRPr lang="en-US"/>
                        </a:p>
                      </a:txBody>
                      <a:tcPr>
                        <a:blipFill>
                          <a:blip r:embed="rId4"/>
                          <a:stretch>
                            <a:fillRect l="-496023" t="-95588" r="-232386" b="-211765"/>
                          </a:stretch>
                        </a:blipFill>
                      </a:tcPr>
                    </a:tc>
                    <a:tc rowSpan="2">
                      <a:txBody>
                        <a:bodyPr/>
                        <a:lstStyle/>
                        <a:p>
                          <a:endParaRPr lang="en-US"/>
                        </a:p>
                      </a:txBody>
                      <a:tcPr anchor="ctr">
                        <a:blipFill>
                          <a:blip r:embed="rId4"/>
                          <a:stretch>
                            <a:fillRect l="-259012" t="-48148" r="-988" b="-57037"/>
                          </a:stretch>
                        </a:blipFill>
                      </a:tcPr>
                    </a:tc>
                    <a:extLst>
                      <a:ext uri="{0D108BD9-81ED-4DB2-BD59-A6C34878D82A}">
                        <a16:rowId xmlns:a16="http://schemas.microsoft.com/office/drawing/2014/main" val="2879976811"/>
                      </a:ext>
                    </a:extLst>
                  </a:tr>
                  <a:tr h="411036">
                    <a:tc vMerge="1">
                      <a:txBody>
                        <a:bodyPr/>
                        <a:lstStyle/>
                        <a:p>
                          <a:endParaRPr lang="en-US" dirty="0"/>
                        </a:p>
                      </a:txBody>
                      <a:tcPr/>
                    </a:tc>
                    <a:tc>
                      <a:txBody>
                        <a:bodyPr/>
                        <a:lstStyle/>
                        <a:p>
                          <a:r>
                            <a:rPr lang="en-US" dirty="0"/>
                            <a:t>lose</a:t>
                          </a:r>
                        </a:p>
                      </a:txBody>
                      <a:tcPr>
                        <a:solidFill>
                          <a:schemeClr val="accent2">
                            <a:lumMod val="20000"/>
                            <a:lumOff val="80000"/>
                          </a:schemeClr>
                        </a:solidFill>
                      </a:tcPr>
                    </a:tc>
                    <a:tc>
                      <a:txBody>
                        <a:bodyPr/>
                        <a:lstStyle/>
                        <a:p>
                          <a:endParaRPr lang="en-US"/>
                        </a:p>
                      </a:txBody>
                      <a:tcPr>
                        <a:blipFill>
                          <a:blip r:embed="rId4"/>
                          <a:stretch>
                            <a:fillRect l="-200000" t="-198507" r="-201031" b="-114925"/>
                          </a:stretch>
                        </a:blipFill>
                      </a:tcPr>
                    </a:tc>
                    <a:tc>
                      <a:txBody>
                        <a:bodyPr/>
                        <a:lstStyle/>
                        <a:p>
                          <a:endParaRPr lang="en-US"/>
                        </a:p>
                      </a:txBody>
                      <a:tcPr>
                        <a:blipFill>
                          <a:blip r:embed="rId4"/>
                          <a:stretch>
                            <a:fillRect l="-496023" t="-198507" r="-232386" b="-114925"/>
                          </a:stretch>
                        </a:blipFill>
                      </a:tcPr>
                    </a:tc>
                    <a:tc vMerge="1">
                      <a:txBody>
                        <a:bodyPr/>
                        <a:lstStyle/>
                        <a:p>
                          <a:pPr/>
                          <a:endParaRPr lang="en-US" dirty="0"/>
                        </a:p>
                      </a:txBody>
                      <a:tcPr>
                        <a:solidFill>
                          <a:schemeClr val="accent2">
                            <a:lumMod val="20000"/>
                            <a:lumOff val="80000"/>
                          </a:schemeClr>
                        </a:solidFill>
                      </a:tcPr>
                    </a:tc>
                    <a:extLst>
                      <a:ext uri="{0D108BD9-81ED-4DB2-BD59-A6C34878D82A}">
                        <a16:rowId xmlns:a16="http://schemas.microsoft.com/office/drawing/2014/main" val="1352842019"/>
                      </a:ext>
                    </a:extLst>
                  </a:tr>
                  <a:tr h="370840">
                    <a:tc>
                      <a:txBody>
                        <a:bodyPr/>
                        <a:lstStyle/>
                        <a:p>
                          <a:r>
                            <a:rPr lang="en-US" dirty="0"/>
                            <a:t>don’t run</a:t>
                          </a:r>
                        </a:p>
                      </a:txBody>
                      <a:tcPr/>
                    </a:tc>
                    <a:tc>
                      <a:txBody>
                        <a:bodyPr/>
                        <a:lstStyle/>
                        <a:p>
                          <a:r>
                            <a:rPr lang="en-US" dirty="0"/>
                            <a:t>NA</a:t>
                          </a:r>
                        </a:p>
                      </a:txBody>
                      <a:tcPr/>
                    </a:tc>
                    <a:tc>
                      <a:txBody>
                        <a:bodyPr/>
                        <a:lstStyle/>
                        <a:p>
                          <a:endParaRPr lang="en-US"/>
                        </a:p>
                      </a:txBody>
                      <a:tcPr>
                        <a:blipFill>
                          <a:blip r:embed="rId4"/>
                          <a:stretch>
                            <a:fillRect l="-200000" t="-327869" r="-201031" b="-26230"/>
                          </a:stretch>
                        </a:blipFill>
                      </a:tcPr>
                    </a:tc>
                    <a:tc>
                      <a:txBody>
                        <a:bodyPr/>
                        <a:lstStyle/>
                        <a:p>
                          <a:endParaRPr lang="en-US"/>
                        </a:p>
                      </a:txBody>
                      <a:tcPr>
                        <a:blipFill>
                          <a:blip r:embed="rId4"/>
                          <a:stretch>
                            <a:fillRect l="-496023" t="-327869" r="-232386" b="-26230"/>
                          </a:stretch>
                        </a:blipFill>
                      </a:tcPr>
                    </a:tc>
                    <a:tc>
                      <a:txBody>
                        <a:bodyPr/>
                        <a:lstStyle/>
                        <a:p>
                          <a:pPr/>
                          <a:endParaRPr lang="en-US" dirty="0"/>
                        </a:p>
                      </a:txBody>
                      <a:tcPr/>
                    </a:tc>
                    <a:extLst>
                      <a:ext uri="{0D108BD9-81ED-4DB2-BD59-A6C34878D82A}">
                        <a16:rowId xmlns:a16="http://schemas.microsoft.com/office/drawing/2014/main" val="1523633854"/>
                      </a:ext>
                    </a:extLst>
                  </a:tr>
                </a:tbl>
              </a:graphicData>
            </a:graphic>
          </p:graphicFrame>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C8635F1-D81D-C224-5F33-187C4DB53473}"/>
                  </a:ext>
                </a:extLst>
              </p:cNvPr>
              <p:cNvSpPr txBox="1"/>
              <p:nvPr/>
            </p:nvSpPr>
            <p:spPr>
              <a:xfrm>
                <a:off x="4857375" y="5883764"/>
                <a:ext cx="4814048"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EU formula: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_</m:t>
                    </m:r>
                    <m:r>
                      <a:rPr lang="en-US" b="0" i="1" smtClean="0">
                        <a:latin typeface="Cambria Math" panose="02040503050406030204" pitchFamily="18" charset="0"/>
                      </a:rPr>
                      <m:t>𝑁</m:t>
                    </m:r>
                  </m:oMath>
                </a14:m>
                <a:endParaRPr lang="en-US" dirty="0"/>
              </a:p>
            </p:txBody>
          </p:sp>
        </mc:Choice>
        <mc:Fallback xmlns="">
          <p:sp>
            <p:nvSpPr>
              <p:cNvPr id="10" name="TextBox 9">
                <a:extLst>
                  <a:ext uri="{FF2B5EF4-FFF2-40B4-BE49-F238E27FC236}">
                    <a16:creationId xmlns:a16="http://schemas.microsoft.com/office/drawing/2014/main" id="{9C8635F1-D81D-C224-5F33-187C4DB53473}"/>
                  </a:ext>
                </a:extLst>
              </p:cNvPr>
              <p:cNvSpPr txBox="1">
                <a:spLocks noRot="1" noChangeAspect="1" noMove="1" noResize="1" noEditPoints="1" noAdjustHandles="1" noChangeArrowheads="1" noChangeShapeType="1" noTextEdit="1"/>
              </p:cNvSpPr>
              <p:nvPr/>
            </p:nvSpPr>
            <p:spPr>
              <a:xfrm>
                <a:off x="4857375" y="5883764"/>
                <a:ext cx="4814048" cy="369332"/>
              </a:xfrm>
              <a:prstGeom prst="rect">
                <a:avLst/>
              </a:prstGeom>
              <a:blipFill>
                <a:blip r:embed="rId5"/>
                <a:stretch>
                  <a:fillRect l="-1009" t="-4688" b="-21875"/>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1A87654D-BA66-AB39-5AF1-4DAF445B0727}"/>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1655807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7FEC3-83A1-71C9-AA02-A779F9C32CD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D0868B7-5BD3-987E-FF30-BDF40AB8C2A5}"/>
              </a:ext>
            </a:extLst>
          </p:cNvPr>
          <p:cNvSpPr txBox="1"/>
          <p:nvPr/>
        </p:nvSpPr>
        <p:spPr>
          <a:xfrm>
            <a:off x="143435" y="242048"/>
            <a:ext cx="2599765" cy="369332"/>
          </a:xfrm>
          <a:prstGeom prst="rect">
            <a:avLst/>
          </a:prstGeom>
          <a:ln w="28575">
            <a:solidFill>
              <a:schemeClr val="accent5"/>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pPr algn="ctr"/>
            <a:r>
              <a:rPr lang="en-US" dirty="0"/>
              <a:t>warm up</a:t>
            </a:r>
          </a:p>
        </p:txBody>
      </p:sp>
      <p:sp>
        <p:nvSpPr>
          <p:cNvPr id="2" name="TextBox 1">
            <a:extLst>
              <a:ext uri="{FF2B5EF4-FFF2-40B4-BE49-F238E27FC236}">
                <a16:creationId xmlns:a16="http://schemas.microsoft.com/office/drawing/2014/main" id="{E97497B6-BC4B-D709-1D9E-D1981B243AA7}"/>
              </a:ext>
            </a:extLst>
          </p:cNvPr>
          <p:cNvSpPr txBox="1"/>
          <p:nvPr/>
        </p:nvSpPr>
        <p:spPr>
          <a:xfrm>
            <a:off x="3200401" y="358588"/>
            <a:ext cx="1927412"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Available actions</a:t>
            </a:r>
          </a:p>
        </p:txBody>
      </p:sp>
      <p:sp>
        <p:nvSpPr>
          <p:cNvPr id="3" name="TextBox 2">
            <a:extLst>
              <a:ext uri="{FF2B5EF4-FFF2-40B4-BE49-F238E27FC236}">
                <a16:creationId xmlns:a16="http://schemas.microsoft.com/office/drawing/2014/main" id="{5B89C786-60AC-2F12-F657-01196A7C1C23}"/>
              </a:ext>
            </a:extLst>
          </p:cNvPr>
          <p:cNvSpPr txBox="1"/>
          <p:nvPr/>
        </p:nvSpPr>
        <p:spPr>
          <a:xfrm>
            <a:off x="3200400" y="860612"/>
            <a:ext cx="2133599"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Possible outcomes</a:t>
            </a:r>
          </a:p>
        </p:txBody>
      </p:sp>
      <p:sp>
        <p:nvSpPr>
          <p:cNvPr id="4" name="TextBox 3">
            <a:extLst>
              <a:ext uri="{FF2B5EF4-FFF2-40B4-BE49-F238E27FC236}">
                <a16:creationId xmlns:a16="http://schemas.microsoft.com/office/drawing/2014/main" id="{54770C00-8370-3D66-CEDC-74FF21F9479D}"/>
              </a:ext>
            </a:extLst>
          </p:cNvPr>
          <p:cNvSpPr txBox="1"/>
          <p:nvPr/>
        </p:nvSpPr>
        <p:spPr>
          <a:xfrm>
            <a:off x="3200399" y="1362636"/>
            <a:ext cx="2895601"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Preferences over outcomes</a:t>
            </a:r>
          </a:p>
        </p:txBody>
      </p:sp>
      <p:sp>
        <p:nvSpPr>
          <p:cNvPr id="5" name="TextBox 4">
            <a:extLst>
              <a:ext uri="{FF2B5EF4-FFF2-40B4-BE49-F238E27FC236}">
                <a16:creationId xmlns:a16="http://schemas.microsoft.com/office/drawing/2014/main" id="{3B2B8759-2AB5-6EFD-0CB0-03B4CA7F4AD8}"/>
              </a:ext>
            </a:extLst>
          </p:cNvPr>
          <p:cNvSpPr txBox="1"/>
          <p:nvPr/>
        </p:nvSpPr>
        <p:spPr>
          <a:xfrm>
            <a:off x="3200399" y="2450068"/>
            <a:ext cx="2599766" cy="369332"/>
          </a:xfrm>
          <a:prstGeom prst="rect">
            <a:avLst/>
          </a:prstGeom>
          <a:ln w="38100">
            <a:solidFill>
              <a:schemeClr val="accent4"/>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Probability distributions</a:t>
            </a:r>
          </a:p>
        </p:txBody>
      </p:sp>
      <p:sp>
        <p:nvSpPr>
          <p:cNvPr id="8" name="TextBox 7">
            <a:extLst>
              <a:ext uri="{FF2B5EF4-FFF2-40B4-BE49-F238E27FC236}">
                <a16:creationId xmlns:a16="http://schemas.microsoft.com/office/drawing/2014/main" id="{F887545A-088B-E9AD-C8E6-9D07AF5FF56A}"/>
              </a:ext>
            </a:extLst>
          </p:cNvPr>
          <p:cNvSpPr txBox="1"/>
          <p:nvPr/>
        </p:nvSpPr>
        <p:spPr>
          <a:xfrm>
            <a:off x="5127813" y="358588"/>
            <a:ext cx="1703294" cy="369332"/>
          </a:xfrm>
          <a:prstGeom prst="rect">
            <a:avLst/>
          </a:prstGeom>
          <a:noFill/>
          <a:ln w="38100">
            <a:solidFill>
              <a:schemeClr val="accent4"/>
            </a:solidFill>
          </a:ln>
        </p:spPr>
        <p:txBody>
          <a:bodyPr wrap="square" rtlCol="0">
            <a:spAutoFit/>
          </a:bodyPr>
          <a:lstStyle/>
          <a:p>
            <a:r>
              <a:rPr lang="en-US" dirty="0"/>
              <a:t>run, do not run</a:t>
            </a:r>
          </a:p>
        </p:txBody>
      </p:sp>
      <p:sp>
        <p:nvSpPr>
          <p:cNvPr id="14" name="TextBox 13">
            <a:extLst>
              <a:ext uri="{FF2B5EF4-FFF2-40B4-BE49-F238E27FC236}">
                <a16:creationId xmlns:a16="http://schemas.microsoft.com/office/drawing/2014/main" id="{418B311E-E572-2BBF-87CD-C81C6ED36C78}"/>
              </a:ext>
            </a:extLst>
          </p:cNvPr>
          <p:cNvSpPr txBox="1"/>
          <p:nvPr/>
        </p:nvSpPr>
        <p:spPr>
          <a:xfrm>
            <a:off x="5342963" y="860612"/>
            <a:ext cx="5056096" cy="369332"/>
          </a:xfrm>
          <a:prstGeom prst="rect">
            <a:avLst/>
          </a:prstGeom>
          <a:noFill/>
          <a:ln w="38100">
            <a:solidFill>
              <a:schemeClr val="accent4"/>
            </a:solidFill>
          </a:ln>
        </p:spPr>
        <p:txBody>
          <a:bodyPr wrap="square" rtlCol="0">
            <a:spAutoFit/>
          </a:bodyPr>
          <a:lstStyle/>
          <a:p>
            <a:r>
              <a:rPr lang="en-US" dirty="0"/>
              <a:t>Faith runs and win, runs and loses, or doesn’t run</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386E2D4-6765-603A-6BB5-6B88505677FF}"/>
                  </a:ext>
                </a:extLst>
              </p:cNvPr>
              <p:cNvSpPr txBox="1"/>
              <p:nvPr/>
            </p:nvSpPr>
            <p:spPr>
              <a:xfrm>
                <a:off x="6096000" y="1362636"/>
                <a:ext cx="3675531" cy="831125"/>
              </a:xfrm>
              <a:prstGeom prst="rect">
                <a:avLst/>
              </a:prstGeom>
              <a:noFill/>
              <a:ln w="38100">
                <a:solidFill>
                  <a:schemeClr val="accent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loses</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does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not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if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Faith</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and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wins</m:t>
                                </m:r>
                              </m:e>
                            </m:mr>
                          </m:m>
                        </m:e>
                      </m:d>
                    </m:oMath>
                  </m:oMathPara>
                </a14:m>
                <a:endParaRPr lang="en-US" dirty="0"/>
              </a:p>
            </p:txBody>
          </p:sp>
        </mc:Choice>
        <mc:Fallback xmlns="">
          <p:sp>
            <p:nvSpPr>
              <p:cNvPr id="15" name="TextBox 14">
                <a:extLst>
                  <a:ext uri="{FF2B5EF4-FFF2-40B4-BE49-F238E27FC236}">
                    <a16:creationId xmlns:a16="http://schemas.microsoft.com/office/drawing/2014/main" id="{8386E2D4-6765-603A-6BB5-6B88505677FF}"/>
                  </a:ext>
                </a:extLst>
              </p:cNvPr>
              <p:cNvSpPr txBox="1">
                <a:spLocks noRot="1" noChangeAspect="1" noMove="1" noResize="1" noEditPoints="1" noAdjustHandles="1" noChangeArrowheads="1" noChangeShapeType="1" noTextEdit="1"/>
              </p:cNvSpPr>
              <p:nvPr/>
            </p:nvSpPr>
            <p:spPr>
              <a:xfrm>
                <a:off x="6096000" y="1362636"/>
                <a:ext cx="3675531" cy="831125"/>
              </a:xfrm>
              <a:prstGeom prst="rect">
                <a:avLst/>
              </a:prstGeom>
              <a:blipFill>
                <a:blip r:embed="rId2"/>
                <a:stretch>
                  <a:fillRect/>
                </a:stretch>
              </a:blipFill>
              <a:ln w="38100">
                <a:solidFill>
                  <a:schemeClr val="accent4"/>
                </a:solidFill>
              </a:ln>
            </p:spPr>
            <p:txBody>
              <a:bodyPr/>
              <a:lstStyle/>
              <a:p>
                <a:r>
                  <a:rPr lang="en-US">
                    <a:noFill/>
                  </a:rPr>
                  <a:t> </a:t>
                </a:r>
              </a:p>
            </p:txBody>
          </p:sp>
        </mc:Fallback>
      </mc:AlternateContent>
      <p:sp>
        <p:nvSpPr>
          <p:cNvPr id="33" name="TextBox 32">
            <a:extLst>
              <a:ext uri="{FF2B5EF4-FFF2-40B4-BE49-F238E27FC236}">
                <a16:creationId xmlns:a16="http://schemas.microsoft.com/office/drawing/2014/main" id="{90EE6B6C-FC4F-F627-85E0-F52649160D89}"/>
              </a:ext>
            </a:extLst>
          </p:cNvPr>
          <p:cNvSpPr txBox="1"/>
          <p:nvPr/>
        </p:nvSpPr>
        <p:spPr>
          <a:xfrm>
            <a:off x="5800165" y="2450068"/>
            <a:ext cx="5145742" cy="584775"/>
          </a:xfrm>
          <a:prstGeom prst="rect">
            <a:avLst/>
          </a:prstGeom>
          <a:noFill/>
          <a:ln w="38100">
            <a:solidFill>
              <a:schemeClr val="accent4"/>
            </a:solidFill>
          </a:ln>
        </p:spPr>
        <p:txBody>
          <a:bodyPr wrap="square" rtlCol="0">
            <a:spAutoFit/>
          </a:bodyPr>
          <a:lstStyle/>
          <a:p>
            <a:r>
              <a:rPr lang="en-US" sz="1600" dirty="0"/>
              <a:t>Idea: There will be either 1 or 2 other persons running.  Each will be either “high quality” (H) or “low quality” (L)</a:t>
            </a:r>
          </a:p>
        </p:txBody>
      </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08F02D3B-77C2-572C-E5EA-A60981FCD56E}"/>
                  </a:ext>
                </a:extLst>
              </p:cNvPr>
              <p:cNvSpPr txBox="1"/>
              <p:nvPr/>
            </p:nvSpPr>
            <p:spPr>
              <a:xfrm>
                <a:off x="2904564" y="3233153"/>
                <a:ext cx="8633012" cy="60869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1600" dirty="0"/>
                  <a:t>Calculate Faith’s expected utility from each of her available actions (remembering that if she runs, she wins with probability </a:t>
                </a:r>
                <a14:m>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a14:m>
                <a:r>
                  <a:rPr lang="en-US" sz="1600" dirty="0"/>
                  <a:t> and loses with probability </a:t>
                </a:r>
                <a14:m>
                  <m:oMath xmlns:m="http://schemas.openxmlformats.org/officeDocument/2006/math">
                    <m:box>
                      <m:boxPr>
                        <m:ctrlPr>
                          <a:rPr lang="en-US" sz="1600" i="1" smtClean="0">
                            <a:latin typeface="Cambria Math" panose="02040503050406030204" pitchFamily="18" charset="0"/>
                          </a:rPr>
                        </m:ctrlPr>
                      </m:boxPr>
                      <m:e>
                        <m:argPr>
                          <m:argSz m:val="-1"/>
                        </m:argPr>
                        <m:f>
                          <m:fPr>
                            <m:ctrlPr>
                              <a:rPr lang="en-US" sz="1600" i="1" smtClean="0">
                                <a:latin typeface="Cambria Math" panose="02040503050406030204" pitchFamily="18" charset="0"/>
                              </a:rPr>
                            </m:ctrlPr>
                          </m:fPr>
                          <m:num>
                            <m:r>
                              <a:rPr lang="en-US" sz="1600" b="0" i="1" smtClean="0">
                                <a:latin typeface="Cambria Math" panose="02040503050406030204" pitchFamily="18" charset="0"/>
                              </a:rPr>
                              <m:t>1</m:t>
                            </m:r>
                          </m:num>
                          <m:den>
                            <m:r>
                              <a:rPr lang="en-US" sz="1600" b="0" i="1" smtClean="0">
                                <a:latin typeface="Cambria Math" panose="02040503050406030204" pitchFamily="18" charset="0"/>
                              </a:rPr>
                              <m:t>2</m:t>
                            </m:r>
                          </m:den>
                        </m:f>
                      </m:e>
                    </m:box>
                  </m:oMath>
                </a14:m>
                <a:r>
                  <a:rPr lang="en-US" sz="1600" dirty="0"/>
                  <a:t>).</a:t>
                </a:r>
              </a:p>
            </p:txBody>
          </p:sp>
        </mc:Choice>
        <mc:Fallback xmlns="">
          <p:sp>
            <p:nvSpPr>
              <p:cNvPr id="56" name="TextBox 55">
                <a:extLst>
                  <a:ext uri="{FF2B5EF4-FFF2-40B4-BE49-F238E27FC236}">
                    <a16:creationId xmlns:a16="http://schemas.microsoft.com/office/drawing/2014/main" id="{08F02D3B-77C2-572C-E5EA-A60981FCD56E}"/>
                  </a:ext>
                </a:extLst>
              </p:cNvPr>
              <p:cNvSpPr txBox="1">
                <a:spLocks noRot="1" noChangeAspect="1" noMove="1" noResize="1" noEditPoints="1" noAdjustHandles="1" noChangeArrowheads="1" noChangeShapeType="1" noTextEdit="1"/>
              </p:cNvSpPr>
              <p:nvPr/>
            </p:nvSpPr>
            <p:spPr>
              <a:xfrm>
                <a:off x="2904564" y="3233153"/>
                <a:ext cx="8633012" cy="608693"/>
              </a:xfrm>
              <a:prstGeom prst="rect">
                <a:avLst/>
              </a:prstGeom>
              <a:blipFill>
                <a:blip r:embed="rId3"/>
                <a:stretch>
                  <a:fillRect l="-282" t="-1942" b="-67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49813E21-B7CF-5BFB-5B8B-9C85FEF4F0B2}"/>
                  </a:ext>
                </a:extLst>
              </p:cNvPr>
              <p:cNvGraphicFramePr>
                <a:graphicFrameLocks noGrp="1"/>
              </p:cNvGraphicFramePr>
              <p:nvPr>
                <p:extLst>
                  <p:ext uri="{D42A27DB-BD31-4B8C-83A1-F6EECF244321}">
                    <p14:modId xmlns:p14="http://schemas.microsoft.com/office/powerpoint/2010/main" val="2588123468"/>
                  </p:ext>
                </p:extLst>
              </p:nvPr>
            </p:nvGraphicFramePr>
            <p:xfrm>
              <a:off x="3200398" y="4080929"/>
              <a:ext cx="8848165" cy="1563752"/>
            </p:xfrm>
            <a:graphic>
              <a:graphicData uri="http://schemas.openxmlformats.org/drawingml/2006/table">
                <a:tbl>
                  <a:tblPr firstRow="1" bandRow="1">
                    <a:tableStyleId>{5C22544A-7EE6-4342-B048-85BDC9FD1C3A}</a:tableStyleId>
                  </a:tblPr>
                  <a:tblGrid>
                    <a:gridCol w="1769633">
                      <a:extLst>
                        <a:ext uri="{9D8B030D-6E8A-4147-A177-3AD203B41FA5}">
                          <a16:colId xmlns:a16="http://schemas.microsoft.com/office/drawing/2014/main" val="2064570893"/>
                        </a:ext>
                      </a:extLst>
                    </a:gridCol>
                    <a:gridCol w="1769633">
                      <a:extLst>
                        <a:ext uri="{9D8B030D-6E8A-4147-A177-3AD203B41FA5}">
                          <a16:colId xmlns:a16="http://schemas.microsoft.com/office/drawing/2014/main" val="647845297"/>
                        </a:ext>
                      </a:extLst>
                    </a:gridCol>
                    <a:gridCol w="1769633">
                      <a:extLst>
                        <a:ext uri="{9D8B030D-6E8A-4147-A177-3AD203B41FA5}">
                          <a16:colId xmlns:a16="http://schemas.microsoft.com/office/drawing/2014/main" val="4224279288"/>
                        </a:ext>
                      </a:extLst>
                    </a:gridCol>
                    <a:gridCol w="1073974">
                      <a:extLst>
                        <a:ext uri="{9D8B030D-6E8A-4147-A177-3AD203B41FA5}">
                          <a16:colId xmlns:a16="http://schemas.microsoft.com/office/drawing/2014/main" val="60495856"/>
                        </a:ext>
                      </a:extLst>
                    </a:gridCol>
                    <a:gridCol w="2465292">
                      <a:extLst>
                        <a:ext uri="{9D8B030D-6E8A-4147-A177-3AD203B41FA5}">
                          <a16:colId xmlns:a16="http://schemas.microsoft.com/office/drawing/2014/main" val="2842670161"/>
                        </a:ext>
                      </a:extLst>
                    </a:gridCol>
                  </a:tblGrid>
                  <a:tr h="370840">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2289210250"/>
                      </a:ext>
                    </a:extLst>
                  </a:tr>
                  <a:tr h="370840">
                    <a:tc rowSpan="2">
                      <a:txBody>
                        <a:bodyPr/>
                        <a:lstStyle/>
                        <a:p>
                          <a:r>
                            <a:rPr lang="en-US" dirty="0"/>
                            <a:t>run</a:t>
                          </a:r>
                        </a:p>
                      </a:txBody>
                      <a:tcPr anchor="ctr">
                        <a:solidFill>
                          <a:schemeClr val="accent2">
                            <a:lumMod val="20000"/>
                            <a:lumOff val="80000"/>
                          </a:schemeClr>
                        </a:solidFill>
                      </a:tcPr>
                    </a:tc>
                    <a:tc>
                      <a:txBody>
                        <a:bodyPr/>
                        <a:lstStyle/>
                        <a:p>
                          <a:r>
                            <a:rPr lang="en-US" dirty="0"/>
                            <a:t>win</a:t>
                          </a:r>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solidFill>
                          <a:schemeClr val="accent2">
                            <a:lumMod val="20000"/>
                            <a:lumOff val="80000"/>
                          </a:schemeClr>
                        </a:solidFill>
                      </a:tcPr>
                    </a:tc>
                    <a:tc rowSpan="2">
                      <a:txBody>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r>
                                  <a:rPr lang="en-US" b="0" i="1" smtClean="0">
                                    <a:latin typeface="Cambria Math" panose="02040503050406030204" pitchFamily="18" charset="0"/>
                                  </a:rPr>
                                  <m:t>×1+</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=0</m:t>
                                </m:r>
                              </m:oMath>
                            </m:oMathPara>
                          </a14:m>
                          <a:endParaRPr lang="en-US" dirty="0"/>
                        </a:p>
                      </a:txBody>
                      <a:tcPr anchor="ctr">
                        <a:solidFill>
                          <a:schemeClr val="accent2">
                            <a:lumMod val="20000"/>
                            <a:lumOff val="80000"/>
                          </a:schemeClr>
                        </a:solidFill>
                      </a:tcPr>
                    </a:tc>
                    <a:extLst>
                      <a:ext uri="{0D108BD9-81ED-4DB2-BD59-A6C34878D82A}">
                        <a16:rowId xmlns:a16="http://schemas.microsoft.com/office/drawing/2014/main" val="2879976811"/>
                      </a:ext>
                    </a:extLst>
                  </a:tr>
                  <a:tr h="370840">
                    <a:tc vMerge="1">
                      <a:txBody>
                        <a:bodyPr/>
                        <a:lstStyle/>
                        <a:p>
                          <a:endParaRPr lang="en-US" dirty="0"/>
                        </a:p>
                      </a:txBody>
                      <a:tcPr/>
                    </a:tc>
                    <a:tc>
                      <a:txBody>
                        <a:bodyPr/>
                        <a:lstStyle/>
                        <a:p>
                          <a:r>
                            <a:rPr lang="en-US" dirty="0"/>
                            <a:t>lose</a:t>
                          </a:r>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box>
                              </m:oMath>
                            </m:oMathPara>
                          </a14:m>
                          <a:endParaRPr lang="en-US" dirty="0"/>
                        </a:p>
                      </a:txBody>
                      <a:tcPr>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solidFill>
                          <a:schemeClr val="accent2">
                            <a:lumMod val="20000"/>
                            <a:lumOff val="80000"/>
                          </a:schemeClr>
                        </a:solidFill>
                      </a:tcPr>
                    </a:tc>
                    <a:tc vMerge="1">
                      <a:txBody>
                        <a:bodyPr/>
                        <a:lstStyle/>
                        <a:p>
                          <a:endParaRPr lang="en-US" dirty="0"/>
                        </a:p>
                      </a:txBody>
                      <a:tcPr>
                        <a:solidFill>
                          <a:schemeClr val="accent2">
                            <a:lumMod val="20000"/>
                            <a:lumOff val="80000"/>
                          </a:schemeClr>
                        </a:solidFill>
                      </a:tcPr>
                    </a:tc>
                    <a:extLst>
                      <a:ext uri="{0D108BD9-81ED-4DB2-BD59-A6C34878D82A}">
                        <a16:rowId xmlns:a16="http://schemas.microsoft.com/office/drawing/2014/main" val="1352842019"/>
                      </a:ext>
                    </a:extLst>
                  </a:tr>
                  <a:tr h="370840">
                    <a:tc>
                      <a:txBody>
                        <a:bodyPr/>
                        <a:lstStyle/>
                        <a:p>
                          <a:r>
                            <a:rPr lang="en-US" dirty="0"/>
                            <a:t>don’t run</a:t>
                          </a:r>
                        </a:p>
                      </a:txBody>
                      <a:tcPr/>
                    </a:tc>
                    <a:tc>
                      <a:txBody>
                        <a:bodyPr/>
                        <a:lstStyle/>
                        <a:p>
                          <a:r>
                            <a:rPr lang="en-US" dirty="0"/>
                            <a:t>NA</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a:txBody>
                      <a:tcPr/>
                    </a:tc>
                    <a:extLst>
                      <a:ext uri="{0D108BD9-81ED-4DB2-BD59-A6C34878D82A}">
                        <a16:rowId xmlns:a16="http://schemas.microsoft.com/office/drawing/2014/main" val="1523633854"/>
                      </a:ext>
                    </a:extLst>
                  </a:tr>
                </a:tbl>
              </a:graphicData>
            </a:graphic>
          </p:graphicFrame>
        </mc:Choice>
        <mc:Fallback xmlns="">
          <p:graphicFrame>
            <p:nvGraphicFramePr>
              <p:cNvPr id="9" name="Table 8">
                <a:extLst>
                  <a:ext uri="{FF2B5EF4-FFF2-40B4-BE49-F238E27FC236}">
                    <a16:creationId xmlns:a16="http://schemas.microsoft.com/office/drawing/2014/main" id="{49813E21-B7CF-5BFB-5B8B-9C85FEF4F0B2}"/>
                  </a:ext>
                </a:extLst>
              </p:cNvPr>
              <p:cNvGraphicFramePr>
                <a:graphicFrameLocks noGrp="1"/>
              </p:cNvGraphicFramePr>
              <p:nvPr>
                <p:extLst>
                  <p:ext uri="{D42A27DB-BD31-4B8C-83A1-F6EECF244321}">
                    <p14:modId xmlns:p14="http://schemas.microsoft.com/office/powerpoint/2010/main" val="2588123468"/>
                  </p:ext>
                </p:extLst>
              </p:nvPr>
            </p:nvGraphicFramePr>
            <p:xfrm>
              <a:off x="3200398" y="4080929"/>
              <a:ext cx="8848165" cy="1563752"/>
            </p:xfrm>
            <a:graphic>
              <a:graphicData uri="http://schemas.openxmlformats.org/drawingml/2006/table">
                <a:tbl>
                  <a:tblPr firstRow="1" bandRow="1">
                    <a:tableStyleId>{5C22544A-7EE6-4342-B048-85BDC9FD1C3A}</a:tableStyleId>
                  </a:tblPr>
                  <a:tblGrid>
                    <a:gridCol w="1769633">
                      <a:extLst>
                        <a:ext uri="{9D8B030D-6E8A-4147-A177-3AD203B41FA5}">
                          <a16:colId xmlns:a16="http://schemas.microsoft.com/office/drawing/2014/main" val="2064570893"/>
                        </a:ext>
                      </a:extLst>
                    </a:gridCol>
                    <a:gridCol w="1769633">
                      <a:extLst>
                        <a:ext uri="{9D8B030D-6E8A-4147-A177-3AD203B41FA5}">
                          <a16:colId xmlns:a16="http://schemas.microsoft.com/office/drawing/2014/main" val="647845297"/>
                        </a:ext>
                      </a:extLst>
                    </a:gridCol>
                    <a:gridCol w="1769633">
                      <a:extLst>
                        <a:ext uri="{9D8B030D-6E8A-4147-A177-3AD203B41FA5}">
                          <a16:colId xmlns:a16="http://schemas.microsoft.com/office/drawing/2014/main" val="4224279288"/>
                        </a:ext>
                      </a:extLst>
                    </a:gridCol>
                    <a:gridCol w="1073974">
                      <a:extLst>
                        <a:ext uri="{9D8B030D-6E8A-4147-A177-3AD203B41FA5}">
                          <a16:colId xmlns:a16="http://schemas.microsoft.com/office/drawing/2014/main" val="60495856"/>
                        </a:ext>
                      </a:extLst>
                    </a:gridCol>
                    <a:gridCol w="2465292">
                      <a:extLst>
                        <a:ext uri="{9D8B030D-6E8A-4147-A177-3AD203B41FA5}">
                          <a16:colId xmlns:a16="http://schemas.microsoft.com/office/drawing/2014/main" val="2842670161"/>
                        </a:ext>
                      </a:extLst>
                    </a:gridCol>
                  </a:tblGrid>
                  <a:tr h="370840">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2289210250"/>
                      </a:ext>
                    </a:extLst>
                  </a:tr>
                  <a:tr h="411036">
                    <a:tc rowSpan="2">
                      <a:txBody>
                        <a:bodyPr/>
                        <a:lstStyle/>
                        <a:p>
                          <a:r>
                            <a:rPr lang="en-US" dirty="0"/>
                            <a:t>run</a:t>
                          </a:r>
                        </a:p>
                      </a:txBody>
                      <a:tcPr anchor="ctr">
                        <a:solidFill>
                          <a:schemeClr val="accent2">
                            <a:lumMod val="20000"/>
                            <a:lumOff val="80000"/>
                          </a:schemeClr>
                        </a:solidFill>
                      </a:tcPr>
                    </a:tc>
                    <a:tc>
                      <a:txBody>
                        <a:bodyPr/>
                        <a:lstStyle/>
                        <a:p>
                          <a:r>
                            <a:rPr lang="en-US" dirty="0"/>
                            <a:t>win</a:t>
                          </a:r>
                        </a:p>
                      </a:txBody>
                      <a:tcPr>
                        <a:solidFill>
                          <a:schemeClr val="accent2">
                            <a:lumMod val="20000"/>
                            <a:lumOff val="80000"/>
                          </a:schemeClr>
                        </a:solidFill>
                      </a:tcPr>
                    </a:tc>
                    <a:tc>
                      <a:txBody>
                        <a:bodyPr/>
                        <a:lstStyle/>
                        <a:p>
                          <a:endParaRPr lang="en-US"/>
                        </a:p>
                      </a:txBody>
                      <a:tcPr>
                        <a:blipFill>
                          <a:blip r:embed="rId4"/>
                          <a:stretch>
                            <a:fillRect l="-200000" t="-95588" r="-201031" b="-211765"/>
                          </a:stretch>
                        </a:blipFill>
                      </a:tcPr>
                    </a:tc>
                    <a:tc>
                      <a:txBody>
                        <a:bodyPr/>
                        <a:lstStyle/>
                        <a:p>
                          <a:endParaRPr lang="en-US"/>
                        </a:p>
                      </a:txBody>
                      <a:tcPr>
                        <a:blipFill>
                          <a:blip r:embed="rId4"/>
                          <a:stretch>
                            <a:fillRect l="-496023" t="-95588" r="-232386" b="-211765"/>
                          </a:stretch>
                        </a:blipFill>
                      </a:tcPr>
                    </a:tc>
                    <a:tc rowSpan="2">
                      <a:txBody>
                        <a:bodyPr/>
                        <a:lstStyle/>
                        <a:p>
                          <a:endParaRPr lang="en-US"/>
                        </a:p>
                      </a:txBody>
                      <a:tcPr anchor="ctr">
                        <a:blipFill>
                          <a:blip r:embed="rId4"/>
                          <a:stretch>
                            <a:fillRect l="-259012" t="-48148" r="-988" b="-57037"/>
                          </a:stretch>
                        </a:blipFill>
                      </a:tcPr>
                    </a:tc>
                    <a:extLst>
                      <a:ext uri="{0D108BD9-81ED-4DB2-BD59-A6C34878D82A}">
                        <a16:rowId xmlns:a16="http://schemas.microsoft.com/office/drawing/2014/main" val="2879976811"/>
                      </a:ext>
                    </a:extLst>
                  </a:tr>
                  <a:tr h="411036">
                    <a:tc vMerge="1">
                      <a:txBody>
                        <a:bodyPr/>
                        <a:lstStyle/>
                        <a:p>
                          <a:endParaRPr lang="en-US" dirty="0"/>
                        </a:p>
                      </a:txBody>
                      <a:tcPr/>
                    </a:tc>
                    <a:tc>
                      <a:txBody>
                        <a:bodyPr/>
                        <a:lstStyle/>
                        <a:p>
                          <a:r>
                            <a:rPr lang="en-US" dirty="0"/>
                            <a:t>lose</a:t>
                          </a:r>
                        </a:p>
                      </a:txBody>
                      <a:tcPr>
                        <a:solidFill>
                          <a:schemeClr val="accent2">
                            <a:lumMod val="20000"/>
                            <a:lumOff val="80000"/>
                          </a:schemeClr>
                        </a:solidFill>
                      </a:tcPr>
                    </a:tc>
                    <a:tc>
                      <a:txBody>
                        <a:bodyPr/>
                        <a:lstStyle/>
                        <a:p>
                          <a:endParaRPr lang="en-US"/>
                        </a:p>
                      </a:txBody>
                      <a:tcPr>
                        <a:blipFill>
                          <a:blip r:embed="rId4"/>
                          <a:stretch>
                            <a:fillRect l="-200000" t="-198507" r="-201031" b="-114925"/>
                          </a:stretch>
                        </a:blipFill>
                      </a:tcPr>
                    </a:tc>
                    <a:tc>
                      <a:txBody>
                        <a:bodyPr/>
                        <a:lstStyle/>
                        <a:p>
                          <a:endParaRPr lang="en-US"/>
                        </a:p>
                      </a:txBody>
                      <a:tcPr>
                        <a:blipFill>
                          <a:blip r:embed="rId4"/>
                          <a:stretch>
                            <a:fillRect l="-496023" t="-198507" r="-232386" b="-114925"/>
                          </a:stretch>
                        </a:blipFill>
                      </a:tcPr>
                    </a:tc>
                    <a:tc vMerge="1">
                      <a:txBody>
                        <a:bodyPr/>
                        <a:lstStyle/>
                        <a:p>
                          <a:endParaRPr lang="en-US" dirty="0"/>
                        </a:p>
                      </a:txBody>
                      <a:tcPr>
                        <a:solidFill>
                          <a:schemeClr val="accent2">
                            <a:lumMod val="20000"/>
                            <a:lumOff val="80000"/>
                          </a:schemeClr>
                        </a:solidFill>
                      </a:tcPr>
                    </a:tc>
                    <a:extLst>
                      <a:ext uri="{0D108BD9-81ED-4DB2-BD59-A6C34878D82A}">
                        <a16:rowId xmlns:a16="http://schemas.microsoft.com/office/drawing/2014/main" val="1352842019"/>
                      </a:ext>
                    </a:extLst>
                  </a:tr>
                  <a:tr h="370840">
                    <a:tc>
                      <a:txBody>
                        <a:bodyPr/>
                        <a:lstStyle/>
                        <a:p>
                          <a:r>
                            <a:rPr lang="en-US" dirty="0"/>
                            <a:t>don’t run</a:t>
                          </a:r>
                        </a:p>
                      </a:txBody>
                      <a:tcPr/>
                    </a:tc>
                    <a:tc>
                      <a:txBody>
                        <a:bodyPr/>
                        <a:lstStyle/>
                        <a:p>
                          <a:r>
                            <a:rPr lang="en-US" dirty="0"/>
                            <a:t>NA</a:t>
                          </a:r>
                        </a:p>
                      </a:txBody>
                      <a:tcPr/>
                    </a:tc>
                    <a:tc>
                      <a:txBody>
                        <a:bodyPr/>
                        <a:lstStyle/>
                        <a:p>
                          <a:endParaRPr lang="en-US"/>
                        </a:p>
                      </a:txBody>
                      <a:tcPr>
                        <a:blipFill>
                          <a:blip r:embed="rId4"/>
                          <a:stretch>
                            <a:fillRect l="-200000" t="-327869" r="-201031" b="-26230"/>
                          </a:stretch>
                        </a:blipFill>
                      </a:tcPr>
                    </a:tc>
                    <a:tc>
                      <a:txBody>
                        <a:bodyPr/>
                        <a:lstStyle/>
                        <a:p>
                          <a:endParaRPr lang="en-US"/>
                        </a:p>
                      </a:txBody>
                      <a:tcPr>
                        <a:blipFill>
                          <a:blip r:embed="rId4"/>
                          <a:stretch>
                            <a:fillRect l="-496023" t="-327869" r="-232386" b="-26230"/>
                          </a:stretch>
                        </a:blipFill>
                      </a:tcPr>
                    </a:tc>
                    <a:tc>
                      <a:txBody>
                        <a:bodyPr/>
                        <a:lstStyle/>
                        <a:p>
                          <a:endParaRPr lang="en-US"/>
                        </a:p>
                      </a:txBody>
                      <a:tcPr>
                        <a:blipFill>
                          <a:blip r:embed="rId4"/>
                          <a:stretch>
                            <a:fillRect l="-259012" t="-327869" r="-988" b="-26230"/>
                          </a:stretch>
                        </a:blipFill>
                      </a:tcPr>
                    </a:tc>
                    <a:extLst>
                      <a:ext uri="{0D108BD9-81ED-4DB2-BD59-A6C34878D82A}">
                        <a16:rowId xmlns:a16="http://schemas.microsoft.com/office/drawing/2014/main" val="1523633854"/>
                      </a:ext>
                    </a:extLst>
                  </a:tr>
                </a:tbl>
              </a:graphicData>
            </a:graphic>
          </p:graphicFrame>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8CD2137-A768-B79A-A12C-D5D6B9BBC6A2}"/>
                  </a:ext>
                </a:extLst>
              </p:cNvPr>
              <p:cNvSpPr txBox="1"/>
              <p:nvPr/>
            </p:nvSpPr>
            <p:spPr>
              <a:xfrm>
                <a:off x="4857375" y="5883764"/>
                <a:ext cx="4814048"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EU formula: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𝑢</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𝑁</m:t>
                        </m:r>
                      </m:sub>
                    </m:sSub>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_</m:t>
                    </m:r>
                    <m:r>
                      <a:rPr lang="en-US" b="0" i="1" smtClean="0">
                        <a:latin typeface="Cambria Math" panose="02040503050406030204" pitchFamily="18" charset="0"/>
                      </a:rPr>
                      <m:t>𝑁</m:t>
                    </m:r>
                  </m:oMath>
                </a14:m>
                <a:endParaRPr lang="en-US" dirty="0"/>
              </a:p>
            </p:txBody>
          </p:sp>
        </mc:Choice>
        <mc:Fallback xmlns="">
          <p:sp>
            <p:nvSpPr>
              <p:cNvPr id="10" name="TextBox 9">
                <a:extLst>
                  <a:ext uri="{FF2B5EF4-FFF2-40B4-BE49-F238E27FC236}">
                    <a16:creationId xmlns:a16="http://schemas.microsoft.com/office/drawing/2014/main" id="{D8CD2137-A768-B79A-A12C-D5D6B9BBC6A2}"/>
                  </a:ext>
                </a:extLst>
              </p:cNvPr>
              <p:cNvSpPr txBox="1">
                <a:spLocks noRot="1" noChangeAspect="1" noMove="1" noResize="1" noEditPoints="1" noAdjustHandles="1" noChangeArrowheads="1" noChangeShapeType="1" noTextEdit="1"/>
              </p:cNvSpPr>
              <p:nvPr/>
            </p:nvSpPr>
            <p:spPr>
              <a:xfrm>
                <a:off x="4857375" y="5883764"/>
                <a:ext cx="4814048" cy="369332"/>
              </a:xfrm>
              <a:prstGeom prst="rect">
                <a:avLst/>
              </a:prstGeom>
              <a:blipFill>
                <a:blip r:embed="rId5"/>
                <a:stretch>
                  <a:fillRect l="-1009" t="-4688" b="-21875"/>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96AD674D-EDEA-4686-5478-23876CF4BBDB}"/>
              </a:ext>
            </a:extLst>
          </p:cNvPr>
          <p:cNvSpPr txBox="1"/>
          <p:nvPr/>
        </p:nvSpPr>
        <p:spPr>
          <a:xfrm>
            <a:off x="143434" y="611380"/>
            <a:ext cx="2599766" cy="5016758"/>
          </a:xfrm>
          <a:prstGeom prst="rect">
            <a:avLst/>
          </a:prstGeom>
          <a:solidFill>
            <a:schemeClr val="bg2"/>
          </a:solidFill>
          <a:ln w="28575">
            <a:solidFill>
              <a:schemeClr val="accent5"/>
            </a:solidFill>
          </a:ln>
        </p:spPr>
        <p:txBody>
          <a:bodyPr wrap="square" rtlCol="0">
            <a:spAutoFit/>
          </a:bodyPr>
          <a:lstStyle/>
          <a:p>
            <a:r>
              <a:rPr lang="en-US" sz="1600" dirty="0"/>
              <a:t>Build an expected utility model of a person, “Faith”, choosing whether to run for office in an upcoming election.  Depict the idea </a:t>
            </a:r>
            <a:r>
              <a:rPr lang="en-US" sz="1600"/>
              <a:t>that Faith does </a:t>
            </a:r>
            <a:r>
              <a:rPr lang="en-US" sz="1600" dirty="0"/>
              <a:t>not know how many other candidates will run in the election, and whether those candidates will be “high quality” (professional, well-funded, and thus likely to win), or “low quality” (amateur, lacking funding, and thus not likely to win). </a:t>
            </a:r>
            <a:r>
              <a:rPr lang="en-US" sz="1600"/>
              <a:t>Assume Faith would </a:t>
            </a:r>
            <a:r>
              <a:rPr lang="en-US" sz="1600" dirty="0"/>
              <a:t>find running personally costly, and values the prospect of winning public office.</a:t>
            </a:r>
          </a:p>
        </p:txBody>
      </p:sp>
    </p:spTree>
    <p:extLst>
      <p:ext uri="{BB962C8B-B14F-4D97-AF65-F5344CB8AC3E}">
        <p14:creationId xmlns:p14="http://schemas.microsoft.com/office/powerpoint/2010/main" val="3809686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C11E6-182A-1210-0EB7-B723F501CE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4AA2045-B1E0-24EC-6406-3963A35D33E4}"/>
              </a:ext>
            </a:extLst>
          </p:cNvPr>
          <p:cNvSpPr txBox="1"/>
          <p:nvPr/>
        </p:nvSpPr>
        <p:spPr>
          <a:xfrm>
            <a:off x="1515358" y="226244"/>
            <a:ext cx="9161283"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400" dirty="0"/>
              <a:t>A Puzzle About Women’s Representation in U.S. Legislatures</a:t>
            </a:r>
          </a:p>
        </p:txBody>
      </p:sp>
    </p:spTree>
    <p:extLst>
      <p:ext uri="{BB962C8B-B14F-4D97-AF65-F5344CB8AC3E}">
        <p14:creationId xmlns:p14="http://schemas.microsoft.com/office/powerpoint/2010/main" val="2651242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3EB0B-2C01-26F8-BEBA-0B433F120A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E3E7FA-B586-6BF5-41F7-98D97E2901B4}"/>
              </a:ext>
            </a:extLst>
          </p:cNvPr>
          <p:cNvSpPr txBox="1"/>
          <p:nvPr/>
        </p:nvSpPr>
        <p:spPr>
          <a:xfrm>
            <a:off x="1515358" y="226244"/>
            <a:ext cx="9161283"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400" dirty="0"/>
              <a:t>A Puzzle About Women’s Representation in U.S. Legislatures</a:t>
            </a:r>
          </a:p>
        </p:txBody>
      </p:sp>
      <p:sp>
        <p:nvSpPr>
          <p:cNvPr id="3" name="TextBox 2">
            <a:extLst>
              <a:ext uri="{FF2B5EF4-FFF2-40B4-BE49-F238E27FC236}">
                <a16:creationId xmlns:a16="http://schemas.microsoft.com/office/drawing/2014/main" id="{925DB115-9CE2-F5D0-88FD-AE78DA6CA799}"/>
              </a:ext>
            </a:extLst>
          </p:cNvPr>
          <p:cNvSpPr txBox="1"/>
          <p:nvPr/>
        </p:nvSpPr>
        <p:spPr>
          <a:xfrm>
            <a:off x="614312" y="933253"/>
            <a:ext cx="10963373" cy="374128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The proportion of U.S. federal and state legislators who are women is WAY below the proportion of women among eligible persons (50%).</a:t>
            </a:r>
            <a:br>
              <a:rPr lang="en-US" sz="2000" dirty="0"/>
            </a:br>
            <a:endParaRPr lang="en-US" sz="2000" dirty="0"/>
          </a:p>
          <a:p>
            <a:pPr marL="285750" indent="-285750">
              <a:lnSpc>
                <a:spcPct val="150000"/>
              </a:lnSpc>
              <a:buFont typeface="Arial" panose="020B0604020202020204" pitchFamily="34" charset="0"/>
              <a:buChar char="•"/>
            </a:pPr>
            <a:r>
              <a:rPr lang="en-US" sz="2000" dirty="0"/>
              <a:t>Yet multiple studies have shown two things:</a:t>
            </a:r>
          </a:p>
          <a:p>
            <a:pPr marL="742950" lvl="1" indent="-285750">
              <a:lnSpc>
                <a:spcPct val="150000"/>
              </a:lnSpc>
              <a:buFont typeface="Arial" panose="020B0604020202020204" pitchFamily="34" charset="0"/>
              <a:buChar char="•"/>
            </a:pPr>
            <a:r>
              <a:rPr lang="en-US" sz="2000" dirty="0"/>
              <a:t>Candidates for legislative office who are women win at about the same rate as candidates who are men.</a:t>
            </a:r>
          </a:p>
          <a:p>
            <a:pPr marL="742950" lvl="1" indent="-285750">
              <a:lnSpc>
                <a:spcPct val="150000"/>
              </a:lnSpc>
              <a:buFont typeface="Arial" panose="020B0604020202020204" pitchFamily="34" charset="0"/>
              <a:buChar char="•"/>
            </a:pPr>
            <a:r>
              <a:rPr lang="en-US" sz="2000" dirty="0"/>
              <a:t>Legislators who are women sponsor more bills and bring home more funding to their districts on average than legislators who are men.</a:t>
            </a:r>
          </a:p>
        </p:txBody>
      </p:sp>
    </p:spTree>
    <p:extLst>
      <p:ext uri="{BB962C8B-B14F-4D97-AF65-F5344CB8AC3E}">
        <p14:creationId xmlns:p14="http://schemas.microsoft.com/office/powerpoint/2010/main" val="3954478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E58A7-1CD8-5F87-C4C6-854C0407362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4D2F90-E7B3-4159-5CCB-22E435C85F56}"/>
              </a:ext>
            </a:extLst>
          </p:cNvPr>
          <p:cNvSpPr txBox="1"/>
          <p:nvPr/>
        </p:nvSpPr>
        <p:spPr>
          <a:xfrm>
            <a:off x="1515358" y="226244"/>
            <a:ext cx="9161283"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400" dirty="0"/>
              <a:t>A Puzzle About Women’s Representation in U.S. Legislatures</a:t>
            </a:r>
          </a:p>
        </p:txBody>
      </p:sp>
      <p:sp>
        <p:nvSpPr>
          <p:cNvPr id="3" name="TextBox 2">
            <a:extLst>
              <a:ext uri="{FF2B5EF4-FFF2-40B4-BE49-F238E27FC236}">
                <a16:creationId xmlns:a16="http://schemas.microsoft.com/office/drawing/2014/main" id="{DF4555BD-1257-525B-63E8-A83D9C13FD1F}"/>
              </a:ext>
            </a:extLst>
          </p:cNvPr>
          <p:cNvSpPr txBox="1"/>
          <p:nvPr/>
        </p:nvSpPr>
        <p:spPr>
          <a:xfrm>
            <a:off x="614312" y="933253"/>
            <a:ext cx="10963373" cy="374128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The proportion of U.S. federal and state legislators who are women is WAY below the proportion of women among eligible persons (50%).</a:t>
            </a:r>
            <a:br>
              <a:rPr lang="en-US" sz="2000" dirty="0"/>
            </a:br>
            <a:endParaRPr lang="en-US" sz="2000" dirty="0"/>
          </a:p>
          <a:p>
            <a:pPr marL="285750" indent="-285750">
              <a:lnSpc>
                <a:spcPct val="150000"/>
              </a:lnSpc>
              <a:buFont typeface="Arial" panose="020B0604020202020204" pitchFamily="34" charset="0"/>
              <a:buChar char="•"/>
            </a:pPr>
            <a:r>
              <a:rPr lang="en-US" sz="2000" dirty="0"/>
              <a:t>Yet multiple studies have shown two things:</a:t>
            </a:r>
          </a:p>
          <a:p>
            <a:pPr marL="742950" lvl="1" indent="-285750">
              <a:lnSpc>
                <a:spcPct val="150000"/>
              </a:lnSpc>
              <a:buFont typeface="Arial" panose="020B0604020202020204" pitchFamily="34" charset="0"/>
              <a:buChar char="•"/>
            </a:pPr>
            <a:r>
              <a:rPr lang="en-US" sz="2000" dirty="0"/>
              <a:t>Candidates for legislative office who are women win at about the same rate as candidates who are men.</a:t>
            </a:r>
          </a:p>
          <a:p>
            <a:pPr marL="742950" lvl="1" indent="-285750">
              <a:lnSpc>
                <a:spcPct val="150000"/>
              </a:lnSpc>
              <a:buFont typeface="Arial" panose="020B0604020202020204" pitchFamily="34" charset="0"/>
              <a:buChar char="•"/>
            </a:pPr>
            <a:r>
              <a:rPr lang="en-US" sz="2000" dirty="0"/>
              <a:t>Legislators who are women sponsor more bills and bring home more funding to their districts on average than legislators who are men.</a:t>
            </a:r>
          </a:p>
        </p:txBody>
      </p:sp>
      <p:sp>
        <p:nvSpPr>
          <p:cNvPr id="4" name="TextBox 3">
            <a:extLst>
              <a:ext uri="{FF2B5EF4-FFF2-40B4-BE49-F238E27FC236}">
                <a16:creationId xmlns:a16="http://schemas.microsoft.com/office/drawing/2014/main" id="{F087E433-FE14-1FAA-FF01-8291332F4631}"/>
              </a:ext>
            </a:extLst>
          </p:cNvPr>
          <p:cNvSpPr txBox="1"/>
          <p:nvPr/>
        </p:nvSpPr>
        <p:spPr>
          <a:xfrm>
            <a:off x="2281286" y="5062193"/>
            <a:ext cx="7315200" cy="1200329"/>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b="1" dirty="0"/>
              <a:t>So women candidates win just as much as men candidates...and when they win, they perform better than men in office.</a:t>
            </a:r>
          </a:p>
          <a:p>
            <a:endParaRPr lang="en-US" b="1" dirty="0"/>
          </a:p>
          <a:p>
            <a:r>
              <a:rPr lang="en-US" b="1" i="1" dirty="0"/>
              <a:t>How, then, do women end up underrepresented in office?</a:t>
            </a:r>
          </a:p>
        </p:txBody>
      </p:sp>
    </p:spTree>
    <p:extLst>
      <p:ext uri="{BB962C8B-B14F-4D97-AF65-F5344CB8AC3E}">
        <p14:creationId xmlns:p14="http://schemas.microsoft.com/office/powerpoint/2010/main" val="2878318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121BD5-C9C5-A2FB-C6E2-B60458E3751F}"/>
              </a:ext>
            </a:extLst>
          </p:cNvPr>
          <p:cNvSpPr txBox="1"/>
          <p:nvPr/>
        </p:nvSpPr>
        <p:spPr>
          <a:xfrm>
            <a:off x="2730631" y="2677212"/>
            <a:ext cx="6730738" cy="369332"/>
          </a:xfrm>
          <a:prstGeom prst="rect">
            <a:avLst/>
          </a:prstGeom>
          <a:noFill/>
        </p:spPr>
        <p:txBody>
          <a:bodyPr wrap="square" rtlCol="0">
            <a:spAutoFit/>
          </a:bodyPr>
          <a:lstStyle/>
          <a:p>
            <a:pPr algn="ctr"/>
            <a:r>
              <a:rPr lang="en-US" i="1" dirty="0"/>
              <a:t>Inspired by a model by Ashworth, Berry, and Bueno de Mesquita</a:t>
            </a:r>
          </a:p>
        </p:txBody>
      </p:sp>
    </p:spTree>
    <p:extLst>
      <p:ext uri="{BB962C8B-B14F-4D97-AF65-F5344CB8AC3E}">
        <p14:creationId xmlns:p14="http://schemas.microsoft.com/office/powerpoint/2010/main" val="2448531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BD5BC-E838-FB0F-AB98-708451A5F66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D0373A-C6E3-5763-EDAF-B3ED2687F9F6}"/>
              </a:ext>
            </a:extLst>
          </p:cNvPr>
          <p:cNvSpPr txBox="1"/>
          <p:nvPr/>
        </p:nvSpPr>
        <p:spPr>
          <a:xfrm>
            <a:off x="2315851" y="886120"/>
            <a:ext cx="7560297" cy="4524315"/>
          </a:xfrm>
          <a:prstGeom prst="rect">
            <a:avLst/>
          </a:prstGeom>
          <a:noFill/>
        </p:spPr>
        <p:txBody>
          <a:bodyPr wrap="square" rtlCol="0">
            <a:spAutoFit/>
          </a:bodyPr>
          <a:lstStyle/>
          <a:p>
            <a:pPr marL="285750" indent="-285750">
              <a:buFont typeface="Arial" panose="020B0604020202020204" pitchFamily="34" charset="0"/>
              <a:buChar char="•"/>
            </a:pPr>
            <a:r>
              <a:rPr lang="en-US" dirty="0"/>
              <a:t>Suppose that each person who considers running for office has two characteristics:</a:t>
            </a:r>
          </a:p>
          <a:p>
            <a:pPr marL="742950" lvl="1" indent="-285750">
              <a:buFont typeface="Arial" panose="020B0604020202020204" pitchFamily="34" charset="0"/>
              <a:buChar char="•"/>
            </a:pPr>
            <a:r>
              <a:rPr lang="en-US" dirty="0"/>
              <a:t>Gender (woman, man)</a:t>
            </a:r>
          </a:p>
          <a:p>
            <a:pPr marL="742950" lvl="1" indent="-285750">
              <a:buFont typeface="Arial" panose="020B0604020202020204" pitchFamily="34" charset="0"/>
              <a:buChar char="•"/>
            </a:pPr>
            <a:r>
              <a:rPr lang="en-US" dirty="0"/>
              <a:t>Political talent (high, low)</a:t>
            </a:r>
            <a:br>
              <a:rPr lang="en-US" dirty="0"/>
            </a:br>
            <a:endParaRPr lang="en-US" dirty="0"/>
          </a:p>
          <a:p>
            <a:pPr marL="285750" indent="-285750">
              <a:buFont typeface="Arial" panose="020B0604020202020204" pitchFamily="34" charset="0"/>
              <a:buChar char="•"/>
            </a:pPr>
            <a:r>
              <a:rPr lang="en-US" dirty="0">
                <a:solidFill>
                  <a:schemeClr val="bg1">
                    <a:lumMod val="85000"/>
                    <a:lumOff val="15000"/>
                  </a:schemeClr>
                </a:solidFill>
              </a:rPr>
              <a:t>Suppose that each characteristics has different effects...</a:t>
            </a:r>
            <a:br>
              <a:rPr lang="en-US" dirty="0"/>
            </a:br>
            <a:endParaRPr lang="en-US" dirty="0"/>
          </a:p>
          <a:p>
            <a:pPr marL="742950" lvl="1" indent="-285750">
              <a:buFont typeface="Arial" panose="020B0604020202020204" pitchFamily="34" charset="0"/>
              <a:buChar char="•"/>
            </a:pPr>
            <a:r>
              <a:rPr lang="en-US" dirty="0">
                <a:solidFill>
                  <a:schemeClr val="bg1">
                    <a:lumMod val="85000"/>
                    <a:lumOff val="15000"/>
                  </a:schemeClr>
                </a:solidFill>
              </a:rPr>
              <a:t>A substantial portion of voters are biased against women candidates.  So, women candidates are less likely (all else equal) than men candidates to win their races.</a:t>
            </a:r>
            <a:br>
              <a:rPr lang="en-US" dirty="0">
                <a:solidFill>
                  <a:schemeClr val="bg1">
                    <a:lumMod val="85000"/>
                    <a:lumOff val="15000"/>
                  </a:schemeClr>
                </a:solidFill>
              </a:rPr>
            </a:br>
            <a:endParaRPr lang="en-US" dirty="0">
              <a:solidFill>
                <a:schemeClr val="bg1">
                  <a:lumMod val="85000"/>
                  <a:lumOff val="15000"/>
                </a:schemeClr>
              </a:solidFill>
            </a:endParaRPr>
          </a:p>
          <a:p>
            <a:pPr marL="742950" lvl="1" indent="-285750">
              <a:buFont typeface="Arial" panose="020B0604020202020204" pitchFamily="34" charset="0"/>
              <a:buChar char="•"/>
            </a:pPr>
            <a:r>
              <a:rPr lang="en-US" dirty="0">
                <a:solidFill>
                  <a:schemeClr val="bg1">
                    <a:lumMod val="85000"/>
                    <a:lumOff val="15000"/>
                  </a:schemeClr>
                </a:solidFill>
              </a:rPr>
              <a:t>Persons with high political talent are more effective as candidates, so they are more likely than persons with low political talent to win their races.</a:t>
            </a:r>
            <a:br>
              <a:rPr lang="en-US" dirty="0">
                <a:solidFill>
                  <a:schemeClr val="bg1">
                    <a:lumMod val="85000"/>
                    <a:lumOff val="15000"/>
                  </a:schemeClr>
                </a:solidFill>
              </a:rPr>
            </a:br>
            <a:endParaRPr lang="en-US" dirty="0">
              <a:solidFill>
                <a:schemeClr val="bg1">
                  <a:lumMod val="85000"/>
                  <a:lumOff val="15000"/>
                </a:schemeClr>
              </a:solidFill>
            </a:endParaRPr>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26893677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EB386-C225-8828-F3A8-E00EA1AAC82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0F58C67-3CCD-C95F-3EFA-ACDD3DD2192D}"/>
              </a:ext>
            </a:extLst>
          </p:cNvPr>
          <p:cNvSpPr txBox="1"/>
          <p:nvPr/>
        </p:nvSpPr>
        <p:spPr>
          <a:xfrm>
            <a:off x="2315851" y="886120"/>
            <a:ext cx="7560297" cy="4524315"/>
          </a:xfrm>
          <a:prstGeom prst="rect">
            <a:avLst/>
          </a:prstGeom>
          <a:noFill/>
        </p:spPr>
        <p:txBody>
          <a:bodyPr wrap="square" rtlCol="0">
            <a:spAutoFit/>
          </a:bodyPr>
          <a:lstStyle/>
          <a:p>
            <a:pPr marL="285750" indent="-285750">
              <a:buFont typeface="Arial" panose="020B0604020202020204" pitchFamily="34" charset="0"/>
              <a:buChar char="•"/>
            </a:pPr>
            <a:r>
              <a:rPr lang="en-US" dirty="0"/>
              <a:t>Suppose that each person who considers running for office has two characteristics:</a:t>
            </a:r>
          </a:p>
          <a:p>
            <a:pPr marL="742950" lvl="1" indent="-285750">
              <a:buFont typeface="Arial" panose="020B0604020202020204" pitchFamily="34" charset="0"/>
              <a:buChar char="•"/>
            </a:pPr>
            <a:r>
              <a:rPr lang="en-US" dirty="0"/>
              <a:t>Gender (woman, man)</a:t>
            </a:r>
          </a:p>
          <a:p>
            <a:pPr marL="742950" lvl="1" indent="-285750">
              <a:buFont typeface="Arial" panose="020B0604020202020204" pitchFamily="34" charset="0"/>
              <a:buChar char="•"/>
            </a:pPr>
            <a:r>
              <a:rPr lang="en-US" dirty="0"/>
              <a:t>Political talent (high, low)</a:t>
            </a:r>
            <a:br>
              <a:rPr lang="en-US" dirty="0"/>
            </a:br>
            <a:endParaRPr lang="en-US" dirty="0"/>
          </a:p>
          <a:p>
            <a:pPr marL="285750" indent="-285750">
              <a:buFont typeface="Arial" panose="020B0604020202020204" pitchFamily="34" charset="0"/>
              <a:buChar char="•"/>
            </a:pPr>
            <a:r>
              <a:rPr lang="en-US" dirty="0"/>
              <a:t>Suppose that each characteristics has different effects...</a:t>
            </a:r>
            <a:br>
              <a:rPr lang="en-US" dirty="0"/>
            </a:br>
            <a:endParaRPr lang="en-US" dirty="0"/>
          </a:p>
          <a:p>
            <a:pPr marL="742950" lvl="1" indent="-285750">
              <a:buFont typeface="Arial" panose="020B0604020202020204" pitchFamily="34" charset="0"/>
              <a:buChar char="•"/>
            </a:pPr>
            <a:r>
              <a:rPr lang="en-US" dirty="0">
                <a:solidFill>
                  <a:schemeClr val="bg1">
                    <a:lumMod val="85000"/>
                    <a:lumOff val="15000"/>
                  </a:schemeClr>
                </a:solidFill>
              </a:rPr>
              <a:t>A substantial portion of voters are biased against women candidates.  So, women candidates are less likely (all else equal) than men candidates to win their races.</a:t>
            </a:r>
            <a:br>
              <a:rPr lang="en-US" dirty="0">
                <a:solidFill>
                  <a:schemeClr val="bg1">
                    <a:lumMod val="85000"/>
                    <a:lumOff val="15000"/>
                  </a:schemeClr>
                </a:solidFill>
              </a:rPr>
            </a:br>
            <a:endParaRPr lang="en-US" dirty="0">
              <a:solidFill>
                <a:schemeClr val="bg1">
                  <a:lumMod val="85000"/>
                  <a:lumOff val="15000"/>
                </a:schemeClr>
              </a:solidFill>
            </a:endParaRPr>
          </a:p>
          <a:p>
            <a:pPr marL="742950" lvl="1" indent="-285750">
              <a:buFont typeface="Arial" panose="020B0604020202020204" pitchFamily="34" charset="0"/>
              <a:buChar char="•"/>
            </a:pPr>
            <a:r>
              <a:rPr lang="en-US" dirty="0">
                <a:solidFill>
                  <a:schemeClr val="bg1">
                    <a:lumMod val="85000"/>
                    <a:lumOff val="15000"/>
                  </a:schemeClr>
                </a:solidFill>
              </a:rPr>
              <a:t>Persons with high political talent are more effective as candidates, so they are more likely than persons with low political talent to win their races.</a:t>
            </a:r>
            <a:br>
              <a:rPr lang="en-US" dirty="0">
                <a:solidFill>
                  <a:schemeClr val="bg1">
                    <a:lumMod val="85000"/>
                    <a:lumOff val="15000"/>
                  </a:schemeClr>
                </a:solidFill>
              </a:rPr>
            </a:br>
            <a:endParaRPr lang="en-US" dirty="0">
              <a:solidFill>
                <a:schemeClr val="bg1">
                  <a:lumMod val="85000"/>
                  <a:lumOff val="15000"/>
                </a:schemeClr>
              </a:solidFill>
            </a:endParaRPr>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34741818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8B687-C6F7-B16A-1B93-FBDE0933A84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3C76CE8-E154-EEF2-AAF9-2C8D223F77C2}"/>
              </a:ext>
            </a:extLst>
          </p:cNvPr>
          <p:cNvSpPr txBox="1"/>
          <p:nvPr/>
        </p:nvSpPr>
        <p:spPr>
          <a:xfrm>
            <a:off x="2315851" y="886120"/>
            <a:ext cx="7560297" cy="4524315"/>
          </a:xfrm>
          <a:prstGeom prst="rect">
            <a:avLst/>
          </a:prstGeom>
          <a:noFill/>
        </p:spPr>
        <p:txBody>
          <a:bodyPr wrap="square" rtlCol="0">
            <a:spAutoFit/>
          </a:bodyPr>
          <a:lstStyle/>
          <a:p>
            <a:pPr marL="285750" indent="-285750">
              <a:buFont typeface="Arial" panose="020B0604020202020204" pitchFamily="34" charset="0"/>
              <a:buChar char="•"/>
            </a:pPr>
            <a:r>
              <a:rPr lang="en-US" dirty="0"/>
              <a:t>Suppose that each person who considers running for office has two characteristics:</a:t>
            </a:r>
          </a:p>
          <a:p>
            <a:pPr marL="742950" lvl="1" indent="-285750">
              <a:buFont typeface="Arial" panose="020B0604020202020204" pitchFamily="34" charset="0"/>
              <a:buChar char="•"/>
            </a:pPr>
            <a:r>
              <a:rPr lang="en-US" dirty="0"/>
              <a:t>Gender (woman, man)</a:t>
            </a:r>
          </a:p>
          <a:p>
            <a:pPr marL="742950" lvl="1" indent="-285750">
              <a:buFont typeface="Arial" panose="020B0604020202020204" pitchFamily="34" charset="0"/>
              <a:buChar char="•"/>
            </a:pPr>
            <a:r>
              <a:rPr lang="en-US" dirty="0"/>
              <a:t>Political talent (high, low)</a:t>
            </a:r>
            <a:br>
              <a:rPr lang="en-US" dirty="0"/>
            </a:br>
            <a:endParaRPr lang="en-US" dirty="0"/>
          </a:p>
          <a:p>
            <a:pPr marL="285750" indent="-285750">
              <a:buFont typeface="Arial" panose="020B0604020202020204" pitchFamily="34" charset="0"/>
              <a:buChar char="•"/>
            </a:pPr>
            <a:r>
              <a:rPr lang="en-US" dirty="0"/>
              <a:t>Suppose that each characteristics has different effects...</a:t>
            </a:r>
            <a:br>
              <a:rPr lang="en-US" dirty="0"/>
            </a:br>
            <a:endParaRPr lang="en-US" dirty="0"/>
          </a:p>
          <a:p>
            <a:pPr marL="742950" lvl="1" indent="-285750">
              <a:buFont typeface="Arial" panose="020B0604020202020204" pitchFamily="34" charset="0"/>
              <a:buChar char="•"/>
            </a:pPr>
            <a:r>
              <a:rPr lang="en-US" dirty="0"/>
              <a:t>A substantial portion of voters are biased against women candidates.  So, women candidates are less likely (all else equal) than men candidates to win their races.</a:t>
            </a:r>
            <a:br>
              <a:rPr lang="en-US" dirty="0"/>
            </a:br>
            <a:endParaRPr lang="en-US" dirty="0"/>
          </a:p>
          <a:p>
            <a:pPr marL="742950" lvl="1" indent="-285750">
              <a:buFont typeface="Arial" panose="020B0604020202020204" pitchFamily="34" charset="0"/>
              <a:buChar char="•"/>
            </a:pPr>
            <a:r>
              <a:rPr lang="en-US" dirty="0">
                <a:solidFill>
                  <a:schemeClr val="bg1">
                    <a:lumMod val="85000"/>
                    <a:lumOff val="15000"/>
                  </a:schemeClr>
                </a:solidFill>
              </a:rPr>
              <a:t>Persons with high political talent are more effective as candidates, so they are more likely than persons with low political talent to win their races.</a:t>
            </a:r>
            <a:br>
              <a:rPr lang="en-US" dirty="0">
                <a:solidFill>
                  <a:schemeClr val="bg1">
                    <a:lumMod val="85000"/>
                    <a:lumOff val="15000"/>
                  </a:schemeClr>
                </a:solidFill>
              </a:rPr>
            </a:br>
            <a:endParaRPr lang="en-US" dirty="0">
              <a:solidFill>
                <a:schemeClr val="bg1">
                  <a:lumMod val="85000"/>
                  <a:lumOff val="15000"/>
                </a:schemeClr>
              </a:solidFill>
            </a:endParaRPr>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3898916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8282A-85AC-B33B-B8A2-E0F846626F2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48426B-6BBA-DF2B-D09D-7F2578F13CC4}"/>
              </a:ext>
            </a:extLst>
          </p:cNvPr>
          <p:cNvSpPr txBox="1"/>
          <p:nvPr/>
        </p:nvSpPr>
        <p:spPr>
          <a:xfrm>
            <a:off x="2315851" y="886120"/>
            <a:ext cx="7560297" cy="4524315"/>
          </a:xfrm>
          <a:prstGeom prst="rect">
            <a:avLst/>
          </a:prstGeom>
          <a:noFill/>
        </p:spPr>
        <p:txBody>
          <a:bodyPr wrap="square" rtlCol="0">
            <a:spAutoFit/>
          </a:bodyPr>
          <a:lstStyle/>
          <a:p>
            <a:pPr marL="285750" indent="-285750">
              <a:buFont typeface="Arial" panose="020B0604020202020204" pitchFamily="34" charset="0"/>
              <a:buChar char="•"/>
            </a:pPr>
            <a:r>
              <a:rPr lang="en-US" dirty="0"/>
              <a:t>Suppose that each person who considers running for office has two characteristics:</a:t>
            </a:r>
          </a:p>
          <a:p>
            <a:pPr marL="742950" lvl="1" indent="-285750">
              <a:buFont typeface="Arial" panose="020B0604020202020204" pitchFamily="34" charset="0"/>
              <a:buChar char="•"/>
            </a:pPr>
            <a:r>
              <a:rPr lang="en-US" dirty="0"/>
              <a:t>Gender (woman, man)</a:t>
            </a:r>
          </a:p>
          <a:p>
            <a:pPr marL="742950" lvl="1" indent="-285750">
              <a:buFont typeface="Arial" panose="020B0604020202020204" pitchFamily="34" charset="0"/>
              <a:buChar char="•"/>
            </a:pPr>
            <a:r>
              <a:rPr lang="en-US" dirty="0"/>
              <a:t>Political talent (high, low)</a:t>
            </a:r>
            <a:br>
              <a:rPr lang="en-US" dirty="0"/>
            </a:br>
            <a:endParaRPr lang="en-US" dirty="0"/>
          </a:p>
          <a:p>
            <a:pPr marL="285750" indent="-285750">
              <a:buFont typeface="Arial" panose="020B0604020202020204" pitchFamily="34" charset="0"/>
              <a:buChar char="•"/>
            </a:pPr>
            <a:r>
              <a:rPr lang="en-US" dirty="0"/>
              <a:t>Suppose that each characteristics has different effects...</a:t>
            </a:r>
            <a:br>
              <a:rPr lang="en-US" dirty="0"/>
            </a:br>
            <a:endParaRPr lang="en-US" dirty="0"/>
          </a:p>
          <a:p>
            <a:pPr marL="742950" lvl="1" indent="-285750">
              <a:buFont typeface="Arial" panose="020B0604020202020204" pitchFamily="34" charset="0"/>
              <a:buChar char="•"/>
            </a:pPr>
            <a:r>
              <a:rPr lang="en-US" dirty="0"/>
              <a:t>A substantial portion of voters are biased against women candidates.  So, women candidates are less likely (all else equal) than men candidates to win their races.</a:t>
            </a:r>
            <a:br>
              <a:rPr lang="en-US" dirty="0"/>
            </a:br>
            <a:endParaRPr lang="en-US" dirty="0"/>
          </a:p>
          <a:p>
            <a:pPr marL="742950" lvl="1" indent="-285750">
              <a:buFont typeface="Arial" panose="020B0604020202020204" pitchFamily="34" charset="0"/>
              <a:buChar char="•"/>
            </a:pPr>
            <a:r>
              <a:rPr lang="en-US" dirty="0"/>
              <a:t>Persons with high political talent are more effective as candidates, so they are more likely than persons with low political talent to win their races.</a:t>
            </a:r>
            <a:br>
              <a:rPr lang="en-US" dirty="0"/>
            </a:br>
            <a:endParaRPr lang="en-US"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1698550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1D769-0CCC-4811-402A-24F43AC0851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2EE71C-A1FE-7298-E299-AAD367717111}"/>
              </a:ext>
            </a:extLst>
          </p:cNvPr>
          <p:cNvSpPr txBox="1"/>
          <p:nvPr/>
        </p:nvSpPr>
        <p:spPr>
          <a:xfrm>
            <a:off x="2315851" y="886120"/>
            <a:ext cx="7560297" cy="5632311"/>
          </a:xfrm>
          <a:prstGeom prst="rect">
            <a:avLst/>
          </a:prstGeom>
          <a:noFill/>
        </p:spPr>
        <p:txBody>
          <a:bodyPr wrap="square" rtlCol="0">
            <a:spAutoFit/>
          </a:bodyPr>
          <a:lstStyle/>
          <a:p>
            <a:pPr marL="285750" indent="-285750">
              <a:buFont typeface="Arial" panose="020B0604020202020204" pitchFamily="34" charset="0"/>
              <a:buChar char="•"/>
            </a:pPr>
            <a:r>
              <a:rPr lang="en-US" dirty="0"/>
              <a:t>Suppose that each person who considers running for office has two characteristics:</a:t>
            </a:r>
          </a:p>
          <a:p>
            <a:pPr marL="742950" lvl="1" indent="-285750">
              <a:buFont typeface="Arial" panose="020B0604020202020204" pitchFamily="34" charset="0"/>
              <a:buChar char="•"/>
            </a:pPr>
            <a:r>
              <a:rPr lang="en-US" dirty="0"/>
              <a:t>Gender (woman, man)</a:t>
            </a:r>
          </a:p>
          <a:p>
            <a:pPr marL="742950" lvl="1" indent="-285750">
              <a:buFont typeface="Arial" panose="020B0604020202020204" pitchFamily="34" charset="0"/>
              <a:buChar char="•"/>
            </a:pPr>
            <a:r>
              <a:rPr lang="en-US" dirty="0"/>
              <a:t>Political talent (high, low)</a:t>
            </a:r>
            <a:br>
              <a:rPr lang="en-US" dirty="0"/>
            </a:br>
            <a:endParaRPr lang="en-US" dirty="0"/>
          </a:p>
          <a:p>
            <a:pPr marL="285750" indent="-285750">
              <a:buFont typeface="Arial" panose="020B0604020202020204" pitchFamily="34" charset="0"/>
              <a:buChar char="•"/>
            </a:pPr>
            <a:r>
              <a:rPr lang="en-US" dirty="0"/>
              <a:t>Suppose that each characteristics has different effects...</a:t>
            </a:r>
            <a:br>
              <a:rPr lang="en-US" dirty="0"/>
            </a:br>
            <a:endParaRPr lang="en-US" dirty="0"/>
          </a:p>
          <a:p>
            <a:pPr marL="742950" lvl="1" indent="-285750">
              <a:buFont typeface="Arial" panose="020B0604020202020204" pitchFamily="34" charset="0"/>
              <a:buChar char="•"/>
            </a:pPr>
            <a:r>
              <a:rPr lang="en-US" dirty="0"/>
              <a:t>A substantial portion of voters are biased against women candidates.  So, women candidates are less likely (all else equal) than men candidates to win their races.</a:t>
            </a:r>
            <a:br>
              <a:rPr lang="en-US" dirty="0"/>
            </a:br>
            <a:endParaRPr lang="en-US" dirty="0"/>
          </a:p>
          <a:p>
            <a:pPr marL="742950" lvl="1" indent="-285750">
              <a:buFont typeface="Arial" panose="020B0604020202020204" pitchFamily="34" charset="0"/>
              <a:buChar char="•"/>
            </a:pPr>
            <a:r>
              <a:rPr lang="en-US" dirty="0"/>
              <a:t>Persons with high political talent are more effective as candidates, so they are more likely than persons with low political talent to win their races.</a:t>
            </a:r>
            <a:br>
              <a:rPr lang="en-US" dirty="0"/>
            </a:br>
            <a:endParaRPr lang="en-US" dirty="0"/>
          </a:p>
          <a:p>
            <a:pPr marL="742950" lvl="1" indent="-285750">
              <a:buFont typeface="Arial" panose="020B0604020202020204" pitchFamily="34" charset="0"/>
              <a:buChar char="•"/>
            </a:pPr>
            <a:r>
              <a:rPr lang="en-US" dirty="0"/>
              <a:t>Persons with high political talent are more effective as elected representatives, so they are more productive if/when they gain office.</a:t>
            </a:r>
            <a:br>
              <a:rPr lang="en-US" dirty="0"/>
            </a:br>
            <a:endParaRPr lang="en-US"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14086542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3B6AF1-8B9E-06C1-5C5E-2620B19F704F}"/>
              </a:ext>
            </a:extLst>
          </p:cNvPr>
          <p:cNvSpPr txBox="1"/>
          <p:nvPr/>
        </p:nvSpPr>
        <p:spPr>
          <a:xfrm>
            <a:off x="0" y="0"/>
            <a:ext cx="4656841" cy="923330"/>
          </a:xfrm>
          <a:prstGeom prst="rect">
            <a:avLst/>
          </a:prstGeom>
          <a:noFill/>
          <a:ln>
            <a:solidFill>
              <a:schemeClr val="tx1"/>
            </a:solidFill>
          </a:ln>
        </p:spPr>
        <p:txBody>
          <a:bodyPr wrap="square" rtlCol="0">
            <a:spAutoFit/>
          </a:bodyPr>
          <a:lstStyle/>
          <a:p>
            <a:r>
              <a:rPr lang="en-US" dirty="0"/>
              <a:t>Imagine a person choosing whether to run for office who has a gender (man or woman) and a level of political talent (high or low)...</a:t>
            </a:r>
          </a:p>
        </p:txBody>
      </p:sp>
    </p:spTree>
    <p:extLst>
      <p:ext uri="{BB962C8B-B14F-4D97-AF65-F5344CB8AC3E}">
        <p14:creationId xmlns:p14="http://schemas.microsoft.com/office/powerpoint/2010/main" val="40859255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B4A10-0815-D46D-7657-24A0D1F2DAC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3BB395-0E11-416E-BCAA-421432D050DB}"/>
              </a:ext>
            </a:extLst>
          </p:cNvPr>
          <p:cNvSpPr txBox="1"/>
          <p:nvPr/>
        </p:nvSpPr>
        <p:spPr>
          <a:xfrm>
            <a:off x="0" y="0"/>
            <a:ext cx="4656841" cy="923330"/>
          </a:xfrm>
          <a:prstGeom prst="rect">
            <a:avLst/>
          </a:prstGeom>
          <a:noFill/>
          <a:ln>
            <a:solidFill>
              <a:schemeClr val="tx1"/>
            </a:solidFill>
          </a:ln>
        </p:spPr>
        <p:txBody>
          <a:bodyPr wrap="square" rtlCol="0">
            <a:spAutoFit/>
          </a:bodyPr>
          <a:lstStyle/>
          <a:p>
            <a:r>
              <a:rPr lang="en-US" dirty="0"/>
              <a:t>Imagine a person choosing whether to run for office who has a gender (man or woman) and a level of political talent (high or low)...</a:t>
            </a:r>
          </a:p>
        </p:txBody>
      </p:sp>
      <p:graphicFrame>
        <p:nvGraphicFramePr>
          <p:cNvPr id="4" name="Table 3">
            <a:extLst>
              <a:ext uri="{FF2B5EF4-FFF2-40B4-BE49-F238E27FC236}">
                <a16:creationId xmlns:a16="http://schemas.microsoft.com/office/drawing/2014/main" id="{BF9D675F-351A-AC57-5124-CB29EAA75BAB}"/>
              </a:ext>
            </a:extLst>
          </p:cNvPr>
          <p:cNvGraphicFramePr>
            <a:graphicFrameLocks noGrp="1"/>
          </p:cNvGraphicFramePr>
          <p:nvPr>
            <p:extLst>
              <p:ext uri="{D42A27DB-BD31-4B8C-83A1-F6EECF244321}">
                <p14:modId xmlns:p14="http://schemas.microsoft.com/office/powerpoint/2010/main" val="2941296636"/>
              </p:ext>
            </p:extLst>
          </p:nvPr>
        </p:nvGraphicFramePr>
        <p:xfrm>
          <a:off x="269186" y="1256993"/>
          <a:ext cx="5436648"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extLst>
                  <a:ext uri="{0D108BD9-81ED-4DB2-BD59-A6C34878D82A}">
                    <a16:rowId xmlns:a16="http://schemas.microsoft.com/office/drawing/2014/main" val="1960836433"/>
                  </a:ext>
                </a:extLst>
              </a:tr>
              <a:tr h="370840">
                <a:tc rowSpan="2">
                  <a:txBody>
                    <a:bodyPr/>
                    <a:lstStyle/>
                    <a:p>
                      <a:r>
                        <a:rPr lang="en-US" dirty="0"/>
                        <a:t>man</a:t>
                      </a:r>
                    </a:p>
                  </a:txBody>
                  <a:tcPr>
                    <a:solidFill>
                      <a:schemeClr val="accent2">
                        <a:lumMod val="40000"/>
                        <a:lumOff val="60000"/>
                      </a:schemeClr>
                    </a:solidFill>
                  </a:tcPr>
                </a:tc>
                <a:tc rowSpan="2">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extLst>
                  <a:ext uri="{0D108BD9-81ED-4DB2-BD59-A6C34878D82A}">
                    <a16:rowId xmlns:a16="http://schemas.microsoft.com/office/drawing/2014/main" val="3434664292"/>
                  </a:ext>
                </a:extLst>
              </a:tr>
              <a:tr h="741680">
                <a:tc vMerge="1">
                  <a:txBody>
                    <a:bodyPr/>
                    <a:lstStyle/>
                    <a:p>
                      <a:endParaRPr lang="en-US" dirty="0"/>
                    </a:p>
                  </a:txBody>
                  <a:tcPr/>
                </a:tc>
                <a:tc vMerge="1">
                  <a:txBody>
                    <a:bodyPr/>
                    <a:lstStyle/>
                    <a:p>
                      <a:endParaRPr lang="en-US" dirty="0"/>
                    </a:p>
                  </a:txBody>
                  <a:tcPr/>
                </a:tc>
                <a:tc>
                  <a:txBody>
                    <a:bodyPr/>
                    <a:lstStyle/>
                    <a:p>
                      <a:r>
                        <a:rPr lang="en-US" dirty="0"/>
                        <a:t>run</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rowSpan="2">
                  <a:txBody>
                    <a:bodyPr/>
                    <a:lstStyle/>
                    <a:p>
                      <a:r>
                        <a:rPr lang="en-US" dirty="0"/>
                        <a:t>man</a:t>
                      </a:r>
                    </a:p>
                  </a:txBody>
                  <a:tcPr>
                    <a:solidFill>
                      <a:schemeClr val="tx2"/>
                    </a:solidFill>
                  </a:tcPr>
                </a:tc>
                <a:tc rowSpan="2">
                  <a:txBody>
                    <a:bodyPr/>
                    <a:lstStyle/>
                    <a:p>
                      <a:r>
                        <a:rPr lang="en-US" dirty="0"/>
                        <a:t>high</a:t>
                      </a:r>
                    </a:p>
                  </a:txBody>
                  <a:tcPr>
                    <a:solidFill>
                      <a:schemeClr val="tx2"/>
                    </a:solidFill>
                  </a:tcPr>
                </a:tc>
                <a:tc>
                  <a:txBody>
                    <a:bodyPr/>
                    <a:lstStyle/>
                    <a:p>
                      <a:r>
                        <a:rPr lang="en-US" dirty="0"/>
                        <a:t>don’t run</a:t>
                      </a:r>
                    </a:p>
                  </a:txBody>
                  <a:tcPr>
                    <a:solidFill>
                      <a:schemeClr val="tx2"/>
                    </a:solidFill>
                  </a:tcPr>
                </a:tc>
                <a:extLst>
                  <a:ext uri="{0D108BD9-81ED-4DB2-BD59-A6C34878D82A}">
                    <a16:rowId xmlns:a16="http://schemas.microsoft.com/office/drawing/2014/main" val="1375576667"/>
                  </a:ext>
                </a:extLst>
              </a:tr>
              <a:tr h="741680">
                <a:tc vMerge="1">
                  <a:txBody>
                    <a:bodyPr/>
                    <a:lstStyle/>
                    <a:p>
                      <a:endParaRPr lang="en-US" dirty="0"/>
                    </a:p>
                  </a:txBody>
                  <a:tcPr/>
                </a:tc>
                <a:tc vMerge="1">
                  <a:txBody>
                    <a:bodyPr/>
                    <a:lstStyle/>
                    <a:p>
                      <a:endParaRPr lang="en-US" dirty="0"/>
                    </a:p>
                  </a:txBody>
                  <a:tcPr/>
                </a:tc>
                <a:tc>
                  <a:txBody>
                    <a:bodyPr/>
                    <a:lstStyle/>
                    <a:p>
                      <a:r>
                        <a:rPr lang="en-US" dirty="0"/>
                        <a:t>run</a:t>
                      </a:r>
                    </a:p>
                  </a:txBody>
                  <a:tcPr>
                    <a:solidFill>
                      <a:schemeClr val="tx2"/>
                    </a:solidFill>
                  </a:tcPr>
                </a:tc>
                <a:extLst>
                  <a:ext uri="{0D108BD9-81ED-4DB2-BD59-A6C34878D82A}">
                    <a16:rowId xmlns:a16="http://schemas.microsoft.com/office/drawing/2014/main" val="1650652062"/>
                  </a:ext>
                </a:extLst>
              </a:tr>
              <a:tr h="370840">
                <a:tc rowSpan="2">
                  <a:txBody>
                    <a:bodyPr/>
                    <a:lstStyle/>
                    <a:p>
                      <a:r>
                        <a:rPr lang="en-US" dirty="0"/>
                        <a:t>woman</a:t>
                      </a:r>
                    </a:p>
                  </a:txBody>
                  <a:tcPr>
                    <a:solidFill>
                      <a:schemeClr val="accent1">
                        <a:lumMod val="20000"/>
                        <a:lumOff val="80000"/>
                      </a:schemeClr>
                    </a:solidFill>
                  </a:tcPr>
                </a:tc>
                <a:tc rowSpan="2">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extLst>
                  <a:ext uri="{0D108BD9-81ED-4DB2-BD59-A6C34878D82A}">
                    <a16:rowId xmlns:a16="http://schemas.microsoft.com/office/drawing/2014/main" val="1323201191"/>
                  </a:ext>
                </a:extLst>
              </a:tr>
              <a:tr h="741680">
                <a:tc vMerge="1">
                  <a:txBody>
                    <a:bodyPr/>
                    <a:lstStyle/>
                    <a:p>
                      <a:endParaRPr lang="en-US" dirty="0"/>
                    </a:p>
                  </a:txBody>
                  <a:tcPr/>
                </a:tc>
                <a:tc vMerge="1">
                  <a:txBody>
                    <a:bodyPr/>
                    <a:lstStyle/>
                    <a:p>
                      <a:endParaRPr lang="en-US" dirty="0"/>
                    </a:p>
                  </a:txBody>
                  <a:tcPr/>
                </a:tc>
                <a:tc>
                  <a:txBody>
                    <a:bodyPr/>
                    <a:lstStyle/>
                    <a:p>
                      <a:r>
                        <a:rPr lang="en-US" dirty="0"/>
                        <a:t>run</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rowSpan="2">
                  <a:txBody>
                    <a:bodyPr/>
                    <a:lstStyle/>
                    <a:p>
                      <a:r>
                        <a:rPr lang="en-US" dirty="0"/>
                        <a:t>woman</a:t>
                      </a:r>
                    </a:p>
                  </a:txBody>
                  <a:tcPr>
                    <a:solidFill>
                      <a:schemeClr val="tx2"/>
                    </a:solidFill>
                  </a:tcPr>
                </a:tc>
                <a:tc rowSpan="2">
                  <a:txBody>
                    <a:bodyPr/>
                    <a:lstStyle/>
                    <a:p>
                      <a:r>
                        <a:rPr lang="en-US" dirty="0"/>
                        <a:t>high</a:t>
                      </a:r>
                    </a:p>
                  </a:txBody>
                  <a:tcPr>
                    <a:solidFill>
                      <a:schemeClr val="tx2"/>
                    </a:solidFill>
                  </a:tcPr>
                </a:tc>
                <a:tc>
                  <a:txBody>
                    <a:bodyPr/>
                    <a:lstStyle/>
                    <a:p>
                      <a:r>
                        <a:rPr lang="en-US" dirty="0"/>
                        <a:t>don’t run</a:t>
                      </a:r>
                    </a:p>
                  </a:txBody>
                  <a:tcPr>
                    <a:solidFill>
                      <a:schemeClr val="tx2"/>
                    </a:solidFill>
                  </a:tcPr>
                </a:tc>
                <a:extLst>
                  <a:ext uri="{0D108BD9-81ED-4DB2-BD59-A6C34878D82A}">
                    <a16:rowId xmlns:a16="http://schemas.microsoft.com/office/drawing/2014/main" val="2673394150"/>
                  </a:ext>
                </a:extLst>
              </a:tr>
              <a:tr h="741680">
                <a:tc vMerge="1">
                  <a:txBody>
                    <a:bodyPr/>
                    <a:lstStyle/>
                    <a:p>
                      <a:endParaRPr lang="en-US" dirty="0"/>
                    </a:p>
                  </a:txBody>
                  <a:tcPr/>
                </a:tc>
                <a:tc vMerge="1">
                  <a:txBody>
                    <a:bodyPr/>
                    <a:lstStyle/>
                    <a:p>
                      <a:endParaRPr lang="en-US" dirty="0"/>
                    </a:p>
                  </a:txBody>
                  <a:tcPr/>
                </a:tc>
                <a:tc>
                  <a:txBody>
                    <a:bodyPr/>
                    <a:lstStyle/>
                    <a:p>
                      <a:r>
                        <a:rPr lang="en-US" dirty="0"/>
                        <a:t>run</a:t>
                      </a:r>
                    </a:p>
                  </a:txBody>
                  <a:tcPr>
                    <a:solidFill>
                      <a:schemeClr val="tx2"/>
                    </a:solidFill>
                  </a:tcPr>
                </a:tc>
                <a:extLst>
                  <a:ext uri="{0D108BD9-81ED-4DB2-BD59-A6C34878D82A}">
                    <a16:rowId xmlns:a16="http://schemas.microsoft.com/office/drawing/2014/main" val="2457072740"/>
                  </a:ext>
                </a:extLst>
              </a:tr>
            </a:tbl>
          </a:graphicData>
        </a:graphic>
      </p:graphicFrame>
    </p:spTree>
    <p:extLst>
      <p:ext uri="{BB962C8B-B14F-4D97-AF65-F5344CB8AC3E}">
        <p14:creationId xmlns:p14="http://schemas.microsoft.com/office/powerpoint/2010/main" val="16938508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EF4E2-659E-5612-32B7-AE2D460CBD8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EC4F41-98C3-0B7A-D205-5A995BD30310}"/>
              </a:ext>
            </a:extLst>
          </p:cNvPr>
          <p:cNvSpPr txBox="1"/>
          <p:nvPr/>
        </p:nvSpPr>
        <p:spPr>
          <a:xfrm>
            <a:off x="0" y="0"/>
            <a:ext cx="4656841" cy="923330"/>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If the person doesn’t run, they don’t win office for sure.  But if they run, they an either win or lose office.</a:t>
            </a:r>
          </a:p>
        </p:txBody>
      </p:sp>
      <p:graphicFrame>
        <p:nvGraphicFramePr>
          <p:cNvPr id="4" name="Table 3">
            <a:extLst>
              <a:ext uri="{FF2B5EF4-FFF2-40B4-BE49-F238E27FC236}">
                <a16:creationId xmlns:a16="http://schemas.microsoft.com/office/drawing/2014/main" id="{8B37D0D3-227E-94B4-B10F-DFB7C302C77D}"/>
              </a:ext>
            </a:extLst>
          </p:cNvPr>
          <p:cNvGraphicFramePr>
            <a:graphicFrameLocks noGrp="1"/>
          </p:cNvGraphicFramePr>
          <p:nvPr>
            <p:extLst>
              <p:ext uri="{D42A27DB-BD31-4B8C-83A1-F6EECF244321}">
                <p14:modId xmlns:p14="http://schemas.microsoft.com/office/powerpoint/2010/main" val="1045099316"/>
              </p:ext>
            </p:extLst>
          </p:nvPr>
        </p:nvGraphicFramePr>
        <p:xfrm>
          <a:off x="269186" y="1256993"/>
          <a:ext cx="9061080"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r>
                        <a:rPr lang="en-US" dirty="0"/>
                        <a:t>1</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endParaRPr lang="en-US" dirty="0"/>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r>
                        <a:rPr lang="en-US" dirty="0"/>
                        <a:t>1</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dirty="0"/>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r>
                        <a:rPr lang="en-US" dirty="0"/>
                        <a:t>1</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endParaRPr lang="en-US" dirty="0"/>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r>
                        <a:rPr lang="en-US" dirty="0"/>
                        <a:t>1</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dirty="0"/>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dirty="0"/>
                    </a:p>
                  </a:txBody>
                  <a:tcPr>
                    <a:solidFill>
                      <a:schemeClr val="tx2"/>
                    </a:solidFill>
                  </a:tcPr>
                </a:tc>
                <a:extLst>
                  <a:ext uri="{0D108BD9-81ED-4DB2-BD59-A6C34878D82A}">
                    <a16:rowId xmlns:a16="http://schemas.microsoft.com/office/drawing/2014/main" val="1247838998"/>
                  </a:ext>
                </a:extLst>
              </a:tr>
            </a:tbl>
          </a:graphicData>
        </a:graphic>
      </p:graphicFrame>
    </p:spTree>
    <p:extLst>
      <p:ext uri="{BB962C8B-B14F-4D97-AF65-F5344CB8AC3E}">
        <p14:creationId xmlns:p14="http://schemas.microsoft.com/office/powerpoint/2010/main" val="18921019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01742-4479-711E-B79B-55EEFD70FF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DF3BA0-37DD-7F93-4A28-6480D00D8519}"/>
              </a:ext>
            </a:extLst>
          </p:cNvPr>
          <p:cNvSpPr txBox="1"/>
          <p:nvPr/>
        </p:nvSpPr>
        <p:spPr>
          <a:xfrm>
            <a:off x="0" y="0"/>
            <a:ext cx="4656841" cy="923330"/>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If they don’t run, they get utility 0.  If they run and win they get utility B-C.  If they run and lose they get utility –C.</a:t>
            </a:r>
          </a:p>
        </p:txBody>
      </p:sp>
      <p:graphicFrame>
        <p:nvGraphicFramePr>
          <p:cNvPr id="4" name="Table 3">
            <a:extLst>
              <a:ext uri="{FF2B5EF4-FFF2-40B4-BE49-F238E27FC236}">
                <a16:creationId xmlns:a16="http://schemas.microsoft.com/office/drawing/2014/main" id="{69035A4C-3571-BADA-E01D-83C5176E732E}"/>
              </a:ext>
            </a:extLst>
          </p:cNvPr>
          <p:cNvGraphicFramePr>
            <a:graphicFrameLocks noGrp="1"/>
          </p:cNvGraphicFramePr>
          <p:nvPr>
            <p:extLst>
              <p:ext uri="{D42A27DB-BD31-4B8C-83A1-F6EECF244321}">
                <p14:modId xmlns:p14="http://schemas.microsoft.com/office/powerpoint/2010/main" val="1281687444"/>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r>
                        <a:rPr lang="en-US" dirty="0"/>
                        <a:t>1</a:t>
                      </a:r>
                    </a:p>
                  </a:txBody>
                  <a:tcPr>
                    <a:solidFill>
                      <a:schemeClr val="accent2">
                        <a:lumMod val="40000"/>
                        <a:lumOff val="60000"/>
                      </a:schemeClr>
                    </a:solidFill>
                  </a:tcPr>
                </a:tc>
                <a:tc>
                  <a:txBody>
                    <a:bodyPr/>
                    <a:lstStyle/>
                    <a:p>
                      <a:r>
                        <a:rPr lang="en-US"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endParaRPr lang="en-US" dirty="0"/>
                    </a:p>
                  </a:txBody>
                  <a:tcPr>
                    <a:solidFill>
                      <a:schemeClr val="accent2">
                        <a:lumMod val="40000"/>
                        <a:lumOff val="60000"/>
                      </a:schemeClr>
                    </a:solidFill>
                  </a:tcPr>
                </a:tc>
                <a:tc>
                  <a:txBody>
                    <a:bodyPr/>
                    <a:lstStyle/>
                    <a:p>
                      <a:r>
                        <a:rPr lang="en-US"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dirty="0"/>
                    </a:p>
                  </a:txBody>
                  <a:tcPr>
                    <a:solidFill>
                      <a:schemeClr val="accent2">
                        <a:lumMod val="40000"/>
                        <a:lumOff val="60000"/>
                      </a:schemeClr>
                    </a:solidFill>
                  </a:tcPr>
                </a:tc>
                <a:tc>
                  <a:txBody>
                    <a:bodyPr/>
                    <a:lstStyle/>
                    <a:p>
                      <a:r>
                        <a:rPr lang="en-US"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r>
                        <a:rPr lang="en-US" dirty="0"/>
                        <a:t>1</a:t>
                      </a:r>
                    </a:p>
                  </a:txBody>
                  <a:tcPr>
                    <a:solidFill>
                      <a:schemeClr val="tx2"/>
                    </a:solidFill>
                  </a:tcPr>
                </a:tc>
                <a:tc>
                  <a:txBody>
                    <a:bodyPr/>
                    <a:lstStyle/>
                    <a:p>
                      <a:r>
                        <a:rPr lang="en-US"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dirty="0"/>
                    </a:p>
                  </a:txBody>
                  <a:tcPr>
                    <a:solidFill>
                      <a:schemeClr val="tx2"/>
                    </a:solidFill>
                  </a:tcPr>
                </a:tc>
                <a:tc>
                  <a:txBody>
                    <a:bodyPr/>
                    <a:lstStyle/>
                    <a:p>
                      <a:r>
                        <a:rPr lang="en-US"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dirty="0"/>
                    </a:p>
                  </a:txBody>
                  <a:tcPr>
                    <a:solidFill>
                      <a:schemeClr val="tx2"/>
                    </a:solidFill>
                  </a:tcPr>
                </a:tc>
                <a:tc>
                  <a:txBody>
                    <a:bodyPr/>
                    <a:lstStyle/>
                    <a:p>
                      <a:r>
                        <a:rPr lang="en-US"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r>
                        <a:rPr lang="en-US" dirty="0"/>
                        <a:t>1</a:t>
                      </a:r>
                    </a:p>
                  </a:txBody>
                  <a:tcPr>
                    <a:solidFill>
                      <a:schemeClr val="accent1">
                        <a:lumMod val="20000"/>
                        <a:lumOff val="80000"/>
                      </a:schemeClr>
                    </a:solidFill>
                  </a:tcPr>
                </a:tc>
                <a:tc>
                  <a:txBody>
                    <a:bodyPr/>
                    <a:lstStyle/>
                    <a:p>
                      <a:r>
                        <a:rPr lang="en-US"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endParaRPr lang="en-US" dirty="0"/>
                    </a:p>
                  </a:txBody>
                  <a:tcPr>
                    <a:solidFill>
                      <a:schemeClr val="accent1">
                        <a:lumMod val="20000"/>
                        <a:lumOff val="80000"/>
                      </a:schemeClr>
                    </a:solidFill>
                  </a:tcPr>
                </a:tc>
                <a:tc>
                  <a:txBody>
                    <a:bodyPr/>
                    <a:lstStyle/>
                    <a:p>
                      <a:r>
                        <a:rPr lang="en-US"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dirty="0"/>
                    </a:p>
                  </a:txBody>
                  <a:tcPr>
                    <a:solidFill>
                      <a:schemeClr val="accent1">
                        <a:lumMod val="20000"/>
                        <a:lumOff val="80000"/>
                      </a:schemeClr>
                    </a:solidFill>
                  </a:tcPr>
                </a:tc>
                <a:tc>
                  <a:txBody>
                    <a:bodyPr/>
                    <a:lstStyle/>
                    <a:p>
                      <a:r>
                        <a:rPr lang="en-US"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r>
                        <a:rPr lang="en-US" dirty="0"/>
                        <a:t>1</a:t>
                      </a:r>
                    </a:p>
                  </a:txBody>
                  <a:tcPr>
                    <a:solidFill>
                      <a:schemeClr val="tx2"/>
                    </a:solidFill>
                  </a:tcPr>
                </a:tc>
                <a:tc>
                  <a:txBody>
                    <a:bodyPr/>
                    <a:lstStyle/>
                    <a:p>
                      <a:r>
                        <a:rPr lang="en-US"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dirty="0"/>
                    </a:p>
                  </a:txBody>
                  <a:tcPr>
                    <a:solidFill>
                      <a:schemeClr val="tx2"/>
                    </a:solidFill>
                  </a:tcPr>
                </a:tc>
                <a:tc>
                  <a:txBody>
                    <a:bodyPr/>
                    <a:lstStyle/>
                    <a:p>
                      <a:r>
                        <a:rPr lang="en-US"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dirty="0"/>
                    </a:p>
                  </a:txBody>
                  <a:tcPr>
                    <a:solidFill>
                      <a:schemeClr val="tx2"/>
                    </a:solidFill>
                  </a:tcPr>
                </a:tc>
                <a:tc>
                  <a:txBody>
                    <a:bodyPr/>
                    <a:lstStyle/>
                    <a:p>
                      <a:r>
                        <a:rPr lang="en-US" dirty="0"/>
                        <a:t>-C</a:t>
                      </a:r>
                    </a:p>
                  </a:txBody>
                  <a:tcPr>
                    <a:solidFill>
                      <a:schemeClr val="tx2"/>
                    </a:solidFill>
                  </a:tcPr>
                </a:tc>
                <a:extLst>
                  <a:ext uri="{0D108BD9-81ED-4DB2-BD59-A6C34878D82A}">
                    <a16:rowId xmlns:a16="http://schemas.microsoft.com/office/drawing/2014/main" val="1247838998"/>
                  </a:ext>
                </a:extLst>
              </a:tr>
            </a:tbl>
          </a:graphicData>
        </a:graphic>
      </p:graphicFrame>
    </p:spTree>
    <p:extLst>
      <p:ext uri="{BB962C8B-B14F-4D97-AF65-F5344CB8AC3E}">
        <p14:creationId xmlns:p14="http://schemas.microsoft.com/office/powerpoint/2010/main" val="23141185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37491-CE07-E354-2D0D-87F4F1834B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A82BA61-0891-8681-B2B3-88DEC014C801}"/>
              </a:ext>
            </a:extLst>
          </p:cNvPr>
          <p:cNvSpPr txBox="1"/>
          <p:nvPr/>
        </p:nvSpPr>
        <p:spPr>
          <a:xfrm>
            <a:off x="0" y="0"/>
            <a:ext cx="4656841" cy="923330"/>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If they don’t run, they get utility 0.  If they run and win they get utility B-C.  If they run and lose they get utility –C.</a:t>
            </a:r>
          </a:p>
        </p:txBody>
      </p:sp>
      <p:graphicFrame>
        <p:nvGraphicFramePr>
          <p:cNvPr id="4" name="Table 3">
            <a:extLst>
              <a:ext uri="{FF2B5EF4-FFF2-40B4-BE49-F238E27FC236}">
                <a16:creationId xmlns:a16="http://schemas.microsoft.com/office/drawing/2014/main" id="{447C6B2A-EE8E-3594-C0A2-6C35CF973ECB}"/>
              </a:ext>
            </a:extLst>
          </p:cNvPr>
          <p:cNvGraphicFramePr>
            <a:graphicFrameLocks noGrp="1"/>
          </p:cNvGraphicFramePr>
          <p:nvPr>
            <p:extLst>
              <p:ext uri="{D42A27DB-BD31-4B8C-83A1-F6EECF244321}">
                <p14:modId xmlns:p14="http://schemas.microsoft.com/office/powerpoint/2010/main" val="3515418789"/>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r>
                        <a:rPr lang="en-US" dirty="0"/>
                        <a:t>1</a:t>
                      </a:r>
                    </a:p>
                  </a:txBody>
                  <a:tcPr>
                    <a:solidFill>
                      <a:schemeClr val="accent2">
                        <a:lumMod val="40000"/>
                        <a:lumOff val="60000"/>
                      </a:schemeClr>
                    </a:solidFill>
                  </a:tcPr>
                </a:tc>
                <a:tc>
                  <a:txBody>
                    <a:bodyPr/>
                    <a:lstStyle/>
                    <a:p>
                      <a:r>
                        <a:rPr lang="en-US"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endParaRPr lang="en-US" dirty="0"/>
                    </a:p>
                  </a:txBody>
                  <a:tcPr>
                    <a:solidFill>
                      <a:schemeClr val="accent2">
                        <a:lumMod val="40000"/>
                        <a:lumOff val="60000"/>
                      </a:schemeClr>
                    </a:solidFill>
                  </a:tcPr>
                </a:tc>
                <a:tc>
                  <a:txBody>
                    <a:bodyPr/>
                    <a:lstStyle/>
                    <a:p>
                      <a:r>
                        <a:rPr lang="en-US"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dirty="0"/>
                    </a:p>
                  </a:txBody>
                  <a:tcPr>
                    <a:solidFill>
                      <a:schemeClr val="accent2">
                        <a:lumMod val="40000"/>
                        <a:lumOff val="60000"/>
                      </a:schemeClr>
                    </a:solidFill>
                  </a:tcPr>
                </a:tc>
                <a:tc>
                  <a:txBody>
                    <a:bodyPr/>
                    <a:lstStyle/>
                    <a:p>
                      <a:r>
                        <a:rPr lang="en-US"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r>
                        <a:rPr lang="en-US" dirty="0"/>
                        <a:t>1</a:t>
                      </a:r>
                    </a:p>
                  </a:txBody>
                  <a:tcPr>
                    <a:solidFill>
                      <a:schemeClr val="tx2"/>
                    </a:solidFill>
                  </a:tcPr>
                </a:tc>
                <a:tc>
                  <a:txBody>
                    <a:bodyPr/>
                    <a:lstStyle/>
                    <a:p>
                      <a:r>
                        <a:rPr lang="en-US"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dirty="0"/>
                    </a:p>
                  </a:txBody>
                  <a:tcPr>
                    <a:solidFill>
                      <a:schemeClr val="tx2"/>
                    </a:solidFill>
                  </a:tcPr>
                </a:tc>
                <a:tc>
                  <a:txBody>
                    <a:bodyPr/>
                    <a:lstStyle/>
                    <a:p>
                      <a:r>
                        <a:rPr lang="en-US"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dirty="0"/>
                    </a:p>
                  </a:txBody>
                  <a:tcPr>
                    <a:solidFill>
                      <a:schemeClr val="tx2"/>
                    </a:solidFill>
                  </a:tcPr>
                </a:tc>
                <a:tc>
                  <a:txBody>
                    <a:bodyPr/>
                    <a:lstStyle/>
                    <a:p>
                      <a:r>
                        <a:rPr lang="en-US"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r>
                        <a:rPr lang="en-US" dirty="0"/>
                        <a:t>1</a:t>
                      </a:r>
                    </a:p>
                  </a:txBody>
                  <a:tcPr>
                    <a:solidFill>
                      <a:schemeClr val="accent1">
                        <a:lumMod val="20000"/>
                        <a:lumOff val="80000"/>
                      </a:schemeClr>
                    </a:solidFill>
                  </a:tcPr>
                </a:tc>
                <a:tc>
                  <a:txBody>
                    <a:bodyPr/>
                    <a:lstStyle/>
                    <a:p>
                      <a:r>
                        <a:rPr lang="en-US"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endParaRPr lang="en-US" dirty="0"/>
                    </a:p>
                  </a:txBody>
                  <a:tcPr>
                    <a:solidFill>
                      <a:schemeClr val="accent1">
                        <a:lumMod val="20000"/>
                        <a:lumOff val="80000"/>
                      </a:schemeClr>
                    </a:solidFill>
                  </a:tcPr>
                </a:tc>
                <a:tc>
                  <a:txBody>
                    <a:bodyPr/>
                    <a:lstStyle/>
                    <a:p>
                      <a:r>
                        <a:rPr lang="en-US"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dirty="0"/>
                    </a:p>
                  </a:txBody>
                  <a:tcPr>
                    <a:solidFill>
                      <a:schemeClr val="accent1">
                        <a:lumMod val="20000"/>
                        <a:lumOff val="80000"/>
                      </a:schemeClr>
                    </a:solidFill>
                  </a:tcPr>
                </a:tc>
                <a:tc>
                  <a:txBody>
                    <a:bodyPr/>
                    <a:lstStyle/>
                    <a:p>
                      <a:r>
                        <a:rPr lang="en-US"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r>
                        <a:rPr lang="en-US" dirty="0"/>
                        <a:t>1</a:t>
                      </a:r>
                    </a:p>
                  </a:txBody>
                  <a:tcPr>
                    <a:solidFill>
                      <a:schemeClr val="tx2"/>
                    </a:solidFill>
                  </a:tcPr>
                </a:tc>
                <a:tc>
                  <a:txBody>
                    <a:bodyPr/>
                    <a:lstStyle/>
                    <a:p>
                      <a:r>
                        <a:rPr lang="en-US"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dirty="0"/>
                    </a:p>
                  </a:txBody>
                  <a:tcPr>
                    <a:solidFill>
                      <a:schemeClr val="tx2"/>
                    </a:solidFill>
                  </a:tcPr>
                </a:tc>
                <a:tc>
                  <a:txBody>
                    <a:bodyPr/>
                    <a:lstStyle/>
                    <a:p>
                      <a:r>
                        <a:rPr lang="en-US"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dirty="0"/>
                    </a:p>
                  </a:txBody>
                  <a:tcPr>
                    <a:solidFill>
                      <a:schemeClr val="tx2"/>
                    </a:solidFill>
                  </a:tcPr>
                </a:tc>
                <a:tc>
                  <a:txBody>
                    <a:bodyPr/>
                    <a:lstStyle/>
                    <a:p>
                      <a:r>
                        <a:rPr lang="en-US" dirty="0"/>
                        <a:t>-C</a:t>
                      </a:r>
                    </a:p>
                  </a:txBody>
                  <a:tcPr>
                    <a:solidFill>
                      <a:schemeClr val="tx2"/>
                    </a:solidFill>
                  </a:tcPr>
                </a:tc>
                <a:extLst>
                  <a:ext uri="{0D108BD9-81ED-4DB2-BD59-A6C34878D82A}">
                    <a16:rowId xmlns:a16="http://schemas.microsoft.com/office/drawing/2014/main" val="1247838998"/>
                  </a:ext>
                </a:extLst>
              </a:tr>
            </a:tbl>
          </a:graphicData>
        </a:graphic>
      </p:graphicFrame>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9FBBC97-7CC8-6DED-028B-A436E2EAB9B1}"/>
                  </a:ext>
                </a:extLst>
              </p:cNvPr>
              <p:cNvSpPr txBox="1"/>
              <p:nvPr/>
            </p:nvSpPr>
            <p:spPr>
              <a:xfrm>
                <a:off x="0" y="923330"/>
                <a:ext cx="4656840" cy="296087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lnSpc>
                    <a:spcPct val="150000"/>
                  </a:lnSpc>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𝐵</m:t>
                    </m:r>
                  </m:oMath>
                </a14:m>
                <a:r>
                  <a:rPr lang="en-US" dirty="0"/>
                  <a:t> is a number greater than 0 depicting the benefit of winning office.</a:t>
                </a:r>
              </a:p>
              <a:p>
                <a:pPr marL="285750" indent="-285750">
                  <a:lnSpc>
                    <a:spcPct val="150000"/>
                  </a:lnSpc>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𝐶</m:t>
                    </m:r>
                  </m:oMath>
                </a14:m>
                <a:r>
                  <a:rPr lang="en-US" dirty="0"/>
                  <a:t> is a number greater than 0 depicting the personal costs of running for office.</a:t>
                </a:r>
              </a:p>
              <a:p>
                <a:pPr marL="285750" indent="-285750">
                  <a:lnSpc>
                    <a:spcPct val="150000"/>
                  </a:lnSpc>
                  <a:buFont typeface="Arial" panose="020B0604020202020204" pitchFamily="34" charset="0"/>
                  <a:buChar char="•"/>
                </a:pPr>
                <a:r>
                  <a:rPr lang="en-US" dirty="0"/>
                  <a:t>Assume </a:t>
                </a:r>
                <a14:m>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&gt;</m:t>
                    </m:r>
                    <m:r>
                      <a:rPr lang="en-US" b="0" i="1" smtClean="0">
                        <a:latin typeface="Cambria Math" panose="02040503050406030204" pitchFamily="18" charset="0"/>
                      </a:rPr>
                      <m:t>𝐶</m:t>
                    </m:r>
                  </m:oMath>
                </a14:m>
                <a:r>
                  <a:rPr lang="en-US" dirty="0"/>
                  <a:t>, so that a person would always prefer to run if they were guaranteed to win.</a:t>
                </a:r>
              </a:p>
            </p:txBody>
          </p:sp>
        </mc:Choice>
        <mc:Fallback xmlns="">
          <p:sp>
            <p:nvSpPr>
              <p:cNvPr id="3" name="TextBox 2">
                <a:extLst>
                  <a:ext uri="{FF2B5EF4-FFF2-40B4-BE49-F238E27FC236}">
                    <a16:creationId xmlns:a16="http://schemas.microsoft.com/office/drawing/2014/main" id="{09FBBC97-7CC8-6DED-028B-A436E2EAB9B1}"/>
                  </a:ext>
                </a:extLst>
              </p:cNvPr>
              <p:cNvSpPr txBox="1">
                <a:spLocks noRot="1" noChangeAspect="1" noMove="1" noResize="1" noEditPoints="1" noAdjustHandles="1" noChangeArrowheads="1" noChangeShapeType="1" noTextEdit="1"/>
              </p:cNvSpPr>
              <p:nvPr/>
            </p:nvSpPr>
            <p:spPr>
              <a:xfrm>
                <a:off x="0" y="923330"/>
                <a:ext cx="4656840" cy="2960875"/>
              </a:xfrm>
              <a:prstGeom prst="rect">
                <a:avLst/>
              </a:prstGeom>
              <a:blipFill>
                <a:blip r:embed="rId2"/>
                <a:stretch>
                  <a:fillRect l="-652" b="-2045"/>
                </a:stretch>
              </a:blipFill>
            </p:spPr>
            <p:txBody>
              <a:bodyPr/>
              <a:lstStyle/>
              <a:p>
                <a:r>
                  <a:rPr lang="en-US">
                    <a:noFill/>
                  </a:rPr>
                  <a:t> </a:t>
                </a:r>
              </a:p>
            </p:txBody>
          </p:sp>
        </mc:Fallback>
      </mc:AlternateContent>
    </p:spTree>
    <p:extLst>
      <p:ext uri="{BB962C8B-B14F-4D97-AF65-F5344CB8AC3E}">
        <p14:creationId xmlns:p14="http://schemas.microsoft.com/office/powerpoint/2010/main" val="42036585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E8609-CA8C-7E2C-2872-D0FEF5EB00BD}"/>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C781639-A362-7B44-6250-4EC2983F2F20}"/>
              </a:ext>
            </a:extLst>
          </p:cNvPr>
          <p:cNvGraphicFramePr>
            <a:graphicFrameLocks noGrp="1"/>
          </p:cNvGraphicFramePr>
          <p:nvPr>
            <p:extLst>
              <p:ext uri="{D42A27DB-BD31-4B8C-83A1-F6EECF244321}">
                <p14:modId xmlns:p14="http://schemas.microsoft.com/office/powerpoint/2010/main" val="1361790183"/>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p:sp>
        <p:nvSpPr>
          <p:cNvPr id="6" name="TextBox 5">
            <a:extLst>
              <a:ext uri="{FF2B5EF4-FFF2-40B4-BE49-F238E27FC236}">
                <a16:creationId xmlns:a16="http://schemas.microsoft.com/office/drawing/2014/main" id="{BE0C2AE4-1153-314A-C152-9863741208C4}"/>
              </a:ext>
            </a:extLst>
          </p:cNvPr>
          <p:cNvSpPr txBox="1"/>
          <p:nvPr/>
        </p:nvSpPr>
        <p:spPr>
          <a:xfrm rot="20863544">
            <a:off x="-71292" y="356251"/>
            <a:ext cx="5099480" cy="923330"/>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dirty="0"/>
              <a:t>Note...Each of these is ONE expected utility model, depicting the choice to run or not run by a person with different gender and level of talent.</a:t>
            </a:r>
          </a:p>
        </p:txBody>
      </p:sp>
      <p:cxnSp>
        <p:nvCxnSpPr>
          <p:cNvPr id="8" name="Straight Arrow Connector 7">
            <a:extLst>
              <a:ext uri="{FF2B5EF4-FFF2-40B4-BE49-F238E27FC236}">
                <a16:creationId xmlns:a16="http://schemas.microsoft.com/office/drawing/2014/main" id="{E7C5FDC6-7C6C-8A10-591E-C417EB4F13DA}"/>
              </a:ext>
            </a:extLst>
          </p:cNvPr>
          <p:cNvCxnSpPr/>
          <p:nvPr/>
        </p:nvCxnSpPr>
        <p:spPr>
          <a:xfrm>
            <a:off x="1550894" y="1470212"/>
            <a:ext cx="2196353" cy="51995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FDA71254-F972-BAC9-3D90-D5B47995C809}"/>
              </a:ext>
            </a:extLst>
          </p:cNvPr>
          <p:cNvCxnSpPr>
            <a:cxnSpLocks/>
          </p:cNvCxnSpPr>
          <p:nvPr/>
        </p:nvCxnSpPr>
        <p:spPr>
          <a:xfrm>
            <a:off x="1550894" y="1470212"/>
            <a:ext cx="2196353" cy="16764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AD4DFE6F-3A83-2CA3-B2E8-E3420FC70E5D}"/>
              </a:ext>
            </a:extLst>
          </p:cNvPr>
          <p:cNvCxnSpPr>
            <a:cxnSpLocks/>
          </p:cNvCxnSpPr>
          <p:nvPr/>
        </p:nvCxnSpPr>
        <p:spPr>
          <a:xfrm>
            <a:off x="1550894" y="1470212"/>
            <a:ext cx="2196353" cy="290456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DD58E58D-EC47-7E08-2CB4-703247294B8B}"/>
              </a:ext>
            </a:extLst>
          </p:cNvPr>
          <p:cNvCxnSpPr>
            <a:cxnSpLocks/>
          </p:cNvCxnSpPr>
          <p:nvPr/>
        </p:nvCxnSpPr>
        <p:spPr>
          <a:xfrm>
            <a:off x="1550894" y="1470212"/>
            <a:ext cx="2321859" cy="391757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1192865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C3236-B45F-3F03-3AC1-42265EE690F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A3DCC9F-A70F-2487-12B0-8E3FCC94BFBF}"/>
                  </a:ext>
                </a:extLst>
              </p:cNvPr>
              <p:cNvSpPr txBox="1"/>
              <p:nvPr/>
            </p:nvSpPr>
            <p:spPr>
              <a:xfrm>
                <a:off x="0" y="0"/>
                <a:ext cx="4276165" cy="923330"/>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𝑤</m:t>
                    </m:r>
                  </m:oMath>
                </a14:m>
                <a:r>
                  <a:rPr lang="en-US" dirty="0"/>
                  <a:t> be the probability (a number between 0 and 1!) that a candidate wins if he runs and he is a high-talent man.</a:t>
                </a:r>
              </a:p>
            </p:txBody>
          </p:sp>
        </mc:Choice>
        <mc:Fallback xmlns="">
          <p:sp>
            <p:nvSpPr>
              <p:cNvPr id="2" name="TextBox 1">
                <a:extLst>
                  <a:ext uri="{FF2B5EF4-FFF2-40B4-BE49-F238E27FC236}">
                    <a16:creationId xmlns:a16="http://schemas.microsoft.com/office/drawing/2014/main" id="{FA3DCC9F-A70F-2487-12B0-8E3FCC94BFBF}"/>
                  </a:ext>
                </a:extLst>
              </p:cNvPr>
              <p:cNvSpPr txBox="1">
                <a:spLocks noRot="1" noChangeAspect="1" noMove="1" noResize="1" noEditPoints="1" noAdjustHandles="1" noChangeArrowheads="1" noChangeShapeType="1" noTextEdit="1"/>
              </p:cNvSpPr>
              <p:nvPr/>
            </p:nvSpPr>
            <p:spPr>
              <a:xfrm>
                <a:off x="0" y="0"/>
                <a:ext cx="4276165" cy="923330"/>
              </a:xfrm>
              <a:prstGeom prst="rect">
                <a:avLst/>
              </a:prstGeom>
              <a:blipFill>
                <a:blip r:embed="rId2"/>
                <a:stretch>
                  <a:fillRect l="-994" t="-1948" r="-1278" b="-9091"/>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745F197D-CD4F-E39D-0953-7E65BB838303}"/>
                  </a:ext>
                </a:extLst>
              </p:cNvPr>
              <p:cNvGraphicFramePr>
                <a:graphicFrameLocks noGrp="1"/>
              </p:cNvGraphicFramePr>
              <p:nvPr>
                <p:extLst>
                  <p:ext uri="{D42A27DB-BD31-4B8C-83A1-F6EECF244321}">
                    <p14:modId xmlns:p14="http://schemas.microsoft.com/office/powerpoint/2010/main" val="2610888475"/>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745F197D-CD4F-E39D-0953-7E65BB838303}"/>
                  </a:ext>
                </a:extLst>
              </p:cNvPr>
              <p:cNvGraphicFramePr>
                <a:graphicFrameLocks noGrp="1"/>
              </p:cNvGraphicFramePr>
              <p:nvPr>
                <p:extLst>
                  <p:ext uri="{D42A27DB-BD31-4B8C-83A1-F6EECF244321}">
                    <p14:modId xmlns:p14="http://schemas.microsoft.com/office/powerpoint/2010/main" val="2610888475"/>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3"/>
                          <a:stretch>
                            <a:fillRect l="-399329" t="-506557" r="-101342" b="-722951"/>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3"/>
                          <a:stretch>
                            <a:fillRect l="-399329" t="-616667" r="-101342" b="-63500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5" name="Rectangle 4">
            <a:extLst>
              <a:ext uri="{FF2B5EF4-FFF2-40B4-BE49-F238E27FC236}">
                <a16:creationId xmlns:a16="http://schemas.microsoft.com/office/drawing/2014/main" id="{3F0931BF-A507-5E5A-D692-5D82BC84C77C}"/>
              </a:ext>
            </a:extLst>
          </p:cNvPr>
          <p:cNvSpPr/>
          <p:nvPr/>
        </p:nvSpPr>
        <p:spPr>
          <a:xfrm>
            <a:off x="269186" y="2725271"/>
            <a:ext cx="10873296" cy="1111623"/>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5116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CA174-92CB-FE78-98C5-B758C2F27EE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ACB9578-A05C-6FC5-DA72-5474815C4D5F}"/>
                  </a:ext>
                </a:extLst>
              </p:cNvPr>
              <p:cNvSpPr txBox="1"/>
              <p:nvPr/>
            </p:nvSpPr>
            <p:spPr>
              <a:xfrm>
                <a:off x="0" y="0"/>
                <a:ext cx="4276165" cy="923330"/>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𝑤</m:t>
                    </m:r>
                  </m:oMath>
                </a14:m>
                <a:r>
                  <a:rPr lang="en-US" dirty="0"/>
                  <a:t> be the probability (a number between 0 and 1!) that a candidate wins if he runs and he is a high-talent man.</a:t>
                </a:r>
              </a:p>
            </p:txBody>
          </p:sp>
        </mc:Choice>
        <mc:Fallback xmlns="">
          <p:sp>
            <p:nvSpPr>
              <p:cNvPr id="2" name="TextBox 1">
                <a:extLst>
                  <a:ext uri="{FF2B5EF4-FFF2-40B4-BE49-F238E27FC236}">
                    <a16:creationId xmlns:a16="http://schemas.microsoft.com/office/drawing/2014/main" id="{2ACB9578-A05C-6FC5-DA72-5474815C4D5F}"/>
                  </a:ext>
                </a:extLst>
              </p:cNvPr>
              <p:cNvSpPr txBox="1">
                <a:spLocks noRot="1" noChangeAspect="1" noMove="1" noResize="1" noEditPoints="1" noAdjustHandles="1" noChangeArrowheads="1" noChangeShapeType="1" noTextEdit="1"/>
              </p:cNvSpPr>
              <p:nvPr/>
            </p:nvSpPr>
            <p:spPr>
              <a:xfrm>
                <a:off x="0" y="0"/>
                <a:ext cx="4276165" cy="923330"/>
              </a:xfrm>
              <a:prstGeom prst="rect">
                <a:avLst/>
              </a:prstGeom>
              <a:blipFill>
                <a:blip r:embed="rId2"/>
                <a:stretch>
                  <a:fillRect l="-994" t="-1948" r="-1278" b="-9091"/>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EEB6C98-30E2-62FF-4DF4-E3521B616CC5}"/>
                  </a:ext>
                </a:extLst>
              </p:cNvPr>
              <p:cNvGraphicFramePr>
                <a:graphicFrameLocks noGrp="1"/>
              </p:cNvGraphicFramePr>
              <p:nvPr>
                <p:extLst>
                  <p:ext uri="{D42A27DB-BD31-4B8C-83A1-F6EECF244321}">
                    <p14:modId xmlns:p14="http://schemas.microsoft.com/office/powerpoint/2010/main" val="240016327"/>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AEEB6C98-30E2-62FF-4DF4-E3521B616CC5}"/>
                  </a:ext>
                </a:extLst>
              </p:cNvPr>
              <p:cNvGraphicFramePr>
                <a:graphicFrameLocks noGrp="1"/>
              </p:cNvGraphicFramePr>
              <p:nvPr>
                <p:extLst>
                  <p:ext uri="{D42A27DB-BD31-4B8C-83A1-F6EECF244321}">
                    <p14:modId xmlns:p14="http://schemas.microsoft.com/office/powerpoint/2010/main" val="240016327"/>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3"/>
                          <a:stretch>
                            <a:fillRect l="-399329" t="-506557" r="-101342" b="-722951"/>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3"/>
                          <a:stretch>
                            <a:fillRect l="-399329" t="-616667" r="-101342" b="-63500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5" name="Rectangle 4">
            <a:extLst>
              <a:ext uri="{FF2B5EF4-FFF2-40B4-BE49-F238E27FC236}">
                <a16:creationId xmlns:a16="http://schemas.microsoft.com/office/drawing/2014/main" id="{9C46B68B-5CDF-2EC6-005F-B7736B950C79}"/>
              </a:ext>
            </a:extLst>
          </p:cNvPr>
          <p:cNvSpPr/>
          <p:nvPr/>
        </p:nvSpPr>
        <p:spPr>
          <a:xfrm>
            <a:off x="269186" y="2725271"/>
            <a:ext cx="10873296" cy="1111623"/>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C102579-AC80-B6FE-8028-A7763BFA4D60}"/>
              </a:ext>
            </a:extLst>
          </p:cNvPr>
          <p:cNvSpPr txBox="1"/>
          <p:nvPr/>
        </p:nvSpPr>
        <p:spPr>
          <a:xfrm rot="20435640">
            <a:off x="788895" y="4482392"/>
            <a:ext cx="5378823" cy="1200329"/>
          </a:xfrm>
          <a:prstGeom prst="rect">
            <a:avLst/>
          </a:prstGeom>
          <a:ln>
            <a:solidFill>
              <a:schemeClr val="accent5"/>
            </a:solidFill>
          </a:ln>
        </p:spPr>
        <p:style>
          <a:lnRef idx="3">
            <a:schemeClr val="lt1"/>
          </a:lnRef>
          <a:fillRef idx="1">
            <a:schemeClr val="accent4"/>
          </a:fillRef>
          <a:effectRef idx="1">
            <a:schemeClr val="accent4"/>
          </a:effectRef>
          <a:fontRef idx="minor">
            <a:schemeClr val="lt1"/>
          </a:fontRef>
        </p:style>
        <p:txBody>
          <a:bodyPr wrap="square" rtlCol="0">
            <a:spAutoFit/>
          </a:bodyPr>
          <a:lstStyle/>
          <a:p>
            <a:r>
              <a:rPr lang="en-US" b="1" dirty="0"/>
              <a:t>Check your understanding:</a:t>
            </a:r>
            <a:r>
              <a:rPr lang="en-US" dirty="0"/>
              <a:t> Write the expression for the expected utility of running for a person who is a high-talent man.</a:t>
            </a:r>
            <a:br>
              <a:rPr lang="en-US" dirty="0"/>
            </a:br>
            <a:endParaRPr lang="en-US" dirty="0"/>
          </a:p>
        </p:txBody>
      </p:sp>
    </p:spTree>
    <p:extLst>
      <p:ext uri="{BB962C8B-B14F-4D97-AF65-F5344CB8AC3E}">
        <p14:creationId xmlns:p14="http://schemas.microsoft.com/office/powerpoint/2010/main" val="12490074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55A98-7D59-F072-1CD5-9B1383E19CB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56E6BA5-2EC6-8BB7-9177-34F36839ECFD}"/>
                  </a:ext>
                </a:extLst>
              </p:cNvPr>
              <p:cNvSpPr txBox="1"/>
              <p:nvPr/>
            </p:nvSpPr>
            <p:spPr>
              <a:xfrm>
                <a:off x="0" y="0"/>
                <a:ext cx="4276165" cy="923330"/>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Let </a:t>
                </a:r>
                <a14:m>
                  <m:oMath xmlns:m="http://schemas.openxmlformats.org/officeDocument/2006/math">
                    <m:r>
                      <a:rPr lang="en-US" b="0" i="1" smtClean="0">
                        <a:latin typeface="Cambria Math" panose="02040503050406030204" pitchFamily="18" charset="0"/>
                      </a:rPr>
                      <m:t>𝑤</m:t>
                    </m:r>
                  </m:oMath>
                </a14:m>
                <a:r>
                  <a:rPr lang="en-US" dirty="0"/>
                  <a:t> be the probability (a number between 0 and 1!) that a candidate wins if he runs and he is a high-talent man.</a:t>
                </a:r>
              </a:p>
            </p:txBody>
          </p:sp>
        </mc:Choice>
        <mc:Fallback xmlns="">
          <p:sp>
            <p:nvSpPr>
              <p:cNvPr id="2" name="TextBox 1">
                <a:extLst>
                  <a:ext uri="{FF2B5EF4-FFF2-40B4-BE49-F238E27FC236}">
                    <a16:creationId xmlns:a16="http://schemas.microsoft.com/office/drawing/2014/main" id="{956E6BA5-2EC6-8BB7-9177-34F36839ECFD}"/>
                  </a:ext>
                </a:extLst>
              </p:cNvPr>
              <p:cNvSpPr txBox="1">
                <a:spLocks noRot="1" noChangeAspect="1" noMove="1" noResize="1" noEditPoints="1" noAdjustHandles="1" noChangeArrowheads="1" noChangeShapeType="1" noTextEdit="1"/>
              </p:cNvSpPr>
              <p:nvPr/>
            </p:nvSpPr>
            <p:spPr>
              <a:xfrm>
                <a:off x="0" y="0"/>
                <a:ext cx="4276165" cy="923330"/>
              </a:xfrm>
              <a:prstGeom prst="rect">
                <a:avLst/>
              </a:prstGeom>
              <a:blipFill>
                <a:blip r:embed="rId2"/>
                <a:stretch>
                  <a:fillRect l="-994" t="-1948" r="-1278" b="-9091"/>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5F0EFF38-CC46-7D16-F1F5-942B9925016D}"/>
                  </a:ext>
                </a:extLst>
              </p:cNvPr>
              <p:cNvGraphicFramePr>
                <a:graphicFrameLocks noGrp="1"/>
              </p:cNvGraphicFramePr>
              <p:nvPr>
                <p:extLst>
                  <p:ext uri="{D42A27DB-BD31-4B8C-83A1-F6EECF244321}">
                    <p14:modId xmlns:p14="http://schemas.microsoft.com/office/powerpoint/2010/main" val="3791120731"/>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5F0EFF38-CC46-7D16-F1F5-942B9925016D}"/>
                  </a:ext>
                </a:extLst>
              </p:cNvPr>
              <p:cNvGraphicFramePr>
                <a:graphicFrameLocks noGrp="1"/>
              </p:cNvGraphicFramePr>
              <p:nvPr>
                <p:extLst>
                  <p:ext uri="{D42A27DB-BD31-4B8C-83A1-F6EECF244321}">
                    <p14:modId xmlns:p14="http://schemas.microsoft.com/office/powerpoint/2010/main" val="3791120731"/>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3"/>
                          <a:stretch>
                            <a:fillRect l="-399329" t="-506557" r="-101342" b="-722951"/>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3"/>
                          <a:stretch>
                            <a:fillRect l="-399329" t="-616667" r="-101342" b="-63500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5" name="Rectangle 4">
            <a:extLst>
              <a:ext uri="{FF2B5EF4-FFF2-40B4-BE49-F238E27FC236}">
                <a16:creationId xmlns:a16="http://schemas.microsoft.com/office/drawing/2014/main" id="{DCFE9D70-8130-83DC-DE9A-D373FCD6CB7A}"/>
              </a:ext>
            </a:extLst>
          </p:cNvPr>
          <p:cNvSpPr/>
          <p:nvPr/>
        </p:nvSpPr>
        <p:spPr>
          <a:xfrm>
            <a:off x="269186" y="2725271"/>
            <a:ext cx="10873296" cy="1111623"/>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50BCAA4-65EF-661A-095F-E425DD302E5E}"/>
                  </a:ext>
                </a:extLst>
              </p:cNvPr>
              <p:cNvSpPr txBox="1"/>
              <p:nvPr/>
            </p:nvSpPr>
            <p:spPr>
              <a:xfrm rot="20435640">
                <a:off x="788895" y="4482392"/>
                <a:ext cx="5378823" cy="1200329"/>
              </a:xfrm>
              <a:prstGeom prst="rect">
                <a:avLst/>
              </a:prstGeom>
              <a:ln>
                <a:solidFill>
                  <a:schemeClr val="accent5"/>
                </a:solidFill>
              </a:ln>
            </p:spPr>
            <p:style>
              <a:lnRef idx="3">
                <a:schemeClr val="lt1"/>
              </a:lnRef>
              <a:fillRef idx="1">
                <a:schemeClr val="accent4"/>
              </a:fillRef>
              <a:effectRef idx="1">
                <a:schemeClr val="accent4"/>
              </a:effectRef>
              <a:fontRef idx="minor">
                <a:schemeClr val="lt1"/>
              </a:fontRef>
            </p:style>
            <p:txBody>
              <a:bodyPr wrap="square" rtlCol="0">
                <a:spAutoFit/>
              </a:bodyPr>
              <a:lstStyle/>
              <a:p>
                <a:pPr/>
                <a:r>
                  <a:rPr lang="en-US" b="1" dirty="0"/>
                  <a:t>Check your understanding:</a:t>
                </a:r>
                <a:r>
                  <a:rPr lang="en-US" dirty="0"/>
                  <a:t> Write the expression for the expected utility of running for a person who is a high-talent man.</a:t>
                </a:r>
                <a:br>
                  <a:rPr lang="en-US" dirty="0"/>
                </a:b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𝐶</m:t>
                          </m:r>
                        </m:e>
                      </m:d>
                      <m:r>
                        <a:rPr lang="en-US" b="0" i="1" smtClean="0">
                          <a:latin typeface="Cambria Math" panose="02040503050406030204" pitchFamily="18" charset="0"/>
                        </a:rPr>
                        <m:t>+(1−</m:t>
                      </m:r>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oMath>
                  </m:oMathPara>
                </a14:m>
                <a:endParaRPr lang="en-US" dirty="0"/>
              </a:p>
            </p:txBody>
          </p:sp>
        </mc:Choice>
        <mc:Fallback xmlns="">
          <p:sp>
            <p:nvSpPr>
              <p:cNvPr id="3" name="TextBox 2">
                <a:extLst>
                  <a:ext uri="{FF2B5EF4-FFF2-40B4-BE49-F238E27FC236}">
                    <a16:creationId xmlns:a16="http://schemas.microsoft.com/office/drawing/2014/main" id="{950BCAA4-65EF-661A-095F-E425DD302E5E}"/>
                  </a:ext>
                </a:extLst>
              </p:cNvPr>
              <p:cNvSpPr txBox="1">
                <a:spLocks noRot="1" noChangeAspect="1" noMove="1" noResize="1" noEditPoints="1" noAdjustHandles="1" noChangeArrowheads="1" noChangeShapeType="1" noTextEdit="1"/>
              </p:cNvSpPr>
              <p:nvPr/>
            </p:nvSpPr>
            <p:spPr>
              <a:xfrm rot="20435640">
                <a:off x="788895" y="4482392"/>
                <a:ext cx="5378823" cy="1200329"/>
              </a:xfrm>
              <a:prstGeom prst="rect">
                <a:avLst/>
              </a:prstGeom>
              <a:blipFill>
                <a:blip r:embed="rId4"/>
                <a:stretch>
                  <a:fillRect l="-774" t="-825"/>
                </a:stretch>
              </a:blipFill>
              <a:ln>
                <a:solidFill>
                  <a:schemeClr val="accent5"/>
                </a:solidFill>
              </a:ln>
            </p:spPr>
            <p:txBody>
              <a:bodyPr/>
              <a:lstStyle/>
              <a:p>
                <a:r>
                  <a:rPr lang="en-US">
                    <a:noFill/>
                  </a:rPr>
                  <a:t> </a:t>
                </a:r>
              </a:p>
            </p:txBody>
          </p:sp>
        </mc:Fallback>
      </mc:AlternateContent>
    </p:spTree>
    <p:extLst>
      <p:ext uri="{BB962C8B-B14F-4D97-AF65-F5344CB8AC3E}">
        <p14:creationId xmlns:p14="http://schemas.microsoft.com/office/powerpoint/2010/main" val="33678813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94528-0FAA-7FAC-DCD4-E5A906D5DF1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4524A59-D44A-C4A5-7B69-169965FF26CD}"/>
                  </a:ext>
                </a:extLst>
              </p:cNvPr>
              <p:cNvGraphicFramePr>
                <a:graphicFrameLocks noGrp="1"/>
              </p:cNvGraphicFramePr>
              <p:nvPr>
                <p:extLst>
                  <p:ext uri="{D42A27DB-BD31-4B8C-83A1-F6EECF244321}">
                    <p14:modId xmlns:p14="http://schemas.microsoft.com/office/powerpoint/2010/main" val="3912260159"/>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14524A59-D44A-C4A5-7B69-169965FF26CD}"/>
                  </a:ext>
                </a:extLst>
              </p:cNvPr>
              <p:cNvGraphicFramePr>
                <a:graphicFrameLocks noGrp="1"/>
              </p:cNvGraphicFramePr>
              <p:nvPr>
                <p:extLst>
                  <p:ext uri="{D42A27DB-BD31-4B8C-83A1-F6EECF244321}">
                    <p14:modId xmlns:p14="http://schemas.microsoft.com/office/powerpoint/2010/main" val="3912260159"/>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2"/>
                          <a:stretch>
                            <a:fillRect l="-399329" t="-506557" r="-101342" b="-722951"/>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99329" t="-616667" r="-101342" b="-63500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5" name="Rectangle 4">
            <a:extLst>
              <a:ext uri="{FF2B5EF4-FFF2-40B4-BE49-F238E27FC236}">
                <a16:creationId xmlns:a16="http://schemas.microsoft.com/office/drawing/2014/main" id="{45C03EAB-FCDF-8CC7-122C-E673E0F14E34}"/>
              </a:ext>
            </a:extLst>
          </p:cNvPr>
          <p:cNvSpPr/>
          <p:nvPr/>
        </p:nvSpPr>
        <p:spPr>
          <a:xfrm>
            <a:off x="269186" y="1622698"/>
            <a:ext cx="10873296" cy="1111623"/>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40068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45369-E7A5-41DD-4781-CB4BC499155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EC3CACD-F3C9-8697-3092-38A0BF172EAD}"/>
                  </a:ext>
                </a:extLst>
              </p:cNvPr>
              <p:cNvGraphicFramePr>
                <a:graphicFrameLocks noGrp="1"/>
              </p:cNvGraphicFramePr>
              <p:nvPr>
                <p:extLst>
                  <p:ext uri="{D42A27DB-BD31-4B8C-83A1-F6EECF244321}">
                    <p14:modId xmlns:p14="http://schemas.microsoft.com/office/powerpoint/2010/main" val="1060267623"/>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EEC3CACD-F3C9-8697-3092-38A0BF172EAD}"/>
                  </a:ext>
                </a:extLst>
              </p:cNvPr>
              <p:cNvGraphicFramePr>
                <a:graphicFrameLocks noGrp="1"/>
              </p:cNvGraphicFramePr>
              <p:nvPr>
                <p:extLst>
                  <p:ext uri="{D42A27DB-BD31-4B8C-83A1-F6EECF244321}">
                    <p14:modId xmlns:p14="http://schemas.microsoft.com/office/powerpoint/2010/main" val="1060267623"/>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99329" t="-206557" r="-101342" b="-1022951"/>
                          </a:stretch>
                        </a:blip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99329" t="-306557" r="-101342" b="-922951"/>
                          </a:stretch>
                        </a:blip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2"/>
                          <a:stretch>
                            <a:fillRect l="-399329" t="-506557" r="-101342" b="-722951"/>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99329" t="-616667" r="-101342" b="-63500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5" name="Rectangle 4">
            <a:extLst>
              <a:ext uri="{FF2B5EF4-FFF2-40B4-BE49-F238E27FC236}">
                <a16:creationId xmlns:a16="http://schemas.microsoft.com/office/drawing/2014/main" id="{03C64E19-AD9E-239B-9558-CEE040E5A6DE}"/>
              </a:ext>
            </a:extLst>
          </p:cNvPr>
          <p:cNvSpPr/>
          <p:nvPr/>
        </p:nvSpPr>
        <p:spPr>
          <a:xfrm>
            <a:off x="269186" y="1622698"/>
            <a:ext cx="10873296" cy="1111623"/>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30CBB6A-0A7B-E024-2F73-13E4870AD6FC}"/>
                  </a:ext>
                </a:extLst>
              </p:cNvPr>
              <p:cNvSpPr txBox="1"/>
              <p:nvPr/>
            </p:nvSpPr>
            <p:spPr>
              <a:xfrm>
                <a:off x="0" y="0"/>
                <a:ext cx="5029200" cy="1200329"/>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Assume that the probability of a person of either gender winning if they run is “discounted” by a penalty </a:t>
                </a:r>
                <a14:m>
                  <m:oMath xmlns:m="http://schemas.openxmlformats.org/officeDocument/2006/math">
                    <m:r>
                      <a:rPr lang="en-US" b="0" i="1" smtClean="0">
                        <a:latin typeface="Cambria Math" panose="02040503050406030204" pitchFamily="18" charset="0"/>
                      </a:rPr>
                      <m:t>𝜆</m:t>
                    </m:r>
                  </m:oMath>
                </a14:m>
                <a:r>
                  <a:rPr lang="en-US" dirty="0"/>
                  <a:t> if they have low instead of high talent, where </a:t>
                </a:r>
                <a14:m>
                  <m:oMath xmlns:m="http://schemas.openxmlformats.org/officeDocument/2006/math">
                    <m:r>
                      <a:rPr lang="en-US" b="0" i="1" smtClean="0">
                        <a:latin typeface="Cambria Math" panose="02040503050406030204" pitchFamily="18" charset="0"/>
                      </a:rPr>
                      <m:t>𝜆</m:t>
                    </m:r>
                  </m:oMath>
                </a14:m>
                <a:r>
                  <a:rPr lang="en-US" dirty="0"/>
                  <a:t> is a number strictly between 0 and 1.</a:t>
                </a:r>
              </a:p>
            </p:txBody>
          </p:sp>
        </mc:Choice>
        <mc:Fallback xmlns="">
          <p:sp>
            <p:nvSpPr>
              <p:cNvPr id="2" name="TextBox 1">
                <a:extLst>
                  <a:ext uri="{FF2B5EF4-FFF2-40B4-BE49-F238E27FC236}">
                    <a16:creationId xmlns:a16="http://schemas.microsoft.com/office/drawing/2014/main" id="{330CBB6A-0A7B-E024-2F73-13E4870AD6FC}"/>
                  </a:ext>
                </a:extLst>
              </p:cNvPr>
              <p:cNvSpPr txBox="1">
                <a:spLocks noRot="1" noChangeAspect="1" noMove="1" noResize="1" noEditPoints="1" noAdjustHandles="1" noChangeArrowheads="1" noChangeShapeType="1" noTextEdit="1"/>
              </p:cNvSpPr>
              <p:nvPr/>
            </p:nvSpPr>
            <p:spPr>
              <a:xfrm>
                <a:off x="0" y="0"/>
                <a:ext cx="5029200" cy="1200329"/>
              </a:xfrm>
              <a:prstGeom prst="rect">
                <a:avLst/>
              </a:prstGeom>
              <a:blipFill>
                <a:blip r:embed="rId3"/>
                <a:stretch>
                  <a:fillRect l="-845" t="-1500" b="-6500"/>
                </a:stretch>
              </a:blipFill>
              <a:ln/>
            </p:spPr>
            <p:txBody>
              <a:bodyPr/>
              <a:lstStyle/>
              <a:p>
                <a:r>
                  <a:rPr lang="en-US">
                    <a:noFill/>
                  </a:rPr>
                  <a:t> </a:t>
                </a:r>
              </a:p>
            </p:txBody>
          </p:sp>
        </mc:Fallback>
      </mc:AlternateContent>
    </p:spTree>
    <p:extLst>
      <p:ext uri="{BB962C8B-B14F-4D97-AF65-F5344CB8AC3E}">
        <p14:creationId xmlns:p14="http://schemas.microsoft.com/office/powerpoint/2010/main" val="23749462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D5945-A27B-E5F2-4B18-5EB2D4336CE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C4C0C66-3B1F-9A6A-2903-55DA85752866}"/>
                  </a:ext>
                </a:extLst>
              </p:cNvPr>
              <p:cNvGraphicFramePr>
                <a:graphicFrameLocks noGrp="1"/>
              </p:cNvGraphicFramePr>
              <p:nvPr>
                <p:extLst>
                  <p:ext uri="{D42A27DB-BD31-4B8C-83A1-F6EECF244321}">
                    <p14:modId xmlns:p14="http://schemas.microsoft.com/office/powerpoint/2010/main" val="1764670591"/>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AC4C0C66-3B1F-9A6A-2903-55DA85752866}"/>
                  </a:ext>
                </a:extLst>
              </p:cNvPr>
              <p:cNvGraphicFramePr>
                <a:graphicFrameLocks noGrp="1"/>
              </p:cNvGraphicFramePr>
              <p:nvPr>
                <p:extLst>
                  <p:ext uri="{D42A27DB-BD31-4B8C-83A1-F6EECF244321}">
                    <p14:modId xmlns:p14="http://schemas.microsoft.com/office/powerpoint/2010/main" val="1764670591"/>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99329" t="-206557" r="-101342" b="-1022951"/>
                          </a:stretch>
                        </a:blip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99329" t="-306557" r="-101342" b="-922951"/>
                          </a:stretch>
                        </a:blip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2"/>
                          <a:stretch>
                            <a:fillRect l="-399329" t="-506557" r="-101342" b="-722951"/>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99329" t="-616667" r="-101342" b="-63500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039BB06-6CC0-481E-EDA7-4B877724B685}"/>
                  </a:ext>
                </a:extLst>
              </p:cNvPr>
              <p:cNvSpPr txBox="1"/>
              <p:nvPr/>
            </p:nvSpPr>
            <p:spPr>
              <a:xfrm>
                <a:off x="0" y="0"/>
                <a:ext cx="5029200" cy="1200329"/>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Assume that the probability of a person of either gender winning if they run is “discounted” by a penalty </a:t>
                </a:r>
                <a14:m>
                  <m:oMath xmlns:m="http://schemas.openxmlformats.org/officeDocument/2006/math">
                    <m:r>
                      <a:rPr lang="en-US" b="0" i="1" smtClean="0">
                        <a:latin typeface="Cambria Math" panose="02040503050406030204" pitchFamily="18" charset="0"/>
                      </a:rPr>
                      <m:t>𝜆</m:t>
                    </m:r>
                  </m:oMath>
                </a14:m>
                <a:r>
                  <a:rPr lang="en-US" dirty="0"/>
                  <a:t> if they have low instead of high talent, where </a:t>
                </a:r>
                <a14:m>
                  <m:oMath xmlns:m="http://schemas.openxmlformats.org/officeDocument/2006/math">
                    <m:r>
                      <a:rPr lang="en-US" b="0" i="1" smtClean="0">
                        <a:latin typeface="Cambria Math" panose="02040503050406030204" pitchFamily="18" charset="0"/>
                      </a:rPr>
                      <m:t>𝜆</m:t>
                    </m:r>
                  </m:oMath>
                </a14:m>
                <a:r>
                  <a:rPr lang="en-US" dirty="0"/>
                  <a:t> is a number strictly between 0 and 1.</a:t>
                </a:r>
              </a:p>
            </p:txBody>
          </p:sp>
        </mc:Choice>
        <mc:Fallback xmlns="">
          <p:sp>
            <p:nvSpPr>
              <p:cNvPr id="2" name="TextBox 1">
                <a:extLst>
                  <a:ext uri="{FF2B5EF4-FFF2-40B4-BE49-F238E27FC236}">
                    <a16:creationId xmlns:a16="http://schemas.microsoft.com/office/drawing/2014/main" id="{A039BB06-6CC0-481E-EDA7-4B877724B685}"/>
                  </a:ext>
                </a:extLst>
              </p:cNvPr>
              <p:cNvSpPr txBox="1">
                <a:spLocks noRot="1" noChangeAspect="1" noMove="1" noResize="1" noEditPoints="1" noAdjustHandles="1" noChangeArrowheads="1" noChangeShapeType="1" noTextEdit="1"/>
              </p:cNvSpPr>
              <p:nvPr/>
            </p:nvSpPr>
            <p:spPr>
              <a:xfrm>
                <a:off x="0" y="0"/>
                <a:ext cx="5029200" cy="1200329"/>
              </a:xfrm>
              <a:prstGeom prst="rect">
                <a:avLst/>
              </a:prstGeom>
              <a:blipFill>
                <a:blip r:embed="rId3"/>
                <a:stretch>
                  <a:fillRect l="-845" t="-1500" b="-6500"/>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B64CA08-5DD5-3043-C60F-7BDBA4C1F6A9}"/>
                  </a:ext>
                </a:extLst>
              </p:cNvPr>
              <p:cNvSpPr txBox="1"/>
              <p:nvPr/>
            </p:nvSpPr>
            <p:spPr>
              <a:xfrm rot="21372157">
                <a:off x="414181" y="1967014"/>
                <a:ext cx="3326105" cy="4488858"/>
              </a:xfrm>
              <a:prstGeom prst="rect">
                <a:avLst/>
              </a:prstGeom>
              <a:ln>
                <a:solidFill>
                  <a:schemeClr val="accent5"/>
                </a:solidFill>
              </a:ln>
            </p:spPr>
            <p:style>
              <a:lnRef idx="3">
                <a:schemeClr val="lt1"/>
              </a:lnRef>
              <a:fillRef idx="1">
                <a:schemeClr val="accent4"/>
              </a:fillRef>
              <a:effectRef idx="1">
                <a:schemeClr val="accent4"/>
              </a:effectRef>
              <a:fontRef idx="minor">
                <a:schemeClr val="lt1"/>
              </a:fontRef>
            </p:style>
            <p:txBody>
              <a:bodyPr wrap="square" rtlCol="0">
                <a:spAutoFit/>
              </a:bodyPr>
              <a:lstStyle/>
              <a:p>
                <a:pPr>
                  <a:lnSpc>
                    <a:spcPct val="150000"/>
                  </a:lnSpc>
                </a:pPr>
                <a:r>
                  <a:rPr lang="en-US" sz="1600" b="1" dirty="0"/>
                  <a:t>Make sure you understand...</a:t>
                </a:r>
                <a:br>
                  <a:rPr lang="en-US" sz="1600" b="1" dirty="0"/>
                </a:br>
                <a:endParaRPr lang="en-US" sz="1600" b="1" dirty="0"/>
              </a:p>
              <a:p>
                <a:pPr marL="285750" indent="-285750">
                  <a:lnSpc>
                    <a:spcPct val="150000"/>
                  </a:lnSpc>
                  <a:buFont typeface="Arial" panose="020B0604020202020204" pitchFamily="34" charset="0"/>
                  <a:buChar char="•"/>
                </a:pPr>
                <a14:m>
                  <m:oMath xmlns:m="http://schemas.openxmlformats.org/officeDocument/2006/math">
                    <m:r>
                      <a:rPr lang="en-US" sz="1600" b="0" i="1" smtClean="0">
                        <a:latin typeface="Cambria Math" panose="02040503050406030204" pitchFamily="18" charset="0"/>
                      </a:rPr>
                      <m:t>𝜆</m:t>
                    </m:r>
                  </m:oMath>
                </a14:m>
                <a:r>
                  <a:rPr lang="en-US" sz="1600" dirty="0"/>
                  <a:t> (the penalty for low talent) is a number between 0 and 1.</a:t>
                </a:r>
              </a:p>
              <a:p>
                <a:pPr marL="285750" indent="-285750">
                  <a:lnSpc>
                    <a:spcPct val="150000"/>
                  </a:lnSpc>
                  <a:buFont typeface="Arial" panose="020B0604020202020204" pitchFamily="34" charset="0"/>
                  <a:buChar char="•"/>
                </a:pPr>
                <a:r>
                  <a:rPr lang="en-US" sz="1600" dirty="0"/>
                  <a:t>multiplying any positive number by a number between 0 and 1 results in a smaller number.</a:t>
                </a:r>
              </a:p>
              <a:p>
                <a:pPr marL="285750" indent="-285750">
                  <a:lnSpc>
                    <a:spcPct val="150000"/>
                  </a:lnSpc>
                  <a:buFont typeface="Arial" panose="020B0604020202020204" pitchFamily="34" charset="0"/>
                  <a:buChar char="•"/>
                </a:pPr>
                <a:r>
                  <a:rPr lang="en-US" sz="1600" dirty="0"/>
                  <a:t>So </a:t>
                </a:r>
                <a14:m>
                  <m:oMath xmlns:m="http://schemas.openxmlformats.org/officeDocument/2006/math">
                    <m:r>
                      <a:rPr lang="en-US" sz="1600" b="0" i="1" smtClean="0">
                        <a:latin typeface="Cambria Math" panose="02040503050406030204" pitchFamily="18" charset="0"/>
                      </a:rPr>
                      <m:t>𝜆</m:t>
                    </m:r>
                    <m:r>
                      <a:rPr lang="en-US" sz="1600" b="0" i="1" smtClean="0">
                        <a:latin typeface="Cambria Math" panose="02040503050406030204" pitchFamily="18" charset="0"/>
                      </a:rPr>
                      <m:t>𝑤</m:t>
                    </m:r>
                    <m:r>
                      <a:rPr lang="en-US" sz="1600" b="0" i="1" smtClean="0">
                        <a:latin typeface="Cambria Math" panose="02040503050406030204" pitchFamily="18" charset="0"/>
                      </a:rPr>
                      <m:t>&lt;</m:t>
                    </m:r>
                    <m:r>
                      <a:rPr lang="en-US" sz="1600" b="0" i="1" smtClean="0">
                        <a:latin typeface="Cambria Math" panose="02040503050406030204" pitchFamily="18" charset="0"/>
                      </a:rPr>
                      <m:t>𝑤</m:t>
                    </m:r>
                  </m:oMath>
                </a14:m>
                <a:r>
                  <a:rPr lang="en-US" sz="1600" dirty="0"/>
                  <a:t>.</a:t>
                </a:r>
              </a:p>
              <a:p>
                <a:pPr marL="285750" indent="-285750">
                  <a:lnSpc>
                    <a:spcPct val="150000"/>
                  </a:lnSpc>
                  <a:buFont typeface="Arial" panose="020B0604020202020204" pitchFamily="34" charset="0"/>
                  <a:buChar char="•"/>
                </a:pPr>
                <a:r>
                  <a:rPr lang="en-US" sz="1600" dirty="0"/>
                  <a:t>So a man with low talent wins with lower probability than a man with high talent.</a:t>
                </a:r>
                <a:br>
                  <a:rPr lang="en-US" sz="1600" dirty="0"/>
                </a:br>
                <a:endParaRPr lang="en-US" sz="1600" dirty="0"/>
              </a:p>
            </p:txBody>
          </p:sp>
        </mc:Choice>
        <mc:Fallback xmlns="">
          <p:sp>
            <p:nvSpPr>
              <p:cNvPr id="3" name="TextBox 2">
                <a:extLst>
                  <a:ext uri="{FF2B5EF4-FFF2-40B4-BE49-F238E27FC236}">
                    <a16:creationId xmlns:a16="http://schemas.microsoft.com/office/drawing/2014/main" id="{BB64CA08-5DD5-3043-C60F-7BDBA4C1F6A9}"/>
                  </a:ext>
                </a:extLst>
              </p:cNvPr>
              <p:cNvSpPr txBox="1">
                <a:spLocks noRot="1" noChangeAspect="1" noMove="1" noResize="1" noEditPoints="1" noAdjustHandles="1" noChangeArrowheads="1" noChangeShapeType="1" noTextEdit="1"/>
              </p:cNvSpPr>
              <p:nvPr/>
            </p:nvSpPr>
            <p:spPr>
              <a:xfrm rot="21372157">
                <a:off x="414181" y="1967014"/>
                <a:ext cx="3326105" cy="4488858"/>
              </a:xfrm>
              <a:prstGeom prst="rect">
                <a:avLst/>
              </a:prstGeom>
              <a:blipFill>
                <a:blip r:embed="rId4"/>
                <a:stretch>
                  <a:fillRect l="-334"/>
                </a:stretch>
              </a:blipFill>
              <a:ln>
                <a:solidFill>
                  <a:schemeClr val="accent5"/>
                </a:solidFill>
              </a:ln>
            </p:spPr>
            <p:txBody>
              <a:bodyPr/>
              <a:lstStyle/>
              <a:p>
                <a:r>
                  <a:rPr lang="en-US">
                    <a:noFill/>
                  </a:rPr>
                  <a:t> </a:t>
                </a:r>
              </a:p>
            </p:txBody>
          </p:sp>
        </mc:Fallback>
      </mc:AlternateContent>
      <p:sp>
        <p:nvSpPr>
          <p:cNvPr id="6" name="Oval 5">
            <a:extLst>
              <a:ext uri="{FF2B5EF4-FFF2-40B4-BE49-F238E27FC236}">
                <a16:creationId xmlns:a16="http://schemas.microsoft.com/office/drawing/2014/main" id="{A986BB29-FA3A-FFAE-B73C-4E2F15A56E25}"/>
              </a:ext>
            </a:extLst>
          </p:cNvPr>
          <p:cNvSpPr/>
          <p:nvPr/>
        </p:nvSpPr>
        <p:spPr>
          <a:xfrm>
            <a:off x="8193741" y="1927412"/>
            <a:ext cx="439271" cy="439270"/>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B1384EA-9FBD-940F-D313-F36F09ECBD2B}"/>
              </a:ext>
            </a:extLst>
          </p:cNvPr>
          <p:cNvSpPr/>
          <p:nvPr/>
        </p:nvSpPr>
        <p:spPr>
          <a:xfrm>
            <a:off x="8193740" y="3048941"/>
            <a:ext cx="439271" cy="439270"/>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D5C03E3-01E4-7BAC-1104-5EA5AE88A81C}"/>
              </a:ext>
            </a:extLst>
          </p:cNvPr>
          <p:cNvSpPr txBox="1"/>
          <p:nvPr/>
        </p:nvSpPr>
        <p:spPr>
          <a:xfrm>
            <a:off x="8633011" y="1677136"/>
            <a:ext cx="753035" cy="369332"/>
          </a:xfrm>
          <a:prstGeom prst="rect">
            <a:avLst/>
          </a:prstGeom>
          <a:ln>
            <a:solidFill>
              <a:schemeClr val="accent5"/>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lower</a:t>
            </a:r>
          </a:p>
        </p:txBody>
      </p:sp>
      <p:sp>
        <p:nvSpPr>
          <p:cNvPr id="9" name="TextBox 8">
            <a:extLst>
              <a:ext uri="{FF2B5EF4-FFF2-40B4-BE49-F238E27FC236}">
                <a16:creationId xmlns:a16="http://schemas.microsoft.com/office/drawing/2014/main" id="{25735BE7-D94F-EFC3-9A53-CC5A78073F77}"/>
              </a:ext>
            </a:extLst>
          </p:cNvPr>
          <p:cNvSpPr txBox="1"/>
          <p:nvPr/>
        </p:nvSpPr>
        <p:spPr>
          <a:xfrm>
            <a:off x="8633011" y="2835943"/>
            <a:ext cx="905435" cy="369332"/>
          </a:xfrm>
          <a:prstGeom prst="rect">
            <a:avLst/>
          </a:prstGeom>
          <a:ln>
            <a:solidFill>
              <a:schemeClr val="accent5"/>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higher</a:t>
            </a:r>
          </a:p>
        </p:txBody>
      </p:sp>
    </p:spTree>
    <p:extLst>
      <p:ext uri="{BB962C8B-B14F-4D97-AF65-F5344CB8AC3E}">
        <p14:creationId xmlns:p14="http://schemas.microsoft.com/office/powerpoint/2010/main" val="15680985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78A0C-F3EE-DEF7-9B4F-88D0CD03FE7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232D4EE-2F71-7178-DD68-D24F94146B79}"/>
                  </a:ext>
                </a:extLst>
              </p:cNvPr>
              <p:cNvGraphicFramePr>
                <a:graphicFrameLocks noGrp="1"/>
              </p:cNvGraphicFramePr>
              <p:nvPr>
                <p:extLst>
                  <p:ext uri="{D42A27DB-BD31-4B8C-83A1-F6EECF244321}">
                    <p14:modId xmlns:p14="http://schemas.microsoft.com/office/powerpoint/2010/main" val="918188656"/>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1232D4EE-2F71-7178-DD68-D24F94146B79}"/>
                  </a:ext>
                </a:extLst>
              </p:cNvPr>
              <p:cNvGraphicFramePr>
                <a:graphicFrameLocks noGrp="1"/>
              </p:cNvGraphicFramePr>
              <p:nvPr>
                <p:extLst>
                  <p:ext uri="{D42A27DB-BD31-4B8C-83A1-F6EECF244321}">
                    <p14:modId xmlns:p14="http://schemas.microsoft.com/office/powerpoint/2010/main" val="918188656"/>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99329" t="-206557" r="-101342" b="-1022951"/>
                          </a:stretch>
                        </a:blip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99329" t="-306557" r="-101342" b="-922951"/>
                          </a:stretch>
                        </a:blip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2"/>
                          <a:stretch>
                            <a:fillRect l="-399329" t="-506557" r="-101342" b="-722951"/>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99329" t="-616667" r="-101342" b="-63500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5" name="Rectangle 4">
            <a:extLst>
              <a:ext uri="{FF2B5EF4-FFF2-40B4-BE49-F238E27FC236}">
                <a16:creationId xmlns:a16="http://schemas.microsoft.com/office/drawing/2014/main" id="{DB90189B-873B-2988-E000-7E2D0B670365}"/>
              </a:ext>
            </a:extLst>
          </p:cNvPr>
          <p:cNvSpPr/>
          <p:nvPr/>
        </p:nvSpPr>
        <p:spPr>
          <a:xfrm>
            <a:off x="269186" y="4975341"/>
            <a:ext cx="10873296" cy="1111623"/>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88794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B9E94-B4B1-BA40-A938-1365C29B1E5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1A64CA4-14BC-2F23-350C-6FD311C04C12}"/>
                  </a:ext>
                </a:extLst>
              </p:cNvPr>
              <p:cNvGraphicFramePr>
                <a:graphicFrameLocks noGrp="1"/>
              </p:cNvGraphicFramePr>
              <p:nvPr>
                <p:extLst>
                  <p:ext uri="{D42A27DB-BD31-4B8C-83A1-F6EECF244321}">
                    <p14:modId xmlns:p14="http://schemas.microsoft.com/office/powerpoint/2010/main" val="1634853818"/>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21A64CA4-14BC-2F23-350C-6FD311C04C12}"/>
                  </a:ext>
                </a:extLst>
              </p:cNvPr>
              <p:cNvGraphicFramePr>
                <a:graphicFrameLocks noGrp="1"/>
              </p:cNvGraphicFramePr>
              <p:nvPr>
                <p:extLst>
                  <p:ext uri="{D42A27DB-BD31-4B8C-83A1-F6EECF244321}">
                    <p14:modId xmlns:p14="http://schemas.microsoft.com/office/powerpoint/2010/main" val="1634853818"/>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99329" t="-206557" r="-101342" b="-1022951"/>
                          </a:stretch>
                        </a:blip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99329" t="-306557" r="-101342" b="-922951"/>
                          </a:stretch>
                        </a:blip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2"/>
                          <a:stretch>
                            <a:fillRect l="-399329" t="-506557" r="-101342" b="-722951"/>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99329" t="-616667" r="-101342" b="-63500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2"/>
                          <a:stretch>
                            <a:fillRect l="-399329" t="-1104918" r="-101342" b="-124590"/>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99329" t="-1204918" r="-101342" b="-2459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F47FF93-6AE8-B590-C617-1029B2337AAF}"/>
                  </a:ext>
                </a:extLst>
              </p:cNvPr>
              <p:cNvSpPr txBox="1"/>
              <p:nvPr/>
            </p:nvSpPr>
            <p:spPr>
              <a:xfrm>
                <a:off x="0" y="0"/>
                <a:ext cx="5029200" cy="1200329"/>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Assume that the probability of a person of either talent level winning is “discounted” by a penalty </a:t>
                </a:r>
                <a14:m>
                  <m:oMath xmlns:m="http://schemas.openxmlformats.org/officeDocument/2006/math">
                    <m:r>
                      <a:rPr lang="en-US" b="0" i="1" smtClean="0">
                        <a:latin typeface="Cambria Math" panose="02040503050406030204" pitchFamily="18" charset="0"/>
                      </a:rPr>
                      <m:t>𝜇</m:t>
                    </m:r>
                  </m:oMath>
                </a14:m>
                <a:r>
                  <a:rPr lang="en-US" dirty="0"/>
                  <a:t> if they are a woman instead of a man, where </a:t>
                </a:r>
                <a14:m>
                  <m:oMath xmlns:m="http://schemas.openxmlformats.org/officeDocument/2006/math">
                    <m:r>
                      <a:rPr lang="en-US" b="0" i="1" smtClean="0">
                        <a:latin typeface="Cambria Math" panose="02040503050406030204" pitchFamily="18" charset="0"/>
                      </a:rPr>
                      <m:t>𝜇</m:t>
                    </m:r>
                  </m:oMath>
                </a14:m>
                <a:r>
                  <a:rPr lang="en-US" dirty="0"/>
                  <a:t> is a number strictly between 0 and 1.</a:t>
                </a:r>
              </a:p>
            </p:txBody>
          </p:sp>
        </mc:Choice>
        <mc:Fallback xmlns="">
          <p:sp>
            <p:nvSpPr>
              <p:cNvPr id="2" name="TextBox 1">
                <a:extLst>
                  <a:ext uri="{FF2B5EF4-FFF2-40B4-BE49-F238E27FC236}">
                    <a16:creationId xmlns:a16="http://schemas.microsoft.com/office/drawing/2014/main" id="{8F47FF93-6AE8-B590-C617-1029B2337AAF}"/>
                  </a:ext>
                </a:extLst>
              </p:cNvPr>
              <p:cNvSpPr txBox="1">
                <a:spLocks noRot="1" noChangeAspect="1" noMove="1" noResize="1" noEditPoints="1" noAdjustHandles="1" noChangeArrowheads="1" noChangeShapeType="1" noTextEdit="1"/>
              </p:cNvSpPr>
              <p:nvPr/>
            </p:nvSpPr>
            <p:spPr>
              <a:xfrm>
                <a:off x="0" y="0"/>
                <a:ext cx="5029200" cy="1200329"/>
              </a:xfrm>
              <a:prstGeom prst="rect">
                <a:avLst/>
              </a:prstGeom>
              <a:blipFill>
                <a:blip r:embed="rId3"/>
                <a:stretch>
                  <a:fillRect l="-845" t="-1500" b="-6500"/>
                </a:stretch>
              </a:blipFill>
              <a:ln/>
            </p:spPr>
            <p:txBody>
              <a:bodyPr/>
              <a:lstStyle/>
              <a:p>
                <a:r>
                  <a:rPr lang="en-US">
                    <a:noFill/>
                  </a:rPr>
                  <a:t> </a:t>
                </a:r>
              </a:p>
            </p:txBody>
          </p:sp>
        </mc:Fallback>
      </mc:AlternateContent>
      <p:sp>
        <p:nvSpPr>
          <p:cNvPr id="5" name="Rectangle 4">
            <a:extLst>
              <a:ext uri="{FF2B5EF4-FFF2-40B4-BE49-F238E27FC236}">
                <a16:creationId xmlns:a16="http://schemas.microsoft.com/office/drawing/2014/main" id="{E5962996-9072-D152-6906-0A4F057D95B9}"/>
              </a:ext>
            </a:extLst>
          </p:cNvPr>
          <p:cNvSpPr/>
          <p:nvPr/>
        </p:nvSpPr>
        <p:spPr>
          <a:xfrm>
            <a:off x="269186" y="4975341"/>
            <a:ext cx="10873296" cy="1111623"/>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75623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FA78B-D57B-DC74-D00D-335A7785F73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0B9D48D-9620-0872-570C-6ACC675AB7A5}"/>
                  </a:ext>
                </a:extLst>
              </p:cNvPr>
              <p:cNvGraphicFramePr>
                <a:graphicFrameLocks noGrp="1"/>
              </p:cNvGraphicFramePr>
              <p:nvPr>
                <p:extLst>
                  <p:ext uri="{D42A27DB-BD31-4B8C-83A1-F6EECF244321}">
                    <p14:modId xmlns:p14="http://schemas.microsoft.com/office/powerpoint/2010/main" val="2521451030"/>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30B9D48D-9620-0872-570C-6ACC675AB7A5}"/>
                  </a:ext>
                </a:extLst>
              </p:cNvPr>
              <p:cNvGraphicFramePr>
                <a:graphicFrameLocks noGrp="1"/>
              </p:cNvGraphicFramePr>
              <p:nvPr>
                <p:extLst>
                  <p:ext uri="{D42A27DB-BD31-4B8C-83A1-F6EECF244321}">
                    <p14:modId xmlns:p14="http://schemas.microsoft.com/office/powerpoint/2010/main" val="2521451030"/>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99329" t="-206557" r="-101342" b="-1022951"/>
                          </a:stretch>
                        </a:blip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99329" t="-306557" r="-101342" b="-922951"/>
                          </a:stretch>
                        </a:blip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2"/>
                          <a:stretch>
                            <a:fillRect l="-399329" t="-506557" r="-101342" b="-722951"/>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99329" t="-616667" r="-101342" b="-63500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2"/>
                          <a:stretch>
                            <a:fillRect l="-399329" t="-1104918" r="-101342" b="-124590"/>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99329" t="-1204918" r="-101342" b="-2459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48E5F50-F0B3-A020-E11F-8831B6BEA3CB}"/>
                  </a:ext>
                </a:extLst>
              </p:cNvPr>
              <p:cNvSpPr txBox="1"/>
              <p:nvPr/>
            </p:nvSpPr>
            <p:spPr>
              <a:xfrm>
                <a:off x="0" y="0"/>
                <a:ext cx="5029200" cy="1200329"/>
              </a:xfrm>
              <a:prstGeom prst="rect">
                <a:avLst/>
              </a:prstGeom>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Assume that the probability of a person of either talent level winning is “discounted” by a penalty </a:t>
                </a:r>
                <a14:m>
                  <m:oMath xmlns:m="http://schemas.openxmlformats.org/officeDocument/2006/math">
                    <m:r>
                      <a:rPr lang="en-US" b="0" i="1" smtClean="0">
                        <a:latin typeface="Cambria Math" panose="02040503050406030204" pitchFamily="18" charset="0"/>
                      </a:rPr>
                      <m:t>𝜇</m:t>
                    </m:r>
                  </m:oMath>
                </a14:m>
                <a:r>
                  <a:rPr lang="en-US" dirty="0"/>
                  <a:t> if they are a woman instead of a man, where </a:t>
                </a:r>
                <a14:m>
                  <m:oMath xmlns:m="http://schemas.openxmlformats.org/officeDocument/2006/math">
                    <m:r>
                      <a:rPr lang="en-US" b="0" i="1" smtClean="0">
                        <a:latin typeface="Cambria Math" panose="02040503050406030204" pitchFamily="18" charset="0"/>
                      </a:rPr>
                      <m:t>𝜇</m:t>
                    </m:r>
                  </m:oMath>
                </a14:m>
                <a:r>
                  <a:rPr lang="en-US" dirty="0"/>
                  <a:t> is a number strictly between 0 and 1.</a:t>
                </a:r>
              </a:p>
            </p:txBody>
          </p:sp>
        </mc:Choice>
        <mc:Fallback xmlns="">
          <p:sp>
            <p:nvSpPr>
              <p:cNvPr id="2" name="TextBox 1">
                <a:extLst>
                  <a:ext uri="{FF2B5EF4-FFF2-40B4-BE49-F238E27FC236}">
                    <a16:creationId xmlns:a16="http://schemas.microsoft.com/office/drawing/2014/main" id="{F48E5F50-F0B3-A020-E11F-8831B6BEA3CB}"/>
                  </a:ext>
                </a:extLst>
              </p:cNvPr>
              <p:cNvSpPr txBox="1">
                <a:spLocks noRot="1" noChangeAspect="1" noMove="1" noResize="1" noEditPoints="1" noAdjustHandles="1" noChangeArrowheads="1" noChangeShapeType="1" noTextEdit="1"/>
              </p:cNvSpPr>
              <p:nvPr/>
            </p:nvSpPr>
            <p:spPr>
              <a:xfrm>
                <a:off x="0" y="0"/>
                <a:ext cx="5029200" cy="1200329"/>
              </a:xfrm>
              <a:prstGeom prst="rect">
                <a:avLst/>
              </a:prstGeom>
              <a:blipFill>
                <a:blip r:embed="rId3"/>
                <a:stretch>
                  <a:fillRect l="-845" t="-1500" b="-6500"/>
                </a:stretch>
              </a:blipFill>
              <a:ln/>
            </p:spPr>
            <p:txBody>
              <a:bodyPr/>
              <a:lstStyle/>
              <a:p>
                <a:r>
                  <a:rPr lang="en-US">
                    <a:noFill/>
                  </a:rPr>
                  <a:t> </a:t>
                </a:r>
              </a:p>
            </p:txBody>
          </p:sp>
        </mc:Fallback>
      </mc:AlternateContent>
      <p:sp>
        <p:nvSpPr>
          <p:cNvPr id="5" name="Rectangle 4">
            <a:extLst>
              <a:ext uri="{FF2B5EF4-FFF2-40B4-BE49-F238E27FC236}">
                <a16:creationId xmlns:a16="http://schemas.microsoft.com/office/drawing/2014/main" id="{96AF1AA3-3800-E140-BEFC-C5F34289D006}"/>
              </a:ext>
            </a:extLst>
          </p:cNvPr>
          <p:cNvSpPr/>
          <p:nvPr/>
        </p:nvSpPr>
        <p:spPr>
          <a:xfrm>
            <a:off x="269186" y="4975341"/>
            <a:ext cx="10873296" cy="1111623"/>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3BDBB6-64F4-D5B9-8757-C85A63630C1D}"/>
                  </a:ext>
                </a:extLst>
              </p:cNvPr>
              <p:cNvSpPr txBox="1"/>
              <p:nvPr/>
            </p:nvSpPr>
            <p:spPr>
              <a:xfrm rot="21372157">
                <a:off x="489157" y="1609954"/>
                <a:ext cx="3817488" cy="4488858"/>
              </a:xfrm>
              <a:prstGeom prst="rect">
                <a:avLst/>
              </a:prstGeom>
              <a:ln>
                <a:solidFill>
                  <a:schemeClr val="accent5"/>
                </a:solidFill>
              </a:ln>
            </p:spPr>
            <p:style>
              <a:lnRef idx="3">
                <a:schemeClr val="lt1"/>
              </a:lnRef>
              <a:fillRef idx="1">
                <a:schemeClr val="accent4"/>
              </a:fillRef>
              <a:effectRef idx="1">
                <a:schemeClr val="accent4"/>
              </a:effectRef>
              <a:fontRef idx="minor">
                <a:schemeClr val="lt1"/>
              </a:fontRef>
            </p:style>
            <p:txBody>
              <a:bodyPr wrap="square" rtlCol="0">
                <a:spAutoFit/>
              </a:bodyPr>
              <a:lstStyle/>
              <a:p>
                <a:pPr>
                  <a:lnSpc>
                    <a:spcPct val="150000"/>
                  </a:lnSpc>
                </a:pPr>
                <a:r>
                  <a:rPr lang="en-US" sz="1600" b="1" dirty="0"/>
                  <a:t>Make sure your understand...</a:t>
                </a:r>
                <a:br>
                  <a:rPr lang="en-US" sz="1600" b="1" dirty="0"/>
                </a:br>
                <a:endParaRPr lang="en-US" sz="1600" b="1" dirty="0"/>
              </a:p>
              <a:p>
                <a:pPr marL="285750" indent="-285750">
                  <a:lnSpc>
                    <a:spcPct val="150000"/>
                  </a:lnSpc>
                  <a:buFont typeface="Arial" panose="020B0604020202020204" pitchFamily="34" charset="0"/>
                  <a:buChar char="•"/>
                </a:pPr>
                <a14:m>
                  <m:oMath xmlns:m="http://schemas.openxmlformats.org/officeDocument/2006/math">
                    <m:r>
                      <a:rPr lang="en-US" sz="1600" b="0" i="1" smtClean="0">
                        <a:latin typeface="Cambria Math" panose="02040503050406030204" pitchFamily="18" charset="0"/>
                      </a:rPr>
                      <m:t>𝜇</m:t>
                    </m:r>
                  </m:oMath>
                </a14:m>
                <a:r>
                  <a:rPr lang="en-US" sz="1600" dirty="0"/>
                  <a:t> (the misogyny penalty) is a number between 0 and 1.</a:t>
                </a:r>
              </a:p>
              <a:p>
                <a:pPr marL="285750" indent="-285750">
                  <a:lnSpc>
                    <a:spcPct val="150000"/>
                  </a:lnSpc>
                  <a:buFont typeface="Arial" panose="020B0604020202020204" pitchFamily="34" charset="0"/>
                  <a:buChar char="•"/>
                </a:pPr>
                <a:r>
                  <a:rPr lang="en-US" sz="1600" dirty="0"/>
                  <a:t>multiplying any positive number by a number between 0 and 1 results in a smaller number.</a:t>
                </a:r>
              </a:p>
              <a:p>
                <a:pPr marL="285750" indent="-285750">
                  <a:lnSpc>
                    <a:spcPct val="150000"/>
                  </a:lnSpc>
                  <a:buFont typeface="Arial" panose="020B0604020202020204" pitchFamily="34" charset="0"/>
                  <a:buChar char="•"/>
                </a:pPr>
                <a:r>
                  <a:rPr lang="en-US" sz="1600" dirty="0"/>
                  <a:t>So </a:t>
                </a:r>
                <a14:m>
                  <m:oMath xmlns:m="http://schemas.openxmlformats.org/officeDocument/2006/math">
                    <m:r>
                      <a:rPr lang="en-US" sz="1600" b="0" i="1" smtClean="0">
                        <a:latin typeface="Cambria Math" panose="02040503050406030204" pitchFamily="18" charset="0"/>
                      </a:rPr>
                      <m:t>𝜇</m:t>
                    </m:r>
                    <m:r>
                      <a:rPr lang="en-US" sz="1600" b="0" i="1" smtClean="0">
                        <a:latin typeface="Cambria Math" panose="02040503050406030204" pitchFamily="18" charset="0"/>
                      </a:rPr>
                      <m:t>𝑤</m:t>
                    </m:r>
                    <m:r>
                      <a:rPr lang="en-US" sz="1600" b="0" i="1" smtClean="0">
                        <a:latin typeface="Cambria Math" panose="02040503050406030204" pitchFamily="18" charset="0"/>
                      </a:rPr>
                      <m:t>&lt;</m:t>
                    </m:r>
                    <m:r>
                      <a:rPr lang="en-US" sz="1600" b="0" i="1" smtClean="0">
                        <a:latin typeface="Cambria Math" panose="02040503050406030204" pitchFamily="18" charset="0"/>
                      </a:rPr>
                      <m:t>𝑤</m:t>
                    </m:r>
                  </m:oMath>
                </a14:m>
                <a:r>
                  <a:rPr lang="en-US" sz="1600" dirty="0"/>
                  <a:t>.</a:t>
                </a:r>
              </a:p>
              <a:p>
                <a:pPr marL="285750" indent="-285750">
                  <a:lnSpc>
                    <a:spcPct val="150000"/>
                  </a:lnSpc>
                  <a:buFont typeface="Arial" panose="020B0604020202020204" pitchFamily="34" charset="0"/>
                  <a:buChar char="•"/>
                </a:pPr>
                <a:r>
                  <a:rPr lang="en-US" sz="1600" dirty="0"/>
                  <a:t>So a woman with high talent wins with lower probability than a man with high talent.</a:t>
                </a:r>
                <a:br>
                  <a:rPr lang="en-US" sz="1600" dirty="0"/>
                </a:br>
                <a:endParaRPr lang="en-US" sz="1600" dirty="0"/>
              </a:p>
            </p:txBody>
          </p:sp>
        </mc:Choice>
        <mc:Fallback xmlns="">
          <p:sp>
            <p:nvSpPr>
              <p:cNvPr id="3" name="TextBox 2">
                <a:extLst>
                  <a:ext uri="{FF2B5EF4-FFF2-40B4-BE49-F238E27FC236}">
                    <a16:creationId xmlns:a16="http://schemas.microsoft.com/office/drawing/2014/main" id="{DC3BDBB6-64F4-D5B9-8757-C85A63630C1D}"/>
                  </a:ext>
                </a:extLst>
              </p:cNvPr>
              <p:cNvSpPr txBox="1">
                <a:spLocks noRot="1" noChangeAspect="1" noMove="1" noResize="1" noEditPoints="1" noAdjustHandles="1" noChangeArrowheads="1" noChangeShapeType="1" noTextEdit="1"/>
              </p:cNvSpPr>
              <p:nvPr/>
            </p:nvSpPr>
            <p:spPr>
              <a:xfrm rot="21372157">
                <a:off x="489157" y="1609954"/>
                <a:ext cx="3817488" cy="4488858"/>
              </a:xfrm>
              <a:prstGeom prst="rect">
                <a:avLst/>
              </a:prstGeom>
              <a:blipFill>
                <a:blip r:embed="rId4"/>
                <a:stretch>
                  <a:fillRect l="-295"/>
                </a:stretch>
              </a:blipFill>
              <a:ln>
                <a:solidFill>
                  <a:schemeClr val="accent5"/>
                </a:solidFill>
              </a:ln>
            </p:spPr>
            <p:txBody>
              <a:bodyPr/>
              <a:lstStyle/>
              <a:p>
                <a:r>
                  <a:rPr lang="en-US">
                    <a:noFill/>
                  </a:rPr>
                  <a:t> </a:t>
                </a:r>
              </a:p>
            </p:txBody>
          </p:sp>
        </mc:Fallback>
      </mc:AlternateContent>
      <p:sp>
        <p:nvSpPr>
          <p:cNvPr id="6" name="Oval 5">
            <a:extLst>
              <a:ext uri="{FF2B5EF4-FFF2-40B4-BE49-F238E27FC236}">
                <a16:creationId xmlns:a16="http://schemas.microsoft.com/office/drawing/2014/main" id="{7A6E095B-3A6F-BFC2-8246-1AEAB5D35E48}"/>
              </a:ext>
            </a:extLst>
          </p:cNvPr>
          <p:cNvSpPr/>
          <p:nvPr/>
        </p:nvSpPr>
        <p:spPr>
          <a:xfrm>
            <a:off x="8193741" y="5323887"/>
            <a:ext cx="439271" cy="439270"/>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01E270D5-4A7B-D20C-72FA-D10410FBE6E3}"/>
              </a:ext>
            </a:extLst>
          </p:cNvPr>
          <p:cNvSpPr/>
          <p:nvPr/>
        </p:nvSpPr>
        <p:spPr>
          <a:xfrm>
            <a:off x="8193740" y="3048941"/>
            <a:ext cx="439271" cy="439270"/>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68ECC83-3B87-4725-DB55-D881B196FA6D}"/>
              </a:ext>
            </a:extLst>
          </p:cNvPr>
          <p:cNvSpPr txBox="1"/>
          <p:nvPr/>
        </p:nvSpPr>
        <p:spPr>
          <a:xfrm>
            <a:off x="8633011" y="5073611"/>
            <a:ext cx="753035" cy="369332"/>
          </a:xfrm>
          <a:prstGeom prst="rect">
            <a:avLst/>
          </a:prstGeom>
          <a:ln>
            <a:solidFill>
              <a:schemeClr val="accent5"/>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lower</a:t>
            </a:r>
          </a:p>
        </p:txBody>
      </p:sp>
      <p:sp>
        <p:nvSpPr>
          <p:cNvPr id="9" name="TextBox 8">
            <a:extLst>
              <a:ext uri="{FF2B5EF4-FFF2-40B4-BE49-F238E27FC236}">
                <a16:creationId xmlns:a16="http://schemas.microsoft.com/office/drawing/2014/main" id="{DBE24E02-920A-D0CA-B525-B4D5599C2632}"/>
              </a:ext>
            </a:extLst>
          </p:cNvPr>
          <p:cNvSpPr txBox="1"/>
          <p:nvPr/>
        </p:nvSpPr>
        <p:spPr>
          <a:xfrm>
            <a:off x="8633011" y="2835943"/>
            <a:ext cx="905435" cy="369332"/>
          </a:xfrm>
          <a:prstGeom prst="rect">
            <a:avLst/>
          </a:prstGeom>
          <a:ln>
            <a:solidFill>
              <a:schemeClr val="accent5"/>
            </a:solidFill>
          </a:ln>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dirty="0"/>
              <a:t>higher</a:t>
            </a:r>
          </a:p>
        </p:txBody>
      </p:sp>
    </p:spTree>
    <p:extLst>
      <p:ext uri="{BB962C8B-B14F-4D97-AF65-F5344CB8AC3E}">
        <p14:creationId xmlns:p14="http://schemas.microsoft.com/office/powerpoint/2010/main" val="33519336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E37B3-108A-71CC-9B62-9FAF9201D74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F8AC0C9-62C1-81E0-6541-783161759619}"/>
                  </a:ext>
                </a:extLst>
              </p:cNvPr>
              <p:cNvGraphicFramePr>
                <a:graphicFrameLocks noGrp="1"/>
              </p:cNvGraphicFramePr>
              <p:nvPr>
                <p:extLst>
                  <p:ext uri="{D42A27DB-BD31-4B8C-83A1-F6EECF244321}">
                    <p14:modId xmlns:p14="http://schemas.microsoft.com/office/powerpoint/2010/main" val="434635795"/>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1F8AC0C9-62C1-81E0-6541-783161759619}"/>
                  </a:ext>
                </a:extLst>
              </p:cNvPr>
              <p:cNvGraphicFramePr>
                <a:graphicFrameLocks noGrp="1"/>
              </p:cNvGraphicFramePr>
              <p:nvPr>
                <p:extLst>
                  <p:ext uri="{D42A27DB-BD31-4B8C-83A1-F6EECF244321}">
                    <p14:modId xmlns:p14="http://schemas.microsoft.com/office/powerpoint/2010/main" val="434635795"/>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99329" t="-206557" r="-101342" b="-1022951"/>
                          </a:stretch>
                        </a:blip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99329" t="-306557" r="-101342" b="-922951"/>
                          </a:stretch>
                        </a:blip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2"/>
                          <a:stretch>
                            <a:fillRect l="-399329" t="-506557" r="-101342" b="-722951"/>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99329" t="-616667" r="-101342" b="-63500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2"/>
                          <a:stretch>
                            <a:fillRect l="-399329" t="-1104918" r="-101342" b="-124590"/>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99329" t="-1204918" r="-101342" b="-2459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5" name="Rectangle 4">
            <a:extLst>
              <a:ext uri="{FF2B5EF4-FFF2-40B4-BE49-F238E27FC236}">
                <a16:creationId xmlns:a16="http://schemas.microsoft.com/office/drawing/2014/main" id="{ACEA2BB0-85B7-BC2F-230E-9A66F1693AB1}"/>
              </a:ext>
            </a:extLst>
          </p:cNvPr>
          <p:cNvSpPr/>
          <p:nvPr/>
        </p:nvSpPr>
        <p:spPr>
          <a:xfrm>
            <a:off x="269186" y="3854753"/>
            <a:ext cx="10873296" cy="1111623"/>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25436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FC2F5-C7FF-3262-7BC1-7C12064C039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8829D796-1FD4-D37F-1011-14DB9F3360E5}"/>
                  </a:ext>
                </a:extLst>
              </p:cNvPr>
              <p:cNvGraphicFramePr>
                <a:graphicFrameLocks noGrp="1"/>
              </p:cNvGraphicFramePr>
              <p:nvPr>
                <p:extLst>
                  <p:ext uri="{D42A27DB-BD31-4B8C-83A1-F6EECF244321}">
                    <p14:modId xmlns:p14="http://schemas.microsoft.com/office/powerpoint/2010/main" val="1498847099"/>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8829D796-1FD4-D37F-1011-14DB9F3360E5}"/>
                  </a:ext>
                </a:extLst>
              </p:cNvPr>
              <p:cNvGraphicFramePr>
                <a:graphicFrameLocks noGrp="1"/>
              </p:cNvGraphicFramePr>
              <p:nvPr>
                <p:extLst>
                  <p:ext uri="{D42A27DB-BD31-4B8C-83A1-F6EECF244321}">
                    <p14:modId xmlns:p14="http://schemas.microsoft.com/office/powerpoint/2010/main" val="1498847099"/>
                  </p:ext>
                </p:extLst>
              </p:nvPr>
            </p:nvGraphicFramePr>
            <p:xfrm>
              <a:off x="269186" y="1256993"/>
              <a:ext cx="10873296" cy="4820920"/>
            </p:xfrm>
            <a:graphic>
              <a:graphicData uri="http://schemas.openxmlformats.org/drawingml/2006/table">
                <a:tbl>
                  <a:tblPr firstRow="1" bandRow="1">
                    <a:tableStyleId>{5C22544A-7EE6-4342-B048-85BDC9FD1C3A}</a:tableStyleId>
                  </a:tblPr>
                  <a:tblGrid>
                    <a:gridCol w="1812216">
                      <a:extLst>
                        <a:ext uri="{9D8B030D-6E8A-4147-A177-3AD203B41FA5}">
                          <a16:colId xmlns:a16="http://schemas.microsoft.com/office/drawing/2014/main" val="1663853523"/>
                        </a:ext>
                      </a:extLst>
                    </a:gridCol>
                    <a:gridCol w="1812216">
                      <a:extLst>
                        <a:ext uri="{9D8B030D-6E8A-4147-A177-3AD203B41FA5}">
                          <a16:colId xmlns:a16="http://schemas.microsoft.com/office/drawing/2014/main" val="3618542185"/>
                        </a:ext>
                      </a:extLst>
                    </a:gridCol>
                    <a:gridCol w="1812216">
                      <a:extLst>
                        <a:ext uri="{9D8B030D-6E8A-4147-A177-3AD203B41FA5}">
                          <a16:colId xmlns:a16="http://schemas.microsoft.com/office/drawing/2014/main" val="1355337037"/>
                        </a:ext>
                      </a:extLst>
                    </a:gridCol>
                    <a:gridCol w="1812216">
                      <a:extLst>
                        <a:ext uri="{9D8B030D-6E8A-4147-A177-3AD203B41FA5}">
                          <a16:colId xmlns:a16="http://schemas.microsoft.com/office/drawing/2014/main" val="2347425372"/>
                        </a:ext>
                      </a:extLst>
                    </a:gridCol>
                    <a:gridCol w="1812216">
                      <a:extLst>
                        <a:ext uri="{9D8B030D-6E8A-4147-A177-3AD203B41FA5}">
                          <a16:colId xmlns:a16="http://schemas.microsoft.com/office/drawing/2014/main" val="4151739738"/>
                        </a:ext>
                      </a:extLst>
                    </a:gridCol>
                    <a:gridCol w="1812216">
                      <a:extLst>
                        <a:ext uri="{9D8B030D-6E8A-4147-A177-3AD203B41FA5}">
                          <a16:colId xmlns:a16="http://schemas.microsoft.com/office/drawing/2014/main" val="40825121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2">
                            <a:lumMod val="40000"/>
                            <a:lumOff val="6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2">
                            <a:lumMod val="40000"/>
                            <a:lumOff val="6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99329" t="-206557" r="-101342" b="-1022951"/>
                          </a:stretch>
                        </a:blipFill>
                      </a:tcPr>
                    </a:tc>
                    <a:tc>
                      <a:txBody>
                        <a:bodyPr/>
                        <a:lstStyle/>
                        <a:p>
                          <a:pPr algn="ctr"/>
                          <a:r>
                            <a:rPr lang="en-US" i="1" dirty="0"/>
                            <a:t>B-C</a:t>
                          </a:r>
                        </a:p>
                      </a:txBody>
                      <a:tcPr>
                        <a:solidFill>
                          <a:schemeClr val="accent2">
                            <a:lumMod val="40000"/>
                            <a:lumOff val="60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99329" t="-306557" r="-101342" b="-922951"/>
                          </a:stretch>
                        </a:blipFill>
                      </a:tcPr>
                    </a:tc>
                    <a:tc>
                      <a:txBody>
                        <a:bodyPr/>
                        <a:lstStyle/>
                        <a:p>
                          <a:pPr algn="ctr"/>
                          <a:r>
                            <a:rPr lang="en-US" i="1" dirty="0"/>
                            <a:t>-C</a:t>
                          </a:r>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2"/>
                          <a:stretch>
                            <a:fillRect l="-399329" t="-506557" r="-101342" b="-722951"/>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99329" t="-616667" r="-101342" b="-63500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1">
                            <a:lumMod val="20000"/>
                            <a:lumOff val="8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99329" t="-804918" r="-101342" b="-424590"/>
                          </a:stretch>
                        </a:blipFill>
                      </a:tcPr>
                    </a:tc>
                    <a:tc>
                      <a:txBody>
                        <a:bodyPr/>
                        <a:lstStyle/>
                        <a:p>
                          <a:pPr algn="ctr"/>
                          <a:r>
                            <a:rPr lang="en-US" i="1" dirty="0"/>
                            <a:t>B-C</a:t>
                          </a:r>
                        </a:p>
                      </a:txBody>
                      <a:tcPr>
                        <a:solidFill>
                          <a:schemeClr val="accent1">
                            <a:lumMod val="20000"/>
                            <a:lumOff val="8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99329" t="-904918" r="-101342" b="-324590"/>
                          </a:stretch>
                        </a:blipFill>
                      </a:tcPr>
                    </a:tc>
                    <a:tc>
                      <a:txBody>
                        <a:bodyPr/>
                        <a:lstStyle/>
                        <a:p>
                          <a:pPr algn="ctr"/>
                          <a:r>
                            <a:rPr lang="en-US" i="1" dirty="0"/>
                            <a:t>-C</a:t>
                          </a:r>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tx2"/>
                        </a:solidFill>
                      </a:tcPr>
                    </a:tc>
                    <a:tc>
                      <a:txBody>
                        <a:bodyPr/>
                        <a:lstStyle/>
                        <a:p>
                          <a:r>
                            <a:rPr lang="en-US" dirty="0"/>
                            <a:t>win</a:t>
                          </a:r>
                        </a:p>
                      </a:txBody>
                      <a:tcPr>
                        <a:solidFill>
                          <a:schemeClr val="tx2"/>
                        </a:solidFill>
                      </a:tcPr>
                    </a:tc>
                    <a:tc>
                      <a:txBody>
                        <a:bodyPr/>
                        <a:lstStyle/>
                        <a:p>
                          <a:endParaRPr lang="en-US"/>
                        </a:p>
                      </a:txBody>
                      <a:tcPr>
                        <a:blipFill>
                          <a:blip r:embed="rId2"/>
                          <a:stretch>
                            <a:fillRect l="-399329" t="-1104918" r="-101342" b="-124590"/>
                          </a:stretch>
                        </a:blipFill>
                      </a:tcPr>
                    </a:tc>
                    <a:tc>
                      <a:txBody>
                        <a:bodyPr/>
                        <a:lstStyle/>
                        <a:p>
                          <a:pPr algn="ctr"/>
                          <a:r>
                            <a:rPr lang="en-US" i="1" dirty="0"/>
                            <a:t>B-C</a:t>
                          </a:r>
                        </a:p>
                      </a:txBody>
                      <a:tcPr>
                        <a:solidFill>
                          <a:schemeClr val="tx2"/>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99329" t="-1204918" r="-101342" b="-24590"/>
                          </a:stretch>
                        </a:blipFill>
                      </a:tcPr>
                    </a:tc>
                    <a:tc>
                      <a:txBody>
                        <a:bodyPr/>
                        <a:lstStyle/>
                        <a:p>
                          <a:pPr algn="ctr"/>
                          <a:r>
                            <a:rPr lang="en-US" i="1" dirty="0"/>
                            <a:t>-C</a:t>
                          </a:r>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5" name="Rectangle 4">
            <a:extLst>
              <a:ext uri="{FF2B5EF4-FFF2-40B4-BE49-F238E27FC236}">
                <a16:creationId xmlns:a16="http://schemas.microsoft.com/office/drawing/2014/main" id="{5CEA6677-CA77-626A-DAE6-4978501E4A02}"/>
              </a:ext>
            </a:extLst>
          </p:cNvPr>
          <p:cNvSpPr/>
          <p:nvPr/>
        </p:nvSpPr>
        <p:spPr>
          <a:xfrm>
            <a:off x="269186" y="3854753"/>
            <a:ext cx="10873296" cy="1111623"/>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E42713A-4719-3731-DFEF-430918FCB065}"/>
              </a:ext>
            </a:extLst>
          </p:cNvPr>
          <p:cNvSpPr txBox="1"/>
          <p:nvPr/>
        </p:nvSpPr>
        <p:spPr>
          <a:xfrm>
            <a:off x="0" y="0"/>
            <a:ext cx="5029200" cy="646331"/>
          </a:xfrm>
          <a:prstGeom prst="rect">
            <a:avLst/>
          </a:prstGeom>
          <a:ln/>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So a person who is low-talent and is a woman has a “double penalty”.</a:t>
            </a:r>
          </a:p>
        </p:txBody>
      </p:sp>
    </p:spTree>
    <p:extLst>
      <p:ext uri="{BB962C8B-B14F-4D97-AF65-F5344CB8AC3E}">
        <p14:creationId xmlns:p14="http://schemas.microsoft.com/office/powerpoint/2010/main" val="2947182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85FC2-72E2-EA30-F666-0DF5A98C0AB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4EEA7837-12D7-8E8A-943D-351A37F25CB7}"/>
                  </a:ext>
                </a:extLst>
              </p:cNvPr>
              <p:cNvGraphicFramePr>
                <a:graphicFrameLocks noGrp="1"/>
              </p:cNvGraphicFramePr>
              <p:nvPr>
                <p:extLst>
                  <p:ext uri="{D42A27DB-BD31-4B8C-83A1-F6EECF244321}">
                    <p14:modId xmlns:p14="http://schemas.microsoft.com/office/powerpoint/2010/main" val="2141052336"/>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endParaRPr lang="en-US" i="1" dirty="0"/>
                        </a:p>
                      </a:txBody>
                      <a:tcP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algn="ctr"/>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algn="ctr"/>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4EEA7837-12D7-8E8A-943D-351A37F25CB7}"/>
                  </a:ext>
                </a:extLst>
              </p:cNvPr>
              <p:cNvGraphicFramePr>
                <a:graphicFrameLocks noGrp="1"/>
              </p:cNvGraphicFramePr>
              <p:nvPr>
                <p:extLst>
                  <p:ext uri="{D42A27DB-BD31-4B8C-83A1-F6EECF244321}">
                    <p14:modId xmlns:p14="http://schemas.microsoft.com/office/powerpoint/2010/main" val="2141052336"/>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pPr algn="ctr"/>
                          <a:endParaRPr lang="en-US" i="1" dirty="0"/>
                        </a:p>
                      </a:txBody>
                      <a:tcP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algn="ctr"/>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algn="ctr"/>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Tree>
    <p:extLst>
      <p:ext uri="{BB962C8B-B14F-4D97-AF65-F5344CB8AC3E}">
        <p14:creationId xmlns:p14="http://schemas.microsoft.com/office/powerpoint/2010/main" val="18796401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C549C-1EEE-7F81-AA29-578F6AF72D1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5FC0B84-A0E1-27DF-B07E-6BD1394142CF}"/>
                  </a:ext>
                </a:extLst>
              </p:cNvPr>
              <p:cNvGraphicFramePr>
                <a:graphicFrameLocks noGrp="1"/>
              </p:cNvGraphicFramePr>
              <p:nvPr>
                <p:extLst>
                  <p:ext uri="{D42A27DB-BD31-4B8C-83A1-F6EECF244321}">
                    <p14:modId xmlns:p14="http://schemas.microsoft.com/office/powerpoint/2010/main" val="247038202"/>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endParaRPr lang="en-US" i="1" dirty="0"/>
                        </a:p>
                      </a:txBody>
                      <a:tcP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algn="ctr"/>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algn="ctr"/>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C5FC0B84-A0E1-27DF-B07E-6BD1394142CF}"/>
                  </a:ext>
                </a:extLst>
              </p:cNvPr>
              <p:cNvGraphicFramePr>
                <a:graphicFrameLocks noGrp="1"/>
              </p:cNvGraphicFramePr>
              <p:nvPr>
                <p:extLst>
                  <p:ext uri="{D42A27DB-BD31-4B8C-83A1-F6EECF244321}">
                    <p14:modId xmlns:p14="http://schemas.microsoft.com/office/powerpoint/2010/main" val="247038202"/>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pPr algn="ctr"/>
                          <a:endParaRPr lang="en-US" i="1" dirty="0"/>
                        </a:p>
                      </a:txBody>
                      <a:tcP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algn="ctr"/>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algn="ctr"/>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1B78DBA1-3F1E-C414-088E-C1F22CB9D91E}"/>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Tree>
    <p:extLst>
      <p:ext uri="{BB962C8B-B14F-4D97-AF65-F5344CB8AC3E}">
        <p14:creationId xmlns:p14="http://schemas.microsoft.com/office/powerpoint/2010/main" val="28283186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576F2-F59C-4EAE-1F06-9F301380DEF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8D41128-FB4C-6582-DC52-E0F3BA8B385A}"/>
                  </a:ext>
                </a:extLst>
              </p:cNvPr>
              <p:cNvGraphicFramePr>
                <a:graphicFrameLocks noGrp="1"/>
              </p:cNvGraphicFramePr>
              <p:nvPr>
                <p:extLst>
                  <p:ext uri="{D42A27DB-BD31-4B8C-83A1-F6EECF244321}">
                    <p14:modId xmlns:p14="http://schemas.microsoft.com/office/powerpoint/2010/main" val="3998203984"/>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1×0=0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endParaRPr lang="en-US" i="1" dirty="0"/>
                        </a:p>
                      </a:txBody>
                      <a:tcP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1×0=0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1×0=0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1×0=0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C8D41128-FB4C-6582-DC52-E0F3BA8B385A}"/>
                  </a:ext>
                </a:extLst>
              </p:cNvPr>
              <p:cNvGraphicFramePr>
                <a:graphicFrameLocks noGrp="1"/>
              </p:cNvGraphicFramePr>
              <p:nvPr>
                <p:extLst>
                  <p:ext uri="{D42A27DB-BD31-4B8C-83A1-F6EECF244321}">
                    <p14:modId xmlns:p14="http://schemas.microsoft.com/office/powerpoint/2010/main" val="3998203984"/>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pPr algn="ctr"/>
                          <a:endParaRPr lang="en-US" i="1" dirty="0"/>
                        </a:p>
                      </a:txBody>
                      <a:tcP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500B81E0-A609-24CF-0FF0-2F5301777FD0}"/>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Tree>
    <p:extLst>
      <p:ext uri="{BB962C8B-B14F-4D97-AF65-F5344CB8AC3E}">
        <p14:creationId xmlns:p14="http://schemas.microsoft.com/office/powerpoint/2010/main" val="28646081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E6C91-CD93-EBE6-A162-CFE2C11293D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4316251F-49E9-0DEB-A896-55D42F165B40}"/>
                  </a:ext>
                </a:extLst>
              </p:cNvPr>
              <p:cNvGraphicFramePr>
                <a:graphicFrameLocks noGrp="1"/>
              </p:cNvGraphicFramePr>
              <p:nvPr>
                <p:extLst>
                  <p:ext uri="{D42A27DB-BD31-4B8C-83A1-F6EECF244321}">
                    <p14:modId xmlns:p14="http://schemas.microsoft.com/office/powerpoint/2010/main" val="329189749"/>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endParaRPr lang="en-US" i="1" dirty="0"/>
                        </a:p>
                      </a:txBody>
                      <a:tcP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4316251F-49E9-0DEB-A896-55D42F165B40}"/>
                  </a:ext>
                </a:extLst>
              </p:cNvPr>
              <p:cNvGraphicFramePr>
                <a:graphicFrameLocks noGrp="1"/>
              </p:cNvGraphicFramePr>
              <p:nvPr>
                <p:extLst>
                  <p:ext uri="{D42A27DB-BD31-4B8C-83A1-F6EECF244321}">
                    <p14:modId xmlns:p14="http://schemas.microsoft.com/office/powerpoint/2010/main" val="329189749"/>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pPr algn="ctr"/>
                          <a:endParaRPr lang="en-US" i="1" dirty="0"/>
                        </a:p>
                      </a:txBody>
                      <a:tcP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264CED63-90B2-D59D-839D-FB0EEB92F6D5}"/>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Tree>
    <p:extLst>
      <p:ext uri="{BB962C8B-B14F-4D97-AF65-F5344CB8AC3E}">
        <p14:creationId xmlns:p14="http://schemas.microsoft.com/office/powerpoint/2010/main" val="4210378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B8EF4-C7D4-FE73-975B-956A75899D5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D3C0C008-96E1-48A5-A749-FE6326282F2B}"/>
                  </a:ext>
                </a:extLst>
              </p:cNvPr>
              <p:cNvGraphicFramePr>
                <a:graphicFrameLocks noGrp="1"/>
              </p:cNvGraphicFramePr>
              <p:nvPr>
                <p:extLst>
                  <p:ext uri="{D42A27DB-BD31-4B8C-83A1-F6EECF244321}">
                    <p14:modId xmlns:p14="http://schemas.microsoft.com/office/powerpoint/2010/main" val="1917034079"/>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𝜆</m:t>
                                </m:r>
                                <m:r>
                                  <a:rPr lang="en-US" sz="1600" b="0" i="1" smtClean="0">
                                    <a:latin typeface="Cambria Math" panose="02040503050406030204" pitchFamily="18" charset="0"/>
                                  </a:rPr>
                                  <m:t>𝑤</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𝐵</m:t>
                                    </m:r>
                                    <m:r>
                                      <a:rPr lang="en-US" sz="1600" b="0" i="1" smtClean="0">
                                        <a:latin typeface="Cambria Math" panose="02040503050406030204" pitchFamily="18" charset="0"/>
                                      </a:rPr>
                                      <m:t>−</m:t>
                                    </m:r>
                                    <m:r>
                                      <a:rPr lang="en-US" sz="1600" b="0" i="1" smtClean="0">
                                        <a:latin typeface="Cambria Math" panose="02040503050406030204" pitchFamily="18" charset="0"/>
                                      </a:rPr>
                                      <m:t>𝐶</m:t>
                                    </m:r>
                                  </m:e>
                                </m:d>
                                <m:r>
                                  <a:rPr lang="en-US" sz="1600" b="0" i="1" smtClean="0">
                                    <a:latin typeface="Cambria Math" panose="02040503050406030204" pitchFamily="18" charset="0"/>
                                  </a:rPr>
                                  <m:t>+(1−</m:t>
                                </m:r>
                                <m:r>
                                  <a:rPr lang="en-US" sz="1600" b="0" i="1" smtClean="0">
                                    <a:latin typeface="Cambria Math" panose="02040503050406030204" pitchFamily="18" charset="0"/>
                                  </a:rPr>
                                  <m:t>𝜆</m:t>
                                </m:r>
                                <m:r>
                                  <a:rPr lang="en-US" sz="1600" b="0" i="1" smtClean="0">
                                    <a:latin typeface="Cambria Math" panose="02040503050406030204" pitchFamily="18" charset="0"/>
                                  </a:rPr>
                                  <m:t>𝑤</m:t>
                                </m:r>
                                <m:r>
                                  <a:rPr lang="en-US" sz="1600" b="0" i="1" smtClean="0">
                                    <a:latin typeface="Cambria Math" panose="02040503050406030204" pitchFamily="18" charset="0"/>
                                  </a:rPr>
                                  <m:t>)(−</m:t>
                                </m:r>
                                <m:r>
                                  <a:rPr lang="en-US" sz="1600" b="0" i="1" smtClean="0">
                                    <a:latin typeface="Cambria Math" panose="02040503050406030204" pitchFamily="18" charset="0"/>
                                  </a:rPr>
                                  <m:t>𝐶</m:t>
                                </m:r>
                                <m:r>
                                  <a:rPr lang="en-US" sz="1600" b="0" i="1" smtClean="0">
                                    <a:latin typeface="Cambria Math" panose="02040503050406030204" pitchFamily="18" charset="0"/>
                                  </a:rPr>
                                  <m:t>)</m:t>
                                </m:r>
                              </m:oMath>
                            </m:oMathPara>
                          </a14:m>
                          <a:endParaRPr lang="en-US" sz="16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D3C0C008-96E1-48A5-A749-FE6326282F2B}"/>
                  </a:ext>
                </a:extLst>
              </p:cNvPr>
              <p:cNvGraphicFramePr>
                <a:graphicFrameLocks noGrp="1"/>
              </p:cNvGraphicFramePr>
              <p:nvPr>
                <p:extLst>
                  <p:ext uri="{D42A27DB-BD31-4B8C-83A1-F6EECF244321}">
                    <p14:modId xmlns:p14="http://schemas.microsoft.com/office/powerpoint/2010/main" val="1917034079"/>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endParaRPr lang="en-US"/>
                        </a:p>
                      </a:txBody>
                      <a:tcPr anchor="ctr">
                        <a:blipFill>
                          <a:blip r:embed="rId2"/>
                          <a:stretch>
                            <a:fillRect l="-304000" t="-104132" r="-842" b="-466116"/>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E630CD7C-3814-093B-8F84-EE049E8D6FD6}"/>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
        <p:nvSpPr>
          <p:cNvPr id="3" name="Rectangle 2">
            <a:extLst>
              <a:ext uri="{FF2B5EF4-FFF2-40B4-BE49-F238E27FC236}">
                <a16:creationId xmlns:a16="http://schemas.microsoft.com/office/drawing/2014/main" id="{EFE72A09-A9FE-EE93-CD8D-58A21D45226A}"/>
              </a:ext>
            </a:extLst>
          </p:cNvPr>
          <p:cNvSpPr/>
          <p:nvPr/>
        </p:nvSpPr>
        <p:spPr>
          <a:xfrm>
            <a:off x="3433482" y="1855694"/>
            <a:ext cx="8373036" cy="788894"/>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34597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B9A73-EBF5-4517-8C84-4395038F295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972CF23-4584-13EB-8A39-9AAC558C74FB}"/>
                  </a:ext>
                </a:extLst>
              </p:cNvPr>
              <p:cNvGraphicFramePr>
                <a:graphicFrameLocks noGrp="1"/>
              </p:cNvGraphicFramePr>
              <p:nvPr>
                <p:extLst>
                  <p:ext uri="{D42A27DB-BD31-4B8C-83A1-F6EECF244321}">
                    <p14:modId xmlns:p14="http://schemas.microsoft.com/office/powerpoint/2010/main" val="1391895340"/>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𝜆</m:t>
                                </m:r>
                                <m:r>
                                  <a:rPr lang="en-US" sz="1600" b="0" i="1" smtClean="0">
                                    <a:latin typeface="Cambria Math" panose="02040503050406030204" pitchFamily="18" charset="0"/>
                                  </a:rPr>
                                  <m:t>𝑤𝐶</m:t>
                                </m:r>
                                <m:r>
                                  <a:rPr lang="en-US" sz="1600" b="0" i="1" smtClean="0">
                                    <a:latin typeface="Cambria Math" panose="02040503050406030204" pitchFamily="18" charset="0"/>
                                  </a:rPr>
                                  <m:t>+(1−</m:t>
                                </m:r>
                                <m:r>
                                  <a:rPr lang="en-US" sz="1600" b="0" i="1" smtClean="0">
                                    <a:latin typeface="Cambria Math" panose="02040503050406030204" pitchFamily="18" charset="0"/>
                                  </a:rPr>
                                  <m:t>𝜆</m:t>
                                </m:r>
                                <m:r>
                                  <a:rPr lang="en-US" sz="1600" b="0" i="1" smtClean="0">
                                    <a:latin typeface="Cambria Math" panose="02040503050406030204" pitchFamily="18" charset="0"/>
                                  </a:rPr>
                                  <m:t>𝑤</m:t>
                                </m:r>
                                <m:r>
                                  <a:rPr lang="en-US" sz="1600" b="0" i="1" smtClean="0">
                                    <a:latin typeface="Cambria Math" panose="02040503050406030204" pitchFamily="18" charset="0"/>
                                  </a:rPr>
                                  <m:t>)(−</m:t>
                                </m:r>
                                <m:r>
                                  <a:rPr lang="en-US" sz="1600" b="0" i="1" smtClean="0">
                                    <a:latin typeface="Cambria Math" panose="02040503050406030204" pitchFamily="18" charset="0"/>
                                  </a:rPr>
                                  <m:t>𝐶</m:t>
                                </m:r>
                                <m:r>
                                  <a:rPr lang="en-US" sz="1600" b="0" i="1" smtClean="0">
                                    <a:latin typeface="Cambria Math" panose="02040503050406030204" pitchFamily="18" charset="0"/>
                                  </a:rPr>
                                  <m:t>)</m:t>
                                </m:r>
                              </m:oMath>
                            </m:oMathPara>
                          </a14:m>
                          <a:endParaRPr lang="en-US" sz="16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1972CF23-4584-13EB-8A39-9AAC558C74FB}"/>
                  </a:ext>
                </a:extLst>
              </p:cNvPr>
              <p:cNvGraphicFramePr>
                <a:graphicFrameLocks noGrp="1"/>
              </p:cNvGraphicFramePr>
              <p:nvPr>
                <p:extLst>
                  <p:ext uri="{D42A27DB-BD31-4B8C-83A1-F6EECF244321}">
                    <p14:modId xmlns:p14="http://schemas.microsoft.com/office/powerpoint/2010/main" val="1391895340"/>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endParaRPr lang="en-US"/>
                        </a:p>
                      </a:txBody>
                      <a:tcPr anchor="ctr">
                        <a:blipFill>
                          <a:blip r:embed="rId2"/>
                          <a:stretch>
                            <a:fillRect l="-304000" t="-104132" r="-842" b="-466116"/>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E1F30A36-2C51-220C-FBDB-6FCBE0C4F210}"/>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
        <p:nvSpPr>
          <p:cNvPr id="3" name="Rectangle 2">
            <a:extLst>
              <a:ext uri="{FF2B5EF4-FFF2-40B4-BE49-F238E27FC236}">
                <a16:creationId xmlns:a16="http://schemas.microsoft.com/office/drawing/2014/main" id="{4615D3EB-5F45-FEF6-1E2D-0E0880737A83}"/>
              </a:ext>
            </a:extLst>
          </p:cNvPr>
          <p:cNvSpPr/>
          <p:nvPr/>
        </p:nvSpPr>
        <p:spPr>
          <a:xfrm>
            <a:off x="3433482" y="1855694"/>
            <a:ext cx="8373036" cy="788894"/>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26771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FF206-1FFC-69B5-6929-95E8470C6E6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E8BE4E8-5F6E-7F3D-96E3-EE10E0B01290}"/>
                  </a:ext>
                </a:extLst>
              </p:cNvPr>
              <p:cNvGraphicFramePr>
                <a:graphicFrameLocks noGrp="1"/>
              </p:cNvGraphicFramePr>
              <p:nvPr>
                <p:extLst>
                  <p:ext uri="{D42A27DB-BD31-4B8C-83A1-F6EECF244321}">
                    <p14:modId xmlns:p14="http://schemas.microsoft.com/office/powerpoint/2010/main" val="2538749622"/>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r>
                                  <a:rPr lang="en-US" sz="1600" b="0" i="1" smtClean="0">
                                    <a:latin typeface="Cambria Math" panose="02040503050406030204" pitchFamily="18" charset="0"/>
                                  </a:rPr>
                                  <m:t>)(</m:t>
                                </m:r>
                                <m:r>
                                  <a:rPr lang="en-US" sz="1600" b="0" i="1" smtClean="0">
                                    <a:latin typeface="Cambria Math" panose="02040503050406030204" pitchFamily="18" charset="0"/>
                                  </a:rPr>
                                  <m:t>𝜆</m:t>
                                </m:r>
                                <m:r>
                                  <a:rPr lang="en-US" sz="1600" b="0" i="1" smtClean="0">
                                    <a:latin typeface="Cambria Math" panose="02040503050406030204" pitchFamily="18" charset="0"/>
                                  </a:rPr>
                                  <m:t>𝑤</m:t>
                                </m:r>
                                <m:r>
                                  <a:rPr lang="en-US" sz="1600" b="0" i="1" smtClean="0">
                                    <a:latin typeface="Cambria Math" panose="02040503050406030204" pitchFamily="18" charset="0"/>
                                  </a:rPr>
                                  <m:t>+1−</m:t>
                                </m:r>
                                <m:r>
                                  <a:rPr lang="en-US" sz="1600" b="0" i="1" smtClean="0">
                                    <a:latin typeface="Cambria Math" panose="02040503050406030204" pitchFamily="18" charset="0"/>
                                  </a:rPr>
                                  <m:t>𝜆</m:t>
                                </m:r>
                                <m:r>
                                  <a:rPr lang="en-US" sz="1600" b="0" i="1" smtClean="0">
                                    <a:latin typeface="Cambria Math" panose="02040503050406030204" pitchFamily="18" charset="0"/>
                                  </a:rPr>
                                  <m:t>𝑤</m:t>
                                </m:r>
                                <m:r>
                                  <a:rPr lang="en-US" sz="1600" b="0" i="1" smtClean="0">
                                    <a:latin typeface="Cambria Math" panose="02040503050406030204" pitchFamily="18" charset="0"/>
                                  </a:rPr>
                                  <m:t>)</m:t>
                                </m:r>
                              </m:oMath>
                            </m:oMathPara>
                          </a14:m>
                          <a:endParaRPr lang="en-US" sz="16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3E8BE4E8-5F6E-7F3D-96E3-EE10E0B01290}"/>
                  </a:ext>
                </a:extLst>
              </p:cNvPr>
              <p:cNvGraphicFramePr>
                <a:graphicFrameLocks noGrp="1"/>
              </p:cNvGraphicFramePr>
              <p:nvPr>
                <p:extLst>
                  <p:ext uri="{D42A27DB-BD31-4B8C-83A1-F6EECF244321}">
                    <p14:modId xmlns:p14="http://schemas.microsoft.com/office/powerpoint/2010/main" val="2538749622"/>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endParaRPr lang="en-US"/>
                        </a:p>
                      </a:txBody>
                      <a:tcPr anchor="ctr">
                        <a:blipFill>
                          <a:blip r:embed="rId2"/>
                          <a:stretch>
                            <a:fillRect l="-304000" t="-104132" r="-842" b="-466116"/>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7FDF7CF6-C133-0257-63F7-DCA3599DE988}"/>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
        <p:nvSpPr>
          <p:cNvPr id="3" name="Rectangle 2">
            <a:extLst>
              <a:ext uri="{FF2B5EF4-FFF2-40B4-BE49-F238E27FC236}">
                <a16:creationId xmlns:a16="http://schemas.microsoft.com/office/drawing/2014/main" id="{98B44E6D-2B90-0BF2-1F4D-F7F1DF7E44EB}"/>
              </a:ext>
            </a:extLst>
          </p:cNvPr>
          <p:cNvSpPr/>
          <p:nvPr/>
        </p:nvSpPr>
        <p:spPr>
          <a:xfrm>
            <a:off x="3433482" y="1855694"/>
            <a:ext cx="8373036" cy="788894"/>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51727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ABC88-857A-0513-916C-8ED804B074B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3BD4DF4-302B-182D-06B4-3F8CB87CDCE4}"/>
                  </a:ext>
                </a:extLst>
              </p:cNvPr>
              <p:cNvGraphicFramePr>
                <a:graphicFrameLocks noGrp="1"/>
              </p:cNvGraphicFramePr>
              <p:nvPr>
                <p:extLst>
                  <p:ext uri="{D42A27DB-BD31-4B8C-83A1-F6EECF244321}">
                    <p14:modId xmlns:p14="http://schemas.microsoft.com/office/powerpoint/2010/main" val="3577926279"/>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E3BD4DF4-302B-182D-06B4-3F8CB87CDCE4}"/>
                  </a:ext>
                </a:extLst>
              </p:cNvPr>
              <p:cNvGraphicFramePr>
                <a:graphicFrameLocks noGrp="1"/>
              </p:cNvGraphicFramePr>
              <p:nvPr>
                <p:extLst>
                  <p:ext uri="{D42A27DB-BD31-4B8C-83A1-F6EECF244321}">
                    <p14:modId xmlns:p14="http://schemas.microsoft.com/office/powerpoint/2010/main" val="3577926279"/>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endParaRPr lang="en-US"/>
                        </a:p>
                      </a:txBody>
                      <a:tcPr anchor="ctr">
                        <a:blipFill>
                          <a:blip r:embed="rId2"/>
                          <a:stretch>
                            <a:fillRect l="-304000" t="-104132" r="-842" b="-466116"/>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F5B829FE-E365-CC58-EED8-86E4E807120D}"/>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
        <p:nvSpPr>
          <p:cNvPr id="3" name="Rectangle 2">
            <a:extLst>
              <a:ext uri="{FF2B5EF4-FFF2-40B4-BE49-F238E27FC236}">
                <a16:creationId xmlns:a16="http://schemas.microsoft.com/office/drawing/2014/main" id="{AFA12F25-76B4-9D41-5A17-F705F23707DA}"/>
              </a:ext>
            </a:extLst>
          </p:cNvPr>
          <p:cNvSpPr/>
          <p:nvPr/>
        </p:nvSpPr>
        <p:spPr>
          <a:xfrm>
            <a:off x="3433482" y="1855694"/>
            <a:ext cx="8373036" cy="788894"/>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80509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7C8F6-F306-96BC-A7B7-2AD924A1873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D847193-035C-0C91-0035-DE12F484DBBC}"/>
                  </a:ext>
                </a:extLst>
              </p:cNvPr>
              <p:cNvGraphicFramePr>
                <a:graphicFrameLocks noGrp="1"/>
              </p:cNvGraphicFramePr>
              <p:nvPr>
                <p:extLst>
                  <p:ext uri="{D42A27DB-BD31-4B8C-83A1-F6EECF244321}">
                    <p14:modId xmlns:p14="http://schemas.microsoft.com/office/powerpoint/2010/main" val="2845592740"/>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9D847193-035C-0C91-0035-DE12F484DBBC}"/>
                  </a:ext>
                </a:extLst>
              </p:cNvPr>
              <p:cNvGraphicFramePr>
                <a:graphicFrameLocks noGrp="1"/>
              </p:cNvGraphicFramePr>
              <p:nvPr>
                <p:extLst>
                  <p:ext uri="{D42A27DB-BD31-4B8C-83A1-F6EECF244321}">
                    <p14:modId xmlns:p14="http://schemas.microsoft.com/office/powerpoint/2010/main" val="2845592740"/>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endParaRPr lang="en-US"/>
                        </a:p>
                      </a:txBody>
                      <a:tcPr anchor="ctr">
                        <a:blipFill>
                          <a:blip r:embed="rId2"/>
                          <a:stretch>
                            <a:fillRect l="-304000" t="-104132" r="-842" b="-466116"/>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201BBF23-2DF9-6C84-93EC-01A29FF74D84}"/>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
        <p:nvSpPr>
          <p:cNvPr id="3" name="Rectangle 2">
            <a:extLst>
              <a:ext uri="{FF2B5EF4-FFF2-40B4-BE49-F238E27FC236}">
                <a16:creationId xmlns:a16="http://schemas.microsoft.com/office/drawing/2014/main" id="{42F808A2-E949-B3C0-3B84-44DABA5644C2}"/>
              </a:ext>
            </a:extLst>
          </p:cNvPr>
          <p:cNvSpPr/>
          <p:nvPr/>
        </p:nvSpPr>
        <p:spPr>
          <a:xfrm>
            <a:off x="3415554" y="2631140"/>
            <a:ext cx="8373036" cy="1080247"/>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662835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15D95-CC20-6470-AA06-1756BB30909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24144D1-627F-3CCA-C46F-ABEFEDD22A4D}"/>
                  </a:ext>
                </a:extLst>
              </p:cNvPr>
              <p:cNvGraphicFramePr>
                <a:graphicFrameLocks noGrp="1"/>
              </p:cNvGraphicFramePr>
              <p:nvPr>
                <p:extLst>
                  <p:ext uri="{D42A27DB-BD31-4B8C-83A1-F6EECF244321}">
                    <p14:modId xmlns:p14="http://schemas.microsoft.com/office/powerpoint/2010/main" val="1577881948"/>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d>
                                  <m:dPr>
                                    <m:ctrlPr>
                                      <a:rPr lang="en-US" b="0" i="1" smtClean="0">
                                        <a:latin typeface="Cambria Math" panose="02040503050406030204" pitchFamily="18" charset="0"/>
                                      </a:rPr>
                                    </m:ctrlPr>
                                  </m:dPr>
                                  <m:e>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𝐶</m:t>
                                    </m:r>
                                  </m:e>
                                </m:d>
                                <m:r>
                                  <a:rPr lang="en-US" b="0" i="1" smtClean="0">
                                    <a:latin typeface="Cambria Math" panose="02040503050406030204" pitchFamily="18" charset="0"/>
                                  </a:rPr>
                                  <m:t>+(1−</m:t>
                                </m:r>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324144D1-627F-3CCA-C46F-ABEFEDD22A4D}"/>
                  </a:ext>
                </a:extLst>
              </p:cNvPr>
              <p:cNvGraphicFramePr>
                <a:graphicFrameLocks noGrp="1"/>
              </p:cNvGraphicFramePr>
              <p:nvPr>
                <p:extLst>
                  <p:ext uri="{D42A27DB-BD31-4B8C-83A1-F6EECF244321}">
                    <p14:modId xmlns:p14="http://schemas.microsoft.com/office/powerpoint/2010/main" val="1577881948"/>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endParaRPr lang="en-US"/>
                        </a:p>
                      </a:txBody>
                      <a:tcPr anchor="ctr">
                        <a:blipFill>
                          <a:blip r:embed="rId2"/>
                          <a:stretch>
                            <a:fillRect l="-304000" t="-104132" r="-842" b="-466116"/>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endParaRPr lang="en-US"/>
                        </a:p>
                      </a:txBody>
                      <a:tcPr anchor="ctr">
                        <a:blipFill>
                          <a:blip r:embed="rId2"/>
                          <a:stretch>
                            <a:fillRect l="-304000" t="-252459" r="-842" b="-31229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A9B26063-34C1-195B-69F7-76CC30FF70AD}"/>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
        <p:nvSpPr>
          <p:cNvPr id="3" name="Rectangle 2">
            <a:extLst>
              <a:ext uri="{FF2B5EF4-FFF2-40B4-BE49-F238E27FC236}">
                <a16:creationId xmlns:a16="http://schemas.microsoft.com/office/drawing/2014/main" id="{3E9D58BB-D500-5105-B24F-2CF003F02BD0}"/>
              </a:ext>
            </a:extLst>
          </p:cNvPr>
          <p:cNvSpPr/>
          <p:nvPr/>
        </p:nvSpPr>
        <p:spPr>
          <a:xfrm>
            <a:off x="3415554" y="2631140"/>
            <a:ext cx="8373036" cy="1080247"/>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042388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BFCD8-A0F6-6EC7-1F3E-D4D46D6038A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0AD194C-21E0-0DEF-7A56-608267DC2AF6}"/>
                  </a:ext>
                </a:extLst>
              </p:cNvPr>
              <p:cNvGraphicFramePr>
                <a:graphicFrameLocks noGrp="1"/>
              </p:cNvGraphicFramePr>
              <p:nvPr>
                <p:extLst>
                  <p:ext uri="{D42A27DB-BD31-4B8C-83A1-F6EECF244321}">
                    <p14:modId xmlns:p14="http://schemas.microsoft.com/office/powerpoint/2010/main" val="936446026"/>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10AD194C-21E0-0DEF-7A56-608267DC2AF6}"/>
                  </a:ext>
                </a:extLst>
              </p:cNvPr>
              <p:cNvGraphicFramePr>
                <a:graphicFrameLocks noGrp="1"/>
              </p:cNvGraphicFramePr>
              <p:nvPr>
                <p:extLst>
                  <p:ext uri="{D42A27DB-BD31-4B8C-83A1-F6EECF244321}">
                    <p14:modId xmlns:p14="http://schemas.microsoft.com/office/powerpoint/2010/main" val="936446026"/>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endParaRPr lang="en-US"/>
                        </a:p>
                      </a:txBody>
                      <a:tcPr anchor="ctr">
                        <a:blipFill>
                          <a:blip r:embed="rId2"/>
                          <a:stretch>
                            <a:fillRect l="-304000" t="-104132" r="-842" b="-466116"/>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endParaRPr lang="en-US"/>
                        </a:p>
                      </a:txBody>
                      <a:tcPr anchor="ctr">
                        <a:blipFill>
                          <a:blip r:embed="rId2"/>
                          <a:stretch>
                            <a:fillRect l="-304000" t="-252459" r="-842" b="-31229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4C6C8CE8-87F7-9B76-19D7-395AE9F2C61D}"/>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
        <p:nvSpPr>
          <p:cNvPr id="3" name="Rectangle 2">
            <a:extLst>
              <a:ext uri="{FF2B5EF4-FFF2-40B4-BE49-F238E27FC236}">
                <a16:creationId xmlns:a16="http://schemas.microsoft.com/office/drawing/2014/main" id="{2469A47C-B397-0062-4609-A66D5C2018DC}"/>
              </a:ext>
            </a:extLst>
          </p:cNvPr>
          <p:cNvSpPr/>
          <p:nvPr/>
        </p:nvSpPr>
        <p:spPr>
          <a:xfrm>
            <a:off x="3415554" y="2631140"/>
            <a:ext cx="8373036" cy="1080247"/>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976979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88739-BEF2-F1E7-B710-9149F3DE082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43328E52-BC65-DE16-E69E-17A58C6F5D52}"/>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43328E52-BC65-DE16-E69E-17A58C6F5D52}"/>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endParaRPr lang="en-US"/>
                        </a:p>
                      </a:txBody>
                      <a:tcPr anchor="ctr">
                        <a:blipFill>
                          <a:blip r:embed="rId2"/>
                          <a:stretch>
                            <a:fillRect l="-304000" t="-104132" r="-842" b="-466116"/>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endParaRPr lang="en-US"/>
                        </a:p>
                      </a:txBody>
                      <a:tcPr anchor="ctr">
                        <a:blipFill>
                          <a:blip r:embed="rId2"/>
                          <a:stretch>
                            <a:fillRect l="-304000" t="-252459" r="-842" b="-31229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pPr algn="ctr"/>
                          <a:endParaRPr lang="en-US" i="1" dirty="0"/>
                        </a:p>
                      </a:txBody>
                      <a:tcP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0</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7A4CE96F-DA73-C290-957D-C781BE6BF9A9}"/>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
        <p:nvSpPr>
          <p:cNvPr id="3" name="Rectangle 2">
            <a:extLst>
              <a:ext uri="{FF2B5EF4-FFF2-40B4-BE49-F238E27FC236}">
                <a16:creationId xmlns:a16="http://schemas.microsoft.com/office/drawing/2014/main" id="{5A9E093E-09D0-A4A7-3F7C-CA4439662F55}"/>
              </a:ext>
            </a:extLst>
          </p:cNvPr>
          <p:cNvSpPr/>
          <p:nvPr/>
        </p:nvSpPr>
        <p:spPr>
          <a:xfrm>
            <a:off x="3415554" y="3733798"/>
            <a:ext cx="8373036" cy="1080247"/>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22103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B6A3B-B68B-2488-CE9A-20DF4264E4F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4407485-BE34-8ABA-AE79-D45F75C25826}"/>
                  </a:ext>
                </a:extLst>
              </p:cNvPr>
              <p:cNvGraphicFramePr>
                <a:graphicFrameLocks noGrp="1"/>
              </p:cNvGraphicFramePr>
              <p:nvPr>
                <p:extLst>
                  <p:ext uri="{D42A27DB-BD31-4B8C-83A1-F6EECF244321}">
                    <p14:modId xmlns:p14="http://schemas.microsoft.com/office/powerpoint/2010/main" val="3332089690"/>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𝐵</m:t>
                                    </m:r>
                                    <m:r>
                                      <a:rPr lang="en-US" sz="1600" b="0" i="1" smtClean="0">
                                        <a:latin typeface="Cambria Math" panose="02040503050406030204" pitchFamily="18" charset="0"/>
                                      </a:rPr>
                                      <m:t>−</m:t>
                                    </m:r>
                                    <m:r>
                                      <a:rPr lang="en-US" sz="1600" b="0" i="1" smtClean="0">
                                        <a:latin typeface="Cambria Math" panose="02040503050406030204" pitchFamily="18" charset="0"/>
                                      </a:rPr>
                                      <m:t>𝐶</m:t>
                                    </m:r>
                                  </m:e>
                                </m:d>
                                <m:r>
                                  <a:rPr lang="en-US" sz="1600" b="0" i="1" smtClean="0">
                                    <a:latin typeface="Cambria Math" panose="02040503050406030204" pitchFamily="18" charset="0"/>
                                  </a:rPr>
                                  <m:t>+(1−</m:t>
                                </m:r>
                                <m:r>
                                  <a:rPr lang="en-US" sz="1600" b="0" i="1" smtClean="0">
                                    <a:latin typeface="Cambria Math" panose="02040503050406030204" pitchFamily="18" charset="0"/>
                                  </a:rPr>
                                  <m:t>𝜇𝜆</m:t>
                                </m:r>
                                <m:r>
                                  <a:rPr lang="en-US" sz="1600" b="0" i="1" smtClean="0">
                                    <a:latin typeface="Cambria Math" panose="02040503050406030204" pitchFamily="18" charset="0"/>
                                  </a:rPr>
                                  <m:t>𝑤</m:t>
                                </m:r>
                                <m:r>
                                  <a:rPr lang="en-US" sz="1600" b="0" i="1" smtClean="0">
                                    <a:latin typeface="Cambria Math" panose="02040503050406030204" pitchFamily="18" charset="0"/>
                                  </a:rPr>
                                  <m:t>)(−</m:t>
                                </m:r>
                                <m:r>
                                  <a:rPr lang="en-US" sz="1600" b="0" i="1" smtClean="0">
                                    <a:latin typeface="Cambria Math" panose="02040503050406030204" pitchFamily="18" charset="0"/>
                                  </a:rPr>
                                  <m:t>𝐶</m:t>
                                </m:r>
                                <m:r>
                                  <a:rPr lang="en-US" sz="1600" b="0" i="1" smtClean="0">
                                    <a:latin typeface="Cambria Math" panose="02040503050406030204" pitchFamily="18" charset="0"/>
                                  </a:rPr>
                                  <m:t>)</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64407485-BE34-8ABA-AE79-D45F75C25826}"/>
                  </a:ext>
                </a:extLst>
              </p:cNvPr>
              <p:cNvGraphicFramePr>
                <a:graphicFrameLocks noGrp="1"/>
              </p:cNvGraphicFramePr>
              <p:nvPr>
                <p:extLst>
                  <p:ext uri="{D42A27DB-BD31-4B8C-83A1-F6EECF244321}">
                    <p14:modId xmlns:p14="http://schemas.microsoft.com/office/powerpoint/2010/main" val="3332089690"/>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endParaRPr lang="en-US"/>
                        </a:p>
                      </a:txBody>
                      <a:tcPr anchor="ctr">
                        <a:blipFill>
                          <a:blip r:embed="rId2"/>
                          <a:stretch>
                            <a:fillRect l="-304000" t="-104132" r="-842" b="-466116"/>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endParaRPr lang="en-US"/>
                        </a:p>
                      </a:txBody>
                      <a:tcPr anchor="ctr">
                        <a:blipFill>
                          <a:blip r:embed="rId2"/>
                          <a:stretch>
                            <a:fillRect l="-304000" t="-252459" r="-842" b="-31229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endParaRPr lang="en-US"/>
                        </a:p>
                      </a:txBody>
                      <a:tcPr anchor="ctr">
                        <a:blipFill>
                          <a:blip r:embed="rId2"/>
                          <a:stretch>
                            <a:fillRect l="-304000" t="-405785" r="-842" b="-164463"/>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3D02E566-8911-32E8-3626-5065459915C4}"/>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
        <p:nvSpPr>
          <p:cNvPr id="3" name="Rectangle 2">
            <a:extLst>
              <a:ext uri="{FF2B5EF4-FFF2-40B4-BE49-F238E27FC236}">
                <a16:creationId xmlns:a16="http://schemas.microsoft.com/office/drawing/2014/main" id="{B7901DB7-18CC-646A-030A-12B4ED61D116}"/>
              </a:ext>
            </a:extLst>
          </p:cNvPr>
          <p:cNvSpPr/>
          <p:nvPr/>
        </p:nvSpPr>
        <p:spPr>
          <a:xfrm>
            <a:off x="3415554" y="3733798"/>
            <a:ext cx="8373036" cy="1080247"/>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599262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034FA-F3E0-730A-D130-2E067740469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B10CC3CF-4175-A82A-149C-8D134604A12A}"/>
                  </a:ext>
                </a:extLst>
              </p:cNvPr>
              <p:cNvGraphicFramePr>
                <a:graphicFrameLocks noGrp="1"/>
              </p:cNvGraphicFramePr>
              <p:nvPr>
                <p:extLst>
                  <p:ext uri="{D42A27DB-BD31-4B8C-83A1-F6EECF244321}">
                    <p14:modId xmlns:p14="http://schemas.microsoft.com/office/powerpoint/2010/main" val="2291911401"/>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B10CC3CF-4175-A82A-149C-8D134604A12A}"/>
                  </a:ext>
                </a:extLst>
              </p:cNvPr>
              <p:cNvGraphicFramePr>
                <a:graphicFrameLocks noGrp="1"/>
              </p:cNvGraphicFramePr>
              <p:nvPr>
                <p:extLst>
                  <p:ext uri="{D42A27DB-BD31-4B8C-83A1-F6EECF244321}">
                    <p14:modId xmlns:p14="http://schemas.microsoft.com/office/powerpoint/2010/main" val="2291911401"/>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endParaRPr lang="en-US"/>
                        </a:p>
                      </a:txBody>
                      <a:tcPr anchor="ctr">
                        <a:blipFill>
                          <a:blip r:embed="rId2"/>
                          <a:stretch>
                            <a:fillRect l="-304000" t="-104132" r="-842" b="-466116"/>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endParaRPr lang="en-US"/>
                        </a:p>
                      </a:txBody>
                      <a:tcPr anchor="ctr">
                        <a:blipFill>
                          <a:blip r:embed="rId2"/>
                          <a:stretch>
                            <a:fillRect l="-304000" t="-252459" r="-842" b="-31229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endParaRPr lang="en-US"/>
                        </a:p>
                      </a:txBody>
                      <a:tcPr anchor="ctr">
                        <a:blipFill>
                          <a:blip r:embed="rId2"/>
                          <a:stretch>
                            <a:fillRect l="-304000" t="-405785" r="-842" b="-164463"/>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BC53A7BF-924B-9A90-7426-666712F603A7}"/>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
        <p:nvSpPr>
          <p:cNvPr id="3" name="Rectangle 2">
            <a:extLst>
              <a:ext uri="{FF2B5EF4-FFF2-40B4-BE49-F238E27FC236}">
                <a16:creationId xmlns:a16="http://schemas.microsoft.com/office/drawing/2014/main" id="{E915D720-9201-2FC7-64DF-592BB91CA8A3}"/>
              </a:ext>
            </a:extLst>
          </p:cNvPr>
          <p:cNvSpPr/>
          <p:nvPr/>
        </p:nvSpPr>
        <p:spPr>
          <a:xfrm>
            <a:off x="3415554" y="3733798"/>
            <a:ext cx="8373036" cy="1080247"/>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66111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93182-73F9-AF79-4783-79965C13B84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A7DCF61-1610-14E3-BA98-FE8718D76554}"/>
                  </a:ext>
                </a:extLst>
              </p:cNvPr>
              <p:cNvGraphicFramePr>
                <a:graphicFrameLocks noGrp="1"/>
              </p:cNvGraphicFramePr>
              <p:nvPr>
                <p:extLst>
                  <p:ext uri="{D42A27DB-BD31-4B8C-83A1-F6EECF244321}">
                    <p14:modId xmlns:p14="http://schemas.microsoft.com/office/powerpoint/2010/main" val="473561336"/>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1A7DCF61-1610-14E3-BA98-FE8718D76554}"/>
                  </a:ext>
                </a:extLst>
              </p:cNvPr>
              <p:cNvGraphicFramePr>
                <a:graphicFrameLocks noGrp="1"/>
              </p:cNvGraphicFramePr>
              <p:nvPr>
                <p:extLst>
                  <p:ext uri="{D42A27DB-BD31-4B8C-83A1-F6EECF244321}">
                    <p14:modId xmlns:p14="http://schemas.microsoft.com/office/powerpoint/2010/main" val="473561336"/>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endParaRPr lang="en-US"/>
                        </a:p>
                      </a:txBody>
                      <a:tcPr anchor="ctr">
                        <a:blipFill>
                          <a:blip r:embed="rId2"/>
                          <a:stretch>
                            <a:fillRect l="-304000" t="-104132" r="-842" b="-466116"/>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endParaRPr lang="en-US"/>
                        </a:p>
                      </a:txBody>
                      <a:tcPr anchor="ctr">
                        <a:blipFill>
                          <a:blip r:embed="rId2"/>
                          <a:stretch>
                            <a:fillRect l="-304000" t="-252459" r="-842" b="-31229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endParaRPr lang="en-US"/>
                        </a:p>
                      </a:txBody>
                      <a:tcPr anchor="ctr">
                        <a:blipFill>
                          <a:blip r:embed="rId2"/>
                          <a:stretch>
                            <a:fillRect l="-304000" t="-405785" r="-842" b="-164463"/>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pPr algn="ctr"/>
                          <a:endParaRPr lang="en-US" i="1" dirty="0"/>
                        </a:p>
                      </a:txBody>
                      <a:tcP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21A2C0E0-C9F2-D4BF-FD62-4AD26011F641}"/>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
        <p:nvSpPr>
          <p:cNvPr id="3" name="Rectangle 2">
            <a:extLst>
              <a:ext uri="{FF2B5EF4-FFF2-40B4-BE49-F238E27FC236}">
                <a16:creationId xmlns:a16="http://schemas.microsoft.com/office/drawing/2014/main" id="{29BF5D00-9517-3CAA-7C66-29CA965F68A6}"/>
              </a:ext>
            </a:extLst>
          </p:cNvPr>
          <p:cNvSpPr/>
          <p:nvPr/>
        </p:nvSpPr>
        <p:spPr>
          <a:xfrm>
            <a:off x="3415554" y="4863195"/>
            <a:ext cx="8373036" cy="1080247"/>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89807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6DCF1-A0C1-D0DA-CA01-79E120F9C13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5B1045EC-27C4-C031-268F-04F010F33C7B}"/>
                  </a:ext>
                </a:extLst>
              </p:cNvPr>
              <p:cNvGraphicFramePr>
                <a:graphicFrameLocks noGrp="1"/>
              </p:cNvGraphicFramePr>
              <p:nvPr>
                <p:extLst>
                  <p:ext uri="{D42A27DB-BD31-4B8C-83A1-F6EECF244321}">
                    <p14:modId xmlns:p14="http://schemas.microsoft.com/office/powerpoint/2010/main" val="2927523318"/>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600" b="0" i="1" smtClean="0">
                                    <a:latin typeface="Cambria Math" panose="02040503050406030204" pitchFamily="18" charset="0"/>
                                  </a:rPr>
                                  <m:t>𝜇</m:t>
                                </m:r>
                                <m:r>
                                  <a:rPr lang="en-US" sz="1600" b="0" i="1" smtClean="0">
                                    <a:latin typeface="Cambria Math" panose="02040503050406030204" pitchFamily="18" charset="0"/>
                                  </a:rPr>
                                  <m:t>𝑤</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𝐵</m:t>
                                    </m:r>
                                    <m:r>
                                      <a:rPr lang="en-US" sz="1600" b="0" i="1" smtClean="0">
                                        <a:latin typeface="Cambria Math" panose="02040503050406030204" pitchFamily="18" charset="0"/>
                                      </a:rPr>
                                      <m:t>−</m:t>
                                    </m:r>
                                    <m:r>
                                      <a:rPr lang="en-US" sz="1600" b="0" i="1" smtClean="0">
                                        <a:latin typeface="Cambria Math" panose="02040503050406030204" pitchFamily="18" charset="0"/>
                                      </a:rPr>
                                      <m:t>𝐶</m:t>
                                    </m:r>
                                  </m:e>
                                </m:d>
                                <m:r>
                                  <a:rPr lang="en-US" sz="1600" b="0" i="1" smtClean="0">
                                    <a:latin typeface="Cambria Math" panose="02040503050406030204" pitchFamily="18" charset="0"/>
                                  </a:rPr>
                                  <m:t>+(1−</m:t>
                                </m:r>
                                <m:r>
                                  <a:rPr lang="en-US" sz="1600" b="0" i="1" smtClean="0">
                                    <a:latin typeface="Cambria Math" panose="02040503050406030204" pitchFamily="18" charset="0"/>
                                  </a:rPr>
                                  <m:t>𝜇</m:t>
                                </m:r>
                                <m:r>
                                  <a:rPr lang="en-US" sz="1600" b="0" i="1" smtClean="0">
                                    <a:latin typeface="Cambria Math" panose="02040503050406030204" pitchFamily="18" charset="0"/>
                                  </a:rPr>
                                  <m:t>𝑤</m:t>
                                </m:r>
                                <m:r>
                                  <a:rPr lang="en-US" sz="1600" b="0" i="1" smtClean="0">
                                    <a:latin typeface="Cambria Math" panose="02040503050406030204" pitchFamily="18" charset="0"/>
                                  </a:rPr>
                                  <m:t>)(−</m:t>
                                </m:r>
                                <m:r>
                                  <a:rPr lang="en-US" sz="1600" b="0" i="1" smtClean="0">
                                    <a:latin typeface="Cambria Math" panose="02040503050406030204" pitchFamily="18" charset="0"/>
                                  </a:rPr>
                                  <m:t>𝐶</m:t>
                                </m:r>
                                <m:r>
                                  <a:rPr lang="en-US" sz="1600" b="0" i="1" smtClean="0">
                                    <a:latin typeface="Cambria Math" panose="02040503050406030204" pitchFamily="18" charset="0"/>
                                  </a:rPr>
                                  <m:t>)</m:t>
                                </m:r>
                              </m:oMath>
                            </m:oMathPara>
                          </a14:m>
                          <a:endParaRPr lang="en-US" sz="16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5B1045EC-27C4-C031-268F-04F010F33C7B}"/>
                  </a:ext>
                </a:extLst>
              </p:cNvPr>
              <p:cNvGraphicFramePr>
                <a:graphicFrameLocks noGrp="1"/>
              </p:cNvGraphicFramePr>
              <p:nvPr>
                <p:extLst>
                  <p:ext uri="{D42A27DB-BD31-4B8C-83A1-F6EECF244321}">
                    <p14:modId xmlns:p14="http://schemas.microsoft.com/office/powerpoint/2010/main" val="2927523318"/>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endParaRPr lang="en-US"/>
                        </a:p>
                      </a:txBody>
                      <a:tcPr anchor="ctr">
                        <a:blipFill>
                          <a:blip r:embed="rId2"/>
                          <a:stretch>
                            <a:fillRect l="-304000" t="-104132" r="-842" b="-466116"/>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endParaRPr lang="en-US"/>
                        </a:p>
                      </a:txBody>
                      <a:tcPr anchor="ctr">
                        <a:blipFill>
                          <a:blip r:embed="rId2"/>
                          <a:stretch>
                            <a:fillRect l="-304000" t="-252459" r="-842" b="-31229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endParaRPr lang="en-US"/>
                        </a:p>
                      </a:txBody>
                      <a:tcPr anchor="ctr">
                        <a:blipFill>
                          <a:blip r:embed="rId2"/>
                          <a:stretch>
                            <a:fillRect l="-304000" t="-405785" r="-842" b="-164463"/>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endParaRPr lang="en-US"/>
                        </a:p>
                      </a:txBody>
                      <a:tcPr anchor="ctr">
                        <a:blipFill>
                          <a:blip r:embed="rId2"/>
                          <a:stretch>
                            <a:fillRect l="-304000" t="-551639" r="-842" b="-13115"/>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A12518A0-94C6-1E89-5C59-E54B82AFB71D}"/>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
        <p:nvSpPr>
          <p:cNvPr id="3" name="Rectangle 2">
            <a:extLst>
              <a:ext uri="{FF2B5EF4-FFF2-40B4-BE49-F238E27FC236}">
                <a16:creationId xmlns:a16="http://schemas.microsoft.com/office/drawing/2014/main" id="{CD3FE868-FB69-68A3-36B6-5AC1971DB9C4}"/>
              </a:ext>
            </a:extLst>
          </p:cNvPr>
          <p:cNvSpPr/>
          <p:nvPr/>
        </p:nvSpPr>
        <p:spPr>
          <a:xfrm>
            <a:off x="3415554" y="4863195"/>
            <a:ext cx="8373036" cy="1080247"/>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10010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A7157-B1EC-FA2C-93FD-1F66A21B189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D0F88CCF-5643-C9C7-230F-5FD1AA83552F}"/>
                  </a:ext>
                </a:extLst>
              </p:cNvPr>
              <p:cNvGraphicFramePr>
                <a:graphicFrameLocks noGrp="1"/>
              </p:cNvGraphicFramePr>
              <p:nvPr>
                <p:extLst>
                  <p:ext uri="{D42A27DB-BD31-4B8C-83A1-F6EECF244321}">
                    <p14:modId xmlns:p14="http://schemas.microsoft.com/office/powerpoint/2010/main" val="3998465751"/>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B-C</a:t>
                          </a:r>
                        </a:p>
                      </a:txBody>
                      <a:tcP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solidFill>
                          <a:schemeClr val="accent2">
                            <a:lumMod val="40000"/>
                            <a:lumOff val="60000"/>
                          </a:schemeClr>
                        </a:solid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B-C</a:t>
                          </a:r>
                        </a:p>
                      </a:txBody>
                      <a:tcP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solidFill>
                          <a:schemeClr val="accent1">
                            <a:lumMod val="20000"/>
                            <a:lumOff val="80000"/>
                          </a:schemeClr>
                        </a:solid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B-C</a:t>
                          </a:r>
                        </a:p>
                      </a:txBody>
                      <a:tcP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solidFill>
                          <a:schemeClr val="tx2"/>
                        </a:solid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D0F88CCF-5643-C9C7-230F-5FD1AA83552F}"/>
                  </a:ext>
                </a:extLst>
              </p:cNvPr>
              <p:cNvGraphicFramePr>
                <a:graphicFrameLocks noGrp="1"/>
              </p:cNvGraphicFramePr>
              <p:nvPr>
                <p:extLst>
                  <p:ext uri="{D42A27DB-BD31-4B8C-83A1-F6EECF244321}">
                    <p14:modId xmlns:p14="http://schemas.microsoft.com/office/powerpoint/2010/main" val="3998465751"/>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tc>
                    <a:tc>
                      <a:txBody>
                        <a:bodyPr/>
                        <a:lstStyle/>
                        <a:p>
                          <a:r>
                            <a:rPr lang="en-US" dirty="0"/>
                            <a:t>Level of Talent</a:t>
                          </a:r>
                        </a:p>
                      </a:txBody>
                      <a:tcPr/>
                    </a:tc>
                    <a:tc>
                      <a:txBody>
                        <a:bodyPr/>
                        <a:lstStyle/>
                        <a:p>
                          <a:r>
                            <a:rPr lang="en-US" dirty="0"/>
                            <a:t>Action</a:t>
                          </a:r>
                        </a:p>
                      </a:txBody>
                      <a:tcPr/>
                    </a:tc>
                    <a:tc>
                      <a:txBody>
                        <a:bodyPr/>
                        <a:lstStyle/>
                        <a:p>
                          <a:r>
                            <a:rPr lang="en-US" dirty="0"/>
                            <a:t>Outcome</a:t>
                          </a:r>
                        </a:p>
                      </a:txBody>
                      <a:tcPr/>
                    </a:tc>
                    <a:tc>
                      <a:txBody>
                        <a:bodyPr/>
                        <a:lstStyle/>
                        <a:p>
                          <a:r>
                            <a:rPr lang="en-US" dirty="0"/>
                            <a:t>Probability</a:t>
                          </a:r>
                        </a:p>
                      </a:txBody>
                      <a:tcPr/>
                    </a:tc>
                    <a:tc>
                      <a:txBody>
                        <a:bodyPr/>
                        <a:lstStyle/>
                        <a:p>
                          <a:r>
                            <a:rPr lang="en-US" dirty="0"/>
                            <a:t>Utility</a:t>
                          </a:r>
                        </a:p>
                      </a:txBody>
                      <a:tcPr/>
                    </a:tc>
                    <a:tc>
                      <a:txBody>
                        <a:bodyPr/>
                        <a:lstStyle/>
                        <a:p>
                          <a:r>
                            <a:rPr lang="en-US" dirty="0"/>
                            <a:t>Expected Utility</a:t>
                          </a:r>
                        </a:p>
                      </a:txBody>
                      <a:tcPr/>
                    </a:tc>
                    <a:extLst>
                      <a:ext uri="{0D108BD9-81ED-4DB2-BD59-A6C34878D82A}">
                        <a16:rowId xmlns:a16="http://schemas.microsoft.com/office/drawing/2014/main" val="1960836433"/>
                      </a:ext>
                    </a:extLst>
                  </a:tr>
                  <a:tr h="370840">
                    <a:tc rowSpan="3">
                      <a:txBody>
                        <a:bodyPr/>
                        <a:lstStyle/>
                        <a:p>
                          <a:r>
                            <a:rPr lang="en-US" dirty="0"/>
                            <a:t>man</a:t>
                          </a:r>
                        </a:p>
                      </a:txBody>
                      <a:tcPr>
                        <a:solidFill>
                          <a:schemeClr val="accent2">
                            <a:lumMod val="40000"/>
                            <a:lumOff val="60000"/>
                          </a:schemeClr>
                        </a:solidFill>
                      </a:tcPr>
                    </a:tc>
                    <a:tc rowSpan="3">
                      <a:txBody>
                        <a:bodyPr/>
                        <a:lstStyle/>
                        <a:p>
                          <a:r>
                            <a:rPr lang="en-US" dirty="0"/>
                            <a:t>low</a:t>
                          </a:r>
                        </a:p>
                      </a:txBody>
                      <a:tcPr>
                        <a:solidFill>
                          <a:schemeClr val="accent2">
                            <a:lumMod val="40000"/>
                            <a:lumOff val="60000"/>
                          </a:schemeClr>
                        </a:solidFill>
                      </a:tcPr>
                    </a:tc>
                    <a:tc>
                      <a:txBody>
                        <a:bodyPr/>
                        <a:lstStyle/>
                        <a:p>
                          <a:r>
                            <a:rPr lang="en-US" dirty="0"/>
                            <a:t>don’t run</a:t>
                          </a:r>
                        </a:p>
                      </a:txBody>
                      <a:tcPr>
                        <a:solidFill>
                          <a:schemeClr val="accent6">
                            <a:lumMod val="20000"/>
                            <a:lumOff val="80000"/>
                          </a:schemeClr>
                        </a:solidFill>
                      </a:tcPr>
                    </a:tc>
                    <a:tc>
                      <a:txBody>
                        <a:bodyPr/>
                        <a:lstStyle/>
                        <a:p>
                          <a:r>
                            <a:rPr lang="en-US" dirty="0"/>
                            <a:t>lose</a:t>
                          </a:r>
                        </a:p>
                      </a:txBody>
                      <a:tcPr>
                        <a:solidFill>
                          <a:schemeClr val="accent2">
                            <a:lumMod val="40000"/>
                            <a:lumOff val="60000"/>
                          </a:schemeClr>
                        </a:solidFill>
                      </a:tcPr>
                    </a:tc>
                    <a:tc>
                      <a:txBody>
                        <a:bodyPr/>
                        <a:lstStyle/>
                        <a:p>
                          <a:pPr algn="ctr"/>
                          <a:r>
                            <a:rPr lang="en-US" dirty="0"/>
                            <a:t>1</a:t>
                          </a:r>
                        </a:p>
                      </a:txBody>
                      <a:tcPr>
                        <a:solidFill>
                          <a:schemeClr val="accent2">
                            <a:lumMod val="40000"/>
                            <a:lumOff val="60000"/>
                          </a:schemeClr>
                        </a:solidFill>
                      </a:tcPr>
                    </a:tc>
                    <a:tc>
                      <a:txBody>
                        <a:bodyPr/>
                        <a:lstStyle/>
                        <a:p>
                          <a:pPr algn="ctr"/>
                          <a:r>
                            <a:rPr lang="en-US" i="1" dirty="0"/>
                            <a:t>0</a:t>
                          </a:r>
                        </a:p>
                      </a:txBody>
                      <a:tcPr>
                        <a:solidFill>
                          <a:schemeClr val="accent2">
                            <a:lumMod val="40000"/>
                            <a:lumOff val="60000"/>
                          </a:schemeClr>
                        </a:solidFill>
                      </a:tcPr>
                    </a:tc>
                    <a:tc>
                      <a:txBody>
                        <a:bodyPr/>
                        <a:lstStyle/>
                        <a:p>
                          <a:endParaRPr lang="en-US"/>
                        </a:p>
                      </a:txBody>
                      <a:tcPr>
                        <a:blipFill>
                          <a:blip r:embed="rId2"/>
                          <a:stretch>
                            <a:fillRect l="-304000" t="-106557" r="-842" b="-1122951"/>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3">
                            <a:lumMod val="20000"/>
                            <a:lumOff val="80000"/>
                          </a:schemeClr>
                        </a:solidFill>
                      </a:tcPr>
                    </a:tc>
                    <a:tc>
                      <a:txBody>
                        <a:bodyPr/>
                        <a:lstStyle/>
                        <a:p>
                          <a:r>
                            <a:rPr lang="en-US" dirty="0"/>
                            <a:t>win</a:t>
                          </a:r>
                        </a:p>
                      </a:txBody>
                      <a:tcPr>
                        <a:solidFill>
                          <a:schemeClr val="accent2">
                            <a:lumMod val="40000"/>
                            <a:lumOff val="60000"/>
                          </a:schemeClr>
                        </a:solidFill>
                      </a:tcPr>
                    </a:tc>
                    <a:tc>
                      <a:txBody>
                        <a:bodyPr/>
                        <a:lstStyle/>
                        <a:p>
                          <a:endParaRPr lang="en-US"/>
                        </a:p>
                      </a:txBody>
                      <a:tcPr>
                        <a:blipFill>
                          <a:blip r:embed="rId2"/>
                          <a:stretch>
                            <a:fillRect l="-382540" t="-206557" r="-280556" b="-1022951"/>
                          </a:stretch>
                        </a:blipFill>
                      </a:tcPr>
                    </a:tc>
                    <a:tc>
                      <a:txBody>
                        <a:bodyPr/>
                        <a:lstStyle/>
                        <a:p>
                          <a:pPr algn="ctr"/>
                          <a:r>
                            <a:rPr lang="en-US" i="1" dirty="0"/>
                            <a:t>B-C</a:t>
                          </a:r>
                        </a:p>
                      </a:txBody>
                      <a:tcPr>
                        <a:solidFill>
                          <a:schemeClr val="accent2">
                            <a:lumMod val="40000"/>
                            <a:lumOff val="60000"/>
                          </a:schemeClr>
                        </a:solidFill>
                      </a:tcPr>
                    </a:tc>
                    <a:tc rowSpan="2">
                      <a:txBody>
                        <a:bodyPr/>
                        <a:lstStyle/>
                        <a:p>
                          <a:endParaRPr lang="en-US"/>
                        </a:p>
                      </a:txBody>
                      <a:tcPr anchor="ctr">
                        <a:blipFill>
                          <a:blip r:embed="rId2"/>
                          <a:stretch>
                            <a:fillRect l="-304000" t="-104132" r="-842" b="-466116"/>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2">
                            <a:lumMod val="40000"/>
                            <a:lumOff val="60000"/>
                          </a:schemeClr>
                        </a:solidFill>
                      </a:tcPr>
                    </a:tc>
                    <a:tc>
                      <a:txBody>
                        <a:bodyPr/>
                        <a:lstStyle/>
                        <a:p>
                          <a:endParaRPr lang="en-US"/>
                        </a:p>
                      </a:txBody>
                      <a:tcPr>
                        <a:blipFill>
                          <a:blip r:embed="rId2"/>
                          <a:stretch>
                            <a:fillRect l="-382540" t="-311667" r="-280556" b="-940000"/>
                          </a:stretch>
                        </a:blipFill>
                      </a:tcPr>
                    </a:tc>
                    <a:tc>
                      <a:txBody>
                        <a:bodyPr/>
                        <a:lstStyle/>
                        <a:p>
                          <a:pPr algn="ctr"/>
                          <a:r>
                            <a:rPr lang="en-US" i="1" dirty="0"/>
                            <a:t>-C</a:t>
                          </a:r>
                        </a:p>
                      </a:txBody>
                      <a:tcP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404918" r="-842" b="-82459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20000"/>
                            <a:lumOff val="8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504918" r="-280556" b="-724590"/>
                          </a:stretch>
                        </a:blipFill>
                      </a:tcPr>
                    </a:tc>
                    <a:tc>
                      <a:txBody>
                        <a:bodyPr/>
                        <a:lstStyle/>
                        <a:p>
                          <a:pPr algn="ctr"/>
                          <a:r>
                            <a:rPr lang="en-US" i="1" dirty="0"/>
                            <a:t>B-C</a:t>
                          </a:r>
                        </a:p>
                      </a:txBody>
                      <a:tcPr>
                        <a:solidFill>
                          <a:schemeClr val="tx2"/>
                        </a:solidFill>
                      </a:tcPr>
                    </a:tc>
                    <a:tc rowSpan="2">
                      <a:txBody>
                        <a:bodyPr/>
                        <a:lstStyle/>
                        <a:p>
                          <a:endParaRPr lang="en-US"/>
                        </a:p>
                      </a:txBody>
                      <a:tcPr anchor="ctr">
                        <a:blipFill>
                          <a:blip r:embed="rId2"/>
                          <a:stretch>
                            <a:fillRect l="-304000" t="-252459" r="-842" b="-31229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604918" r="-280556" b="-62459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solidFill>
                          <a:schemeClr val="accent1">
                            <a:lumMod val="20000"/>
                            <a:lumOff val="80000"/>
                          </a:schemeClr>
                        </a:solidFill>
                      </a:tcPr>
                    </a:tc>
                    <a:tc rowSpan="3">
                      <a:txBody>
                        <a:bodyPr/>
                        <a:lstStyle/>
                        <a:p>
                          <a:r>
                            <a:rPr lang="en-US" dirty="0"/>
                            <a:t>low</a:t>
                          </a:r>
                        </a:p>
                      </a:txBody>
                      <a:tcPr>
                        <a:solidFill>
                          <a:schemeClr val="accent1">
                            <a:lumMod val="20000"/>
                            <a:lumOff val="80000"/>
                          </a:schemeClr>
                        </a:solidFill>
                      </a:tcPr>
                    </a:tc>
                    <a:tc>
                      <a:txBody>
                        <a:bodyPr/>
                        <a:lstStyle/>
                        <a:p>
                          <a:r>
                            <a:rPr lang="en-US" dirty="0"/>
                            <a:t>don’t run</a:t>
                          </a:r>
                        </a:p>
                      </a:txBody>
                      <a:tcPr>
                        <a:solidFill>
                          <a:schemeClr val="accent1">
                            <a:lumMod val="20000"/>
                            <a:lumOff val="80000"/>
                          </a:schemeClr>
                        </a:solidFill>
                      </a:tcPr>
                    </a:tc>
                    <a:tc>
                      <a:txBody>
                        <a:bodyPr/>
                        <a:lstStyle/>
                        <a:p>
                          <a:r>
                            <a:rPr lang="en-US" dirty="0"/>
                            <a:t>lose</a:t>
                          </a:r>
                        </a:p>
                      </a:txBody>
                      <a:tcPr>
                        <a:solidFill>
                          <a:schemeClr val="accent1">
                            <a:lumMod val="20000"/>
                            <a:lumOff val="80000"/>
                          </a:schemeClr>
                        </a:solidFill>
                      </a:tcPr>
                    </a:tc>
                    <a:tc>
                      <a:txBody>
                        <a:bodyPr/>
                        <a:lstStyle/>
                        <a:p>
                          <a:pPr algn="ctr"/>
                          <a:r>
                            <a:rPr lang="en-US" dirty="0"/>
                            <a:t>1</a:t>
                          </a:r>
                        </a:p>
                      </a:txBody>
                      <a:tcPr>
                        <a:solidFill>
                          <a:schemeClr val="accent1">
                            <a:lumMod val="20000"/>
                            <a:lumOff val="80000"/>
                          </a:schemeClr>
                        </a:solidFill>
                      </a:tcPr>
                    </a:tc>
                    <a:tc>
                      <a:txBody>
                        <a:bodyPr/>
                        <a:lstStyle/>
                        <a:p>
                          <a:pPr algn="ctr"/>
                          <a:r>
                            <a:rPr lang="en-US" i="1" dirty="0"/>
                            <a:t>0</a:t>
                          </a:r>
                        </a:p>
                      </a:txBody>
                      <a:tcPr>
                        <a:solidFill>
                          <a:schemeClr val="accent1">
                            <a:lumMod val="20000"/>
                            <a:lumOff val="80000"/>
                          </a:schemeClr>
                        </a:solidFill>
                      </a:tcPr>
                    </a:tc>
                    <a:tc>
                      <a:txBody>
                        <a:bodyPr/>
                        <a:lstStyle/>
                        <a:p>
                          <a:endParaRPr lang="en-US"/>
                        </a:p>
                      </a:txBody>
                      <a:tcPr>
                        <a:blipFill>
                          <a:blip r:embed="rId2"/>
                          <a:stretch>
                            <a:fillRect l="-304000" t="-704918" r="-842" b="-52459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4">
                            <a:lumMod val="60000"/>
                            <a:lumOff val="40000"/>
                          </a:schemeClr>
                        </a:solidFill>
                      </a:tcPr>
                    </a:tc>
                    <a:tc>
                      <a:txBody>
                        <a:bodyPr/>
                        <a:lstStyle/>
                        <a:p>
                          <a:r>
                            <a:rPr lang="en-US" dirty="0"/>
                            <a:t>win</a:t>
                          </a:r>
                        </a:p>
                      </a:txBody>
                      <a:tcPr>
                        <a:solidFill>
                          <a:schemeClr val="accent1">
                            <a:lumMod val="20000"/>
                            <a:lumOff val="80000"/>
                          </a:schemeClr>
                        </a:solidFill>
                      </a:tcPr>
                    </a:tc>
                    <a:tc>
                      <a:txBody>
                        <a:bodyPr/>
                        <a:lstStyle/>
                        <a:p>
                          <a:endParaRPr lang="en-US"/>
                        </a:p>
                      </a:txBody>
                      <a:tcPr>
                        <a:blipFill>
                          <a:blip r:embed="rId2"/>
                          <a:stretch>
                            <a:fillRect l="-382540" t="-804918" r="-280556" b="-424590"/>
                          </a:stretch>
                        </a:blipFill>
                      </a:tcPr>
                    </a:tc>
                    <a:tc>
                      <a:txBody>
                        <a:bodyPr/>
                        <a:lstStyle/>
                        <a:p>
                          <a:pPr algn="ctr"/>
                          <a:r>
                            <a:rPr lang="en-US" i="1" dirty="0"/>
                            <a:t>B-C</a:t>
                          </a:r>
                        </a:p>
                      </a:txBody>
                      <a:tcPr>
                        <a:solidFill>
                          <a:schemeClr val="accent1">
                            <a:lumMod val="20000"/>
                            <a:lumOff val="80000"/>
                          </a:schemeClr>
                        </a:solidFill>
                      </a:tcPr>
                    </a:tc>
                    <a:tc rowSpan="2">
                      <a:txBody>
                        <a:bodyPr/>
                        <a:lstStyle/>
                        <a:p>
                          <a:endParaRPr lang="en-US"/>
                        </a:p>
                      </a:txBody>
                      <a:tcPr anchor="ctr">
                        <a:blipFill>
                          <a:blip r:embed="rId2"/>
                          <a:stretch>
                            <a:fillRect l="-304000" t="-405785" r="-842" b="-164463"/>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accent1">
                            <a:lumMod val="20000"/>
                            <a:lumOff val="80000"/>
                          </a:schemeClr>
                        </a:solidFill>
                      </a:tcPr>
                    </a:tc>
                    <a:tc>
                      <a:txBody>
                        <a:bodyPr/>
                        <a:lstStyle/>
                        <a:p>
                          <a:endParaRPr lang="en-US"/>
                        </a:p>
                      </a:txBody>
                      <a:tcPr>
                        <a:blipFill>
                          <a:blip r:embed="rId2"/>
                          <a:stretch>
                            <a:fillRect l="-382540" t="-920000" r="-280556" b="-331667"/>
                          </a:stretch>
                        </a:blipFill>
                      </a:tcPr>
                    </a:tc>
                    <a:tc>
                      <a:txBody>
                        <a:bodyPr/>
                        <a:lstStyle/>
                        <a:p>
                          <a:pPr algn="ctr"/>
                          <a:r>
                            <a:rPr lang="en-US" i="1" dirty="0"/>
                            <a:t>-C</a:t>
                          </a:r>
                        </a:p>
                      </a:txBody>
                      <a:tcP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solidFill>
                          <a:schemeClr val="tx2"/>
                        </a:solidFill>
                      </a:tcPr>
                    </a:tc>
                    <a:tc rowSpan="3">
                      <a:txBody>
                        <a:bodyPr/>
                        <a:lstStyle/>
                        <a:p>
                          <a:r>
                            <a:rPr lang="en-US" dirty="0"/>
                            <a:t>high</a:t>
                          </a:r>
                        </a:p>
                      </a:txBody>
                      <a:tcPr>
                        <a:solidFill>
                          <a:schemeClr val="tx2"/>
                        </a:solidFill>
                      </a:tcPr>
                    </a:tc>
                    <a:tc>
                      <a:txBody>
                        <a:bodyPr/>
                        <a:lstStyle/>
                        <a:p>
                          <a:r>
                            <a:rPr lang="en-US" dirty="0"/>
                            <a:t>don’t run</a:t>
                          </a:r>
                        </a:p>
                      </a:txBody>
                      <a:tcPr>
                        <a:solidFill>
                          <a:schemeClr val="tx2"/>
                        </a:solidFill>
                      </a:tcPr>
                    </a:tc>
                    <a:tc>
                      <a:txBody>
                        <a:bodyPr/>
                        <a:lstStyle/>
                        <a:p>
                          <a:r>
                            <a:rPr lang="en-US" dirty="0"/>
                            <a:t>lose</a:t>
                          </a:r>
                        </a:p>
                      </a:txBody>
                      <a:tcPr>
                        <a:solidFill>
                          <a:schemeClr val="tx2"/>
                        </a:solidFill>
                      </a:tcPr>
                    </a:tc>
                    <a:tc>
                      <a:txBody>
                        <a:bodyPr/>
                        <a:lstStyle/>
                        <a:p>
                          <a:pPr algn="ctr"/>
                          <a:r>
                            <a:rPr lang="en-US" dirty="0"/>
                            <a:t>1</a:t>
                          </a:r>
                        </a:p>
                      </a:txBody>
                      <a:tcPr>
                        <a:solidFill>
                          <a:schemeClr val="tx2"/>
                        </a:solidFill>
                      </a:tcPr>
                    </a:tc>
                    <a:tc>
                      <a:txBody>
                        <a:bodyPr/>
                        <a:lstStyle/>
                        <a:p>
                          <a:pPr algn="ctr"/>
                          <a:r>
                            <a:rPr lang="en-US" i="1" dirty="0"/>
                            <a:t>0</a:t>
                          </a:r>
                        </a:p>
                      </a:txBody>
                      <a:tcPr>
                        <a:solidFill>
                          <a:schemeClr val="tx2"/>
                        </a:solidFill>
                      </a:tcPr>
                    </a:tc>
                    <a:tc>
                      <a:txBody>
                        <a:bodyPr/>
                        <a:lstStyle/>
                        <a:p>
                          <a:endParaRPr lang="en-US"/>
                        </a:p>
                      </a:txBody>
                      <a:tcPr>
                        <a:blipFill>
                          <a:blip r:embed="rId2"/>
                          <a:stretch>
                            <a:fillRect l="-304000" t="-1003279" r="-842" b="-226230"/>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solidFill>
                          <a:schemeClr val="accent5">
                            <a:lumMod val="40000"/>
                            <a:lumOff val="60000"/>
                          </a:schemeClr>
                        </a:solidFill>
                      </a:tcPr>
                    </a:tc>
                    <a:tc>
                      <a:txBody>
                        <a:bodyPr/>
                        <a:lstStyle/>
                        <a:p>
                          <a:r>
                            <a:rPr lang="en-US" dirty="0"/>
                            <a:t>win</a:t>
                          </a:r>
                        </a:p>
                      </a:txBody>
                      <a:tcPr>
                        <a:solidFill>
                          <a:schemeClr val="tx2"/>
                        </a:solidFill>
                      </a:tcPr>
                    </a:tc>
                    <a:tc>
                      <a:txBody>
                        <a:bodyPr/>
                        <a:lstStyle/>
                        <a:p>
                          <a:endParaRPr lang="en-US"/>
                        </a:p>
                      </a:txBody>
                      <a:tcPr>
                        <a:blipFill>
                          <a:blip r:embed="rId2"/>
                          <a:stretch>
                            <a:fillRect l="-382540" t="-1103279" r="-280556" b="-126230"/>
                          </a:stretch>
                        </a:blipFill>
                      </a:tcPr>
                    </a:tc>
                    <a:tc>
                      <a:txBody>
                        <a:bodyPr/>
                        <a:lstStyle/>
                        <a:p>
                          <a:pPr algn="ctr"/>
                          <a:r>
                            <a:rPr lang="en-US" i="1" dirty="0"/>
                            <a:t>B-C</a:t>
                          </a:r>
                        </a:p>
                      </a:txBody>
                      <a:tcPr>
                        <a:solidFill>
                          <a:schemeClr val="tx2"/>
                        </a:solidFill>
                      </a:tcPr>
                    </a:tc>
                    <a:tc rowSpan="2">
                      <a:txBody>
                        <a:bodyPr/>
                        <a:lstStyle/>
                        <a:p>
                          <a:endParaRPr lang="en-US"/>
                        </a:p>
                      </a:txBody>
                      <a:tcPr anchor="ctr">
                        <a:blipFill>
                          <a:blip r:embed="rId2"/>
                          <a:stretch>
                            <a:fillRect l="-304000" t="-551639" r="-842" b="-13115"/>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solidFill>
                          <a:schemeClr val="tx2"/>
                        </a:solidFill>
                      </a:tcPr>
                    </a:tc>
                    <a:tc>
                      <a:txBody>
                        <a:bodyPr/>
                        <a:lstStyle/>
                        <a:p>
                          <a:endParaRPr lang="en-US"/>
                        </a:p>
                      </a:txBody>
                      <a:tcPr>
                        <a:blipFill>
                          <a:blip r:embed="rId2"/>
                          <a:stretch>
                            <a:fillRect l="-382540" t="-1203279" r="-280556" b="-26230"/>
                          </a:stretch>
                        </a:blipFill>
                      </a:tcPr>
                    </a:tc>
                    <a:tc>
                      <a:txBody>
                        <a:bodyPr/>
                        <a:lstStyle/>
                        <a:p>
                          <a:pPr algn="ctr"/>
                          <a:r>
                            <a:rPr lang="en-US" i="1" dirty="0"/>
                            <a:t>-C</a:t>
                          </a:r>
                        </a:p>
                      </a:txBody>
                      <a:tcP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2" name="TextBox 1">
            <a:extLst>
              <a:ext uri="{FF2B5EF4-FFF2-40B4-BE49-F238E27FC236}">
                <a16:creationId xmlns:a16="http://schemas.microsoft.com/office/drawing/2014/main" id="{386AB79A-4CFC-FAB7-4119-2E546B4A5459}"/>
              </a:ext>
            </a:extLst>
          </p:cNvPr>
          <p:cNvSpPr txBox="1"/>
          <p:nvPr/>
        </p:nvSpPr>
        <p:spPr>
          <a:xfrm>
            <a:off x="98856" y="107576"/>
            <a:ext cx="6275294" cy="92333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dirty="0"/>
              <a:t>Check your understanding: </a:t>
            </a:r>
            <a:r>
              <a:rPr lang="en-US" dirty="0"/>
              <a:t>Apply the expected utility formula to write the expressions for the expected utility from running and not running for each type of candidate</a:t>
            </a:r>
          </a:p>
        </p:txBody>
      </p:sp>
      <p:sp>
        <p:nvSpPr>
          <p:cNvPr id="3" name="Rectangle 2">
            <a:extLst>
              <a:ext uri="{FF2B5EF4-FFF2-40B4-BE49-F238E27FC236}">
                <a16:creationId xmlns:a16="http://schemas.microsoft.com/office/drawing/2014/main" id="{4671E4EF-F604-4BC7-2853-4FAF6A5C5308}"/>
              </a:ext>
            </a:extLst>
          </p:cNvPr>
          <p:cNvSpPr/>
          <p:nvPr/>
        </p:nvSpPr>
        <p:spPr>
          <a:xfrm>
            <a:off x="3415554" y="4863195"/>
            <a:ext cx="8373036" cy="1080247"/>
          </a:xfrm>
          <a:prstGeom prst="rect">
            <a:avLst/>
          </a:prstGeom>
          <a:noFill/>
          <a:ln w="381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60054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3B206-72FE-EBA7-0FDC-4397877D43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32CC8FC-83A1-958E-7214-AABAEEA905BF}"/>
                  </a:ext>
                </a:extLst>
              </p:cNvPr>
              <p:cNvGraphicFramePr>
                <a:graphicFrameLocks noGrp="1"/>
              </p:cNvGraphicFramePr>
              <p:nvPr>
                <p:extLst>
                  <p:ext uri="{D42A27DB-BD31-4B8C-83A1-F6EECF244321}">
                    <p14:modId xmlns:p14="http://schemas.microsoft.com/office/powerpoint/2010/main" val="2234779020"/>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C32CC8FC-83A1-958E-7214-AABAEEA905BF}"/>
                  </a:ext>
                </a:extLst>
              </p:cNvPr>
              <p:cNvGraphicFramePr>
                <a:graphicFrameLocks noGrp="1"/>
              </p:cNvGraphicFramePr>
              <p:nvPr>
                <p:extLst>
                  <p:ext uri="{D42A27DB-BD31-4B8C-83A1-F6EECF244321}">
                    <p14:modId xmlns:p14="http://schemas.microsoft.com/office/powerpoint/2010/main" val="2234779020"/>
                  </p:ext>
                </p:extLst>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Tree>
    <p:extLst>
      <p:ext uri="{BB962C8B-B14F-4D97-AF65-F5344CB8AC3E}">
        <p14:creationId xmlns:p14="http://schemas.microsoft.com/office/powerpoint/2010/main" val="52924443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D61F2-EB3B-DD98-73B5-B43FFBAF433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4F07DB87-B819-6970-89FF-5B5EC81C03C4}"/>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4F07DB87-B819-6970-89FF-5B5EC81C03C4}"/>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17B4D3F-DA66-233B-DB78-38293D7AFADE}"/>
                  </a:ext>
                </a:extLst>
              </p:cNvPr>
              <p:cNvSpPr txBox="1"/>
              <p:nvPr/>
            </p:nvSpPr>
            <p:spPr>
              <a:xfrm>
                <a:off x="403410" y="2832932"/>
                <a:ext cx="4383741" cy="286232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Check your understanding:</a:t>
                </a:r>
              </a:p>
              <a:p>
                <a:endParaRPr lang="en-US" dirty="0"/>
              </a:p>
              <a:p>
                <a:r>
                  <a:rPr lang="en-US" dirty="0"/>
                  <a:t>Write the expression describing the condition under which a low-talent man prefers to run instead of not run.  </a:t>
                </a:r>
              </a:p>
              <a:p>
                <a:endParaRPr lang="en-US" dirty="0"/>
              </a:p>
              <a:p>
                <a:r>
                  <a:rPr lang="en-US" dirty="0"/>
                  <a:t>Then re-arrange the expression so that the low-talent penalty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oMath>
                </a14:m>
                <a:r>
                  <a:rPr lang="en-US" dirty="0"/>
                  <a:t> is by itself on one side of the inequality and all the other parameters are on the other side.</a:t>
                </a:r>
              </a:p>
            </p:txBody>
          </p:sp>
        </mc:Choice>
        <mc:Fallback xmlns="">
          <p:sp>
            <p:nvSpPr>
              <p:cNvPr id="2" name="TextBox 1">
                <a:extLst>
                  <a:ext uri="{FF2B5EF4-FFF2-40B4-BE49-F238E27FC236}">
                    <a16:creationId xmlns:a16="http://schemas.microsoft.com/office/drawing/2014/main" id="{517B4D3F-DA66-233B-DB78-38293D7AFADE}"/>
                  </a:ext>
                </a:extLst>
              </p:cNvPr>
              <p:cNvSpPr txBox="1">
                <a:spLocks noRot="1" noChangeAspect="1" noMove="1" noResize="1" noEditPoints="1" noAdjustHandles="1" noChangeArrowheads="1" noChangeShapeType="1" noTextEdit="1"/>
              </p:cNvSpPr>
              <p:nvPr/>
            </p:nvSpPr>
            <p:spPr>
              <a:xfrm>
                <a:off x="403410" y="2832932"/>
                <a:ext cx="4383741" cy="2862322"/>
              </a:xfrm>
              <a:prstGeom prst="rect">
                <a:avLst/>
              </a:prstGeom>
              <a:blipFill>
                <a:blip r:embed="rId3"/>
                <a:stretch>
                  <a:fillRect l="-970" t="-847" r="-139" b="-2331"/>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2E3D7E58-6727-D22C-917F-D0498576BF4B}"/>
              </a:ext>
            </a:extLst>
          </p:cNvPr>
          <p:cNvSpPr/>
          <p:nvPr/>
        </p:nvSpPr>
        <p:spPr>
          <a:xfrm>
            <a:off x="98856" y="1488141"/>
            <a:ext cx="11689734" cy="1120589"/>
          </a:xfrm>
          <a:prstGeom prst="rect">
            <a:avLst/>
          </a:prstGeom>
          <a:no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25801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C23D1-CA10-ACA2-E2E6-34ADC4C0D8A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E2AF01E-2330-6782-AECD-7D3DBC9D7FF8}"/>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6E2AF01E-2330-6782-AECD-7D3DBC9D7FF8}"/>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C8EF7FF-D8C7-9895-2051-4FB36DD13565}"/>
                  </a:ext>
                </a:extLst>
              </p:cNvPr>
              <p:cNvSpPr txBox="1"/>
              <p:nvPr/>
            </p:nvSpPr>
            <p:spPr>
              <a:xfrm>
                <a:off x="403410" y="2832932"/>
                <a:ext cx="4383741" cy="286232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Check your understanding:</a:t>
                </a:r>
              </a:p>
              <a:p>
                <a:endParaRPr lang="en-US" dirty="0"/>
              </a:p>
              <a:p>
                <a:r>
                  <a:rPr lang="en-US" dirty="0"/>
                  <a:t>Write the expression describing the condition under which a low-talent man prefers to run instead of not run.  </a:t>
                </a:r>
              </a:p>
              <a:p>
                <a:endParaRPr lang="en-US" dirty="0"/>
              </a:p>
              <a:p>
                <a:r>
                  <a:rPr lang="en-US" dirty="0"/>
                  <a:t>Then re-arrange the expression so that the low-talent penalty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oMath>
                </a14:m>
                <a:r>
                  <a:rPr lang="en-US" dirty="0"/>
                  <a:t> is by itself on one side of the inequality and all the other parameters are on the other side.</a:t>
                </a:r>
              </a:p>
            </p:txBody>
          </p:sp>
        </mc:Choice>
        <mc:Fallback xmlns="">
          <p:sp>
            <p:nvSpPr>
              <p:cNvPr id="2" name="TextBox 1">
                <a:extLst>
                  <a:ext uri="{FF2B5EF4-FFF2-40B4-BE49-F238E27FC236}">
                    <a16:creationId xmlns:a16="http://schemas.microsoft.com/office/drawing/2014/main" id="{5C8EF7FF-D8C7-9895-2051-4FB36DD13565}"/>
                  </a:ext>
                </a:extLst>
              </p:cNvPr>
              <p:cNvSpPr txBox="1">
                <a:spLocks noRot="1" noChangeAspect="1" noMove="1" noResize="1" noEditPoints="1" noAdjustHandles="1" noChangeArrowheads="1" noChangeShapeType="1" noTextEdit="1"/>
              </p:cNvSpPr>
              <p:nvPr/>
            </p:nvSpPr>
            <p:spPr>
              <a:xfrm>
                <a:off x="403410" y="2832932"/>
                <a:ext cx="4383741" cy="2862322"/>
              </a:xfrm>
              <a:prstGeom prst="rect">
                <a:avLst/>
              </a:prstGeom>
              <a:blipFill>
                <a:blip r:embed="rId3"/>
                <a:stretch>
                  <a:fillRect l="-970" t="-847" r="-139" b="-2331"/>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8068BC89-12B4-1191-9432-AEEFA2B3A2F7}"/>
              </a:ext>
            </a:extLst>
          </p:cNvPr>
          <p:cNvSpPr/>
          <p:nvPr/>
        </p:nvSpPr>
        <p:spPr>
          <a:xfrm>
            <a:off x="98856" y="1488141"/>
            <a:ext cx="11689734" cy="1120589"/>
          </a:xfrm>
          <a:prstGeom prst="rect">
            <a:avLst/>
          </a:prstGeom>
          <a:no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9A8DC9A-F1BA-8E22-54E1-7439612A5AF2}"/>
                  </a:ext>
                </a:extLst>
              </p:cNvPr>
              <p:cNvSpPr txBox="1"/>
              <p:nvPr/>
            </p:nvSpPr>
            <p:spPr>
              <a:xfrm>
                <a:off x="6535268" y="2873156"/>
                <a:ext cx="4383741"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𝐸𝑈</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run</m:t>
                          </m:r>
                        </m:e>
                      </m:d>
                      <m:r>
                        <a:rPr lang="en-US" b="0" i="1" smtClean="0">
                          <a:latin typeface="Cambria Math" panose="02040503050406030204" pitchFamily="18" charset="0"/>
                        </a:rPr>
                        <m:t>≥</m:t>
                      </m:r>
                      <m:r>
                        <a:rPr lang="en-US" b="0" i="1" smtClean="0">
                          <a:latin typeface="Cambria Math" panose="02040503050406030204" pitchFamily="18" charset="0"/>
                        </a:rPr>
                        <m:t>𝐸𝑈</m:t>
                      </m:r>
                      <m:r>
                        <a:rPr lang="en-US" b="0" i="1" smtClean="0">
                          <a:latin typeface="Cambria Math" panose="02040503050406030204" pitchFamily="18" charset="0"/>
                        </a:rPr>
                        <m:t>(</m:t>
                      </m:r>
                      <m:r>
                        <m:rPr>
                          <m:nor/>
                        </m:rPr>
                        <a:rPr lang="en-US" b="0" i="0" smtClean="0">
                          <a:latin typeface="Cambria Math" panose="02040503050406030204" pitchFamily="18" charset="0"/>
                        </a:rPr>
                        <m:t>don</m:t>
                      </m:r>
                      <m:r>
                        <m:rPr>
                          <m:nor/>
                        </m:rPr>
                        <a:rPr lang="en-US" b="0" i="0" smtClean="0">
                          <a:latin typeface="Cambria Math" panose="02040503050406030204" pitchFamily="18" charset="0"/>
                        </a:rPr>
                        <m:t>′</m:t>
                      </m:r>
                      <m:r>
                        <m:rPr>
                          <m:nor/>
                        </m:rPr>
                        <a:rPr lang="en-US" b="0" i="0" smtClean="0">
                          <a:latin typeface="Cambria Math" panose="02040503050406030204" pitchFamily="18" charset="0"/>
                        </a:rPr>
                        <m:t>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r>
                        <a:rPr lang="en-US" b="0" i="1" smtClean="0">
                          <a:latin typeface="Cambria Math" panose="02040503050406030204" pitchFamily="18" charset="0"/>
                        </a:rPr>
                        <m:t>)</m:t>
                      </m:r>
                    </m:oMath>
                  </m:oMathPara>
                </a14:m>
                <a:endParaRPr lang="en-US" dirty="0"/>
              </a:p>
            </p:txBody>
          </p:sp>
        </mc:Choice>
        <mc:Fallback xmlns="">
          <p:sp>
            <p:nvSpPr>
              <p:cNvPr id="5" name="TextBox 4">
                <a:extLst>
                  <a:ext uri="{FF2B5EF4-FFF2-40B4-BE49-F238E27FC236}">
                    <a16:creationId xmlns:a16="http://schemas.microsoft.com/office/drawing/2014/main" id="{D9A8DC9A-F1BA-8E22-54E1-7439612A5AF2}"/>
                  </a:ext>
                </a:extLst>
              </p:cNvPr>
              <p:cNvSpPr txBox="1">
                <a:spLocks noRot="1" noChangeAspect="1" noMove="1" noResize="1" noEditPoints="1" noAdjustHandles="1" noChangeArrowheads="1" noChangeShapeType="1" noTextEdit="1"/>
              </p:cNvSpPr>
              <p:nvPr/>
            </p:nvSpPr>
            <p:spPr>
              <a:xfrm>
                <a:off x="6535268" y="2873156"/>
                <a:ext cx="4383741" cy="369332"/>
              </a:xfrm>
              <a:prstGeom prst="rect">
                <a:avLst/>
              </a:prstGeom>
              <a:blipFill>
                <a:blip r:embed="rId4"/>
                <a:stretch>
                  <a:fillRect b="-9375"/>
                </a:stretch>
              </a:blipFill>
            </p:spPr>
            <p:txBody>
              <a:bodyPr/>
              <a:lstStyle/>
              <a:p>
                <a:r>
                  <a:rPr lang="en-US">
                    <a:noFill/>
                  </a:rPr>
                  <a:t> </a:t>
                </a:r>
              </a:p>
            </p:txBody>
          </p:sp>
        </mc:Fallback>
      </mc:AlternateContent>
    </p:spTree>
    <p:extLst>
      <p:ext uri="{BB962C8B-B14F-4D97-AF65-F5344CB8AC3E}">
        <p14:creationId xmlns:p14="http://schemas.microsoft.com/office/powerpoint/2010/main" val="24115594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8F11-AEEB-F296-CE55-9C5C7EAE40C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F6A24D96-2C90-89D6-FD62-07C48BE6985E}"/>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F6A24D96-2C90-89D6-FD62-07C48BE6985E}"/>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3DA530D-E055-C99C-490A-90A710E6A04D}"/>
                  </a:ext>
                </a:extLst>
              </p:cNvPr>
              <p:cNvSpPr txBox="1"/>
              <p:nvPr/>
            </p:nvSpPr>
            <p:spPr>
              <a:xfrm>
                <a:off x="403410" y="2832932"/>
                <a:ext cx="4383741" cy="286232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Check your understanding:</a:t>
                </a:r>
              </a:p>
              <a:p>
                <a:endParaRPr lang="en-US" dirty="0"/>
              </a:p>
              <a:p>
                <a:r>
                  <a:rPr lang="en-US" dirty="0"/>
                  <a:t>Write the expression describing the condition under which a low-talent man prefers to run instead of not run.  </a:t>
                </a:r>
              </a:p>
              <a:p>
                <a:endParaRPr lang="en-US" dirty="0"/>
              </a:p>
              <a:p>
                <a:r>
                  <a:rPr lang="en-US" dirty="0"/>
                  <a:t>Then re-arrange the expression so that the low-talent penalty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oMath>
                </a14:m>
                <a:r>
                  <a:rPr lang="en-US" dirty="0"/>
                  <a:t> is by itself on one side of the inequality and all the other parameters are on the other side.</a:t>
                </a:r>
              </a:p>
            </p:txBody>
          </p:sp>
        </mc:Choice>
        <mc:Fallback xmlns="">
          <p:sp>
            <p:nvSpPr>
              <p:cNvPr id="2" name="TextBox 1">
                <a:extLst>
                  <a:ext uri="{FF2B5EF4-FFF2-40B4-BE49-F238E27FC236}">
                    <a16:creationId xmlns:a16="http://schemas.microsoft.com/office/drawing/2014/main" id="{D3DA530D-E055-C99C-490A-90A710E6A04D}"/>
                  </a:ext>
                </a:extLst>
              </p:cNvPr>
              <p:cNvSpPr txBox="1">
                <a:spLocks noRot="1" noChangeAspect="1" noMove="1" noResize="1" noEditPoints="1" noAdjustHandles="1" noChangeArrowheads="1" noChangeShapeType="1" noTextEdit="1"/>
              </p:cNvSpPr>
              <p:nvPr/>
            </p:nvSpPr>
            <p:spPr>
              <a:xfrm>
                <a:off x="403410" y="2832932"/>
                <a:ext cx="4383741" cy="2862322"/>
              </a:xfrm>
              <a:prstGeom prst="rect">
                <a:avLst/>
              </a:prstGeom>
              <a:blipFill>
                <a:blip r:embed="rId3"/>
                <a:stretch>
                  <a:fillRect l="-970" t="-847" r="-139" b="-2331"/>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10DBDE80-A68D-7937-A5BF-3B639FD8839B}"/>
              </a:ext>
            </a:extLst>
          </p:cNvPr>
          <p:cNvSpPr/>
          <p:nvPr/>
        </p:nvSpPr>
        <p:spPr>
          <a:xfrm>
            <a:off x="98856" y="1488141"/>
            <a:ext cx="11689734" cy="1120589"/>
          </a:xfrm>
          <a:prstGeom prst="rect">
            <a:avLst/>
          </a:prstGeom>
          <a:no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D763F10-AFD2-B8C4-D7A2-A1C729188505}"/>
                  </a:ext>
                </a:extLst>
              </p:cNvPr>
              <p:cNvSpPr txBox="1"/>
              <p:nvPr/>
            </p:nvSpPr>
            <p:spPr>
              <a:xfrm>
                <a:off x="6535268" y="2873156"/>
                <a:ext cx="438374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𝐸𝑈</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run</m:t>
                          </m:r>
                        </m:e>
                      </m:d>
                      <m:r>
                        <a:rPr lang="en-US" b="0" i="1" smtClean="0">
                          <a:latin typeface="Cambria Math" panose="02040503050406030204" pitchFamily="18" charset="0"/>
                        </a:rPr>
                        <m:t>≥</m:t>
                      </m:r>
                      <m:r>
                        <a:rPr lang="en-US" b="0" i="1" smtClean="0">
                          <a:latin typeface="Cambria Math" panose="02040503050406030204" pitchFamily="18" charset="0"/>
                        </a:rPr>
                        <m:t>𝐸𝑈</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don</m:t>
                          </m:r>
                          <m:r>
                            <m:rPr>
                              <m:nor/>
                            </m:rPr>
                            <a:rPr lang="en-US" b="0" i="0" smtClean="0">
                              <a:latin typeface="Cambria Math" panose="02040503050406030204" pitchFamily="18" charset="0"/>
                            </a:rPr>
                            <m:t>′</m:t>
                          </m:r>
                          <m:r>
                            <m:rPr>
                              <m:nor/>
                            </m:rPr>
                            <a:rPr lang="en-US" b="0" i="0" smtClean="0">
                              <a:latin typeface="Cambria Math" panose="02040503050406030204" pitchFamily="18" charset="0"/>
                            </a:rPr>
                            <m:t>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d>
                    </m:oMath>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p:txBody>
          </p:sp>
        </mc:Choice>
        <mc:Fallback xmlns="">
          <p:sp>
            <p:nvSpPr>
              <p:cNvPr id="5" name="TextBox 4">
                <a:extLst>
                  <a:ext uri="{FF2B5EF4-FFF2-40B4-BE49-F238E27FC236}">
                    <a16:creationId xmlns:a16="http://schemas.microsoft.com/office/drawing/2014/main" id="{ED763F10-AFD2-B8C4-D7A2-A1C729188505}"/>
                  </a:ext>
                </a:extLst>
              </p:cNvPr>
              <p:cNvSpPr txBox="1">
                <a:spLocks noRot="1" noChangeAspect="1" noMove="1" noResize="1" noEditPoints="1" noAdjustHandles="1" noChangeArrowheads="1" noChangeShapeType="1" noTextEdit="1"/>
              </p:cNvSpPr>
              <p:nvPr/>
            </p:nvSpPr>
            <p:spPr>
              <a:xfrm>
                <a:off x="6535268" y="2873156"/>
                <a:ext cx="4383741" cy="64633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863793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12ACB-0E2A-3F3E-3589-7D6298A2AB6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7F858E73-1CE4-3240-74A4-176838E7CAE2}"/>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7F858E73-1CE4-3240-74A4-176838E7CAE2}"/>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ABBEF8A-DB4D-9FDD-0F6E-E829E6B45302}"/>
                  </a:ext>
                </a:extLst>
              </p:cNvPr>
              <p:cNvSpPr txBox="1"/>
              <p:nvPr/>
            </p:nvSpPr>
            <p:spPr>
              <a:xfrm>
                <a:off x="403410" y="2832932"/>
                <a:ext cx="4383741" cy="286232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Check your understanding:</a:t>
                </a:r>
              </a:p>
              <a:p>
                <a:endParaRPr lang="en-US" dirty="0"/>
              </a:p>
              <a:p>
                <a:r>
                  <a:rPr lang="en-US" dirty="0"/>
                  <a:t>Write the expression describing the condition under which a low-talent man prefers to run instead of not run.  </a:t>
                </a:r>
              </a:p>
              <a:p>
                <a:endParaRPr lang="en-US" dirty="0"/>
              </a:p>
              <a:p>
                <a:r>
                  <a:rPr lang="en-US" dirty="0"/>
                  <a:t>Then re-arrange the expression so that the low-talent penalty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oMath>
                </a14:m>
                <a:r>
                  <a:rPr lang="en-US" dirty="0"/>
                  <a:t> is by itself on one side of the inequality and all the other parameters are on the other side.</a:t>
                </a:r>
              </a:p>
            </p:txBody>
          </p:sp>
        </mc:Choice>
        <mc:Fallback xmlns="">
          <p:sp>
            <p:nvSpPr>
              <p:cNvPr id="2" name="TextBox 1">
                <a:extLst>
                  <a:ext uri="{FF2B5EF4-FFF2-40B4-BE49-F238E27FC236}">
                    <a16:creationId xmlns:a16="http://schemas.microsoft.com/office/drawing/2014/main" id="{DABBEF8A-DB4D-9FDD-0F6E-E829E6B45302}"/>
                  </a:ext>
                </a:extLst>
              </p:cNvPr>
              <p:cNvSpPr txBox="1">
                <a:spLocks noRot="1" noChangeAspect="1" noMove="1" noResize="1" noEditPoints="1" noAdjustHandles="1" noChangeArrowheads="1" noChangeShapeType="1" noTextEdit="1"/>
              </p:cNvSpPr>
              <p:nvPr/>
            </p:nvSpPr>
            <p:spPr>
              <a:xfrm>
                <a:off x="403410" y="2832932"/>
                <a:ext cx="4383741" cy="2862322"/>
              </a:xfrm>
              <a:prstGeom prst="rect">
                <a:avLst/>
              </a:prstGeom>
              <a:blipFill>
                <a:blip r:embed="rId3"/>
                <a:stretch>
                  <a:fillRect l="-970" t="-847" r="-139" b="-2331"/>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AAA1D46B-095A-9825-EF9D-608F991CA5D8}"/>
              </a:ext>
            </a:extLst>
          </p:cNvPr>
          <p:cNvSpPr/>
          <p:nvPr/>
        </p:nvSpPr>
        <p:spPr>
          <a:xfrm>
            <a:off x="98856" y="1488141"/>
            <a:ext cx="11689734" cy="1120589"/>
          </a:xfrm>
          <a:prstGeom prst="rect">
            <a:avLst/>
          </a:prstGeom>
          <a:no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223099A-735B-E65D-64BC-80740CC7E8DE}"/>
                  </a:ext>
                </a:extLst>
              </p:cNvPr>
              <p:cNvSpPr txBox="1"/>
              <p:nvPr/>
            </p:nvSpPr>
            <p:spPr>
              <a:xfrm>
                <a:off x="6535268" y="2873156"/>
                <a:ext cx="4383741" cy="92333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𝐸𝑈</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run</m:t>
                          </m:r>
                        </m:e>
                      </m:d>
                      <m:r>
                        <a:rPr lang="en-US" b="0" i="1" smtClean="0">
                          <a:latin typeface="Cambria Math" panose="02040503050406030204" pitchFamily="18" charset="0"/>
                        </a:rPr>
                        <m:t>≥</m:t>
                      </m:r>
                      <m:r>
                        <a:rPr lang="en-US" b="0" i="1" smtClean="0">
                          <a:latin typeface="Cambria Math" panose="02040503050406030204" pitchFamily="18" charset="0"/>
                        </a:rPr>
                        <m:t>𝐸𝑈</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don</m:t>
                          </m:r>
                          <m:r>
                            <m:rPr>
                              <m:nor/>
                            </m:rPr>
                            <a:rPr lang="en-US" b="0" i="0" smtClean="0">
                              <a:latin typeface="Cambria Math" panose="02040503050406030204" pitchFamily="18" charset="0"/>
                            </a:rPr>
                            <m:t>′</m:t>
                          </m:r>
                          <m:r>
                            <m:rPr>
                              <m:nor/>
                            </m:rPr>
                            <a:rPr lang="en-US" b="0" i="0" smtClean="0">
                              <a:latin typeface="Cambria Math" panose="02040503050406030204" pitchFamily="18" charset="0"/>
                            </a:rPr>
                            <m:t>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d>
                    </m:oMath>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dirty="0"/>
              </a:p>
            </p:txBody>
          </p:sp>
        </mc:Choice>
        <mc:Fallback xmlns="">
          <p:sp>
            <p:nvSpPr>
              <p:cNvPr id="5" name="TextBox 4">
                <a:extLst>
                  <a:ext uri="{FF2B5EF4-FFF2-40B4-BE49-F238E27FC236}">
                    <a16:creationId xmlns:a16="http://schemas.microsoft.com/office/drawing/2014/main" id="{6223099A-735B-E65D-64BC-80740CC7E8DE}"/>
                  </a:ext>
                </a:extLst>
              </p:cNvPr>
              <p:cNvSpPr txBox="1">
                <a:spLocks noRot="1" noChangeAspect="1" noMove="1" noResize="1" noEditPoints="1" noAdjustHandles="1" noChangeArrowheads="1" noChangeShapeType="1" noTextEdit="1"/>
              </p:cNvSpPr>
              <p:nvPr/>
            </p:nvSpPr>
            <p:spPr>
              <a:xfrm>
                <a:off x="6535268" y="2873156"/>
                <a:ext cx="4383741" cy="92333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363945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FFA65-0FAB-C2BC-F9D8-1E94524C84F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C5A079A-1E76-440E-986F-85E05302C308}"/>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3C5A079A-1E76-440E-986F-85E05302C308}"/>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180FCD0-92B1-BE88-443A-290A307F06B0}"/>
                  </a:ext>
                </a:extLst>
              </p:cNvPr>
              <p:cNvSpPr txBox="1"/>
              <p:nvPr/>
            </p:nvSpPr>
            <p:spPr>
              <a:xfrm>
                <a:off x="403410" y="2832932"/>
                <a:ext cx="4383741" cy="286232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dirty="0"/>
                  <a:t>Check your understanding:</a:t>
                </a:r>
              </a:p>
              <a:p>
                <a:endParaRPr lang="en-US" dirty="0"/>
              </a:p>
              <a:p>
                <a:r>
                  <a:rPr lang="en-US" dirty="0"/>
                  <a:t>Write the expression describing the condition under which a low-talent man prefers to run instead of not run.  </a:t>
                </a:r>
              </a:p>
              <a:p>
                <a:endParaRPr lang="en-US" dirty="0"/>
              </a:p>
              <a:p>
                <a:r>
                  <a:rPr lang="en-US" dirty="0"/>
                  <a:t>Then re-arrange the expression so that the low-talent penalty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oMath>
                </a14:m>
                <a:r>
                  <a:rPr lang="en-US" dirty="0"/>
                  <a:t> is by itself on one side of the inequality and all the other parameters are on the other side.</a:t>
                </a:r>
              </a:p>
            </p:txBody>
          </p:sp>
        </mc:Choice>
        <mc:Fallback xmlns="">
          <p:sp>
            <p:nvSpPr>
              <p:cNvPr id="2" name="TextBox 1">
                <a:extLst>
                  <a:ext uri="{FF2B5EF4-FFF2-40B4-BE49-F238E27FC236}">
                    <a16:creationId xmlns:a16="http://schemas.microsoft.com/office/drawing/2014/main" id="{6180FCD0-92B1-BE88-443A-290A307F06B0}"/>
                  </a:ext>
                </a:extLst>
              </p:cNvPr>
              <p:cNvSpPr txBox="1">
                <a:spLocks noRot="1" noChangeAspect="1" noMove="1" noResize="1" noEditPoints="1" noAdjustHandles="1" noChangeArrowheads="1" noChangeShapeType="1" noTextEdit="1"/>
              </p:cNvSpPr>
              <p:nvPr/>
            </p:nvSpPr>
            <p:spPr>
              <a:xfrm>
                <a:off x="403410" y="2832932"/>
                <a:ext cx="4383741" cy="2862322"/>
              </a:xfrm>
              <a:prstGeom prst="rect">
                <a:avLst/>
              </a:prstGeom>
              <a:blipFill>
                <a:blip r:embed="rId3"/>
                <a:stretch>
                  <a:fillRect l="-970" t="-847" r="-139" b="-2331"/>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7EFD4D5D-D506-F20D-7772-0C229D311165}"/>
              </a:ext>
            </a:extLst>
          </p:cNvPr>
          <p:cNvSpPr/>
          <p:nvPr/>
        </p:nvSpPr>
        <p:spPr>
          <a:xfrm>
            <a:off x="98856" y="1488141"/>
            <a:ext cx="11689734" cy="1120589"/>
          </a:xfrm>
          <a:prstGeom prst="rect">
            <a:avLst/>
          </a:prstGeom>
          <a:no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748C635-3304-AABF-F8D1-61DE3AB683D3}"/>
                  </a:ext>
                </a:extLst>
              </p:cNvPr>
              <p:cNvSpPr txBox="1"/>
              <p:nvPr/>
            </p:nvSpPr>
            <p:spPr>
              <a:xfrm>
                <a:off x="6535268" y="2873156"/>
                <a:ext cx="4383741" cy="1465786"/>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𝐸𝑈</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run</m:t>
                          </m:r>
                        </m:e>
                      </m:d>
                      <m:r>
                        <a:rPr lang="en-US" b="0" i="1" smtClean="0">
                          <a:latin typeface="Cambria Math" panose="02040503050406030204" pitchFamily="18" charset="0"/>
                        </a:rPr>
                        <m:t>≥</m:t>
                      </m:r>
                      <m:r>
                        <a:rPr lang="en-US" b="0" i="1" smtClean="0">
                          <a:latin typeface="Cambria Math" panose="02040503050406030204" pitchFamily="18" charset="0"/>
                        </a:rPr>
                        <m:t>𝐸𝑈</m:t>
                      </m:r>
                      <m:d>
                        <m:dPr>
                          <m:ctrlPr>
                            <a:rPr lang="en-US" b="0" i="1" smtClean="0">
                              <a:latin typeface="Cambria Math" panose="02040503050406030204" pitchFamily="18" charset="0"/>
                            </a:rPr>
                          </m:ctrlPr>
                        </m:dPr>
                        <m:e>
                          <m:r>
                            <m:rPr>
                              <m:nor/>
                            </m:rPr>
                            <a:rPr lang="en-US" b="0" i="0" smtClean="0">
                              <a:latin typeface="Cambria Math" panose="02040503050406030204" pitchFamily="18" charset="0"/>
                            </a:rPr>
                            <m:t>don</m:t>
                          </m:r>
                          <m:r>
                            <m:rPr>
                              <m:nor/>
                            </m:rPr>
                            <a:rPr lang="en-US" b="0" i="0" smtClean="0">
                              <a:latin typeface="Cambria Math" panose="02040503050406030204" pitchFamily="18" charset="0"/>
                            </a:rPr>
                            <m:t>′</m:t>
                          </m:r>
                          <m:r>
                            <m:rPr>
                              <m:nor/>
                            </m:rPr>
                            <a:rPr lang="en-US" b="0" i="0" smtClean="0">
                              <a:latin typeface="Cambria Math" panose="02040503050406030204" pitchFamily="18" charset="0"/>
                            </a:rPr>
                            <m:t>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run</m:t>
                          </m:r>
                        </m:e>
                      </m:d>
                    </m:oMath>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5" name="TextBox 4">
                <a:extLst>
                  <a:ext uri="{FF2B5EF4-FFF2-40B4-BE49-F238E27FC236}">
                    <a16:creationId xmlns:a16="http://schemas.microsoft.com/office/drawing/2014/main" id="{6748C635-3304-AABF-F8D1-61DE3AB683D3}"/>
                  </a:ext>
                </a:extLst>
              </p:cNvPr>
              <p:cNvSpPr txBox="1">
                <a:spLocks noRot="1" noChangeAspect="1" noMove="1" noResize="1" noEditPoints="1" noAdjustHandles="1" noChangeArrowheads="1" noChangeShapeType="1" noTextEdit="1"/>
              </p:cNvSpPr>
              <p:nvPr/>
            </p:nvSpPr>
            <p:spPr>
              <a:xfrm>
                <a:off x="6535268" y="2873156"/>
                <a:ext cx="4383741" cy="1465786"/>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7108575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01B03-C6A5-F9AA-B73D-64E695AAAC2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70A95CDA-3772-9212-5956-28EEB64734DA}"/>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70A95CDA-3772-9212-5956-28EEB64734DA}"/>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6" name="TextBox 5">
            <a:extLst>
              <a:ext uri="{FF2B5EF4-FFF2-40B4-BE49-F238E27FC236}">
                <a16:creationId xmlns:a16="http://schemas.microsoft.com/office/drawing/2014/main" id="{1C8876B0-57A9-7BF0-A969-C37DDCF4EB2E}"/>
              </a:ext>
            </a:extLst>
          </p:cNvPr>
          <p:cNvSpPr txBox="1"/>
          <p:nvPr/>
        </p:nvSpPr>
        <p:spPr>
          <a:xfrm>
            <a:off x="170328" y="3981152"/>
            <a:ext cx="4383741" cy="175432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dirty="0"/>
              <a:t>Check your understanding:</a:t>
            </a:r>
          </a:p>
          <a:p>
            <a:endParaRPr lang="en-US" dirty="0"/>
          </a:p>
          <a:p>
            <a:r>
              <a:rPr lang="en-US" dirty="0"/>
              <a:t>Write the expression that describes the conditions under which high-talent men prefer to run instead of not run, while low-talent men prefer to not run instead of run.</a:t>
            </a:r>
          </a:p>
        </p:txBody>
      </p:sp>
    </p:spTree>
    <p:extLst>
      <p:ext uri="{BB962C8B-B14F-4D97-AF65-F5344CB8AC3E}">
        <p14:creationId xmlns:p14="http://schemas.microsoft.com/office/powerpoint/2010/main" val="39322204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9B612-9FEB-7D24-8E29-8D4F6B1F509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88B57F43-6E8A-7650-1300-E28BD0E56353}"/>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88B57F43-6E8A-7650-1300-E28BD0E56353}"/>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6" name="TextBox 5">
            <a:extLst>
              <a:ext uri="{FF2B5EF4-FFF2-40B4-BE49-F238E27FC236}">
                <a16:creationId xmlns:a16="http://schemas.microsoft.com/office/drawing/2014/main" id="{52082312-D79E-A5E2-9269-E768930B33EC}"/>
              </a:ext>
            </a:extLst>
          </p:cNvPr>
          <p:cNvSpPr txBox="1"/>
          <p:nvPr/>
        </p:nvSpPr>
        <p:spPr>
          <a:xfrm>
            <a:off x="170328" y="3981152"/>
            <a:ext cx="4383741" cy="175432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dirty="0"/>
              <a:t>Check your understanding:</a:t>
            </a:r>
          </a:p>
          <a:p>
            <a:endParaRPr lang="en-US" dirty="0"/>
          </a:p>
          <a:p>
            <a:r>
              <a:rPr lang="en-US" dirty="0"/>
              <a:t>Write the expression that describes the conditions under which high-talent men prefer to run instead of not run, while low-talent men prefer to not run instead of run.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AFA4B8-6A80-8544-510F-68B6469AD9D0}"/>
                  </a:ext>
                </a:extLst>
              </p:cNvPr>
              <p:cNvSpPr txBox="1"/>
              <p:nvPr/>
            </p:nvSpPr>
            <p:spPr>
              <a:xfrm>
                <a:off x="5710519" y="3890682"/>
                <a:ext cx="6078071"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Step 1: High talent men prefer to run instead of not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p:txBody>
          </p:sp>
        </mc:Choice>
        <mc:Fallback xmlns="">
          <p:sp>
            <p:nvSpPr>
              <p:cNvPr id="2" name="TextBox 1">
                <a:extLst>
                  <a:ext uri="{FF2B5EF4-FFF2-40B4-BE49-F238E27FC236}">
                    <a16:creationId xmlns:a16="http://schemas.microsoft.com/office/drawing/2014/main" id="{60AFA4B8-6A80-8544-510F-68B6469AD9D0}"/>
                  </a:ext>
                </a:extLst>
              </p:cNvPr>
              <p:cNvSpPr txBox="1">
                <a:spLocks noRot="1" noChangeAspect="1" noMove="1" noResize="1" noEditPoints="1" noAdjustHandles="1" noChangeArrowheads="1" noChangeShapeType="1" noTextEdit="1"/>
              </p:cNvSpPr>
              <p:nvPr/>
            </p:nvSpPr>
            <p:spPr>
              <a:xfrm>
                <a:off x="5710519" y="3890682"/>
                <a:ext cx="6078071" cy="646331"/>
              </a:xfrm>
              <a:prstGeom prst="rect">
                <a:avLst/>
              </a:prstGeom>
              <a:blipFill>
                <a:blip r:embed="rId3"/>
                <a:stretch>
                  <a:fillRect l="-800" t="-2752"/>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7A757E26-218E-C613-4F88-EBE81DD5B572}"/>
              </a:ext>
            </a:extLst>
          </p:cNvPr>
          <p:cNvSpPr/>
          <p:nvPr/>
        </p:nvSpPr>
        <p:spPr>
          <a:xfrm>
            <a:off x="98856" y="2617694"/>
            <a:ext cx="11689734" cy="1075765"/>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39705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E1771-AE10-507E-8C1B-F5915E662DF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94172E1-EE8D-4D3A-2541-392EDC0F93AC}"/>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A94172E1-EE8D-4D3A-2541-392EDC0F93AC}"/>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6" name="TextBox 5">
            <a:extLst>
              <a:ext uri="{FF2B5EF4-FFF2-40B4-BE49-F238E27FC236}">
                <a16:creationId xmlns:a16="http://schemas.microsoft.com/office/drawing/2014/main" id="{B47D2912-03F8-A39B-19F5-31D8C7F2BC55}"/>
              </a:ext>
            </a:extLst>
          </p:cNvPr>
          <p:cNvSpPr txBox="1"/>
          <p:nvPr/>
        </p:nvSpPr>
        <p:spPr>
          <a:xfrm>
            <a:off x="170328" y="3981152"/>
            <a:ext cx="4383741" cy="175432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dirty="0"/>
              <a:t>Check your understanding:</a:t>
            </a:r>
          </a:p>
          <a:p>
            <a:endParaRPr lang="en-US" dirty="0"/>
          </a:p>
          <a:p>
            <a:r>
              <a:rPr lang="en-US" dirty="0"/>
              <a:t>Write the expression that describes the conditions under which high-talent men prefer to run instead of not run, while low-talent men prefer to not run instead of run.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7621015-50FA-47BE-2ABB-F7AFA2EDE126}"/>
                  </a:ext>
                </a:extLst>
              </p:cNvPr>
              <p:cNvSpPr txBox="1"/>
              <p:nvPr/>
            </p:nvSpPr>
            <p:spPr>
              <a:xfrm>
                <a:off x="5710519" y="3890682"/>
                <a:ext cx="6078071" cy="1200329"/>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Step 1: High talent men prefer to run instead of not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a:p>
                <a:r>
                  <a:rPr lang="en-US" dirty="0"/>
                  <a:t>Step 2: Low talent men prefer to not run instead of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dirty="0"/>
              </a:p>
            </p:txBody>
          </p:sp>
        </mc:Choice>
        <mc:Fallback xmlns="">
          <p:sp>
            <p:nvSpPr>
              <p:cNvPr id="2" name="TextBox 1">
                <a:extLst>
                  <a:ext uri="{FF2B5EF4-FFF2-40B4-BE49-F238E27FC236}">
                    <a16:creationId xmlns:a16="http://schemas.microsoft.com/office/drawing/2014/main" id="{17621015-50FA-47BE-2ABB-F7AFA2EDE126}"/>
                  </a:ext>
                </a:extLst>
              </p:cNvPr>
              <p:cNvSpPr txBox="1">
                <a:spLocks noRot="1" noChangeAspect="1" noMove="1" noResize="1" noEditPoints="1" noAdjustHandles="1" noChangeArrowheads="1" noChangeShapeType="1" noTextEdit="1"/>
              </p:cNvSpPr>
              <p:nvPr/>
            </p:nvSpPr>
            <p:spPr>
              <a:xfrm>
                <a:off x="5710519" y="3890682"/>
                <a:ext cx="6078071" cy="1200329"/>
              </a:xfrm>
              <a:prstGeom prst="rect">
                <a:avLst/>
              </a:prstGeom>
              <a:blipFill>
                <a:blip r:embed="rId3"/>
                <a:stretch>
                  <a:fillRect l="-800" t="-1500"/>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D1E20EEB-C400-531F-75D7-D7BFBCCFD9C1}"/>
              </a:ext>
            </a:extLst>
          </p:cNvPr>
          <p:cNvSpPr/>
          <p:nvPr/>
        </p:nvSpPr>
        <p:spPr>
          <a:xfrm>
            <a:off x="98856" y="1476072"/>
            <a:ext cx="11689734" cy="1075765"/>
          </a:xfrm>
          <a:prstGeom prst="rect">
            <a:avLst/>
          </a:prstGeom>
          <a:noFill/>
          <a:ln w="571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476083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013D0-E1E9-F428-D450-F0DDFFAC5C6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34539B0-2E0D-CF27-5924-193471C0DEA6}"/>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334539B0-2E0D-CF27-5924-193471C0DEA6}"/>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6" name="TextBox 5">
            <a:extLst>
              <a:ext uri="{FF2B5EF4-FFF2-40B4-BE49-F238E27FC236}">
                <a16:creationId xmlns:a16="http://schemas.microsoft.com/office/drawing/2014/main" id="{54D1E318-0F82-F1B9-980F-BB61FE532BEF}"/>
              </a:ext>
            </a:extLst>
          </p:cNvPr>
          <p:cNvSpPr txBox="1"/>
          <p:nvPr/>
        </p:nvSpPr>
        <p:spPr>
          <a:xfrm>
            <a:off x="170328" y="3981152"/>
            <a:ext cx="4383741" cy="175432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dirty="0"/>
              <a:t>Check your understanding:</a:t>
            </a:r>
          </a:p>
          <a:p>
            <a:endParaRPr lang="en-US" dirty="0"/>
          </a:p>
          <a:p>
            <a:r>
              <a:rPr lang="en-US" dirty="0"/>
              <a:t>Write the expression that describes the conditions under which high-talent men prefer to run instead of not run, while low-talent men prefer to not run instead of run.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5A991BB-3A32-F141-F3FC-D82BF97B93B4}"/>
                  </a:ext>
                </a:extLst>
              </p:cNvPr>
              <p:cNvSpPr txBox="1"/>
              <p:nvPr/>
            </p:nvSpPr>
            <p:spPr>
              <a:xfrm>
                <a:off x="5710519" y="3890682"/>
                <a:ext cx="6078071" cy="201978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Step 1: High talent men prefer to run instead of not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a:p>
                <a:r>
                  <a:rPr lang="en-US" dirty="0"/>
                  <a:t>Step 2: Low talent men prefer to not run instead of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dirty="0"/>
              </a:p>
              <a:p>
                <a:r>
                  <a:rPr lang="en-US" dirty="0"/>
                  <a:t>Step 3: Putting these together, we must have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r>
                        <a:rPr lang="en-US" b="0" i="1" smtClean="0">
                          <a:latin typeface="Cambria Math" panose="02040503050406030204" pitchFamily="18" charset="0"/>
                        </a:rPr>
                        <m:t>≥</m:t>
                      </m:r>
                      <m:r>
                        <a:rPr lang="en-US" b="0" i="1" smtClean="0">
                          <a:latin typeface="Cambria Math" panose="02040503050406030204" pitchFamily="18" charset="0"/>
                        </a:rPr>
                        <m:t>𝜆</m:t>
                      </m:r>
                    </m:oMath>
                  </m:oMathPara>
                </a14:m>
                <a:endParaRPr lang="en-US" b="0" dirty="0"/>
              </a:p>
            </p:txBody>
          </p:sp>
        </mc:Choice>
        <mc:Fallback xmlns="">
          <p:sp>
            <p:nvSpPr>
              <p:cNvPr id="2" name="TextBox 1">
                <a:extLst>
                  <a:ext uri="{FF2B5EF4-FFF2-40B4-BE49-F238E27FC236}">
                    <a16:creationId xmlns:a16="http://schemas.microsoft.com/office/drawing/2014/main" id="{C5A991BB-3A32-F141-F3FC-D82BF97B93B4}"/>
                  </a:ext>
                </a:extLst>
              </p:cNvPr>
              <p:cNvSpPr txBox="1">
                <a:spLocks noRot="1" noChangeAspect="1" noMove="1" noResize="1" noEditPoints="1" noAdjustHandles="1" noChangeArrowheads="1" noChangeShapeType="1" noTextEdit="1"/>
              </p:cNvSpPr>
              <p:nvPr/>
            </p:nvSpPr>
            <p:spPr>
              <a:xfrm>
                <a:off x="5710519" y="3890682"/>
                <a:ext cx="6078071" cy="2019784"/>
              </a:xfrm>
              <a:prstGeom prst="rect">
                <a:avLst/>
              </a:prstGeom>
              <a:blipFill>
                <a:blip r:embed="rId3"/>
                <a:stretch>
                  <a:fillRect l="-800" t="-896"/>
                </a:stretch>
              </a:blipFill>
            </p:spPr>
            <p:txBody>
              <a:bodyPr/>
              <a:lstStyle/>
              <a:p>
                <a:r>
                  <a:rPr lang="en-US">
                    <a:noFill/>
                  </a:rPr>
                  <a:t> </a:t>
                </a:r>
              </a:p>
            </p:txBody>
          </p:sp>
        </mc:Fallback>
      </mc:AlternateContent>
    </p:spTree>
    <p:extLst>
      <p:ext uri="{BB962C8B-B14F-4D97-AF65-F5344CB8AC3E}">
        <p14:creationId xmlns:p14="http://schemas.microsoft.com/office/powerpoint/2010/main" val="74668462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C8FDD-91DD-4096-7444-84FFC86E52D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44B9FD3-401C-A61F-5965-C3A304C9D223}"/>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944B9FD3-401C-A61F-5965-C3A304C9D223}"/>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6" name="TextBox 5">
            <a:extLst>
              <a:ext uri="{FF2B5EF4-FFF2-40B4-BE49-F238E27FC236}">
                <a16:creationId xmlns:a16="http://schemas.microsoft.com/office/drawing/2014/main" id="{BDDB3EAD-9BCF-C7C3-B1BC-8125A01B5C7F}"/>
              </a:ext>
            </a:extLst>
          </p:cNvPr>
          <p:cNvSpPr txBox="1"/>
          <p:nvPr/>
        </p:nvSpPr>
        <p:spPr>
          <a:xfrm>
            <a:off x="170328" y="3981152"/>
            <a:ext cx="4383741" cy="175432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dirty="0"/>
              <a:t>Check your understanding:</a:t>
            </a:r>
          </a:p>
          <a:p>
            <a:endParaRPr lang="en-US" dirty="0"/>
          </a:p>
          <a:p>
            <a:r>
              <a:rPr lang="en-US" dirty="0"/>
              <a:t>Write the expression that describes the conditions under which high-talent men prefer to run instead of not run, while low-talent men prefer to not run instead of run.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E127CE4-102B-7C7D-1E96-C8B8AB24D604}"/>
                  </a:ext>
                </a:extLst>
              </p:cNvPr>
              <p:cNvSpPr txBox="1"/>
              <p:nvPr/>
            </p:nvSpPr>
            <p:spPr>
              <a:xfrm>
                <a:off x="5710519" y="3890682"/>
                <a:ext cx="6078071" cy="230832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Step 1: High talent men prefer to run instead of not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a:p>
                <a:r>
                  <a:rPr lang="en-US" dirty="0"/>
                  <a:t>Step 2: Low talent men prefer to not run instead of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dirty="0"/>
              </a:p>
              <a:p>
                <a:r>
                  <a:rPr lang="en-US" dirty="0"/>
                  <a:t>Step 3: Putting these together, we must have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𝑤𝐵</m:t>
                      </m:r>
                    </m:oMath>
                  </m:oMathPara>
                </a14:m>
                <a:endParaRPr lang="en-US" b="0" dirty="0"/>
              </a:p>
              <a:p>
                <a:r>
                  <a:rPr lang="en-US" dirty="0"/>
                  <a:t>or, equivalently:</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𝑤𝐵</m:t>
                      </m:r>
                    </m:oMath>
                  </m:oMathPara>
                </a14:m>
                <a:endParaRPr lang="en-US" dirty="0"/>
              </a:p>
            </p:txBody>
          </p:sp>
        </mc:Choice>
        <mc:Fallback xmlns="">
          <p:sp>
            <p:nvSpPr>
              <p:cNvPr id="2" name="TextBox 1">
                <a:extLst>
                  <a:ext uri="{FF2B5EF4-FFF2-40B4-BE49-F238E27FC236}">
                    <a16:creationId xmlns:a16="http://schemas.microsoft.com/office/drawing/2014/main" id="{AE127CE4-102B-7C7D-1E96-C8B8AB24D604}"/>
                  </a:ext>
                </a:extLst>
              </p:cNvPr>
              <p:cNvSpPr txBox="1">
                <a:spLocks noRot="1" noChangeAspect="1" noMove="1" noResize="1" noEditPoints="1" noAdjustHandles="1" noChangeArrowheads="1" noChangeShapeType="1" noTextEdit="1"/>
              </p:cNvSpPr>
              <p:nvPr/>
            </p:nvSpPr>
            <p:spPr>
              <a:xfrm>
                <a:off x="5710519" y="3890682"/>
                <a:ext cx="6078071" cy="2308324"/>
              </a:xfrm>
              <a:prstGeom prst="rect">
                <a:avLst/>
              </a:prstGeom>
              <a:blipFill>
                <a:blip r:embed="rId3"/>
                <a:stretch>
                  <a:fillRect l="-800" t="-7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EEE7473-59FA-5C97-477D-40025B3FA9C1}"/>
                  </a:ext>
                </a:extLst>
              </p:cNvPr>
              <p:cNvSpPr txBox="1"/>
              <p:nvPr/>
            </p:nvSpPr>
            <p:spPr>
              <a:xfrm rot="20623664">
                <a:off x="2882751" y="1304413"/>
                <a:ext cx="4383741" cy="258532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So...for a given benefit of winning </a:t>
                </a:r>
                <a14:m>
                  <m:oMath xmlns:m="http://schemas.openxmlformats.org/officeDocument/2006/math">
                    <m:r>
                      <a:rPr lang="en-US" b="0" i="1" smtClean="0">
                        <a:latin typeface="Cambria Math" panose="02040503050406030204" pitchFamily="18" charset="0"/>
                      </a:rPr>
                      <m:t>𝐵</m:t>
                    </m:r>
                  </m:oMath>
                </a14:m>
                <a:r>
                  <a:rPr lang="en-US" dirty="0"/>
                  <a:t>, cost of running </a:t>
                </a:r>
                <a14:m>
                  <m:oMath xmlns:m="http://schemas.openxmlformats.org/officeDocument/2006/math">
                    <m:r>
                      <a:rPr lang="en-US" b="0" i="1" smtClean="0">
                        <a:latin typeface="Cambria Math" panose="02040503050406030204" pitchFamily="18" charset="0"/>
                      </a:rPr>
                      <m:t>𝐶</m:t>
                    </m:r>
                  </m:oMath>
                </a14:m>
                <a:r>
                  <a:rPr lang="en-US" dirty="0"/>
                  <a:t>...</a:t>
                </a:r>
              </a:p>
              <a:p>
                <a:endParaRPr lang="en-US" dirty="0"/>
              </a:p>
              <a:p>
                <a:r>
                  <a:rPr lang="en-US" dirty="0"/>
                  <a:t>high-talent men want to run if the high-talent win probability </a:t>
                </a:r>
                <a14:m>
                  <m:oMath xmlns:m="http://schemas.openxmlformats.org/officeDocument/2006/math">
                    <m:r>
                      <a:rPr lang="en-US" b="0" i="1" smtClean="0">
                        <a:latin typeface="Cambria Math" panose="02040503050406030204" pitchFamily="18" charset="0"/>
                      </a:rPr>
                      <m:t>𝑤</m:t>
                    </m:r>
                  </m:oMath>
                </a14:m>
                <a:r>
                  <a:rPr lang="en-US" dirty="0"/>
                  <a:t> is not too small...</a:t>
                </a:r>
              </a:p>
              <a:p>
                <a:endParaRPr lang="en-US" dirty="0"/>
              </a:p>
              <a:p>
                <a:r>
                  <a:rPr lang="en-US" dirty="0"/>
                  <a:t>and low-talent men do not want to run if the low-talent penalty is sufficiently severe (i.e. </a:t>
                </a:r>
                <a14:m>
                  <m:oMath xmlns:m="http://schemas.openxmlformats.org/officeDocument/2006/math">
                    <m:r>
                      <a:rPr lang="en-US" b="0" i="1" smtClean="0">
                        <a:latin typeface="Cambria Math" panose="02040503050406030204" pitchFamily="18" charset="0"/>
                      </a:rPr>
                      <m:t>𝜆</m:t>
                    </m:r>
                  </m:oMath>
                </a14:m>
                <a:r>
                  <a:rPr lang="en-US" dirty="0"/>
                  <a:t> is sufficiently small)</a:t>
                </a:r>
              </a:p>
            </p:txBody>
          </p:sp>
        </mc:Choice>
        <mc:Fallback xmlns="">
          <p:sp>
            <p:nvSpPr>
              <p:cNvPr id="3" name="TextBox 2">
                <a:extLst>
                  <a:ext uri="{FF2B5EF4-FFF2-40B4-BE49-F238E27FC236}">
                    <a16:creationId xmlns:a16="http://schemas.microsoft.com/office/drawing/2014/main" id="{4EEE7473-59FA-5C97-477D-40025B3FA9C1}"/>
                  </a:ext>
                </a:extLst>
              </p:cNvPr>
              <p:cNvSpPr txBox="1">
                <a:spLocks noRot="1" noChangeAspect="1" noMove="1" noResize="1" noEditPoints="1" noAdjustHandles="1" noChangeArrowheads="1" noChangeShapeType="1" noTextEdit="1"/>
              </p:cNvSpPr>
              <p:nvPr/>
            </p:nvSpPr>
            <p:spPr>
              <a:xfrm rot="20623664">
                <a:off x="2882751" y="1304413"/>
                <a:ext cx="4383741" cy="2585323"/>
              </a:xfrm>
              <a:prstGeom prst="rect">
                <a:avLst/>
              </a:prstGeom>
              <a:blipFill>
                <a:blip r:embed="rId4"/>
                <a:stretch>
                  <a:fillRect l="-737" t="-977" r="-246" b="-1954"/>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7ADC41F5-CFE3-38DF-E607-A6870F67814B}"/>
              </a:ext>
            </a:extLst>
          </p:cNvPr>
          <p:cNvCxnSpPr/>
          <p:nvPr/>
        </p:nvCxnSpPr>
        <p:spPr>
          <a:xfrm>
            <a:off x="6956612" y="1999129"/>
            <a:ext cx="2070847" cy="39443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69A7390-BBA4-0C98-747D-5B4FAD6DD3A5}"/>
              </a:ext>
            </a:extLst>
          </p:cNvPr>
          <p:cNvCxnSpPr>
            <a:cxnSpLocks/>
          </p:cNvCxnSpPr>
          <p:nvPr/>
        </p:nvCxnSpPr>
        <p:spPr>
          <a:xfrm>
            <a:off x="5815190" y="3532982"/>
            <a:ext cx="2814129" cy="24104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BE20B5FA-A4C8-5C7A-590D-EB48E138767B}"/>
              </a:ext>
            </a:extLst>
          </p:cNvPr>
          <p:cNvSpPr/>
          <p:nvPr/>
        </p:nvSpPr>
        <p:spPr>
          <a:xfrm>
            <a:off x="667436" y="716279"/>
            <a:ext cx="11425708" cy="5656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1C1EB351-2028-39A3-B2E8-19B15932D88B}"/>
              </a:ext>
            </a:extLst>
          </p:cNvPr>
          <p:cNvCxnSpPr>
            <a:cxnSpLocks/>
          </p:cNvCxnSpPr>
          <p:nvPr/>
        </p:nvCxnSpPr>
        <p:spPr>
          <a:xfrm>
            <a:off x="2438400" y="1739153"/>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A77471C-8BC7-10DC-8352-6977A27148B6}"/>
              </a:ext>
            </a:extLst>
          </p:cNvPr>
          <p:cNvCxnSpPr>
            <a:cxnSpLocks/>
          </p:cNvCxnSpPr>
          <p:nvPr/>
        </p:nvCxnSpPr>
        <p:spPr>
          <a:xfrm flipH="1">
            <a:off x="2438400" y="5468471"/>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8C20DAC-021F-1FD5-24CC-7546F449E1CE}"/>
                  </a:ext>
                </a:extLst>
              </p:cNvPr>
              <p:cNvSpPr txBox="1"/>
              <p:nvPr/>
            </p:nvSpPr>
            <p:spPr>
              <a:xfrm>
                <a:off x="9607685" y="5114527"/>
                <a:ext cx="1474827" cy="707886"/>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𝑤</m:t>
                    </m:r>
                  </m:oMath>
                </a14:m>
                <a:r>
                  <a:rPr lang="en-US" dirty="0"/>
                  <a:t> </a:t>
                </a:r>
                <a:br>
                  <a:rPr lang="en-US" dirty="0"/>
                </a:br>
                <a:r>
                  <a:rPr lang="en-US" sz="1400" dirty="0"/>
                  <a:t>(win probability for </a:t>
                </a:r>
              </a:p>
              <a:p>
                <a:pPr algn="ctr"/>
                <a:r>
                  <a:rPr lang="en-US" sz="1400" dirty="0"/>
                  <a:t>high-talent men)</a:t>
                </a:r>
              </a:p>
            </p:txBody>
          </p:sp>
        </mc:Choice>
        <mc:Fallback xmlns="">
          <p:sp>
            <p:nvSpPr>
              <p:cNvPr id="17" name="TextBox 16">
                <a:extLst>
                  <a:ext uri="{FF2B5EF4-FFF2-40B4-BE49-F238E27FC236}">
                    <a16:creationId xmlns:a16="http://schemas.microsoft.com/office/drawing/2014/main" id="{E8C20DAC-021F-1FD5-24CC-7546F449E1CE}"/>
                  </a:ext>
                </a:extLst>
              </p:cNvPr>
              <p:cNvSpPr txBox="1">
                <a:spLocks noRot="1" noChangeAspect="1" noMove="1" noResize="1" noEditPoints="1" noAdjustHandles="1" noChangeArrowheads="1" noChangeShapeType="1" noTextEdit="1"/>
              </p:cNvSpPr>
              <p:nvPr/>
            </p:nvSpPr>
            <p:spPr>
              <a:xfrm>
                <a:off x="9607685" y="5114527"/>
                <a:ext cx="1474827" cy="707886"/>
              </a:xfrm>
              <a:prstGeom prst="rect">
                <a:avLst/>
              </a:prstGeom>
              <a:blipFill>
                <a:blip r:embed="rId5"/>
                <a:stretch>
                  <a:fillRect l="-7025" r="-7025"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9EB2B07-E90D-7134-DCC5-F204BBEACDE6}"/>
                  </a:ext>
                </a:extLst>
              </p:cNvPr>
              <p:cNvSpPr txBox="1"/>
              <p:nvPr/>
            </p:nvSpPr>
            <p:spPr>
              <a:xfrm>
                <a:off x="1685036" y="1033651"/>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18" name="TextBox 17">
                <a:extLst>
                  <a:ext uri="{FF2B5EF4-FFF2-40B4-BE49-F238E27FC236}">
                    <a16:creationId xmlns:a16="http://schemas.microsoft.com/office/drawing/2014/main" id="{C9EB2B07-E90D-7134-DCC5-F204BBEACDE6}"/>
                  </a:ext>
                </a:extLst>
              </p:cNvPr>
              <p:cNvSpPr txBox="1">
                <a:spLocks noRot="1" noChangeAspect="1" noMove="1" noResize="1" noEditPoints="1" noAdjustHandles="1" noChangeArrowheads="1" noChangeShapeType="1" noTextEdit="1"/>
              </p:cNvSpPr>
              <p:nvPr/>
            </p:nvSpPr>
            <p:spPr>
              <a:xfrm>
                <a:off x="1685036" y="1033651"/>
                <a:ext cx="1505990" cy="492443"/>
              </a:xfrm>
              <a:prstGeom prst="rect">
                <a:avLst/>
              </a:prstGeom>
              <a:blipFill>
                <a:blip r:embed="rId6"/>
                <a:stretch>
                  <a:fillRect l="-7287" r="-5263" b="-22500"/>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877AD597-70C5-23F5-3F1D-B332BF51B30B}"/>
              </a:ext>
            </a:extLst>
          </p:cNvPr>
          <p:cNvCxnSpPr/>
          <p:nvPr/>
        </p:nvCxnSpPr>
        <p:spPr>
          <a:xfrm>
            <a:off x="2156201" y="1739153"/>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85F1BC2-EE8C-785E-7764-09A14E65BB87}"/>
                  </a:ext>
                </a:extLst>
              </p:cNvPr>
              <p:cNvSpPr txBox="1"/>
              <p:nvPr/>
            </p:nvSpPr>
            <p:spPr>
              <a:xfrm>
                <a:off x="1713022" y="1572416"/>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11" name="TextBox 10">
                <a:extLst>
                  <a:ext uri="{FF2B5EF4-FFF2-40B4-BE49-F238E27FC236}">
                    <a16:creationId xmlns:a16="http://schemas.microsoft.com/office/drawing/2014/main" id="{485F1BC2-EE8C-785E-7764-09A14E65BB87}"/>
                  </a:ext>
                </a:extLst>
              </p:cNvPr>
              <p:cNvSpPr txBox="1">
                <a:spLocks noRot="1" noChangeAspect="1" noMove="1" noResize="1" noEditPoints="1" noAdjustHandles="1" noChangeArrowheads="1" noChangeShapeType="1" noTextEdit="1"/>
              </p:cNvSpPr>
              <p:nvPr/>
            </p:nvSpPr>
            <p:spPr>
              <a:xfrm>
                <a:off x="1713022" y="1572416"/>
                <a:ext cx="555431"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39627FD-F9E6-575F-BDEB-9E91C03240ED}"/>
                  </a:ext>
                </a:extLst>
              </p:cNvPr>
              <p:cNvSpPr txBox="1"/>
              <p:nvPr/>
            </p:nvSpPr>
            <p:spPr>
              <a:xfrm>
                <a:off x="1710685" y="5283804"/>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13" name="TextBox 12">
                <a:extLst>
                  <a:ext uri="{FF2B5EF4-FFF2-40B4-BE49-F238E27FC236}">
                    <a16:creationId xmlns:a16="http://schemas.microsoft.com/office/drawing/2014/main" id="{A39627FD-F9E6-575F-BDEB-9E91C03240ED}"/>
                  </a:ext>
                </a:extLst>
              </p:cNvPr>
              <p:cNvSpPr txBox="1">
                <a:spLocks noRot="1" noChangeAspect="1" noMove="1" noResize="1" noEditPoints="1" noAdjustHandles="1" noChangeArrowheads="1" noChangeShapeType="1" noTextEdit="1"/>
              </p:cNvSpPr>
              <p:nvPr/>
            </p:nvSpPr>
            <p:spPr>
              <a:xfrm>
                <a:off x="1710685" y="5283804"/>
                <a:ext cx="555431" cy="369332"/>
              </a:xfrm>
              <a:prstGeom prst="rect">
                <a:avLst/>
              </a:prstGeom>
              <a:blipFill>
                <a:blip r:embed="rId8"/>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A7ED305C-86CA-531F-7147-CBAA51087A3A}"/>
              </a:ext>
            </a:extLst>
          </p:cNvPr>
          <p:cNvCxnSpPr/>
          <p:nvPr/>
        </p:nvCxnSpPr>
        <p:spPr>
          <a:xfrm>
            <a:off x="2160681" y="5468470"/>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6D5E61F-6216-DD89-2CAF-84760266039A}"/>
              </a:ext>
            </a:extLst>
          </p:cNvPr>
          <p:cNvCxnSpPr>
            <a:cxnSpLocks/>
          </p:cNvCxnSpPr>
          <p:nvPr/>
        </p:nvCxnSpPr>
        <p:spPr>
          <a:xfrm flipV="1">
            <a:off x="2438031" y="5468470"/>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E191357-9E0C-D0D2-BDE8-2A926616AFFC}"/>
                  </a:ext>
                </a:extLst>
              </p:cNvPr>
              <p:cNvSpPr txBox="1"/>
              <p:nvPr/>
            </p:nvSpPr>
            <p:spPr>
              <a:xfrm>
                <a:off x="2162842" y="578180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20" name="TextBox 19">
                <a:extLst>
                  <a:ext uri="{FF2B5EF4-FFF2-40B4-BE49-F238E27FC236}">
                    <a16:creationId xmlns:a16="http://schemas.microsoft.com/office/drawing/2014/main" id="{6E191357-9E0C-D0D2-BDE8-2A926616AFFC}"/>
                  </a:ext>
                </a:extLst>
              </p:cNvPr>
              <p:cNvSpPr txBox="1">
                <a:spLocks noRot="1" noChangeAspect="1" noMove="1" noResize="1" noEditPoints="1" noAdjustHandles="1" noChangeArrowheads="1" noChangeShapeType="1" noTextEdit="1"/>
              </p:cNvSpPr>
              <p:nvPr/>
            </p:nvSpPr>
            <p:spPr>
              <a:xfrm>
                <a:off x="2162842" y="5781800"/>
                <a:ext cx="555431" cy="369332"/>
              </a:xfrm>
              <a:prstGeom prst="rect">
                <a:avLst/>
              </a:prstGeom>
              <a:blipFill>
                <a:blip r:embed="rId9"/>
                <a:stretch>
                  <a:fillRect/>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AEB78A9D-FB1F-1765-5D61-B455DABC7045}"/>
              </a:ext>
            </a:extLst>
          </p:cNvPr>
          <p:cNvCxnSpPr>
            <a:cxnSpLocks/>
          </p:cNvCxnSpPr>
          <p:nvPr/>
        </p:nvCxnSpPr>
        <p:spPr>
          <a:xfrm flipV="1">
            <a:off x="9319601" y="5468470"/>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16C6D78-3F04-6475-0E53-4BFBF2079412}"/>
                  </a:ext>
                </a:extLst>
              </p:cNvPr>
              <p:cNvSpPr txBox="1"/>
              <p:nvPr/>
            </p:nvSpPr>
            <p:spPr>
              <a:xfrm>
                <a:off x="9041885" y="5772389"/>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23" name="TextBox 22">
                <a:extLst>
                  <a:ext uri="{FF2B5EF4-FFF2-40B4-BE49-F238E27FC236}">
                    <a16:creationId xmlns:a16="http://schemas.microsoft.com/office/drawing/2014/main" id="{B16C6D78-3F04-6475-0E53-4BFBF2079412}"/>
                  </a:ext>
                </a:extLst>
              </p:cNvPr>
              <p:cNvSpPr txBox="1">
                <a:spLocks noRot="1" noChangeAspect="1" noMove="1" noResize="1" noEditPoints="1" noAdjustHandles="1" noChangeArrowheads="1" noChangeShapeType="1" noTextEdit="1"/>
              </p:cNvSpPr>
              <p:nvPr/>
            </p:nvSpPr>
            <p:spPr>
              <a:xfrm>
                <a:off x="9041885" y="5772389"/>
                <a:ext cx="555431" cy="369332"/>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830113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C3191-0715-315E-C9E6-805741FAD6A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0FC6D6B9-500F-D4A8-590A-5CC8496138CA}"/>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0FC6D6B9-500F-D4A8-590A-5CC8496138CA}"/>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6" name="TextBox 5">
            <a:extLst>
              <a:ext uri="{FF2B5EF4-FFF2-40B4-BE49-F238E27FC236}">
                <a16:creationId xmlns:a16="http://schemas.microsoft.com/office/drawing/2014/main" id="{451F524B-81C6-0A56-3B4A-79F61643260E}"/>
              </a:ext>
            </a:extLst>
          </p:cNvPr>
          <p:cNvSpPr txBox="1"/>
          <p:nvPr/>
        </p:nvSpPr>
        <p:spPr>
          <a:xfrm>
            <a:off x="170328" y="3981152"/>
            <a:ext cx="4383741" cy="175432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dirty="0"/>
              <a:t>Check your understanding:</a:t>
            </a:r>
          </a:p>
          <a:p>
            <a:endParaRPr lang="en-US" dirty="0"/>
          </a:p>
          <a:p>
            <a:r>
              <a:rPr lang="en-US" dirty="0"/>
              <a:t>Write the expression that describes the conditions under which high-talent men prefer to run instead of not run, while low-talent men prefer to not run instead of run.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029F390-0DB9-0BAD-7D93-32F7B75B2178}"/>
                  </a:ext>
                </a:extLst>
              </p:cNvPr>
              <p:cNvSpPr txBox="1"/>
              <p:nvPr/>
            </p:nvSpPr>
            <p:spPr>
              <a:xfrm>
                <a:off x="5710519" y="3890682"/>
                <a:ext cx="6078071" cy="230832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Step 1: High talent men prefer to run instead of not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a:p>
                <a:r>
                  <a:rPr lang="en-US" dirty="0"/>
                  <a:t>Step 2: Low talent men prefer to not run instead of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dirty="0"/>
              </a:p>
              <a:p>
                <a:r>
                  <a:rPr lang="en-US" dirty="0"/>
                  <a:t>Step 3: Putting these together, we must have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𝑤𝐵</m:t>
                      </m:r>
                    </m:oMath>
                  </m:oMathPara>
                </a14:m>
                <a:endParaRPr lang="en-US" b="0" dirty="0"/>
              </a:p>
              <a:p>
                <a:r>
                  <a:rPr lang="en-US" dirty="0"/>
                  <a:t>or, equivalently:</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𝑤𝐵</m:t>
                      </m:r>
                    </m:oMath>
                  </m:oMathPara>
                </a14:m>
                <a:endParaRPr lang="en-US" dirty="0"/>
              </a:p>
            </p:txBody>
          </p:sp>
        </mc:Choice>
        <mc:Fallback xmlns="">
          <p:sp>
            <p:nvSpPr>
              <p:cNvPr id="2" name="TextBox 1">
                <a:extLst>
                  <a:ext uri="{FF2B5EF4-FFF2-40B4-BE49-F238E27FC236}">
                    <a16:creationId xmlns:a16="http://schemas.microsoft.com/office/drawing/2014/main" id="{7029F390-0DB9-0BAD-7D93-32F7B75B2178}"/>
                  </a:ext>
                </a:extLst>
              </p:cNvPr>
              <p:cNvSpPr txBox="1">
                <a:spLocks noRot="1" noChangeAspect="1" noMove="1" noResize="1" noEditPoints="1" noAdjustHandles="1" noChangeArrowheads="1" noChangeShapeType="1" noTextEdit="1"/>
              </p:cNvSpPr>
              <p:nvPr/>
            </p:nvSpPr>
            <p:spPr>
              <a:xfrm>
                <a:off x="5710519" y="3890682"/>
                <a:ext cx="6078071" cy="2308324"/>
              </a:xfrm>
              <a:prstGeom prst="rect">
                <a:avLst/>
              </a:prstGeom>
              <a:blipFill>
                <a:blip r:embed="rId3"/>
                <a:stretch>
                  <a:fillRect l="-800" t="-7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4BA9471-5B7D-7DE6-D823-3D2432105970}"/>
                  </a:ext>
                </a:extLst>
              </p:cNvPr>
              <p:cNvSpPr txBox="1"/>
              <p:nvPr/>
            </p:nvSpPr>
            <p:spPr>
              <a:xfrm rot="20623664">
                <a:off x="2882751" y="1304413"/>
                <a:ext cx="4383741" cy="258532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So...for a given benefit of winning </a:t>
                </a:r>
                <a14:m>
                  <m:oMath xmlns:m="http://schemas.openxmlformats.org/officeDocument/2006/math">
                    <m:r>
                      <a:rPr lang="en-US" b="0" i="1" smtClean="0">
                        <a:latin typeface="Cambria Math" panose="02040503050406030204" pitchFamily="18" charset="0"/>
                      </a:rPr>
                      <m:t>𝐵</m:t>
                    </m:r>
                  </m:oMath>
                </a14:m>
                <a:r>
                  <a:rPr lang="en-US" dirty="0"/>
                  <a:t>, cost of running </a:t>
                </a:r>
                <a14:m>
                  <m:oMath xmlns:m="http://schemas.openxmlformats.org/officeDocument/2006/math">
                    <m:r>
                      <a:rPr lang="en-US" b="0" i="1" smtClean="0">
                        <a:latin typeface="Cambria Math" panose="02040503050406030204" pitchFamily="18" charset="0"/>
                      </a:rPr>
                      <m:t>𝐶</m:t>
                    </m:r>
                  </m:oMath>
                </a14:m>
                <a:r>
                  <a:rPr lang="en-US" dirty="0"/>
                  <a:t>...</a:t>
                </a:r>
              </a:p>
              <a:p>
                <a:endParaRPr lang="en-US" dirty="0"/>
              </a:p>
              <a:p>
                <a:r>
                  <a:rPr lang="en-US" dirty="0"/>
                  <a:t>high-talent men want to run if the high-talent win probability </a:t>
                </a:r>
                <a14:m>
                  <m:oMath xmlns:m="http://schemas.openxmlformats.org/officeDocument/2006/math">
                    <m:r>
                      <a:rPr lang="en-US" b="0" i="1" smtClean="0">
                        <a:latin typeface="Cambria Math" panose="02040503050406030204" pitchFamily="18" charset="0"/>
                      </a:rPr>
                      <m:t>𝑤</m:t>
                    </m:r>
                  </m:oMath>
                </a14:m>
                <a:r>
                  <a:rPr lang="en-US" dirty="0"/>
                  <a:t> is not too small...</a:t>
                </a:r>
              </a:p>
              <a:p>
                <a:endParaRPr lang="en-US" dirty="0"/>
              </a:p>
              <a:p>
                <a:r>
                  <a:rPr lang="en-US" dirty="0"/>
                  <a:t>and low-talent men do not want to run if the low-talent penalty is sufficiently severe (i.e. </a:t>
                </a:r>
                <a14:m>
                  <m:oMath xmlns:m="http://schemas.openxmlformats.org/officeDocument/2006/math">
                    <m:r>
                      <a:rPr lang="en-US" b="0" i="1" smtClean="0">
                        <a:latin typeface="Cambria Math" panose="02040503050406030204" pitchFamily="18" charset="0"/>
                      </a:rPr>
                      <m:t>𝜆</m:t>
                    </m:r>
                  </m:oMath>
                </a14:m>
                <a:r>
                  <a:rPr lang="en-US" dirty="0"/>
                  <a:t> is sufficiently small)</a:t>
                </a:r>
              </a:p>
            </p:txBody>
          </p:sp>
        </mc:Choice>
        <mc:Fallback xmlns="">
          <p:sp>
            <p:nvSpPr>
              <p:cNvPr id="3" name="TextBox 2">
                <a:extLst>
                  <a:ext uri="{FF2B5EF4-FFF2-40B4-BE49-F238E27FC236}">
                    <a16:creationId xmlns:a16="http://schemas.microsoft.com/office/drawing/2014/main" id="{84BA9471-5B7D-7DE6-D823-3D2432105970}"/>
                  </a:ext>
                </a:extLst>
              </p:cNvPr>
              <p:cNvSpPr txBox="1">
                <a:spLocks noRot="1" noChangeAspect="1" noMove="1" noResize="1" noEditPoints="1" noAdjustHandles="1" noChangeArrowheads="1" noChangeShapeType="1" noTextEdit="1"/>
              </p:cNvSpPr>
              <p:nvPr/>
            </p:nvSpPr>
            <p:spPr>
              <a:xfrm rot="20623664">
                <a:off x="2882751" y="1304413"/>
                <a:ext cx="4383741" cy="2585323"/>
              </a:xfrm>
              <a:prstGeom prst="rect">
                <a:avLst/>
              </a:prstGeom>
              <a:blipFill>
                <a:blip r:embed="rId4"/>
                <a:stretch>
                  <a:fillRect l="-737" t="-977" r="-246" b="-1954"/>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58794A4D-F355-DBAA-CB09-FC69420BEA33}"/>
              </a:ext>
            </a:extLst>
          </p:cNvPr>
          <p:cNvCxnSpPr/>
          <p:nvPr/>
        </p:nvCxnSpPr>
        <p:spPr>
          <a:xfrm>
            <a:off x="6956612" y="1999129"/>
            <a:ext cx="2070847" cy="39443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1D8B198C-E343-E78D-8580-6CC1ED91DA28}"/>
              </a:ext>
            </a:extLst>
          </p:cNvPr>
          <p:cNvCxnSpPr>
            <a:cxnSpLocks/>
          </p:cNvCxnSpPr>
          <p:nvPr/>
        </p:nvCxnSpPr>
        <p:spPr>
          <a:xfrm>
            <a:off x="5815190" y="3532982"/>
            <a:ext cx="2814129" cy="24104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D5335F24-2612-6757-4E79-3B1F714F5DD6}"/>
              </a:ext>
            </a:extLst>
          </p:cNvPr>
          <p:cNvSpPr/>
          <p:nvPr/>
        </p:nvSpPr>
        <p:spPr>
          <a:xfrm>
            <a:off x="667436" y="716279"/>
            <a:ext cx="11425708" cy="5656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DE000D4F-D6FB-1D70-2E71-7C49A371EAF2}"/>
              </a:ext>
            </a:extLst>
          </p:cNvPr>
          <p:cNvCxnSpPr>
            <a:cxnSpLocks/>
          </p:cNvCxnSpPr>
          <p:nvPr/>
        </p:nvCxnSpPr>
        <p:spPr>
          <a:xfrm>
            <a:off x="2438400" y="1739153"/>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E85B159-6C27-2D32-27CD-D63F26461D53}"/>
              </a:ext>
            </a:extLst>
          </p:cNvPr>
          <p:cNvCxnSpPr>
            <a:cxnSpLocks/>
          </p:cNvCxnSpPr>
          <p:nvPr/>
        </p:nvCxnSpPr>
        <p:spPr>
          <a:xfrm flipH="1">
            <a:off x="2438400" y="5468471"/>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B4D6AF2-ACBD-E7AA-0379-DD37F0840D4B}"/>
                  </a:ext>
                </a:extLst>
              </p:cNvPr>
              <p:cNvSpPr txBox="1"/>
              <p:nvPr/>
            </p:nvSpPr>
            <p:spPr>
              <a:xfrm>
                <a:off x="9607685" y="5114527"/>
                <a:ext cx="1474827" cy="707886"/>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𝑤</m:t>
                    </m:r>
                  </m:oMath>
                </a14:m>
                <a:r>
                  <a:rPr lang="en-US" dirty="0"/>
                  <a:t> </a:t>
                </a:r>
                <a:br>
                  <a:rPr lang="en-US" dirty="0"/>
                </a:br>
                <a:r>
                  <a:rPr lang="en-US" sz="1400" dirty="0"/>
                  <a:t>(win probability for </a:t>
                </a:r>
              </a:p>
              <a:p>
                <a:pPr algn="ctr"/>
                <a:r>
                  <a:rPr lang="en-US" sz="1400" dirty="0"/>
                  <a:t>high-talent men)</a:t>
                </a:r>
              </a:p>
            </p:txBody>
          </p:sp>
        </mc:Choice>
        <mc:Fallback xmlns="">
          <p:sp>
            <p:nvSpPr>
              <p:cNvPr id="17" name="TextBox 16">
                <a:extLst>
                  <a:ext uri="{FF2B5EF4-FFF2-40B4-BE49-F238E27FC236}">
                    <a16:creationId xmlns:a16="http://schemas.microsoft.com/office/drawing/2014/main" id="{7B4D6AF2-ACBD-E7AA-0379-DD37F0840D4B}"/>
                  </a:ext>
                </a:extLst>
              </p:cNvPr>
              <p:cNvSpPr txBox="1">
                <a:spLocks noRot="1" noChangeAspect="1" noMove="1" noResize="1" noEditPoints="1" noAdjustHandles="1" noChangeArrowheads="1" noChangeShapeType="1" noTextEdit="1"/>
              </p:cNvSpPr>
              <p:nvPr/>
            </p:nvSpPr>
            <p:spPr>
              <a:xfrm>
                <a:off x="9607685" y="5114527"/>
                <a:ext cx="1474827" cy="707886"/>
              </a:xfrm>
              <a:prstGeom prst="rect">
                <a:avLst/>
              </a:prstGeom>
              <a:blipFill>
                <a:blip r:embed="rId5"/>
                <a:stretch>
                  <a:fillRect l="-7025" r="-7025"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65D7BA5-37B7-8975-6B25-C0860EFB26EC}"/>
                  </a:ext>
                </a:extLst>
              </p:cNvPr>
              <p:cNvSpPr txBox="1"/>
              <p:nvPr/>
            </p:nvSpPr>
            <p:spPr>
              <a:xfrm>
                <a:off x="1685036" y="1033651"/>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18" name="TextBox 17">
                <a:extLst>
                  <a:ext uri="{FF2B5EF4-FFF2-40B4-BE49-F238E27FC236}">
                    <a16:creationId xmlns:a16="http://schemas.microsoft.com/office/drawing/2014/main" id="{F65D7BA5-37B7-8975-6B25-C0860EFB26EC}"/>
                  </a:ext>
                </a:extLst>
              </p:cNvPr>
              <p:cNvSpPr txBox="1">
                <a:spLocks noRot="1" noChangeAspect="1" noMove="1" noResize="1" noEditPoints="1" noAdjustHandles="1" noChangeArrowheads="1" noChangeShapeType="1" noTextEdit="1"/>
              </p:cNvSpPr>
              <p:nvPr/>
            </p:nvSpPr>
            <p:spPr>
              <a:xfrm>
                <a:off x="1685036" y="1033651"/>
                <a:ext cx="1505990" cy="492443"/>
              </a:xfrm>
              <a:prstGeom prst="rect">
                <a:avLst/>
              </a:prstGeom>
              <a:blipFill>
                <a:blip r:embed="rId6"/>
                <a:stretch>
                  <a:fillRect l="-7287" r="-5263" b="-22500"/>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20DC8640-5260-A332-DF6D-9190AFF55B04}"/>
              </a:ext>
            </a:extLst>
          </p:cNvPr>
          <p:cNvCxnSpPr/>
          <p:nvPr/>
        </p:nvCxnSpPr>
        <p:spPr>
          <a:xfrm>
            <a:off x="2156201" y="1739153"/>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FBF478B-B588-4810-CB8F-944F843D078B}"/>
                  </a:ext>
                </a:extLst>
              </p:cNvPr>
              <p:cNvSpPr txBox="1"/>
              <p:nvPr/>
            </p:nvSpPr>
            <p:spPr>
              <a:xfrm>
                <a:off x="1713022" y="1572416"/>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11" name="TextBox 10">
                <a:extLst>
                  <a:ext uri="{FF2B5EF4-FFF2-40B4-BE49-F238E27FC236}">
                    <a16:creationId xmlns:a16="http://schemas.microsoft.com/office/drawing/2014/main" id="{2FBF478B-B588-4810-CB8F-944F843D078B}"/>
                  </a:ext>
                </a:extLst>
              </p:cNvPr>
              <p:cNvSpPr txBox="1">
                <a:spLocks noRot="1" noChangeAspect="1" noMove="1" noResize="1" noEditPoints="1" noAdjustHandles="1" noChangeArrowheads="1" noChangeShapeType="1" noTextEdit="1"/>
              </p:cNvSpPr>
              <p:nvPr/>
            </p:nvSpPr>
            <p:spPr>
              <a:xfrm>
                <a:off x="1713022" y="1572416"/>
                <a:ext cx="555431"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00CF89C-ACF0-3749-F6CE-EDACB8784977}"/>
                  </a:ext>
                </a:extLst>
              </p:cNvPr>
              <p:cNvSpPr txBox="1"/>
              <p:nvPr/>
            </p:nvSpPr>
            <p:spPr>
              <a:xfrm>
                <a:off x="1710685" y="5283804"/>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13" name="TextBox 12">
                <a:extLst>
                  <a:ext uri="{FF2B5EF4-FFF2-40B4-BE49-F238E27FC236}">
                    <a16:creationId xmlns:a16="http://schemas.microsoft.com/office/drawing/2014/main" id="{200CF89C-ACF0-3749-F6CE-EDACB8784977}"/>
                  </a:ext>
                </a:extLst>
              </p:cNvPr>
              <p:cNvSpPr txBox="1">
                <a:spLocks noRot="1" noChangeAspect="1" noMove="1" noResize="1" noEditPoints="1" noAdjustHandles="1" noChangeArrowheads="1" noChangeShapeType="1" noTextEdit="1"/>
              </p:cNvSpPr>
              <p:nvPr/>
            </p:nvSpPr>
            <p:spPr>
              <a:xfrm>
                <a:off x="1710685" y="5283804"/>
                <a:ext cx="555431" cy="369332"/>
              </a:xfrm>
              <a:prstGeom prst="rect">
                <a:avLst/>
              </a:prstGeom>
              <a:blipFill>
                <a:blip r:embed="rId8"/>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4601B1E3-B7E5-80C8-7E79-2F8A61B9C586}"/>
              </a:ext>
            </a:extLst>
          </p:cNvPr>
          <p:cNvCxnSpPr/>
          <p:nvPr/>
        </p:nvCxnSpPr>
        <p:spPr>
          <a:xfrm>
            <a:off x="2160681" y="5468470"/>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1DDDD87-96E0-BE30-72FF-A6EBDD46DCAB}"/>
              </a:ext>
            </a:extLst>
          </p:cNvPr>
          <p:cNvCxnSpPr>
            <a:cxnSpLocks/>
          </p:cNvCxnSpPr>
          <p:nvPr/>
        </p:nvCxnSpPr>
        <p:spPr>
          <a:xfrm flipV="1">
            <a:off x="2438031" y="5468470"/>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F7C402F-4A66-C95D-0784-D2CE90D4DBC8}"/>
                  </a:ext>
                </a:extLst>
              </p:cNvPr>
              <p:cNvSpPr txBox="1"/>
              <p:nvPr/>
            </p:nvSpPr>
            <p:spPr>
              <a:xfrm>
                <a:off x="2162842" y="578180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20" name="TextBox 19">
                <a:extLst>
                  <a:ext uri="{FF2B5EF4-FFF2-40B4-BE49-F238E27FC236}">
                    <a16:creationId xmlns:a16="http://schemas.microsoft.com/office/drawing/2014/main" id="{1F7C402F-4A66-C95D-0784-D2CE90D4DBC8}"/>
                  </a:ext>
                </a:extLst>
              </p:cNvPr>
              <p:cNvSpPr txBox="1">
                <a:spLocks noRot="1" noChangeAspect="1" noMove="1" noResize="1" noEditPoints="1" noAdjustHandles="1" noChangeArrowheads="1" noChangeShapeType="1" noTextEdit="1"/>
              </p:cNvSpPr>
              <p:nvPr/>
            </p:nvSpPr>
            <p:spPr>
              <a:xfrm>
                <a:off x="2162842" y="5781800"/>
                <a:ext cx="555431" cy="369332"/>
              </a:xfrm>
              <a:prstGeom prst="rect">
                <a:avLst/>
              </a:prstGeom>
              <a:blipFill>
                <a:blip r:embed="rId9"/>
                <a:stretch>
                  <a:fillRect/>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83912D60-4368-78F9-B306-1A16CF5126AE}"/>
              </a:ext>
            </a:extLst>
          </p:cNvPr>
          <p:cNvCxnSpPr>
            <a:cxnSpLocks/>
          </p:cNvCxnSpPr>
          <p:nvPr/>
        </p:nvCxnSpPr>
        <p:spPr>
          <a:xfrm flipV="1">
            <a:off x="9319601" y="5468470"/>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C8EEE69-C55E-848B-C18A-697F976C12D9}"/>
                  </a:ext>
                </a:extLst>
              </p:cNvPr>
              <p:cNvSpPr txBox="1"/>
              <p:nvPr/>
            </p:nvSpPr>
            <p:spPr>
              <a:xfrm>
                <a:off x="9041885" y="5772389"/>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23" name="TextBox 22">
                <a:extLst>
                  <a:ext uri="{FF2B5EF4-FFF2-40B4-BE49-F238E27FC236}">
                    <a16:creationId xmlns:a16="http://schemas.microsoft.com/office/drawing/2014/main" id="{6C8EEE69-C55E-848B-C18A-697F976C12D9}"/>
                  </a:ext>
                </a:extLst>
              </p:cNvPr>
              <p:cNvSpPr txBox="1">
                <a:spLocks noRot="1" noChangeAspect="1" noMove="1" noResize="1" noEditPoints="1" noAdjustHandles="1" noChangeArrowheads="1" noChangeShapeType="1" noTextEdit="1"/>
              </p:cNvSpPr>
              <p:nvPr/>
            </p:nvSpPr>
            <p:spPr>
              <a:xfrm>
                <a:off x="9041885" y="5772389"/>
                <a:ext cx="555431"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4EFD202-8D90-0851-EB87-7ED54278E66A}"/>
                  </a:ext>
                </a:extLst>
              </p:cNvPr>
              <p:cNvSpPr txBox="1"/>
              <p:nvPr/>
            </p:nvSpPr>
            <p:spPr>
              <a:xfrm>
                <a:off x="8085404" y="259719"/>
                <a:ext cx="3873133" cy="88979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Putting these together, we must have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r>
                        <a:rPr lang="en-US" b="0" i="1" smtClean="0">
                          <a:latin typeface="Cambria Math" panose="02040503050406030204" pitchFamily="18" charset="0"/>
                        </a:rPr>
                        <m:t>≥</m:t>
                      </m:r>
                      <m:r>
                        <a:rPr lang="en-US" b="0" i="1" smtClean="0">
                          <a:latin typeface="Cambria Math" panose="02040503050406030204" pitchFamily="18" charset="0"/>
                        </a:rPr>
                        <m:t>𝜆</m:t>
                      </m:r>
                    </m:oMath>
                  </m:oMathPara>
                </a14:m>
                <a:endParaRPr lang="en-US" b="0" dirty="0"/>
              </a:p>
            </p:txBody>
          </p:sp>
        </mc:Choice>
        <mc:Fallback xmlns="">
          <p:sp>
            <p:nvSpPr>
              <p:cNvPr id="5" name="TextBox 4">
                <a:extLst>
                  <a:ext uri="{FF2B5EF4-FFF2-40B4-BE49-F238E27FC236}">
                    <a16:creationId xmlns:a16="http://schemas.microsoft.com/office/drawing/2014/main" id="{54EFD202-8D90-0851-EB87-7ED54278E66A}"/>
                  </a:ext>
                </a:extLst>
              </p:cNvPr>
              <p:cNvSpPr txBox="1">
                <a:spLocks noRot="1" noChangeAspect="1" noMove="1" noResize="1" noEditPoints="1" noAdjustHandles="1" noChangeArrowheads="1" noChangeShapeType="1" noTextEdit="1"/>
              </p:cNvSpPr>
              <p:nvPr/>
            </p:nvSpPr>
            <p:spPr>
              <a:xfrm>
                <a:off x="8085404" y="259719"/>
                <a:ext cx="3873133" cy="889795"/>
              </a:xfrm>
              <a:prstGeom prst="rect">
                <a:avLst/>
              </a:prstGeom>
              <a:blipFill>
                <a:blip r:embed="rId11"/>
                <a:stretch>
                  <a:fillRect l="-1095" t="-2685"/>
                </a:stretch>
              </a:blipFill>
            </p:spPr>
            <p:txBody>
              <a:bodyPr/>
              <a:lstStyle/>
              <a:p>
                <a:r>
                  <a:rPr lang="en-US">
                    <a:noFill/>
                  </a:rPr>
                  <a:t> </a:t>
                </a:r>
              </a:p>
            </p:txBody>
          </p:sp>
        </mc:Fallback>
      </mc:AlternateContent>
    </p:spTree>
    <p:extLst>
      <p:ext uri="{BB962C8B-B14F-4D97-AF65-F5344CB8AC3E}">
        <p14:creationId xmlns:p14="http://schemas.microsoft.com/office/powerpoint/2010/main" val="293428809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4D9C5-A990-6A66-B7E9-92C09D106A5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036CC8D-FC2B-3E62-A5CE-D3B51B5E9894}"/>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E036CC8D-FC2B-3E62-A5CE-D3B51B5E9894}"/>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6" name="TextBox 5">
            <a:extLst>
              <a:ext uri="{FF2B5EF4-FFF2-40B4-BE49-F238E27FC236}">
                <a16:creationId xmlns:a16="http://schemas.microsoft.com/office/drawing/2014/main" id="{03CFF930-0D1A-E58A-797B-5E841553A17B}"/>
              </a:ext>
            </a:extLst>
          </p:cNvPr>
          <p:cNvSpPr txBox="1"/>
          <p:nvPr/>
        </p:nvSpPr>
        <p:spPr>
          <a:xfrm>
            <a:off x="170328" y="3981152"/>
            <a:ext cx="4383741" cy="175432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dirty="0"/>
              <a:t>Check your understanding:</a:t>
            </a:r>
          </a:p>
          <a:p>
            <a:endParaRPr lang="en-US" dirty="0"/>
          </a:p>
          <a:p>
            <a:r>
              <a:rPr lang="en-US" dirty="0"/>
              <a:t>Write the expression that describes the conditions under which high-talent men prefer to run instead of not run, while low-talent men prefer to not run instead of run.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CC80CC4-C355-68CF-27A7-CA315237BFD1}"/>
                  </a:ext>
                </a:extLst>
              </p:cNvPr>
              <p:cNvSpPr txBox="1"/>
              <p:nvPr/>
            </p:nvSpPr>
            <p:spPr>
              <a:xfrm>
                <a:off x="5710519" y="3890682"/>
                <a:ext cx="6078071" cy="230832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Step 1: High talent men prefer to run instead of not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a:p>
                <a:r>
                  <a:rPr lang="en-US" dirty="0"/>
                  <a:t>Step 2: Low talent men prefer to not run instead of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dirty="0"/>
              </a:p>
              <a:p>
                <a:r>
                  <a:rPr lang="en-US" dirty="0"/>
                  <a:t>Step 3: Putting these together, we must have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𝑤𝐵</m:t>
                      </m:r>
                    </m:oMath>
                  </m:oMathPara>
                </a14:m>
                <a:endParaRPr lang="en-US" b="0" dirty="0"/>
              </a:p>
              <a:p>
                <a:r>
                  <a:rPr lang="en-US" dirty="0"/>
                  <a:t>or, equivalently:</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𝑤𝐵</m:t>
                      </m:r>
                    </m:oMath>
                  </m:oMathPara>
                </a14:m>
                <a:endParaRPr lang="en-US" dirty="0"/>
              </a:p>
            </p:txBody>
          </p:sp>
        </mc:Choice>
        <mc:Fallback xmlns="">
          <p:sp>
            <p:nvSpPr>
              <p:cNvPr id="2" name="TextBox 1">
                <a:extLst>
                  <a:ext uri="{FF2B5EF4-FFF2-40B4-BE49-F238E27FC236}">
                    <a16:creationId xmlns:a16="http://schemas.microsoft.com/office/drawing/2014/main" id="{CCC80CC4-C355-68CF-27A7-CA315237BFD1}"/>
                  </a:ext>
                </a:extLst>
              </p:cNvPr>
              <p:cNvSpPr txBox="1">
                <a:spLocks noRot="1" noChangeAspect="1" noMove="1" noResize="1" noEditPoints="1" noAdjustHandles="1" noChangeArrowheads="1" noChangeShapeType="1" noTextEdit="1"/>
              </p:cNvSpPr>
              <p:nvPr/>
            </p:nvSpPr>
            <p:spPr>
              <a:xfrm>
                <a:off x="5710519" y="3890682"/>
                <a:ext cx="6078071" cy="2308324"/>
              </a:xfrm>
              <a:prstGeom prst="rect">
                <a:avLst/>
              </a:prstGeom>
              <a:blipFill>
                <a:blip r:embed="rId3"/>
                <a:stretch>
                  <a:fillRect l="-800" t="-7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60044F6-8430-E33B-1591-517EA06B382B}"/>
                  </a:ext>
                </a:extLst>
              </p:cNvPr>
              <p:cNvSpPr txBox="1"/>
              <p:nvPr/>
            </p:nvSpPr>
            <p:spPr>
              <a:xfrm rot="20623664">
                <a:off x="2882751" y="1304413"/>
                <a:ext cx="4383741" cy="258532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So...for a given benefit of winning </a:t>
                </a:r>
                <a14:m>
                  <m:oMath xmlns:m="http://schemas.openxmlformats.org/officeDocument/2006/math">
                    <m:r>
                      <a:rPr lang="en-US" b="0" i="1" smtClean="0">
                        <a:latin typeface="Cambria Math" panose="02040503050406030204" pitchFamily="18" charset="0"/>
                      </a:rPr>
                      <m:t>𝐵</m:t>
                    </m:r>
                  </m:oMath>
                </a14:m>
                <a:r>
                  <a:rPr lang="en-US" dirty="0"/>
                  <a:t>, cost of running </a:t>
                </a:r>
                <a14:m>
                  <m:oMath xmlns:m="http://schemas.openxmlformats.org/officeDocument/2006/math">
                    <m:r>
                      <a:rPr lang="en-US" b="0" i="1" smtClean="0">
                        <a:latin typeface="Cambria Math" panose="02040503050406030204" pitchFamily="18" charset="0"/>
                      </a:rPr>
                      <m:t>𝐶</m:t>
                    </m:r>
                  </m:oMath>
                </a14:m>
                <a:r>
                  <a:rPr lang="en-US" dirty="0"/>
                  <a:t>...</a:t>
                </a:r>
              </a:p>
              <a:p>
                <a:endParaRPr lang="en-US" dirty="0"/>
              </a:p>
              <a:p>
                <a:r>
                  <a:rPr lang="en-US" dirty="0"/>
                  <a:t>high-talent men want to run if the high-talent win probability </a:t>
                </a:r>
                <a14:m>
                  <m:oMath xmlns:m="http://schemas.openxmlformats.org/officeDocument/2006/math">
                    <m:r>
                      <a:rPr lang="en-US" b="0" i="1" smtClean="0">
                        <a:latin typeface="Cambria Math" panose="02040503050406030204" pitchFamily="18" charset="0"/>
                      </a:rPr>
                      <m:t>𝑤</m:t>
                    </m:r>
                  </m:oMath>
                </a14:m>
                <a:r>
                  <a:rPr lang="en-US" dirty="0"/>
                  <a:t> is not too small...</a:t>
                </a:r>
              </a:p>
              <a:p>
                <a:endParaRPr lang="en-US" dirty="0"/>
              </a:p>
              <a:p>
                <a:r>
                  <a:rPr lang="en-US" dirty="0"/>
                  <a:t>and low-talent men do not want to run if the low-talent penalty is sufficiently severe (i.e. </a:t>
                </a:r>
                <a14:m>
                  <m:oMath xmlns:m="http://schemas.openxmlformats.org/officeDocument/2006/math">
                    <m:r>
                      <a:rPr lang="en-US" b="0" i="1" smtClean="0">
                        <a:latin typeface="Cambria Math" panose="02040503050406030204" pitchFamily="18" charset="0"/>
                      </a:rPr>
                      <m:t>𝜆</m:t>
                    </m:r>
                  </m:oMath>
                </a14:m>
                <a:r>
                  <a:rPr lang="en-US" dirty="0"/>
                  <a:t> is sufficiently small)</a:t>
                </a:r>
              </a:p>
            </p:txBody>
          </p:sp>
        </mc:Choice>
        <mc:Fallback xmlns="">
          <p:sp>
            <p:nvSpPr>
              <p:cNvPr id="3" name="TextBox 2">
                <a:extLst>
                  <a:ext uri="{FF2B5EF4-FFF2-40B4-BE49-F238E27FC236}">
                    <a16:creationId xmlns:a16="http://schemas.microsoft.com/office/drawing/2014/main" id="{860044F6-8430-E33B-1591-517EA06B382B}"/>
                  </a:ext>
                </a:extLst>
              </p:cNvPr>
              <p:cNvSpPr txBox="1">
                <a:spLocks noRot="1" noChangeAspect="1" noMove="1" noResize="1" noEditPoints="1" noAdjustHandles="1" noChangeArrowheads="1" noChangeShapeType="1" noTextEdit="1"/>
              </p:cNvSpPr>
              <p:nvPr/>
            </p:nvSpPr>
            <p:spPr>
              <a:xfrm rot="20623664">
                <a:off x="2882751" y="1304413"/>
                <a:ext cx="4383741" cy="2585323"/>
              </a:xfrm>
              <a:prstGeom prst="rect">
                <a:avLst/>
              </a:prstGeom>
              <a:blipFill>
                <a:blip r:embed="rId4"/>
                <a:stretch>
                  <a:fillRect l="-737" t="-977" r="-246" b="-1954"/>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F5D051BD-51AE-B04A-6419-A36A420ECF39}"/>
              </a:ext>
            </a:extLst>
          </p:cNvPr>
          <p:cNvCxnSpPr/>
          <p:nvPr/>
        </p:nvCxnSpPr>
        <p:spPr>
          <a:xfrm>
            <a:off x="6956612" y="1999129"/>
            <a:ext cx="2070847" cy="39443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59CDA133-6349-A8D3-526E-324CBCC0025A}"/>
              </a:ext>
            </a:extLst>
          </p:cNvPr>
          <p:cNvCxnSpPr>
            <a:cxnSpLocks/>
          </p:cNvCxnSpPr>
          <p:nvPr/>
        </p:nvCxnSpPr>
        <p:spPr>
          <a:xfrm>
            <a:off x="5815190" y="3532982"/>
            <a:ext cx="2814129" cy="24104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17AAA6C0-5561-E418-9935-12DF16B3A867}"/>
              </a:ext>
            </a:extLst>
          </p:cNvPr>
          <p:cNvSpPr/>
          <p:nvPr/>
        </p:nvSpPr>
        <p:spPr>
          <a:xfrm>
            <a:off x="667436" y="716279"/>
            <a:ext cx="11425708" cy="5656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21A47FA-C8DA-30B5-4979-4808ECC9BB45}"/>
              </a:ext>
            </a:extLst>
          </p:cNvPr>
          <p:cNvCxnSpPr>
            <a:cxnSpLocks/>
          </p:cNvCxnSpPr>
          <p:nvPr/>
        </p:nvCxnSpPr>
        <p:spPr>
          <a:xfrm>
            <a:off x="2438400" y="1739153"/>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2C7D880-0B1A-CA33-D8EC-3A1EE31C139E}"/>
              </a:ext>
            </a:extLst>
          </p:cNvPr>
          <p:cNvCxnSpPr>
            <a:cxnSpLocks/>
          </p:cNvCxnSpPr>
          <p:nvPr/>
        </p:nvCxnSpPr>
        <p:spPr>
          <a:xfrm flipH="1">
            <a:off x="2438400" y="5468471"/>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3B93046-7009-F4F1-5DE0-863244518396}"/>
                  </a:ext>
                </a:extLst>
              </p:cNvPr>
              <p:cNvSpPr txBox="1"/>
              <p:nvPr/>
            </p:nvSpPr>
            <p:spPr>
              <a:xfrm>
                <a:off x="9607685" y="5114527"/>
                <a:ext cx="1474827" cy="707886"/>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𝑤</m:t>
                    </m:r>
                  </m:oMath>
                </a14:m>
                <a:r>
                  <a:rPr lang="en-US" dirty="0"/>
                  <a:t> </a:t>
                </a:r>
                <a:br>
                  <a:rPr lang="en-US" dirty="0"/>
                </a:br>
                <a:r>
                  <a:rPr lang="en-US" sz="1400" dirty="0"/>
                  <a:t>(win probability for </a:t>
                </a:r>
              </a:p>
              <a:p>
                <a:pPr algn="ctr"/>
                <a:r>
                  <a:rPr lang="en-US" sz="1400" dirty="0"/>
                  <a:t>high-talent men)</a:t>
                </a:r>
              </a:p>
            </p:txBody>
          </p:sp>
        </mc:Choice>
        <mc:Fallback xmlns="">
          <p:sp>
            <p:nvSpPr>
              <p:cNvPr id="17" name="TextBox 16">
                <a:extLst>
                  <a:ext uri="{FF2B5EF4-FFF2-40B4-BE49-F238E27FC236}">
                    <a16:creationId xmlns:a16="http://schemas.microsoft.com/office/drawing/2014/main" id="{B3B93046-7009-F4F1-5DE0-863244518396}"/>
                  </a:ext>
                </a:extLst>
              </p:cNvPr>
              <p:cNvSpPr txBox="1">
                <a:spLocks noRot="1" noChangeAspect="1" noMove="1" noResize="1" noEditPoints="1" noAdjustHandles="1" noChangeArrowheads="1" noChangeShapeType="1" noTextEdit="1"/>
              </p:cNvSpPr>
              <p:nvPr/>
            </p:nvSpPr>
            <p:spPr>
              <a:xfrm>
                <a:off x="9607685" y="5114527"/>
                <a:ext cx="1474827" cy="707886"/>
              </a:xfrm>
              <a:prstGeom prst="rect">
                <a:avLst/>
              </a:prstGeom>
              <a:blipFill>
                <a:blip r:embed="rId5"/>
                <a:stretch>
                  <a:fillRect l="-7025" r="-7025"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68F9C88-05ED-C9CE-0B8B-C4839D293D67}"/>
                  </a:ext>
                </a:extLst>
              </p:cNvPr>
              <p:cNvSpPr txBox="1"/>
              <p:nvPr/>
            </p:nvSpPr>
            <p:spPr>
              <a:xfrm>
                <a:off x="1685036" y="1033651"/>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18" name="TextBox 17">
                <a:extLst>
                  <a:ext uri="{FF2B5EF4-FFF2-40B4-BE49-F238E27FC236}">
                    <a16:creationId xmlns:a16="http://schemas.microsoft.com/office/drawing/2014/main" id="{A68F9C88-05ED-C9CE-0B8B-C4839D293D67}"/>
                  </a:ext>
                </a:extLst>
              </p:cNvPr>
              <p:cNvSpPr txBox="1">
                <a:spLocks noRot="1" noChangeAspect="1" noMove="1" noResize="1" noEditPoints="1" noAdjustHandles="1" noChangeArrowheads="1" noChangeShapeType="1" noTextEdit="1"/>
              </p:cNvSpPr>
              <p:nvPr/>
            </p:nvSpPr>
            <p:spPr>
              <a:xfrm>
                <a:off x="1685036" y="1033651"/>
                <a:ext cx="1505990" cy="492443"/>
              </a:xfrm>
              <a:prstGeom prst="rect">
                <a:avLst/>
              </a:prstGeom>
              <a:blipFill>
                <a:blip r:embed="rId6"/>
                <a:stretch>
                  <a:fillRect l="-7287" r="-5263" b="-22500"/>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57F87C9C-1172-9801-6C5D-CDB4D7A8C6F3}"/>
              </a:ext>
            </a:extLst>
          </p:cNvPr>
          <p:cNvCxnSpPr/>
          <p:nvPr/>
        </p:nvCxnSpPr>
        <p:spPr>
          <a:xfrm>
            <a:off x="2156201" y="1739153"/>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F24F11C-DF4D-195C-7480-3A0A33D15041}"/>
                  </a:ext>
                </a:extLst>
              </p:cNvPr>
              <p:cNvSpPr txBox="1"/>
              <p:nvPr/>
            </p:nvSpPr>
            <p:spPr>
              <a:xfrm>
                <a:off x="1713022" y="1572416"/>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11" name="TextBox 10">
                <a:extLst>
                  <a:ext uri="{FF2B5EF4-FFF2-40B4-BE49-F238E27FC236}">
                    <a16:creationId xmlns:a16="http://schemas.microsoft.com/office/drawing/2014/main" id="{EF24F11C-DF4D-195C-7480-3A0A33D15041}"/>
                  </a:ext>
                </a:extLst>
              </p:cNvPr>
              <p:cNvSpPr txBox="1">
                <a:spLocks noRot="1" noChangeAspect="1" noMove="1" noResize="1" noEditPoints="1" noAdjustHandles="1" noChangeArrowheads="1" noChangeShapeType="1" noTextEdit="1"/>
              </p:cNvSpPr>
              <p:nvPr/>
            </p:nvSpPr>
            <p:spPr>
              <a:xfrm>
                <a:off x="1713022" y="1572416"/>
                <a:ext cx="555431"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8E7C6EA-BAA0-D8B0-75D1-E0E6951AE56B}"/>
                  </a:ext>
                </a:extLst>
              </p:cNvPr>
              <p:cNvSpPr txBox="1"/>
              <p:nvPr/>
            </p:nvSpPr>
            <p:spPr>
              <a:xfrm>
                <a:off x="1710685" y="5283804"/>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13" name="TextBox 12">
                <a:extLst>
                  <a:ext uri="{FF2B5EF4-FFF2-40B4-BE49-F238E27FC236}">
                    <a16:creationId xmlns:a16="http://schemas.microsoft.com/office/drawing/2014/main" id="{D8E7C6EA-BAA0-D8B0-75D1-E0E6951AE56B}"/>
                  </a:ext>
                </a:extLst>
              </p:cNvPr>
              <p:cNvSpPr txBox="1">
                <a:spLocks noRot="1" noChangeAspect="1" noMove="1" noResize="1" noEditPoints="1" noAdjustHandles="1" noChangeArrowheads="1" noChangeShapeType="1" noTextEdit="1"/>
              </p:cNvSpPr>
              <p:nvPr/>
            </p:nvSpPr>
            <p:spPr>
              <a:xfrm>
                <a:off x="1710685" y="5283804"/>
                <a:ext cx="555431" cy="369332"/>
              </a:xfrm>
              <a:prstGeom prst="rect">
                <a:avLst/>
              </a:prstGeom>
              <a:blipFill>
                <a:blip r:embed="rId8"/>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1FD1BDEE-04AD-03BA-C9CC-AB50508C7BD2}"/>
              </a:ext>
            </a:extLst>
          </p:cNvPr>
          <p:cNvCxnSpPr/>
          <p:nvPr/>
        </p:nvCxnSpPr>
        <p:spPr>
          <a:xfrm>
            <a:off x="2160681" y="5468470"/>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7BA7B0B-32BD-9931-73A1-62C72685DBC4}"/>
              </a:ext>
            </a:extLst>
          </p:cNvPr>
          <p:cNvCxnSpPr>
            <a:cxnSpLocks/>
          </p:cNvCxnSpPr>
          <p:nvPr/>
        </p:nvCxnSpPr>
        <p:spPr>
          <a:xfrm flipV="1">
            <a:off x="2438031" y="5468470"/>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D52F38D-3CBD-A0C8-C4ED-C326D5079B45}"/>
                  </a:ext>
                </a:extLst>
              </p:cNvPr>
              <p:cNvSpPr txBox="1"/>
              <p:nvPr/>
            </p:nvSpPr>
            <p:spPr>
              <a:xfrm>
                <a:off x="2162842" y="578180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20" name="TextBox 19">
                <a:extLst>
                  <a:ext uri="{FF2B5EF4-FFF2-40B4-BE49-F238E27FC236}">
                    <a16:creationId xmlns:a16="http://schemas.microsoft.com/office/drawing/2014/main" id="{0D52F38D-3CBD-A0C8-C4ED-C326D5079B45}"/>
                  </a:ext>
                </a:extLst>
              </p:cNvPr>
              <p:cNvSpPr txBox="1">
                <a:spLocks noRot="1" noChangeAspect="1" noMove="1" noResize="1" noEditPoints="1" noAdjustHandles="1" noChangeArrowheads="1" noChangeShapeType="1" noTextEdit="1"/>
              </p:cNvSpPr>
              <p:nvPr/>
            </p:nvSpPr>
            <p:spPr>
              <a:xfrm>
                <a:off x="2162842" y="5781800"/>
                <a:ext cx="555431" cy="369332"/>
              </a:xfrm>
              <a:prstGeom prst="rect">
                <a:avLst/>
              </a:prstGeom>
              <a:blipFill>
                <a:blip r:embed="rId9"/>
                <a:stretch>
                  <a:fillRect/>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694885E2-3E53-1EB5-3BFA-5E597CB38C20}"/>
              </a:ext>
            </a:extLst>
          </p:cNvPr>
          <p:cNvCxnSpPr>
            <a:cxnSpLocks/>
          </p:cNvCxnSpPr>
          <p:nvPr/>
        </p:nvCxnSpPr>
        <p:spPr>
          <a:xfrm flipV="1">
            <a:off x="9319601" y="5468470"/>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AF592D0-A499-A700-D0D2-4499AB178474}"/>
                  </a:ext>
                </a:extLst>
              </p:cNvPr>
              <p:cNvSpPr txBox="1"/>
              <p:nvPr/>
            </p:nvSpPr>
            <p:spPr>
              <a:xfrm>
                <a:off x="9041885" y="5772389"/>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23" name="TextBox 22">
                <a:extLst>
                  <a:ext uri="{FF2B5EF4-FFF2-40B4-BE49-F238E27FC236}">
                    <a16:creationId xmlns:a16="http://schemas.microsoft.com/office/drawing/2014/main" id="{6AF592D0-A499-A700-D0D2-4499AB178474}"/>
                  </a:ext>
                </a:extLst>
              </p:cNvPr>
              <p:cNvSpPr txBox="1">
                <a:spLocks noRot="1" noChangeAspect="1" noMove="1" noResize="1" noEditPoints="1" noAdjustHandles="1" noChangeArrowheads="1" noChangeShapeType="1" noTextEdit="1"/>
              </p:cNvSpPr>
              <p:nvPr/>
            </p:nvSpPr>
            <p:spPr>
              <a:xfrm>
                <a:off x="9041885" y="5772389"/>
                <a:ext cx="555431"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667F71D-09B5-AA21-7147-9DFB8B80F3DC}"/>
                  </a:ext>
                </a:extLst>
              </p:cNvPr>
              <p:cNvSpPr txBox="1"/>
              <p:nvPr/>
            </p:nvSpPr>
            <p:spPr>
              <a:xfrm>
                <a:off x="8085404" y="259719"/>
                <a:ext cx="3873133" cy="88979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Putting these together, we must have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r>
                        <a:rPr lang="en-US" b="0" i="1" smtClean="0">
                          <a:latin typeface="Cambria Math" panose="02040503050406030204" pitchFamily="18" charset="0"/>
                        </a:rPr>
                        <m:t>≥</m:t>
                      </m:r>
                      <m:r>
                        <a:rPr lang="en-US" b="0" i="1" smtClean="0">
                          <a:latin typeface="Cambria Math" panose="02040503050406030204" pitchFamily="18" charset="0"/>
                        </a:rPr>
                        <m:t>𝜆</m:t>
                      </m:r>
                    </m:oMath>
                  </m:oMathPara>
                </a14:m>
                <a:endParaRPr lang="en-US" b="0" dirty="0"/>
              </a:p>
            </p:txBody>
          </p:sp>
        </mc:Choice>
        <mc:Fallback xmlns="">
          <p:sp>
            <p:nvSpPr>
              <p:cNvPr id="5" name="TextBox 4">
                <a:extLst>
                  <a:ext uri="{FF2B5EF4-FFF2-40B4-BE49-F238E27FC236}">
                    <a16:creationId xmlns:a16="http://schemas.microsoft.com/office/drawing/2014/main" id="{1667F71D-09B5-AA21-7147-9DFB8B80F3DC}"/>
                  </a:ext>
                </a:extLst>
              </p:cNvPr>
              <p:cNvSpPr txBox="1">
                <a:spLocks noRot="1" noChangeAspect="1" noMove="1" noResize="1" noEditPoints="1" noAdjustHandles="1" noChangeArrowheads="1" noChangeShapeType="1" noTextEdit="1"/>
              </p:cNvSpPr>
              <p:nvPr/>
            </p:nvSpPr>
            <p:spPr>
              <a:xfrm>
                <a:off x="8085404" y="259719"/>
                <a:ext cx="3873133" cy="889795"/>
              </a:xfrm>
              <a:prstGeom prst="rect">
                <a:avLst/>
              </a:prstGeom>
              <a:blipFill>
                <a:blip r:embed="rId11"/>
                <a:stretch>
                  <a:fillRect l="-1095" t="-2685"/>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3C6E498E-38E2-F43C-D54F-076F4C8C28D6}"/>
              </a:ext>
            </a:extLst>
          </p:cNvPr>
          <p:cNvCxnSpPr>
            <a:cxnSpLocks/>
          </p:cNvCxnSpPr>
          <p:nvPr/>
        </p:nvCxnSpPr>
        <p:spPr>
          <a:xfrm flipV="1">
            <a:off x="4434555" y="548594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D50E8F9-183F-43D2-E2D6-4ED4104E6561}"/>
                  </a:ext>
                </a:extLst>
              </p:cNvPr>
              <p:cNvSpPr txBox="1"/>
              <p:nvPr/>
            </p:nvSpPr>
            <p:spPr>
              <a:xfrm>
                <a:off x="4154363" y="5858065"/>
                <a:ext cx="578278" cy="432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e>
                      </m:box>
                    </m:oMath>
                  </m:oMathPara>
                </a14:m>
                <a:endParaRPr lang="en-US" dirty="0"/>
              </a:p>
            </p:txBody>
          </p:sp>
        </mc:Choice>
        <mc:Fallback xmlns="">
          <p:sp>
            <p:nvSpPr>
              <p:cNvPr id="21" name="TextBox 20">
                <a:extLst>
                  <a:ext uri="{FF2B5EF4-FFF2-40B4-BE49-F238E27FC236}">
                    <a16:creationId xmlns:a16="http://schemas.microsoft.com/office/drawing/2014/main" id="{2D50E8F9-183F-43D2-E2D6-4ED4104E6561}"/>
                  </a:ext>
                </a:extLst>
              </p:cNvPr>
              <p:cNvSpPr txBox="1">
                <a:spLocks noRot="1" noChangeAspect="1" noMove="1" noResize="1" noEditPoints="1" noAdjustHandles="1" noChangeArrowheads="1" noChangeShapeType="1" noTextEdit="1"/>
              </p:cNvSpPr>
              <p:nvPr/>
            </p:nvSpPr>
            <p:spPr>
              <a:xfrm>
                <a:off x="4154363" y="5858065"/>
                <a:ext cx="578278" cy="432298"/>
              </a:xfrm>
              <a:prstGeom prst="rect">
                <a:avLst/>
              </a:prstGeom>
              <a:blipFill>
                <a:blip r:embed="rId12"/>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4ABCB5FF-7DEC-FF9E-E1D2-0DA69BCA518E}"/>
              </a:ext>
            </a:extLst>
          </p:cNvPr>
          <p:cNvCxnSpPr>
            <a:cxnSpLocks/>
          </p:cNvCxnSpPr>
          <p:nvPr/>
        </p:nvCxnSpPr>
        <p:spPr>
          <a:xfrm flipV="1">
            <a:off x="4443502" y="1389528"/>
            <a:ext cx="0" cy="4061474"/>
          </a:xfrm>
          <a:prstGeom prst="line">
            <a:avLst/>
          </a:prstGeom>
          <a:ln w="3810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970077CC-1498-DA20-A2A3-AF3A9CFB9EAF}"/>
              </a:ext>
            </a:extLst>
          </p:cNvPr>
          <p:cNvCxnSpPr>
            <a:cxnSpLocks/>
          </p:cNvCxnSpPr>
          <p:nvPr/>
        </p:nvCxnSpPr>
        <p:spPr>
          <a:xfrm>
            <a:off x="4557834" y="2492657"/>
            <a:ext cx="220519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D4564CAD-E32F-21CC-1A97-E6C54DFC23AB}"/>
              </a:ext>
            </a:extLst>
          </p:cNvPr>
          <p:cNvSpPr txBox="1"/>
          <p:nvPr/>
        </p:nvSpPr>
        <p:spPr>
          <a:xfrm>
            <a:off x="4434555" y="2188595"/>
            <a:ext cx="2505202" cy="307777"/>
          </a:xfrm>
          <a:prstGeom prst="rect">
            <a:avLst/>
          </a:prstGeom>
          <a:noFill/>
        </p:spPr>
        <p:txBody>
          <a:bodyPr wrap="square" rtlCol="0">
            <a:spAutoFit/>
          </a:bodyPr>
          <a:lstStyle/>
          <a:p>
            <a:r>
              <a:rPr lang="en-US" sz="1400" i="1" dirty="0"/>
              <a:t>high talent men want to run</a:t>
            </a:r>
          </a:p>
        </p:txBody>
      </p:sp>
      <p:sp>
        <p:nvSpPr>
          <p:cNvPr id="31" name="TextBox 30">
            <a:extLst>
              <a:ext uri="{FF2B5EF4-FFF2-40B4-BE49-F238E27FC236}">
                <a16:creationId xmlns:a16="http://schemas.microsoft.com/office/drawing/2014/main" id="{B104DBD2-0169-8BE5-D18C-BB1136D969D1}"/>
              </a:ext>
            </a:extLst>
          </p:cNvPr>
          <p:cNvSpPr txBox="1"/>
          <p:nvPr/>
        </p:nvSpPr>
        <p:spPr>
          <a:xfrm>
            <a:off x="2886616" y="2000335"/>
            <a:ext cx="1545312" cy="523220"/>
          </a:xfrm>
          <a:prstGeom prst="rect">
            <a:avLst/>
          </a:prstGeom>
          <a:noFill/>
        </p:spPr>
        <p:txBody>
          <a:bodyPr wrap="square" rtlCol="0">
            <a:spAutoFit/>
          </a:bodyPr>
          <a:lstStyle/>
          <a:p>
            <a:r>
              <a:rPr lang="en-US" sz="1400" i="1" dirty="0"/>
              <a:t>high talent men don’t want to run</a:t>
            </a:r>
          </a:p>
        </p:txBody>
      </p:sp>
      <p:cxnSp>
        <p:nvCxnSpPr>
          <p:cNvPr id="32" name="Straight Arrow Connector 31">
            <a:extLst>
              <a:ext uri="{FF2B5EF4-FFF2-40B4-BE49-F238E27FC236}">
                <a16:creationId xmlns:a16="http://schemas.microsoft.com/office/drawing/2014/main" id="{3A4A3FD2-8CFD-5C1C-0982-C9E49748F775}"/>
              </a:ext>
            </a:extLst>
          </p:cNvPr>
          <p:cNvCxnSpPr>
            <a:cxnSpLocks/>
          </p:cNvCxnSpPr>
          <p:nvPr/>
        </p:nvCxnSpPr>
        <p:spPr>
          <a:xfrm flipH="1">
            <a:off x="2872225" y="2523555"/>
            <a:ext cx="145240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4B0E0734-CA07-32AE-A9E5-CACBB960DF70}"/>
              </a:ext>
            </a:extLst>
          </p:cNvPr>
          <p:cNvSpPr/>
          <p:nvPr/>
        </p:nvSpPr>
        <p:spPr>
          <a:xfrm>
            <a:off x="8812306" y="528918"/>
            <a:ext cx="1156447" cy="742386"/>
          </a:xfrm>
          <a:prstGeom prst="ellips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4484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29AAE-774E-22E9-17D1-163D5382AE5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084F7B89-02F2-0703-B35C-EFA1EC45E57D}"/>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084F7B89-02F2-0703-B35C-EFA1EC45E57D}"/>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6" name="TextBox 5">
            <a:extLst>
              <a:ext uri="{FF2B5EF4-FFF2-40B4-BE49-F238E27FC236}">
                <a16:creationId xmlns:a16="http://schemas.microsoft.com/office/drawing/2014/main" id="{278C5A41-D515-766A-DBC1-28FD4A86C95E}"/>
              </a:ext>
            </a:extLst>
          </p:cNvPr>
          <p:cNvSpPr txBox="1"/>
          <p:nvPr/>
        </p:nvSpPr>
        <p:spPr>
          <a:xfrm>
            <a:off x="170328" y="3981152"/>
            <a:ext cx="4383741" cy="175432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dirty="0"/>
              <a:t>Check your understanding:</a:t>
            </a:r>
          </a:p>
          <a:p>
            <a:endParaRPr lang="en-US" dirty="0"/>
          </a:p>
          <a:p>
            <a:r>
              <a:rPr lang="en-US" dirty="0"/>
              <a:t>Write the expression that describes the conditions under which high-talent men prefer to run instead of not run, while low-talent men prefer to not run instead of run.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4D070A8-7145-45EE-77C4-5A158EE6A55E}"/>
                  </a:ext>
                </a:extLst>
              </p:cNvPr>
              <p:cNvSpPr txBox="1"/>
              <p:nvPr/>
            </p:nvSpPr>
            <p:spPr>
              <a:xfrm>
                <a:off x="5710519" y="3890682"/>
                <a:ext cx="6078071" cy="230832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Step 1: High talent men prefer to run instead of not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a:p>
                <a:r>
                  <a:rPr lang="en-US" dirty="0"/>
                  <a:t>Step 2: Low talent men prefer to not run instead of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dirty="0"/>
              </a:p>
              <a:p>
                <a:r>
                  <a:rPr lang="en-US" dirty="0"/>
                  <a:t>Step 3: Putting these together, we must have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𝑤𝐵</m:t>
                      </m:r>
                    </m:oMath>
                  </m:oMathPara>
                </a14:m>
                <a:endParaRPr lang="en-US" b="0" dirty="0"/>
              </a:p>
              <a:p>
                <a:r>
                  <a:rPr lang="en-US" dirty="0"/>
                  <a:t>or, equivalently:</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𝑤𝐵</m:t>
                      </m:r>
                    </m:oMath>
                  </m:oMathPara>
                </a14:m>
                <a:endParaRPr lang="en-US" dirty="0"/>
              </a:p>
            </p:txBody>
          </p:sp>
        </mc:Choice>
        <mc:Fallback xmlns="">
          <p:sp>
            <p:nvSpPr>
              <p:cNvPr id="2" name="TextBox 1">
                <a:extLst>
                  <a:ext uri="{FF2B5EF4-FFF2-40B4-BE49-F238E27FC236}">
                    <a16:creationId xmlns:a16="http://schemas.microsoft.com/office/drawing/2014/main" id="{E4D070A8-7145-45EE-77C4-5A158EE6A55E}"/>
                  </a:ext>
                </a:extLst>
              </p:cNvPr>
              <p:cNvSpPr txBox="1">
                <a:spLocks noRot="1" noChangeAspect="1" noMove="1" noResize="1" noEditPoints="1" noAdjustHandles="1" noChangeArrowheads="1" noChangeShapeType="1" noTextEdit="1"/>
              </p:cNvSpPr>
              <p:nvPr/>
            </p:nvSpPr>
            <p:spPr>
              <a:xfrm>
                <a:off x="5710519" y="3890682"/>
                <a:ext cx="6078071" cy="2308324"/>
              </a:xfrm>
              <a:prstGeom prst="rect">
                <a:avLst/>
              </a:prstGeom>
              <a:blipFill>
                <a:blip r:embed="rId3"/>
                <a:stretch>
                  <a:fillRect l="-800" t="-7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9C26460-4CA4-5475-69C5-D21994E1D2BA}"/>
                  </a:ext>
                </a:extLst>
              </p:cNvPr>
              <p:cNvSpPr txBox="1"/>
              <p:nvPr/>
            </p:nvSpPr>
            <p:spPr>
              <a:xfrm rot="20623664">
                <a:off x="2882751" y="1304413"/>
                <a:ext cx="4383741" cy="258532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So...for a given benefit of winning </a:t>
                </a:r>
                <a14:m>
                  <m:oMath xmlns:m="http://schemas.openxmlformats.org/officeDocument/2006/math">
                    <m:r>
                      <a:rPr lang="en-US" b="0" i="1" smtClean="0">
                        <a:latin typeface="Cambria Math" panose="02040503050406030204" pitchFamily="18" charset="0"/>
                      </a:rPr>
                      <m:t>𝐵</m:t>
                    </m:r>
                  </m:oMath>
                </a14:m>
                <a:r>
                  <a:rPr lang="en-US" dirty="0"/>
                  <a:t>, cost of running </a:t>
                </a:r>
                <a14:m>
                  <m:oMath xmlns:m="http://schemas.openxmlformats.org/officeDocument/2006/math">
                    <m:r>
                      <a:rPr lang="en-US" b="0" i="1" smtClean="0">
                        <a:latin typeface="Cambria Math" panose="02040503050406030204" pitchFamily="18" charset="0"/>
                      </a:rPr>
                      <m:t>𝐶</m:t>
                    </m:r>
                  </m:oMath>
                </a14:m>
                <a:r>
                  <a:rPr lang="en-US" dirty="0"/>
                  <a:t>...</a:t>
                </a:r>
              </a:p>
              <a:p>
                <a:endParaRPr lang="en-US" dirty="0"/>
              </a:p>
              <a:p>
                <a:r>
                  <a:rPr lang="en-US" dirty="0"/>
                  <a:t>high-talent men want to run if the high-talent win probability </a:t>
                </a:r>
                <a14:m>
                  <m:oMath xmlns:m="http://schemas.openxmlformats.org/officeDocument/2006/math">
                    <m:r>
                      <a:rPr lang="en-US" b="0" i="1" smtClean="0">
                        <a:latin typeface="Cambria Math" panose="02040503050406030204" pitchFamily="18" charset="0"/>
                      </a:rPr>
                      <m:t>𝑤</m:t>
                    </m:r>
                  </m:oMath>
                </a14:m>
                <a:r>
                  <a:rPr lang="en-US" dirty="0"/>
                  <a:t> is not too small...</a:t>
                </a:r>
              </a:p>
              <a:p>
                <a:endParaRPr lang="en-US" dirty="0"/>
              </a:p>
              <a:p>
                <a:r>
                  <a:rPr lang="en-US" dirty="0"/>
                  <a:t>and low-talent men do not want to run if the low-talent penalty is sufficiently severe (i.e. </a:t>
                </a:r>
                <a14:m>
                  <m:oMath xmlns:m="http://schemas.openxmlformats.org/officeDocument/2006/math">
                    <m:r>
                      <a:rPr lang="en-US" b="0" i="1" smtClean="0">
                        <a:latin typeface="Cambria Math" panose="02040503050406030204" pitchFamily="18" charset="0"/>
                      </a:rPr>
                      <m:t>𝜆</m:t>
                    </m:r>
                  </m:oMath>
                </a14:m>
                <a:r>
                  <a:rPr lang="en-US" dirty="0"/>
                  <a:t> is sufficiently small)</a:t>
                </a:r>
              </a:p>
            </p:txBody>
          </p:sp>
        </mc:Choice>
        <mc:Fallback xmlns="">
          <p:sp>
            <p:nvSpPr>
              <p:cNvPr id="3" name="TextBox 2">
                <a:extLst>
                  <a:ext uri="{FF2B5EF4-FFF2-40B4-BE49-F238E27FC236}">
                    <a16:creationId xmlns:a16="http://schemas.microsoft.com/office/drawing/2014/main" id="{09C26460-4CA4-5475-69C5-D21994E1D2BA}"/>
                  </a:ext>
                </a:extLst>
              </p:cNvPr>
              <p:cNvSpPr txBox="1">
                <a:spLocks noRot="1" noChangeAspect="1" noMove="1" noResize="1" noEditPoints="1" noAdjustHandles="1" noChangeArrowheads="1" noChangeShapeType="1" noTextEdit="1"/>
              </p:cNvSpPr>
              <p:nvPr/>
            </p:nvSpPr>
            <p:spPr>
              <a:xfrm rot="20623664">
                <a:off x="2882751" y="1304413"/>
                <a:ext cx="4383741" cy="2585323"/>
              </a:xfrm>
              <a:prstGeom prst="rect">
                <a:avLst/>
              </a:prstGeom>
              <a:blipFill>
                <a:blip r:embed="rId4"/>
                <a:stretch>
                  <a:fillRect l="-737" t="-977" r="-246" b="-1954"/>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87993228-6763-2B1D-259E-A28C36877FFC}"/>
              </a:ext>
            </a:extLst>
          </p:cNvPr>
          <p:cNvCxnSpPr/>
          <p:nvPr/>
        </p:nvCxnSpPr>
        <p:spPr>
          <a:xfrm>
            <a:off x="6956612" y="1999129"/>
            <a:ext cx="2070847" cy="39443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ADFE4495-F37A-20EA-5470-60EE9E9CCCB8}"/>
              </a:ext>
            </a:extLst>
          </p:cNvPr>
          <p:cNvCxnSpPr>
            <a:cxnSpLocks/>
          </p:cNvCxnSpPr>
          <p:nvPr/>
        </p:nvCxnSpPr>
        <p:spPr>
          <a:xfrm>
            <a:off x="5815190" y="3532982"/>
            <a:ext cx="2814129" cy="24104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ED8903B5-A404-C009-6D7C-45550486D0FA}"/>
              </a:ext>
            </a:extLst>
          </p:cNvPr>
          <p:cNvSpPr/>
          <p:nvPr/>
        </p:nvSpPr>
        <p:spPr>
          <a:xfrm>
            <a:off x="667436" y="716279"/>
            <a:ext cx="11425708" cy="5656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CCAF8E0-1107-C430-E2DA-F898961B5B4E}"/>
              </a:ext>
            </a:extLst>
          </p:cNvPr>
          <p:cNvCxnSpPr>
            <a:cxnSpLocks/>
          </p:cNvCxnSpPr>
          <p:nvPr/>
        </p:nvCxnSpPr>
        <p:spPr>
          <a:xfrm>
            <a:off x="2438400" y="1739153"/>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1F058FD-E5F6-88B9-FC83-B72A1D99EB3B}"/>
              </a:ext>
            </a:extLst>
          </p:cNvPr>
          <p:cNvCxnSpPr>
            <a:cxnSpLocks/>
          </p:cNvCxnSpPr>
          <p:nvPr/>
        </p:nvCxnSpPr>
        <p:spPr>
          <a:xfrm flipH="1">
            <a:off x="2438400" y="5468471"/>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2B30AC1-B0B7-52E6-393A-20BE5FD57667}"/>
                  </a:ext>
                </a:extLst>
              </p:cNvPr>
              <p:cNvSpPr txBox="1"/>
              <p:nvPr/>
            </p:nvSpPr>
            <p:spPr>
              <a:xfrm>
                <a:off x="9607685" y="5114527"/>
                <a:ext cx="1474827" cy="707886"/>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𝑤</m:t>
                    </m:r>
                  </m:oMath>
                </a14:m>
                <a:r>
                  <a:rPr lang="en-US" dirty="0"/>
                  <a:t> </a:t>
                </a:r>
                <a:br>
                  <a:rPr lang="en-US" dirty="0"/>
                </a:br>
                <a:r>
                  <a:rPr lang="en-US" sz="1400" dirty="0"/>
                  <a:t>(win probability for </a:t>
                </a:r>
              </a:p>
              <a:p>
                <a:pPr algn="ctr"/>
                <a:r>
                  <a:rPr lang="en-US" sz="1400" dirty="0"/>
                  <a:t>high-talent men)</a:t>
                </a:r>
              </a:p>
            </p:txBody>
          </p:sp>
        </mc:Choice>
        <mc:Fallback xmlns="">
          <p:sp>
            <p:nvSpPr>
              <p:cNvPr id="17" name="TextBox 16">
                <a:extLst>
                  <a:ext uri="{FF2B5EF4-FFF2-40B4-BE49-F238E27FC236}">
                    <a16:creationId xmlns:a16="http://schemas.microsoft.com/office/drawing/2014/main" id="{72B30AC1-B0B7-52E6-393A-20BE5FD57667}"/>
                  </a:ext>
                </a:extLst>
              </p:cNvPr>
              <p:cNvSpPr txBox="1">
                <a:spLocks noRot="1" noChangeAspect="1" noMove="1" noResize="1" noEditPoints="1" noAdjustHandles="1" noChangeArrowheads="1" noChangeShapeType="1" noTextEdit="1"/>
              </p:cNvSpPr>
              <p:nvPr/>
            </p:nvSpPr>
            <p:spPr>
              <a:xfrm>
                <a:off x="9607685" y="5114527"/>
                <a:ext cx="1474827" cy="707886"/>
              </a:xfrm>
              <a:prstGeom prst="rect">
                <a:avLst/>
              </a:prstGeom>
              <a:blipFill>
                <a:blip r:embed="rId5"/>
                <a:stretch>
                  <a:fillRect l="-7025" r="-7025"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05ED350-D34C-A6C5-6A81-1358AC7A31BE}"/>
                  </a:ext>
                </a:extLst>
              </p:cNvPr>
              <p:cNvSpPr txBox="1"/>
              <p:nvPr/>
            </p:nvSpPr>
            <p:spPr>
              <a:xfrm>
                <a:off x="1685036" y="1033651"/>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18" name="TextBox 17">
                <a:extLst>
                  <a:ext uri="{FF2B5EF4-FFF2-40B4-BE49-F238E27FC236}">
                    <a16:creationId xmlns:a16="http://schemas.microsoft.com/office/drawing/2014/main" id="{705ED350-D34C-A6C5-6A81-1358AC7A31BE}"/>
                  </a:ext>
                </a:extLst>
              </p:cNvPr>
              <p:cNvSpPr txBox="1">
                <a:spLocks noRot="1" noChangeAspect="1" noMove="1" noResize="1" noEditPoints="1" noAdjustHandles="1" noChangeArrowheads="1" noChangeShapeType="1" noTextEdit="1"/>
              </p:cNvSpPr>
              <p:nvPr/>
            </p:nvSpPr>
            <p:spPr>
              <a:xfrm>
                <a:off x="1685036" y="1033651"/>
                <a:ext cx="1505990" cy="492443"/>
              </a:xfrm>
              <a:prstGeom prst="rect">
                <a:avLst/>
              </a:prstGeom>
              <a:blipFill>
                <a:blip r:embed="rId6"/>
                <a:stretch>
                  <a:fillRect l="-7287" r="-5263" b="-22500"/>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1B16D41A-E159-813F-312A-FDA72D216792}"/>
              </a:ext>
            </a:extLst>
          </p:cNvPr>
          <p:cNvCxnSpPr/>
          <p:nvPr/>
        </p:nvCxnSpPr>
        <p:spPr>
          <a:xfrm>
            <a:off x="2156201" y="1739153"/>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4830A30-2153-FC2B-409B-D4ED2432C1A0}"/>
                  </a:ext>
                </a:extLst>
              </p:cNvPr>
              <p:cNvSpPr txBox="1"/>
              <p:nvPr/>
            </p:nvSpPr>
            <p:spPr>
              <a:xfrm>
                <a:off x="1713022" y="1572416"/>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11" name="TextBox 10">
                <a:extLst>
                  <a:ext uri="{FF2B5EF4-FFF2-40B4-BE49-F238E27FC236}">
                    <a16:creationId xmlns:a16="http://schemas.microsoft.com/office/drawing/2014/main" id="{64830A30-2153-FC2B-409B-D4ED2432C1A0}"/>
                  </a:ext>
                </a:extLst>
              </p:cNvPr>
              <p:cNvSpPr txBox="1">
                <a:spLocks noRot="1" noChangeAspect="1" noMove="1" noResize="1" noEditPoints="1" noAdjustHandles="1" noChangeArrowheads="1" noChangeShapeType="1" noTextEdit="1"/>
              </p:cNvSpPr>
              <p:nvPr/>
            </p:nvSpPr>
            <p:spPr>
              <a:xfrm>
                <a:off x="1713022" y="1572416"/>
                <a:ext cx="555431"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9459681-F3A0-06AE-1C29-A1B2009FE185}"/>
                  </a:ext>
                </a:extLst>
              </p:cNvPr>
              <p:cNvSpPr txBox="1"/>
              <p:nvPr/>
            </p:nvSpPr>
            <p:spPr>
              <a:xfrm>
                <a:off x="1710685" y="5283804"/>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13" name="TextBox 12">
                <a:extLst>
                  <a:ext uri="{FF2B5EF4-FFF2-40B4-BE49-F238E27FC236}">
                    <a16:creationId xmlns:a16="http://schemas.microsoft.com/office/drawing/2014/main" id="{09459681-F3A0-06AE-1C29-A1B2009FE185}"/>
                  </a:ext>
                </a:extLst>
              </p:cNvPr>
              <p:cNvSpPr txBox="1">
                <a:spLocks noRot="1" noChangeAspect="1" noMove="1" noResize="1" noEditPoints="1" noAdjustHandles="1" noChangeArrowheads="1" noChangeShapeType="1" noTextEdit="1"/>
              </p:cNvSpPr>
              <p:nvPr/>
            </p:nvSpPr>
            <p:spPr>
              <a:xfrm>
                <a:off x="1710685" y="5283804"/>
                <a:ext cx="555431" cy="369332"/>
              </a:xfrm>
              <a:prstGeom prst="rect">
                <a:avLst/>
              </a:prstGeom>
              <a:blipFill>
                <a:blip r:embed="rId8"/>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A8518ACB-ADAB-4035-0971-941FC8E88933}"/>
              </a:ext>
            </a:extLst>
          </p:cNvPr>
          <p:cNvCxnSpPr/>
          <p:nvPr/>
        </p:nvCxnSpPr>
        <p:spPr>
          <a:xfrm>
            <a:off x="2160681" y="5468470"/>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1F77349-6B50-DEF3-397F-2C032B40C2F5}"/>
              </a:ext>
            </a:extLst>
          </p:cNvPr>
          <p:cNvCxnSpPr>
            <a:cxnSpLocks/>
          </p:cNvCxnSpPr>
          <p:nvPr/>
        </p:nvCxnSpPr>
        <p:spPr>
          <a:xfrm flipV="1">
            <a:off x="2438031" y="5468470"/>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76D6006-7260-21EB-9C21-E1B7829BD50F}"/>
                  </a:ext>
                </a:extLst>
              </p:cNvPr>
              <p:cNvSpPr txBox="1"/>
              <p:nvPr/>
            </p:nvSpPr>
            <p:spPr>
              <a:xfrm>
                <a:off x="2162842" y="578180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20" name="TextBox 19">
                <a:extLst>
                  <a:ext uri="{FF2B5EF4-FFF2-40B4-BE49-F238E27FC236}">
                    <a16:creationId xmlns:a16="http://schemas.microsoft.com/office/drawing/2014/main" id="{F76D6006-7260-21EB-9C21-E1B7829BD50F}"/>
                  </a:ext>
                </a:extLst>
              </p:cNvPr>
              <p:cNvSpPr txBox="1">
                <a:spLocks noRot="1" noChangeAspect="1" noMove="1" noResize="1" noEditPoints="1" noAdjustHandles="1" noChangeArrowheads="1" noChangeShapeType="1" noTextEdit="1"/>
              </p:cNvSpPr>
              <p:nvPr/>
            </p:nvSpPr>
            <p:spPr>
              <a:xfrm>
                <a:off x="2162842" y="5781800"/>
                <a:ext cx="555431" cy="369332"/>
              </a:xfrm>
              <a:prstGeom prst="rect">
                <a:avLst/>
              </a:prstGeom>
              <a:blipFill>
                <a:blip r:embed="rId9"/>
                <a:stretch>
                  <a:fillRect/>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0DB055C7-B4B2-19AE-44DC-B821B2052C48}"/>
              </a:ext>
            </a:extLst>
          </p:cNvPr>
          <p:cNvCxnSpPr>
            <a:cxnSpLocks/>
          </p:cNvCxnSpPr>
          <p:nvPr/>
        </p:nvCxnSpPr>
        <p:spPr>
          <a:xfrm flipV="1">
            <a:off x="9319601" y="5468470"/>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7D5096C-2C9F-0A10-8C8C-C191EF954B98}"/>
                  </a:ext>
                </a:extLst>
              </p:cNvPr>
              <p:cNvSpPr txBox="1"/>
              <p:nvPr/>
            </p:nvSpPr>
            <p:spPr>
              <a:xfrm>
                <a:off x="9041885" y="5772389"/>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23" name="TextBox 22">
                <a:extLst>
                  <a:ext uri="{FF2B5EF4-FFF2-40B4-BE49-F238E27FC236}">
                    <a16:creationId xmlns:a16="http://schemas.microsoft.com/office/drawing/2014/main" id="{B7D5096C-2C9F-0A10-8C8C-C191EF954B98}"/>
                  </a:ext>
                </a:extLst>
              </p:cNvPr>
              <p:cNvSpPr txBox="1">
                <a:spLocks noRot="1" noChangeAspect="1" noMove="1" noResize="1" noEditPoints="1" noAdjustHandles="1" noChangeArrowheads="1" noChangeShapeType="1" noTextEdit="1"/>
              </p:cNvSpPr>
              <p:nvPr/>
            </p:nvSpPr>
            <p:spPr>
              <a:xfrm>
                <a:off x="9041885" y="5772389"/>
                <a:ext cx="555431"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11A7158-7028-4522-E8A0-09C993F72A45}"/>
                  </a:ext>
                </a:extLst>
              </p:cNvPr>
              <p:cNvSpPr txBox="1"/>
              <p:nvPr/>
            </p:nvSpPr>
            <p:spPr>
              <a:xfrm>
                <a:off x="8085404" y="259719"/>
                <a:ext cx="3873133" cy="88979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Putting these together, we must have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r>
                        <a:rPr lang="en-US" b="0" i="1" smtClean="0">
                          <a:latin typeface="Cambria Math" panose="02040503050406030204" pitchFamily="18" charset="0"/>
                        </a:rPr>
                        <m:t>≥</m:t>
                      </m:r>
                      <m:r>
                        <a:rPr lang="en-US" b="0" i="1" smtClean="0">
                          <a:latin typeface="Cambria Math" panose="02040503050406030204" pitchFamily="18" charset="0"/>
                        </a:rPr>
                        <m:t>𝜆</m:t>
                      </m:r>
                    </m:oMath>
                  </m:oMathPara>
                </a14:m>
                <a:endParaRPr lang="en-US" b="0" dirty="0"/>
              </a:p>
            </p:txBody>
          </p:sp>
        </mc:Choice>
        <mc:Fallback xmlns="">
          <p:sp>
            <p:nvSpPr>
              <p:cNvPr id="5" name="TextBox 4">
                <a:extLst>
                  <a:ext uri="{FF2B5EF4-FFF2-40B4-BE49-F238E27FC236}">
                    <a16:creationId xmlns:a16="http://schemas.microsoft.com/office/drawing/2014/main" id="{D11A7158-7028-4522-E8A0-09C993F72A45}"/>
                  </a:ext>
                </a:extLst>
              </p:cNvPr>
              <p:cNvSpPr txBox="1">
                <a:spLocks noRot="1" noChangeAspect="1" noMove="1" noResize="1" noEditPoints="1" noAdjustHandles="1" noChangeArrowheads="1" noChangeShapeType="1" noTextEdit="1"/>
              </p:cNvSpPr>
              <p:nvPr/>
            </p:nvSpPr>
            <p:spPr>
              <a:xfrm>
                <a:off x="8085404" y="259719"/>
                <a:ext cx="3873133" cy="889795"/>
              </a:xfrm>
              <a:prstGeom prst="rect">
                <a:avLst/>
              </a:prstGeom>
              <a:blipFill>
                <a:blip r:embed="rId11"/>
                <a:stretch>
                  <a:fillRect l="-1095" t="-2685"/>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8429C8C6-4A46-3ED1-50B9-F63EDE888F68}"/>
              </a:ext>
            </a:extLst>
          </p:cNvPr>
          <p:cNvCxnSpPr>
            <a:cxnSpLocks/>
          </p:cNvCxnSpPr>
          <p:nvPr/>
        </p:nvCxnSpPr>
        <p:spPr>
          <a:xfrm flipV="1">
            <a:off x="4434555" y="548594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3230D43-8338-C09A-4765-F77AA56C9269}"/>
                  </a:ext>
                </a:extLst>
              </p:cNvPr>
              <p:cNvSpPr txBox="1"/>
              <p:nvPr/>
            </p:nvSpPr>
            <p:spPr>
              <a:xfrm>
                <a:off x="4154363" y="5858065"/>
                <a:ext cx="578278" cy="432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e>
                      </m:box>
                    </m:oMath>
                  </m:oMathPara>
                </a14:m>
                <a:endParaRPr lang="en-US" dirty="0"/>
              </a:p>
            </p:txBody>
          </p:sp>
        </mc:Choice>
        <mc:Fallback xmlns="">
          <p:sp>
            <p:nvSpPr>
              <p:cNvPr id="21" name="TextBox 20">
                <a:extLst>
                  <a:ext uri="{FF2B5EF4-FFF2-40B4-BE49-F238E27FC236}">
                    <a16:creationId xmlns:a16="http://schemas.microsoft.com/office/drawing/2014/main" id="{D3230D43-8338-C09A-4765-F77AA56C9269}"/>
                  </a:ext>
                </a:extLst>
              </p:cNvPr>
              <p:cNvSpPr txBox="1">
                <a:spLocks noRot="1" noChangeAspect="1" noMove="1" noResize="1" noEditPoints="1" noAdjustHandles="1" noChangeArrowheads="1" noChangeShapeType="1" noTextEdit="1"/>
              </p:cNvSpPr>
              <p:nvPr/>
            </p:nvSpPr>
            <p:spPr>
              <a:xfrm>
                <a:off x="4154363" y="5858065"/>
                <a:ext cx="578278" cy="432298"/>
              </a:xfrm>
              <a:prstGeom prst="rect">
                <a:avLst/>
              </a:prstGeom>
              <a:blipFill>
                <a:blip r:embed="rId12"/>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19A19871-CB98-5B31-9FD3-AC37A86DA237}"/>
              </a:ext>
            </a:extLst>
          </p:cNvPr>
          <p:cNvCxnSpPr>
            <a:cxnSpLocks/>
          </p:cNvCxnSpPr>
          <p:nvPr/>
        </p:nvCxnSpPr>
        <p:spPr>
          <a:xfrm flipV="1">
            <a:off x="4443502" y="1389528"/>
            <a:ext cx="0" cy="4061474"/>
          </a:xfrm>
          <a:prstGeom prst="line">
            <a:avLst/>
          </a:prstGeom>
          <a:ln w="3810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1331B6CE-1DD9-12D7-40F5-20357B0D717E}"/>
              </a:ext>
            </a:extLst>
          </p:cNvPr>
          <p:cNvCxnSpPr>
            <a:cxnSpLocks/>
          </p:cNvCxnSpPr>
          <p:nvPr/>
        </p:nvCxnSpPr>
        <p:spPr>
          <a:xfrm>
            <a:off x="4557834" y="2492657"/>
            <a:ext cx="220519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CCD47017-E2BA-E83C-A4FB-E00EA0F85F68}"/>
              </a:ext>
            </a:extLst>
          </p:cNvPr>
          <p:cNvSpPr txBox="1"/>
          <p:nvPr/>
        </p:nvSpPr>
        <p:spPr>
          <a:xfrm>
            <a:off x="4434555" y="2188595"/>
            <a:ext cx="2505202" cy="307777"/>
          </a:xfrm>
          <a:prstGeom prst="rect">
            <a:avLst/>
          </a:prstGeom>
          <a:noFill/>
        </p:spPr>
        <p:txBody>
          <a:bodyPr wrap="square" rtlCol="0">
            <a:spAutoFit/>
          </a:bodyPr>
          <a:lstStyle/>
          <a:p>
            <a:r>
              <a:rPr lang="en-US" sz="1400" i="1" dirty="0"/>
              <a:t>high talent men want to run</a:t>
            </a:r>
          </a:p>
        </p:txBody>
      </p:sp>
      <p:sp>
        <p:nvSpPr>
          <p:cNvPr id="31" name="TextBox 30">
            <a:extLst>
              <a:ext uri="{FF2B5EF4-FFF2-40B4-BE49-F238E27FC236}">
                <a16:creationId xmlns:a16="http://schemas.microsoft.com/office/drawing/2014/main" id="{7CEA6C39-24D0-C61E-DACE-0A7DB54BD60A}"/>
              </a:ext>
            </a:extLst>
          </p:cNvPr>
          <p:cNvSpPr txBox="1"/>
          <p:nvPr/>
        </p:nvSpPr>
        <p:spPr>
          <a:xfrm>
            <a:off x="2886616" y="2000335"/>
            <a:ext cx="1545312" cy="523220"/>
          </a:xfrm>
          <a:prstGeom prst="rect">
            <a:avLst/>
          </a:prstGeom>
          <a:noFill/>
        </p:spPr>
        <p:txBody>
          <a:bodyPr wrap="square" rtlCol="0">
            <a:spAutoFit/>
          </a:bodyPr>
          <a:lstStyle/>
          <a:p>
            <a:r>
              <a:rPr lang="en-US" sz="1400" i="1" dirty="0"/>
              <a:t>high talent men don’t want to run</a:t>
            </a:r>
          </a:p>
        </p:txBody>
      </p:sp>
      <p:cxnSp>
        <p:nvCxnSpPr>
          <p:cNvPr id="32" name="Straight Arrow Connector 31">
            <a:extLst>
              <a:ext uri="{FF2B5EF4-FFF2-40B4-BE49-F238E27FC236}">
                <a16:creationId xmlns:a16="http://schemas.microsoft.com/office/drawing/2014/main" id="{49B63747-9A86-64A8-E9DE-420775C9DAF7}"/>
              </a:ext>
            </a:extLst>
          </p:cNvPr>
          <p:cNvCxnSpPr>
            <a:cxnSpLocks/>
          </p:cNvCxnSpPr>
          <p:nvPr/>
        </p:nvCxnSpPr>
        <p:spPr>
          <a:xfrm flipH="1">
            <a:off x="2872225" y="2523555"/>
            <a:ext cx="145240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E0FBE173-04BF-353A-7345-091169B727DE}"/>
              </a:ext>
            </a:extLst>
          </p:cNvPr>
          <p:cNvSpPr/>
          <p:nvPr/>
        </p:nvSpPr>
        <p:spPr>
          <a:xfrm>
            <a:off x="10094259" y="501247"/>
            <a:ext cx="1281953" cy="826009"/>
          </a:xfrm>
          <a:prstGeom prst="ellipse">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E9AF3FB-4C08-7D32-7714-C70EFF25811A}"/>
                  </a:ext>
                </a:extLst>
              </p:cNvPr>
              <p:cNvSpPr txBox="1"/>
              <p:nvPr/>
            </p:nvSpPr>
            <p:spPr>
              <a:xfrm>
                <a:off x="1525219" y="4311692"/>
                <a:ext cx="578278" cy="432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e>
                      </m:box>
                    </m:oMath>
                  </m:oMathPara>
                </a14:m>
                <a:endParaRPr lang="en-US" dirty="0"/>
              </a:p>
            </p:txBody>
          </p:sp>
        </mc:Choice>
        <mc:Fallback xmlns="">
          <p:sp>
            <p:nvSpPr>
              <p:cNvPr id="26" name="TextBox 25">
                <a:extLst>
                  <a:ext uri="{FF2B5EF4-FFF2-40B4-BE49-F238E27FC236}">
                    <a16:creationId xmlns:a16="http://schemas.microsoft.com/office/drawing/2014/main" id="{6E9AF3FB-4C08-7D32-7714-C70EFF25811A}"/>
                  </a:ext>
                </a:extLst>
              </p:cNvPr>
              <p:cNvSpPr txBox="1">
                <a:spLocks noRot="1" noChangeAspect="1" noMove="1" noResize="1" noEditPoints="1" noAdjustHandles="1" noChangeArrowheads="1" noChangeShapeType="1" noTextEdit="1"/>
              </p:cNvSpPr>
              <p:nvPr/>
            </p:nvSpPr>
            <p:spPr>
              <a:xfrm>
                <a:off x="1525219" y="4311692"/>
                <a:ext cx="578278" cy="432298"/>
              </a:xfrm>
              <a:prstGeom prst="rect">
                <a:avLst/>
              </a:prstGeom>
              <a:blipFill>
                <a:blip r:embed="rId13"/>
                <a:stretch>
                  <a:fillRect/>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3FC58388-E6A5-649B-5520-1239CE2F406E}"/>
              </a:ext>
            </a:extLst>
          </p:cNvPr>
          <p:cNvCxnSpPr/>
          <p:nvPr/>
        </p:nvCxnSpPr>
        <p:spPr>
          <a:xfrm>
            <a:off x="2155832" y="452784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73281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81059-F529-70E8-9555-11F2579838C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9BE0227-41FE-B773-DC52-768014CB3FE8}"/>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C9BE0227-41FE-B773-DC52-768014CB3FE8}"/>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6" name="TextBox 5">
            <a:extLst>
              <a:ext uri="{FF2B5EF4-FFF2-40B4-BE49-F238E27FC236}">
                <a16:creationId xmlns:a16="http://schemas.microsoft.com/office/drawing/2014/main" id="{6AB9FD0B-9A16-DA94-72E8-C3CCD9C92FAE}"/>
              </a:ext>
            </a:extLst>
          </p:cNvPr>
          <p:cNvSpPr txBox="1"/>
          <p:nvPr/>
        </p:nvSpPr>
        <p:spPr>
          <a:xfrm>
            <a:off x="170328" y="3981152"/>
            <a:ext cx="4383741" cy="175432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dirty="0"/>
              <a:t>Check your understanding:</a:t>
            </a:r>
          </a:p>
          <a:p>
            <a:endParaRPr lang="en-US" dirty="0"/>
          </a:p>
          <a:p>
            <a:r>
              <a:rPr lang="en-US" dirty="0"/>
              <a:t>Write the expression that describes the conditions under which high-talent men prefer to run instead of not run, while low-talent men prefer to not run instead of run.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2EE9F39-907C-78A7-E3A6-A92435B3EBD9}"/>
                  </a:ext>
                </a:extLst>
              </p:cNvPr>
              <p:cNvSpPr txBox="1"/>
              <p:nvPr/>
            </p:nvSpPr>
            <p:spPr>
              <a:xfrm>
                <a:off x="5710519" y="3890682"/>
                <a:ext cx="6078071" cy="230832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Step 1: High talent men prefer to run instead of not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a:p>
                <a:r>
                  <a:rPr lang="en-US" dirty="0"/>
                  <a:t>Step 2: Low talent men prefer to not run instead of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dirty="0"/>
              </a:p>
              <a:p>
                <a:r>
                  <a:rPr lang="en-US" dirty="0"/>
                  <a:t>Step 3: Putting these together, we must have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𝑤𝐵</m:t>
                      </m:r>
                    </m:oMath>
                  </m:oMathPara>
                </a14:m>
                <a:endParaRPr lang="en-US" b="0" dirty="0"/>
              </a:p>
              <a:p>
                <a:r>
                  <a:rPr lang="en-US" dirty="0"/>
                  <a:t>or, equivalently:</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𝑤𝐵</m:t>
                      </m:r>
                    </m:oMath>
                  </m:oMathPara>
                </a14:m>
                <a:endParaRPr lang="en-US" dirty="0"/>
              </a:p>
            </p:txBody>
          </p:sp>
        </mc:Choice>
        <mc:Fallback xmlns="">
          <p:sp>
            <p:nvSpPr>
              <p:cNvPr id="2" name="TextBox 1">
                <a:extLst>
                  <a:ext uri="{FF2B5EF4-FFF2-40B4-BE49-F238E27FC236}">
                    <a16:creationId xmlns:a16="http://schemas.microsoft.com/office/drawing/2014/main" id="{A2EE9F39-907C-78A7-E3A6-A92435B3EBD9}"/>
                  </a:ext>
                </a:extLst>
              </p:cNvPr>
              <p:cNvSpPr txBox="1">
                <a:spLocks noRot="1" noChangeAspect="1" noMove="1" noResize="1" noEditPoints="1" noAdjustHandles="1" noChangeArrowheads="1" noChangeShapeType="1" noTextEdit="1"/>
              </p:cNvSpPr>
              <p:nvPr/>
            </p:nvSpPr>
            <p:spPr>
              <a:xfrm>
                <a:off x="5710519" y="3890682"/>
                <a:ext cx="6078071" cy="2308324"/>
              </a:xfrm>
              <a:prstGeom prst="rect">
                <a:avLst/>
              </a:prstGeom>
              <a:blipFill>
                <a:blip r:embed="rId3"/>
                <a:stretch>
                  <a:fillRect l="-800" t="-7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AF62826-0C7E-DB41-3E2C-8CD15C967B7C}"/>
                  </a:ext>
                </a:extLst>
              </p:cNvPr>
              <p:cNvSpPr txBox="1"/>
              <p:nvPr/>
            </p:nvSpPr>
            <p:spPr>
              <a:xfrm rot="20623664">
                <a:off x="2882751" y="1304413"/>
                <a:ext cx="4383741" cy="258532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So...for a given benefit of winning </a:t>
                </a:r>
                <a14:m>
                  <m:oMath xmlns:m="http://schemas.openxmlformats.org/officeDocument/2006/math">
                    <m:r>
                      <a:rPr lang="en-US" b="0" i="1" smtClean="0">
                        <a:latin typeface="Cambria Math" panose="02040503050406030204" pitchFamily="18" charset="0"/>
                      </a:rPr>
                      <m:t>𝐵</m:t>
                    </m:r>
                  </m:oMath>
                </a14:m>
                <a:r>
                  <a:rPr lang="en-US" dirty="0"/>
                  <a:t>, cost of running </a:t>
                </a:r>
                <a14:m>
                  <m:oMath xmlns:m="http://schemas.openxmlformats.org/officeDocument/2006/math">
                    <m:r>
                      <a:rPr lang="en-US" b="0" i="1" smtClean="0">
                        <a:latin typeface="Cambria Math" panose="02040503050406030204" pitchFamily="18" charset="0"/>
                      </a:rPr>
                      <m:t>𝐶</m:t>
                    </m:r>
                  </m:oMath>
                </a14:m>
                <a:r>
                  <a:rPr lang="en-US" dirty="0"/>
                  <a:t>...</a:t>
                </a:r>
              </a:p>
              <a:p>
                <a:endParaRPr lang="en-US" dirty="0"/>
              </a:p>
              <a:p>
                <a:r>
                  <a:rPr lang="en-US" dirty="0"/>
                  <a:t>high-talent men want to run if the high-talent win probability </a:t>
                </a:r>
                <a14:m>
                  <m:oMath xmlns:m="http://schemas.openxmlformats.org/officeDocument/2006/math">
                    <m:r>
                      <a:rPr lang="en-US" b="0" i="1" smtClean="0">
                        <a:latin typeface="Cambria Math" panose="02040503050406030204" pitchFamily="18" charset="0"/>
                      </a:rPr>
                      <m:t>𝑤</m:t>
                    </m:r>
                  </m:oMath>
                </a14:m>
                <a:r>
                  <a:rPr lang="en-US" dirty="0"/>
                  <a:t> is not too small...</a:t>
                </a:r>
              </a:p>
              <a:p>
                <a:endParaRPr lang="en-US" dirty="0"/>
              </a:p>
              <a:p>
                <a:r>
                  <a:rPr lang="en-US" dirty="0"/>
                  <a:t>and low-talent men do not want to run if the low-talent penalty is sufficiently severe (i.e. </a:t>
                </a:r>
                <a14:m>
                  <m:oMath xmlns:m="http://schemas.openxmlformats.org/officeDocument/2006/math">
                    <m:r>
                      <a:rPr lang="en-US" b="0" i="1" smtClean="0">
                        <a:latin typeface="Cambria Math" panose="02040503050406030204" pitchFamily="18" charset="0"/>
                      </a:rPr>
                      <m:t>𝜆</m:t>
                    </m:r>
                  </m:oMath>
                </a14:m>
                <a:r>
                  <a:rPr lang="en-US" dirty="0"/>
                  <a:t> is sufficiently small)</a:t>
                </a:r>
              </a:p>
            </p:txBody>
          </p:sp>
        </mc:Choice>
        <mc:Fallback xmlns="">
          <p:sp>
            <p:nvSpPr>
              <p:cNvPr id="3" name="TextBox 2">
                <a:extLst>
                  <a:ext uri="{FF2B5EF4-FFF2-40B4-BE49-F238E27FC236}">
                    <a16:creationId xmlns:a16="http://schemas.microsoft.com/office/drawing/2014/main" id="{1AF62826-0C7E-DB41-3E2C-8CD15C967B7C}"/>
                  </a:ext>
                </a:extLst>
              </p:cNvPr>
              <p:cNvSpPr txBox="1">
                <a:spLocks noRot="1" noChangeAspect="1" noMove="1" noResize="1" noEditPoints="1" noAdjustHandles="1" noChangeArrowheads="1" noChangeShapeType="1" noTextEdit="1"/>
              </p:cNvSpPr>
              <p:nvPr/>
            </p:nvSpPr>
            <p:spPr>
              <a:xfrm rot="20623664">
                <a:off x="2882751" y="1304413"/>
                <a:ext cx="4383741" cy="2585323"/>
              </a:xfrm>
              <a:prstGeom prst="rect">
                <a:avLst/>
              </a:prstGeom>
              <a:blipFill>
                <a:blip r:embed="rId4"/>
                <a:stretch>
                  <a:fillRect l="-737" t="-977" r="-246" b="-1954"/>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69229739-15AE-6306-3B3B-847006B8476A}"/>
              </a:ext>
            </a:extLst>
          </p:cNvPr>
          <p:cNvCxnSpPr/>
          <p:nvPr/>
        </p:nvCxnSpPr>
        <p:spPr>
          <a:xfrm>
            <a:off x="6956612" y="1999129"/>
            <a:ext cx="2070847" cy="39443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81272E4F-AE1A-9A6A-A1B8-71B8FF9AD4DA}"/>
              </a:ext>
            </a:extLst>
          </p:cNvPr>
          <p:cNvCxnSpPr>
            <a:cxnSpLocks/>
          </p:cNvCxnSpPr>
          <p:nvPr/>
        </p:nvCxnSpPr>
        <p:spPr>
          <a:xfrm>
            <a:off x="5815190" y="3532982"/>
            <a:ext cx="2814129" cy="24104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98C9E603-49AF-828F-C6BC-AC0BBA4BEF76}"/>
              </a:ext>
            </a:extLst>
          </p:cNvPr>
          <p:cNvSpPr/>
          <p:nvPr/>
        </p:nvSpPr>
        <p:spPr>
          <a:xfrm>
            <a:off x="667436" y="716279"/>
            <a:ext cx="11425708" cy="5656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980941A1-1806-84F6-82FC-8D8E2B4A2347}"/>
              </a:ext>
            </a:extLst>
          </p:cNvPr>
          <p:cNvCxnSpPr>
            <a:cxnSpLocks/>
          </p:cNvCxnSpPr>
          <p:nvPr/>
        </p:nvCxnSpPr>
        <p:spPr>
          <a:xfrm>
            <a:off x="2438400" y="1739153"/>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1A49FB6-68B2-CEC0-3F9F-117D1040A02C}"/>
              </a:ext>
            </a:extLst>
          </p:cNvPr>
          <p:cNvCxnSpPr>
            <a:cxnSpLocks/>
          </p:cNvCxnSpPr>
          <p:nvPr/>
        </p:nvCxnSpPr>
        <p:spPr>
          <a:xfrm flipH="1">
            <a:off x="2438400" y="5468471"/>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4736AC3-BFD3-BDE1-ACB3-58658A3D4993}"/>
                  </a:ext>
                </a:extLst>
              </p:cNvPr>
              <p:cNvSpPr txBox="1"/>
              <p:nvPr/>
            </p:nvSpPr>
            <p:spPr>
              <a:xfrm>
                <a:off x="9607685" y="5114527"/>
                <a:ext cx="1474827" cy="707886"/>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𝑤</m:t>
                    </m:r>
                  </m:oMath>
                </a14:m>
                <a:r>
                  <a:rPr lang="en-US" dirty="0"/>
                  <a:t> </a:t>
                </a:r>
                <a:br>
                  <a:rPr lang="en-US" dirty="0"/>
                </a:br>
                <a:r>
                  <a:rPr lang="en-US" sz="1400" dirty="0"/>
                  <a:t>(win probability for </a:t>
                </a:r>
              </a:p>
              <a:p>
                <a:pPr algn="ctr"/>
                <a:r>
                  <a:rPr lang="en-US" sz="1400" dirty="0"/>
                  <a:t>high-talent men)</a:t>
                </a:r>
              </a:p>
            </p:txBody>
          </p:sp>
        </mc:Choice>
        <mc:Fallback xmlns="">
          <p:sp>
            <p:nvSpPr>
              <p:cNvPr id="17" name="TextBox 16">
                <a:extLst>
                  <a:ext uri="{FF2B5EF4-FFF2-40B4-BE49-F238E27FC236}">
                    <a16:creationId xmlns:a16="http://schemas.microsoft.com/office/drawing/2014/main" id="{74736AC3-BFD3-BDE1-ACB3-58658A3D4993}"/>
                  </a:ext>
                </a:extLst>
              </p:cNvPr>
              <p:cNvSpPr txBox="1">
                <a:spLocks noRot="1" noChangeAspect="1" noMove="1" noResize="1" noEditPoints="1" noAdjustHandles="1" noChangeArrowheads="1" noChangeShapeType="1" noTextEdit="1"/>
              </p:cNvSpPr>
              <p:nvPr/>
            </p:nvSpPr>
            <p:spPr>
              <a:xfrm>
                <a:off x="9607685" y="5114527"/>
                <a:ext cx="1474827" cy="707886"/>
              </a:xfrm>
              <a:prstGeom prst="rect">
                <a:avLst/>
              </a:prstGeom>
              <a:blipFill>
                <a:blip r:embed="rId5"/>
                <a:stretch>
                  <a:fillRect l="-7025" r="-7025"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AC0CA1F-7D52-A542-57AA-CD207A62054C}"/>
                  </a:ext>
                </a:extLst>
              </p:cNvPr>
              <p:cNvSpPr txBox="1"/>
              <p:nvPr/>
            </p:nvSpPr>
            <p:spPr>
              <a:xfrm>
                <a:off x="1685036" y="1033651"/>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18" name="TextBox 17">
                <a:extLst>
                  <a:ext uri="{FF2B5EF4-FFF2-40B4-BE49-F238E27FC236}">
                    <a16:creationId xmlns:a16="http://schemas.microsoft.com/office/drawing/2014/main" id="{4AC0CA1F-7D52-A542-57AA-CD207A62054C}"/>
                  </a:ext>
                </a:extLst>
              </p:cNvPr>
              <p:cNvSpPr txBox="1">
                <a:spLocks noRot="1" noChangeAspect="1" noMove="1" noResize="1" noEditPoints="1" noAdjustHandles="1" noChangeArrowheads="1" noChangeShapeType="1" noTextEdit="1"/>
              </p:cNvSpPr>
              <p:nvPr/>
            </p:nvSpPr>
            <p:spPr>
              <a:xfrm>
                <a:off x="1685036" y="1033651"/>
                <a:ext cx="1505990" cy="492443"/>
              </a:xfrm>
              <a:prstGeom prst="rect">
                <a:avLst/>
              </a:prstGeom>
              <a:blipFill>
                <a:blip r:embed="rId6"/>
                <a:stretch>
                  <a:fillRect l="-7287" r="-5263" b="-22500"/>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28A996C5-FC00-F5DA-6709-A48CD9617831}"/>
              </a:ext>
            </a:extLst>
          </p:cNvPr>
          <p:cNvCxnSpPr/>
          <p:nvPr/>
        </p:nvCxnSpPr>
        <p:spPr>
          <a:xfrm>
            <a:off x="2156201" y="1739153"/>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3455628-15B2-C439-5894-2105B4700124}"/>
                  </a:ext>
                </a:extLst>
              </p:cNvPr>
              <p:cNvSpPr txBox="1"/>
              <p:nvPr/>
            </p:nvSpPr>
            <p:spPr>
              <a:xfrm>
                <a:off x="1713022" y="1572416"/>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11" name="TextBox 10">
                <a:extLst>
                  <a:ext uri="{FF2B5EF4-FFF2-40B4-BE49-F238E27FC236}">
                    <a16:creationId xmlns:a16="http://schemas.microsoft.com/office/drawing/2014/main" id="{93455628-15B2-C439-5894-2105B4700124}"/>
                  </a:ext>
                </a:extLst>
              </p:cNvPr>
              <p:cNvSpPr txBox="1">
                <a:spLocks noRot="1" noChangeAspect="1" noMove="1" noResize="1" noEditPoints="1" noAdjustHandles="1" noChangeArrowheads="1" noChangeShapeType="1" noTextEdit="1"/>
              </p:cNvSpPr>
              <p:nvPr/>
            </p:nvSpPr>
            <p:spPr>
              <a:xfrm>
                <a:off x="1713022" y="1572416"/>
                <a:ext cx="555431"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4798171-E57A-7DD9-F980-AB20CB44C18D}"/>
                  </a:ext>
                </a:extLst>
              </p:cNvPr>
              <p:cNvSpPr txBox="1"/>
              <p:nvPr/>
            </p:nvSpPr>
            <p:spPr>
              <a:xfrm>
                <a:off x="1710685" y="5283804"/>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13" name="TextBox 12">
                <a:extLst>
                  <a:ext uri="{FF2B5EF4-FFF2-40B4-BE49-F238E27FC236}">
                    <a16:creationId xmlns:a16="http://schemas.microsoft.com/office/drawing/2014/main" id="{E4798171-E57A-7DD9-F980-AB20CB44C18D}"/>
                  </a:ext>
                </a:extLst>
              </p:cNvPr>
              <p:cNvSpPr txBox="1">
                <a:spLocks noRot="1" noChangeAspect="1" noMove="1" noResize="1" noEditPoints="1" noAdjustHandles="1" noChangeArrowheads="1" noChangeShapeType="1" noTextEdit="1"/>
              </p:cNvSpPr>
              <p:nvPr/>
            </p:nvSpPr>
            <p:spPr>
              <a:xfrm>
                <a:off x="1710685" y="5283804"/>
                <a:ext cx="555431" cy="369332"/>
              </a:xfrm>
              <a:prstGeom prst="rect">
                <a:avLst/>
              </a:prstGeom>
              <a:blipFill>
                <a:blip r:embed="rId8"/>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2EF74F32-6D99-861A-6FE6-C538FE0C48DF}"/>
              </a:ext>
            </a:extLst>
          </p:cNvPr>
          <p:cNvCxnSpPr/>
          <p:nvPr/>
        </p:nvCxnSpPr>
        <p:spPr>
          <a:xfrm>
            <a:off x="2160681" y="5468470"/>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35E2B4A2-B029-018B-10A4-61330254F174}"/>
              </a:ext>
            </a:extLst>
          </p:cNvPr>
          <p:cNvCxnSpPr>
            <a:cxnSpLocks/>
          </p:cNvCxnSpPr>
          <p:nvPr/>
        </p:nvCxnSpPr>
        <p:spPr>
          <a:xfrm flipV="1">
            <a:off x="2438031" y="5468470"/>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A63C345-8D15-74BA-C274-F7A7A259A7F0}"/>
                  </a:ext>
                </a:extLst>
              </p:cNvPr>
              <p:cNvSpPr txBox="1"/>
              <p:nvPr/>
            </p:nvSpPr>
            <p:spPr>
              <a:xfrm>
                <a:off x="2162842" y="578180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20" name="TextBox 19">
                <a:extLst>
                  <a:ext uri="{FF2B5EF4-FFF2-40B4-BE49-F238E27FC236}">
                    <a16:creationId xmlns:a16="http://schemas.microsoft.com/office/drawing/2014/main" id="{DA63C345-8D15-74BA-C274-F7A7A259A7F0}"/>
                  </a:ext>
                </a:extLst>
              </p:cNvPr>
              <p:cNvSpPr txBox="1">
                <a:spLocks noRot="1" noChangeAspect="1" noMove="1" noResize="1" noEditPoints="1" noAdjustHandles="1" noChangeArrowheads="1" noChangeShapeType="1" noTextEdit="1"/>
              </p:cNvSpPr>
              <p:nvPr/>
            </p:nvSpPr>
            <p:spPr>
              <a:xfrm>
                <a:off x="2162842" y="5781800"/>
                <a:ext cx="555431" cy="369332"/>
              </a:xfrm>
              <a:prstGeom prst="rect">
                <a:avLst/>
              </a:prstGeom>
              <a:blipFill>
                <a:blip r:embed="rId9"/>
                <a:stretch>
                  <a:fillRect/>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48DA28F2-1F04-663A-FF29-6699CDD29C6A}"/>
              </a:ext>
            </a:extLst>
          </p:cNvPr>
          <p:cNvCxnSpPr>
            <a:cxnSpLocks/>
          </p:cNvCxnSpPr>
          <p:nvPr/>
        </p:nvCxnSpPr>
        <p:spPr>
          <a:xfrm flipV="1">
            <a:off x="9319601" y="5468470"/>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F31238F-7B63-6584-077C-266CF3BD8DA9}"/>
                  </a:ext>
                </a:extLst>
              </p:cNvPr>
              <p:cNvSpPr txBox="1"/>
              <p:nvPr/>
            </p:nvSpPr>
            <p:spPr>
              <a:xfrm>
                <a:off x="9041885" y="5772389"/>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23" name="TextBox 22">
                <a:extLst>
                  <a:ext uri="{FF2B5EF4-FFF2-40B4-BE49-F238E27FC236}">
                    <a16:creationId xmlns:a16="http://schemas.microsoft.com/office/drawing/2014/main" id="{0F31238F-7B63-6584-077C-266CF3BD8DA9}"/>
                  </a:ext>
                </a:extLst>
              </p:cNvPr>
              <p:cNvSpPr txBox="1">
                <a:spLocks noRot="1" noChangeAspect="1" noMove="1" noResize="1" noEditPoints="1" noAdjustHandles="1" noChangeArrowheads="1" noChangeShapeType="1" noTextEdit="1"/>
              </p:cNvSpPr>
              <p:nvPr/>
            </p:nvSpPr>
            <p:spPr>
              <a:xfrm>
                <a:off x="9041885" y="5772389"/>
                <a:ext cx="555431"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44579E1-E200-9DDB-A8E5-213F56F5D140}"/>
                  </a:ext>
                </a:extLst>
              </p:cNvPr>
              <p:cNvSpPr txBox="1"/>
              <p:nvPr/>
            </p:nvSpPr>
            <p:spPr>
              <a:xfrm>
                <a:off x="8085404" y="259719"/>
                <a:ext cx="3873133" cy="88979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Putting these together, we must have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r>
                        <a:rPr lang="en-US" b="0" i="1" smtClean="0">
                          <a:latin typeface="Cambria Math" panose="02040503050406030204" pitchFamily="18" charset="0"/>
                        </a:rPr>
                        <m:t>≥</m:t>
                      </m:r>
                      <m:r>
                        <a:rPr lang="en-US" b="0" i="1" smtClean="0">
                          <a:latin typeface="Cambria Math" panose="02040503050406030204" pitchFamily="18" charset="0"/>
                        </a:rPr>
                        <m:t>𝜆</m:t>
                      </m:r>
                    </m:oMath>
                  </m:oMathPara>
                </a14:m>
                <a:endParaRPr lang="en-US" b="0" dirty="0"/>
              </a:p>
            </p:txBody>
          </p:sp>
        </mc:Choice>
        <mc:Fallback xmlns="">
          <p:sp>
            <p:nvSpPr>
              <p:cNvPr id="5" name="TextBox 4">
                <a:extLst>
                  <a:ext uri="{FF2B5EF4-FFF2-40B4-BE49-F238E27FC236}">
                    <a16:creationId xmlns:a16="http://schemas.microsoft.com/office/drawing/2014/main" id="{C44579E1-E200-9DDB-A8E5-213F56F5D140}"/>
                  </a:ext>
                </a:extLst>
              </p:cNvPr>
              <p:cNvSpPr txBox="1">
                <a:spLocks noRot="1" noChangeAspect="1" noMove="1" noResize="1" noEditPoints="1" noAdjustHandles="1" noChangeArrowheads="1" noChangeShapeType="1" noTextEdit="1"/>
              </p:cNvSpPr>
              <p:nvPr/>
            </p:nvSpPr>
            <p:spPr>
              <a:xfrm>
                <a:off x="8085404" y="259719"/>
                <a:ext cx="3873133" cy="889795"/>
              </a:xfrm>
              <a:prstGeom prst="rect">
                <a:avLst/>
              </a:prstGeom>
              <a:blipFill>
                <a:blip r:embed="rId11"/>
                <a:stretch>
                  <a:fillRect l="-1095" t="-2685"/>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26A688F9-3817-0B45-0540-A9F515CD261C}"/>
              </a:ext>
            </a:extLst>
          </p:cNvPr>
          <p:cNvCxnSpPr>
            <a:cxnSpLocks/>
          </p:cNvCxnSpPr>
          <p:nvPr/>
        </p:nvCxnSpPr>
        <p:spPr>
          <a:xfrm flipV="1">
            <a:off x="4434555" y="548594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8BEC552-960F-0594-1637-4360B85FF2E9}"/>
                  </a:ext>
                </a:extLst>
              </p:cNvPr>
              <p:cNvSpPr txBox="1"/>
              <p:nvPr/>
            </p:nvSpPr>
            <p:spPr>
              <a:xfrm>
                <a:off x="4154363" y="5858065"/>
                <a:ext cx="578278" cy="432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e>
                      </m:box>
                    </m:oMath>
                  </m:oMathPara>
                </a14:m>
                <a:endParaRPr lang="en-US" dirty="0"/>
              </a:p>
            </p:txBody>
          </p:sp>
        </mc:Choice>
        <mc:Fallback xmlns="">
          <p:sp>
            <p:nvSpPr>
              <p:cNvPr id="21" name="TextBox 20">
                <a:extLst>
                  <a:ext uri="{FF2B5EF4-FFF2-40B4-BE49-F238E27FC236}">
                    <a16:creationId xmlns:a16="http://schemas.microsoft.com/office/drawing/2014/main" id="{D8BEC552-960F-0594-1637-4360B85FF2E9}"/>
                  </a:ext>
                </a:extLst>
              </p:cNvPr>
              <p:cNvSpPr txBox="1">
                <a:spLocks noRot="1" noChangeAspect="1" noMove="1" noResize="1" noEditPoints="1" noAdjustHandles="1" noChangeArrowheads="1" noChangeShapeType="1" noTextEdit="1"/>
              </p:cNvSpPr>
              <p:nvPr/>
            </p:nvSpPr>
            <p:spPr>
              <a:xfrm>
                <a:off x="4154363" y="5858065"/>
                <a:ext cx="578278" cy="432298"/>
              </a:xfrm>
              <a:prstGeom prst="rect">
                <a:avLst/>
              </a:prstGeom>
              <a:blipFill>
                <a:blip r:embed="rId12"/>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5FE6AB26-FC1B-4ADB-7220-BAEA79D72F73}"/>
              </a:ext>
            </a:extLst>
          </p:cNvPr>
          <p:cNvCxnSpPr>
            <a:cxnSpLocks/>
          </p:cNvCxnSpPr>
          <p:nvPr/>
        </p:nvCxnSpPr>
        <p:spPr>
          <a:xfrm flipV="1">
            <a:off x="4443502" y="1389528"/>
            <a:ext cx="0" cy="4061474"/>
          </a:xfrm>
          <a:prstGeom prst="line">
            <a:avLst/>
          </a:prstGeom>
          <a:ln w="3810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9968F04E-2C72-7E02-3298-666F8EF73359}"/>
              </a:ext>
            </a:extLst>
          </p:cNvPr>
          <p:cNvCxnSpPr>
            <a:cxnSpLocks/>
          </p:cNvCxnSpPr>
          <p:nvPr/>
        </p:nvCxnSpPr>
        <p:spPr>
          <a:xfrm>
            <a:off x="4557834" y="2492657"/>
            <a:ext cx="220519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85583165-30CA-4292-C8A5-B420F5261A62}"/>
              </a:ext>
            </a:extLst>
          </p:cNvPr>
          <p:cNvSpPr txBox="1"/>
          <p:nvPr/>
        </p:nvSpPr>
        <p:spPr>
          <a:xfrm>
            <a:off x="4434555" y="2188595"/>
            <a:ext cx="2505202" cy="307777"/>
          </a:xfrm>
          <a:prstGeom prst="rect">
            <a:avLst/>
          </a:prstGeom>
          <a:noFill/>
        </p:spPr>
        <p:txBody>
          <a:bodyPr wrap="square" rtlCol="0">
            <a:spAutoFit/>
          </a:bodyPr>
          <a:lstStyle/>
          <a:p>
            <a:r>
              <a:rPr lang="en-US" sz="1400" i="1" dirty="0"/>
              <a:t>high talent men want to run</a:t>
            </a:r>
          </a:p>
        </p:txBody>
      </p:sp>
      <p:sp>
        <p:nvSpPr>
          <p:cNvPr id="31" name="TextBox 30">
            <a:extLst>
              <a:ext uri="{FF2B5EF4-FFF2-40B4-BE49-F238E27FC236}">
                <a16:creationId xmlns:a16="http://schemas.microsoft.com/office/drawing/2014/main" id="{9802E215-CE8E-AC98-6851-19D73F9E3BDE}"/>
              </a:ext>
            </a:extLst>
          </p:cNvPr>
          <p:cNvSpPr txBox="1"/>
          <p:nvPr/>
        </p:nvSpPr>
        <p:spPr>
          <a:xfrm>
            <a:off x="2886616" y="2000335"/>
            <a:ext cx="1545312" cy="523220"/>
          </a:xfrm>
          <a:prstGeom prst="rect">
            <a:avLst/>
          </a:prstGeom>
          <a:noFill/>
        </p:spPr>
        <p:txBody>
          <a:bodyPr wrap="square" rtlCol="0">
            <a:spAutoFit/>
          </a:bodyPr>
          <a:lstStyle/>
          <a:p>
            <a:r>
              <a:rPr lang="en-US" sz="1400" i="1" dirty="0"/>
              <a:t>high talent men don’t want to run</a:t>
            </a:r>
          </a:p>
        </p:txBody>
      </p:sp>
      <p:sp>
        <p:nvSpPr>
          <p:cNvPr id="24" name="Oval 23">
            <a:extLst>
              <a:ext uri="{FF2B5EF4-FFF2-40B4-BE49-F238E27FC236}">
                <a16:creationId xmlns:a16="http://schemas.microsoft.com/office/drawing/2014/main" id="{3B7303C6-E0E0-FB9E-BFEF-9EB147E1C6C1}"/>
              </a:ext>
            </a:extLst>
          </p:cNvPr>
          <p:cNvSpPr/>
          <p:nvPr/>
        </p:nvSpPr>
        <p:spPr>
          <a:xfrm>
            <a:off x="10094259" y="501247"/>
            <a:ext cx="1281953" cy="826009"/>
          </a:xfrm>
          <a:prstGeom prst="ellipse">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F97CCA8-1792-39D1-9D95-46F8F4F1EBD6}"/>
                  </a:ext>
                </a:extLst>
              </p:cNvPr>
              <p:cNvSpPr txBox="1"/>
              <p:nvPr/>
            </p:nvSpPr>
            <p:spPr>
              <a:xfrm>
                <a:off x="1525219" y="4311692"/>
                <a:ext cx="578278" cy="432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e>
                      </m:box>
                    </m:oMath>
                  </m:oMathPara>
                </a14:m>
                <a:endParaRPr lang="en-US" dirty="0"/>
              </a:p>
            </p:txBody>
          </p:sp>
        </mc:Choice>
        <mc:Fallback xmlns="">
          <p:sp>
            <p:nvSpPr>
              <p:cNvPr id="26" name="TextBox 25">
                <a:extLst>
                  <a:ext uri="{FF2B5EF4-FFF2-40B4-BE49-F238E27FC236}">
                    <a16:creationId xmlns:a16="http://schemas.microsoft.com/office/drawing/2014/main" id="{8F97CCA8-1792-39D1-9D95-46F8F4F1EBD6}"/>
                  </a:ext>
                </a:extLst>
              </p:cNvPr>
              <p:cNvSpPr txBox="1">
                <a:spLocks noRot="1" noChangeAspect="1" noMove="1" noResize="1" noEditPoints="1" noAdjustHandles="1" noChangeArrowheads="1" noChangeShapeType="1" noTextEdit="1"/>
              </p:cNvSpPr>
              <p:nvPr/>
            </p:nvSpPr>
            <p:spPr>
              <a:xfrm>
                <a:off x="1525219" y="4311692"/>
                <a:ext cx="578278" cy="432298"/>
              </a:xfrm>
              <a:prstGeom prst="rect">
                <a:avLst/>
              </a:prstGeom>
              <a:blipFill>
                <a:blip r:embed="rId13"/>
                <a:stretch>
                  <a:fillRect/>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CADC9006-16E0-4077-2193-A0BAF2FDAE3B}"/>
              </a:ext>
            </a:extLst>
          </p:cNvPr>
          <p:cNvCxnSpPr/>
          <p:nvPr/>
        </p:nvCxnSpPr>
        <p:spPr>
          <a:xfrm>
            <a:off x="2155832" y="452784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0" name="Arc 29">
            <a:extLst>
              <a:ext uri="{FF2B5EF4-FFF2-40B4-BE49-F238E27FC236}">
                <a16:creationId xmlns:a16="http://schemas.microsoft.com/office/drawing/2014/main" id="{D5D8438D-C006-265B-C056-5AB3D521D7EF}"/>
              </a:ext>
            </a:extLst>
          </p:cNvPr>
          <p:cNvSpPr/>
          <p:nvPr/>
        </p:nvSpPr>
        <p:spPr>
          <a:xfrm rot="11002311">
            <a:off x="2642400" y="-492733"/>
            <a:ext cx="13709141" cy="5258673"/>
          </a:xfrm>
          <a:prstGeom prst="arc">
            <a:avLst>
              <a:gd name="adj1" fmla="val 16200000"/>
              <a:gd name="adj2" fmla="val 21597052"/>
            </a:avLst>
          </a:prstGeom>
          <a:ln w="57150">
            <a:solidFill>
              <a:schemeClr val="accent5"/>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DB2D157D-5757-F5BE-375C-78111F342586}"/>
              </a:ext>
            </a:extLst>
          </p:cNvPr>
          <p:cNvCxnSpPr>
            <a:cxnSpLocks/>
          </p:cNvCxnSpPr>
          <p:nvPr/>
        </p:nvCxnSpPr>
        <p:spPr>
          <a:xfrm flipH="1">
            <a:off x="2872225" y="2523555"/>
            <a:ext cx="145240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3DAFCA6-495F-5548-7573-E78ECFDB52EA}"/>
                  </a:ext>
                </a:extLst>
              </p:cNvPr>
              <p:cNvSpPr txBox="1"/>
              <p:nvPr/>
            </p:nvSpPr>
            <p:spPr>
              <a:xfrm>
                <a:off x="9319601" y="4452121"/>
                <a:ext cx="576734" cy="432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accent5"/>
                              </a:solidFill>
                              <a:latin typeface="Cambria Math" panose="02040503050406030204" pitchFamily="18" charset="0"/>
                            </a:rPr>
                          </m:ctrlPr>
                        </m:boxPr>
                        <m:e>
                          <m:argPr>
                            <m:argSz m:val="-1"/>
                          </m:argPr>
                          <m:f>
                            <m:fPr>
                              <m:ctrlPr>
                                <a:rPr lang="en-US" i="1" smtClean="0">
                                  <a:solidFill>
                                    <a:schemeClr val="accent5"/>
                                  </a:solidFill>
                                  <a:latin typeface="Cambria Math" panose="02040503050406030204" pitchFamily="18" charset="0"/>
                                </a:rPr>
                              </m:ctrlPr>
                            </m:fPr>
                            <m:num>
                              <m:r>
                                <a:rPr lang="en-US" b="0" i="1" smtClean="0">
                                  <a:solidFill>
                                    <a:schemeClr val="accent5"/>
                                  </a:solidFill>
                                  <a:latin typeface="Cambria Math" panose="02040503050406030204" pitchFamily="18" charset="0"/>
                                </a:rPr>
                                <m:t>𝐶</m:t>
                              </m:r>
                            </m:num>
                            <m:den>
                              <m:r>
                                <a:rPr lang="en-US" b="0" i="1" smtClean="0">
                                  <a:solidFill>
                                    <a:schemeClr val="accent5"/>
                                  </a:solidFill>
                                  <a:latin typeface="Cambria Math" panose="02040503050406030204" pitchFamily="18" charset="0"/>
                                </a:rPr>
                                <m:t>𝑤𝐵</m:t>
                              </m:r>
                            </m:den>
                          </m:f>
                        </m:e>
                      </m:box>
                    </m:oMath>
                  </m:oMathPara>
                </a14:m>
                <a:endParaRPr lang="en-US" dirty="0">
                  <a:solidFill>
                    <a:schemeClr val="accent5"/>
                  </a:solidFill>
                </a:endParaRPr>
              </a:p>
            </p:txBody>
          </p:sp>
        </mc:Choice>
        <mc:Fallback xmlns="">
          <p:sp>
            <p:nvSpPr>
              <p:cNvPr id="33" name="TextBox 32">
                <a:extLst>
                  <a:ext uri="{FF2B5EF4-FFF2-40B4-BE49-F238E27FC236}">
                    <a16:creationId xmlns:a16="http://schemas.microsoft.com/office/drawing/2014/main" id="{33DAFCA6-495F-5548-7573-E78ECFDB52EA}"/>
                  </a:ext>
                </a:extLst>
              </p:cNvPr>
              <p:cNvSpPr txBox="1">
                <a:spLocks noRot="1" noChangeAspect="1" noMove="1" noResize="1" noEditPoints="1" noAdjustHandles="1" noChangeArrowheads="1" noChangeShapeType="1" noTextEdit="1"/>
              </p:cNvSpPr>
              <p:nvPr/>
            </p:nvSpPr>
            <p:spPr>
              <a:xfrm>
                <a:off x="9319601" y="4452121"/>
                <a:ext cx="576734" cy="432298"/>
              </a:xfrm>
              <a:prstGeom prst="rect">
                <a:avLst/>
              </a:prstGeom>
              <a:blipFill>
                <a:blip r:embed="rId1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451596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10A40-D932-6DF0-8290-4A90D645351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9ECB60C-3B53-3FCC-3660-D8B4E7B5ECCD}"/>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E9ECB60C-3B53-3FCC-3660-D8B4E7B5ECCD}"/>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6" name="TextBox 5">
            <a:extLst>
              <a:ext uri="{FF2B5EF4-FFF2-40B4-BE49-F238E27FC236}">
                <a16:creationId xmlns:a16="http://schemas.microsoft.com/office/drawing/2014/main" id="{3CAC568D-069F-EADB-BF03-F07BC8F25A14}"/>
              </a:ext>
            </a:extLst>
          </p:cNvPr>
          <p:cNvSpPr txBox="1"/>
          <p:nvPr/>
        </p:nvSpPr>
        <p:spPr>
          <a:xfrm>
            <a:off x="170328" y="3981152"/>
            <a:ext cx="4383741" cy="175432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dirty="0"/>
              <a:t>Check your understanding:</a:t>
            </a:r>
          </a:p>
          <a:p>
            <a:endParaRPr lang="en-US" dirty="0"/>
          </a:p>
          <a:p>
            <a:r>
              <a:rPr lang="en-US" dirty="0"/>
              <a:t>Write the expression that describes the conditions under which high-talent men prefer to run instead of not run, while low-talent men prefer to not run instead of run.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81FDCA4-97EC-B2F8-98CD-9E563B842CA1}"/>
                  </a:ext>
                </a:extLst>
              </p:cNvPr>
              <p:cNvSpPr txBox="1"/>
              <p:nvPr/>
            </p:nvSpPr>
            <p:spPr>
              <a:xfrm>
                <a:off x="5710519" y="3890682"/>
                <a:ext cx="6078071" cy="230832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Step 1: High talent men prefer to run instead of not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a:p>
                <a:r>
                  <a:rPr lang="en-US" dirty="0"/>
                  <a:t>Step 2: Low talent men prefer to not run instead of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dirty="0"/>
              </a:p>
              <a:p>
                <a:r>
                  <a:rPr lang="en-US" dirty="0"/>
                  <a:t>Step 3: Putting these together, we must have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𝑤𝐵</m:t>
                      </m:r>
                    </m:oMath>
                  </m:oMathPara>
                </a14:m>
                <a:endParaRPr lang="en-US" b="0" dirty="0"/>
              </a:p>
              <a:p>
                <a:r>
                  <a:rPr lang="en-US" dirty="0"/>
                  <a:t>or, equivalently:</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𝑤𝐵</m:t>
                      </m:r>
                    </m:oMath>
                  </m:oMathPara>
                </a14:m>
                <a:endParaRPr lang="en-US" dirty="0"/>
              </a:p>
            </p:txBody>
          </p:sp>
        </mc:Choice>
        <mc:Fallback xmlns="">
          <p:sp>
            <p:nvSpPr>
              <p:cNvPr id="2" name="TextBox 1">
                <a:extLst>
                  <a:ext uri="{FF2B5EF4-FFF2-40B4-BE49-F238E27FC236}">
                    <a16:creationId xmlns:a16="http://schemas.microsoft.com/office/drawing/2014/main" id="{C81FDCA4-97EC-B2F8-98CD-9E563B842CA1}"/>
                  </a:ext>
                </a:extLst>
              </p:cNvPr>
              <p:cNvSpPr txBox="1">
                <a:spLocks noRot="1" noChangeAspect="1" noMove="1" noResize="1" noEditPoints="1" noAdjustHandles="1" noChangeArrowheads="1" noChangeShapeType="1" noTextEdit="1"/>
              </p:cNvSpPr>
              <p:nvPr/>
            </p:nvSpPr>
            <p:spPr>
              <a:xfrm>
                <a:off x="5710519" y="3890682"/>
                <a:ext cx="6078071" cy="2308324"/>
              </a:xfrm>
              <a:prstGeom prst="rect">
                <a:avLst/>
              </a:prstGeom>
              <a:blipFill>
                <a:blip r:embed="rId3"/>
                <a:stretch>
                  <a:fillRect l="-800" t="-7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C9A1B94-C3B8-A799-45B1-E7FF41B32BE2}"/>
                  </a:ext>
                </a:extLst>
              </p:cNvPr>
              <p:cNvSpPr txBox="1"/>
              <p:nvPr/>
            </p:nvSpPr>
            <p:spPr>
              <a:xfrm rot="20623664">
                <a:off x="2882751" y="1304413"/>
                <a:ext cx="4383741" cy="258532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So...for a given benefit of winning </a:t>
                </a:r>
                <a14:m>
                  <m:oMath xmlns:m="http://schemas.openxmlformats.org/officeDocument/2006/math">
                    <m:r>
                      <a:rPr lang="en-US" b="0" i="1" smtClean="0">
                        <a:latin typeface="Cambria Math" panose="02040503050406030204" pitchFamily="18" charset="0"/>
                      </a:rPr>
                      <m:t>𝐵</m:t>
                    </m:r>
                  </m:oMath>
                </a14:m>
                <a:r>
                  <a:rPr lang="en-US" dirty="0"/>
                  <a:t>, cost of running </a:t>
                </a:r>
                <a14:m>
                  <m:oMath xmlns:m="http://schemas.openxmlformats.org/officeDocument/2006/math">
                    <m:r>
                      <a:rPr lang="en-US" b="0" i="1" smtClean="0">
                        <a:latin typeface="Cambria Math" panose="02040503050406030204" pitchFamily="18" charset="0"/>
                      </a:rPr>
                      <m:t>𝐶</m:t>
                    </m:r>
                  </m:oMath>
                </a14:m>
                <a:r>
                  <a:rPr lang="en-US" dirty="0"/>
                  <a:t>...</a:t>
                </a:r>
              </a:p>
              <a:p>
                <a:endParaRPr lang="en-US" dirty="0"/>
              </a:p>
              <a:p>
                <a:r>
                  <a:rPr lang="en-US" dirty="0"/>
                  <a:t>high-talent men want to run if the high-talent win probability </a:t>
                </a:r>
                <a14:m>
                  <m:oMath xmlns:m="http://schemas.openxmlformats.org/officeDocument/2006/math">
                    <m:r>
                      <a:rPr lang="en-US" b="0" i="1" smtClean="0">
                        <a:latin typeface="Cambria Math" panose="02040503050406030204" pitchFamily="18" charset="0"/>
                      </a:rPr>
                      <m:t>𝑤</m:t>
                    </m:r>
                  </m:oMath>
                </a14:m>
                <a:r>
                  <a:rPr lang="en-US" dirty="0"/>
                  <a:t> is not too small...</a:t>
                </a:r>
              </a:p>
              <a:p>
                <a:endParaRPr lang="en-US" dirty="0"/>
              </a:p>
              <a:p>
                <a:r>
                  <a:rPr lang="en-US" dirty="0"/>
                  <a:t>and low-talent men do not want to run if the low-talent penalty is sufficiently severe (i.e. </a:t>
                </a:r>
                <a14:m>
                  <m:oMath xmlns:m="http://schemas.openxmlformats.org/officeDocument/2006/math">
                    <m:r>
                      <a:rPr lang="en-US" b="0" i="1" smtClean="0">
                        <a:latin typeface="Cambria Math" panose="02040503050406030204" pitchFamily="18" charset="0"/>
                      </a:rPr>
                      <m:t>𝜆</m:t>
                    </m:r>
                  </m:oMath>
                </a14:m>
                <a:r>
                  <a:rPr lang="en-US" dirty="0"/>
                  <a:t> is sufficiently small)</a:t>
                </a:r>
              </a:p>
            </p:txBody>
          </p:sp>
        </mc:Choice>
        <mc:Fallback xmlns="">
          <p:sp>
            <p:nvSpPr>
              <p:cNvPr id="3" name="TextBox 2">
                <a:extLst>
                  <a:ext uri="{FF2B5EF4-FFF2-40B4-BE49-F238E27FC236}">
                    <a16:creationId xmlns:a16="http://schemas.microsoft.com/office/drawing/2014/main" id="{CC9A1B94-C3B8-A799-45B1-E7FF41B32BE2}"/>
                  </a:ext>
                </a:extLst>
              </p:cNvPr>
              <p:cNvSpPr txBox="1">
                <a:spLocks noRot="1" noChangeAspect="1" noMove="1" noResize="1" noEditPoints="1" noAdjustHandles="1" noChangeArrowheads="1" noChangeShapeType="1" noTextEdit="1"/>
              </p:cNvSpPr>
              <p:nvPr/>
            </p:nvSpPr>
            <p:spPr>
              <a:xfrm rot="20623664">
                <a:off x="2882751" y="1304413"/>
                <a:ext cx="4383741" cy="2585323"/>
              </a:xfrm>
              <a:prstGeom prst="rect">
                <a:avLst/>
              </a:prstGeom>
              <a:blipFill>
                <a:blip r:embed="rId4"/>
                <a:stretch>
                  <a:fillRect l="-737" t="-977" r="-246" b="-1954"/>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8A9FED57-3B9B-F42C-C64B-A61633B275DC}"/>
              </a:ext>
            </a:extLst>
          </p:cNvPr>
          <p:cNvCxnSpPr/>
          <p:nvPr/>
        </p:nvCxnSpPr>
        <p:spPr>
          <a:xfrm>
            <a:off x="6956612" y="1999129"/>
            <a:ext cx="2070847" cy="39443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D1A25EE1-3F92-C10A-74CD-6DE2ACD442D0}"/>
              </a:ext>
            </a:extLst>
          </p:cNvPr>
          <p:cNvCxnSpPr>
            <a:cxnSpLocks/>
          </p:cNvCxnSpPr>
          <p:nvPr/>
        </p:nvCxnSpPr>
        <p:spPr>
          <a:xfrm>
            <a:off x="5815190" y="3532982"/>
            <a:ext cx="2814129" cy="24104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B9D4CDCB-22D5-FE87-7B8C-637C5AA63936}"/>
              </a:ext>
            </a:extLst>
          </p:cNvPr>
          <p:cNvSpPr/>
          <p:nvPr/>
        </p:nvSpPr>
        <p:spPr>
          <a:xfrm>
            <a:off x="667436" y="716279"/>
            <a:ext cx="11425708" cy="5656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20C47227-4991-616D-340F-F14A6B588585}"/>
              </a:ext>
            </a:extLst>
          </p:cNvPr>
          <p:cNvCxnSpPr>
            <a:cxnSpLocks/>
          </p:cNvCxnSpPr>
          <p:nvPr/>
        </p:nvCxnSpPr>
        <p:spPr>
          <a:xfrm>
            <a:off x="2438400" y="1739153"/>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C2095B4-9EBC-4053-C491-78AA76DD4486}"/>
              </a:ext>
            </a:extLst>
          </p:cNvPr>
          <p:cNvCxnSpPr>
            <a:cxnSpLocks/>
          </p:cNvCxnSpPr>
          <p:nvPr/>
        </p:nvCxnSpPr>
        <p:spPr>
          <a:xfrm flipH="1">
            <a:off x="2438400" y="5468471"/>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ED77B3F-DFE4-2FDA-F714-4611A1FE7081}"/>
                  </a:ext>
                </a:extLst>
              </p:cNvPr>
              <p:cNvSpPr txBox="1"/>
              <p:nvPr/>
            </p:nvSpPr>
            <p:spPr>
              <a:xfrm>
                <a:off x="9607685" y="5114527"/>
                <a:ext cx="1474827" cy="707886"/>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𝑤</m:t>
                    </m:r>
                  </m:oMath>
                </a14:m>
                <a:r>
                  <a:rPr lang="en-US" dirty="0"/>
                  <a:t> </a:t>
                </a:r>
                <a:br>
                  <a:rPr lang="en-US" dirty="0"/>
                </a:br>
                <a:r>
                  <a:rPr lang="en-US" sz="1400" dirty="0"/>
                  <a:t>(win probability for </a:t>
                </a:r>
              </a:p>
              <a:p>
                <a:pPr algn="ctr"/>
                <a:r>
                  <a:rPr lang="en-US" sz="1400" dirty="0"/>
                  <a:t>high-talent men)</a:t>
                </a:r>
              </a:p>
            </p:txBody>
          </p:sp>
        </mc:Choice>
        <mc:Fallback xmlns="">
          <p:sp>
            <p:nvSpPr>
              <p:cNvPr id="17" name="TextBox 16">
                <a:extLst>
                  <a:ext uri="{FF2B5EF4-FFF2-40B4-BE49-F238E27FC236}">
                    <a16:creationId xmlns:a16="http://schemas.microsoft.com/office/drawing/2014/main" id="{BED77B3F-DFE4-2FDA-F714-4611A1FE7081}"/>
                  </a:ext>
                </a:extLst>
              </p:cNvPr>
              <p:cNvSpPr txBox="1">
                <a:spLocks noRot="1" noChangeAspect="1" noMove="1" noResize="1" noEditPoints="1" noAdjustHandles="1" noChangeArrowheads="1" noChangeShapeType="1" noTextEdit="1"/>
              </p:cNvSpPr>
              <p:nvPr/>
            </p:nvSpPr>
            <p:spPr>
              <a:xfrm>
                <a:off x="9607685" y="5114527"/>
                <a:ext cx="1474827" cy="707886"/>
              </a:xfrm>
              <a:prstGeom prst="rect">
                <a:avLst/>
              </a:prstGeom>
              <a:blipFill>
                <a:blip r:embed="rId5"/>
                <a:stretch>
                  <a:fillRect l="-7025" r="-7025"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D9F31DA-3235-5EF8-535C-9751F48DA150}"/>
                  </a:ext>
                </a:extLst>
              </p:cNvPr>
              <p:cNvSpPr txBox="1"/>
              <p:nvPr/>
            </p:nvSpPr>
            <p:spPr>
              <a:xfrm>
                <a:off x="1685036" y="1033651"/>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18" name="TextBox 17">
                <a:extLst>
                  <a:ext uri="{FF2B5EF4-FFF2-40B4-BE49-F238E27FC236}">
                    <a16:creationId xmlns:a16="http://schemas.microsoft.com/office/drawing/2014/main" id="{8D9F31DA-3235-5EF8-535C-9751F48DA150}"/>
                  </a:ext>
                </a:extLst>
              </p:cNvPr>
              <p:cNvSpPr txBox="1">
                <a:spLocks noRot="1" noChangeAspect="1" noMove="1" noResize="1" noEditPoints="1" noAdjustHandles="1" noChangeArrowheads="1" noChangeShapeType="1" noTextEdit="1"/>
              </p:cNvSpPr>
              <p:nvPr/>
            </p:nvSpPr>
            <p:spPr>
              <a:xfrm>
                <a:off x="1685036" y="1033651"/>
                <a:ext cx="1505990" cy="492443"/>
              </a:xfrm>
              <a:prstGeom prst="rect">
                <a:avLst/>
              </a:prstGeom>
              <a:blipFill>
                <a:blip r:embed="rId6"/>
                <a:stretch>
                  <a:fillRect l="-7287" r="-5263" b="-22500"/>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075EE789-CEA3-E713-2E33-AD50931AFCA4}"/>
              </a:ext>
            </a:extLst>
          </p:cNvPr>
          <p:cNvCxnSpPr/>
          <p:nvPr/>
        </p:nvCxnSpPr>
        <p:spPr>
          <a:xfrm>
            <a:off x="2156201" y="1739153"/>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4E11DE0-2216-7846-C6DB-7A00FC2EA05F}"/>
                  </a:ext>
                </a:extLst>
              </p:cNvPr>
              <p:cNvSpPr txBox="1"/>
              <p:nvPr/>
            </p:nvSpPr>
            <p:spPr>
              <a:xfrm>
                <a:off x="1713022" y="1572416"/>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11" name="TextBox 10">
                <a:extLst>
                  <a:ext uri="{FF2B5EF4-FFF2-40B4-BE49-F238E27FC236}">
                    <a16:creationId xmlns:a16="http://schemas.microsoft.com/office/drawing/2014/main" id="{64E11DE0-2216-7846-C6DB-7A00FC2EA05F}"/>
                  </a:ext>
                </a:extLst>
              </p:cNvPr>
              <p:cNvSpPr txBox="1">
                <a:spLocks noRot="1" noChangeAspect="1" noMove="1" noResize="1" noEditPoints="1" noAdjustHandles="1" noChangeArrowheads="1" noChangeShapeType="1" noTextEdit="1"/>
              </p:cNvSpPr>
              <p:nvPr/>
            </p:nvSpPr>
            <p:spPr>
              <a:xfrm>
                <a:off x="1713022" y="1572416"/>
                <a:ext cx="555431"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014FD7D-8DBD-B6F1-591B-5DB1EC581DC9}"/>
                  </a:ext>
                </a:extLst>
              </p:cNvPr>
              <p:cNvSpPr txBox="1"/>
              <p:nvPr/>
            </p:nvSpPr>
            <p:spPr>
              <a:xfrm>
                <a:off x="1710685" y="5283804"/>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13" name="TextBox 12">
                <a:extLst>
                  <a:ext uri="{FF2B5EF4-FFF2-40B4-BE49-F238E27FC236}">
                    <a16:creationId xmlns:a16="http://schemas.microsoft.com/office/drawing/2014/main" id="{7014FD7D-8DBD-B6F1-591B-5DB1EC581DC9}"/>
                  </a:ext>
                </a:extLst>
              </p:cNvPr>
              <p:cNvSpPr txBox="1">
                <a:spLocks noRot="1" noChangeAspect="1" noMove="1" noResize="1" noEditPoints="1" noAdjustHandles="1" noChangeArrowheads="1" noChangeShapeType="1" noTextEdit="1"/>
              </p:cNvSpPr>
              <p:nvPr/>
            </p:nvSpPr>
            <p:spPr>
              <a:xfrm>
                <a:off x="1710685" y="5283804"/>
                <a:ext cx="555431" cy="369332"/>
              </a:xfrm>
              <a:prstGeom prst="rect">
                <a:avLst/>
              </a:prstGeom>
              <a:blipFill>
                <a:blip r:embed="rId8"/>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979E3883-EA92-D551-1FEA-86C46A42B75D}"/>
              </a:ext>
            </a:extLst>
          </p:cNvPr>
          <p:cNvCxnSpPr/>
          <p:nvPr/>
        </p:nvCxnSpPr>
        <p:spPr>
          <a:xfrm>
            <a:off x="2160681" y="5468470"/>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123D17B-E175-386E-6C1F-F486EE447C47}"/>
              </a:ext>
            </a:extLst>
          </p:cNvPr>
          <p:cNvCxnSpPr>
            <a:cxnSpLocks/>
          </p:cNvCxnSpPr>
          <p:nvPr/>
        </p:nvCxnSpPr>
        <p:spPr>
          <a:xfrm flipV="1">
            <a:off x="2438031" y="5468470"/>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C3013F4C-F43B-B0CD-43F3-1618B806365A}"/>
                  </a:ext>
                </a:extLst>
              </p:cNvPr>
              <p:cNvSpPr txBox="1"/>
              <p:nvPr/>
            </p:nvSpPr>
            <p:spPr>
              <a:xfrm>
                <a:off x="2162842" y="578180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20" name="TextBox 19">
                <a:extLst>
                  <a:ext uri="{FF2B5EF4-FFF2-40B4-BE49-F238E27FC236}">
                    <a16:creationId xmlns:a16="http://schemas.microsoft.com/office/drawing/2014/main" id="{C3013F4C-F43B-B0CD-43F3-1618B806365A}"/>
                  </a:ext>
                </a:extLst>
              </p:cNvPr>
              <p:cNvSpPr txBox="1">
                <a:spLocks noRot="1" noChangeAspect="1" noMove="1" noResize="1" noEditPoints="1" noAdjustHandles="1" noChangeArrowheads="1" noChangeShapeType="1" noTextEdit="1"/>
              </p:cNvSpPr>
              <p:nvPr/>
            </p:nvSpPr>
            <p:spPr>
              <a:xfrm>
                <a:off x="2162842" y="5781800"/>
                <a:ext cx="555431" cy="369332"/>
              </a:xfrm>
              <a:prstGeom prst="rect">
                <a:avLst/>
              </a:prstGeom>
              <a:blipFill>
                <a:blip r:embed="rId9"/>
                <a:stretch>
                  <a:fillRect/>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DA4948B4-392C-08F2-5626-28E0444DF529}"/>
              </a:ext>
            </a:extLst>
          </p:cNvPr>
          <p:cNvCxnSpPr>
            <a:cxnSpLocks/>
          </p:cNvCxnSpPr>
          <p:nvPr/>
        </p:nvCxnSpPr>
        <p:spPr>
          <a:xfrm flipV="1">
            <a:off x="9319601" y="5468470"/>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5F5DE42-4F47-8D43-32DB-31B38B1ADA42}"/>
                  </a:ext>
                </a:extLst>
              </p:cNvPr>
              <p:cNvSpPr txBox="1"/>
              <p:nvPr/>
            </p:nvSpPr>
            <p:spPr>
              <a:xfrm>
                <a:off x="9041885" y="5772389"/>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23" name="TextBox 22">
                <a:extLst>
                  <a:ext uri="{FF2B5EF4-FFF2-40B4-BE49-F238E27FC236}">
                    <a16:creationId xmlns:a16="http://schemas.microsoft.com/office/drawing/2014/main" id="{45F5DE42-4F47-8D43-32DB-31B38B1ADA42}"/>
                  </a:ext>
                </a:extLst>
              </p:cNvPr>
              <p:cNvSpPr txBox="1">
                <a:spLocks noRot="1" noChangeAspect="1" noMove="1" noResize="1" noEditPoints="1" noAdjustHandles="1" noChangeArrowheads="1" noChangeShapeType="1" noTextEdit="1"/>
              </p:cNvSpPr>
              <p:nvPr/>
            </p:nvSpPr>
            <p:spPr>
              <a:xfrm>
                <a:off x="9041885" y="5772389"/>
                <a:ext cx="555431"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58C59B1-E69D-B6A9-0344-BD645E653626}"/>
                  </a:ext>
                </a:extLst>
              </p:cNvPr>
              <p:cNvSpPr txBox="1"/>
              <p:nvPr/>
            </p:nvSpPr>
            <p:spPr>
              <a:xfrm>
                <a:off x="8085404" y="259719"/>
                <a:ext cx="3873133" cy="88979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Putting these together, we must have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r>
                        <a:rPr lang="en-US" b="0" i="1" smtClean="0">
                          <a:latin typeface="Cambria Math" panose="02040503050406030204" pitchFamily="18" charset="0"/>
                        </a:rPr>
                        <m:t>≥</m:t>
                      </m:r>
                      <m:r>
                        <a:rPr lang="en-US" b="0" i="1" smtClean="0">
                          <a:latin typeface="Cambria Math" panose="02040503050406030204" pitchFamily="18" charset="0"/>
                        </a:rPr>
                        <m:t>𝜆</m:t>
                      </m:r>
                    </m:oMath>
                  </m:oMathPara>
                </a14:m>
                <a:endParaRPr lang="en-US" b="0" dirty="0"/>
              </a:p>
            </p:txBody>
          </p:sp>
        </mc:Choice>
        <mc:Fallback xmlns="">
          <p:sp>
            <p:nvSpPr>
              <p:cNvPr id="5" name="TextBox 4">
                <a:extLst>
                  <a:ext uri="{FF2B5EF4-FFF2-40B4-BE49-F238E27FC236}">
                    <a16:creationId xmlns:a16="http://schemas.microsoft.com/office/drawing/2014/main" id="{958C59B1-E69D-B6A9-0344-BD645E653626}"/>
                  </a:ext>
                </a:extLst>
              </p:cNvPr>
              <p:cNvSpPr txBox="1">
                <a:spLocks noRot="1" noChangeAspect="1" noMove="1" noResize="1" noEditPoints="1" noAdjustHandles="1" noChangeArrowheads="1" noChangeShapeType="1" noTextEdit="1"/>
              </p:cNvSpPr>
              <p:nvPr/>
            </p:nvSpPr>
            <p:spPr>
              <a:xfrm>
                <a:off x="8085404" y="259719"/>
                <a:ext cx="3873133" cy="889795"/>
              </a:xfrm>
              <a:prstGeom prst="rect">
                <a:avLst/>
              </a:prstGeom>
              <a:blipFill>
                <a:blip r:embed="rId11"/>
                <a:stretch>
                  <a:fillRect l="-1095" t="-2685"/>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4D09F1AE-AA26-80C1-AF22-B2EC3A337287}"/>
              </a:ext>
            </a:extLst>
          </p:cNvPr>
          <p:cNvCxnSpPr>
            <a:cxnSpLocks/>
          </p:cNvCxnSpPr>
          <p:nvPr/>
        </p:nvCxnSpPr>
        <p:spPr>
          <a:xfrm flipV="1">
            <a:off x="4434555" y="548594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7AE74CC-2CE3-F7D9-C214-AA09D6789C8D}"/>
                  </a:ext>
                </a:extLst>
              </p:cNvPr>
              <p:cNvSpPr txBox="1"/>
              <p:nvPr/>
            </p:nvSpPr>
            <p:spPr>
              <a:xfrm>
                <a:off x="4154363" y="5858065"/>
                <a:ext cx="578278" cy="432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e>
                      </m:box>
                    </m:oMath>
                  </m:oMathPara>
                </a14:m>
                <a:endParaRPr lang="en-US" dirty="0"/>
              </a:p>
            </p:txBody>
          </p:sp>
        </mc:Choice>
        <mc:Fallback xmlns="">
          <p:sp>
            <p:nvSpPr>
              <p:cNvPr id="21" name="TextBox 20">
                <a:extLst>
                  <a:ext uri="{FF2B5EF4-FFF2-40B4-BE49-F238E27FC236}">
                    <a16:creationId xmlns:a16="http://schemas.microsoft.com/office/drawing/2014/main" id="{07AE74CC-2CE3-F7D9-C214-AA09D6789C8D}"/>
                  </a:ext>
                </a:extLst>
              </p:cNvPr>
              <p:cNvSpPr txBox="1">
                <a:spLocks noRot="1" noChangeAspect="1" noMove="1" noResize="1" noEditPoints="1" noAdjustHandles="1" noChangeArrowheads="1" noChangeShapeType="1" noTextEdit="1"/>
              </p:cNvSpPr>
              <p:nvPr/>
            </p:nvSpPr>
            <p:spPr>
              <a:xfrm>
                <a:off x="4154363" y="5858065"/>
                <a:ext cx="578278" cy="432298"/>
              </a:xfrm>
              <a:prstGeom prst="rect">
                <a:avLst/>
              </a:prstGeom>
              <a:blipFill>
                <a:blip r:embed="rId12"/>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609F8884-7B8F-FE08-A0E6-C3E4FCBA2D23}"/>
              </a:ext>
            </a:extLst>
          </p:cNvPr>
          <p:cNvCxnSpPr>
            <a:cxnSpLocks/>
          </p:cNvCxnSpPr>
          <p:nvPr/>
        </p:nvCxnSpPr>
        <p:spPr>
          <a:xfrm flipV="1">
            <a:off x="4443502" y="1389528"/>
            <a:ext cx="0" cy="4061474"/>
          </a:xfrm>
          <a:prstGeom prst="line">
            <a:avLst/>
          </a:prstGeom>
          <a:ln w="3810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A3B061C5-5E5C-48A6-EB01-DD2FFEE45E4B}"/>
              </a:ext>
            </a:extLst>
          </p:cNvPr>
          <p:cNvCxnSpPr>
            <a:cxnSpLocks/>
          </p:cNvCxnSpPr>
          <p:nvPr/>
        </p:nvCxnSpPr>
        <p:spPr>
          <a:xfrm>
            <a:off x="4557834" y="2492657"/>
            <a:ext cx="220519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6764E982-BA74-4376-60A7-6AAA96A16BBD}"/>
              </a:ext>
            </a:extLst>
          </p:cNvPr>
          <p:cNvSpPr txBox="1"/>
          <p:nvPr/>
        </p:nvSpPr>
        <p:spPr>
          <a:xfrm>
            <a:off x="4434555" y="2188595"/>
            <a:ext cx="2505202" cy="307777"/>
          </a:xfrm>
          <a:prstGeom prst="rect">
            <a:avLst/>
          </a:prstGeom>
          <a:noFill/>
        </p:spPr>
        <p:txBody>
          <a:bodyPr wrap="square" rtlCol="0">
            <a:spAutoFit/>
          </a:bodyPr>
          <a:lstStyle/>
          <a:p>
            <a:r>
              <a:rPr lang="en-US" sz="1400" i="1" dirty="0"/>
              <a:t>high talent men want to run</a:t>
            </a:r>
          </a:p>
        </p:txBody>
      </p:sp>
      <p:sp>
        <p:nvSpPr>
          <p:cNvPr id="31" name="TextBox 30">
            <a:extLst>
              <a:ext uri="{FF2B5EF4-FFF2-40B4-BE49-F238E27FC236}">
                <a16:creationId xmlns:a16="http://schemas.microsoft.com/office/drawing/2014/main" id="{6499DEA6-A6D5-8EC9-EB74-98CDC2B4C7D7}"/>
              </a:ext>
            </a:extLst>
          </p:cNvPr>
          <p:cNvSpPr txBox="1"/>
          <p:nvPr/>
        </p:nvSpPr>
        <p:spPr>
          <a:xfrm>
            <a:off x="2886616" y="2000335"/>
            <a:ext cx="1545312" cy="523220"/>
          </a:xfrm>
          <a:prstGeom prst="rect">
            <a:avLst/>
          </a:prstGeom>
          <a:noFill/>
        </p:spPr>
        <p:txBody>
          <a:bodyPr wrap="square" rtlCol="0">
            <a:spAutoFit/>
          </a:bodyPr>
          <a:lstStyle/>
          <a:p>
            <a:r>
              <a:rPr lang="en-US" sz="1400" i="1" dirty="0"/>
              <a:t>high talent men don’t want to run</a:t>
            </a:r>
          </a:p>
        </p:txBody>
      </p:sp>
      <p:sp>
        <p:nvSpPr>
          <p:cNvPr id="24" name="Oval 23">
            <a:extLst>
              <a:ext uri="{FF2B5EF4-FFF2-40B4-BE49-F238E27FC236}">
                <a16:creationId xmlns:a16="http://schemas.microsoft.com/office/drawing/2014/main" id="{64842FCE-1F99-9E0E-3A13-9C6A2EBB5CF1}"/>
              </a:ext>
            </a:extLst>
          </p:cNvPr>
          <p:cNvSpPr/>
          <p:nvPr/>
        </p:nvSpPr>
        <p:spPr>
          <a:xfrm>
            <a:off x="10094259" y="501247"/>
            <a:ext cx="1281953" cy="826009"/>
          </a:xfrm>
          <a:prstGeom prst="ellipse">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0B8713F-ABEB-ACC1-A03A-FE3B2BD36373}"/>
                  </a:ext>
                </a:extLst>
              </p:cNvPr>
              <p:cNvSpPr txBox="1"/>
              <p:nvPr/>
            </p:nvSpPr>
            <p:spPr>
              <a:xfrm>
                <a:off x="1525219" y="4311692"/>
                <a:ext cx="578278" cy="432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e>
                      </m:box>
                    </m:oMath>
                  </m:oMathPara>
                </a14:m>
                <a:endParaRPr lang="en-US" dirty="0"/>
              </a:p>
            </p:txBody>
          </p:sp>
        </mc:Choice>
        <mc:Fallback xmlns="">
          <p:sp>
            <p:nvSpPr>
              <p:cNvPr id="26" name="TextBox 25">
                <a:extLst>
                  <a:ext uri="{FF2B5EF4-FFF2-40B4-BE49-F238E27FC236}">
                    <a16:creationId xmlns:a16="http://schemas.microsoft.com/office/drawing/2014/main" id="{50B8713F-ABEB-ACC1-A03A-FE3B2BD36373}"/>
                  </a:ext>
                </a:extLst>
              </p:cNvPr>
              <p:cNvSpPr txBox="1">
                <a:spLocks noRot="1" noChangeAspect="1" noMove="1" noResize="1" noEditPoints="1" noAdjustHandles="1" noChangeArrowheads="1" noChangeShapeType="1" noTextEdit="1"/>
              </p:cNvSpPr>
              <p:nvPr/>
            </p:nvSpPr>
            <p:spPr>
              <a:xfrm>
                <a:off x="1525219" y="4311692"/>
                <a:ext cx="578278" cy="432298"/>
              </a:xfrm>
              <a:prstGeom prst="rect">
                <a:avLst/>
              </a:prstGeom>
              <a:blipFill>
                <a:blip r:embed="rId13"/>
                <a:stretch>
                  <a:fillRect/>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4C60203F-98D6-1EC5-866F-91C139C45117}"/>
              </a:ext>
            </a:extLst>
          </p:cNvPr>
          <p:cNvCxnSpPr/>
          <p:nvPr/>
        </p:nvCxnSpPr>
        <p:spPr>
          <a:xfrm>
            <a:off x="2155832" y="452784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0" name="Arc 29">
            <a:extLst>
              <a:ext uri="{FF2B5EF4-FFF2-40B4-BE49-F238E27FC236}">
                <a16:creationId xmlns:a16="http://schemas.microsoft.com/office/drawing/2014/main" id="{085D127B-2047-E7BB-4994-AD1D90652FDC}"/>
              </a:ext>
            </a:extLst>
          </p:cNvPr>
          <p:cNvSpPr/>
          <p:nvPr/>
        </p:nvSpPr>
        <p:spPr>
          <a:xfrm rot="11002311">
            <a:off x="2642400" y="-492733"/>
            <a:ext cx="13709141" cy="5258673"/>
          </a:xfrm>
          <a:prstGeom prst="arc">
            <a:avLst>
              <a:gd name="adj1" fmla="val 16200000"/>
              <a:gd name="adj2" fmla="val 21597052"/>
            </a:avLst>
          </a:prstGeom>
          <a:ln w="57150">
            <a:solidFill>
              <a:schemeClr val="accent5"/>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6EB54354-E9D8-BF9F-33F1-17FBB16B547D}"/>
              </a:ext>
            </a:extLst>
          </p:cNvPr>
          <p:cNvCxnSpPr>
            <a:cxnSpLocks/>
          </p:cNvCxnSpPr>
          <p:nvPr/>
        </p:nvCxnSpPr>
        <p:spPr>
          <a:xfrm flipH="1">
            <a:off x="2872225" y="2523555"/>
            <a:ext cx="145240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359405E-BDA7-E5D4-17EE-139543DB985C}"/>
                  </a:ext>
                </a:extLst>
              </p:cNvPr>
              <p:cNvSpPr txBox="1"/>
              <p:nvPr/>
            </p:nvSpPr>
            <p:spPr>
              <a:xfrm>
                <a:off x="9319601" y="4452121"/>
                <a:ext cx="576734" cy="432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accent5"/>
                              </a:solidFill>
                              <a:latin typeface="Cambria Math" panose="02040503050406030204" pitchFamily="18" charset="0"/>
                            </a:rPr>
                          </m:ctrlPr>
                        </m:boxPr>
                        <m:e>
                          <m:argPr>
                            <m:argSz m:val="-1"/>
                          </m:argPr>
                          <m:f>
                            <m:fPr>
                              <m:ctrlPr>
                                <a:rPr lang="en-US" i="1" smtClean="0">
                                  <a:solidFill>
                                    <a:schemeClr val="accent5"/>
                                  </a:solidFill>
                                  <a:latin typeface="Cambria Math" panose="02040503050406030204" pitchFamily="18" charset="0"/>
                                </a:rPr>
                              </m:ctrlPr>
                            </m:fPr>
                            <m:num>
                              <m:r>
                                <a:rPr lang="en-US" b="0" i="1" smtClean="0">
                                  <a:solidFill>
                                    <a:schemeClr val="accent5"/>
                                  </a:solidFill>
                                  <a:latin typeface="Cambria Math" panose="02040503050406030204" pitchFamily="18" charset="0"/>
                                </a:rPr>
                                <m:t>𝐶</m:t>
                              </m:r>
                            </m:num>
                            <m:den>
                              <m:r>
                                <a:rPr lang="en-US" b="0" i="1" smtClean="0">
                                  <a:solidFill>
                                    <a:schemeClr val="accent5"/>
                                  </a:solidFill>
                                  <a:latin typeface="Cambria Math" panose="02040503050406030204" pitchFamily="18" charset="0"/>
                                </a:rPr>
                                <m:t>𝑤𝐵</m:t>
                              </m:r>
                            </m:den>
                          </m:f>
                        </m:e>
                      </m:box>
                    </m:oMath>
                  </m:oMathPara>
                </a14:m>
                <a:endParaRPr lang="en-US" dirty="0">
                  <a:solidFill>
                    <a:schemeClr val="accent5"/>
                  </a:solidFill>
                </a:endParaRPr>
              </a:p>
            </p:txBody>
          </p:sp>
        </mc:Choice>
        <mc:Fallback xmlns="">
          <p:sp>
            <p:nvSpPr>
              <p:cNvPr id="33" name="TextBox 32">
                <a:extLst>
                  <a:ext uri="{FF2B5EF4-FFF2-40B4-BE49-F238E27FC236}">
                    <a16:creationId xmlns:a16="http://schemas.microsoft.com/office/drawing/2014/main" id="{B359405E-BDA7-E5D4-17EE-139543DB985C}"/>
                  </a:ext>
                </a:extLst>
              </p:cNvPr>
              <p:cNvSpPr txBox="1">
                <a:spLocks noRot="1" noChangeAspect="1" noMove="1" noResize="1" noEditPoints="1" noAdjustHandles="1" noChangeArrowheads="1" noChangeShapeType="1" noTextEdit="1"/>
              </p:cNvSpPr>
              <p:nvPr/>
            </p:nvSpPr>
            <p:spPr>
              <a:xfrm>
                <a:off x="9319601" y="4452121"/>
                <a:ext cx="576734" cy="432298"/>
              </a:xfrm>
              <a:prstGeom prst="rect">
                <a:avLst/>
              </a:prstGeom>
              <a:blipFill>
                <a:blip r:embed="rId14"/>
                <a:stretch>
                  <a:fillRect/>
                </a:stretch>
              </a:blipFill>
            </p:spPr>
            <p:txBody>
              <a:bodyPr/>
              <a:lstStyle/>
              <a:p>
                <a:r>
                  <a:rPr lang="en-US">
                    <a:noFill/>
                  </a:rPr>
                  <a:t> </a:t>
                </a:r>
              </a:p>
            </p:txBody>
          </p:sp>
        </mc:Fallback>
      </mc:AlternateContent>
      <p:cxnSp>
        <p:nvCxnSpPr>
          <p:cNvPr id="35" name="Straight Arrow Connector 34">
            <a:extLst>
              <a:ext uri="{FF2B5EF4-FFF2-40B4-BE49-F238E27FC236}">
                <a16:creationId xmlns:a16="http://schemas.microsoft.com/office/drawing/2014/main" id="{C7610AE8-E363-ABEE-E1A5-82B8D55A26B1}"/>
              </a:ext>
            </a:extLst>
          </p:cNvPr>
          <p:cNvCxnSpPr>
            <a:cxnSpLocks/>
          </p:cNvCxnSpPr>
          <p:nvPr/>
        </p:nvCxnSpPr>
        <p:spPr>
          <a:xfrm flipH="1">
            <a:off x="4381914" y="4155768"/>
            <a:ext cx="1078813" cy="98125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6540D7E6-5836-5D6F-C724-C1CFEA571644}"/>
              </a:ext>
            </a:extLst>
          </p:cNvPr>
          <p:cNvCxnSpPr>
            <a:cxnSpLocks/>
          </p:cNvCxnSpPr>
          <p:nvPr/>
        </p:nvCxnSpPr>
        <p:spPr>
          <a:xfrm flipV="1">
            <a:off x="5545372" y="2626850"/>
            <a:ext cx="1470706" cy="13540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F7AD8B8-BDE4-18D1-0F4A-196110B64031}"/>
              </a:ext>
            </a:extLst>
          </p:cNvPr>
          <p:cNvSpPr txBox="1"/>
          <p:nvPr/>
        </p:nvSpPr>
        <p:spPr>
          <a:xfrm rot="19077162">
            <a:off x="5026402" y="2932631"/>
            <a:ext cx="2505202" cy="307777"/>
          </a:xfrm>
          <a:prstGeom prst="rect">
            <a:avLst/>
          </a:prstGeom>
          <a:noFill/>
        </p:spPr>
        <p:txBody>
          <a:bodyPr wrap="square" rtlCol="0">
            <a:spAutoFit/>
          </a:bodyPr>
          <a:lstStyle/>
          <a:p>
            <a:r>
              <a:rPr lang="en-US" sz="1400" i="1" dirty="0"/>
              <a:t>low talent men want to run</a:t>
            </a:r>
          </a:p>
        </p:txBody>
      </p:sp>
      <p:sp>
        <p:nvSpPr>
          <p:cNvPr id="40" name="TextBox 39">
            <a:extLst>
              <a:ext uri="{FF2B5EF4-FFF2-40B4-BE49-F238E27FC236}">
                <a16:creationId xmlns:a16="http://schemas.microsoft.com/office/drawing/2014/main" id="{4580C8F8-3060-F9AD-418C-459482B04ACA}"/>
              </a:ext>
            </a:extLst>
          </p:cNvPr>
          <p:cNvSpPr txBox="1"/>
          <p:nvPr/>
        </p:nvSpPr>
        <p:spPr>
          <a:xfrm rot="19077162">
            <a:off x="3912625" y="4128627"/>
            <a:ext cx="1690447" cy="523220"/>
          </a:xfrm>
          <a:prstGeom prst="rect">
            <a:avLst/>
          </a:prstGeom>
          <a:noFill/>
        </p:spPr>
        <p:txBody>
          <a:bodyPr wrap="square" rtlCol="0">
            <a:spAutoFit/>
          </a:bodyPr>
          <a:lstStyle/>
          <a:p>
            <a:r>
              <a:rPr lang="en-US" sz="1400" i="1" dirty="0"/>
              <a:t>low talent men don’t want to run</a:t>
            </a:r>
          </a:p>
        </p:txBody>
      </p:sp>
    </p:spTree>
    <p:extLst>
      <p:ext uri="{BB962C8B-B14F-4D97-AF65-F5344CB8AC3E}">
        <p14:creationId xmlns:p14="http://schemas.microsoft.com/office/powerpoint/2010/main" val="28136487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163C5-82D0-D613-F818-36E647EF12F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CCF0C38-33B5-465F-6140-28A51E194911}"/>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CCCF0C38-33B5-465F-6140-28A51E194911}"/>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
        <p:nvSpPr>
          <p:cNvPr id="6" name="TextBox 5">
            <a:extLst>
              <a:ext uri="{FF2B5EF4-FFF2-40B4-BE49-F238E27FC236}">
                <a16:creationId xmlns:a16="http://schemas.microsoft.com/office/drawing/2014/main" id="{8BA11466-DB35-31E4-9D83-54F01ACE8305}"/>
              </a:ext>
            </a:extLst>
          </p:cNvPr>
          <p:cNvSpPr txBox="1"/>
          <p:nvPr/>
        </p:nvSpPr>
        <p:spPr>
          <a:xfrm>
            <a:off x="170328" y="3981152"/>
            <a:ext cx="4383741" cy="175432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dirty="0"/>
              <a:t>Check your understanding:</a:t>
            </a:r>
          </a:p>
          <a:p>
            <a:endParaRPr lang="en-US" dirty="0"/>
          </a:p>
          <a:p>
            <a:r>
              <a:rPr lang="en-US" dirty="0"/>
              <a:t>Write the expression that describes the conditions under which high-talent men prefer to run instead of not run, while low-talent men prefer to not run instead of run.</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3FE62A9-25E6-7B92-20AB-D8F63BF398AE}"/>
                  </a:ext>
                </a:extLst>
              </p:cNvPr>
              <p:cNvSpPr txBox="1"/>
              <p:nvPr/>
            </p:nvSpPr>
            <p:spPr>
              <a:xfrm>
                <a:off x="5710519" y="3890682"/>
                <a:ext cx="6078071" cy="230832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Step 1: High talent men prefer to run instead of not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a:p>
                <a:r>
                  <a:rPr lang="en-US" dirty="0"/>
                  <a:t>Step 2: Low talent men prefer to not run instead of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dirty="0"/>
              </a:p>
              <a:p>
                <a:r>
                  <a:rPr lang="en-US" dirty="0"/>
                  <a:t>Step 3: Putting these together, we must have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𝑤𝐵</m:t>
                      </m:r>
                    </m:oMath>
                  </m:oMathPara>
                </a14:m>
                <a:endParaRPr lang="en-US" b="0" dirty="0"/>
              </a:p>
              <a:p>
                <a:r>
                  <a:rPr lang="en-US" dirty="0"/>
                  <a:t>or, equivalently:</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𝑤𝐵</m:t>
                      </m:r>
                    </m:oMath>
                  </m:oMathPara>
                </a14:m>
                <a:endParaRPr lang="en-US" dirty="0"/>
              </a:p>
            </p:txBody>
          </p:sp>
        </mc:Choice>
        <mc:Fallback xmlns="">
          <p:sp>
            <p:nvSpPr>
              <p:cNvPr id="2" name="TextBox 1">
                <a:extLst>
                  <a:ext uri="{FF2B5EF4-FFF2-40B4-BE49-F238E27FC236}">
                    <a16:creationId xmlns:a16="http://schemas.microsoft.com/office/drawing/2014/main" id="{23FE62A9-25E6-7B92-20AB-D8F63BF398AE}"/>
                  </a:ext>
                </a:extLst>
              </p:cNvPr>
              <p:cNvSpPr txBox="1">
                <a:spLocks noRot="1" noChangeAspect="1" noMove="1" noResize="1" noEditPoints="1" noAdjustHandles="1" noChangeArrowheads="1" noChangeShapeType="1" noTextEdit="1"/>
              </p:cNvSpPr>
              <p:nvPr/>
            </p:nvSpPr>
            <p:spPr>
              <a:xfrm>
                <a:off x="5710519" y="3890682"/>
                <a:ext cx="6078071" cy="2308324"/>
              </a:xfrm>
              <a:prstGeom prst="rect">
                <a:avLst/>
              </a:prstGeom>
              <a:blipFill>
                <a:blip r:embed="rId3"/>
                <a:stretch>
                  <a:fillRect l="-800" t="-7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7B2B181-01A6-351E-90F7-61E24364954F}"/>
                  </a:ext>
                </a:extLst>
              </p:cNvPr>
              <p:cNvSpPr txBox="1"/>
              <p:nvPr/>
            </p:nvSpPr>
            <p:spPr>
              <a:xfrm rot="20623664">
                <a:off x="2882751" y="1304413"/>
                <a:ext cx="4383741" cy="2585323"/>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So...for a given benefit of winning </a:t>
                </a:r>
                <a14:m>
                  <m:oMath xmlns:m="http://schemas.openxmlformats.org/officeDocument/2006/math">
                    <m:r>
                      <a:rPr lang="en-US" b="0" i="1" smtClean="0">
                        <a:latin typeface="Cambria Math" panose="02040503050406030204" pitchFamily="18" charset="0"/>
                      </a:rPr>
                      <m:t>𝐵</m:t>
                    </m:r>
                  </m:oMath>
                </a14:m>
                <a:r>
                  <a:rPr lang="en-US" dirty="0"/>
                  <a:t>, cost of running </a:t>
                </a:r>
                <a14:m>
                  <m:oMath xmlns:m="http://schemas.openxmlformats.org/officeDocument/2006/math">
                    <m:r>
                      <a:rPr lang="en-US" b="0" i="1" smtClean="0">
                        <a:latin typeface="Cambria Math" panose="02040503050406030204" pitchFamily="18" charset="0"/>
                      </a:rPr>
                      <m:t>𝐶</m:t>
                    </m:r>
                  </m:oMath>
                </a14:m>
                <a:r>
                  <a:rPr lang="en-US" dirty="0"/>
                  <a:t>...</a:t>
                </a:r>
              </a:p>
              <a:p>
                <a:endParaRPr lang="en-US" dirty="0"/>
              </a:p>
              <a:p>
                <a:r>
                  <a:rPr lang="en-US" dirty="0"/>
                  <a:t>high-talent men want to run if the high-talent win probability </a:t>
                </a:r>
                <a14:m>
                  <m:oMath xmlns:m="http://schemas.openxmlformats.org/officeDocument/2006/math">
                    <m:r>
                      <a:rPr lang="en-US" b="0" i="1" smtClean="0">
                        <a:latin typeface="Cambria Math" panose="02040503050406030204" pitchFamily="18" charset="0"/>
                      </a:rPr>
                      <m:t>𝑤</m:t>
                    </m:r>
                  </m:oMath>
                </a14:m>
                <a:r>
                  <a:rPr lang="en-US" dirty="0"/>
                  <a:t> is not too small...</a:t>
                </a:r>
              </a:p>
              <a:p>
                <a:endParaRPr lang="en-US" dirty="0"/>
              </a:p>
              <a:p>
                <a:r>
                  <a:rPr lang="en-US" dirty="0"/>
                  <a:t>and low-talent men do not want to run if the low-talent penalty is sufficiently severe (i.e. </a:t>
                </a:r>
                <a14:m>
                  <m:oMath xmlns:m="http://schemas.openxmlformats.org/officeDocument/2006/math">
                    <m:r>
                      <a:rPr lang="en-US" b="0" i="1" smtClean="0">
                        <a:latin typeface="Cambria Math" panose="02040503050406030204" pitchFamily="18" charset="0"/>
                      </a:rPr>
                      <m:t>𝜆</m:t>
                    </m:r>
                  </m:oMath>
                </a14:m>
                <a:r>
                  <a:rPr lang="en-US" dirty="0"/>
                  <a:t> is sufficiently small)</a:t>
                </a:r>
              </a:p>
            </p:txBody>
          </p:sp>
        </mc:Choice>
        <mc:Fallback xmlns="">
          <p:sp>
            <p:nvSpPr>
              <p:cNvPr id="3" name="TextBox 2">
                <a:extLst>
                  <a:ext uri="{FF2B5EF4-FFF2-40B4-BE49-F238E27FC236}">
                    <a16:creationId xmlns:a16="http://schemas.microsoft.com/office/drawing/2014/main" id="{F7B2B181-01A6-351E-90F7-61E24364954F}"/>
                  </a:ext>
                </a:extLst>
              </p:cNvPr>
              <p:cNvSpPr txBox="1">
                <a:spLocks noRot="1" noChangeAspect="1" noMove="1" noResize="1" noEditPoints="1" noAdjustHandles="1" noChangeArrowheads="1" noChangeShapeType="1" noTextEdit="1"/>
              </p:cNvSpPr>
              <p:nvPr/>
            </p:nvSpPr>
            <p:spPr>
              <a:xfrm rot="20623664">
                <a:off x="2882751" y="1304413"/>
                <a:ext cx="4383741" cy="2585323"/>
              </a:xfrm>
              <a:prstGeom prst="rect">
                <a:avLst/>
              </a:prstGeom>
              <a:blipFill>
                <a:blip r:embed="rId4"/>
                <a:stretch>
                  <a:fillRect l="-737" t="-977" r="-246" b="-1954"/>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9ACA4BB4-1559-0F01-C7EE-69D3CBFDF580}"/>
              </a:ext>
            </a:extLst>
          </p:cNvPr>
          <p:cNvCxnSpPr/>
          <p:nvPr/>
        </p:nvCxnSpPr>
        <p:spPr>
          <a:xfrm>
            <a:off x="6956612" y="1999129"/>
            <a:ext cx="2070847" cy="39443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5AD2F0A5-9A5F-7F17-B085-D2D45B9804FD}"/>
              </a:ext>
            </a:extLst>
          </p:cNvPr>
          <p:cNvCxnSpPr>
            <a:cxnSpLocks/>
          </p:cNvCxnSpPr>
          <p:nvPr/>
        </p:nvCxnSpPr>
        <p:spPr>
          <a:xfrm>
            <a:off x="5815190" y="3532982"/>
            <a:ext cx="2814129" cy="24104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C9B899E3-332C-F018-8095-7A12F2642048}"/>
              </a:ext>
            </a:extLst>
          </p:cNvPr>
          <p:cNvSpPr/>
          <p:nvPr/>
        </p:nvSpPr>
        <p:spPr>
          <a:xfrm>
            <a:off x="667436" y="716279"/>
            <a:ext cx="11425708" cy="5656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76575A5F-E365-693D-ED4C-3192EA74F9CC}"/>
              </a:ext>
            </a:extLst>
          </p:cNvPr>
          <p:cNvCxnSpPr>
            <a:cxnSpLocks/>
          </p:cNvCxnSpPr>
          <p:nvPr/>
        </p:nvCxnSpPr>
        <p:spPr>
          <a:xfrm>
            <a:off x="2438400" y="1739153"/>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3D81E3B8-8F2C-2C4F-18AB-4592EDAFFF87}"/>
              </a:ext>
            </a:extLst>
          </p:cNvPr>
          <p:cNvCxnSpPr>
            <a:cxnSpLocks/>
          </p:cNvCxnSpPr>
          <p:nvPr/>
        </p:nvCxnSpPr>
        <p:spPr>
          <a:xfrm flipH="1">
            <a:off x="2438400" y="5468471"/>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FA9F2CA-30F0-4621-5275-9F29317B7DE2}"/>
                  </a:ext>
                </a:extLst>
              </p:cNvPr>
              <p:cNvSpPr txBox="1"/>
              <p:nvPr/>
            </p:nvSpPr>
            <p:spPr>
              <a:xfrm>
                <a:off x="9607685" y="5114527"/>
                <a:ext cx="1474827" cy="707886"/>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𝑤</m:t>
                    </m:r>
                  </m:oMath>
                </a14:m>
                <a:r>
                  <a:rPr lang="en-US" dirty="0"/>
                  <a:t> </a:t>
                </a:r>
                <a:br>
                  <a:rPr lang="en-US" dirty="0"/>
                </a:br>
                <a:r>
                  <a:rPr lang="en-US" sz="1400" dirty="0"/>
                  <a:t>(win probability for </a:t>
                </a:r>
              </a:p>
              <a:p>
                <a:pPr algn="ctr"/>
                <a:r>
                  <a:rPr lang="en-US" sz="1400" dirty="0"/>
                  <a:t>high-talent men)</a:t>
                </a:r>
              </a:p>
            </p:txBody>
          </p:sp>
        </mc:Choice>
        <mc:Fallback xmlns="">
          <p:sp>
            <p:nvSpPr>
              <p:cNvPr id="17" name="TextBox 16">
                <a:extLst>
                  <a:ext uri="{FF2B5EF4-FFF2-40B4-BE49-F238E27FC236}">
                    <a16:creationId xmlns:a16="http://schemas.microsoft.com/office/drawing/2014/main" id="{DFA9F2CA-30F0-4621-5275-9F29317B7DE2}"/>
                  </a:ext>
                </a:extLst>
              </p:cNvPr>
              <p:cNvSpPr txBox="1">
                <a:spLocks noRot="1" noChangeAspect="1" noMove="1" noResize="1" noEditPoints="1" noAdjustHandles="1" noChangeArrowheads="1" noChangeShapeType="1" noTextEdit="1"/>
              </p:cNvSpPr>
              <p:nvPr/>
            </p:nvSpPr>
            <p:spPr>
              <a:xfrm>
                <a:off x="9607685" y="5114527"/>
                <a:ext cx="1474827" cy="707886"/>
              </a:xfrm>
              <a:prstGeom prst="rect">
                <a:avLst/>
              </a:prstGeom>
              <a:blipFill>
                <a:blip r:embed="rId5"/>
                <a:stretch>
                  <a:fillRect l="-7025" r="-7025" b="-146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763F2F8-3B7B-FDEE-2A62-E5848778EA51}"/>
                  </a:ext>
                </a:extLst>
              </p:cNvPr>
              <p:cNvSpPr txBox="1"/>
              <p:nvPr/>
            </p:nvSpPr>
            <p:spPr>
              <a:xfrm>
                <a:off x="1685036" y="1033651"/>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18" name="TextBox 17">
                <a:extLst>
                  <a:ext uri="{FF2B5EF4-FFF2-40B4-BE49-F238E27FC236}">
                    <a16:creationId xmlns:a16="http://schemas.microsoft.com/office/drawing/2014/main" id="{3763F2F8-3B7B-FDEE-2A62-E5848778EA51}"/>
                  </a:ext>
                </a:extLst>
              </p:cNvPr>
              <p:cNvSpPr txBox="1">
                <a:spLocks noRot="1" noChangeAspect="1" noMove="1" noResize="1" noEditPoints="1" noAdjustHandles="1" noChangeArrowheads="1" noChangeShapeType="1" noTextEdit="1"/>
              </p:cNvSpPr>
              <p:nvPr/>
            </p:nvSpPr>
            <p:spPr>
              <a:xfrm>
                <a:off x="1685036" y="1033651"/>
                <a:ext cx="1505990" cy="492443"/>
              </a:xfrm>
              <a:prstGeom prst="rect">
                <a:avLst/>
              </a:prstGeom>
              <a:blipFill>
                <a:blip r:embed="rId6"/>
                <a:stretch>
                  <a:fillRect l="-7287" r="-5263" b="-22500"/>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2074CDFD-E2EF-1E42-DBD2-9AC32FE84649}"/>
              </a:ext>
            </a:extLst>
          </p:cNvPr>
          <p:cNvCxnSpPr/>
          <p:nvPr/>
        </p:nvCxnSpPr>
        <p:spPr>
          <a:xfrm>
            <a:off x="2156201" y="1739153"/>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49C945C-E5A5-5D82-0B4D-5CD46D5D3730}"/>
                  </a:ext>
                </a:extLst>
              </p:cNvPr>
              <p:cNvSpPr txBox="1"/>
              <p:nvPr/>
            </p:nvSpPr>
            <p:spPr>
              <a:xfrm>
                <a:off x="1713022" y="1572416"/>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11" name="TextBox 10">
                <a:extLst>
                  <a:ext uri="{FF2B5EF4-FFF2-40B4-BE49-F238E27FC236}">
                    <a16:creationId xmlns:a16="http://schemas.microsoft.com/office/drawing/2014/main" id="{549C945C-E5A5-5D82-0B4D-5CD46D5D3730}"/>
                  </a:ext>
                </a:extLst>
              </p:cNvPr>
              <p:cNvSpPr txBox="1">
                <a:spLocks noRot="1" noChangeAspect="1" noMove="1" noResize="1" noEditPoints="1" noAdjustHandles="1" noChangeArrowheads="1" noChangeShapeType="1" noTextEdit="1"/>
              </p:cNvSpPr>
              <p:nvPr/>
            </p:nvSpPr>
            <p:spPr>
              <a:xfrm>
                <a:off x="1713022" y="1572416"/>
                <a:ext cx="555431"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E05FC0E-8558-2736-4360-DC80B1B74D41}"/>
                  </a:ext>
                </a:extLst>
              </p:cNvPr>
              <p:cNvSpPr txBox="1"/>
              <p:nvPr/>
            </p:nvSpPr>
            <p:spPr>
              <a:xfrm>
                <a:off x="1710685" y="5283804"/>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13" name="TextBox 12">
                <a:extLst>
                  <a:ext uri="{FF2B5EF4-FFF2-40B4-BE49-F238E27FC236}">
                    <a16:creationId xmlns:a16="http://schemas.microsoft.com/office/drawing/2014/main" id="{1E05FC0E-8558-2736-4360-DC80B1B74D41}"/>
                  </a:ext>
                </a:extLst>
              </p:cNvPr>
              <p:cNvSpPr txBox="1">
                <a:spLocks noRot="1" noChangeAspect="1" noMove="1" noResize="1" noEditPoints="1" noAdjustHandles="1" noChangeArrowheads="1" noChangeShapeType="1" noTextEdit="1"/>
              </p:cNvSpPr>
              <p:nvPr/>
            </p:nvSpPr>
            <p:spPr>
              <a:xfrm>
                <a:off x="1710685" y="5283804"/>
                <a:ext cx="555431" cy="369332"/>
              </a:xfrm>
              <a:prstGeom prst="rect">
                <a:avLst/>
              </a:prstGeom>
              <a:blipFill>
                <a:blip r:embed="rId8"/>
                <a:stretch>
                  <a:fillRect/>
                </a:stretch>
              </a:blipFill>
            </p:spPr>
            <p:txBody>
              <a:bodyPr/>
              <a:lstStyle/>
              <a:p>
                <a:r>
                  <a:rPr lang="en-US">
                    <a:noFill/>
                  </a:rPr>
                  <a:t> </a:t>
                </a:r>
              </a:p>
            </p:txBody>
          </p:sp>
        </mc:Fallback>
      </mc:AlternateContent>
      <p:cxnSp>
        <p:nvCxnSpPr>
          <p:cNvPr id="15" name="Straight Connector 14">
            <a:extLst>
              <a:ext uri="{FF2B5EF4-FFF2-40B4-BE49-F238E27FC236}">
                <a16:creationId xmlns:a16="http://schemas.microsoft.com/office/drawing/2014/main" id="{4EA9C8F8-618C-21A0-AF22-487AF79B2582}"/>
              </a:ext>
            </a:extLst>
          </p:cNvPr>
          <p:cNvCxnSpPr/>
          <p:nvPr/>
        </p:nvCxnSpPr>
        <p:spPr>
          <a:xfrm>
            <a:off x="2160681" y="5468470"/>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4B0A53E-233C-03BB-4E06-F57361BE93C9}"/>
              </a:ext>
            </a:extLst>
          </p:cNvPr>
          <p:cNvCxnSpPr>
            <a:cxnSpLocks/>
          </p:cNvCxnSpPr>
          <p:nvPr/>
        </p:nvCxnSpPr>
        <p:spPr>
          <a:xfrm flipV="1">
            <a:off x="2438031" y="5468470"/>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C97E775-421C-EBC1-62F1-A8FFCEE9464B}"/>
                  </a:ext>
                </a:extLst>
              </p:cNvPr>
              <p:cNvSpPr txBox="1"/>
              <p:nvPr/>
            </p:nvSpPr>
            <p:spPr>
              <a:xfrm>
                <a:off x="2162842" y="578180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20" name="TextBox 19">
                <a:extLst>
                  <a:ext uri="{FF2B5EF4-FFF2-40B4-BE49-F238E27FC236}">
                    <a16:creationId xmlns:a16="http://schemas.microsoft.com/office/drawing/2014/main" id="{8C97E775-421C-EBC1-62F1-A8FFCEE9464B}"/>
                  </a:ext>
                </a:extLst>
              </p:cNvPr>
              <p:cNvSpPr txBox="1">
                <a:spLocks noRot="1" noChangeAspect="1" noMove="1" noResize="1" noEditPoints="1" noAdjustHandles="1" noChangeArrowheads="1" noChangeShapeType="1" noTextEdit="1"/>
              </p:cNvSpPr>
              <p:nvPr/>
            </p:nvSpPr>
            <p:spPr>
              <a:xfrm>
                <a:off x="2162842" y="5781800"/>
                <a:ext cx="555431" cy="369332"/>
              </a:xfrm>
              <a:prstGeom prst="rect">
                <a:avLst/>
              </a:prstGeom>
              <a:blipFill>
                <a:blip r:embed="rId9"/>
                <a:stretch>
                  <a:fillRect/>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F0F3968E-7414-EF3E-9F63-3461E5BD20D2}"/>
              </a:ext>
            </a:extLst>
          </p:cNvPr>
          <p:cNvCxnSpPr>
            <a:cxnSpLocks/>
          </p:cNvCxnSpPr>
          <p:nvPr/>
        </p:nvCxnSpPr>
        <p:spPr>
          <a:xfrm flipV="1">
            <a:off x="9319601" y="5468470"/>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EE5E6F7-300B-9951-B0FD-C089303DE917}"/>
                  </a:ext>
                </a:extLst>
              </p:cNvPr>
              <p:cNvSpPr txBox="1"/>
              <p:nvPr/>
            </p:nvSpPr>
            <p:spPr>
              <a:xfrm>
                <a:off x="9041885" y="5772389"/>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23" name="TextBox 22">
                <a:extLst>
                  <a:ext uri="{FF2B5EF4-FFF2-40B4-BE49-F238E27FC236}">
                    <a16:creationId xmlns:a16="http://schemas.microsoft.com/office/drawing/2014/main" id="{3EE5E6F7-300B-9951-B0FD-C089303DE917}"/>
                  </a:ext>
                </a:extLst>
              </p:cNvPr>
              <p:cNvSpPr txBox="1">
                <a:spLocks noRot="1" noChangeAspect="1" noMove="1" noResize="1" noEditPoints="1" noAdjustHandles="1" noChangeArrowheads="1" noChangeShapeType="1" noTextEdit="1"/>
              </p:cNvSpPr>
              <p:nvPr/>
            </p:nvSpPr>
            <p:spPr>
              <a:xfrm>
                <a:off x="9041885" y="5772389"/>
                <a:ext cx="555431"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51CD97E-ECC2-4E06-73F3-0A4ADBE9FCCF}"/>
                  </a:ext>
                </a:extLst>
              </p:cNvPr>
              <p:cNvSpPr txBox="1"/>
              <p:nvPr/>
            </p:nvSpPr>
            <p:spPr>
              <a:xfrm>
                <a:off x="8085404" y="259719"/>
                <a:ext cx="3873133" cy="88979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dirty="0"/>
                  <a:t>Putting these together, we must have</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r>
                        <a:rPr lang="en-US" b="0" i="1" smtClean="0">
                          <a:latin typeface="Cambria Math" panose="02040503050406030204" pitchFamily="18" charset="0"/>
                        </a:rPr>
                        <m:t>≥</m:t>
                      </m:r>
                      <m:r>
                        <a:rPr lang="en-US" b="0" i="1" smtClean="0">
                          <a:latin typeface="Cambria Math" panose="02040503050406030204" pitchFamily="18" charset="0"/>
                        </a:rPr>
                        <m:t>𝜆</m:t>
                      </m:r>
                    </m:oMath>
                  </m:oMathPara>
                </a14:m>
                <a:endParaRPr lang="en-US" b="0" dirty="0"/>
              </a:p>
            </p:txBody>
          </p:sp>
        </mc:Choice>
        <mc:Fallback xmlns="">
          <p:sp>
            <p:nvSpPr>
              <p:cNvPr id="5" name="TextBox 4">
                <a:extLst>
                  <a:ext uri="{FF2B5EF4-FFF2-40B4-BE49-F238E27FC236}">
                    <a16:creationId xmlns:a16="http://schemas.microsoft.com/office/drawing/2014/main" id="{151CD97E-ECC2-4E06-73F3-0A4ADBE9FCCF}"/>
                  </a:ext>
                </a:extLst>
              </p:cNvPr>
              <p:cNvSpPr txBox="1">
                <a:spLocks noRot="1" noChangeAspect="1" noMove="1" noResize="1" noEditPoints="1" noAdjustHandles="1" noChangeArrowheads="1" noChangeShapeType="1" noTextEdit="1"/>
              </p:cNvSpPr>
              <p:nvPr/>
            </p:nvSpPr>
            <p:spPr>
              <a:xfrm>
                <a:off x="8085404" y="259719"/>
                <a:ext cx="3873133" cy="889795"/>
              </a:xfrm>
              <a:prstGeom prst="rect">
                <a:avLst/>
              </a:prstGeom>
              <a:blipFill>
                <a:blip r:embed="rId11"/>
                <a:stretch>
                  <a:fillRect l="-1095" t="-2685"/>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A5F704EB-F80D-9B9F-028D-F110E76D98CB}"/>
              </a:ext>
            </a:extLst>
          </p:cNvPr>
          <p:cNvCxnSpPr>
            <a:cxnSpLocks/>
          </p:cNvCxnSpPr>
          <p:nvPr/>
        </p:nvCxnSpPr>
        <p:spPr>
          <a:xfrm flipV="1">
            <a:off x="4434555" y="548594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D73B0F11-5763-6B5C-7EF6-DD169D38C4E0}"/>
                  </a:ext>
                </a:extLst>
              </p:cNvPr>
              <p:cNvSpPr txBox="1"/>
              <p:nvPr/>
            </p:nvSpPr>
            <p:spPr>
              <a:xfrm>
                <a:off x="4154363" y="5858065"/>
                <a:ext cx="578278" cy="432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e>
                      </m:box>
                    </m:oMath>
                  </m:oMathPara>
                </a14:m>
                <a:endParaRPr lang="en-US" dirty="0"/>
              </a:p>
            </p:txBody>
          </p:sp>
        </mc:Choice>
        <mc:Fallback xmlns="">
          <p:sp>
            <p:nvSpPr>
              <p:cNvPr id="21" name="TextBox 20">
                <a:extLst>
                  <a:ext uri="{FF2B5EF4-FFF2-40B4-BE49-F238E27FC236}">
                    <a16:creationId xmlns:a16="http://schemas.microsoft.com/office/drawing/2014/main" id="{D73B0F11-5763-6B5C-7EF6-DD169D38C4E0}"/>
                  </a:ext>
                </a:extLst>
              </p:cNvPr>
              <p:cNvSpPr txBox="1">
                <a:spLocks noRot="1" noChangeAspect="1" noMove="1" noResize="1" noEditPoints="1" noAdjustHandles="1" noChangeArrowheads="1" noChangeShapeType="1" noTextEdit="1"/>
              </p:cNvSpPr>
              <p:nvPr/>
            </p:nvSpPr>
            <p:spPr>
              <a:xfrm>
                <a:off x="4154363" y="5858065"/>
                <a:ext cx="578278" cy="432298"/>
              </a:xfrm>
              <a:prstGeom prst="rect">
                <a:avLst/>
              </a:prstGeom>
              <a:blipFill>
                <a:blip r:embed="rId12"/>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666CDF04-857A-9D41-F6CB-BD8E1146D098}"/>
              </a:ext>
            </a:extLst>
          </p:cNvPr>
          <p:cNvCxnSpPr>
            <a:cxnSpLocks/>
          </p:cNvCxnSpPr>
          <p:nvPr/>
        </p:nvCxnSpPr>
        <p:spPr>
          <a:xfrm flipV="1">
            <a:off x="4443502" y="1389528"/>
            <a:ext cx="0" cy="4061474"/>
          </a:xfrm>
          <a:prstGeom prst="line">
            <a:avLst/>
          </a:prstGeom>
          <a:ln w="3810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Arrow Connector 27">
            <a:extLst>
              <a:ext uri="{FF2B5EF4-FFF2-40B4-BE49-F238E27FC236}">
                <a16:creationId xmlns:a16="http://schemas.microsoft.com/office/drawing/2014/main" id="{A455AC8F-8D3B-F50C-DD8A-26014877D7F1}"/>
              </a:ext>
            </a:extLst>
          </p:cNvPr>
          <p:cNvCxnSpPr>
            <a:cxnSpLocks/>
          </p:cNvCxnSpPr>
          <p:nvPr/>
        </p:nvCxnSpPr>
        <p:spPr>
          <a:xfrm>
            <a:off x="4557834" y="2492657"/>
            <a:ext cx="220519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C065A46D-9AF5-C286-C622-267C2A134E2D}"/>
              </a:ext>
            </a:extLst>
          </p:cNvPr>
          <p:cNvSpPr txBox="1"/>
          <p:nvPr/>
        </p:nvSpPr>
        <p:spPr>
          <a:xfrm>
            <a:off x="4434555" y="2188595"/>
            <a:ext cx="2505202" cy="307777"/>
          </a:xfrm>
          <a:prstGeom prst="rect">
            <a:avLst/>
          </a:prstGeom>
          <a:noFill/>
        </p:spPr>
        <p:txBody>
          <a:bodyPr wrap="square" rtlCol="0">
            <a:spAutoFit/>
          </a:bodyPr>
          <a:lstStyle/>
          <a:p>
            <a:r>
              <a:rPr lang="en-US" sz="1400" i="1" dirty="0"/>
              <a:t>high talent men want to run</a:t>
            </a:r>
          </a:p>
        </p:txBody>
      </p:sp>
      <p:sp>
        <p:nvSpPr>
          <p:cNvPr id="31" name="TextBox 30">
            <a:extLst>
              <a:ext uri="{FF2B5EF4-FFF2-40B4-BE49-F238E27FC236}">
                <a16:creationId xmlns:a16="http://schemas.microsoft.com/office/drawing/2014/main" id="{5B04C760-0BC7-6272-917F-5EC4E075D489}"/>
              </a:ext>
            </a:extLst>
          </p:cNvPr>
          <p:cNvSpPr txBox="1"/>
          <p:nvPr/>
        </p:nvSpPr>
        <p:spPr>
          <a:xfrm>
            <a:off x="2886616" y="2000335"/>
            <a:ext cx="1545312" cy="523220"/>
          </a:xfrm>
          <a:prstGeom prst="rect">
            <a:avLst/>
          </a:prstGeom>
          <a:noFill/>
        </p:spPr>
        <p:txBody>
          <a:bodyPr wrap="square" rtlCol="0">
            <a:spAutoFit/>
          </a:bodyPr>
          <a:lstStyle/>
          <a:p>
            <a:r>
              <a:rPr lang="en-US" sz="1400" i="1" dirty="0"/>
              <a:t>high talent men don’t want to run</a:t>
            </a: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FB91411-0946-84D2-C680-6FCDFB8835DE}"/>
                  </a:ext>
                </a:extLst>
              </p:cNvPr>
              <p:cNvSpPr txBox="1"/>
              <p:nvPr/>
            </p:nvSpPr>
            <p:spPr>
              <a:xfrm>
                <a:off x="1525219" y="4311692"/>
                <a:ext cx="578278" cy="432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latin typeface="Cambria Math" panose="02040503050406030204" pitchFamily="18" charset="0"/>
                            </a:rPr>
                          </m:ctrlPr>
                        </m:boxPr>
                        <m:e>
                          <m:argPr>
                            <m:argSz m:val="-1"/>
                          </m:argPr>
                          <m:f>
                            <m:fPr>
                              <m:ctrlPr>
                                <a:rPr lang="en-US"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𝐵</m:t>
                              </m:r>
                            </m:den>
                          </m:f>
                        </m:e>
                      </m:box>
                    </m:oMath>
                  </m:oMathPara>
                </a14:m>
                <a:endParaRPr lang="en-US" dirty="0"/>
              </a:p>
            </p:txBody>
          </p:sp>
        </mc:Choice>
        <mc:Fallback xmlns="">
          <p:sp>
            <p:nvSpPr>
              <p:cNvPr id="26" name="TextBox 25">
                <a:extLst>
                  <a:ext uri="{FF2B5EF4-FFF2-40B4-BE49-F238E27FC236}">
                    <a16:creationId xmlns:a16="http://schemas.microsoft.com/office/drawing/2014/main" id="{1FB91411-0946-84D2-C680-6FCDFB8835DE}"/>
                  </a:ext>
                </a:extLst>
              </p:cNvPr>
              <p:cNvSpPr txBox="1">
                <a:spLocks noRot="1" noChangeAspect="1" noMove="1" noResize="1" noEditPoints="1" noAdjustHandles="1" noChangeArrowheads="1" noChangeShapeType="1" noTextEdit="1"/>
              </p:cNvSpPr>
              <p:nvPr/>
            </p:nvSpPr>
            <p:spPr>
              <a:xfrm>
                <a:off x="1525219" y="4311692"/>
                <a:ext cx="578278" cy="432298"/>
              </a:xfrm>
              <a:prstGeom prst="rect">
                <a:avLst/>
              </a:prstGeom>
              <a:blipFill>
                <a:blip r:embed="rId13"/>
                <a:stretch>
                  <a:fillRect/>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F95D2520-DCAB-4CD8-44CC-EB18CC444F45}"/>
              </a:ext>
            </a:extLst>
          </p:cNvPr>
          <p:cNvCxnSpPr/>
          <p:nvPr/>
        </p:nvCxnSpPr>
        <p:spPr>
          <a:xfrm>
            <a:off x="2155832" y="452784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0" name="Arc 29">
            <a:extLst>
              <a:ext uri="{FF2B5EF4-FFF2-40B4-BE49-F238E27FC236}">
                <a16:creationId xmlns:a16="http://schemas.microsoft.com/office/drawing/2014/main" id="{BA19A257-91EC-B05A-82D0-20BADAB4C55A}"/>
              </a:ext>
            </a:extLst>
          </p:cNvPr>
          <p:cNvSpPr/>
          <p:nvPr/>
        </p:nvSpPr>
        <p:spPr>
          <a:xfrm rot="11002311">
            <a:off x="2642400" y="-492733"/>
            <a:ext cx="13709141" cy="5258673"/>
          </a:xfrm>
          <a:prstGeom prst="arc">
            <a:avLst>
              <a:gd name="adj1" fmla="val 16200000"/>
              <a:gd name="adj2" fmla="val 21597052"/>
            </a:avLst>
          </a:prstGeom>
          <a:ln w="57150">
            <a:solidFill>
              <a:schemeClr val="accent5"/>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63349F23-D948-DD2E-6203-84C0EF62C629}"/>
              </a:ext>
            </a:extLst>
          </p:cNvPr>
          <p:cNvCxnSpPr>
            <a:cxnSpLocks/>
          </p:cNvCxnSpPr>
          <p:nvPr/>
        </p:nvCxnSpPr>
        <p:spPr>
          <a:xfrm flipH="1">
            <a:off x="2872225" y="2523555"/>
            <a:ext cx="1452405"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89730AE-2B80-EFA5-F7D1-30347973443B}"/>
                  </a:ext>
                </a:extLst>
              </p:cNvPr>
              <p:cNvSpPr txBox="1"/>
              <p:nvPr/>
            </p:nvSpPr>
            <p:spPr>
              <a:xfrm>
                <a:off x="9319601" y="4452121"/>
                <a:ext cx="576734" cy="4322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accent5"/>
                              </a:solidFill>
                              <a:latin typeface="Cambria Math" panose="02040503050406030204" pitchFamily="18" charset="0"/>
                            </a:rPr>
                          </m:ctrlPr>
                        </m:boxPr>
                        <m:e>
                          <m:argPr>
                            <m:argSz m:val="-1"/>
                          </m:argPr>
                          <m:f>
                            <m:fPr>
                              <m:ctrlPr>
                                <a:rPr lang="en-US" i="1" smtClean="0">
                                  <a:solidFill>
                                    <a:schemeClr val="accent5"/>
                                  </a:solidFill>
                                  <a:latin typeface="Cambria Math" panose="02040503050406030204" pitchFamily="18" charset="0"/>
                                </a:rPr>
                              </m:ctrlPr>
                            </m:fPr>
                            <m:num>
                              <m:r>
                                <a:rPr lang="en-US" b="0" i="1" smtClean="0">
                                  <a:solidFill>
                                    <a:schemeClr val="accent5"/>
                                  </a:solidFill>
                                  <a:latin typeface="Cambria Math" panose="02040503050406030204" pitchFamily="18" charset="0"/>
                                </a:rPr>
                                <m:t>𝐶</m:t>
                              </m:r>
                            </m:num>
                            <m:den>
                              <m:r>
                                <a:rPr lang="en-US" b="0" i="1" smtClean="0">
                                  <a:solidFill>
                                    <a:schemeClr val="accent5"/>
                                  </a:solidFill>
                                  <a:latin typeface="Cambria Math" panose="02040503050406030204" pitchFamily="18" charset="0"/>
                                </a:rPr>
                                <m:t>𝑤𝐵</m:t>
                              </m:r>
                            </m:den>
                          </m:f>
                        </m:e>
                      </m:box>
                    </m:oMath>
                  </m:oMathPara>
                </a14:m>
                <a:endParaRPr lang="en-US" dirty="0">
                  <a:solidFill>
                    <a:schemeClr val="accent5"/>
                  </a:solidFill>
                </a:endParaRPr>
              </a:p>
            </p:txBody>
          </p:sp>
        </mc:Choice>
        <mc:Fallback xmlns="">
          <p:sp>
            <p:nvSpPr>
              <p:cNvPr id="33" name="TextBox 32">
                <a:extLst>
                  <a:ext uri="{FF2B5EF4-FFF2-40B4-BE49-F238E27FC236}">
                    <a16:creationId xmlns:a16="http://schemas.microsoft.com/office/drawing/2014/main" id="{B89730AE-2B80-EFA5-F7D1-30347973443B}"/>
                  </a:ext>
                </a:extLst>
              </p:cNvPr>
              <p:cNvSpPr txBox="1">
                <a:spLocks noRot="1" noChangeAspect="1" noMove="1" noResize="1" noEditPoints="1" noAdjustHandles="1" noChangeArrowheads="1" noChangeShapeType="1" noTextEdit="1"/>
              </p:cNvSpPr>
              <p:nvPr/>
            </p:nvSpPr>
            <p:spPr>
              <a:xfrm>
                <a:off x="9319601" y="4452121"/>
                <a:ext cx="576734" cy="432298"/>
              </a:xfrm>
              <a:prstGeom prst="rect">
                <a:avLst/>
              </a:prstGeom>
              <a:blipFill>
                <a:blip r:embed="rId14"/>
                <a:stretch>
                  <a:fillRect/>
                </a:stretch>
              </a:blipFill>
            </p:spPr>
            <p:txBody>
              <a:bodyPr/>
              <a:lstStyle/>
              <a:p>
                <a:r>
                  <a:rPr lang="en-US">
                    <a:noFill/>
                  </a:rPr>
                  <a:t> </a:t>
                </a:r>
              </a:p>
            </p:txBody>
          </p:sp>
        </mc:Fallback>
      </mc:AlternateContent>
      <p:cxnSp>
        <p:nvCxnSpPr>
          <p:cNvPr id="36" name="Straight Arrow Connector 35">
            <a:extLst>
              <a:ext uri="{FF2B5EF4-FFF2-40B4-BE49-F238E27FC236}">
                <a16:creationId xmlns:a16="http://schemas.microsoft.com/office/drawing/2014/main" id="{120BB74F-0C4F-1191-5E9B-A935D9B0EB1B}"/>
              </a:ext>
            </a:extLst>
          </p:cNvPr>
          <p:cNvCxnSpPr>
            <a:cxnSpLocks/>
          </p:cNvCxnSpPr>
          <p:nvPr/>
        </p:nvCxnSpPr>
        <p:spPr>
          <a:xfrm flipV="1">
            <a:off x="5545372" y="2626850"/>
            <a:ext cx="1470706" cy="135401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AB457C2C-2786-EB41-7923-D482CD767F83}"/>
              </a:ext>
            </a:extLst>
          </p:cNvPr>
          <p:cNvSpPr txBox="1"/>
          <p:nvPr/>
        </p:nvSpPr>
        <p:spPr>
          <a:xfrm rot="19077162">
            <a:off x="5026402" y="2932631"/>
            <a:ext cx="2505202" cy="307777"/>
          </a:xfrm>
          <a:prstGeom prst="rect">
            <a:avLst/>
          </a:prstGeom>
          <a:noFill/>
        </p:spPr>
        <p:txBody>
          <a:bodyPr wrap="square" rtlCol="0">
            <a:spAutoFit/>
          </a:bodyPr>
          <a:lstStyle/>
          <a:p>
            <a:r>
              <a:rPr lang="en-US" sz="1400" i="1" dirty="0"/>
              <a:t>low talent men want to run</a:t>
            </a:r>
          </a:p>
        </p:txBody>
      </p:sp>
      <p:cxnSp>
        <p:nvCxnSpPr>
          <p:cNvPr id="37" name="Straight Connector 36">
            <a:extLst>
              <a:ext uri="{FF2B5EF4-FFF2-40B4-BE49-F238E27FC236}">
                <a16:creationId xmlns:a16="http://schemas.microsoft.com/office/drawing/2014/main" id="{B1B7719A-EB69-EEA8-D73C-D0ED4DC02CB0}"/>
              </a:ext>
            </a:extLst>
          </p:cNvPr>
          <p:cNvCxnSpPr>
            <a:cxnSpLocks/>
          </p:cNvCxnSpPr>
          <p:nvPr/>
        </p:nvCxnSpPr>
        <p:spPr>
          <a:xfrm>
            <a:off x="4443502" y="3693459"/>
            <a:ext cx="0" cy="1757543"/>
          </a:xfrm>
          <a:prstGeom prst="line">
            <a:avLst/>
          </a:prstGeom>
          <a:ln w="38100">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EB48D9FB-61AF-CC2E-C557-39C5AD20C866}"/>
              </a:ext>
            </a:extLst>
          </p:cNvPr>
          <p:cNvCxnSpPr>
            <a:cxnSpLocks/>
          </p:cNvCxnSpPr>
          <p:nvPr/>
        </p:nvCxnSpPr>
        <p:spPr>
          <a:xfrm flipH="1" flipV="1">
            <a:off x="4443502" y="5451002"/>
            <a:ext cx="4876099" cy="34939"/>
          </a:xfrm>
          <a:prstGeom prst="line">
            <a:avLst/>
          </a:prstGeom>
          <a:ln w="38100">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FFC6D079-134A-0E17-626E-EEF05E202AF8}"/>
              </a:ext>
            </a:extLst>
          </p:cNvPr>
          <p:cNvCxnSpPr>
            <a:cxnSpLocks/>
          </p:cNvCxnSpPr>
          <p:nvPr/>
        </p:nvCxnSpPr>
        <p:spPr>
          <a:xfrm flipV="1">
            <a:off x="9319601" y="4743990"/>
            <a:ext cx="0" cy="724480"/>
          </a:xfrm>
          <a:prstGeom prst="line">
            <a:avLst/>
          </a:prstGeom>
          <a:ln w="38100">
            <a:solidFill>
              <a:srgbClr val="FFFF00"/>
            </a:solidFill>
          </a:ln>
        </p:spPr>
        <p:style>
          <a:lnRef idx="2">
            <a:schemeClr val="accent1"/>
          </a:lnRef>
          <a:fillRef idx="0">
            <a:schemeClr val="accent1"/>
          </a:fillRef>
          <a:effectRef idx="1">
            <a:schemeClr val="accent1"/>
          </a:effectRef>
          <a:fontRef idx="minor">
            <a:schemeClr val="tx1"/>
          </a:fontRef>
        </p:style>
      </p:cxnSp>
      <p:sp>
        <p:nvSpPr>
          <p:cNvPr id="47" name="Freeform: Shape 46">
            <a:extLst>
              <a:ext uri="{FF2B5EF4-FFF2-40B4-BE49-F238E27FC236}">
                <a16:creationId xmlns:a16="http://schemas.microsoft.com/office/drawing/2014/main" id="{7212E235-3229-5656-79D7-C065AA95F09D}"/>
              </a:ext>
            </a:extLst>
          </p:cNvPr>
          <p:cNvSpPr/>
          <p:nvPr/>
        </p:nvSpPr>
        <p:spPr>
          <a:xfrm>
            <a:off x="4452115" y="3756120"/>
            <a:ext cx="4858871" cy="1084729"/>
          </a:xfrm>
          <a:custGeom>
            <a:avLst/>
            <a:gdLst>
              <a:gd name="connsiteX0" fmla="*/ 0 w 4858871"/>
              <a:gd name="connsiteY0" fmla="*/ 0 h 1084729"/>
              <a:gd name="connsiteX1" fmla="*/ 1479177 w 4858871"/>
              <a:gd name="connsiteY1" fmla="*/ 519953 h 1084729"/>
              <a:gd name="connsiteX2" fmla="*/ 3074894 w 4858871"/>
              <a:gd name="connsiteY2" fmla="*/ 869576 h 1084729"/>
              <a:gd name="connsiteX3" fmla="*/ 4858871 w 4858871"/>
              <a:gd name="connsiteY3" fmla="*/ 1084729 h 1084729"/>
            </a:gdLst>
            <a:ahLst/>
            <a:cxnLst>
              <a:cxn ang="0">
                <a:pos x="connsiteX0" y="connsiteY0"/>
              </a:cxn>
              <a:cxn ang="0">
                <a:pos x="connsiteX1" y="connsiteY1"/>
              </a:cxn>
              <a:cxn ang="0">
                <a:pos x="connsiteX2" y="connsiteY2"/>
              </a:cxn>
              <a:cxn ang="0">
                <a:pos x="connsiteX3" y="connsiteY3"/>
              </a:cxn>
            </a:cxnLst>
            <a:rect l="l" t="t" r="r" b="b"/>
            <a:pathLst>
              <a:path w="4858871" h="1084729">
                <a:moveTo>
                  <a:pt x="0" y="0"/>
                </a:moveTo>
                <a:cubicBezTo>
                  <a:pt x="483347" y="187512"/>
                  <a:pt x="966695" y="375024"/>
                  <a:pt x="1479177" y="519953"/>
                </a:cubicBezTo>
                <a:cubicBezTo>
                  <a:pt x="1991659" y="664882"/>
                  <a:pt x="2511612" y="775447"/>
                  <a:pt x="3074894" y="869576"/>
                </a:cubicBezTo>
                <a:cubicBezTo>
                  <a:pt x="3638176" y="963705"/>
                  <a:pt x="4248523" y="1024217"/>
                  <a:pt x="4858871" y="1084729"/>
                </a:cubicBezTo>
              </a:path>
            </a:pathLst>
          </a:cu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571B2D7A-B5BF-90A9-73FE-1B2F38F56963}"/>
              </a:ext>
            </a:extLst>
          </p:cNvPr>
          <p:cNvCxnSpPr>
            <a:cxnSpLocks/>
          </p:cNvCxnSpPr>
          <p:nvPr/>
        </p:nvCxnSpPr>
        <p:spPr>
          <a:xfrm flipH="1">
            <a:off x="4381914" y="4155768"/>
            <a:ext cx="1078813" cy="98125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377A29F2-6B17-FA19-B08D-E47E53389436}"/>
              </a:ext>
            </a:extLst>
          </p:cNvPr>
          <p:cNvSpPr txBox="1"/>
          <p:nvPr/>
        </p:nvSpPr>
        <p:spPr>
          <a:xfrm rot="19077162">
            <a:off x="3912625" y="4128627"/>
            <a:ext cx="1690447" cy="523220"/>
          </a:xfrm>
          <a:prstGeom prst="rect">
            <a:avLst/>
          </a:prstGeom>
          <a:noFill/>
        </p:spPr>
        <p:txBody>
          <a:bodyPr wrap="square" rtlCol="0">
            <a:spAutoFit/>
          </a:bodyPr>
          <a:lstStyle/>
          <a:p>
            <a:r>
              <a:rPr lang="en-US" sz="1400" i="1" dirty="0"/>
              <a:t>low talent men don’t want to run</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037EFC61-27D5-D730-4D74-7CD7ABF7E353}"/>
                  </a:ext>
                </a:extLst>
              </p:cNvPr>
              <p:cNvSpPr txBox="1"/>
              <p:nvPr/>
            </p:nvSpPr>
            <p:spPr>
              <a:xfrm rot="1372551">
                <a:off x="8157882" y="1997965"/>
                <a:ext cx="2580424" cy="1754326"/>
              </a:xfrm>
              <a:prstGeom prst="rect">
                <a:avLst/>
              </a:prstGeom>
              <a:noFill/>
            </p:spPr>
            <p:txBody>
              <a:bodyPr wrap="square" rtlCol="0">
                <a:spAutoFit/>
              </a:bodyPr>
              <a:lstStyle/>
              <a:p>
                <a:r>
                  <a:rPr lang="en-US" i="1" dirty="0"/>
                  <a:t>So for any given </a:t>
                </a:r>
                <a14:m>
                  <m:oMath xmlns:m="http://schemas.openxmlformats.org/officeDocument/2006/math">
                    <m:r>
                      <a:rPr lang="en-US" b="0" i="1" smtClean="0">
                        <a:latin typeface="Cambria Math" panose="02040503050406030204" pitchFamily="18" charset="0"/>
                      </a:rPr>
                      <m:t>𝐵</m:t>
                    </m:r>
                  </m:oMath>
                </a14:m>
                <a:r>
                  <a:rPr lang="en-US" i="1" dirty="0"/>
                  <a:t> and </a:t>
                </a:r>
                <a14:m>
                  <m:oMath xmlns:m="http://schemas.openxmlformats.org/officeDocument/2006/math">
                    <m:r>
                      <a:rPr lang="en-US" b="0" i="1" smtClean="0">
                        <a:latin typeface="Cambria Math" panose="02040503050406030204" pitchFamily="18" charset="0"/>
                      </a:rPr>
                      <m:t>𝐶</m:t>
                    </m:r>
                  </m:oMath>
                </a14:m>
                <a:r>
                  <a:rPr lang="en-US" i="1" dirty="0"/>
                  <a:t>, high talent men’s win probability must be sufficiently high and the low-talent penalty must be sufficiently severe.</a:t>
                </a:r>
              </a:p>
            </p:txBody>
          </p:sp>
        </mc:Choice>
        <mc:Fallback xmlns="">
          <p:sp>
            <p:nvSpPr>
              <p:cNvPr id="48" name="TextBox 47">
                <a:extLst>
                  <a:ext uri="{FF2B5EF4-FFF2-40B4-BE49-F238E27FC236}">
                    <a16:creationId xmlns:a16="http://schemas.microsoft.com/office/drawing/2014/main" id="{037EFC61-27D5-D730-4D74-7CD7ABF7E353}"/>
                  </a:ext>
                </a:extLst>
              </p:cNvPr>
              <p:cNvSpPr txBox="1">
                <a:spLocks noRot="1" noChangeAspect="1" noMove="1" noResize="1" noEditPoints="1" noAdjustHandles="1" noChangeArrowheads="1" noChangeShapeType="1" noTextEdit="1"/>
              </p:cNvSpPr>
              <p:nvPr/>
            </p:nvSpPr>
            <p:spPr>
              <a:xfrm rot="1372551">
                <a:off x="8157882" y="1997965"/>
                <a:ext cx="2580424" cy="1754326"/>
              </a:xfrm>
              <a:prstGeom prst="rect">
                <a:avLst/>
              </a:prstGeom>
              <a:blipFill>
                <a:blip r:embed="rId15"/>
                <a:stretch>
                  <a:fillRect l="-2386" t="-1624" r="-31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FE647C6E-0288-4BC7-851A-DF53E1066E78}"/>
                  </a:ext>
                </a:extLst>
              </p:cNvPr>
              <p:cNvSpPr txBox="1"/>
              <p:nvPr/>
            </p:nvSpPr>
            <p:spPr>
              <a:xfrm>
                <a:off x="5606798" y="4705609"/>
                <a:ext cx="2005101" cy="646331"/>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𝑤</m:t>
                    </m:r>
                  </m:oMath>
                </a14:m>
                <a:r>
                  <a:rPr lang="en-US" dirty="0"/>
                  <a:t> and </a:t>
                </a:r>
                <a14:m>
                  <m:oMath xmlns:m="http://schemas.openxmlformats.org/officeDocument/2006/math">
                    <m:r>
                      <a:rPr lang="en-US" b="0" i="1" smtClean="0">
                        <a:latin typeface="Cambria Math" panose="02040503050406030204" pitchFamily="18" charset="0"/>
                      </a:rPr>
                      <m:t>𝜆</m:t>
                    </m:r>
                  </m:oMath>
                </a14:m>
                <a:r>
                  <a:rPr lang="en-US" dirty="0"/>
                  <a:t> must be in this region</a:t>
                </a:r>
              </a:p>
            </p:txBody>
          </p:sp>
        </mc:Choice>
        <mc:Fallback xmlns="">
          <p:sp>
            <p:nvSpPr>
              <p:cNvPr id="49" name="TextBox 48">
                <a:extLst>
                  <a:ext uri="{FF2B5EF4-FFF2-40B4-BE49-F238E27FC236}">
                    <a16:creationId xmlns:a16="http://schemas.microsoft.com/office/drawing/2014/main" id="{FE647C6E-0288-4BC7-851A-DF53E1066E78}"/>
                  </a:ext>
                </a:extLst>
              </p:cNvPr>
              <p:cNvSpPr txBox="1">
                <a:spLocks noRot="1" noChangeAspect="1" noMove="1" noResize="1" noEditPoints="1" noAdjustHandles="1" noChangeArrowheads="1" noChangeShapeType="1" noTextEdit="1"/>
              </p:cNvSpPr>
              <p:nvPr/>
            </p:nvSpPr>
            <p:spPr>
              <a:xfrm>
                <a:off x="5606798" y="4705609"/>
                <a:ext cx="2005101" cy="646331"/>
              </a:xfrm>
              <a:prstGeom prst="rect">
                <a:avLst/>
              </a:prstGeom>
              <a:blipFill>
                <a:blip r:embed="rId16"/>
                <a:stretch>
                  <a:fillRect l="-2736" t="-4717" b="-15094"/>
                </a:stretch>
              </a:blipFill>
            </p:spPr>
            <p:txBody>
              <a:bodyPr/>
              <a:lstStyle/>
              <a:p>
                <a:r>
                  <a:rPr lang="en-US">
                    <a:noFill/>
                  </a:rPr>
                  <a:t> </a:t>
                </a:r>
              </a:p>
            </p:txBody>
          </p:sp>
        </mc:Fallback>
      </mc:AlternateContent>
    </p:spTree>
    <p:extLst>
      <p:ext uri="{BB962C8B-B14F-4D97-AF65-F5344CB8AC3E}">
        <p14:creationId xmlns:p14="http://schemas.microsoft.com/office/powerpoint/2010/main" val="58488021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A1E0C-B508-E8B6-12DF-595E9BB5D9B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009A0DD5-DC50-281C-E2BD-9E44C8E62C5D}"/>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009A0DD5-DC50-281C-E2BD-9E44C8E62C5D}"/>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Tree>
    <p:extLst>
      <p:ext uri="{BB962C8B-B14F-4D97-AF65-F5344CB8AC3E}">
        <p14:creationId xmlns:p14="http://schemas.microsoft.com/office/powerpoint/2010/main" val="54224658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C0B4EE-B7B1-5A18-FE7F-E9A5DAD726D4}"/>
              </a:ext>
            </a:extLst>
          </p:cNvPr>
          <p:cNvSpPr txBox="1"/>
          <p:nvPr/>
        </p:nvSpPr>
        <p:spPr>
          <a:xfrm>
            <a:off x="1515358" y="226244"/>
            <a:ext cx="9161283"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400" dirty="0"/>
              <a:t>Back to the data...</a:t>
            </a:r>
          </a:p>
        </p:txBody>
      </p:sp>
      <p:sp>
        <p:nvSpPr>
          <p:cNvPr id="3" name="TextBox 2">
            <a:extLst>
              <a:ext uri="{FF2B5EF4-FFF2-40B4-BE49-F238E27FC236}">
                <a16:creationId xmlns:a16="http://schemas.microsoft.com/office/drawing/2014/main" id="{BF7B1B70-2124-D2CC-65BB-064F4155A459}"/>
              </a:ext>
            </a:extLst>
          </p:cNvPr>
          <p:cNvSpPr txBox="1"/>
          <p:nvPr/>
        </p:nvSpPr>
        <p:spPr>
          <a:xfrm>
            <a:off x="1515357" y="947393"/>
            <a:ext cx="9161283" cy="230832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b="1" i="1" dirty="0"/>
              <a:t>When they run, women candidates win at the same rate as men candidates.</a:t>
            </a:r>
          </a:p>
          <a:p>
            <a:endParaRPr lang="en-US" b="1" i="1" dirty="0"/>
          </a:p>
          <a:p>
            <a:pPr marL="285750" indent="-285750">
              <a:buFont typeface="Arial" panose="020B0604020202020204" pitchFamily="34" charset="0"/>
              <a:buChar char="•"/>
            </a:pPr>
            <a:r>
              <a:rPr lang="en-US" b="1" i="1" dirty="0"/>
              <a:t>Women run at a lower rate than men.</a:t>
            </a:r>
            <a:br>
              <a:rPr lang="en-US" b="1" i="1" dirty="0"/>
            </a:br>
            <a:endParaRPr lang="en-US" b="1" i="1" dirty="0"/>
          </a:p>
          <a:p>
            <a:pPr marL="285750" indent="-285750">
              <a:buFont typeface="Arial" panose="020B0604020202020204" pitchFamily="34" charset="0"/>
              <a:buChar char="•"/>
            </a:pPr>
            <a:r>
              <a:rPr lang="en-US" b="1" i="1" dirty="0"/>
              <a:t>(Thus) women are under-represented in legislatures.</a:t>
            </a:r>
            <a:br>
              <a:rPr lang="en-US" b="1" i="1" dirty="0"/>
            </a:br>
            <a:endParaRPr lang="en-US" b="1" i="1" dirty="0"/>
          </a:p>
          <a:p>
            <a:pPr marL="285750" indent="-285750">
              <a:buFont typeface="Arial" panose="020B0604020202020204" pitchFamily="34" charset="0"/>
              <a:buChar char="•"/>
            </a:pPr>
            <a:r>
              <a:rPr lang="en-US" b="1" i="1" dirty="0"/>
              <a:t>When in office, women legislators are more productive (more legislation, more funding brought to the district) than men legislators.</a:t>
            </a:r>
          </a:p>
        </p:txBody>
      </p:sp>
    </p:spTree>
    <p:extLst>
      <p:ext uri="{BB962C8B-B14F-4D97-AF65-F5344CB8AC3E}">
        <p14:creationId xmlns:p14="http://schemas.microsoft.com/office/powerpoint/2010/main" val="193770360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0D8A4-FAE0-C731-5F7F-6B77A8ACC9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D6F5B59-C457-F319-CDFE-E2666D95F34F}"/>
              </a:ext>
            </a:extLst>
          </p:cNvPr>
          <p:cNvSpPr txBox="1"/>
          <p:nvPr/>
        </p:nvSpPr>
        <p:spPr>
          <a:xfrm>
            <a:off x="1515358" y="226244"/>
            <a:ext cx="9161283"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400" dirty="0"/>
              <a:t>Back to the data...</a:t>
            </a:r>
          </a:p>
        </p:txBody>
      </p:sp>
      <p:sp>
        <p:nvSpPr>
          <p:cNvPr id="3" name="TextBox 2">
            <a:extLst>
              <a:ext uri="{FF2B5EF4-FFF2-40B4-BE49-F238E27FC236}">
                <a16:creationId xmlns:a16="http://schemas.microsoft.com/office/drawing/2014/main" id="{371A55A9-281B-83EB-3418-16D0DD8845BD}"/>
              </a:ext>
            </a:extLst>
          </p:cNvPr>
          <p:cNvSpPr txBox="1"/>
          <p:nvPr/>
        </p:nvSpPr>
        <p:spPr>
          <a:xfrm>
            <a:off x="1515357" y="947393"/>
            <a:ext cx="9161283" cy="230832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b="1" i="1" dirty="0"/>
              <a:t>When they run, women candidates win at the same rate as men candidates.</a:t>
            </a:r>
          </a:p>
          <a:p>
            <a:endParaRPr lang="en-US" b="1" i="1" dirty="0"/>
          </a:p>
          <a:p>
            <a:pPr marL="285750" indent="-285750">
              <a:buFont typeface="Arial" panose="020B0604020202020204" pitchFamily="34" charset="0"/>
              <a:buChar char="•"/>
            </a:pPr>
            <a:r>
              <a:rPr lang="en-US" b="1" i="1" dirty="0"/>
              <a:t>Women run at a lower rate than men.</a:t>
            </a:r>
            <a:br>
              <a:rPr lang="en-US" b="1" i="1" dirty="0"/>
            </a:br>
            <a:endParaRPr lang="en-US" b="1" i="1" dirty="0"/>
          </a:p>
          <a:p>
            <a:pPr marL="285750" indent="-285750">
              <a:buFont typeface="Arial" panose="020B0604020202020204" pitchFamily="34" charset="0"/>
              <a:buChar char="•"/>
            </a:pPr>
            <a:r>
              <a:rPr lang="en-US" b="1" i="1" dirty="0"/>
              <a:t>(Thus) women are under-represented in legislatures.</a:t>
            </a:r>
            <a:br>
              <a:rPr lang="en-US" b="1" i="1" dirty="0"/>
            </a:br>
            <a:endParaRPr lang="en-US" b="1" i="1" dirty="0"/>
          </a:p>
          <a:p>
            <a:pPr marL="285750" indent="-285750">
              <a:buFont typeface="Arial" panose="020B0604020202020204" pitchFamily="34" charset="0"/>
              <a:buChar char="•"/>
            </a:pPr>
            <a:r>
              <a:rPr lang="en-US" b="1" i="1" dirty="0"/>
              <a:t>When in office, women legislators are more productive (more legislation, more funding brought to the district) than men legislators.</a:t>
            </a:r>
          </a:p>
        </p:txBody>
      </p:sp>
      <p:sp>
        <p:nvSpPr>
          <p:cNvPr id="4" name="TextBox 3">
            <a:extLst>
              <a:ext uri="{FF2B5EF4-FFF2-40B4-BE49-F238E27FC236}">
                <a16:creationId xmlns:a16="http://schemas.microsoft.com/office/drawing/2014/main" id="{22D1DE61-BA35-ECD7-C660-9330B9312B42}"/>
              </a:ext>
            </a:extLst>
          </p:cNvPr>
          <p:cNvSpPr txBox="1"/>
          <p:nvPr/>
        </p:nvSpPr>
        <p:spPr>
          <a:xfrm>
            <a:off x="2420471" y="3496235"/>
            <a:ext cx="7548282"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How can our model generate behavior consist with these patterns?</a:t>
            </a:r>
          </a:p>
        </p:txBody>
      </p:sp>
    </p:spTree>
    <p:extLst>
      <p:ext uri="{BB962C8B-B14F-4D97-AF65-F5344CB8AC3E}">
        <p14:creationId xmlns:p14="http://schemas.microsoft.com/office/powerpoint/2010/main" val="24817325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30C5D-FAB1-7FA1-C896-CCDDB5AF3FB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F848376-3039-6327-1D89-726A6F818050}"/>
              </a:ext>
            </a:extLst>
          </p:cNvPr>
          <p:cNvSpPr txBox="1"/>
          <p:nvPr/>
        </p:nvSpPr>
        <p:spPr>
          <a:xfrm>
            <a:off x="1515358" y="226244"/>
            <a:ext cx="9161283"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400" dirty="0"/>
              <a:t>Back to the data...</a:t>
            </a:r>
          </a:p>
        </p:txBody>
      </p:sp>
      <p:sp>
        <p:nvSpPr>
          <p:cNvPr id="3" name="TextBox 2">
            <a:extLst>
              <a:ext uri="{FF2B5EF4-FFF2-40B4-BE49-F238E27FC236}">
                <a16:creationId xmlns:a16="http://schemas.microsoft.com/office/drawing/2014/main" id="{D3C37300-D8CF-29D4-FE53-95F4A7151202}"/>
              </a:ext>
            </a:extLst>
          </p:cNvPr>
          <p:cNvSpPr txBox="1"/>
          <p:nvPr/>
        </p:nvSpPr>
        <p:spPr>
          <a:xfrm>
            <a:off x="1515357" y="947393"/>
            <a:ext cx="9161283" cy="230832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b="1" i="1" dirty="0"/>
              <a:t>When they run, women candidates win at the same rate as men candidates.</a:t>
            </a:r>
          </a:p>
          <a:p>
            <a:endParaRPr lang="en-US" b="1" i="1" dirty="0"/>
          </a:p>
          <a:p>
            <a:pPr marL="285750" indent="-285750">
              <a:buFont typeface="Arial" panose="020B0604020202020204" pitchFamily="34" charset="0"/>
              <a:buChar char="•"/>
            </a:pPr>
            <a:r>
              <a:rPr lang="en-US" b="1" i="1" dirty="0"/>
              <a:t>Women run at a lower rate than men.</a:t>
            </a:r>
            <a:br>
              <a:rPr lang="en-US" b="1" i="1" dirty="0"/>
            </a:br>
            <a:endParaRPr lang="en-US" b="1" i="1" dirty="0"/>
          </a:p>
          <a:p>
            <a:pPr marL="285750" indent="-285750">
              <a:buFont typeface="Arial" panose="020B0604020202020204" pitchFamily="34" charset="0"/>
              <a:buChar char="•"/>
            </a:pPr>
            <a:r>
              <a:rPr lang="en-US" b="1" i="1" dirty="0"/>
              <a:t>(Thus) women are under-represented in legislatures.</a:t>
            </a:r>
            <a:br>
              <a:rPr lang="en-US" b="1" i="1" dirty="0"/>
            </a:br>
            <a:endParaRPr lang="en-US" b="1" i="1" dirty="0"/>
          </a:p>
          <a:p>
            <a:pPr marL="285750" indent="-285750">
              <a:buFont typeface="Arial" panose="020B0604020202020204" pitchFamily="34" charset="0"/>
              <a:buChar char="•"/>
            </a:pPr>
            <a:r>
              <a:rPr lang="en-US" b="1" i="1" dirty="0"/>
              <a:t>When in office, women legislators are more productive (more legislation, more funding brought to the district) than men legislators.</a:t>
            </a:r>
          </a:p>
        </p:txBody>
      </p:sp>
      <p:sp>
        <p:nvSpPr>
          <p:cNvPr id="4" name="TextBox 3">
            <a:extLst>
              <a:ext uri="{FF2B5EF4-FFF2-40B4-BE49-F238E27FC236}">
                <a16:creationId xmlns:a16="http://schemas.microsoft.com/office/drawing/2014/main" id="{4392F0F0-537E-CAA9-6F8B-47DC911C4BB9}"/>
              </a:ext>
            </a:extLst>
          </p:cNvPr>
          <p:cNvSpPr txBox="1"/>
          <p:nvPr/>
        </p:nvSpPr>
        <p:spPr>
          <a:xfrm>
            <a:off x="2420471" y="3496235"/>
            <a:ext cx="7548282"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How can our model generate behavior consist with these patterns?</a:t>
            </a:r>
          </a:p>
        </p:txBody>
      </p:sp>
      <p:sp>
        <p:nvSpPr>
          <p:cNvPr id="5" name="TextBox 4">
            <a:extLst>
              <a:ext uri="{FF2B5EF4-FFF2-40B4-BE49-F238E27FC236}">
                <a16:creationId xmlns:a16="http://schemas.microsoft.com/office/drawing/2014/main" id="{ED94E684-08C2-6642-5BBB-81077100612F}"/>
              </a:ext>
            </a:extLst>
          </p:cNvPr>
          <p:cNvSpPr txBox="1"/>
          <p:nvPr/>
        </p:nvSpPr>
        <p:spPr>
          <a:xfrm>
            <a:off x="2026024" y="4106085"/>
            <a:ext cx="8830235" cy="2129878"/>
          </a:xfrm>
          <a:prstGeom prst="rect">
            <a:avLst/>
          </a:prstGeom>
          <a:noFill/>
        </p:spPr>
        <p:txBody>
          <a:bodyPr wrap="square" rtlCol="0">
            <a:spAutoFit/>
          </a:bodyPr>
          <a:lstStyle/>
          <a:p>
            <a:pPr>
              <a:lnSpc>
                <a:spcPct val="150000"/>
              </a:lnSpc>
            </a:pPr>
            <a:r>
              <a:rPr lang="en-US" i="1" dirty="0"/>
              <a:t>Remember...</a:t>
            </a:r>
          </a:p>
          <a:p>
            <a:pPr marL="285750" indent="-285750">
              <a:lnSpc>
                <a:spcPct val="150000"/>
              </a:lnSpc>
              <a:buFont typeface="Arial" panose="020B0604020202020204" pitchFamily="34" charset="0"/>
              <a:buChar char="•"/>
            </a:pPr>
            <a:r>
              <a:rPr lang="en-US" i="1" dirty="0"/>
              <a:t>Win probabilities in the model depend on candidate talent and candidate gender.</a:t>
            </a:r>
          </a:p>
          <a:p>
            <a:pPr marL="285750" indent="-285750">
              <a:lnSpc>
                <a:spcPct val="150000"/>
              </a:lnSpc>
              <a:buFont typeface="Arial" panose="020B0604020202020204" pitchFamily="34" charset="0"/>
              <a:buChar char="•"/>
            </a:pPr>
            <a:r>
              <a:rPr lang="en-US" i="1" dirty="0"/>
              <a:t>Productivity once in office in the model depends only on candidate talent.</a:t>
            </a:r>
          </a:p>
          <a:p>
            <a:pPr marL="285750" indent="-285750">
              <a:lnSpc>
                <a:spcPct val="150000"/>
              </a:lnSpc>
              <a:buFont typeface="Arial" panose="020B0604020202020204" pitchFamily="34" charset="0"/>
              <a:buChar char="•"/>
            </a:pPr>
            <a:r>
              <a:rPr lang="en-US" i="1" dirty="0"/>
              <a:t>Running is costly in the model, so persons only want to become candidates when their win probabilities are high enough.</a:t>
            </a:r>
          </a:p>
        </p:txBody>
      </p:sp>
    </p:spTree>
    <p:extLst>
      <p:ext uri="{BB962C8B-B14F-4D97-AF65-F5344CB8AC3E}">
        <p14:creationId xmlns:p14="http://schemas.microsoft.com/office/powerpoint/2010/main" val="25618865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254B0-7D4A-01B0-3BE1-5BDE284BFC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B4CD4B-5847-36DA-C0FF-2BBBB2A7987F}"/>
              </a:ext>
            </a:extLst>
          </p:cNvPr>
          <p:cNvSpPr txBox="1"/>
          <p:nvPr/>
        </p:nvSpPr>
        <p:spPr>
          <a:xfrm>
            <a:off x="1515358" y="226244"/>
            <a:ext cx="9161283"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400" dirty="0"/>
              <a:t>Back to the data...</a:t>
            </a:r>
          </a:p>
        </p:txBody>
      </p:sp>
      <p:sp>
        <p:nvSpPr>
          <p:cNvPr id="3" name="TextBox 2">
            <a:extLst>
              <a:ext uri="{FF2B5EF4-FFF2-40B4-BE49-F238E27FC236}">
                <a16:creationId xmlns:a16="http://schemas.microsoft.com/office/drawing/2014/main" id="{5D7AEFD2-49A7-F217-8937-0255738AAA6E}"/>
              </a:ext>
            </a:extLst>
          </p:cNvPr>
          <p:cNvSpPr txBox="1"/>
          <p:nvPr/>
        </p:nvSpPr>
        <p:spPr>
          <a:xfrm>
            <a:off x="1515357" y="947393"/>
            <a:ext cx="9161283" cy="230832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b="1" i="1" dirty="0"/>
              <a:t>When they run, women candidates win at the same rate as men candidates.</a:t>
            </a:r>
          </a:p>
          <a:p>
            <a:endParaRPr lang="en-US" b="1" i="1" dirty="0"/>
          </a:p>
          <a:p>
            <a:pPr marL="285750" indent="-285750">
              <a:buFont typeface="Arial" panose="020B0604020202020204" pitchFamily="34" charset="0"/>
              <a:buChar char="•"/>
            </a:pPr>
            <a:r>
              <a:rPr lang="en-US" b="1" i="1" dirty="0"/>
              <a:t>Women run at a lower rate than men.</a:t>
            </a:r>
            <a:br>
              <a:rPr lang="en-US" b="1" i="1" dirty="0"/>
            </a:br>
            <a:endParaRPr lang="en-US" b="1" i="1" dirty="0"/>
          </a:p>
          <a:p>
            <a:pPr marL="285750" indent="-285750">
              <a:buFont typeface="Arial" panose="020B0604020202020204" pitchFamily="34" charset="0"/>
              <a:buChar char="•"/>
            </a:pPr>
            <a:r>
              <a:rPr lang="en-US" b="1" i="1" dirty="0"/>
              <a:t>(Thus) women are under-represented in legislatures.</a:t>
            </a:r>
            <a:br>
              <a:rPr lang="en-US" b="1" i="1" dirty="0"/>
            </a:br>
            <a:endParaRPr lang="en-US" b="1" i="1" dirty="0"/>
          </a:p>
          <a:p>
            <a:pPr marL="285750" indent="-285750">
              <a:buFont typeface="Arial" panose="020B0604020202020204" pitchFamily="34" charset="0"/>
              <a:buChar char="•"/>
            </a:pPr>
            <a:r>
              <a:rPr lang="en-US" b="1" i="1" dirty="0"/>
              <a:t>When in office, women legislators are more productive (more legislation, more funding brought to the district) than men legislators.</a:t>
            </a:r>
          </a:p>
        </p:txBody>
      </p:sp>
      <p:sp>
        <p:nvSpPr>
          <p:cNvPr id="4" name="TextBox 3">
            <a:extLst>
              <a:ext uri="{FF2B5EF4-FFF2-40B4-BE49-F238E27FC236}">
                <a16:creationId xmlns:a16="http://schemas.microsoft.com/office/drawing/2014/main" id="{F467B31F-74DA-8739-6EB9-8975D36AE2E0}"/>
              </a:ext>
            </a:extLst>
          </p:cNvPr>
          <p:cNvSpPr txBox="1"/>
          <p:nvPr/>
        </p:nvSpPr>
        <p:spPr>
          <a:xfrm>
            <a:off x="2420471" y="3496235"/>
            <a:ext cx="7548282"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How can our model generate behavior consist with these patterns?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0E75713-2C37-585E-735B-C270EA1F59B8}"/>
                  </a:ext>
                </a:extLst>
              </p:cNvPr>
              <p:cNvSpPr txBox="1"/>
              <p:nvPr/>
            </p:nvSpPr>
            <p:spPr>
              <a:xfrm>
                <a:off x="1515357" y="3986429"/>
                <a:ext cx="9161283"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i="1" dirty="0"/>
                  <a:t>In the model, win probabilities can be ordered in one of two ways (depending on the values of </a:t>
                </a:r>
                <a14:m>
                  <m:oMath xmlns:m="http://schemas.openxmlformats.org/officeDocument/2006/math">
                    <m:r>
                      <a:rPr lang="en-US" b="1" i="1" smtClean="0">
                        <a:latin typeface="Cambria Math" panose="02040503050406030204" pitchFamily="18" charset="0"/>
                      </a:rPr>
                      <m:t>𝝀</m:t>
                    </m:r>
                  </m:oMath>
                </a14:m>
                <a:r>
                  <a:rPr lang="en-US" b="1" i="1" dirty="0"/>
                  <a:t> and </a:t>
                </a:r>
                <a14:m>
                  <m:oMath xmlns:m="http://schemas.openxmlformats.org/officeDocument/2006/math">
                    <m:r>
                      <a:rPr lang="en-US" b="1" i="1" smtClean="0">
                        <a:latin typeface="Cambria Math" panose="02040503050406030204" pitchFamily="18" charset="0"/>
                      </a:rPr>
                      <m:t>𝝁</m:t>
                    </m:r>
                  </m:oMath>
                </a14:m>
                <a:r>
                  <a:rPr lang="en-US" b="1" i="1" dirty="0"/>
                  <a:t>):</a:t>
                </a:r>
              </a:p>
            </p:txBody>
          </p:sp>
        </mc:Choice>
        <mc:Fallback xmlns="">
          <p:sp>
            <p:nvSpPr>
              <p:cNvPr id="6" name="TextBox 5">
                <a:extLst>
                  <a:ext uri="{FF2B5EF4-FFF2-40B4-BE49-F238E27FC236}">
                    <a16:creationId xmlns:a16="http://schemas.microsoft.com/office/drawing/2014/main" id="{90E75713-2C37-585E-735B-C270EA1F59B8}"/>
                  </a:ext>
                </a:extLst>
              </p:cNvPr>
              <p:cNvSpPr txBox="1">
                <a:spLocks noRot="1" noChangeAspect="1" noMove="1" noResize="1" noEditPoints="1" noAdjustHandles="1" noChangeArrowheads="1" noChangeShapeType="1" noTextEdit="1"/>
              </p:cNvSpPr>
              <p:nvPr/>
            </p:nvSpPr>
            <p:spPr>
              <a:xfrm>
                <a:off x="1515357" y="3986429"/>
                <a:ext cx="9161283" cy="646331"/>
              </a:xfrm>
              <a:prstGeom prst="rect">
                <a:avLst/>
              </a:prstGeom>
              <a:blipFill>
                <a:blip r:embed="rId2"/>
                <a:stretch>
                  <a:fillRect l="-532" t="-3670" b="-12844"/>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52CA4E21-0862-842F-E49B-F7E5C62FE95F}"/>
              </a:ext>
            </a:extLst>
          </p:cNvPr>
          <p:cNvCxnSpPr/>
          <p:nvPr/>
        </p:nvCxnSpPr>
        <p:spPr>
          <a:xfrm>
            <a:off x="2581835" y="5611906"/>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5DBC0F9-4ABD-8339-E5EC-31AEC55DDFA3}"/>
              </a:ext>
            </a:extLst>
          </p:cNvPr>
          <p:cNvSpPr txBox="1"/>
          <p:nvPr/>
        </p:nvSpPr>
        <p:spPr>
          <a:xfrm>
            <a:off x="9827351" y="5288740"/>
            <a:ext cx="2078703" cy="646331"/>
          </a:xfrm>
          <a:prstGeom prst="rect">
            <a:avLst/>
          </a:prstGeom>
          <a:noFill/>
        </p:spPr>
        <p:txBody>
          <a:bodyPr wrap="square" rtlCol="0">
            <a:spAutoFit/>
          </a:bodyPr>
          <a:lstStyle/>
          <a:p>
            <a:r>
              <a:rPr lang="en-US" dirty="0"/>
              <a:t>highest probability of winning</a:t>
            </a:r>
          </a:p>
        </p:txBody>
      </p:sp>
      <p:sp>
        <p:nvSpPr>
          <p:cNvPr id="10" name="TextBox 9">
            <a:extLst>
              <a:ext uri="{FF2B5EF4-FFF2-40B4-BE49-F238E27FC236}">
                <a16:creationId xmlns:a16="http://schemas.microsoft.com/office/drawing/2014/main" id="{56EE31DD-AC4F-47CE-C7A8-B943BAEC6C34}"/>
              </a:ext>
            </a:extLst>
          </p:cNvPr>
          <p:cNvSpPr txBox="1"/>
          <p:nvPr/>
        </p:nvSpPr>
        <p:spPr>
          <a:xfrm>
            <a:off x="684922" y="5264276"/>
            <a:ext cx="2078703" cy="646331"/>
          </a:xfrm>
          <a:prstGeom prst="rect">
            <a:avLst/>
          </a:prstGeom>
          <a:noFill/>
        </p:spPr>
        <p:txBody>
          <a:bodyPr wrap="square" rtlCol="0">
            <a:spAutoFit/>
          </a:bodyPr>
          <a:lstStyle/>
          <a:p>
            <a:r>
              <a:rPr lang="en-US" dirty="0"/>
              <a:t>lowest probability of winning</a:t>
            </a:r>
          </a:p>
        </p:txBody>
      </p:sp>
    </p:spTree>
    <p:extLst>
      <p:ext uri="{BB962C8B-B14F-4D97-AF65-F5344CB8AC3E}">
        <p14:creationId xmlns:p14="http://schemas.microsoft.com/office/powerpoint/2010/main" val="34538123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1B7A4-2816-6E22-AE13-37595D9EE63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8055CAF-6605-0D17-A184-136828734CD1}"/>
              </a:ext>
            </a:extLst>
          </p:cNvPr>
          <p:cNvSpPr txBox="1"/>
          <p:nvPr/>
        </p:nvSpPr>
        <p:spPr>
          <a:xfrm>
            <a:off x="1515358" y="226244"/>
            <a:ext cx="9161283"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400" dirty="0"/>
              <a:t>Back to the data...</a:t>
            </a:r>
          </a:p>
        </p:txBody>
      </p:sp>
      <p:sp>
        <p:nvSpPr>
          <p:cNvPr id="3" name="TextBox 2">
            <a:extLst>
              <a:ext uri="{FF2B5EF4-FFF2-40B4-BE49-F238E27FC236}">
                <a16:creationId xmlns:a16="http://schemas.microsoft.com/office/drawing/2014/main" id="{F78DB533-CC72-E9AC-744B-CA357BFF1564}"/>
              </a:ext>
            </a:extLst>
          </p:cNvPr>
          <p:cNvSpPr txBox="1"/>
          <p:nvPr/>
        </p:nvSpPr>
        <p:spPr>
          <a:xfrm>
            <a:off x="1515357" y="947393"/>
            <a:ext cx="9161283" cy="230832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b="1" i="1" dirty="0"/>
              <a:t>When they run, women candidates win at the same rate as men candidates.</a:t>
            </a:r>
          </a:p>
          <a:p>
            <a:endParaRPr lang="en-US" b="1" i="1" dirty="0"/>
          </a:p>
          <a:p>
            <a:pPr marL="285750" indent="-285750">
              <a:buFont typeface="Arial" panose="020B0604020202020204" pitchFamily="34" charset="0"/>
              <a:buChar char="•"/>
            </a:pPr>
            <a:r>
              <a:rPr lang="en-US" b="1" i="1" dirty="0"/>
              <a:t>Women run at a lower rate than men.</a:t>
            </a:r>
            <a:br>
              <a:rPr lang="en-US" b="1" i="1" dirty="0"/>
            </a:br>
            <a:endParaRPr lang="en-US" b="1" i="1" dirty="0"/>
          </a:p>
          <a:p>
            <a:pPr marL="285750" indent="-285750">
              <a:buFont typeface="Arial" panose="020B0604020202020204" pitchFamily="34" charset="0"/>
              <a:buChar char="•"/>
            </a:pPr>
            <a:r>
              <a:rPr lang="en-US" b="1" i="1" dirty="0"/>
              <a:t>(Thus) women are under-represented in legislatures.</a:t>
            </a:r>
            <a:br>
              <a:rPr lang="en-US" b="1" i="1" dirty="0"/>
            </a:br>
            <a:endParaRPr lang="en-US" b="1" i="1" dirty="0"/>
          </a:p>
          <a:p>
            <a:pPr marL="285750" indent="-285750">
              <a:buFont typeface="Arial" panose="020B0604020202020204" pitchFamily="34" charset="0"/>
              <a:buChar char="•"/>
            </a:pPr>
            <a:r>
              <a:rPr lang="en-US" b="1" i="1" dirty="0"/>
              <a:t>When in office, women legislators are more productive (more legislation, more funding brought to the district) than men legislators.</a:t>
            </a:r>
          </a:p>
        </p:txBody>
      </p:sp>
      <p:sp>
        <p:nvSpPr>
          <p:cNvPr id="4" name="TextBox 3">
            <a:extLst>
              <a:ext uri="{FF2B5EF4-FFF2-40B4-BE49-F238E27FC236}">
                <a16:creationId xmlns:a16="http://schemas.microsoft.com/office/drawing/2014/main" id="{8AC96E21-3E8A-D62D-A238-C8CB5D1434E8}"/>
              </a:ext>
            </a:extLst>
          </p:cNvPr>
          <p:cNvSpPr txBox="1"/>
          <p:nvPr/>
        </p:nvSpPr>
        <p:spPr>
          <a:xfrm>
            <a:off x="2420471" y="3496235"/>
            <a:ext cx="7548282"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How can our model generate behavior consist with these patterns?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BB10360-5901-48ED-4C2C-F8177D6931E6}"/>
                  </a:ext>
                </a:extLst>
              </p:cNvPr>
              <p:cNvSpPr txBox="1"/>
              <p:nvPr/>
            </p:nvSpPr>
            <p:spPr>
              <a:xfrm>
                <a:off x="1515357" y="3986429"/>
                <a:ext cx="9161283"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i="1" dirty="0"/>
                  <a:t>In the model, win probabilities can be ordered in one of two ways (depending on the values of </a:t>
                </a:r>
                <a14:m>
                  <m:oMath xmlns:m="http://schemas.openxmlformats.org/officeDocument/2006/math">
                    <m:r>
                      <a:rPr lang="en-US" b="1" i="1" smtClean="0">
                        <a:latin typeface="Cambria Math" panose="02040503050406030204" pitchFamily="18" charset="0"/>
                      </a:rPr>
                      <m:t>𝝀</m:t>
                    </m:r>
                  </m:oMath>
                </a14:m>
                <a:r>
                  <a:rPr lang="en-US" b="1" i="1" dirty="0"/>
                  <a:t> and </a:t>
                </a:r>
                <a14:m>
                  <m:oMath xmlns:m="http://schemas.openxmlformats.org/officeDocument/2006/math">
                    <m:r>
                      <a:rPr lang="en-US" b="1" i="1" smtClean="0">
                        <a:latin typeface="Cambria Math" panose="02040503050406030204" pitchFamily="18" charset="0"/>
                      </a:rPr>
                      <m:t>𝝁</m:t>
                    </m:r>
                  </m:oMath>
                </a14:m>
                <a:r>
                  <a:rPr lang="en-US" b="1" i="1" dirty="0"/>
                  <a:t>):</a:t>
                </a:r>
              </a:p>
            </p:txBody>
          </p:sp>
        </mc:Choice>
        <mc:Fallback xmlns="">
          <p:sp>
            <p:nvSpPr>
              <p:cNvPr id="6" name="TextBox 5">
                <a:extLst>
                  <a:ext uri="{FF2B5EF4-FFF2-40B4-BE49-F238E27FC236}">
                    <a16:creationId xmlns:a16="http://schemas.microsoft.com/office/drawing/2014/main" id="{3BB10360-5901-48ED-4C2C-F8177D6931E6}"/>
                  </a:ext>
                </a:extLst>
              </p:cNvPr>
              <p:cNvSpPr txBox="1">
                <a:spLocks noRot="1" noChangeAspect="1" noMove="1" noResize="1" noEditPoints="1" noAdjustHandles="1" noChangeArrowheads="1" noChangeShapeType="1" noTextEdit="1"/>
              </p:cNvSpPr>
              <p:nvPr/>
            </p:nvSpPr>
            <p:spPr>
              <a:xfrm>
                <a:off x="1515357" y="3986429"/>
                <a:ext cx="9161283" cy="646331"/>
              </a:xfrm>
              <a:prstGeom prst="rect">
                <a:avLst/>
              </a:prstGeom>
              <a:blipFill>
                <a:blip r:embed="rId2"/>
                <a:stretch>
                  <a:fillRect l="-532" t="-3670" b="-12844"/>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3A4EDE80-3D80-878D-C79B-2530E7E3F710}"/>
              </a:ext>
            </a:extLst>
          </p:cNvPr>
          <p:cNvCxnSpPr/>
          <p:nvPr/>
        </p:nvCxnSpPr>
        <p:spPr>
          <a:xfrm>
            <a:off x="2581835" y="5611906"/>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B6DFE55-9A79-43CD-DC09-020FF9D6BAB1}"/>
              </a:ext>
            </a:extLst>
          </p:cNvPr>
          <p:cNvSpPr txBox="1"/>
          <p:nvPr/>
        </p:nvSpPr>
        <p:spPr>
          <a:xfrm>
            <a:off x="9827351" y="5288740"/>
            <a:ext cx="2078703" cy="646331"/>
          </a:xfrm>
          <a:prstGeom prst="rect">
            <a:avLst/>
          </a:prstGeom>
          <a:noFill/>
        </p:spPr>
        <p:txBody>
          <a:bodyPr wrap="square" rtlCol="0">
            <a:spAutoFit/>
          </a:bodyPr>
          <a:lstStyle/>
          <a:p>
            <a:r>
              <a:rPr lang="en-US" dirty="0"/>
              <a:t>highest probability of winning</a:t>
            </a:r>
          </a:p>
        </p:txBody>
      </p:sp>
      <p:sp>
        <p:nvSpPr>
          <p:cNvPr id="10" name="TextBox 9">
            <a:extLst>
              <a:ext uri="{FF2B5EF4-FFF2-40B4-BE49-F238E27FC236}">
                <a16:creationId xmlns:a16="http://schemas.microsoft.com/office/drawing/2014/main" id="{E09C94B6-5AAC-4922-38EB-4E5C4C4D5C36}"/>
              </a:ext>
            </a:extLst>
          </p:cNvPr>
          <p:cNvSpPr txBox="1"/>
          <p:nvPr/>
        </p:nvSpPr>
        <p:spPr>
          <a:xfrm>
            <a:off x="684922" y="5264276"/>
            <a:ext cx="2078703" cy="646331"/>
          </a:xfrm>
          <a:prstGeom prst="rect">
            <a:avLst/>
          </a:prstGeom>
          <a:noFill/>
        </p:spPr>
        <p:txBody>
          <a:bodyPr wrap="square" rtlCol="0">
            <a:spAutoFit/>
          </a:bodyPr>
          <a:lstStyle/>
          <a:p>
            <a:r>
              <a:rPr lang="en-US" dirty="0"/>
              <a:t>lowest probability of winning</a:t>
            </a:r>
          </a:p>
        </p:txBody>
      </p:sp>
      <p:sp>
        <p:nvSpPr>
          <p:cNvPr id="11" name="TextBox 10">
            <a:extLst>
              <a:ext uri="{FF2B5EF4-FFF2-40B4-BE49-F238E27FC236}">
                <a16:creationId xmlns:a16="http://schemas.microsoft.com/office/drawing/2014/main" id="{4B03DCCE-219E-6E49-96B9-BA9FAB304F6C}"/>
              </a:ext>
            </a:extLst>
          </p:cNvPr>
          <p:cNvSpPr txBox="1"/>
          <p:nvPr/>
        </p:nvSpPr>
        <p:spPr>
          <a:xfrm>
            <a:off x="2546623" y="4919408"/>
            <a:ext cx="1142861" cy="369332"/>
          </a:xfrm>
          <a:prstGeom prst="rect">
            <a:avLst/>
          </a:prstGeom>
          <a:noFill/>
        </p:spPr>
        <p:txBody>
          <a:bodyPr wrap="square" rtlCol="0">
            <a:spAutoFit/>
          </a:bodyPr>
          <a:lstStyle/>
          <a:p>
            <a:r>
              <a:rPr lang="en-US" dirty="0"/>
              <a:t>one way:</a:t>
            </a:r>
          </a:p>
        </p:txBody>
      </p:sp>
      <p:sp>
        <p:nvSpPr>
          <p:cNvPr id="12" name="TextBox 11">
            <a:extLst>
              <a:ext uri="{FF2B5EF4-FFF2-40B4-BE49-F238E27FC236}">
                <a16:creationId xmlns:a16="http://schemas.microsoft.com/office/drawing/2014/main" id="{C4F5C362-7C22-776F-BED7-89214E00C149}"/>
              </a:ext>
            </a:extLst>
          </p:cNvPr>
          <p:cNvSpPr txBox="1"/>
          <p:nvPr/>
        </p:nvSpPr>
        <p:spPr>
          <a:xfrm>
            <a:off x="3780148" y="4844713"/>
            <a:ext cx="1216058" cy="584775"/>
          </a:xfrm>
          <a:prstGeom prst="rect">
            <a:avLst/>
          </a:prstGeom>
          <a:noFill/>
        </p:spPr>
        <p:txBody>
          <a:bodyPr wrap="square" rtlCol="0">
            <a:spAutoFit/>
          </a:bodyPr>
          <a:lstStyle/>
          <a:p>
            <a:pPr algn="ctr"/>
            <a:r>
              <a:rPr lang="en-US" sz="1600" dirty="0"/>
              <a:t>low talent women</a:t>
            </a:r>
          </a:p>
        </p:txBody>
      </p:sp>
      <p:sp>
        <p:nvSpPr>
          <p:cNvPr id="13" name="TextBox 12">
            <a:extLst>
              <a:ext uri="{FF2B5EF4-FFF2-40B4-BE49-F238E27FC236}">
                <a16:creationId xmlns:a16="http://schemas.microsoft.com/office/drawing/2014/main" id="{C5E7FBC5-5257-8865-E433-F9147A5E07F4}"/>
              </a:ext>
            </a:extLst>
          </p:cNvPr>
          <p:cNvSpPr txBox="1"/>
          <p:nvPr/>
        </p:nvSpPr>
        <p:spPr>
          <a:xfrm>
            <a:off x="8063797" y="4874565"/>
            <a:ext cx="1216058" cy="584775"/>
          </a:xfrm>
          <a:prstGeom prst="rect">
            <a:avLst/>
          </a:prstGeom>
          <a:noFill/>
        </p:spPr>
        <p:txBody>
          <a:bodyPr wrap="square" rtlCol="0">
            <a:spAutoFit/>
          </a:bodyPr>
          <a:lstStyle/>
          <a:p>
            <a:pPr algn="ctr"/>
            <a:r>
              <a:rPr lang="en-US" sz="1600" dirty="0"/>
              <a:t>high talent men</a:t>
            </a:r>
          </a:p>
        </p:txBody>
      </p:sp>
      <p:sp>
        <p:nvSpPr>
          <p:cNvPr id="14" name="TextBox 13">
            <a:extLst>
              <a:ext uri="{FF2B5EF4-FFF2-40B4-BE49-F238E27FC236}">
                <a16:creationId xmlns:a16="http://schemas.microsoft.com/office/drawing/2014/main" id="{1EBF5367-A2C8-115F-CB28-50AE353C84F9}"/>
              </a:ext>
            </a:extLst>
          </p:cNvPr>
          <p:cNvSpPr txBox="1"/>
          <p:nvPr/>
        </p:nvSpPr>
        <p:spPr>
          <a:xfrm>
            <a:off x="5208031" y="4850281"/>
            <a:ext cx="1216058" cy="584775"/>
          </a:xfrm>
          <a:prstGeom prst="rect">
            <a:avLst/>
          </a:prstGeom>
          <a:noFill/>
        </p:spPr>
        <p:txBody>
          <a:bodyPr wrap="square" rtlCol="0">
            <a:spAutoFit/>
          </a:bodyPr>
          <a:lstStyle/>
          <a:p>
            <a:pPr algn="ctr"/>
            <a:r>
              <a:rPr lang="en-US" sz="1600" dirty="0"/>
              <a:t>low talent men</a:t>
            </a:r>
          </a:p>
        </p:txBody>
      </p:sp>
      <p:sp>
        <p:nvSpPr>
          <p:cNvPr id="15" name="TextBox 14">
            <a:extLst>
              <a:ext uri="{FF2B5EF4-FFF2-40B4-BE49-F238E27FC236}">
                <a16:creationId xmlns:a16="http://schemas.microsoft.com/office/drawing/2014/main" id="{3D656557-3779-6C58-8234-D9D978FFA25B}"/>
              </a:ext>
            </a:extLst>
          </p:cNvPr>
          <p:cNvSpPr txBox="1"/>
          <p:nvPr/>
        </p:nvSpPr>
        <p:spPr>
          <a:xfrm>
            <a:off x="6635914" y="4855849"/>
            <a:ext cx="1376870" cy="584775"/>
          </a:xfrm>
          <a:prstGeom prst="rect">
            <a:avLst/>
          </a:prstGeom>
          <a:noFill/>
        </p:spPr>
        <p:txBody>
          <a:bodyPr wrap="square" rtlCol="0">
            <a:spAutoFit/>
          </a:bodyPr>
          <a:lstStyle/>
          <a:p>
            <a:pPr algn="ctr"/>
            <a:r>
              <a:rPr lang="en-US" sz="1600" dirty="0"/>
              <a:t>high talent women</a:t>
            </a:r>
          </a:p>
        </p:txBody>
      </p:sp>
      <p:sp>
        <p:nvSpPr>
          <p:cNvPr id="16" name="Rectangle 15">
            <a:extLst>
              <a:ext uri="{FF2B5EF4-FFF2-40B4-BE49-F238E27FC236}">
                <a16:creationId xmlns:a16="http://schemas.microsoft.com/office/drawing/2014/main" id="{26354432-5DB4-BC9D-5741-4A86FA7645C7}"/>
              </a:ext>
            </a:extLst>
          </p:cNvPr>
          <p:cNvSpPr/>
          <p:nvPr/>
        </p:nvSpPr>
        <p:spPr>
          <a:xfrm>
            <a:off x="2601798" y="4844713"/>
            <a:ext cx="6859384" cy="58477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98834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D6931-BB1E-A6D9-2049-64FE2E735B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C2CC82-8DB9-5F3A-0B8D-CE23ACB456E9}"/>
              </a:ext>
            </a:extLst>
          </p:cNvPr>
          <p:cNvSpPr txBox="1"/>
          <p:nvPr/>
        </p:nvSpPr>
        <p:spPr>
          <a:xfrm>
            <a:off x="1515358" y="226244"/>
            <a:ext cx="9161283"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400" dirty="0"/>
              <a:t>Back to the data...</a:t>
            </a:r>
          </a:p>
        </p:txBody>
      </p:sp>
      <p:sp>
        <p:nvSpPr>
          <p:cNvPr id="3" name="TextBox 2">
            <a:extLst>
              <a:ext uri="{FF2B5EF4-FFF2-40B4-BE49-F238E27FC236}">
                <a16:creationId xmlns:a16="http://schemas.microsoft.com/office/drawing/2014/main" id="{793309EA-3F16-96CB-2252-E728C342C684}"/>
              </a:ext>
            </a:extLst>
          </p:cNvPr>
          <p:cNvSpPr txBox="1"/>
          <p:nvPr/>
        </p:nvSpPr>
        <p:spPr>
          <a:xfrm>
            <a:off x="1515357" y="947393"/>
            <a:ext cx="9161283" cy="230832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b="1" i="1" dirty="0"/>
              <a:t>When they run, women candidates win at the same rate as men candidates.</a:t>
            </a:r>
          </a:p>
          <a:p>
            <a:endParaRPr lang="en-US" b="1" i="1" dirty="0"/>
          </a:p>
          <a:p>
            <a:pPr marL="285750" indent="-285750">
              <a:buFont typeface="Arial" panose="020B0604020202020204" pitchFamily="34" charset="0"/>
              <a:buChar char="•"/>
            </a:pPr>
            <a:r>
              <a:rPr lang="en-US" b="1" i="1" dirty="0"/>
              <a:t>Women run at a lower rate than men.</a:t>
            </a:r>
            <a:br>
              <a:rPr lang="en-US" b="1" i="1" dirty="0"/>
            </a:br>
            <a:endParaRPr lang="en-US" b="1" i="1" dirty="0"/>
          </a:p>
          <a:p>
            <a:pPr marL="285750" indent="-285750">
              <a:buFont typeface="Arial" panose="020B0604020202020204" pitchFamily="34" charset="0"/>
              <a:buChar char="•"/>
            </a:pPr>
            <a:r>
              <a:rPr lang="en-US" b="1" i="1" dirty="0"/>
              <a:t>(Thus) women are under-represented in legislatures.</a:t>
            </a:r>
            <a:br>
              <a:rPr lang="en-US" b="1" i="1" dirty="0"/>
            </a:br>
            <a:endParaRPr lang="en-US" b="1" i="1" dirty="0"/>
          </a:p>
          <a:p>
            <a:pPr marL="285750" indent="-285750">
              <a:buFont typeface="Arial" panose="020B0604020202020204" pitchFamily="34" charset="0"/>
              <a:buChar char="•"/>
            </a:pPr>
            <a:r>
              <a:rPr lang="en-US" b="1" i="1" dirty="0"/>
              <a:t>When in office, women legislators are more productive (more legislation, more funding brought to the district) than men legislators.</a:t>
            </a:r>
          </a:p>
        </p:txBody>
      </p:sp>
      <p:sp>
        <p:nvSpPr>
          <p:cNvPr id="4" name="TextBox 3">
            <a:extLst>
              <a:ext uri="{FF2B5EF4-FFF2-40B4-BE49-F238E27FC236}">
                <a16:creationId xmlns:a16="http://schemas.microsoft.com/office/drawing/2014/main" id="{9461D0B6-6518-3865-D4A6-E647D0DBBC69}"/>
              </a:ext>
            </a:extLst>
          </p:cNvPr>
          <p:cNvSpPr txBox="1"/>
          <p:nvPr/>
        </p:nvSpPr>
        <p:spPr>
          <a:xfrm>
            <a:off x="2420471" y="3496235"/>
            <a:ext cx="7548282"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How can our model generate behavior consist with these patterns?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D45833E-897B-268F-71CB-B3088F4B936A}"/>
                  </a:ext>
                </a:extLst>
              </p:cNvPr>
              <p:cNvSpPr txBox="1"/>
              <p:nvPr/>
            </p:nvSpPr>
            <p:spPr>
              <a:xfrm>
                <a:off x="1515357" y="3986429"/>
                <a:ext cx="9161283"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i="1" dirty="0"/>
                  <a:t>In the model, win probabilities can be ordered in one of two ways (depending on the values of </a:t>
                </a:r>
                <a14:m>
                  <m:oMath xmlns:m="http://schemas.openxmlformats.org/officeDocument/2006/math">
                    <m:r>
                      <a:rPr lang="en-US" b="1" i="1" smtClean="0">
                        <a:latin typeface="Cambria Math" panose="02040503050406030204" pitchFamily="18" charset="0"/>
                      </a:rPr>
                      <m:t>𝝀</m:t>
                    </m:r>
                  </m:oMath>
                </a14:m>
                <a:r>
                  <a:rPr lang="en-US" b="1" i="1" dirty="0"/>
                  <a:t> and </a:t>
                </a:r>
                <a14:m>
                  <m:oMath xmlns:m="http://schemas.openxmlformats.org/officeDocument/2006/math">
                    <m:r>
                      <a:rPr lang="en-US" b="1" i="1" smtClean="0">
                        <a:latin typeface="Cambria Math" panose="02040503050406030204" pitchFamily="18" charset="0"/>
                      </a:rPr>
                      <m:t>𝝁</m:t>
                    </m:r>
                  </m:oMath>
                </a14:m>
                <a:r>
                  <a:rPr lang="en-US" b="1" i="1" dirty="0"/>
                  <a:t>):</a:t>
                </a:r>
              </a:p>
            </p:txBody>
          </p:sp>
        </mc:Choice>
        <mc:Fallback xmlns="">
          <p:sp>
            <p:nvSpPr>
              <p:cNvPr id="6" name="TextBox 5">
                <a:extLst>
                  <a:ext uri="{FF2B5EF4-FFF2-40B4-BE49-F238E27FC236}">
                    <a16:creationId xmlns:a16="http://schemas.microsoft.com/office/drawing/2014/main" id="{3D45833E-897B-268F-71CB-B3088F4B936A}"/>
                  </a:ext>
                </a:extLst>
              </p:cNvPr>
              <p:cNvSpPr txBox="1">
                <a:spLocks noRot="1" noChangeAspect="1" noMove="1" noResize="1" noEditPoints="1" noAdjustHandles="1" noChangeArrowheads="1" noChangeShapeType="1" noTextEdit="1"/>
              </p:cNvSpPr>
              <p:nvPr/>
            </p:nvSpPr>
            <p:spPr>
              <a:xfrm>
                <a:off x="1515357" y="3986429"/>
                <a:ext cx="9161283" cy="646331"/>
              </a:xfrm>
              <a:prstGeom prst="rect">
                <a:avLst/>
              </a:prstGeom>
              <a:blipFill>
                <a:blip r:embed="rId2"/>
                <a:stretch>
                  <a:fillRect l="-532" t="-3670" b="-12844"/>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85A397B5-98D8-2452-B107-9B6A4465065B}"/>
              </a:ext>
            </a:extLst>
          </p:cNvPr>
          <p:cNvCxnSpPr/>
          <p:nvPr/>
        </p:nvCxnSpPr>
        <p:spPr>
          <a:xfrm>
            <a:off x="2581835" y="5611906"/>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1BC9753-F4F0-23BD-1577-3BAE10DBA33A}"/>
              </a:ext>
            </a:extLst>
          </p:cNvPr>
          <p:cNvSpPr txBox="1"/>
          <p:nvPr/>
        </p:nvSpPr>
        <p:spPr>
          <a:xfrm>
            <a:off x="9827351" y="5288740"/>
            <a:ext cx="2078703" cy="646331"/>
          </a:xfrm>
          <a:prstGeom prst="rect">
            <a:avLst/>
          </a:prstGeom>
          <a:noFill/>
        </p:spPr>
        <p:txBody>
          <a:bodyPr wrap="square" rtlCol="0">
            <a:spAutoFit/>
          </a:bodyPr>
          <a:lstStyle/>
          <a:p>
            <a:r>
              <a:rPr lang="en-US" dirty="0"/>
              <a:t>highest probability of winning</a:t>
            </a:r>
          </a:p>
        </p:txBody>
      </p:sp>
      <p:sp>
        <p:nvSpPr>
          <p:cNvPr id="10" name="TextBox 9">
            <a:extLst>
              <a:ext uri="{FF2B5EF4-FFF2-40B4-BE49-F238E27FC236}">
                <a16:creationId xmlns:a16="http://schemas.microsoft.com/office/drawing/2014/main" id="{E4DCF743-0F46-5837-42E7-3CC89AA74A8E}"/>
              </a:ext>
            </a:extLst>
          </p:cNvPr>
          <p:cNvSpPr txBox="1"/>
          <p:nvPr/>
        </p:nvSpPr>
        <p:spPr>
          <a:xfrm>
            <a:off x="684922" y="5264276"/>
            <a:ext cx="2078703" cy="646331"/>
          </a:xfrm>
          <a:prstGeom prst="rect">
            <a:avLst/>
          </a:prstGeom>
          <a:noFill/>
        </p:spPr>
        <p:txBody>
          <a:bodyPr wrap="square" rtlCol="0">
            <a:spAutoFit/>
          </a:bodyPr>
          <a:lstStyle/>
          <a:p>
            <a:r>
              <a:rPr lang="en-US" dirty="0"/>
              <a:t>lowest probability of winning</a:t>
            </a:r>
          </a:p>
        </p:txBody>
      </p:sp>
      <p:sp>
        <p:nvSpPr>
          <p:cNvPr id="11" name="TextBox 10">
            <a:extLst>
              <a:ext uri="{FF2B5EF4-FFF2-40B4-BE49-F238E27FC236}">
                <a16:creationId xmlns:a16="http://schemas.microsoft.com/office/drawing/2014/main" id="{2349948B-443B-4A1C-8C99-1D2CA48F32DC}"/>
              </a:ext>
            </a:extLst>
          </p:cNvPr>
          <p:cNvSpPr txBox="1"/>
          <p:nvPr/>
        </p:nvSpPr>
        <p:spPr>
          <a:xfrm>
            <a:off x="2546623" y="4919408"/>
            <a:ext cx="1142861" cy="369332"/>
          </a:xfrm>
          <a:prstGeom prst="rect">
            <a:avLst/>
          </a:prstGeom>
          <a:noFill/>
        </p:spPr>
        <p:txBody>
          <a:bodyPr wrap="square" rtlCol="0">
            <a:spAutoFit/>
          </a:bodyPr>
          <a:lstStyle/>
          <a:p>
            <a:r>
              <a:rPr lang="en-US" dirty="0"/>
              <a:t>one way:</a:t>
            </a:r>
          </a:p>
        </p:txBody>
      </p:sp>
      <p:sp>
        <p:nvSpPr>
          <p:cNvPr id="12" name="TextBox 11">
            <a:extLst>
              <a:ext uri="{FF2B5EF4-FFF2-40B4-BE49-F238E27FC236}">
                <a16:creationId xmlns:a16="http://schemas.microsoft.com/office/drawing/2014/main" id="{C4CA03C6-EC94-6956-9BEA-300958729B5E}"/>
              </a:ext>
            </a:extLst>
          </p:cNvPr>
          <p:cNvSpPr txBox="1"/>
          <p:nvPr/>
        </p:nvSpPr>
        <p:spPr>
          <a:xfrm>
            <a:off x="3780148" y="4844713"/>
            <a:ext cx="1216058" cy="584775"/>
          </a:xfrm>
          <a:prstGeom prst="rect">
            <a:avLst/>
          </a:prstGeom>
          <a:noFill/>
        </p:spPr>
        <p:txBody>
          <a:bodyPr wrap="square" rtlCol="0">
            <a:spAutoFit/>
          </a:bodyPr>
          <a:lstStyle/>
          <a:p>
            <a:pPr algn="ctr"/>
            <a:r>
              <a:rPr lang="en-US" sz="1600" dirty="0"/>
              <a:t>low talent women</a:t>
            </a:r>
          </a:p>
        </p:txBody>
      </p:sp>
      <p:sp>
        <p:nvSpPr>
          <p:cNvPr id="13" name="TextBox 12">
            <a:extLst>
              <a:ext uri="{FF2B5EF4-FFF2-40B4-BE49-F238E27FC236}">
                <a16:creationId xmlns:a16="http://schemas.microsoft.com/office/drawing/2014/main" id="{F9C93DA7-3257-1993-83C1-A52DDB87DE3E}"/>
              </a:ext>
            </a:extLst>
          </p:cNvPr>
          <p:cNvSpPr txBox="1"/>
          <p:nvPr/>
        </p:nvSpPr>
        <p:spPr>
          <a:xfrm>
            <a:off x="8063797" y="4874565"/>
            <a:ext cx="1216058" cy="584775"/>
          </a:xfrm>
          <a:prstGeom prst="rect">
            <a:avLst/>
          </a:prstGeom>
          <a:noFill/>
        </p:spPr>
        <p:txBody>
          <a:bodyPr wrap="square" rtlCol="0">
            <a:spAutoFit/>
          </a:bodyPr>
          <a:lstStyle/>
          <a:p>
            <a:pPr algn="ctr"/>
            <a:r>
              <a:rPr lang="en-US" sz="1600" dirty="0"/>
              <a:t>high talent men</a:t>
            </a:r>
          </a:p>
        </p:txBody>
      </p:sp>
      <p:sp>
        <p:nvSpPr>
          <p:cNvPr id="14" name="TextBox 13">
            <a:extLst>
              <a:ext uri="{FF2B5EF4-FFF2-40B4-BE49-F238E27FC236}">
                <a16:creationId xmlns:a16="http://schemas.microsoft.com/office/drawing/2014/main" id="{F5159660-0953-7E89-0F79-57DD964C8C83}"/>
              </a:ext>
            </a:extLst>
          </p:cNvPr>
          <p:cNvSpPr txBox="1"/>
          <p:nvPr/>
        </p:nvSpPr>
        <p:spPr>
          <a:xfrm>
            <a:off x="5208031" y="4850281"/>
            <a:ext cx="1216058" cy="584775"/>
          </a:xfrm>
          <a:prstGeom prst="rect">
            <a:avLst/>
          </a:prstGeom>
          <a:noFill/>
        </p:spPr>
        <p:txBody>
          <a:bodyPr wrap="square" rtlCol="0">
            <a:spAutoFit/>
          </a:bodyPr>
          <a:lstStyle/>
          <a:p>
            <a:pPr algn="ctr"/>
            <a:r>
              <a:rPr lang="en-US" sz="1600" dirty="0"/>
              <a:t>low talent men</a:t>
            </a:r>
          </a:p>
        </p:txBody>
      </p:sp>
      <p:sp>
        <p:nvSpPr>
          <p:cNvPr id="15" name="TextBox 14">
            <a:extLst>
              <a:ext uri="{FF2B5EF4-FFF2-40B4-BE49-F238E27FC236}">
                <a16:creationId xmlns:a16="http://schemas.microsoft.com/office/drawing/2014/main" id="{905FBC2A-7C24-BE4C-6D99-B94F66B91066}"/>
              </a:ext>
            </a:extLst>
          </p:cNvPr>
          <p:cNvSpPr txBox="1"/>
          <p:nvPr/>
        </p:nvSpPr>
        <p:spPr>
          <a:xfrm>
            <a:off x="6635914" y="4855849"/>
            <a:ext cx="1376870" cy="584775"/>
          </a:xfrm>
          <a:prstGeom prst="rect">
            <a:avLst/>
          </a:prstGeom>
          <a:noFill/>
        </p:spPr>
        <p:txBody>
          <a:bodyPr wrap="square" rtlCol="0">
            <a:spAutoFit/>
          </a:bodyPr>
          <a:lstStyle/>
          <a:p>
            <a:pPr algn="ctr"/>
            <a:r>
              <a:rPr lang="en-US" sz="1600" dirty="0"/>
              <a:t>high talent women</a:t>
            </a:r>
          </a:p>
        </p:txBody>
      </p:sp>
      <p:sp>
        <p:nvSpPr>
          <p:cNvPr id="16" name="Rectangle 15">
            <a:extLst>
              <a:ext uri="{FF2B5EF4-FFF2-40B4-BE49-F238E27FC236}">
                <a16:creationId xmlns:a16="http://schemas.microsoft.com/office/drawing/2014/main" id="{C6D54FA3-2686-DB4D-6A76-B55D999FBF37}"/>
              </a:ext>
            </a:extLst>
          </p:cNvPr>
          <p:cNvSpPr/>
          <p:nvPr/>
        </p:nvSpPr>
        <p:spPr>
          <a:xfrm>
            <a:off x="2601798" y="4844713"/>
            <a:ext cx="6859384" cy="58477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E622E5F-AD8A-B52E-5CA9-715488223FBE}"/>
              </a:ext>
            </a:extLst>
          </p:cNvPr>
          <p:cNvSpPr/>
          <p:nvPr/>
        </p:nvSpPr>
        <p:spPr>
          <a:xfrm>
            <a:off x="2601798" y="5853713"/>
            <a:ext cx="6859384" cy="584773"/>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A4A7E58-5F38-9D9A-AA00-8C3B09A7F761}"/>
              </a:ext>
            </a:extLst>
          </p:cNvPr>
          <p:cNvSpPr txBox="1"/>
          <p:nvPr/>
        </p:nvSpPr>
        <p:spPr>
          <a:xfrm>
            <a:off x="2601798" y="5860809"/>
            <a:ext cx="832609" cy="646331"/>
          </a:xfrm>
          <a:prstGeom prst="rect">
            <a:avLst/>
          </a:prstGeom>
          <a:noFill/>
        </p:spPr>
        <p:txBody>
          <a:bodyPr wrap="square" rtlCol="0">
            <a:spAutoFit/>
          </a:bodyPr>
          <a:lstStyle/>
          <a:p>
            <a:r>
              <a:rPr lang="en-US" dirty="0"/>
              <a:t>other way:</a:t>
            </a:r>
          </a:p>
        </p:txBody>
      </p:sp>
      <p:sp>
        <p:nvSpPr>
          <p:cNvPr id="17" name="TextBox 16">
            <a:extLst>
              <a:ext uri="{FF2B5EF4-FFF2-40B4-BE49-F238E27FC236}">
                <a16:creationId xmlns:a16="http://schemas.microsoft.com/office/drawing/2014/main" id="{AC683740-5AB6-0728-D944-F565A76C173F}"/>
              </a:ext>
            </a:extLst>
          </p:cNvPr>
          <p:cNvSpPr txBox="1"/>
          <p:nvPr/>
        </p:nvSpPr>
        <p:spPr>
          <a:xfrm>
            <a:off x="3780148" y="5853713"/>
            <a:ext cx="1216058" cy="584775"/>
          </a:xfrm>
          <a:prstGeom prst="rect">
            <a:avLst/>
          </a:prstGeom>
          <a:noFill/>
        </p:spPr>
        <p:txBody>
          <a:bodyPr wrap="square" rtlCol="0">
            <a:spAutoFit/>
          </a:bodyPr>
          <a:lstStyle/>
          <a:p>
            <a:pPr algn="ctr"/>
            <a:r>
              <a:rPr lang="en-US" sz="1600" dirty="0"/>
              <a:t>low talent women</a:t>
            </a:r>
          </a:p>
        </p:txBody>
      </p:sp>
      <p:sp>
        <p:nvSpPr>
          <p:cNvPr id="18" name="TextBox 17">
            <a:extLst>
              <a:ext uri="{FF2B5EF4-FFF2-40B4-BE49-F238E27FC236}">
                <a16:creationId xmlns:a16="http://schemas.microsoft.com/office/drawing/2014/main" id="{DDA24F7A-3A81-434E-8975-341D29A3951D}"/>
              </a:ext>
            </a:extLst>
          </p:cNvPr>
          <p:cNvSpPr txBox="1"/>
          <p:nvPr/>
        </p:nvSpPr>
        <p:spPr>
          <a:xfrm>
            <a:off x="8063797" y="5823857"/>
            <a:ext cx="1216058" cy="584775"/>
          </a:xfrm>
          <a:prstGeom prst="rect">
            <a:avLst/>
          </a:prstGeom>
          <a:noFill/>
        </p:spPr>
        <p:txBody>
          <a:bodyPr wrap="square" rtlCol="0">
            <a:spAutoFit/>
          </a:bodyPr>
          <a:lstStyle/>
          <a:p>
            <a:pPr algn="ctr"/>
            <a:r>
              <a:rPr lang="en-US" sz="1600" dirty="0"/>
              <a:t>high talent men</a:t>
            </a:r>
          </a:p>
        </p:txBody>
      </p:sp>
      <p:sp>
        <p:nvSpPr>
          <p:cNvPr id="19" name="TextBox 18">
            <a:extLst>
              <a:ext uri="{FF2B5EF4-FFF2-40B4-BE49-F238E27FC236}">
                <a16:creationId xmlns:a16="http://schemas.microsoft.com/office/drawing/2014/main" id="{7C3D992E-36E0-A81A-9FDF-AFECF6BD28A9}"/>
              </a:ext>
            </a:extLst>
          </p:cNvPr>
          <p:cNvSpPr txBox="1"/>
          <p:nvPr/>
        </p:nvSpPr>
        <p:spPr>
          <a:xfrm>
            <a:off x="5040054" y="5853711"/>
            <a:ext cx="1376870" cy="584775"/>
          </a:xfrm>
          <a:prstGeom prst="rect">
            <a:avLst/>
          </a:prstGeom>
          <a:noFill/>
        </p:spPr>
        <p:txBody>
          <a:bodyPr wrap="square" rtlCol="0">
            <a:spAutoFit/>
          </a:bodyPr>
          <a:lstStyle/>
          <a:p>
            <a:pPr algn="ctr"/>
            <a:r>
              <a:rPr lang="en-US" sz="1600" dirty="0"/>
              <a:t>high talent women</a:t>
            </a:r>
          </a:p>
        </p:txBody>
      </p:sp>
      <p:sp>
        <p:nvSpPr>
          <p:cNvPr id="20" name="TextBox 19">
            <a:extLst>
              <a:ext uri="{FF2B5EF4-FFF2-40B4-BE49-F238E27FC236}">
                <a16:creationId xmlns:a16="http://schemas.microsoft.com/office/drawing/2014/main" id="{F245DED4-CB50-2BD5-5326-274CEE415C6D}"/>
              </a:ext>
            </a:extLst>
          </p:cNvPr>
          <p:cNvSpPr txBox="1"/>
          <p:nvPr/>
        </p:nvSpPr>
        <p:spPr>
          <a:xfrm>
            <a:off x="6666412" y="5860809"/>
            <a:ext cx="1216058" cy="584775"/>
          </a:xfrm>
          <a:prstGeom prst="rect">
            <a:avLst/>
          </a:prstGeom>
          <a:noFill/>
        </p:spPr>
        <p:txBody>
          <a:bodyPr wrap="square" rtlCol="0">
            <a:spAutoFit/>
          </a:bodyPr>
          <a:lstStyle/>
          <a:p>
            <a:pPr algn="ctr"/>
            <a:r>
              <a:rPr lang="en-US" sz="1600" dirty="0"/>
              <a:t>low talent men</a:t>
            </a:r>
          </a:p>
        </p:txBody>
      </p:sp>
    </p:spTree>
    <p:extLst>
      <p:ext uri="{BB962C8B-B14F-4D97-AF65-F5344CB8AC3E}">
        <p14:creationId xmlns:p14="http://schemas.microsoft.com/office/powerpoint/2010/main" val="6185814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E5288-2AED-FE0A-047A-1CC8D7DF436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00A090-DF9C-20FD-019B-918C41863EAC}"/>
              </a:ext>
            </a:extLst>
          </p:cNvPr>
          <p:cNvSpPr txBox="1"/>
          <p:nvPr/>
        </p:nvSpPr>
        <p:spPr>
          <a:xfrm>
            <a:off x="1515358" y="226244"/>
            <a:ext cx="9161283"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400" dirty="0"/>
              <a:t>Back to the data...</a:t>
            </a:r>
          </a:p>
        </p:txBody>
      </p:sp>
      <p:sp>
        <p:nvSpPr>
          <p:cNvPr id="3" name="TextBox 2">
            <a:extLst>
              <a:ext uri="{FF2B5EF4-FFF2-40B4-BE49-F238E27FC236}">
                <a16:creationId xmlns:a16="http://schemas.microsoft.com/office/drawing/2014/main" id="{233A553D-AEF2-1EA3-63D1-BE5D01144631}"/>
              </a:ext>
            </a:extLst>
          </p:cNvPr>
          <p:cNvSpPr txBox="1"/>
          <p:nvPr/>
        </p:nvSpPr>
        <p:spPr>
          <a:xfrm>
            <a:off x="1515357" y="947393"/>
            <a:ext cx="9161283" cy="230832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b="1" i="1" dirty="0"/>
              <a:t>When they run, women candidates win at the same rate as men candidates.</a:t>
            </a:r>
          </a:p>
          <a:p>
            <a:endParaRPr lang="en-US" b="1" i="1" dirty="0"/>
          </a:p>
          <a:p>
            <a:pPr marL="285750" indent="-285750">
              <a:buFont typeface="Arial" panose="020B0604020202020204" pitchFamily="34" charset="0"/>
              <a:buChar char="•"/>
            </a:pPr>
            <a:r>
              <a:rPr lang="en-US" b="1" i="1" dirty="0"/>
              <a:t>Women run at a lower rate than men.</a:t>
            </a:r>
            <a:br>
              <a:rPr lang="en-US" b="1" i="1" dirty="0"/>
            </a:br>
            <a:endParaRPr lang="en-US" b="1" i="1" dirty="0"/>
          </a:p>
          <a:p>
            <a:pPr marL="285750" indent="-285750">
              <a:buFont typeface="Arial" panose="020B0604020202020204" pitchFamily="34" charset="0"/>
              <a:buChar char="•"/>
            </a:pPr>
            <a:r>
              <a:rPr lang="en-US" b="1" i="1" dirty="0"/>
              <a:t>(Thus) women are under-represented in legislatures.</a:t>
            </a:r>
            <a:br>
              <a:rPr lang="en-US" b="1" i="1" dirty="0"/>
            </a:br>
            <a:endParaRPr lang="en-US" b="1" i="1" dirty="0"/>
          </a:p>
          <a:p>
            <a:pPr marL="285750" indent="-285750">
              <a:buFont typeface="Arial" panose="020B0604020202020204" pitchFamily="34" charset="0"/>
              <a:buChar char="•"/>
            </a:pPr>
            <a:r>
              <a:rPr lang="en-US" b="1" i="1" dirty="0"/>
              <a:t>When in office, women legislators are more productive (more legislation, more funding brought to the district) than men legislators.</a:t>
            </a:r>
          </a:p>
        </p:txBody>
      </p:sp>
      <p:sp>
        <p:nvSpPr>
          <p:cNvPr id="4" name="TextBox 3">
            <a:extLst>
              <a:ext uri="{FF2B5EF4-FFF2-40B4-BE49-F238E27FC236}">
                <a16:creationId xmlns:a16="http://schemas.microsoft.com/office/drawing/2014/main" id="{B697863D-103E-8702-41E8-74289B5DDD69}"/>
              </a:ext>
            </a:extLst>
          </p:cNvPr>
          <p:cNvSpPr txBox="1"/>
          <p:nvPr/>
        </p:nvSpPr>
        <p:spPr>
          <a:xfrm>
            <a:off x="2420471" y="3496235"/>
            <a:ext cx="7548282"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How can our model generate behavior consist with these patterns?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AE60A3C-7117-00D6-8698-6C14CBD9C0CF}"/>
                  </a:ext>
                </a:extLst>
              </p:cNvPr>
              <p:cNvSpPr txBox="1"/>
              <p:nvPr/>
            </p:nvSpPr>
            <p:spPr>
              <a:xfrm>
                <a:off x="1515357" y="3986429"/>
                <a:ext cx="9161283"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b="1" i="1" dirty="0"/>
                  <a:t>In the model, win probabilities can be ordered in one of two ways (depending on the values of </a:t>
                </a:r>
                <a14:m>
                  <m:oMath xmlns:m="http://schemas.openxmlformats.org/officeDocument/2006/math">
                    <m:r>
                      <a:rPr lang="en-US" b="1" i="1" smtClean="0">
                        <a:latin typeface="Cambria Math" panose="02040503050406030204" pitchFamily="18" charset="0"/>
                      </a:rPr>
                      <m:t>𝝀</m:t>
                    </m:r>
                  </m:oMath>
                </a14:m>
                <a:r>
                  <a:rPr lang="en-US" b="1" i="1" dirty="0"/>
                  <a:t> and </a:t>
                </a:r>
                <a14:m>
                  <m:oMath xmlns:m="http://schemas.openxmlformats.org/officeDocument/2006/math">
                    <m:r>
                      <a:rPr lang="en-US" b="1" i="1" smtClean="0">
                        <a:latin typeface="Cambria Math" panose="02040503050406030204" pitchFamily="18" charset="0"/>
                      </a:rPr>
                      <m:t>𝝁</m:t>
                    </m:r>
                  </m:oMath>
                </a14:m>
                <a:r>
                  <a:rPr lang="en-US" b="1" i="1" dirty="0"/>
                  <a:t>):</a:t>
                </a:r>
              </a:p>
            </p:txBody>
          </p:sp>
        </mc:Choice>
        <mc:Fallback xmlns="">
          <p:sp>
            <p:nvSpPr>
              <p:cNvPr id="6" name="TextBox 5">
                <a:extLst>
                  <a:ext uri="{FF2B5EF4-FFF2-40B4-BE49-F238E27FC236}">
                    <a16:creationId xmlns:a16="http://schemas.microsoft.com/office/drawing/2014/main" id="{2AE60A3C-7117-00D6-8698-6C14CBD9C0CF}"/>
                  </a:ext>
                </a:extLst>
              </p:cNvPr>
              <p:cNvSpPr txBox="1">
                <a:spLocks noRot="1" noChangeAspect="1" noMove="1" noResize="1" noEditPoints="1" noAdjustHandles="1" noChangeArrowheads="1" noChangeShapeType="1" noTextEdit="1"/>
              </p:cNvSpPr>
              <p:nvPr/>
            </p:nvSpPr>
            <p:spPr>
              <a:xfrm>
                <a:off x="1515357" y="3986429"/>
                <a:ext cx="9161283" cy="646331"/>
              </a:xfrm>
              <a:prstGeom prst="rect">
                <a:avLst/>
              </a:prstGeom>
              <a:blipFill>
                <a:blip r:embed="rId2"/>
                <a:stretch>
                  <a:fillRect l="-532" t="-3670" b="-12844"/>
                </a:stretch>
              </a:blipFill>
            </p:spPr>
            <p:txBody>
              <a:bodyPr/>
              <a:lstStyle/>
              <a:p>
                <a:r>
                  <a:rPr lang="en-US">
                    <a:noFill/>
                  </a:rPr>
                  <a:t> </a:t>
                </a:r>
              </a:p>
            </p:txBody>
          </p:sp>
        </mc:Fallback>
      </mc:AlternateContent>
      <p:cxnSp>
        <p:nvCxnSpPr>
          <p:cNvPr id="8" name="Straight Arrow Connector 7">
            <a:extLst>
              <a:ext uri="{FF2B5EF4-FFF2-40B4-BE49-F238E27FC236}">
                <a16:creationId xmlns:a16="http://schemas.microsoft.com/office/drawing/2014/main" id="{754C1136-0CF1-6EAF-CEAB-0DBD6606A022}"/>
              </a:ext>
            </a:extLst>
          </p:cNvPr>
          <p:cNvCxnSpPr/>
          <p:nvPr/>
        </p:nvCxnSpPr>
        <p:spPr>
          <a:xfrm>
            <a:off x="2581835" y="5611906"/>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B060FD6-DFE7-F83D-D12C-DD226E05F973}"/>
              </a:ext>
            </a:extLst>
          </p:cNvPr>
          <p:cNvSpPr txBox="1"/>
          <p:nvPr/>
        </p:nvSpPr>
        <p:spPr>
          <a:xfrm>
            <a:off x="9827351" y="5288740"/>
            <a:ext cx="2078703" cy="646331"/>
          </a:xfrm>
          <a:prstGeom prst="rect">
            <a:avLst/>
          </a:prstGeom>
          <a:noFill/>
        </p:spPr>
        <p:txBody>
          <a:bodyPr wrap="square" rtlCol="0">
            <a:spAutoFit/>
          </a:bodyPr>
          <a:lstStyle/>
          <a:p>
            <a:r>
              <a:rPr lang="en-US" dirty="0"/>
              <a:t>highest probability of winning</a:t>
            </a:r>
          </a:p>
        </p:txBody>
      </p:sp>
      <p:sp>
        <p:nvSpPr>
          <p:cNvPr id="10" name="TextBox 9">
            <a:extLst>
              <a:ext uri="{FF2B5EF4-FFF2-40B4-BE49-F238E27FC236}">
                <a16:creationId xmlns:a16="http://schemas.microsoft.com/office/drawing/2014/main" id="{5CAD365F-BD46-0BE5-D541-9A309E8F2540}"/>
              </a:ext>
            </a:extLst>
          </p:cNvPr>
          <p:cNvSpPr txBox="1"/>
          <p:nvPr/>
        </p:nvSpPr>
        <p:spPr>
          <a:xfrm>
            <a:off x="684922" y="5264276"/>
            <a:ext cx="2078703" cy="646331"/>
          </a:xfrm>
          <a:prstGeom prst="rect">
            <a:avLst/>
          </a:prstGeom>
          <a:noFill/>
        </p:spPr>
        <p:txBody>
          <a:bodyPr wrap="square" rtlCol="0">
            <a:spAutoFit/>
          </a:bodyPr>
          <a:lstStyle/>
          <a:p>
            <a:r>
              <a:rPr lang="en-US" dirty="0"/>
              <a:t>lowest probability of winning</a:t>
            </a:r>
          </a:p>
        </p:txBody>
      </p:sp>
      <p:sp>
        <p:nvSpPr>
          <p:cNvPr id="11" name="TextBox 10">
            <a:extLst>
              <a:ext uri="{FF2B5EF4-FFF2-40B4-BE49-F238E27FC236}">
                <a16:creationId xmlns:a16="http://schemas.microsoft.com/office/drawing/2014/main" id="{94A5386A-9B56-1CEA-4010-66C8EC3D8BE9}"/>
              </a:ext>
            </a:extLst>
          </p:cNvPr>
          <p:cNvSpPr txBox="1"/>
          <p:nvPr/>
        </p:nvSpPr>
        <p:spPr>
          <a:xfrm>
            <a:off x="2546623" y="4919408"/>
            <a:ext cx="1142861" cy="369332"/>
          </a:xfrm>
          <a:prstGeom prst="rect">
            <a:avLst/>
          </a:prstGeom>
          <a:noFill/>
        </p:spPr>
        <p:txBody>
          <a:bodyPr wrap="square" rtlCol="0">
            <a:spAutoFit/>
          </a:bodyPr>
          <a:lstStyle/>
          <a:p>
            <a:r>
              <a:rPr lang="en-US" dirty="0"/>
              <a:t>one way:</a:t>
            </a:r>
          </a:p>
        </p:txBody>
      </p:sp>
      <p:sp>
        <p:nvSpPr>
          <p:cNvPr id="12" name="TextBox 11">
            <a:extLst>
              <a:ext uri="{FF2B5EF4-FFF2-40B4-BE49-F238E27FC236}">
                <a16:creationId xmlns:a16="http://schemas.microsoft.com/office/drawing/2014/main" id="{B2AF843F-5960-6BA4-C44B-98A0CC3E5772}"/>
              </a:ext>
            </a:extLst>
          </p:cNvPr>
          <p:cNvSpPr txBox="1"/>
          <p:nvPr/>
        </p:nvSpPr>
        <p:spPr>
          <a:xfrm>
            <a:off x="3780148" y="4844713"/>
            <a:ext cx="1216058" cy="584775"/>
          </a:xfrm>
          <a:prstGeom prst="rect">
            <a:avLst/>
          </a:prstGeom>
          <a:noFill/>
        </p:spPr>
        <p:txBody>
          <a:bodyPr wrap="square" rtlCol="0">
            <a:spAutoFit/>
          </a:bodyPr>
          <a:lstStyle/>
          <a:p>
            <a:pPr algn="ctr"/>
            <a:r>
              <a:rPr lang="en-US" sz="1600" dirty="0"/>
              <a:t>low talent women</a:t>
            </a:r>
          </a:p>
        </p:txBody>
      </p:sp>
      <p:sp>
        <p:nvSpPr>
          <p:cNvPr id="13" name="TextBox 12">
            <a:extLst>
              <a:ext uri="{FF2B5EF4-FFF2-40B4-BE49-F238E27FC236}">
                <a16:creationId xmlns:a16="http://schemas.microsoft.com/office/drawing/2014/main" id="{501D27EF-052E-4DC2-AA2C-CE98D7494FBB}"/>
              </a:ext>
            </a:extLst>
          </p:cNvPr>
          <p:cNvSpPr txBox="1"/>
          <p:nvPr/>
        </p:nvSpPr>
        <p:spPr>
          <a:xfrm>
            <a:off x="8063797" y="4874565"/>
            <a:ext cx="1216058" cy="584775"/>
          </a:xfrm>
          <a:prstGeom prst="rect">
            <a:avLst/>
          </a:prstGeom>
          <a:noFill/>
        </p:spPr>
        <p:txBody>
          <a:bodyPr wrap="square" rtlCol="0">
            <a:spAutoFit/>
          </a:bodyPr>
          <a:lstStyle/>
          <a:p>
            <a:pPr algn="ctr"/>
            <a:r>
              <a:rPr lang="en-US" sz="1600" dirty="0"/>
              <a:t>high talent men</a:t>
            </a:r>
          </a:p>
        </p:txBody>
      </p:sp>
      <p:sp>
        <p:nvSpPr>
          <p:cNvPr id="14" name="TextBox 13">
            <a:extLst>
              <a:ext uri="{FF2B5EF4-FFF2-40B4-BE49-F238E27FC236}">
                <a16:creationId xmlns:a16="http://schemas.microsoft.com/office/drawing/2014/main" id="{0DBA2CB4-0B93-7A5F-1054-94AAA0A0039F}"/>
              </a:ext>
            </a:extLst>
          </p:cNvPr>
          <p:cNvSpPr txBox="1"/>
          <p:nvPr/>
        </p:nvSpPr>
        <p:spPr>
          <a:xfrm>
            <a:off x="5208031" y="4850281"/>
            <a:ext cx="1216058" cy="584775"/>
          </a:xfrm>
          <a:prstGeom prst="rect">
            <a:avLst/>
          </a:prstGeom>
          <a:noFill/>
        </p:spPr>
        <p:txBody>
          <a:bodyPr wrap="square" rtlCol="0">
            <a:spAutoFit/>
          </a:bodyPr>
          <a:lstStyle/>
          <a:p>
            <a:pPr algn="ctr"/>
            <a:r>
              <a:rPr lang="en-US" sz="1600" dirty="0"/>
              <a:t>low talent men</a:t>
            </a:r>
          </a:p>
        </p:txBody>
      </p:sp>
      <p:sp>
        <p:nvSpPr>
          <p:cNvPr id="15" name="TextBox 14">
            <a:extLst>
              <a:ext uri="{FF2B5EF4-FFF2-40B4-BE49-F238E27FC236}">
                <a16:creationId xmlns:a16="http://schemas.microsoft.com/office/drawing/2014/main" id="{35B7D937-4079-6191-8B61-8693A0D31B9D}"/>
              </a:ext>
            </a:extLst>
          </p:cNvPr>
          <p:cNvSpPr txBox="1"/>
          <p:nvPr/>
        </p:nvSpPr>
        <p:spPr>
          <a:xfrm>
            <a:off x="6635914" y="4855849"/>
            <a:ext cx="1376870" cy="584775"/>
          </a:xfrm>
          <a:prstGeom prst="rect">
            <a:avLst/>
          </a:prstGeom>
          <a:noFill/>
        </p:spPr>
        <p:txBody>
          <a:bodyPr wrap="square" rtlCol="0">
            <a:spAutoFit/>
          </a:bodyPr>
          <a:lstStyle/>
          <a:p>
            <a:pPr algn="ctr"/>
            <a:r>
              <a:rPr lang="en-US" sz="1600" dirty="0"/>
              <a:t>high talent women</a:t>
            </a:r>
          </a:p>
        </p:txBody>
      </p:sp>
      <p:sp>
        <p:nvSpPr>
          <p:cNvPr id="16" name="Rectangle 15">
            <a:extLst>
              <a:ext uri="{FF2B5EF4-FFF2-40B4-BE49-F238E27FC236}">
                <a16:creationId xmlns:a16="http://schemas.microsoft.com/office/drawing/2014/main" id="{C1371399-BF26-F814-7949-4F90692DB428}"/>
              </a:ext>
            </a:extLst>
          </p:cNvPr>
          <p:cNvSpPr/>
          <p:nvPr/>
        </p:nvSpPr>
        <p:spPr>
          <a:xfrm>
            <a:off x="2601798" y="4844713"/>
            <a:ext cx="6859384" cy="58477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4841AC4-C574-282E-34D8-2817A2AF8F80}"/>
              </a:ext>
            </a:extLst>
          </p:cNvPr>
          <p:cNvSpPr/>
          <p:nvPr/>
        </p:nvSpPr>
        <p:spPr>
          <a:xfrm>
            <a:off x="2601798" y="5853713"/>
            <a:ext cx="6859384" cy="584773"/>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C540B98-5CBC-8BEB-CCC4-D587C9EA458E}"/>
              </a:ext>
            </a:extLst>
          </p:cNvPr>
          <p:cNvSpPr txBox="1"/>
          <p:nvPr/>
        </p:nvSpPr>
        <p:spPr>
          <a:xfrm>
            <a:off x="2601798" y="5860809"/>
            <a:ext cx="832609" cy="646331"/>
          </a:xfrm>
          <a:prstGeom prst="rect">
            <a:avLst/>
          </a:prstGeom>
          <a:noFill/>
        </p:spPr>
        <p:txBody>
          <a:bodyPr wrap="square" rtlCol="0">
            <a:spAutoFit/>
          </a:bodyPr>
          <a:lstStyle/>
          <a:p>
            <a:r>
              <a:rPr lang="en-US" dirty="0"/>
              <a:t>other way:</a:t>
            </a:r>
          </a:p>
        </p:txBody>
      </p:sp>
      <p:sp>
        <p:nvSpPr>
          <p:cNvPr id="17" name="TextBox 16">
            <a:extLst>
              <a:ext uri="{FF2B5EF4-FFF2-40B4-BE49-F238E27FC236}">
                <a16:creationId xmlns:a16="http://schemas.microsoft.com/office/drawing/2014/main" id="{CCBCC1EA-AFA4-90E5-2DCD-4A70CF20F2E3}"/>
              </a:ext>
            </a:extLst>
          </p:cNvPr>
          <p:cNvSpPr txBox="1"/>
          <p:nvPr/>
        </p:nvSpPr>
        <p:spPr>
          <a:xfrm>
            <a:off x="3780148" y="5853713"/>
            <a:ext cx="1216058" cy="584775"/>
          </a:xfrm>
          <a:prstGeom prst="rect">
            <a:avLst/>
          </a:prstGeom>
          <a:noFill/>
        </p:spPr>
        <p:txBody>
          <a:bodyPr wrap="square" rtlCol="0">
            <a:spAutoFit/>
          </a:bodyPr>
          <a:lstStyle/>
          <a:p>
            <a:pPr algn="ctr"/>
            <a:r>
              <a:rPr lang="en-US" sz="1600" dirty="0"/>
              <a:t>low talent women</a:t>
            </a:r>
          </a:p>
        </p:txBody>
      </p:sp>
      <p:sp>
        <p:nvSpPr>
          <p:cNvPr id="18" name="TextBox 17">
            <a:extLst>
              <a:ext uri="{FF2B5EF4-FFF2-40B4-BE49-F238E27FC236}">
                <a16:creationId xmlns:a16="http://schemas.microsoft.com/office/drawing/2014/main" id="{68D68F12-21E1-5142-7837-7541E927515A}"/>
              </a:ext>
            </a:extLst>
          </p:cNvPr>
          <p:cNvSpPr txBox="1"/>
          <p:nvPr/>
        </p:nvSpPr>
        <p:spPr>
          <a:xfrm>
            <a:off x="8063797" y="5823857"/>
            <a:ext cx="1216058" cy="584775"/>
          </a:xfrm>
          <a:prstGeom prst="rect">
            <a:avLst/>
          </a:prstGeom>
          <a:noFill/>
        </p:spPr>
        <p:txBody>
          <a:bodyPr wrap="square" rtlCol="0">
            <a:spAutoFit/>
          </a:bodyPr>
          <a:lstStyle/>
          <a:p>
            <a:pPr algn="ctr"/>
            <a:r>
              <a:rPr lang="en-US" sz="1600" dirty="0"/>
              <a:t>high talent men</a:t>
            </a:r>
          </a:p>
        </p:txBody>
      </p:sp>
      <p:sp>
        <p:nvSpPr>
          <p:cNvPr id="19" name="TextBox 18">
            <a:extLst>
              <a:ext uri="{FF2B5EF4-FFF2-40B4-BE49-F238E27FC236}">
                <a16:creationId xmlns:a16="http://schemas.microsoft.com/office/drawing/2014/main" id="{900AACE1-0356-7C37-E36A-C7BB510F2D35}"/>
              </a:ext>
            </a:extLst>
          </p:cNvPr>
          <p:cNvSpPr txBox="1"/>
          <p:nvPr/>
        </p:nvSpPr>
        <p:spPr>
          <a:xfrm>
            <a:off x="5040054" y="5853711"/>
            <a:ext cx="1376870" cy="584775"/>
          </a:xfrm>
          <a:prstGeom prst="rect">
            <a:avLst/>
          </a:prstGeom>
          <a:noFill/>
        </p:spPr>
        <p:txBody>
          <a:bodyPr wrap="square" rtlCol="0">
            <a:spAutoFit/>
          </a:bodyPr>
          <a:lstStyle/>
          <a:p>
            <a:pPr algn="ctr"/>
            <a:r>
              <a:rPr lang="en-US" sz="1600" dirty="0"/>
              <a:t>high talent women</a:t>
            </a:r>
          </a:p>
        </p:txBody>
      </p:sp>
      <p:sp>
        <p:nvSpPr>
          <p:cNvPr id="20" name="TextBox 19">
            <a:extLst>
              <a:ext uri="{FF2B5EF4-FFF2-40B4-BE49-F238E27FC236}">
                <a16:creationId xmlns:a16="http://schemas.microsoft.com/office/drawing/2014/main" id="{B88B90FC-D6D1-5B2B-9FF7-3C89560ADBC2}"/>
              </a:ext>
            </a:extLst>
          </p:cNvPr>
          <p:cNvSpPr txBox="1"/>
          <p:nvPr/>
        </p:nvSpPr>
        <p:spPr>
          <a:xfrm>
            <a:off x="6666412" y="5860809"/>
            <a:ext cx="1216058" cy="584775"/>
          </a:xfrm>
          <a:prstGeom prst="rect">
            <a:avLst/>
          </a:prstGeom>
          <a:noFill/>
        </p:spPr>
        <p:txBody>
          <a:bodyPr wrap="square" rtlCol="0">
            <a:spAutoFit/>
          </a:bodyPr>
          <a:lstStyle/>
          <a:p>
            <a:pPr algn="ctr"/>
            <a:r>
              <a:rPr lang="en-US" sz="1600" dirty="0"/>
              <a:t>low talent men</a:t>
            </a:r>
          </a:p>
        </p:txBody>
      </p:sp>
      <p:sp>
        <p:nvSpPr>
          <p:cNvPr id="21" name="TextBox 20">
            <a:extLst>
              <a:ext uri="{FF2B5EF4-FFF2-40B4-BE49-F238E27FC236}">
                <a16:creationId xmlns:a16="http://schemas.microsoft.com/office/drawing/2014/main" id="{70ABE5D6-E274-DCEA-68D9-2B4B631E0600}"/>
              </a:ext>
            </a:extLst>
          </p:cNvPr>
          <p:cNvSpPr txBox="1"/>
          <p:nvPr/>
        </p:nvSpPr>
        <p:spPr>
          <a:xfrm rot="1558402">
            <a:off x="9550001" y="4229674"/>
            <a:ext cx="1932494" cy="1169551"/>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sz="1400" dirty="0"/>
              <a:t>(which order just depends on the relative sizes of the misogyny penalty and the low-talent penalty)</a:t>
            </a:r>
          </a:p>
        </p:txBody>
      </p:sp>
    </p:spTree>
    <p:extLst>
      <p:ext uri="{BB962C8B-B14F-4D97-AF65-F5344CB8AC3E}">
        <p14:creationId xmlns:p14="http://schemas.microsoft.com/office/powerpoint/2010/main" val="363388169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399BE-229F-15BA-E831-F25C3D950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238A85-4BB6-7E8F-A7B7-0A0D9FEB7683}"/>
              </a:ext>
            </a:extLst>
          </p:cNvPr>
          <p:cNvSpPr txBox="1"/>
          <p:nvPr/>
        </p:nvSpPr>
        <p:spPr>
          <a:xfrm>
            <a:off x="1515358" y="226244"/>
            <a:ext cx="9161283"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400" dirty="0"/>
              <a:t>Back to the data...</a:t>
            </a:r>
          </a:p>
        </p:txBody>
      </p:sp>
      <p:sp>
        <p:nvSpPr>
          <p:cNvPr id="3" name="TextBox 2">
            <a:extLst>
              <a:ext uri="{FF2B5EF4-FFF2-40B4-BE49-F238E27FC236}">
                <a16:creationId xmlns:a16="http://schemas.microsoft.com/office/drawing/2014/main" id="{6F289211-AF14-4F4F-7E8A-118547F27D42}"/>
              </a:ext>
            </a:extLst>
          </p:cNvPr>
          <p:cNvSpPr txBox="1"/>
          <p:nvPr/>
        </p:nvSpPr>
        <p:spPr>
          <a:xfrm>
            <a:off x="1515357" y="947393"/>
            <a:ext cx="9161283" cy="230832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b="1" i="1" dirty="0"/>
              <a:t>When they run, women candidates win at the same rate as men candidates.</a:t>
            </a:r>
          </a:p>
          <a:p>
            <a:endParaRPr lang="en-US" b="1" i="1" dirty="0"/>
          </a:p>
          <a:p>
            <a:pPr marL="285750" indent="-285750">
              <a:buFont typeface="Arial" panose="020B0604020202020204" pitchFamily="34" charset="0"/>
              <a:buChar char="•"/>
            </a:pPr>
            <a:r>
              <a:rPr lang="en-US" b="1" i="1" dirty="0"/>
              <a:t>Women run at a lower rate than men.</a:t>
            </a:r>
            <a:br>
              <a:rPr lang="en-US" b="1" i="1" dirty="0"/>
            </a:br>
            <a:endParaRPr lang="en-US" b="1" i="1" dirty="0"/>
          </a:p>
          <a:p>
            <a:pPr marL="285750" indent="-285750">
              <a:buFont typeface="Arial" panose="020B0604020202020204" pitchFamily="34" charset="0"/>
              <a:buChar char="•"/>
            </a:pPr>
            <a:r>
              <a:rPr lang="en-US" b="1" i="1" dirty="0"/>
              <a:t>(Thus) women are under-represented in legislatures.</a:t>
            </a:r>
            <a:br>
              <a:rPr lang="en-US" b="1" i="1" dirty="0"/>
            </a:br>
            <a:endParaRPr lang="en-US" b="1" i="1" dirty="0"/>
          </a:p>
          <a:p>
            <a:pPr marL="285750" indent="-285750">
              <a:buFont typeface="Arial" panose="020B0604020202020204" pitchFamily="34" charset="0"/>
              <a:buChar char="•"/>
            </a:pPr>
            <a:r>
              <a:rPr lang="en-US" b="1" i="1" dirty="0"/>
              <a:t>When in office, women legislators are more productive (more legislation, more funding brought to the district) than men legislators.</a:t>
            </a:r>
          </a:p>
        </p:txBody>
      </p:sp>
      <p:sp>
        <p:nvSpPr>
          <p:cNvPr id="4" name="TextBox 3">
            <a:extLst>
              <a:ext uri="{FF2B5EF4-FFF2-40B4-BE49-F238E27FC236}">
                <a16:creationId xmlns:a16="http://schemas.microsoft.com/office/drawing/2014/main" id="{3F39630F-8733-D237-1348-259C71399740}"/>
              </a:ext>
            </a:extLst>
          </p:cNvPr>
          <p:cNvSpPr txBox="1"/>
          <p:nvPr/>
        </p:nvSpPr>
        <p:spPr>
          <a:xfrm>
            <a:off x="2420471" y="3496235"/>
            <a:ext cx="7548282"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How can our model generate behavior consist with these patterns?</a:t>
            </a:r>
          </a:p>
        </p:txBody>
      </p:sp>
      <p:sp>
        <p:nvSpPr>
          <p:cNvPr id="6" name="TextBox 5">
            <a:extLst>
              <a:ext uri="{FF2B5EF4-FFF2-40B4-BE49-F238E27FC236}">
                <a16:creationId xmlns:a16="http://schemas.microsoft.com/office/drawing/2014/main" id="{6749A0AB-C262-8D7F-232F-BFAAED829D90}"/>
              </a:ext>
            </a:extLst>
          </p:cNvPr>
          <p:cNvSpPr txBox="1"/>
          <p:nvPr/>
        </p:nvSpPr>
        <p:spPr>
          <a:xfrm>
            <a:off x="1515357" y="3986429"/>
            <a:ext cx="9161283" cy="36933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b="1" i="1" dirty="0"/>
              <a:t>In the model, running is costly, so people only run if they are sufficiently likely to win.</a:t>
            </a:r>
          </a:p>
        </p:txBody>
      </p:sp>
      <p:cxnSp>
        <p:nvCxnSpPr>
          <p:cNvPr id="8" name="Straight Arrow Connector 7">
            <a:extLst>
              <a:ext uri="{FF2B5EF4-FFF2-40B4-BE49-F238E27FC236}">
                <a16:creationId xmlns:a16="http://schemas.microsoft.com/office/drawing/2014/main" id="{782AC9EE-04F8-030B-76D6-6964D9FBBBCB}"/>
              </a:ext>
            </a:extLst>
          </p:cNvPr>
          <p:cNvCxnSpPr/>
          <p:nvPr/>
        </p:nvCxnSpPr>
        <p:spPr>
          <a:xfrm>
            <a:off x="2581835" y="5611906"/>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2CEF7E6-EDCB-32C4-E9B2-05EAC9F34221}"/>
              </a:ext>
            </a:extLst>
          </p:cNvPr>
          <p:cNvSpPr txBox="1"/>
          <p:nvPr/>
        </p:nvSpPr>
        <p:spPr>
          <a:xfrm>
            <a:off x="9827351" y="5288740"/>
            <a:ext cx="2078703" cy="646331"/>
          </a:xfrm>
          <a:prstGeom prst="rect">
            <a:avLst/>
          </a:prstGeom>
          <a:noFill/>
        </p:spPr>
        <p:txBody>
          <a:bodyPr wrap="square" rtlCol="0">
            <a:spAutoFit/>
          </a:bodyPr>
          <a:lstStyle/>
          <a:p>
            <a:r>
              <a:rPr lang="en-US" dirty="0"/>
              <a:t>highest probability of winning</a:t>
            </a:r>
          </a:p>
        </p:txBody>
      </p:sp>
      <p:sp>
        <p:nvSpPr>
          <p:cNvPr id="10" name="TextBox 9">
            <a:extLst>
              <a:ext uri="{FF2B5EF4-FFF2-40B4-BE49-F238E27FC236}">
                <a16:creationId xmlns:a16="http://schemas.microsoft.com/office/drawing/2014/main" id="{C8E94D48-5F07-4B88-1C3C-788A67710358}"/>
              </a:ext>
            </a:extLst>
          </p:cNvPr>
          <p:cNvSpPr txBox="1"/>
          <p:nvPr/>
        </p:nvSpPr>
        <p:spPr>
          <a:xfrm>
            <a:off x="684922" y="5264276"/>
            <a:ext cx="2078703" cy="646331"/>
          </a:xfrm>
          <a:prstGeom prst="rect">
            <a:avLst/>
          </a:prstGeom>
          <a:noFill/>
        </p:spPr>
        <p:txBody>
          <a:bodyPr wrap="square" rtlCol="0">
            <a:spAutoFit/>
          </a:bodyPr>
          <a:lstStyle/>
          <a:p>
            <a:r>
              <a:rPr lang="en-US" dirty="0"/>
              <a:t>lowest probability of winning</a:t>
            </a:r>
          </a:p>
        </p:txBody>
      </p:sp>
      <p:sp>
        <p:nvSpPr>
          <p:cNvPr id="11" name="TextBox 10">
            <a:extLst>
              <a:ext uri="{FF2B5EF4-FFF2-40B4-BE49-F238E27FC236}">
                <a16:creationId xmlns:a16="http://schemas.microsoft.com/office/drawing/2014/main" id="{EAE8F499-8EB6-B326-E9E6-E14C72DFF4AC}"/>
              </a:ext>
            </a:extLst>
          </p:cNvPr>
          <p:cNvSpPr txBox="1"/>
          <p:nvPr/>
        </p:nvSpPr>
        <p:spPr>
          <a:xfrm>
            <a:off x="2546623" y="4919408"/>
            <a:ext cx="1142861" cy="369332"/>
          </a:xfrm>
          <a:prstGeom prst="rect">
            <a:avLst/>
          </a:prstGeom>
          <a:noFill/>
        </p:spPr>
        <p:txBody>
          <a:bodyPr wrap="square" rtlCol="0">
            <a:spAutoFit/>
          </a:bodyPr>
          <a:lstStyle/>
          <a:p>
            <a:r>
              <a:rPr lang="en-US" dirty="0"/>
              <a:t>one way:</a:t>
            </a:r>
          </a:p>
        </p:txBody>
      </p:sp>
      <p:sp>
        <p:nvSpPr>
          <p:cNvPr id="12" name="TextBox 11">
            <a:extLst>
              <a:ext uri="{FF2B5EF4-FFF2-40B4-BE49-F238E27FC236}">
                <a16:creationId xmlns:a16="http://schemas.microsoft.com/office/drawing/2014/main" id="{611CBA2D-385A-1889-7B22-CF8C2659D393}"/>
              </a:ext>
            </a:extLst>
          </p:cNvPr>
          <p:cNvSpPr txBox="1"/>
          <p:nvPr/>
        </p:nvSpPr>
        <p:spPr>
          <a:xfrm>
            <a:off x="3780148" y="4844713"/>
            <a:ext cx="1216058" cy="584775"/>
          </a:xfrm>
          <a:prstGeom prst="rect">
            <a:avLst/>
          </a:prstGeom>
          <a:noFill/>
        </p:spPr>
        <p:txBody>
          <a:bodyPr wrap="square" rtlCol="0">
            <a:spAutoFit/>
          </a:bodyPr>
          <a:lstStyle/>
          <a:p>
            <a:pPr algn="ctr"/>
            <a:r>
              <a:rPr lang="en-US" sz="1600" dirty="0"/>
              <a:t>low talent women</a:t>
            </a:r>
          </a:p>
        </p:txBody>
      </p:sp>
      <p:sp>
        <p:nvSpPr>
          <p:cNvPr id="13" name="TextBox 12">
            <a:extLst>
              <a:ext uri="{FF2B5EF4-FFF2-40B4-BE49-F238E27FC236}">
                <a16:creationId xmlns:a16="http://schemas.microsoft.com/office/drawing/2014/main" id="{1F6765CF-FEB0-8246-057F-BDE89E58365B}"/>
              </a:ext>
            </a:extLst>
          </p:cNvPr>
          <p:cNvSpPr txBox="1"/>
          <p:nvPr/>
        </p:nvSpPr>
        <p:spPr>
          <a:xfrm>
            <a:off x="8063797" y="4874565"/>
            <a:ext cx="1216058" cy="584775"/>
          </a:xfrm>
          <a:prstGeom prst="rect">
            <a:avLst/>
          </a:prstGeom>
          <a:noFill/>
        </p:spPr>
        <p:txBody>
          <a:bodyPr wrap="square" rtlCol="0">
            <a:spAutoFit/>
          </a:bodyPr>
          <a:lstStyle/>
          <a:p>
            <a:pPr algn="ctr"/>
            <a:r>
              <a:rPr lang="en-US" sz="1600" dirty="0"/>
              <a:t>high talent men</a:t>
            </a:r>
          </a:p>
        </p:txBody>
      </p:sp>
      <p:sp>
        <p:nvSpPr>
          <p:cNvPr id="14" name="TextBox 13">
            <a:extLst>
              <a:ext uri="{FF2B5EF4-FFF2-40B4-BE49-F238E27FC236}">
                <a16:creationId xmlns:a16="http://schemas.microsoft.com/office/drawing/2014/main" id="{6D7AB7FD-CD76-77A0-0AC0-F2238FCF2002}"/>
              </a:ext>
            </a:extLst>
          </p:cNvPr>
          <p:cNvSpPr txBox="1"/>
          <p:nvPr/>
        </p:nvSpPr>
        <p:spPr>
          <a:xfrm>
            <a:off x="5208031" y="4850281"/>
            <a:ext cx="1216058" cy="584775"/>
          </a:xfrm>
          <a:prstGeom prst="rect">
            <a:avLst/>
          </a:prstGeom>
          <a:noFill/>
        </p:spPr>
        <p:txBody>
          <a:bodyPr wrap="square" rtlCol="0">
            <a:spAutoFit/>
          </a:bodyPr>
          <a:lstStyle/>
          <a:p>
            <a:pPr algn="ctr"/>
            <a:r>
              <a:rPr lang="en-US" sz="1600" dirty="0"/>
              <a:t>low talent men</a:t>
            </a:r>
          </a:p>
        </p:txBody>
      </p:sp>
      <p:sp>
        <p:nvSpPr>
          <p:cNvPr id="15" name="TextBox 14">
            <a:extLst>
              <a:ext uri="{FF2B5EF4-FFF2-40B4-BE49-F238E27FC236}">
                <a16:creationId xmlns:a16="http://schemas.microsoft.com/office/drawing/2014/main" id="{6ADD07AA-8F33-EB09-EF3B-0ED7A04329AA}"/>
              </a:ext>
            </a:extLst>
          </p:cNvPr>
          <p:cNvSpPr txBox="1"/>
          <p:nvPr/>
        </p:nvSpPr>
        <p:spPr>
          <a:xfrm>
            <a:off x="6635914" y="4855849"/>
            <a:ext cx="1376870" cy="584775"/>
          </a:xfrm>
          <a:prstGeom prst="rect">
            <a:avLst/>
          </a:prstGeom>
          <a:noFill/>
        </p:spPr>
        <p:txBody>
          <a:bodyPr wrap="square" rtlCol="0">
            <a:spAutoFit/>
          </a:bodyPr>
          <a:lstStyle/>
          <a:p>
            <a:pPr algn="ctr"/>
            <a:r>
              <a:rPr lang="en-US" sz="1600" dirty="0"/>
              <a:t>high talent women</a:t>
            </a:r>
          </a:p>
        </p:txBody>
      </p:sp>
      <p:sp>
        <p:nvSpPr>
          <p:cNvPr id="16" name="Rectangle 15">
            <a:extLst>
              <a:ext uri="{FF2B5EF4-FFF2-40B4-BE49-F238E27FC236}">
                <a16:creationId xmlns:a16="http://schemas.microsoft.com/office/drawing/2014/main" id="{F3DB83BC-151A-E208-3A91-8296E33FB0A7}"/>
              </a:ext>
            </a:extLst>
          </p:cNvPr>
          <p:cNvSpPr/>
          <p:nvPr/>
        </p:nvSpPr>
        <p:spPr>
          <a:xfrm>
            <a:off x="2601798" y="4844713"/>
            <a:ext cx="6859384" cy="58477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7C719AD-7E20-074B-A364-1BE86A6FAD11}"/>
              </a:ext>
            </a:extLst>
          </p:cNvPr>
          <p:cNvSpPr/>
          <p:nvPr/>
        </p:nvSpPr>
        <p:spPr>
          <a:xfrm>
            <a:off x="2601798" y="5853713"/>
            <a:ext cx="6859384" cy="584773"/>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FA72291-634F-A49E-B580-CA5B0CB26E1C}"/>
              </a:ext>
            </a:extLst>
          </p:cNvPr>
          <p:cNvSpPr txBox="1"/>
          <p:nvPr/>
        </p:nvSpPr>
        <p:spPr>
          <a:xfrm>
            <a:off x="2601798" y="5860809"/>
            <a:ext cx="832609" cy="646331"/>
          </a:xfrm>
          <a:prstGeom prst="rect">
            <a:avLst/>
          </a:prstGeom>
          <a:noFill/>
        </p:spPr>
        <p:txBody>
          <a:bodyPr wrap="square" rtlCol="0">
            <a:spAutoFit/>
          </a:bodyPr>
          <a:lstStyle/>
          <a:p>
            <a:r>
              <a:rPr lang="en-US" dirty="0"/>
              <a:t>other way:</a:t>
            </a:r>
          </a:p>
        </p:txBody>
      </p:sp>
      <p:sp>
        <p:nvSpPr>
          <p:cNvPr id="17" name="TextBox 16">
            <a:extLst>
              <a:ext uri="{FF2B5EF4-FFF2-40B4-BE49-F238E27FC236}">
                <a16:creationId xmlns:a16="http://schemas.microsoft.com/office/drawing/2014/main" id="{6DB3F234-63DB-FD14-ECED-45216D5C9F7D}"/>
              </a:ext>
            </a:extLst>
          </p:cNvPr>
          <p:cNvSpPr txBox="1"/>
          <p:nvPr/>
        </p:nvSpPr>
        <p:spPr>
          <a:xfrm>
            <a:off x="3780148" y="5853713"/>
            <a:ext cx="1216058" cy="584775"/>
          </a:xfrm>
          <a:prstGeom prst="rect">
            <a:avLst/>
          </a:prstGeom>
          <a:noFill/>
        </p:spPr>
        <p:txBody>
          <a:bodyPr wrap="square" rtlCol="0">
            <a:spAutoFit/>
          </a:bodyPr>
          <a:lstStyle/>
          <a:p>
            <a:pPr algn="ctr"/>
            <a:r>
              <a:rPr lang="en-US" sz="1600" dirty="0"/>
              <a:t>low talent women</a:t>
            </a:r>
          </a:p>
        </p:txBody>
      </p:sp>
      <p:sp>
        <p:nvSpPr>
          <p:cNvPr id="18" name="TextBox 17">
            <a:extLst>
              <a:ext uri="{FF2B5EF4-FFF2-40B4-BE49-F238E27FC236}">
                <a16:creationId xmlns:a16="http://schemas.microsoft.com/office/drawing/2014/main" id="{3D1FD9C2-3E87-CB6B-2575-A3BBA72F8990}"/>
              </a:ext>
            </a:extLst>
          </p:cNvPr>
          <p:cNvSpPr txBox="1"/>
          <p:nvPr/>
        </p:nvSpPr>
        <p:spPr>
          <a:xfrm>
            <a:off x="8063797" y="5823857"/>
            <a:ext cx="1216058" cy="584775"/>
          </a:xfrm>
          <a:prstGeom prst="rect">
            <a:avLst/>
          </a:prstGeom>
          <a:noFill/>
        </p:spPr>
        <p:txBody>
          <a:bodyPr wrap="square" rtlCol="0">
            <a:spAutoFit/>
          </a:bodyPr>
          <a:lstStyle/>
          <a:p>
            <a:pPr algn="ctr"/>
            <a:r>
              <a:rPr lang="en-US" sz="1600" dirty="0"/>
              <a:t>high talent men</a:t>
            </a:r>
          </a:p>
        </p:txBody>
      </p:sp>
      <p:sp>
        <p:nvSpPr>
          <p:cNvPr id="19" name="TextBox 18">
            <a:extLst>
              <a:ext uri="{FF2B5EF4-FFF2-40B4-BE49-F238E27FC236}">
                <a16:creationId xmlns:a16="http://schemas.microsoft.com/office/drawing/2014/main" id="{5FA28EFA-8EEE-C584-871F-BA9293D75E84}"/>
              </a:ext>
            </a:extLst>
          </p:cNvPr>
          <p:cNvSpPr txBox="1"/>
          <p:nvPr/>
        </p:nvSpPr>
        <p:spPr>
          <a:xfrm>
            <a:off x="5040054" y="5853711"/>
            <a:ext cx="1376870" cy="584775"/>
          </a:xfrm>
          <a:prstGeom prst="rect">
            <a:avLst/>
          </a:prstGeom>
          <a:noFill/>
        </p:spPr>
        <p:txBody>
          <a:bodyPr wrap="square" rtlCol="0">
            <a:spAutoFit/>
          </a:bodyPr>
          <a:lstStyle/>
          <a:p>
            <a:pPr algn="ctr"/>
            <a:r>
              <a:rPr lang="en-US" sz="1600" dirty="0"/>
              <a:t>high talent women</a:t>
            </a:r>
          </a:p>
        </p:txBody>
      </p:sp>
      <p:sp>
        <p:nvSpPr>
          <p:cNvPr id="20" name="TextBox 19">
            <a:extLst>
              <a:ext uri="{FF2B5EF4-FFF2-40B4-BE49-F238E27FC236}">
                <a16:creationId xmlns:a16="http://schemas.microsoft.com/office/drawing/2014/main" id="{7E713676-6C9E-C5C9-D98C-7F88FB35F6BF}"/>
              </a:ext>
            </a:extLst>
          </p:cNvPr>
          <p:cNvSpPr txBox="1"/>
          <p:nvPr/>
        </p:nvSpPr>
        <p:spPr>
          <a:xfrm>
            <a:off x="6666412" y="5860809"/>
            <a:ext cx="1216058" cy="584775"/>
          </a:xfrm>
          <a:prstGeom prst="rect">
            <a:avLst/>
          </a:prstGeom>
          <a:noFill/>
        </p:spPr>
        <p:txBody>
          <a:bodyPr wrap="square" rtlCol="0">
            <a:spAutoFit/>
          </a:bodyPr>
          <a:lstStyle/>
          <a:p>
            <a:pPr algn="ctr"/>
            <a:r>
              <a:rPr lang="en-US" sz="1600" dirty="0"/>
              <a:t>low talent men</a:t>
            </a:r>
          </a:p>
        </p:txBody>
      </p:sp>
    </p:spTree>
    <p:extLst>
      <p:ext uri="{BB962C8B-B14F-4D97-AF65-F5344CB8AC3E}">
        <p14:creationId xmlns:p14="http://schemas.microsoft.com/office/powerpoint/2010/main" val="132487249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E35CE-243D-9A45-E90E-9DA455C59F1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B78F3D5-42DC-E2AB-C65F-257ECE2BA7BA}"/>
              </a:ext>
            </a:extLst>
          </p:cNvPr>
          <p:cNvSpPr txBox="1"/>
          <p:nvPr/>
        </p:nvSpPr>
        <p:spPr>
          <a:xfrm>
            <a:off x="1515358" y="226244"/>
            <a:ext cx="9161283"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400" dirty="0"/>
              <a:t>Back to the data...</a:t>
            </a:r>
          </a:p>
        </p:txBody>
      </p:sp>
      <p:sp>
        <p:nvSpPr>
          <p:cNvPr id="3" name="TextBox 2">
            <a:extLst>
              <a:ext uri="{FF2B5EF4-FFF2-40B4-BE49-F238E27FC236}">
                <a16:creationId xmlns:a16="http://schemas.microsoft.com/office/drawing/2014/main" id="{C6F4160C-0C52-7D64-95D5-5D4BCACE0476}"/>
              </a:ext>
            </a:extLst>
          </p:cNvPr>
          <p:cNvSpPr txBox="1"/>
          <p:nvPr/>
        </p:nvSpPr>
        <p:spPr>
          <a:xfrm>
            <a:off x="1515357" y="947393"/>
            <a:ext cx="9161283" cy="230832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b="1" i="1" dirty="0"/>
              <a:t>When they run, women candidates win at the same rate as men candidates.</a:t>
            </a:r>
          </a:p>
          <a:p>
            <a:endParaRPr lang="en-US" b="1" i="1" dirty="0"/>
          </a:p>
          <a:p>
            <a:pPr marL="285750" indent="-285750">
              <a:buFont typeface="Arial" panose="020B0604020202020204" pitchFamily="34" charset="0"/>
              <a:buChar char="•"/>
            </a:pPr>
            <a:r>
              <a:rPr lang="en-US" b="1" i="1" dirty="0"/>
              <a:t>Women run at a lower rate than men.</a:t>
            </a:r>
            <a:br>
              <a:rPr lang="en-US" b="1" i="1" dirty="0"/>
            </a:br>
            <a:endParaRPr lang="en-US" b="1" i="1" dirty="0"/>
          </a:p>
          <a:p>
            <a:pPr marL="285750" indent="-285750">
              <a:buFont typeface="Arial" panose="020B0604020202020204" pitchFamily="34" charset="0"/>
              <a:buChar char="•"/>
            </a:pPr>
            <a:r>
              <a:rPr lang="en-US" b="1" i="1" dirty="0"/>
              <a:t>(Thus) women are under-represented in legislatures.</a:t>
            </a:r>
            <a:br>
              <a:rPr lang="en-US" b="1" i="1" dirty="0"/>
            </a:br>
            <a:endParaRPr lang="en-US" b="1" i="1" dirty="0"/>
          </a:p>
          <a:p>
            <a:pPr marL="285750" indent="-285750">
              <a:buFont typeface="Arial" panose="020B0604020202020204" pitchFamily="34" charset="0"/>
              <a:buChar char="•"/>
            </a:pPr>
            <a:r>
              <a:rPr lang="en-US" b="1" i="1" dirty="0"/>
              <a:t>When in office, women legislators are more productive (more legislation, more funding brought to the district) than men legislators.</a:t>
            </a:r>
          </a:p>
        </p:txBody>
      </p:sp>
      <p:sp>
        <p:nvSpPr>
          <p:cNvPr id="4" name="TextBox 3">
            <a:extLst>
              <a:ext uri="{FF2B5EF4-FFF2-40B4-BE49-F238E27FC236}">
                <a16:creationId xmlns:a16="http://schemas.microsoft.com/office/drawing/2014/main" id="{B5E966A2-6093-BE77-C62D-29083D94FC5A}"/>
              </a:ext>
            </a:extLst>
          </p:cNvPr>
          <p:cNvSpPr txBox="1"/>
          <p:nvPr/>
        </p:nvSpPr>
        <p:spPr>
          <a:xfrm>
            <a:off x="2420471" y="3496235"/>
            <a:ext cx="7548282"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How can our model generate behavior consist with these patterns?</a:t>
            </a:r>
          </a:p>
        </p:txBody>
      </p:sp>
      <p:sp>
        <p:nvSpPr>
          <p:cNvPr id="6" name="TextBox 5">
            <a:extLst>
              <a:ext uri="{FF2B5EF4-FFF2-40B4-BE49-F238E27FC236}">
                <a16:creationId xmlns:a16="http://schemas.microsoft.com/office/drawing/2014/main" id="{32E58C15-8F3C-8F77-A687-0DDE2968CDCC}"/>
              </a:ext>
            </a:extLst>
          </p:cNvPr>
          <p:cNvSpPr txBox="1"/>
          <p:nvPr/>
        </p:nvSpPr>
        <p:spPr>
          <a:xfrm>
            <a:off x="1515357" y="3986429"/>
            <a:ext cx="9161283" cy="36933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b="1" i="1" dirty="0"/>
              <a:t>In the model, running is costly, so people only run if they are sufficiently likely to win.</a:t>
            </a:r>
          </a:p>
        </p:txBody>
      </p:sp>
      <p:cxnSp>
        <p:nvCxnSpPr>
          <p:cNvPr id="8" name="Straight Arrow Connector 7">
            <a:extLst>
              <a:ext uri="{FF2B5EF4-FFF2-40B4-BE49-F238E27FC236}">
                <a16:creationId xmlns:a16="http://schemas.microsoft.com/office/drawing/2014/main" id="{DD3E88C2-EEDF-CB2A-1A21-D97B0A613752}"/>
              </a:ext>
            </a:extLst>
          </p:cNvPr>
          <p:cNvCxnSpPr/>
          <p:nvPr/>
        </p:nvCxnSpPr>
        <p:spPr>
          <a:xfrm>
            <a:off x="2581835" y="5611906"/>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7E1A4DE-E224-1792-2C16-BD7C60CD2545}"/>
              </a:ext>
            </a:extLst>
          </p:cNvPr>
          <p:cNvSpPr txBox="1"/>
          <p:nvPr/>
        </p:nvSpPr>
        <p:spPr>
          <a:xfrm>
            <a:off x="9827351" y="5288740"/>
            <a:ext cx="2078703" cy="646331"/>
          </a:xfrm>
          <a:prstGeom prst="rect">
            <a:avLst/>
          </a:prstGeom>
          <a:noFill/>
        </p:spPr>
        <p:txBody>
          <a:bodyPr wrap="square" rtlCol="0">
            <a:spAutoFit/>
          </a:bodyPr>
          <a:lstStyle/>
          <a:p>
            <a:r>
              <a:rPr lang="en-US" dirty="0"/>
              <a:t>highest probability of winning</a:t>
            </a:r>
          </a:p>
        </p:txBody>
      </p:sp>
      <p:sp>
        <p:nvSpPr>
          <p:cNvPr id="10" name="TextBox 9">
            <a:extLst>
              <a:ext uri="{FF2B5EF4-FFF2-40B4-BE49-F238E27FC236}">
                <a16:creationId xmlns:a16="http://schemas.microsoft.com/office/drawing/2014/main" id="{3D4609C6-7A78-9146-DB99-A11D1405BBF1}"/>
              </a:ext>
            </a:extLst>
          </p:cNvPr>
          <p:cNvSpPr txBox="1"/>
          <p:nvPr/>
        </p:nvSpPr>
        <p:spPr>
          <a:xfrm>
            <a:off x="684922" y="5264276"/>
            <a:ext cx="2078703" cy="646331"/>
          </a:xfrm>
          <a:prstGeom prst="rect">
            <a:avLst/>
          </a:prstGeom>
          <a:noFill/>
        </p:spPr>
        <p:txBody>
          <a:bodyPr wrap="square" rtlCol="0">
            <a:spAutoFit/>
          </a:bodyPr>
          <a:lstStyle/>
          <a:p>
            <a:r>
              <a:rPr lang="en-US" dirty="0"/>
              <a:t>lowest probability of winning</a:t>
            </a:r>
          </a:p>
        </p:txBody>
      </p:sp>
      <p:sp>
        <p:nvSpPr>
          <p:cNvPr id="11" name="TextBox 10">
            <a:extLst>
              <a:ext uri="{FF2B5EF4-FFF2-40B4-BE49-F238E27FC236}">
                <a16:creationId xmlns:a16="http://schemas.microsoft.com/office/drawing/2014/main" id="{CB38B33F-3513-6CA9-D405-891C696590D7}"/>
              </a:ext>
            </a:extLst>
          </p:cNvPr>
          <p:cNvSpPr txBox="1"/>
          <p:nvPr/>
        </p:nvSpPr>
        <p:spPr>
          <a:xfrm>
            <a:off x="2546623" y="4919408"/>
            <a:ext cx="1142861" cy="369332"/>
          </a:xfrm>
          <a:prstGeom prst="rect">
            <a:avLst/>
          </a:prstGeom>
          <a:noFill/>
        </p:spPr>
        <p:txBody>
          <a:bodyPr wrap="square" rtlCol="0">
            <a:spAutoFit/>
          </a:bodyPr>
          <a:lstStyle/>
          <a:p>
            <a:r>
              <a:rPr lang="en-US" dirty="0"/>
              <a:t>one way:</a:t>
            </a:r>
          </a:p>
        </p:txBody>
      </p:sp>
      <p:sp>
        <p:nvSpPr>
          <p:cNvPr id="12" name="TextBox 11">
            <a:extLst>
              <a:ext uri="{FF2B5EF4-FFF2-40B4-BE49-F238E27FC236}">
                <a16:creationId xmlns:a16="http://schemas.microsoft.com/office/drawing/2014/main" id="{B2ABDBC1-6A9D-09DB-36A3-D3CA487EF570}"/>
              </a:ext>
            </a:extLst>
          </p:cNvPr>
          <p:cNvSpPr txBox="1"/>
          <p:nvPr/>
        </p:nvSpPr>
        <p:spPr>
          <a:xfrm>
            <a:off x="3780148" y="4844713"/>
            <a:ext cx="1216058" cy="584775"/>
          </a:xfrm>
          <a:prstGeom prst="rect">
            <a:avLst/>
          </a:prstGeom>
          <a:noFill/>
        </p:spPr>
        <p:txBody>
          <a:bodyPr wrap="square" rtlCol="0">
            <a:spAutoFit/>
          </a:bodyPr>
          <a:lstStyle/>
          <a:p>
            <a:pPr algn="ctr"/>
            <a:r>
              <a:rPr lang="en-US" sz="1600" dirty="0"/>
              <a:t>low talent women</a:t>
            </a:r>
          </a:p>
        </p:txBody>
      </p:sp>
      <p:sp>
        <p:nvSpPr>
          <p:cNvPr id="13" name="TextBox 12">
            <a:extLst>
              <a:ext uri="{FF2B5EF4-FFF2-40B4-BE49-F238E27FC236}">
                <a16:creationId xmlns:a16="http://schemas.microsoft.com/office/drawing/2014/main" id="{5F46219F-5EEC-4465-3284-54FE2FBDBED9}"/>
              </a:ext>
            </a:extLst>
          </p:cNvPr>
          <p:cNvSpPr txBox="1"/>
          <p:nvPr/>
        </p:nvSpPr>
        <p:spPr>
          <a:xfrm>
            <a:off x="8063797" y="4874565"/>
            <a:ext cx="1216058" cy="584775"/>
          </a:xfrm>
          <a:prstGeom prst="rect">
            <a:avLst/>
          </a:prstGeom>
          <a:noFill/>
        </p:spPr>
        <p:txBody>
          <a:bodyPr wrap="square" rtlCol="0">
            <a:spAutoFit/>
          </a:bodyPr>
          <a:lstStyle/>
          <a:p>
            <a:pPr algn="ctr"/>
            <a:r>
              <a:rPr lang="en-US" sz="1600" dirty="0"/>
              <a:t>high talent men</a:t>
            </a:r>
          </a:p>
        </p:txBody>
      </p:sp>
      <p:sp>
        <p:nvSpPr>
          <p:cNvPr id="14" name="TextBox 13">
            <a:extLst>
              <a:ext uri="{FF2B5EF4-FFF2-40B4-BE49-F238E27FC236}">
                <a16:creationId xmlns:a16="http://schemas.microsoft.com/office/drawing/2014/main" id="{7F06AC18-3EC5-35FC-2BBF-A0CE2B9D173E}"/>
              </a:ext>
            </a:extLst>
          </p:cNvPr>
          <p:cNvSpPr txBox="1"/>
          <p:nvPr/>
        </p:nvSpPr>
        <p:spPr>
          <a:xfrm>
            <a:off x="5208031" y="4850281"/>
            <a:ext cx="1216058" cy="584775"/>
          </a:xfrm>
          <a:prstGeom prst="rect">
            <a:avLst/>
          </a:prstGeom>
          <a:noFill/>
        </p:spPr>
        <p:txBody>
          <a:bodyPr wrap="square" rtlCol="0">
            <a:spAutoFit/>
          </a:bodyPr>
          <a:lstStyle/>
          <a:p>
            <a:pPr algn="ctr"/>
            <a:r>
              <a:rPr lang="en-US" sz="1600" dirty="0"/>
              <a:t>low talent men</a:t>
            </a:r>
          </a:p>
        </p:txBody>
      </p:sp>
      <p:sp>
        <p:nvSpPr>
          <p:cNvPr id="15" name="TextBox 14">
            <a:extLst>
              <a:ext uri="{FF2B5EF4-FFF2-40B4-BE49-F238E27FC236}">
                <a16:creationId xmlns:a16="http://schemas.microsoft.com/office/drawing/2014/main" id="{1732E295-8475-B51F-CE46-6AF3C7DD8D5C}"/>
              </a:ext>
            </a:extLst>
          </p:cNvPr>
          <p:cNvSpPr txBox="1"/>
          <p:nvPr/>
        </p:nvSpPr>
        <p:spPr>
          <a:xfrm>
            <a:off x="6635914" y="4855849"/>
            <a:ext cx="1376870" cy="584775"/>
          </a:xfrm>
          <a:prstGeom prst="rect">
            <a:avLst/>
          </a:prstGeom>
          <a:noFill/>
        </p:spPr>
        <p:txBody>
          <a:bodyPr wrap="square" rtlCol="0">
            <a:spAutoFit/>
          </a:bodyPr>
          <a:lstStyle/>
          <a:p>
            <a:pPr algn="ctr"/>
            <a:r>
              <a:rPr lang="en-US" sz="1600" dirty="0"/>
              <a:t>high talent women</a:t>
            </a:r>
          </a:p>
        </p:txBody>
      </p:sp>
      <p:sp>
        <p:nvSpPr>
          <p:cNvPr id="16" name="Rectangle 15">
            <a:extLst>
              <a:ext uri="{FF2B5EF4-FFF2-40B4-BE49-F238E27FC236}">
                <a16:creationId xmlns:a16="http://schemas.microsoft.com/office/drawing/2014/main" id="{BFA44C5C-B953-9A88-C17E-2A2985A97824}"/>
              </a:ext>
            </a:extLst>
          </p:cNvPr>
          <p:cNvSpPr/>
          <p:nvPr/>
        </p:nvSpPr>
        <p:spPr>
          <a:xfrm>
            <a:off x="2601798" y="4844713"/>
            <a:ext cx="6859384" cy="58477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33D474F-1B84-ACC7-CC24-C48FE369AA16}"/>
              </a:ext>
            </a:extLst>
          </p:cNvPr>
          <p:cNvSpPr/>
          <p:nvPr/>
        </p:nvSpPr>
        <p:spPr>
          <a:xfrm>
            <a:off x="2601798" y="5853713"/>
            <a:ext cx="6859384" cy="584773"/>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4751F8F-F233-62CF-F6CC-8400773D2DB6}"/>
              </a:ext>
            </a:extLst>
          </p:cNvPr>
          <p:cNvSpPr txBox="1"/>
          <p:nvPr/>
        </p:nvSpPr>
        <p:spPr>
          <a:xfrm>
            <a:off x="2601798" y="5860809"/>
            <a:ext cx="832609" cy="646331"/>
          </a:xfrm>
          <a:prstGeom prst="rect">
            <a:avLst/>
          </a:prstGeom>
          <a:noFill/>
        </p:spPr>
        <p:txBody>
          <a:bodyPr wrap="square" rtlCol="0">
            <a:spAutoFit/>
          </a:bodyPr>
          <a:lstStyle/>
          <a:p>
            <a:r>
              <a:rPr lang="en-US" dirty="0"/>
              <a:t>other way:</a:t>
            </a:r>
          </a:p>
        </p:txBody>
      </p:sp>
      <p:sp>
        <p:nvSpPr>
          <p:cNvPr id="17" name="TextBox 16">
            <a:extLst>
              <a:ext uri="{FF2B5EF4-FFF2-40B4-BE49-F238E27FC236}">
                <a16:creationId xmlns:a16="http://schemas.microsoft.com/office/drawing/2014/main" id="{C00369C7-3E60-1856-5DEA-EAB5C99DB536}"/>
              </a:ext>
            </a:extLst>
          </p:cNvPr>
          <p:cNvSpPr txBox="1"/>
          <p:nvPr/>
        </p:nvSpPr>
        <p:spPr>
          <a:xfrm>
            <a:off x="3780148" y="5853713"/>
            <a:ext cx="1216058" cy="584775"/>
          </a:xfrm>
          <a:prstGeom prst="rect">
            <a:avLst/>
          </a:prstGeom>
          <a:noFill/>
        </p:spPr>
        <p:txBody>
          <a:bodyPr wrap="square" rtlCol="0">
            <a:spAutoFit/>
          </a:bodyPr>
          <a:lstStyle/>
          <a:p>
            <a:pPr algn="ctr"/>
            <a:r>
              <a:rPr lang="en-US" sz="1600" dirty="0"/>
              <a:t>low talent women</a:t>
            </a:r>
          </a:p>
        </p:txBody>
      </p:sp>
      <p:sp>
        <p:nvSpPr>
          <p:cNvPr id="18" name="TextBox 17">
            <a:extLst>
              <a:ext uri="{FF2B5EF4-FFF2-40B4-BE49-F238E27FC236}">
                <a16:creationId xmlns:a16="http://schemas.microsoft.com/office/drawing/2014/main" id="{8EE95A78-AA06-1C50-DA8F-725A10596ECB}"/>
              </a:ext>
            </a:extLst>
          </p:cNvPr>
          <p:cNvSpPr txBox="1"/>
          <p:nvPr/>
        </p:nvSpPr>
        <p:spPr>
          <a:xfrm>
            <a:off x="8063797" y="5823857"/>
            <a:ext cx="1216058" cy="584775"/>
          </a:xfrm>
          <a:prstGeom prst="rect">
            <a:avLst/>
          </a:prstGeom>
          <a:noFill/>
        </p:spPr>
        <p:txBody>
          <a:bodyPr wrap="square" rtlCol="0">
            <a:spAutoFit/>
          </a:bodyPr>
          <a:lstStyle/>
          <a:p>
            <a:pPr algn="ctr"/>
            <a:r>
              <a:rPr lang="en-US" sz="1600" dirty="0"/>
              <a:t>high talent men</a:t>
            </a:r>
          </a:p>
        </p:txBody>
      </p:sp>
      <p:sp>
        <p:nvSpPr>
          <p:cNvPr id="19" name="TextBox 18">
            <a:extLst>
              <a:ext uri="{FF2B5EF4-FFF2-40B4-BE49-F238E27FC236}">
                <a16:creationId xmlns:a16="http://schemas.microsoft.com/office/drawing/2014/main" id="{07D05CB2-D0B6-CA5D-751F-845F9CB8F4E2}"/>
              </a:ext>
            </a:extLst>
          </p:cNvPr>
          <p:cNvSpPr txBox="1"/>
          <p:nvPr/>
        </p:nvSpPr>
        <p:spPr>
          <a:xfrm>
            <a:off x="5040054" y="5853711"/>
            <a:ext cx="1376870" cy="584775"/>
          </a:xfrm>
          <a:prstGeom prst="rect">
            <a:avLst/>
          </a:prstGeom>
          <a:noFill/>
        </p:spPr>
        <p:txBody>
          <a:bodyPr wrap="square" rtlCol="0">
            <a:spAutoFit/>
          </a:bodyPr>
          <a:lstStyle/>
          <a:p>
            <a:pPr algn="ctr"/>
            <a:r>
              <a:rPr lang="en-US" sz="1600" dirty="0"/>
              <a:t>high talent women</a:t>
            </a:r>
          </a:p>
        </p:txBody>
      </p:sp>
      <p:sp>
        <p:nvSpPr>
          <p:cNvPr id="20" name="TextBox 19">
            <a:extLst>
              <a:ext uri="{FF2B5EF4-FFF2-40B4-BE49-F238E27FC236}">
                <a16:creationId xmlns:a16="http://schemas.microsoft.com/office/drawing/2014/main" id="{863E48C6-3372-885C-18A7-E95CD5657FA9}"/>
              </a:ext>
            </a:extLst>
          </p:cNvPr>
          <p:cNvSpPr txBox="1"/>
          <p:nvPr/>
        </p:nvSpPr>
        <p:spPr>
          <a:xfrm>
            <a:off x="6666412" y="5860809"/>
            <a:ext cx="1216058" cy="584775"/>
          </a:xfrm>
          <a:prstGeom prst="rect">
            <a:avLst/>
          </a:prstGeom>
          <a:noFill/>
        </p:spPr>
        <p:txBody>
          <a:bodyPr wrap="square" rtlCol="0">
            <a:spAutoFit/>
          </a:bodyPr>
          <a:lstStyle/>
          <a:p>
            <a:pPr algn="ctr"/>
            <a:r>
              <a:rPr lang="en-US" sz="1600" dirty="0"/>
              <a:t>low talent men</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48AD73B-3FAB-000A-47BB-761F012F09F5}"/>
                  </a:ext>
                </a:extLst>
              </p:cNvPr>
              <p:cNvSpPr txBox="1"/>
              <p:nvPr/>
            </p:nvSpPr>
            <p:spPr>
              <a:xfrm rot="1558402">
                <a:off x="9717439" y="3590748"/>
                <a:ext cx="2298526" cy="549638"/>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sz="1400" dirty="0"/>
                  <a:t>(for instance, a high-talent man only runs if </a:t>
                </a:r>
                <a14:m>
                  <m:oMath xmlns:m="http://schemas.openxmlformats.org/officeDocument/2006/math">
                    <m:r>
                      <a:rPr lang="en-US" sz="1400" b="0" i="1" smtClean="0">
                        <a:latin typeface="Cambria Math" panose="02040503050406030204" pitchFamily="18" charset="0"/>
                      </a:rPr>
                      <m:t>𝑤</m:t>
                    </m:r>
                    <m:r>
                      <a:rPr lang="en-US" sz="1400" b="0" i="1" smtClean="0">
                        <a:latin typeface="Cambria Math" panose="02040503050406030204" pitchFamily="18" charset="0"/>
                      </a:rPr>
                      <m:t>≥</m:t>
                    </m:r>
                    <m:box>
                      <m:boxPr>
                        <m:ctrlPr>
                          <a:rPr lang="en-US" sz="1400" b="0" i="1" smtClean="0">
                            <a:latin typeface="Cambria Math" panose="02040503050406030204" pitchFamily="18" charset="0"/>
                          </a:rPr>
                        </m:ctrlPr>
                      </m:boxPr>
                      <m:e>
                        <m:argPr>
                          <m:argSz m:val="-1"/>
                        </m:argP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𝐶</m:t>
                            </m:r>
                          </m:num>
                          <m:den>
                            <m:r>
                              <a:rPr lang="en-US" sz="1400" b="0" i="1" smtClean="0">
                                <a:latin typeface="Cambria Math" panose="02040503050406030204" pitchFamily="18" charset="0"/>
                              </a:rPr>
                              <m:t>𝐵</m:t>
                            </m:r>
                          </m:den>
                        </m:f>
                      </m:e>
                    </m:box>
                  </m:oMath>
                </a14:m>
                <a:r>
                  <a:rPr lang="en-US" sz="1400" dirty="0"/>
                  <a:t>)</a:t>
                </a:r>
              </a:p>
            </p:txBody>
          </p:sp>
        </mc:Choice>
        <mc:Fallback xmlns="">
          <p:sp>
            <p:nvSpPr>
              <p:cNvPr id="21" name="TextBox 20">
                <a:extLst>
                  <a:ext uri="{FF2B5EF4-FFF2-40B4-BE49-F238E27FC236}">
                    <a16:creationId xmlns:a16="http://schemas.microsoft.com/office/drawing/2014/main" id="{148AD73B-3FAB-000A-47BB-761F012F09F5}"/>
                  </a:ext>
                </a:extLst>
              </p:cNvPr>
              <p:cNvSpPr txBox="1">
                <a:spLocks noRot="1" noChangeAspect="1" noMove="1" noResize="1" noEditPoints="1" noAdjustHandles="1" noChangeArrowheads="1" noChangeShapeType="1" noTextEdit="1"/>
              </p:cNvSpPr>
              <p:nvPr/>
            </p:nvSpPr>
            <p:spPr>
              <a:xfrm rot="1558402">
                <a:off x="9717439" y="3590748"/>
                <a:ext cx="2298526" cy="549638"/>
              </a:xfrm>
              <a:prstGeom prst="rect">
                <a:avLst/>
              </a:prstGeom>
              <a:blipFill>
                <a:blip r:embed="rId2"/>
                <a:stretch>
                  <a:fillRect l="-519"/>
                </a:stretch>
              </a:blipFill>
            </p:spPr>
            <p:txBody>
              <a:bodyPr/>
              <a:lstStyle/>
              <a:p>
                <a:r>
                  <a:rPr lang="en-US">
                    <a:noFill/>
                  </a:rPr>
                  <a:t> </a:t>
                </a:r>
              </a:p>
            </p:txBody>
          </p:sp>
        </mc:Fallback>
      </mc:AlternateContent>
    </p:spTree>
    <p:extLst>
      <p:ext uri="{BB962C8B-B14F-4D97-AF65-F5344CB8AC3E}">
        <p14:creationId xmlns:p14="http://schemas.microsoft.com/office/powerpoint/2010/main" val="115444345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9E7F4-4DE1-E951-40B8-081D5F2A69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988A42-F4BC-3EE9-BA23-9117C6FB1DDC}"/>
              </a:ext>
            </a:extLst>
          </p:cNvPr>
          <p:cNvSpPr txBox="1"/>
          <p:nvPr/>
        </p:nvSpPr>
        <p:spPr>
          <a:xfrm>
            <a:off x="1515358" y="226244"/>
            <a:ext cx="9161283"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400" dirty="0"/>
              <a:t>Back to the data...</a:t>
            </a:r>
          </a:p>
        </p:txBody>
      </p:sp>
      <p:sp>
        <p:nvSpPr>
          <p:cNvPr id="3" name="TextBox 2">
            <a:extLst>
              <a:ext uri="{FF2B5EF4-FFF2-40B4-BE49-F238E27FC236}">
                <a16:creationId xmlns:a16="http://schemas.microsoft.com/office/drawing/2014/main" id="{2E1F1EF8-7403-011B-5478-BD442F1ABE30}"/>
              </a:ext>
            </a:extLst>
          </p:cNvPr>
          <p:cNvSpPr txBox="1"/>
          <p:nvPr/>
        </p:nvSpPr>
        <p:spPr>
          <a:xfrm>
            <a:off x="1515357" y="947393"/>
            <a:ext cx="9161283" cy="230832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b="1" i="1" dirty="0"/>
              <a:t>When they run, women candidates win at the same rate as men candidates.</a:t>
            </a:r>
          </a:p>
          <a:p>
            <a:endParaRPr lang="en-US" b="1" i="1" dirty="0"/>
          </a:p>
          <a:p>
            <a:pPr marL="285750" indent="-285750">
              <a:buFont typeface="Arial" panose="020B0604020202020204" pitchFamily="34" charset="0"/>
              <a:buChar char="•"/>
            </a:pPr>
            <a:r>
              <a:rPr lang="en-US" b="1" i="1" dirty="0"/>
              <a:t>Women run at a lower rate than men.</a:t>
            </a:r>
            <a:br>
              <a:rPr lang="en-US" b="1" i="1" dirty="0"/>
            </a:br>
            <a:endParaRPr lang="en-US" b="1" i="1" dirty="0"/>
          </a:p>
          <a:p>
            <a:pPr marL="285750" indent="-285750">
              <a:buFont typeface="Arial" panose="020B0604020202020204" pitchFamily="34" charset="0"/>
              <a:buChar char="•"/>
            </a:pPr>
            <a:r>
              <a:rPr lang="en-US" b="1" i="1" dirty="0"/>
              <a:t>(Thus) women are under-represented in legislatures.</a:t>
            </a:r>
            <a:br>
              <a:rPr lang="en-US" b="1" i="1" dirty="0"/>
            </a:br>
            <a:endParaRPr lang="en-US" b="1" i="1" dirty="0"/>
          </a:p>
          <a:p>
            <a:pPr marL="285750" indent="-285750">
              <a:buFont typeface="Arial" panose="020B0604020202020204" pitchFamily="34" charset="0"/>
              <a:buChar char="•"/>
            </a:pPr>
            <a:r>
              <a:rPr lang="en-US" b="1" i="1" dirty="0"/>
              <a:t>When in office, women legislators are more productive (more legislation, more funding brought to the district) than men legislators.</a:t>
            </a:r>
          </a:p>
        </p:txBody>
      </p:sp>
      <p:sp>
        <p:nvSpPr>
          <p:cNvPr id="4" name="TextBox 3">
            <a:extLst>
              <a:ext uri="{FF2B5EF4-FFF2-40B4-BE49-F238E27FC236}">
                <a16:creationId xmlns:a16="http://schemas.microsoft.com/office/drawing/2014/main" id="{5248C074-F382-B2C7-135C-94CCB3C99995}"/>
              </a:ext>
            </a:extLst>
          </p:cNvPr>
          <p:cNvSpPr txBox="1"/>
          <p:nvPr/>
        </p:nvSpPr>
        <p:spPr>
          <a:xfrm>
            <a:off x="2420471" y="3496235"/>
            <a:ext cx="7548282"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How can our model generate behavior consist with these patterns?</a:t>
            </a:r>
          </a:p>
        </p:txBody>
      </p:sp>
      <p:sp>
        <p:nvSpPr>
          <p:cNvPr id="6" name="TextBox 5">
            <a:extLst>
              <a:ext uri="{FF2B5EF4-FFF2-40B4-BE49-F238E27FC236}">
                <a16:creationId xmlns:a16="http://schemas.microsoft.com/office/drawing/2014/main" id="{8B6DB428-8976-8D63-BE78-97C91F6D3CAF}"/>
              </a:ext>
            </a:extLst>
          </p:cNvPr>
          <p:cNvSpPr txBox="1"/>
          <p:nvPr/>
        </p:nvSpPr>
        <p:spPr>
          <a:xfrm>
            <a:off x="1533287" y="3993668"/>
            <a:ext cx="9161283" cy="64633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b="1" i="1" dirty="0"/>
              <a:t>So there will be a cutoff on the probability of winning, with persons above running and groups below not running.</a:t>
            </a:r>
          </a:p>
        </p:txBody>
      </p:sp>
      <p:cxnSp>
        <p:nvCxnSpPr>
          <p:cNvPr id="8" name="Straight Arrow Connector 7">
            <a:extLst>
              <a:ext uri="{FF2B5EF4-FFF2-40B4-BE49-F238E27FC236}">
                <a16:creationId xmlns:a16="http://schemas.microsoft.com/office/drawing/2014/main" id="{F123E456-C221-D141-6722-4B89981CBAEA}"/>
              </a:ext>
            </a:extLst>
          </p:cNvPr>
          <p:cNvCxnSpPr/>
          <p:nvPr/>
        </p:nvCxnSpPr>
        <p:spPr>
          <a:xfrm>
            <a:off x="2581835" y="5611906"/>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99AF0B4-8CBE-76EB-862A-BF540B8B7F45}"/>
              </a:ext>
            </a:extLst>
          </p:cNvPr>
          <p:cNvSpPr txBox="1"/>
          <p:nvPr/>
        </p:nvSpPr>
        <p:spPr>
          <a:xfrm>
            <a:off x="9827351" y="5288740"/>
            <a:ext cx="2078703" cy="646331"/>
          </a:xfrm>
          <a:prstGeom prst="rect">
            <a:avLst/>
          </a:prstGeom>
          <a:noFill/>
        </p:spPr>
        <p:txBody>
          <a:bodyPr wrap="square" rtlCol="0">
            <a:spAutoFit/>
          </a:bodyPr>
          <a:lstStyle/>
          <a:p>
            <a:r>
              <a:rPr lang="en-US" dirty="0"/>
              <a:t>highest probability of winning</a:t>
            </a:r>
          </a:p>
        </p:txBody>
      </p:sp>
      <p:sp>
        <p:nvSpPr>
          <p:cNvPr id="10" name="TextBox 9">
            <a:extLst>
              <a:ext uri="{FF2B5EF4-FFF2-40B4-BE49-F238E27FC236}">
                <a16:creationId xmlns:a16="http://schemas.microsoft.com/office/drawing/2014/main" id="{049696E3-D37A-C315-0B3E-E5115D5CB7C6}"/>
              </a:ext>
            </a:extLst>
          </p:cNvPr>
          <p:cNvSpPr txBox="1"/>
          <p:nvPr/>
        </p:nvSpPr>
        <p:spPr>
          <a:xfrm>
            <a:off x="684922" y="5264276"/>
            <a:ext cx="2078703" cy="646331"/>
          </a:xfrm>
          <a:prstGeom prst="rect">
            <a:avLst/>
          </a:prstGeom>
          <a:noFill/>
        </p:spPr>
        <p:txBody>
          <a:bodyPr wrap="square" rtlCol="0">
            <a:spAutoFit/>
          </a:bodyPr>
          <a:lstStyle/>
          <a:p>
            <a:r>
              <a:rPr lang="en-US" dirty="0"/>
              <a:t>lowest probability of winning</a:t>
            </a:r>
          </a:p>
        </p:txBody>
      </p:sp>
      <p:sp>
        <p:nvSpPr>
          <p:cNvPr id="11" name="TextBox 10">
            <a:extLst>
              <a:ext uri="{FF2B5EF4-FFF2-40B4-BE49-F238E27FC236}">
                <a16:creationId xmlns:a16="http://schemas.microsoft.com/office/drawing/2014/main" id="{F96D2F8D-6EF9-2EDD-CC3D-D6C9B4496532}"/>
              </a:ext>
            </a:extLst>
          </p:cNvPr>
          <p:cNvSpPr txBox="1"/>
          <p:nvPr/>
        </p:nvSpPr>
        <p:spPr>
          <a:xfrm>
            <a:off x="2546623" y="4919408"/>
            <a:ext cx="1142861" cy="369332"/>
          </a:xfrm>
          <a:prstGeom prst="rect">
            <a:avLst/>
          </a:prstGeom>
          <a:noFill/>
        </p:spPr>
        <p:txBody>
          <a:bodyPr wrap="square" rtlCol="0">
            <a:spAutoFit/>
          </a:bodyPr>
          <a:lstStyle/>
          <a:p>
            <a:r>
              <a:rPr lang="en-US" dirty="0"/>
              <a:t>one way:</a:t>
            </a:r>
          </a:p>
        </p:txBody>
      </p:sp>
      <p:sp>
        <p:nvSpPr>
          <p:cNvPr id="12" name="TextBox 11">
            <a:extLst>
              <a:ext uri="{FF2B5EF4-FFF2-40B4-BE49-F238E27FC236}">
                <a16:creationId xmlns:a16="http://schemas.microsoft.com/office/drawing/2014/main" id="{6DCE84EB-241A-BAB2-4587-E88826A69D12}"/>
              </a:ext>
            </a:extLst>
          </p:cNvPr>
          <p:cNvSpPr txBox="1"/>
          <p:nvPr/>
        </p:nvSpPr>
        <p:spPr>
          <a:xfrm>
            <a:off x="3780148" y="4844713"/>
            <a:ext cx="1216058" cy="584775"/>
          </a:xfrm>
          <a:prstGeom prst="rect">
            <a:avLst/>
          </a:prstGeom>
          <a:noFill/>
        </p:spPr>
        <p:txBody>
          <a:bodyPr wrap="square" rtlCol="0">
            <a:spAutoFit/>
          </a:bodyPr>
          <a:lstStyle/>
          <a:p>
            <a:pPr algn="ctr"/>
            <a:r>
              <a:rPr lang="en-US" sz="1600" dirty="0"/>
              <a:t>low talent women</a:t>
            </a:r>
          </a:p>
        </p:txBody>
      </p:sp>
      <p:sp>
        <p:nvSpPr>
          <p:cNvPr id="13" name="TextBox 12">
            <a:extLst>
              <a:ext uri="{FF2B5EF4-FFF2-40B4-BE49-F238E27FC236}">
                <a16:creationId xmlns:a16="http://schemas.microsoft.com/office/drawing/2014/main" id="{38F619F3-4D90-6036-8ABF-232FA9233356}"/>
              </a:ext>
            </a:extLst>
          </p:cNvPr>
          <p:cNvSpPr txBox="1"/>
          <p:nvPr/>
        </p:nvSpPr>
        <p:spPr>
          <a:xfrm>
            <a:off x="8063797" y="4874565"/>
            <a:ext cx="1216058" cy="584775"/>
          </a:xfrm>
          <a:prstGeom prst="rect">
            <a:avLst/>
          </a:prstGeom>
          <a:noFill/>
        </p:spPr>
        <p:txBody>
          <a:bodyPr wrap="square" rtlCol="0">
            <a:spAutoFit/>
          </a:bodyPr>
          <a:lstStyle/>
          <a:p>
            <a:pPr algn="ctr"/>
            <a:r>
              <a:rPr lang="en-US" sz="1600" dirty="0"/>
              <a:t>high talent men</a:t>
            </a:r>
          </a:p>
        </p:txBody>
      </p:sp>
      <p:sp>
        <p:nvSpPr>
          <p:cNvPr id="14" name="TextBox 13">
            <a:extLst>
              <a:ext uri="{FF2B5EF4-FFF2-40B4-BE49-F238E27FC236}">
                <a16:creationId xmlns:a16="http://schemas.microsoft.com/office/drawing/2014/main" id="{97491597-AA41-E72E-0C6A-0183FF39BE1F}"/>
              </a:ext>
            </a:extLst>
          </p:cNvPr>
          <p:cNvSpPr txBox="1"/>
          <p:nvPr/>
        </p:nvSpPr>
        <p:spPr>
          <a:xfrm>
            <a:off x="5208031" y="4850281"/>
            <a:ext cx="1216058" cy="584775"/>
          </a:xfrm>
          <a:prstGeom prst="rect">
            <a:avLst/>
          </a:prstGeom>
          <a:noFill/>
        </p:spPr>
        <p:txBody>
          <a:bodyPr wrap="square" rtlCol="0">
            <a:spAutoFit/>
          </a:bodyPr>
          <a:lstStyle/>
          <a:p>
            <a:pPr algn="ctr"/>
            <a:r>
              <a:rPr lang="en-US" sz="1600" dirty="0"/>
              <a:t>low talent men</a:t>
            </a:r>
          </a:p>
        </p:txBody>
      </p:sp>
      <p:sp>
        <p:nvSpPr>
          <p:cNvPr id="15" name="TextBox 14">
            <a:extLst>
              <a:ext uri="{FF2B5EF4-FFF2-40B4-BE49-F238E27FC236}">
                <a16:creationId xmlns:a16="http://schemas.microsoft.com/office/drawing/2014/main" id="{36F7B419-1168-7391-5823-61E0CF73375A}"/>
              </a:ext>
            </a:extLst>
          </p:cNvPr>
          <p:cNvSpPr txBox="1"/>
          <p:nvPr/>
        </p:nvSpPr>
        <p:spPr>
          <a:xfrm>
            <a:off x="6635914" y="4855849"/>
            <a:ext cx="1376870" cy="584775"/>
          </a:xfrm>
          <a:prstGeom prst="rect">
            <a:avLst/>
          </a:prstGeom>
          <a:noFill/>
        </p:spPr>
        <p:txBody>
          <a:bodyPr wrap="square" rtlCol="0">
            <a:spAutoFit/>
          </a:bodyPr>
          <a:lstStyle/>
          <a:p>
            <a:pPr algn="ctr"/>
            <a:r>
              <a:rPr lang="en-US" sz="1600" dirty="0"/>
              <a:t>high talent women</a:t>
            </a:r>
          </a:p>
        </p:txBody>
      </p:sp>
      <p:sp>
        <p:nvSpPr>
          <p:cNvPr id="16" name="Rectangle 15">
            <a:extLst>
              <a:ext uri="{FF2B5EF4-FFF2-40B4-BE49-F238E27FC236}">
                <a16:creationId xmlns:a16="http://schemas.microsoft.com/office/drawing/2014/main" id="{24A7FC00-955D-5D20-3A08-2296F1E696C2}"/>
              </a:ext>
            </a:extLst>
          </p:cNvPr>
          <p:cNvSpPr/>
          <p:nvPr/>
        </p:nvSpPr>
        <p:spPr>
          <a:xfrm>
            <a:off x="2601798" y="4844713"/>
            <a:ext cx="6859384" cy="58477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F14416D-0736-1E68-54F4-0F0A588F49E3}"/>
              </a:ext>
            </a:extLst>
          </p:cNvPr>
          <p:cNvSpPr/>
          <p:nvPr/>
        </p:nvSpPr>
        <p:spPr>
          <a:xfrm>
            <a:off x="2601798" y="5853713"/>
            <a:ext cx="6859384" cy="584773"/>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90C969A1-8490-56F9-3A70-FDDC58600B3F}"/>
              </a:ext>
            </a:extLst>
          </p:cNvPr>
          <p:cNvSpPr txBox="1"/>
          <p:nvPr/>
        </p:nvSpPr>
        <p:spPr>
          <a:xfrm>
            <a:off x="2601798" y="5860809"/>
            <a:ext cx="832609" cy="646331"/>
          </a:xfrm>
          <a:prstGeom prst="rect">
            <a:avLst/>
          </a:prstGeom>
          <a:noFill/>
        </p:spPr>
        <p:txBody>
          <a:bodyPr wrap="square" rtlCol="0">
            <a:spAutoFit/>
          </a:bodyPr>
          <a:lstStyle/>
          <a:p>
            <a:r>
              <a:rPr lang="en-US" dirty="0"/>
              <a:t>other way:</a:t>
            </a:r>
          </a:p>
        </p:txBody>
      </p:sp>
      <p:sp>
        <p:nvSpPr>
          <p:cNvPr id="17" name="TextBox 16">
            <a:extLst>
              <a:ext uri="{FF2B5EF4-FFF2-40B4-BE49-F238E27FC236}">
                <a16:creationId xmlns:a16="http://schemas.microsoft.com/office/drawing/2014/main" id="{12A910AE-6D15-2D16-3A45-1EB1AC114CF2}"/>
              </a:ext>
            </a:extLst>
          </p:cNvPr>
          <p:cNvSpPr txBox="1"/>
          <p:nvPr/>
        </p:nvSpPr>
        <p:spPr>
          <a:xfrm>
            <a:off x="3780148" y="5853713"/>
            <a:ext cx="1216058" cy="584775"/>
          </a:xfrm>
          <a:prstGeom prst="rect">
            <a:avLst/>
          </a:prstGeom>
          <a:noFill/>
        </p:spPr>
        <p:txBody>
          <a:bodyPr wrap="square" rtlCol="0">
            <a:spAutoFit/>
          </a:bodyPr>
          <a:lstStyle/>
          <a:p>
            <a:pPr algn="ctr"/>
            <a:r>
              <a:rPr lang="en-US" sz="1600" dirty="0"/>
              <a:t>low talent women</a:t>
            </a:r>
          </a:p>
        </p:txBody>
      </p:sp>
      <p:sp>
        <p:nvSpPr>
          <p:cNvPr id="18" name="TextBox 17">
            <a:extLst>
              <a:ext uri="{FF2B5EF4-FFF2-40B4-BE49-F238E27FC236}">
                <a16:creationId xmlns:a16="http://schemas.microsoft.com/office/drawing/2014/main" id="{91FDB480-6E67-9B5A-458E-0B3000396C28}"/>
              </a:ext>
            </a:extLst>
          </p:cNvPr>
          <p:cNvSpPr txBox="1"/>
          <p:nvPr/>
        </p:nvSpPr>
        <p:spPr>
          <a:xfrm>
            <a:off x="8063797" y="5823857"/>
            <a:ext cx="1216058" cy="584775"/>
          </a:xfrm>
          <a:prstGeom prst="rect">
            <a:avLst/>
          </a:prstGeom>
          <a:noFill/>
        </p:spPr>
        <p:txBody>
          <a:bodyPr wrap="square" rtlCol="0">
            <a:spAutoFit/>
          </a:bodyPr>
          <a:lstStyle/>
          <a:p>
            <a:pPr algn="ctr"/>
            <a:r>
              <a:rPr lang="en-US" sz="1600" dirty="0"/>
              <a:t>high talent men</a:t>
            </a:r>
          </a:p>
        </p:txBody>
      </p:sp>
      <p:sp>
        <p:nvSpPr>
          <p:cNvPr id="19" name="TextBox 18">
            <a:extLst>
              <a:ext uri="{FF2B5EF4-FFF2-40B4-BE49-F238E27FC236}">
                <a16:creationId xmlns:a16="http://schemas.microsoft.com/office/drawing/2014/main" id="{ADE67F55-9E73-2820-C016-D092706B8FFD}"/>
              </a:ext>
            </a:extLst>
          </p:cNvPr>
          <p:cNvSpPr txBox="1"/>
          <p:nvPr/>
        </p:nvSpPr>
        <p:spPr>
          <a:xfrm>
            <a:off x="5040054" y="5853711"/>
            <a:ext cx="1376870" cy="584775"/>
          </a:xfrm>
          <a:prstGeom prst="rect">
            <a:avLst/>
          </a:prstGeom>
          <a:noFill/>
        </p:spPr>
        <p:txBody>
          <a:bodyPr wrap="square" rtlCol="0">
            <a:spAutoFit/>
          </a:bodyPr>
          <a:lstStyle/>
          <a:p>
            <a:pPr algn="ctr"/>
            <a:r>
              <a:rPr lang="en-US" sz="1600" dirty="0"/>
              <a:t>high talent women</a:t>
            </a:r>
          </a:p>
        </p:txBody>
      </p:sp>
      <p:sp>
        <p:nvSpPr>
          <p:cNvPr id="20" name="TextBox 19">
            <a:extLst>
              <a:ext uri="{FF2B5EF4-FFF2-40B4-BE49-F238E27FC236}">
                <a16:creationId xmlns:a16="http://schemas.microsoft.com/office/drawing/2014/main" id="{AA4F16B9-6E71-C27F-E6E5-83DD7037266A}"/>
              </a:ext>
            </a:extLst>
          </p:cNvPr>
          <p:cNvSpPr txBox="1"/>
          <p:nvPr/>
        </p:nvSpPr>
        <p:spPr>
          <a:xfrm>
            <a:off x="6666412" y="5860809"/>
            <a:ext cx="1216058" cy="584775"/>
          </a:xfrm>
          <a:prstGeom prst="rect">
            <a:avLst/>
          </a:prstGeom>
          <a:noFill/>
        </p:spPr>
        <p:txBody>
          <a:bodyPr wrap="square" rtlCol="0">
            <a:spAutoFit/>
          </a:bodyPr>
          <a:lstStyle/>
          <a:p>
            <a:pPr algn="ctr"/>
            <a:r>
              <a:rPr lang="en-US" sz="1600" dirty="0"/>
              <a:t>low talent men</a:t>
            </a:r>
          </a:p>
        </p:txBody>
      </p:sp>
    </p:spTree>
    <p:extLst>
      <p:ext uri="{BB962C8B-B14F-4D97-AF65-F5344CB8AC3E}">
        <p14:creationId xmlns:p14="http://schemas.microsoft.com/office/powerpoint/2010/main" val="20595934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9AA8C-920C-84EA-6558-A06090D17D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6DE54A-1875-D4D0-73A7-03D2C6B4D320}"/>
              </a:ext>
            </a:extLst>
          </p:cNvPr>
          <p:cNvSpPr txBox="1"/>
          <p:nvPr/>
        </p:nvSpPr>
        <p:spPr>
          <a:xfrm>
            <a:off x="1515358" y="226244"/>
            <a:ext cx="9161283" cy="461665"/>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pPr algn="ctr"/>
            <a:r>
              <a:rPr lang="en-US" sz="2400" dirty="0"/>
              <a:t>Back to the data...</a:t>
            </a:r>
          </a:p>
        </p:txBody>
      </p:sp>
      <p:sp>
        <p:nvSpPr>
          <p:cNvPr id="3" name="TextBox 2">
            <a:extLst>
              <a:ext uri="{FF2B5EF4-FFF2-40B4-BE49-F238E27FC236}">
                <a16:creationId xmlns:a16="http://schemas.microsoft.com/office/drawing/2014/main" id="{05048678-6D8B-73F0-BB8E-A66080F9297C}"/>
              </a:ext>
            </a:extLst>
          </p:cNvPr>
          <p:cNvSpPr txBox="1"/>
          <p:nvPr/>
        </p:nvSpPr>
        <p:spPr>
          <a:xfrm>
            <a:off x="1515357" y="947393"/>
            <a:ext cx="9161283" cy="2308324"/>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marL="285750" indent="-285750">
              <a:buFont typeface="Arial" panose="020B0604020202020204" pitchFamily="34" charset="0"/>
              <a:buChar char="•"/>
            </a:pPr>
            <a:r>
              <a:rPr lang="en-US" b="1" i="1" dirty="0"/>
              <a:t>When they run, women candidates win at the same rate as men candidates.</a:t>
            </a:r>
          </a:p>
          <a:p>
            <a:endParaRPr lang="en-US" b="1" i="1" dirty="0"/>
          </a:p>
          <a:p>
            <a:pPr marL="285750" indent="-285750">
              <a:buFont typeface="Arial" panose="020B0604020202020204" pitchFamily="34" charset="0"/>
              <a:buChar char="•"/>
            </a:pPr>
            <a:r>
              <a:rPr lang="en-US" b="1" i="1" dirty="0"/>
              <a:t>Women run at a lower rate than men.</a:t>
            </a:r>
            <a:br>
              <a:rPr lang="en-US" b="1" i="1" dirty="0"/>
            </a:br>
            <a:endParaRPr lang="en-US" b="1" i="1" dirty="0"/>
          </a:p>
          <a:p>
            <a:pPr marL="285750" indent="-285750">
              <a:buFont typeface="Arial" panose="020B0604020202020204" pitchFamily="34" charset="0"/>
              <a:buChar char="•"/>
            </a:pPr>
            <a:r>
              <a:rPr lang="en-US" b="1" i="1" dirty="0"/>
              <a:t>(Thus) women are under-represented in legislatures.</a:t>
            </a:r>
            <a:br>
              <a:rPr lang="en-US" b="1" i="1" dirty="0"/>
            </a:br>
            <a:endParaRPr lang="en-US" b="1" i="1" dirty="0"/>
          </a:p>
          <a:p>
            <a:pPr marL="285750" indent="-285750">
              <a:buFont typeface="Arial" panose="020B0604020202020204" pitchFamily="34" charset="0"/>
              <a:buChar char="•"/>
            </a:pPr>
            <a:r>
              <a:rPr lang="en-US" b="1" i="1" dirty="0"/>
              <a:t>When in office, women legislators are more productive (more legislation, more funding brought to the district) than men legislators.</a:t>
            </a:r>
          </a:p>
        </p:txBody>
      </p:sp>
      <p:sp>
        <p:nvSpPr>
          <p:cNvPr id="4" name="TextBox 3">
            <a:extLst>
              <a:ext uri="{FF2B5EF4-FFF2-40B4-BE49-F238E27FC236}">
                <a16:creationId xmlns:a16="http://schemas.microsoft.com/office/drawing/2014/main" id="{25CC7D45-719F-4EDF-BA9C-B806936F1942}"/>
              </a:ext>
            </a:extLst>
          </p:cNvPr>
          <p:cNvSpPr txBox="1"/>
          <p:nvPr/>
        </p:nvSpPr>
        <p:spPr>
          <a:xfrm>
            <a:off x="2420471" y="3496235"/>
            <a:ext cx="7548282" cy="36933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t>How can our model generate behavior consist with these patterns?</a:t>
            </a:r>
          </a:p>
        </p:txBody>
      </p:sp>
      <p:sp>
        <p:nvSpPr>
          <p:cNvPr id="6" name="TextBox 5">
            <a:extLst>
              <a:ext uri="{FF2B5EF4-FFF2-40B4-BE49-F238E27FC236}">
                <a16:creationId xmlns:a16="http://schemas.microsoft.com/office/drawing/2014/main" id="{61164AD4-2024-1BB6-585F-A35482DB1B95}"/>
              </a:ext>
            </a:extLst>
          </p:cNvPr>
          <p:cNvSpPr txBox="1"/>
          <p:nvPr/>
        </p:nvSpPr>
        <p:spPr>
          <a:xfrm>
            <a:off x="1533287" y="3946364"/>
            <a:ext cx="9161283" cy="646331"/>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wrap="square" rtlCol="0">
            <a:spAutoFit/>
          </a:bodyPr>
          <a:lstStyle/>
          <a:p>
            <a:r>
              <a:rPr lang="en-US" b="1" i="1" dirty="0"/>
              <a:t>So there will be a cutoff on the probability of winning, with groups above running and groups below not running.</a:t>
            </a:r>
          </a:p>
        </p:txBody>
      </p:sp>
      <p:cxnSp>
        <p:nvCxnSpPr>
          <p:cNvPr id="8" name="Straight Arrow Connector 7">
            <a:extLst>
              <a:ext uri="{FF2B5EF4-FFF2-40B4-BE49-F238E27FC236}">
                <a16:creationId xmlns:a16="http://schemas.microsoft.com/office/drawing/2014/main" id="{E89FDA77-22BF-FD17-685F-C788118FECA0}"/>
              </a:ext>
            </a:extLst>
          </p:cNvPr>
          <p:cNvCxnSpPr/>
          <p:nvPr/>
        </p:nvCxnSpPr>
        <p:spPr>
          <a:xfrm>
            <a:off x="2581835" y="5611906"/>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20444B0-8B49-CF83-CBCC-EFA4304FC1F3}"/>
              </a:ext>
            </a:extLst>
          </p:cNvPr>
          <p:cNvSpPr txBox="1"/>
          <p:nvPr/>
        </p:nvSpPr>
        <p:spPr>
          <a:xfrm>
            <a:off x="9827351" y="5288740"/>
            <a:ext cx="2078703" cy="646331"/>
          </a:xfrm>
          <a:prstGeom prst="rect">
            <a:avLst/>
          </a:prstGeom>
          <a:noFill/>
        </p:spPr>
        <p:txBody>
          <a:bodyPr wrap="square" rtlCol="0">
            <a:spAutoFit/>
          </a:bodyPr>
          <a:lstStyle/>
          <a:p>
            <a:r>
              <a:rPr lang="en-US" dirty="0"/>
              <a:t>highest probability of winning</a:t>
            </a:r>
          </a:p>
        </p:txBody>
      </p:sp>
      <p:sp>
        <p:nvSpPr>
          <p:cNvPr id="10" name="TextBox 9">
            <a:extLst>
              <a:ext uri="{FF2B5EF4-FFF2-40B4-BE49-F238E27FC236}">
                <a16:creationId xmlns:a16="http://schemas.microsoft.com/office/drawing/2014/main" id="{ADB6E854-A32E-3B30-CC8B-591168F10D04}"/>
              </a:ext>
            </a:extLst>
          </p:cNvPr>
          <p:cNvSpPr txBox="1"/>
          <p:nvPr/>
        </p:nvSpPr>
        <p:spPr>
          <a:xfrm>
            <a:off x="684922" y="5264276"/>
            <a:ext cx="2078703" cy="646331"/>
          </a:xfrm>
          <a:prstGeom prst="rect">
            <a:avLst/>
          </a:prstGeom>
          <a:noFill/>
        </p:spPr>
        <p:txBody>
          <a:bodyPr wrap="square" rtlCol="0">
            <a:spAutoFit/>
          </a:bodyPr>
          <a:lstStyle/>
          <a:p>
            <a:r>
              <a:rPr lang="en-US" dirty="0"/>
              <a:t>lowest probability of winning</a:t>
            </a:r>
          </a:p>
        </p:txBody>
      </p:sp>
      <p:sp>
        <p:nvSpPr>
          <p:cNvPr id="11" name="TextBox 10">
            <a:extLst>
              <a:ext uri="{FF2B5EF4-FFF2-40B4-BE49-F238E27FC236}">
                <a16:creationId xmlns:a16="http://schemas.microsoft.com/office/drawing/2014/main" id="{617B0131-DCEE-034F-3886-89ECF8238A0F}"/>
              </a:ext>
            </a:extLst>
          </p:cNvPr>
          <p:cNvSpPr txBox="1"/>
          <p:nvPr/>
        </p:nvSpPr>
        <p:spPr>
          <a:xfrm>
            <a:off x="2546623" y="4919408"/>
            <a:ext cx="1142861" cy="369332"/>
          </a:xfrm>
          <a:prstGeom prst="rect">
            <a:avLst/>
          </a:prstGeom>
          <a:noFill/>
        </p:spPr>
        <p:txBody>
          <a:bodyPr wrap="square" rtlCol="0">
            <a:spAutoFit/>
          </a:bodyPr>
          <a:lstStyle/>
          <a:p>
            <a:r>
              <a:rPr lang="en-US" dirty="0"/>
              <a:t>one way:</a:t>
            </a:r>
          </a:p>
        </p:txBody>
      </p:sp>
      <p:sp>
        <p:nvSpPr>
          <p:cNvPr id="12" name="TextBox 11">
            <a:extLst>
              <a:ext uri="{FF2B5EF4-FFF2-40B4-BE49-F238E27FC236}">
                <a16:creationId xmlns:a16="http://schemas.microsoft.com/office/drawing/2014/main" id="{E598A478-23C0-7FF0-56D4-18E71419C7B9}"/>
              </a:ext>
            </a:extLst>
          </p:cNvPr>
          <p:cNvSpPr txBox="1"/>
          <p:nvPr/>
        </p:nvSpPr>
        <p:spPr>
          <a:xfrm>
            <a:off x="3780148" y="4844713"/>
            <a:ext cx="1216058" cy="584775"/>
          </a:xfrm>
          <a:prstGeom prst="rect">
            <a:avLst/>
          </a:prstGeom>
          <a:noFill/>
        </p:spPr>
        <p:txBody>
          <a:bodyPr wrap="square" rtlCol="0">
            <a:spAutoFit/>
          </a:bodyPr>
          <a:lstStyle/>
          <a:p>
            <a:pPr algn="ctr"/>
            <a:r>
              <a:rPr lang="en-US" sz="1600" dirty="0"/>
              <a:t>low talent women</a:t>
            </a:r>
          </a:p>
        </p:txBody>
      </p:sp>
      <p:sp>
        <p:nvSpPr>
          <p:cNvPr id="13" name="TextBox 12">
            <a:extLst>
              <a:ext uri="{FF2B5EF4-FFF2-40B4-BE49-F238E27FC236}">
                <a16:creationId xmlns:a16="http://schemas.microsoft.com/office/drawing/2014/main" id="{B020985F-E02B-8CFD-C088-2B252D110452}"/>
              </a:ext>
            </a:extLst>
          </p:cNvPr>
          <p:cNvSpPr txBox="1"/>
          <p:nvPr/>
        </p:nvSpPr>
        <p:spPr>
          <a:xfrm>
            <a:off x="8063797" y="4874565"/>
            <a:ext cx="1216058" cy="584775"/>
          </a:xfrm>
          <a:prstGeom prst="rect">
            <a:avLst/>
          </a:prstGeom>
          <a:noFill/>
        </p:spPr>
        <p:txBody>
          <a:bodyPr wrap="square" rtlCol="0">
            <a:spAutoFit/>
          </a:bodyPr>
          <a:lstStyle/>
          <a:p>
            <a:pPr algn="ctr"/>
            <a:r>
              <a:rPr lang="en-US" sz="1600" dirty="0"/>
              <a:t>high talent men</a:t>
            </a:r>
          </a:p>
        </p:txBody>
      </p:sp>
      <p:sp>
        <p:nvSpPr>
          <p:cNvPr id="14" name="TextBox 13">
            <a:extLst>
              <a:ext uri="{FF2B5EF4-FFF2-40B4-BE49-F238E27FC236}">
                <a16:creationId xmlns:a16="http://schemas.microsoft.com/office/drawing/2014/main" id="{A5508634-9EB7-46F1-E901-0A087829266D}"/>
              </a:ext>
            </a:extLst>
          </p:cNvPr>
          <p:cNvSpPr txBox="1"/>
          <p:nvPr/>
        </p:nvSpPr>
        <p:spPr>
          <a:xfrm>
            <a:off x="5208031" y="4850281"/>
            <a:ext cx="1216058" cy="584775"/>
          </a:xfrm>
          <a:prstGeom prst="rect">
            <a:avLst/>
          </a:prstGeom>
          <a:noFill/>
        </p:spPr>
        <p:txBody>
          <a:bodyPr wrap="square" rtlCol="0">
            <a:spAutoFit/>
          </a:bodyPr>
          <a:lstStyle/>
          <a:p>
            <a:pPr algn="ctr"/>
            <a:r>
              <a:rPr lang="en-US" sz="1600" dirty="0"/>
              <a:t>low talent men</a:t>
            </a:r>
          </a:p>
        </p:txBody>
      </p:sp>
      <p:sp>
        <p:nvSpPr>
          <p:cNvPr id="15" name="TextBox 14">
            <a:extLst>
              <a:ext uri="{FF2B5EF4-FFF2-40B4-BE49-F238E27FC236}">
                <a16:creationId xmlns:a16="http://schemas.microsoft.com/office/drawing/2014/main" id="{8F496D55-BB33-13B4-2C20-A407458B70A2}"/>
              </a:ext>
            </a:extLst>
          </p:cNvPr>
          <p:cNvSpPr txBox="1"/>
          <p:nvPr/>
        </p:nvSpPr>
        <p:spPr>
          <a:xfrm>
            <a:off x="6635914" y="4855849"/>
            <a:ext cx="1376870" cy="584775"/>
          </a:xfrm>
          <a:prstGeom prst="rect">
            <a:avLst/>
          </a:prstGeom>
          <a:noFill/>
        </p:spPr>
        <p:txBody>
          <a:bodyPr wrap="square" rtlCol="0">
            <a:spAutoFit/>
          </a:bodyPr>
          <a:lstStyle/>
          <a:p>
            <a:pPr algn="ctr"/>
            <a:r>
              <a:rPr lang="en-US" sz="1600" dirty="0"/>
              <a:t>high talent women</a:t>
            </a:r>
          </a:p>
        </p:txBody>
      </p:sp>
      <p:sp>
        <p:nvSpPr>
          <p:cNvPr id="16" name="Rectangle 15">
            <a:extLst>
              <a:ext uri="{FF2B5EF4-FFF2-40B4-BE49-F238E27FC236}">
                <a16:creationId xmlns:a16="http://schemas.microsoft.com/office/drawing/2014/main" id="{98ABABCE-3D10-14B9-6911-0633D6F2672E}"/>
              </a:ext>
            </a:extLst>
          </p:cNvPr>
          <p:cNvSpPr/>
          <p:nvPr/>
        </p:nvSpPr>
        <p:spPr>
          <a:xfrm>
            <a:off x="2601798" y="4844713"/>
            <a:ext cx="6859384" cy="58477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F2959E7-E6A7-B476-59B1-4AF460FE13DC}"/>
              </a:ext>
            </a:extLst>
          </p:cNvPr>
          <p:cNvSpPr/>
          <p:nvPr/>
        </p:nvSpPr>
        <p:spPr>
          <a:xfrm>
            <a:off x="2601798" y="5853713"/>
            <a:ext cx="6859384" cy="584773"/>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5DD3B7C-146F-FA33-1937-133253345B6B}"/>
              </a:ext>
            </a:extLst>
          </p:cNvPr>
          <p:cNvSpPr txBox="1"/>
          <p:nvPr/>
        </p:nvSpPr>
        <p:spPr>
          <a:xfrm>
            <a:off x="2601798" y="5860809"/>
            <a:ext cx="832609" cy="646331"/>
          </a:xfrm>
          <a:prstGeom prst="rect">
            <a:avLst/>
          </a:prstGeom>
          <a:noFill/>
        </p:spPr>
        <p:txBody>
          <a:bodyPr wrap="square" rtlCol="0">
            <a:spAutoFit/>
          </a:bodyPr>
          <a:lstStyle/>
          <a:p>
            <a:r>
              <a:rPr lang="en-US" dirty="0"/>
              <a:t>other way:</a:t>
            </a:r>
          </a:p>
        </p:txBody>
      </p:sp>
      <p:sp>
        <p:nvSpPr>
          <p:cNvPr id="17" name="TextBox 16">
            <a:extLst>
              <a:ext uri="{FF2B5EF4-FFF2-40B4-BE49-F238E27FC236}">
                <a16:creationId xmlns:a16="http://schemas.microsoft.com/office/drawing/2014/main" id="{B08357FC-DCE2-1870-31A5-147AA799675F}"/>
              </a:ext>
            </a:extLst>
          </p:cNvPr>
          <p:cNvSpPr txBox="1"/>
          <p:nvPr/>
        </p:nvSpPr>
        <p:spPr>
          <a:xfrm>
            <a:off x="3780148" y="5853713"/>
            <a:ext cx="1216058" cy="584775"/>
          </a:xfrm>
          <a:prstGeom prst="rect">
            <a:avLst/>
          </a:prstGeom>
          <a:noFill/>
        </p:spPr>
        <p:txBody>
          <a:bodyPr wrap="square" rtlCol="0">
            <a:spAutoFit/>
          </a:bodyPr>
          <a:lstStyle/>
          <a:p>
            <a:pPr algn="ctr"/>
            <a:r>
              <a:rPr lang="en-US" sz="1600" dirty="0"/>
              <a:t>low talent women</a:t>
            </a:r>
          </a:p>
        </p:txBody>
      </p:sp>
      <p:sp>
        <p:nvSpPr>
          <p:cNvPr id="18" name="TextBox 17">
            <a:extLst>
              <a:ext uri="{FF2B5EF4-FFF2-40B4-BE49-F238E27FC236}">
                <a16:creationId xmlns:a16="http://schemas.microsoft.com/office/drawing/2014/main" id="{8E60497A-8866-5FE9-0F3D-A5290B068948}"/>
              </a:ext>
            </a:extLst>
          </p:cNvPr>
          <p:cNvSpPr txBox="1"/>
          <p:nvPr/>
        </p:nvSpPr>
        <p:spPr>
          <a:xfrm>
            <a:off x="8063797" y="5823857"/>
            <a:ext cx="1216058" cy="584775"/>
          </a:xfrm>
          <a:prstGeom prst="rect">
            <a:avLst/>
          </a:prstGeom>
          <a:noFill/>
        </p:spPr>
        <p:txBody>
          <a:bodyPr wrap="square" rtlCol="0">
            <a:spAutoFit/>
          </a:bodyPr>
          <a:lstStyle/>
          <a:p>
            <a:pPr algn="ctr"/>
            <a:r>
              <a:rPr lang="en-US" sz="1600" dirty="0"/>
              <a:t>high talent men</a:t>
            </a:r>
          </a:p>
        </p:txBody>
      </p:sp>
      <p:sp>
        <p:nvSpPr>
          <p:cNvPr id="19" name="TextBox 18">
            <a:extLst>
              <a:ext uri="{FF2B5EF4-FFF2-40B4-BE49-F238E27FC236}">
                <a16:creationId xmlns:a16="http://schemas.microsoft.com/office/drawing/2014/main" id="{5C9C2460-B505-5EB4-63AD-A98238EF4204}"/>
              </a:ext>
            </a:extLst>
          </p:cNvPr>
          <p:cNvSpPr txBox="1"/>
          <p:nvPr/>
        </p:nvSpPr>
        <p:spPr>
          <a:xfrm>
            <a:off x="5040054" y="5853711"/>
            <a:ext cx="1376870" cy="584775"/>
          </a:xfrm>
          <a:prstGeom prst="rect">
            <a:avLst/>
          </a:prstGeom>
          <a:noFill/>
        </p:spPr>
        <p:txBody>
          <a:bodyPr wrap="square" rtlCol="0">
            <a:spAutoFit/>
          </a:bodyPr>
          <a:lstStyle/>
          <a:p>
            <a:pPr algn="ctr"/>
            <a:r>
              <a:rPr lang="en-US" sz="1600" dirty="0"/>
              <a:t>high talent women</a:t>
            </a:r>
          </a:p>
        </p:txBody>
      </p:sp>
      <p:sp>
        <p:nvSpPr>
          <p:cNvPr id="20" name="TextBox 19">
            <a:extLst>
              <a:ext uri="{FF2B5EF4-FFF2-40B4-BE49-F238E27FC236}">
                <a16:creationId xmlns:a16="http://schemas.microsoft.com/office/drawing/2014/main" id="{680F71BD-7171-34E3-F2C3-0E51B524636B}"/>
              </a:ext>
            </a:extLst>
          </p:cNvPr>
          <p:cNvSpPr txBox="1"/>
          <p:nvPr/>
        </p:nvSpPr>
        <p:spPr>
          <a:xfrm>
            <a:off x="6666412" y="5860809"/>
            <a:ext cx="1216058" cy="584775"/>
          </a:xfrm>
          <a:prstGeom prst="rect">
            <a:avLst/>
          </a:prstGeom>
          <a:noFill/>
        </p:spPr>
        <p:txBody>
          <a:bodyPr wrap="square" rtlCol="0">
            <a:spAutoFit/>
          </a:bodyPr>
          <a:lstStyle/>
          <a:p>
            <a:pPr algn="ctr"/>
            <a:r>
              <a:rPr lang="en-US" sz="1600" dirty="0"/>
              <a:t>low talent men</a:t>
            </a:r>
          </a:p>
        </p:txBody>
      </p:sp>
      <p:cxnSp>
        <p:nvCxnSpPr>
          <p:cNvPr id="22" name="Straight Connector 21">
            <a:extLst>
              <a:ext uri="{FF2B5EF4-FFF2-40B4-BE49-F238E27FC236}">
                <a16:creationId xmlns:a16="http://schemas.microsoft.com/office/drawing/2014/main" id="{3A469090-3BC8-39E3-0D4D-6149E83B440A}"/>
              </a:ext>
            </a:extLst>
          </p:cNvPr>
          <p:cNvCxnSpPr/>
          <p:nvPr/>
        </p:nvCxnSpPr>
        <p:spPr>
          <a:xfrm>
            <a:off x="6567196" y="4350470"/>
            <a:ext cx="0" cy="2507530"/>
          </a:xfrm>
          <a:prstGeom prst="line">
            <a:avLst/>
          </a:prstGeom>
          <a:ln w="57150"/>
        </p:spPr>
        <p:style>
          <a:lnRef idx="2">
            <a:schemeClr val="accent5"/>
          </a:lnRef>
          <a:fillRef idx="0">
            <a:schemeClr val="accent5"/>
          </a:fillRef>
          <a:effectRef idx="1">
            <a:schemeClr val="accent5"/>
          </a:effectRef>
          <a:fontRef idx="minor">
            <a:schemeClr val="tx1"/>
          </a:fontRef>
        </p:style>
      </p:cxnSp>
      <p:sp>
        <p:nvSpPr>
          <p:cNvPr id="23" name="TextBox 22">
            <a:extLst>
              <a:ext uri="{FF2B5EF4-FFF2-40B4-BE49-F238E27FC236}">
                <a16:creationId xmlns:a16="http://schemas.microsoft.com/office/drawing/2014/main" id="{995947BF-2639-AEB6-E43E-6A15122ABC3F}"/>
              </a:ext>
            </a:extLst>
          </p:cNvPr>
          <p:cNvSpPr txBox="1"/>
          <p:nvPr/>
        </p:nvSpPr>
        <p:spPr>
          <a:xfrm rot="20514828">
            <a:off x="6504496" y="3865567"/>
            <a:ext cx="1734532"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example cutoff</a:t>
            </a:r>
          </a:p>
        </p:txBody>
      </p:sp>
      <p:cxnSp>
        <p:nvCxnSpPr>
          <p:cNvPr id="25" name="Straight Arrow Connector 24">
            <a:extLst>
              <a:ext uri="{FF2B5EF4-FFF2-40B4-BE49-F238E27FC236}">
                <a16:creationId xmlns:a16="http://schemas.microsoft.com/office/drawing/2014/main" id="{51834BCE-A8A8-1AD4-9634-4CBF200D4894}"/>
              </a:ext>
            </a:extLst>
          </p:cNvPr>
          <p:cNvCxnSpPr/>
          <p:nvPr/>
        </p:nvCxnSpPr>
        <p:spPr>
          <a:xfrm>
            <a:off x="6759019" y="4572000"/>
            <a:ext cx="1677971" cy="0"/>
          </a:xfrm>
          <a:prstGeom prst="straightConnector1">
            <a:avLst/>
          </a:prstGeom>
          <a:ln w="57150">
            <a:tailEnd type="triangle"/>
          </a:ln>
        </p:spPr>
        <p:style>
          <a:lnRef idx="2">
            <a:schemeClr val="accent5"/>
          </a:lnRef>
          <a:fillRef idx="0">
            <a:schemeClr val="accent5"/>
          </a:fillRef>
          <a:effectRef idx="1">
            <a:schemeClr val="accent5"/>
          </a:effectRef>
          <a:fontRef idx="minor">
            <a:schemeClr val="tx1"/>
          </a:fontRef>
        </p:style>
      </p:cxnSp>
      <p:sp>
        <p:nvSpPr>
          <p:cNvPr id="26" name="TextBox 25">
            <a:extLst>
              <a:ext uri="{FF2B5EF4-FFF2-40B4-BE49-F238E27FC236}">
                <a16:creationId xmlns:a16="http://schemas.microsoft.com/office/drawing/2014/main" id="{94435696-8656-02ED-9A53-557C33D38666}"/>
              </a:ext>
            </a:extLst>
          </p:cNvPr>
          <p:cNvSpPr txBox="1"/>
          <p:nvPr/>
        </p:nvSpPr>
        <p:spPr>
          <a:xfrm rot="20514828">
            <a:off x="8529914" y="4142534"/>
            <a:ext cx="201075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these types run</a:t>
            </a:r>
          </a:p>
        </p:txBody>
      </p:sp>
      <p:sp>
        <p:nvSpPr>
          <p:cNvPr id="27" name="TextBox 26">
            <a:extLst>
              <a:ext uri="{FF2B5EF4-FFF2-40B4-BE49-F238E27FC236}">
                <a16:creationId xmlns:a16="http://schemas.microsoft.com/office/drawing/2014/main" id="{0547BE88-294F-B237-CB59-CA5C39CDE38E}"/>
              </a:ext>
            </a:extLst>
          </p:cNvPr>
          <p:cNvSpPr txBox="1"/>
          <p:nvPr/>
        </p:nvSpPr>
        <p:spPr>
          <a:xfrm rot="20514828">
            <a:off x="3440328" y="4199542"/>
            <a:ext cx="23336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these types don’t run</a:t>
            </a:r>
          </a:p>
        </p:txBody>
      </p:sp>
      <p:cxnSp>
        <p:nvCxnSpPr>
          <p:cNvPr id="28" name="Straight Arrow Connector 27">
            <a:extLst>
              <a:ext uri="{FF2B5EF4-FFF2-40B4-BE49-F238E27FC236}">
                <a16:creationId xmlns:a16="http://schemas.microsoft.com/office/drawing/2014/main" id="{7A1ED0DA-FFF4-D093-1A1F-D577CAFB1CFF}"/>
              </a:ext>
            </a:extLst>
          </p:cNvPr>
          <p:cNvCxnSpPr>
            <a:cxnSpLocks/>
          </p:cNvCxnSpPr>
          <p:nvPr/>
        </p:nvCxnSpPr>
        <p:spPr>
          <a:xfrm flipH="1">
            <a:off x="5040054" y="4573571"/>
            <a:ext cx="1444708" cy="0"/>
          </a:xfrm>
          <a:prstGeom prst="straightConnector1">
            <a:avLst/>
          </a:prstGeom>
          <a:ln w="57150">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157488671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C19C22-18D7-F15B-B6B7-5E3DB859A32D}"/>
              </a:ext>
            </a:extLst>
          </p:cNvPr>
          <p:cNvSpPr txBox="1"/>
          <p:nvPr/>
        </p:nvSpPr>
        <p:spPr>
          <a:xfrm>
            <a:off x="636817" y="344520"/>
            <a:ext cx="515438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t>With all that in mind, consider two possibilities</a:t>
            </a:r>
          </a:p>
        </p:txBody>
      </p:sp>
      <p:sp>
        <p:nvSpPr>
          <p:cNvPr id="3" name="TextBox 2">
            <a:extLst>
              <a:ext uri="{FF2B5EF4-FFF2-40B4-BE49-F238E27FC236}">
                <a16:creationId xmlns:a16="http://schemas.microsoft.com/office/drawing/2014/main" id="{24C29930-F080-6DD9-E30A-1F76FEAF9F52}"/>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sp>
        <p:nvSpPr>
          <p:cNvPr id="4" name="TextBox 3">
            <a:extLst>
              <a:ext uri="{FF2B5EF4-FFF2-40B4-BE49-F238E27FC236}">
                <a16:creationId xmlns:a16="http://schemas.microsoft.com/office/drawing/2014/main" id="{9CA029E0-5A5B-A2E1-58CA-0BD3614961DD}"/>
              </a:ext>
            </a:extLst>
          </p:cNvPr>
          <p:cNvSpPr txBox="1"/>
          <p:nvPr/>
        </p:nvSpPr>
        <p:spPr>
          <a:xfrm rot="20107433">
            <a:off x="986119" y="4096871"/>
            <a:ext cx="1479176" cy="369332"/>
          </a:xfrm>
          <a:prstGeom prst="rect">
            <a:avLst/>
          </a:prstGeom>
          <a:noFill/>
          <a:ln>
            <a:solidFill>
              <a:schemeClr val="tx1"/>
            </a:solidFill>
          </a:ln>
        </p:spPr>
        <p:txBody>
          <a:bodyPr wrap="square" rtlCol="0">
            <a:spAutoFit/>
          </a:bodyPr>
          <a:lstStyle/>
          <a:p>
            <a:r>
              <a:rPr lang="en-US" dirty="0"/>
              <a:t>possibility B</a:t>
            </a:r>
          </a:p>
        </p:txBody>
      </p:sp>
    </p:spTree>
    <p:extLst>
      <p:ext uri="{BB962C8B-B14F-4D97-AF65-F5344CB8AC3E}">
        <p14:creationId xmlns:p14="http://schemas.microsoft.com/office/powerpoint/2010/main" val="355231180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BEEB3-8F1C-B2EF-EE9E-E0E08D1B097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991BD0C-BCBB-BCEC-132E-B762B0F38CE3}"/>
              </a:ext>
            </a:extLst>
          </p:cNvPr>
          <p:cNvSpPr txBox="1"/>
          <p:nvPr/>
        </p:nvSpPr>
        <p:spPr>
          <a:xfrm>
            <a:off x="636817" y="344520"/>
            <a:ext cx="515438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t>With all that in mind, consider two possibilities</a:t>
            </a:r>
          </a:p>
        </p:txBody>
      </p:sp>
      <p:sp>
        <p:nvSpPr>
          <p:cNvPr id="3" name="TextBox 2">
            <a:extLst>
              <a:ext uri="{FF2B5EF4-FFF2-40B4-BE49-F238E27FC236}">
                <a16:creationId xmlns:a16="http://schemas.microsoft.com/office/drawing/2014/main" id="{AD262C0B-E79F-45D8-2730-336FB7864214}"/>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sp>
        <p:nvSpPr>
          <p:cNvPr id="4" name="TextBox 3">
            <a:extLst>
              <a:ext uri="{FF2B5EF4-FFF2-40B4-BE49-F238E27FC236}">
                <a16:creationId xmlns:a16="http://schemas.microsoft.com/office/drawing/2014/main" id="{42A884D9-617E-6B46-EFFD-BD761BCB5742}"/>
              </a:ext>
            </a:extLst>
          </p:cNvPr>
          <p:cNvSpPr txBox="1"/>
          <p:nvPr/>
        </p:nvSpPr>
        <p:spPr>
          <a:xfrm rot="20107433">
            <a:off x="986119" y="4096871"/>
            <a:ext cx="1479176" cy="369332"/>
          </a:xfrm>
          <a:prstGeom prst="rect">
            <a:avLst/>
          </a:prstGeom>
          <a:noFill/>
          <a:ln>
            <a:solidFill>
              <a:schemeClr val="tx1"/>
            </a:solidFill>
          </a:ln>
        </p:spPr>
        <p:txBody>
          <a:bodyPr wrap="square" rtlCol="0">
            <a:spAutoFit/>
          </a:bodyPr>
          <a:lstStyle/>
          <a:p>
            <a:r>
              <a:rPr lang="en-US" dirty="0"/>
              <a:t>possibility B</a:t>
            </a:r>
          </a:p>
        </p:txBody>
      </p:sp>
      <p:cxnSp>
        <p:nvCxnSpPr>
          <p:cNvPr id="5" name="Straight Arrow Connector 4">
            <a:extLst>
              <a:ext uri="{FF2B5EF4-FFF2-40B4-BE49-F238E27FC236}">
                <a16:creationId xmlns:a16="http://schemas.microsoft.com/office/drawing/2014/main" id="{0863806A-C3BF-53EC-5AFA-B8317C8555A8}"/>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7F59AF03-68B2-1CEF-95BE-C46E55F70092}"/>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C65560D4-57DD-3678-BF40-34329C5860A7}"/>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F18F981D-F7FD-AEA0-64AD-7FF3FC77753F}"/>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B74A01A1-F3B9-144C-88D0-B87757E0D579}"/>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B375CDEC-9369-9C2E-8A1F-3DEA01138C10}"/>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A44D5B2B-D20E-3627-C8C0-F002BC5C6305}"/>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486583ED-663B-FEDC-6649-283B63639720}"/>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spTree>
    <p:extLst>
      <p:ext uri="{BB962C8B-B14F-4D97-AF65-F5344CB8AC3E}">
        <p14:creationId xmlns:p14="http://schemas.microsoft.com/office/powerpoint/2010/main" val="15232561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47648-086D-1644-EC49-1EF00A564F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1A4D138-5C8E-A159-955F-75BC60527E3F}"/>
              </a:ext>
            </a:extLst>
          </p:cNvPr>
          <p:cNvSpPr txBox="1"/>
          <p:nvPr/>
        </p:nvSpPr>
        <p:spPr>
          <a:xfrm>
            <a:off x="636817" y="344520"/>
            <a:ext cx="515438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t>With all that in mind, consider two possibilities</a:t>
            </a:r>
          </a:p>
        </p:txBody>
      </p:sp>
      <p:sp>
        <p:nvSpPr>
          <p:cNvPr id="3" name="TextBox 2">
            <a:extLst>
              <a:ext uri="{FF2B5EF4-FFF2-40B4-BE49-F238E27FC236}">
                <a16:creationId xmlns:a16="http://schemas.microsoft.com/office/drawing/2014/main" id="{A192DC8D-1965-84DE-F738-59AC845EB089}"/>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sp>
        <p:nvSpPr>
          <p:cNvPr id="4" name="TextBox 3">
            <a:extLst>
              <a:ext uri="{FF2B5EF4-FFF2-40B4-BE49-F238E27FC236}">
                <a16:creationId xmlns:a16="http://schemas.microsoft.com/office/drawing/2014/main" id="{BF9D0A1D-B4BC-39B9-D62E-B47CAC7D9E99}"/>
              </a:ext>
            </a:extLst>
          </p:cNvPr>
          <p:cNvSpPr txBox="1"/>
          <p:nvPr/>
        </p:nvSpPr>
        <p:spPr>
          <a:xfrm rot="20107433">
            <a:off x="986119" y="4096871"/>
            <a:ext cx="1479176" cy="369332"/>
          </a:xfrm>
          <a:prstGeom prst="rect">
            <a:avLst/>
          </a:prstGeom>
          <a:noFill/>
          <a:ln>
            <a:solidFill>
              <a:schemeClr val="tx1"/>
            </a:solidFill>
          </a:ln>
        </p:spPr>
        <p:txBody>
          <a:bodyPr wrap="square" rtlCol="0">
            <a:spAutoFit/>
          </a:bodyPr>
          <a:lstStyle/>
          <a:p>
            <a:r>
              <a:rPr lang="en-US" dirty="0"/>
              <a:t>possibility B</a:t>
            </a:r>
          </a:p>
        </p:txBody>
      </p:sp>
      <p:cxnSp>
        <p:nvCxnSpPr>
          <p:cNvPr id="5" name="Straight Arrow Connector 4">
            <a:extLst>
              <a:ext uri="{FF2B5EF4-FFF2-40B4-BE49-F238E27FC236}">
                <a16:creationId xmlns:a16="http://schemas.microsoft.com/office/drawing/2014/main" id="{7E2B7248-D8B0-3523-162C-948DF191C5E1}"/>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FBC7402-9796-8108-2994-EED4DA0E83DD}"/>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B1D00894-3911-C4EB-EA7C-333CA2ECBE97}"/>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D723A0C4-6E22-ACA1-9C59-78F3D1A280F1}"/>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D5A86B72-24CF-FB89-7AC1-D3B28F1178B4}"/>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2ED9C865-14BE-C715-DD87-ED29D9C2C3A7}"/>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91D1B233-8E96-31FE-91BD-A038919C48C9}"/>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E3517EA5-7FFC-D407-6EA7-893B85A399D6}"/>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B623C348-4FA8-3241-D28D-63B362C36475}"/>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A2033702-8143-8542-9940-0C91B39BD115}"/>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27DC3E6C-46D2-7DA8-449D-6373C97BB5F5}"/>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8" name="TextBox 17">
            <a:extLst>
              <a:ext uri="{FF2B5EF4-FFF2-40B4-BE49-F238E27FC236}">
                <a16:creationId xmlns:a16="http://schemas.microsoft.com/office/drawing/2014/main" id="{02DBC8AC-F617-85B9-4781-9077532CBE33}"/>
              </a:ext>
            </a:extLst>
          </p:cNvPr>
          <p:cNvSpPr txBox="1"/>
          <p:nvPr/>
        </p:nvSpPr>
        <p:spPr>
          <a:xfrm>
            <a:off x="577444" y="3182326"/>
            <a:ext cx="5043428" cy="313932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Imagine 1,000 people consider running every year.</a:t>
            </a:r>
          </a:p>
          <a:p>
            <a:endParaRPr lang="en-US" dirty="0"/>
          </a:p>
          <a:p>
            <a:r>
              <a:rPr lang="en-US" dirty="0"/>
              <a:t>Of those persons...</a:t>
            </a:r>
          </a:p>
          <a:p>
            <a:pPr marL="285750" indent="-285750">
              <a:buFont typeface="Arial" panose="020B0604020202020204" pitchFamily="34" charset="0"/>
              <a:buChar char="•"/>
            </a:pPr>
            <a:r>
              <a:rPr lang="en-US" dirty="0"/>
              <a:t>250 are low-talent women</a:t>
            </a:r>
          </a:p>
          <a:p>
            <a:pPr marL="285750" indent="-285750">
              <a:buFont typeface="Arial" panose="020B0604020202020204" pitchFamily="34" charset="0"/>
              <a:buChar char="•"/>
            </a:pPr>
            <a:r>
              <a:rPr lang="en-US" dirty="0"/>
              <a:t>250 are low-talent men</a:t>
            </a:r>
          </a:p>
          <a:p>
            <a:pPr marL="285750" indent="-285750">
              <a:buFont typeface="Arial" panose="020B0604020202020204" pitchFamily="34" charset="0"/>
              <a:buChar char="•"/>
            </a:pPr>
            <a:r>
              <a:rPr lang="en-US" dirty="0"/>
              <a:t>250 are high-talent women</a:t>
            </a:r>
          </a:p>
          <a:p>
            <a:pPr marL="285750" indent="-285750">
              <a:buFont typeface="Arial" panose="020B0604020202020204" pitchFamily="34" charset="0"/>
              <a:buChar char="•"/>
            </a:pPr>
            <a:r>
              <a:rPr lang="en-US" dirty="0"/>
              <a:t>250 are high-talent men</a:t>
            </a:r>
          </a:p>
          <a:p>
            <a:pPr marL="285750" indent="-285750">
              <a:buFont typeface="Arial" panose="020B0604020202020204" pitchFamily="34" charset="0"/>
              <a:buChar char="•"/>
            </a:pPr>
            <a:endParaRPr lang="en-US" dirty="0"/>
          </a:p>
          <a:p>
            <a:r>
              <a:rPr lang="en-US" dirty="0"/>
              <a:t>Given the above cutoff, everyone but the low-talent women will run.</a:t>
            </a:r>
          </a:p>
        </p:txBody>
      </p:sp>
    </p:spTree>
    <p:extLst>
      <p:ext uri="{BB962C8B-B14F-4D97-AF65-F5344CB8AC3E}">
        <p14:creationId xmlns:p14="http://schemas.microsoft.com/office/powerpoint/2010/main" val="294153522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2841C-BCD3-262D-2B3E-E26006E4F9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AD7F634-EBAA-EABE-CED4-DF716C885AEB}"/>
              </a:ext>
            </a:extLst>
          </p:cNvPr>
          <p:cNvSpPr txBox="1"/>
          <p:nvPr/>
        </p:nvSpPr>
        <p:spPr>
          <a:xfrm>
            <a:off x="636817" y="344520"/>
            <a:ext cx="515438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t>With all that in mind, consider two possibilities</a:t>
            </a:r>
          </a:p>
        </p:txBody>
      </p:sp>
      <p:sp>
        <p:nvSpPr>
          <p:cNvPr id="3" name="TextBox 2">
            <a:extLst>
              <a:ext uri="{FF2B5EF4-FFF2-40B4-BE49-F238E27FC236}">
                <a16:creationId xmlns:a16="http://schemas.microsoft.com/office/drawing/2014/main" id="{7271BEB7-FFF3-F0F8-579A-F8422A9FC99E}"/>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sp>
        <p:nvSpPr>
          <p:cNvPr id="4" name="TextBox 3">
            <a:extLst>
              <a:ext uri="{FF2B5EF4-FFF2-40B4-BE49-F238E27FC236}">
                <a16:creationId xmlns:a16="http://schemas.microsoft.com/office/drawing/2014/main" id="{1D87687D-FC85-19B8-2EB7-EFA5DE0D96A2}"/>
              </a:ext>
            </a:extLst>
          </p:cNvPr>
          <p:cNvSpPr txBox="1"/>
          <p:nvPr/>
        </p:nvSpPr>
        <p:spPr>
          <a:xfrm rot="20107433">
            <a:off x="986119" y="4096871"/>
            <a:ext cx="1479176" cy="369332"/>
          </a:xfrm>
          <a:prstGeom prst="rect">
            <a:avLst/>
          </a:prstGeom>
          <a:noFill/>
          <a:ln>
            <a:solidFill>
              <a:schemeClr val="tx1"/>
            </a:solidFill>
          </a:ln>
        </p:spPr>
        <p:txBody>
          <a:bodyPr wrap="square" rtlCol="0">
            <a:spAutoFit/>
          </a:bodyPr>
          <a:lstStyle/>
          <a:p>
            <a:r>
              <a:rPr lang="en-US" dirty="0"/>
              <a:t>possibility B</a:t>
            </a:r>
          </a:p>
        </p:txBody>
      </p:sp>
      <p:cxnSp>
        <p:nvCxnSpPr>
          <p:cNvPr id="5" name="Straight Arrow Connector 4">
            <a:extLst>
              <a:ext uri="{FF2B5EF4-FFF2-40B4-BE49-F238E27FC236}">
                <a16:creationId xmlns:a16="http://schemas.microsoft.com/office/drawing/2014/main" id="{1A48BB69-088C-C8E3-7F46-97A105FAB500}"/>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E20A773B-003C-FC2B-FCD9-E0B403367174}"/>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B84210EE-643B-2D0E-7F30-6E37D3BD5D70}"/>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E3350206-24FE-4D21-9DCD-210F0D290D42}"/>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F877FE8F-AB6F-7263-F9FA-A5DF0DA7F19B}"/>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2EA78CAC-F8D1-B3B3-EAE2-EF6631B6BABA}"/>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56BA2C82-7F6A-FF92-9B9A-7574D2036222}"/>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A606384D-A4A3-8646-5224-0C675DD5183A}"/>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BFF9F6FB-DCBD-3203-F15A-1F25B595E12E}"/>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7695B1B6-7DF9-D67A-88B2-2C11C43C4CDE}"/>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F72C2030-13CC-8574-82A1-04CF5FFA5C8C}"/>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8" name="TextBox 17">
            <a:extLst>
              <a:ext uri="{FF2B5EF4-FFF2-40B4-BE49-F238E27FC236}">
                <a16:creationId xmlns:a16="http://schemas.microsoft.com/office/drawing/2014/main" id="{4764A7BE-35BE-A4DF-142B-9CADEF2044C8}"/>
              </a:ext>
            </a:extLst>
          </p:cNvPr>
          <p:cNvSpPr txBox="1"/>
          <p:nvPr/>
        </p:nvSpPr>
        <p:spPr>
          <a:xfrm>
            <a:off x="577444" y="3182326"/>
            <a:ext cx="5043428" cy="313932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Imagine 1,000 people consider running every year.</a:t>
            </a:r>
          </a:p>
          <a:p>
            <a:endParaRPr lang="en-US" dirty="0"/>
          </a:p>
          <a:p>
            <a:r>
              <a:rPr lang="en-US" dirty="0"/>
              <a:t>Of those persons...</a:t>
            </a:r>
          </a:p>
          <a:p>
            <a:pPr marL="285750" indent="-285750">
              <a:buFont typeface="Arial" panose="020B0604020202020204" pitchFamily="34" charset="0"/>
              <a:buChar char="•"/>
            </a:pPr>
            <a:r>
              <a:rPr lang="en-US" dirty="0"/>
              <a:t>250 are low-talent women</a:t>
            </a:r>
          </a:p>
          <a:p>
            <a:pPr marL="285750" indent="-285750">
              <a:buFont typeface="Arial" panose="020B0604020202020204" pitchFamily="34" charset="0"/>
              <a:buChar char="•"/>
            </a:pPr>
            <a:r>
              <a:rPr lang="en-US" dirty="0"/>
              <a:t>250 are low-talent men</a:t>
            </a:r>
          </a:p>
          <a:p>
            <a:pPr marL="285750" indent="-285750">
              <a:buFont typeface="Arial" panose="020B0604020202020204" pitchFamily="34" charset="0"/>
              <a:buChar char="•"/>
            </a:pPr>
            <a:r>
              <a:rPr lang="en-US" dirty="0"/>
              <a:t>250 are high-talent women</a:t>
            </a:r>
          </a:p>
          <a:p>
            <a:pPr marL="285750" indent="-285750">
              <a:buFont typeface="Arial" panose="020B0604020202020204" pitchFamily="34" charset="0"/>
              <a:buChar char="•"/>
            </a:pPr>
            <a:r>
              <a:rPr lang="en-US" dirty="0"/>
              <a:t>250 are high-talent men</a:t>
            </a:r>
          </a:p>
          <a:p>
            <a:pPr marL="285750" indent="-285750">
              <a:buFont typeface="Arial" panose="020B0604020202020204" pitchFamily="34" charset="0"/>
              <a:buChar char="•"/>
            </a:pPr>
            <a:endParaRPr lang="en-US" dirty="0"/>
          </a:p>
          <a:p>
            <a:r>
              <a:rPr lang="en-US" dirty="0"/>
              <a:t>Given the above cutoff, everyone but the low-talent women will run.</a:t>
            </a:r>
          </a:p>
        </p:txBody>
      </p:sp>
      <p:sp>
        <p:nvSpPr>
          <p:cNvPr id="13" name="TextBox 12">
            <a:extLst>
              <a:ext uri="{FF2B5EF4-FFF2-40B4-BE49-F238E27FC236}">
                <a16:creationId xmlns:a16="http://schemas.microsoft.com/office/drawing/2014/main" id="{5A74F16D-288A-EB58-BE44-06A610F3E725}"/>
              </a:ext>
            </a:extLst>
          </p:cNvPr>
          <p:cNvSpPr txBox="1"/>
          <p:nvPr/>
        </p:nvSpPr>
        <p:spPr>
          <a:xfrm>
            <a:off x="5133816" y="2828016"/>
            <a:ext cx="7064189" cy="379187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nSpc>
                <a:spcPct val="150000"/>
              </a:lnSpc>
            </a:pPr>
            <a:r>
              <a:rPr lang="en-US" dirty="0"/>
              <a:t>So...</a:t>
            </a:r>
          </a:p>
          <a:p>
            <a:pPr marL="285750" indent="-285750">
              <a:lnSpc>
                <a:spcPct val="150000"/>
              </a:lnSpc>
              <a:buFont typeface="Arial" panose="020B0604020202020204" pitchFamily="34" charset="0"/>
              <a:buChar char="•"/>
            </a:pPr>
            <a:r>
              <a:rPr lang="en-US" dirty="0">
                <a:solidFill>
                  <a:schemeClr val="accent3"/>
                </a:solidFill>
              </a:rPr>
              <a:t>Women are under-represented among candidates (250 candidates are women, 500 are men)</a:t>
            </a:r>
          </a:p>
          <a:p>
            <a:pPr marL="285750" indent="-285750">
              <a:lnSpc>
                <a:spcPct val="150000"/>
              </a:lnSpc>
              <a:buFont typeface="Arial" panose="020B0604020202020204" pitchFamily="34" charset="0"/>
              <a:buChar char="•"/>
            </a:pPr>
            <a:r>
              <a:rPr lang="en-US" dirty="0">
                <a:solidFill>
                  <a:schemeClr val="accent3"/>
                </a:solidFill>
              </a:rPr>
              <a:t>Women candidates are disproportionately high talent. (100% of women candidates are high talent, 50% of men candidates are high talent)</a:t>
            </a:r>
          </a:p>
          <a:p>
            <a:pPr marL="285750" indent="-285750">
              <a:lnSpc>
                <a:spcPct val="150000"/>
              </a:lnSpc>
              <a:buFont typeface="Arial" panose="020B0604020202020204" pitchFamily="34" charset="0"/>
              <a:buChar char="•"/>
            </a:pPr>
            <a:r>
              <a:rPr lang="en-US" dirty="0">
                <a:solidFill>
                  <a:schemeClr val="accent3"/>
                </a:solidFill>
              </a:rPr>
              <a:t>100% of women who win are high talent.  Some portion of men who win are low talent.  Thus average talent among women who win office is higher than average talent among men who win office.</a:t>
            </a:r>
          </a:p>
        </p:txBody>
      </p:sp>
    </p:spTree>
    <p:extLst>
      <p:ext uri="{BB962C8B-B14F-4D97-AF65-F5344CB8AC3E}">
        <p14:creationId xmlns:p14="http://schemas.microsoft.com/office/powerpoint/2010/main" val="17742942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4A0E1-A1F1-2669-1C2D-AEEAF7BC28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948B85-6129-5FED-6A68-34C2167A41C0}"/>
              </a:ext>
            </a:extLst>
          </p:cNvPr>
          <p:cNvSpPr txBox="1"/>
          <p:nvPr/>
        </p:nvSpPr>
        <p:spPr>
          <a:xfrm>
            <a:off x="636817" y="344520"/>
            <a:ext cx="515438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t>With all that in mind, consider two possibilities</a:t>
            </a:r>
          </a:p>
        </p:txBody>
      </p:sp>
      <p:sp>
        <p:nvSpPr>
          <p:cNvPr id="3" name="TextBox 2">
            <a:extLst>
              <a:ext uri="{FF2B5EF4-FFF2-40B4-BE49-F238E27FC236}">
                <a16:creationId xmlns:a16="http://schemas.microsoft.com/office/drawing/2014/main" id="{8A040A65-07FE-848A-47A9-DA100A29F309}"/>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sp>
        <p:nvSpPr>
          <p:cNvPr id="4" name="TextBox 3">
            <a:extLst>
              <a:ext uri="{FF2B5EF4-FFF2-40B4-BE49-F238E27FC236}">
                <a16:creationId xmlns:a16="http://schemas.microsoft.com/office/drawing/2014/main" id="{22F56F70-4EE2-8F5E-6EF1-618536103C1F}"/>
              </a:ext>
            </a:extLst>
          </p:cNvPr>
          <p:cNvSpPr txBox="1"/>
          <p:nvPr/>
        </p:nvSpPr>
        <p:spPr>
          <a:xfrm rot="20107433">
            <a:off x="986119" y="4096871"/>
            <a:ext cx="1479176" cy="369332"/>
          </a:xfrm>
          <a:prstGeom prst="rect">
            <a:avLst/>
          </a:prstGeom>
          <a:noFill/>
          <a:ln>
            <a:solidFill>
              <a:schemeClr val="tx1"/>
            </a:solidFill>
          </a:ln>
        </p:spPr>
        <p:txBody>
          <a:bodyPr wrap="square" rtlCol="0">
            <a:spAutoFit/>
          </a:bodyPr>
          <a:lstStyle/>
          <a:p>
            <a:r>
              <a:rPr lang="en-US" dirty="0"/>
              <a:t>possibility B</a:t>
            </a:r>
          </a:p>
        </p:txBody>
      </p:sp>
      <p:cxnSp>
        <p:nvCxnSpPr>
          <p:cNvPr id="5" name="Straight Arrow Connector 4">
            <a:extLst>
              <a:ext uri="{FF2B5EF4-FFF2-40B4-BE49-F238E27FC236}">
                <a16:creationId xmlns:a16="http://schemas.microsoft.com/office/drawing/2014/main" id="{DD0BA4E0-90B2-3E03-C09E-D4A5660A3239}"/>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126D7623-AF84-C0A6-ED4A-2F011576D58F}"/>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8A4931BB-8484-6AD4-DB63-AF7DFD66CED9}"/>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88408E19-1B6D-B8AC-A846-165DF745DD4A}"/>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F08D85DF-ED9E-97E1-65B4-595A26693616}"/>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1FD3954B-ACD5-4559-8473-DD4CB28E215D}"/>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07CF9B20-D47D-540B-7B13-85F255746277}"/>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57CE1E75-873A-69E4-36DE-ED0D9A95CF3B}"/>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828B9730-CBCA-7DF8-35BB-3EEB8B73F2FE}"/>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60D959AD-DF71-4B78-435C-83DC249523C3}"/>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AF94915C-D508-9BBF-938E-0CA2144A032C}"/>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8" name="TextBox 17">
            <a:extLst>
              <a:ext uri="{FF2B5EF4-FFF2-40B4-BE49-F238E27FC236}">
                <a16:creationId xmlns:a16="http://schemas.microsoft.com/office/drawing/2014/main" id="{60F08597-4732-A0D5-9746-12E2BB02D5A3}"/>
              </a:ext>
            </a:extLst>
          </p:cNvPr>
          <p:cNvSpPr txBox="1"/>
          <p:nvPr/>
        </p:nvSpPr>
        <p:spPr>
          <a:xfrm>
            <a:off x="577444" y="3182326"/>
            <a:ext cx="5043428" cy="313932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Imagine 1,000 people consider running every year.</a:t>
            </a:r>
          </a:p>
          <a:p>
            <a:endParaRPr lang="en-US" dirty="0"/>
          </a:p>
          <a:p>
            <a:r>
              <a:rPr lang="en-US" dirty="0"/>
              <a:t>Of those persons...</a:t>
            </a:r>
          </a:p>
          <a:p>
            <a:pPr marL="285750" indent="-285750">
              <a:buFont typeface="Arial" panose="020B0604020202020204" pitchFamily="34" charset="0"/>
              <a:buChar char="•"/>
            </a:pPr>
            <a:r>
              <a:rPr lang="en-US" dirty="0"/>
              <a:t>250 are low-talent women</a:t>
            </a:r>
          </a:p>
          <a:p>
            <a:pPr marL="285750" indent="-285750">
              <a:buFont typeface="Arial" panose="020B0604020202020204" pitchFamily="34" charset="0"/>
              <a:buChar char="•"/>
            </a:pPr>
            <a:r>
              <a:rPr lang="en-US" dirty="0"/>
              <a:t>250 are low-talent men</a:t>
            </a:r>
          </a:p>
          <a:p>
            <a:pPr marL="285750" indent="-285750">
              <a:buFont typeface="Arial" panose="020B0604020202020204" pitchFamily="34" charset="0"/>
              <a:buChar char="•"/>
            </a:pPr>
            <a:r>
              <a:rPr lang="en-US" dirty="0"/>
              <a:t>250 are high-talent women</a:t>
            </a:r>
          </a:p>
          <a:p>
            <a:pPr marL="285750" indent="-285750">
              <a:buFont typeface="Arial" panose="020B0604020202020204" pitchFamily="34" charset="0"/>
              <a:buChar char="•"/>
            </a:pPr>
            <a:r>
              <a:rPr lang="en-US" dirty="0"/>
              <a:t>250 are high-talent men</a:t>
            </a:r>
          </a:p>
          <a:p>
            <a:pPr marL="285750" indent="-285750">
              <a:buFont typeface="Arial" panose="020B0604020202020204" pitchFamily="34" charset="0"/>
              <a:buChar char="•"/>
            </a:pPr>
            <a:endParaRPr lang="en-US" dirty="0"/>
          </a:p>
          <a:p>
            <a:r>
              <a:rPr lang="en-US" dirty="0"/>
              <a:t>Given the above cutoff, everyone but the low-talent women will run.</a:t>
            </a:r>
          </a:p>
        </p:txBody>
      </p:sp>
      <p:sp>
        <p:nvSpPr>
          <p:cNvPr id="13" name="TextBox 12">
            <a:extLst>
              <a:ext uri="{FF2B5EF4-FFF2-40B4-BE49-F238E27FC236}">
                <a16:creationId xmlns:a16="http://schemas.microsoft.com/office/drawing/2014/main" id="{837523DE-6C41-7F46-DEDB-27DB60C16B3B}"/>
              </a:ext>
            </a:extLst>
          </p:cNvPr>
          <p:cNvSpPr txBox="1"/>
          <p:nvPr/>
        </p:nvSpPr>
        <p:spPr>
          <a:xfrm>
            <a:off x="5133816" y="2828016"/>
            <a:ext cx="7064189" cy="379187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nSpc>
                <a:spcPct val="150000"/>
              </a:lnSpc>
            </a:pPr>
            <a:r>
              <a:rPr lang="en-US" dirty="0"/>
              <a:t>So...</a:t>
            </a:r>
          </a:p>
          <a:p>
            <a:pPr marL="285750" indent="-285750">
              <a:lnSpc>
                <a:spcPct val="150000"/>
              </a:lnSpc>
              <a:buFont typeface="Arial" panose="020B0604020202020204" pitchFamily="34" charset="0"/>
              <a:buChar char="•"/>
            </a:pPr>
            <a:r>
              <a:rPr lang="en-US" dirty="0"/>
              <a:t>Women are under-represented among candidates (250 candidates are women, 500 are men)</a:t>
            </a:r>
          </a:p>
          <a:p>
            <a:pPr marL="285750" indent="-285750">
              <a:lnSpc>
                <a:spcPct val="150000"/>
              </a:lnSpc>
              <a:buFont typeface="Arial" panose="020B0604020202020204" pitchFamily="34" charset="0"/>
              <a:buChar char="•"/>
            </a:pPr>
            <a:r>
              <a:rPr lang="en-US" dirty="0">
                <a:solidFill>
                  <a:schemeClr val="accent3"/>
                </a:solidFill>
              </a:rPr>
              <a:t>Women candidates are disproportionately high talent. (100% of women candidates are high talent, 50% of men candidates are high talent)</a:t>
            </a:r>
          </a:p>
          <a:p>
            <a:pPr marL="285750" indent="-285750">
              <a:lnSpc>
                <a:spcPct val="150000"/>
              </a:lnSpc>
              <a:buFont typeface="Arial" panose="020B0604020202020204" pitchFamily="34" charset="0"/>
              <a:buChar char="•"/>
            </a:pPr>
            <a:r>
              <a:rPr lang="en-US" dirty="0">
                <a:solidFill>
                  <a:schemeClr val="accent3"/>
                </a:solidFill>
              </a:rPr>
              <a:t>100% of women who win are high talent.  Some portion of men who win are low talent.  Thus average talent among women who win office is higher than average talent among men who win office.</a:t>
            </a:r>
          </a:p>
        </p:txBody>
      </p:sp>
    </p:spTree>
    <p:extLst>
      <p:ext uri="{BB962C8B-B14F-4D97-AF65-F5344CB8AC3E}">
        <p14:creationId xmlns:p14="http://schemas.microsoft.com/office/powerpoint/2010/main" val="18047642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48260-954D-80E9-7432-F8A12D53638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72607E-F0AC-06A9-273B-E5F1E9C08A54}"/>
              </a:ext>
            </a:extLst>
          </p:cNvPr>
          <p:cNvSpPr txBox="1"/>
          <p:nvPr/>
        </p:nvSpPr>
        <p:spPr>
          <a:xfrm>
            <a:off x="636817" y="344520"/>
            <a:ext cx="515438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t>With all that in mind, consider two possibilities</a:t>
            </a:r>
          </a:p>
        </p:txBody>
      </p:sp>
      <p:sp>
        <p:nvSpPr>
          <p:cNvPr id="3" name="TextBox 2">
            <a:extLst>
              <a:ext uri="{FF2B5EF4-FFF2-40B4-BE49-F238E27FC236}">
                <a16:creationId xmlns:a16="http://schemas.microsoft.com/office/drawing/2014/main" id="{38E0F0B8-C763-A0AC-C6E7-7EFB299FD10E}"/>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sp>
        <p:nvSpPr>
          <p:cNvPr id="4" name="TextBox 3">
            <a:extLst>
              <a:ext uri="{FF2B5EF4-FFF2-40B4-BE49-F238E27FC236}">
                <a16:creationId xmlns:a16="http://schemas.microsoft.com/office/drawing/2014/main" id="{F7C8C770-CFA8-7575-95A6-F00F30AFBC18}"/>
              </a:ext>
            </a:extLst>
          </p:cNvPr>
          <p:cNvSpPr txBox="1"/>
          <p:nvPr/>
        </p:nvSpPr>
        <p:spPr>
          <a:xfrm rot="20107433">
            <a:off x="986119" y="4096871"/>
            <a:ext cx="1479176" cy="369332"/>
          </a:xfrm>
          <a:prstGeom prst="rect">
            <a:avLst/>
          </a:prstGeom>
          <a:noFill/>
          <a:ln>
            <a:solidFill>
              <a:schemeClr val="tx1"/>
            </a:solidFill>
          </a:ln>
        </p:spPr>
        <p:txBody>
          <a:bodyPr wrap="square" rtlCol="0">
            <a:spAutoFit/>
          </a:bodyPr>
          <a:lstStyle/>
          <a:p>
            <a:r>
              <a:rPr lang="en-US" dirty="0"/>
              <a:t>possibility B</a:t>
            </a:r>
          </a:p>
        </p:txBody>
      </p:sp>
      <p:cxnSp>
        <p:nvCxnSpPr>
          <p:cNvPr id="5" name="Straight Arrow Connector 4">
            <a:extLst>
              <a:ext uri="{FF2B5EF4-FFF2-40B4-BE49-F238E27FC236}">
                <a16:creationId xmlns:a16="http://schemas.microsoft.com/office/drawing/2014/main" id="{48A8FDBF-56BD-CBE6-093A-619370187580}"/>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B0F4214-E1D3-768B-2BB2-4138232A5448}"/>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436AD043-E523-8E16-9EB4-36C614D5868F}"/>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A7939584-475C-3B2A-230E-A9074E0B0E33}"/>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E38F1919-8F52-8A7B-9B20-E3B7D0E3C7CA}"/>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F24FE620-B9E7-96C3-C464-3ECE0D5AEEF7}"/>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491BCD6A-9D2D-F791-3916-353522A4A28F}"/>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4158C566-055F-3FB6-334B-7E2B03A8BC64}"/>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B75006F2-7312-19F9-0D87-9D5B9B4952AE}"/>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BE54F482-C61F-40CE-0DA0-B86600A81764}"/>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91591A5D-B74C-C6D7-24D7-0CC0DFE5B985}"/>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8" name="TextBox 17">
            <a:extLst>
              <a:ext uri="{FF2B5EF4-FFF2-40B4-BE49-F238E27FC236}">
                <a16:creationId xmlns:a16="http://schemas.microsoft.com/office/drawing/2014/main" id="{7A504BB3-C468-4A47-1D9C-91BDB69B69CD}"/>
              </a:ext>
            </a:extLst>
          </p:cNvPr>
          <p:cNvSpPr txBox="1"/>
          <p:nvPr/>
        </p:nvSpPr>
        <p:spPr>
          <a:xfrm>
            <a:off x="577444" y="3182326"/>
            <a:ext cx="5043428" cy="313932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Imagine 1,000 people consider running every year.</a:t>
            </a:r>
          </a:p>
          <a:p>
            <a:endParaRPr lang="en-US" dirty="0"/>
          </a:p>
          <a:p>
            <a:r>
              <a:rPr lang="en-US" dirty="0"/>
              <a:t>Of those persons...</a:t>
            </a:r>
          </a:p>
          <a:p>
            <a:pPr marL="285750" indent="-285750">
              <a:buFont typeface="Arial" panose="020B0604020202020204" pitchFamily="34" charset="0"/>
              <a:buChar char="•"/>
            </a:pPr>
            <a:r>
              <a:rPr lang="en-US" dirty="0"/>
              <a:t>250 are low-talent women</a:t>
            </a:r>
          </a:p>
          <a:p>
            <a:pPr marL="285750" indent="-285750">
              <a:buFont typeface="Arial" panose="020B0604020202020204" pitchFamily="34" charset="0"/>
              <a:buChar char="•"/>
            </a:pPr>
            <a:r>
              <a:rPr lang="en-US" dirty="0"/>
              <a:t>250 are low-talent men</a:t>
            </a:r>
          </a:p>
          <a:p>
            <a:pPr marL="285750" indent="-285750">
              <a:buFont typeface="Arial" panose="020B0604020202020204" pitchFamily="34" charset="0"/>
              <a:buChar char="•"/>
            </a:pPr>
            <a:r>
              <a:rPr lang="en-US" dirty="0"/>
              <a:t>250 are high-talent women</a:t>
            </a:r>
          </a:p>
          <a:p>
            <a:pPr marL="285750" indent="-285750">
              <a:buFont typeface="Arial" panose="020B0604020202020204" pitchFamily="34" charset="0"/>
              <a:buChar char="•"/>
            </a:pPr>
            <a:r>
              <a:rPr lang="en-US" dirty="0"/>
              <a:t>250 are high-talent men</a:t>
            </a:r>
          </a:p>
          <a:p>
            <a:pPr marL="285750" indent="-285750">
              <a:buFont typeface="Arial" panose="020B0604020202020204" pitchFamily="34" charset="0"/>
              <a:buChar char="•"/>
            </a:pPr>
            <a:endParaRPr lang="en-US" dirty="0"/>
          </a:p>
          <a:p>
            <a:r>
              <a:rPr lang="en-US" dirty="0"/>
              <a:t>Given the above cutoff, everyone but the low-talent women will run.</a:t>
            </a:r>
          </a:p>
        </p:txBody>
      </p:sp>
      <p:sp>
        <p:nvSpPr>
          <p:cNvPr id="13" name="TextBox 12">
            <a:extLst>
              <a:ext uri="{FF2B5EF4-FFF2-40B4-BE49-F238E27FC236}">
                <a16:creationId xmlns:a16="http://schemas.microsoft.com/office/drawing/2014/main" id="{AAF50F9A-A8D2-FA42-AD6C-4DA9F12B1E7B}"/>
              </a:ext>
            </a:extLst>
          </p:cNvPr>
          <p:cNvSpPr txBox="1"/>
          <p:nvPr/>
        </p:nvSpPr>
        <p:spPr>
          <a:xfrm>
            <a:off x="5133816" y="2828016"/>
            <a:ext cx="7064189" cy="379187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nSpc>
                <a:spcPct val="150000"/>
              </a:lnSpc>
            </a:pPr>
            <a:r>
              <a:rPr lang="en-US" dirty="0"/>
              <a:t>So...</a:t>
            </a:r>
          </a:p>
          <a:p>
            <a:pPr marL="285750" indent="-285750">
              <a:lnSpc>
                <a:spcPct val="150000"/>
              </a:lnSpc>
              <a:buFont typeface="Arial" panose="020B0604020202020204" pitchFamily="34" charset="0"/>
              <a:buChar char="•"/>
            </a:pPr>
            <a:r>
              <a:rPr lang="en-US" dirty="0"/>
              <a:t>Women are under-represented among candidates (250 candidates are women, 500 are men)</a:t>
            </a:r>
          </a:p>
          <a:p>
            <a:pPr marL="285750" indent="-285750">
              <a:lnSpc>
                <a:spcPct val="150000"/>
              </a:lnSpc>
              <a:buFont typeface="Arial" panose="020B0604020202020204" pitchFamily="34" charset="0"/>
              <a:buChar char="•"/>
            </a:pPr>
            <a:r>
              <a:rPr lang="en-US" dirty="0">
                <a:solidFill>
                  <a:schemeClr val="tx1"/>
                </a:solidFill>
              </a:rPr>
              <a:t>Women candidates are disproportionately high talent. (100% of women candidates are high talent, 50% of men candidates are high talent)</a:t>
            </a:r>
          </a:p>
          <a:p>
            <a:pPr marL="285750" indent="-285750">
              <a:lnSpc>
                <a:spcPct val="150000"/>
              </a:lnSpc>
              <a:buFont typeface="Arial" panose="020B0604020202020204" pitchFamily="34" charset="0"/>
              <a:buChar char="•"/>
            </a:pPr>
            <a:r>
              <a:rPr lang="en-US" dirty="0">
                <a:solidFill>
                  <a:schemeClr val="accent3"/>
                </a:solidFill>
              </a:rPr>
              <a:t>100% of women who win are high talent.  Some portion of men who win are low talent.  Thus average talent among women who win office is higher than average talent among men who win office.</a:t>
            </a:r>
          </a:p>
        </p:txBody>
      </p:sp>
    </p:spTree>
    <p:extLst>
      <p:ext uri="{BB962C8B-B14F-4D97-AF65-F5344CB8AC3E}">
        <p14:creationId xmlns:p14="http://schemas.microsoft.com/office/powerpoint/2010/main" val="188268665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4F14E-C012-EC88-B608-03AF4909A6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D727310-BB93-4808-2532-9131432BC34D}"/>
              </a:ext>
            </a:extLst>
          </p:cNvPr>
          <p:cNvSpPr txBox="1"/>
          <p:nvPr/>
        </p:nvSpPr>
        <p:spPr>
          <a:xfrm>
            <a:off x="636817" y="344520"/>
            <a:ext cx="515438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t>With all that in mind, consider two possibilities</a:t>
            </a:r>
          </a:p>
        </p:txBody>
      </p:sp>
      <p:sp>
        <p:nvSpPr>
          <p:cNvPr id="3" name="TextBox 2">
            <a:extLst>
              <a:ext uri="{FF2B5EF4-FFF2-40B4-BE49-F238E27FC236}">
                <a16:creationId xmlns:a16="http://schemas.microsoft.com/office/drawing/2014/main" id="{DBA1D48A-7A98-6FE1-36EC-BAEA5FB5F351}"/>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sp>
        <p:nvSpPr>
          <p:cNvPr id="4" name="TextBox 3">
            <a:extLst>
              <a:ext uri="{FF2B5EF4-FFF2-40B4-BE49-F238E27FC236}">
                <a16:creationId xmlns:a16="http://schemas.microsoft.com/office/drawing/2014/main" id="{3F8C83A7-8BF4-D88A-77EF-C171D6E8AC2F}"/>
              </a:ext>
            </a:extLst>
          </p:cNvPr>
          <p:cNvSpPr txBox="1"/>
          <p:nvPr/>
        </p:nvSpPr>
        <p:spPr>
          <a:xfrm rot="20107433">
            <a:off x="986119" y="4096871"/>
            <a:ext cx="1479176" cy="369332"/>
          </a:xfrm>
          <a:prstGeom prst="rect">
            <a:avLst/>
          </a:prstGeom>
          <a:noFill/>
          <a:ln>
            <a:solidFill>
              <a:schemeClr val="tx1"/>
            </a:solidFill>
          </a:ln>
        </p:spPr>
        <p:txBody>
          <a:bodyPr wrap="square" rtlCol="0">
            <a:spAutoFit/>
          </a:bodyPr>
          <a:lstStyle/>
          <a:p>
            <a:r>
              <a:rPr lang="en-US" dirty="0"/>
              <a:t>possibility B</a:t>
            </a:r>
          </a:p>
        </p:txBody>
      </p:sp>
      <p:cxnSp>
        <p:nvCxnSpPr>
          <p:cNvPr id="5" name="Straight Arrow Connector 4">
            <a:extLst>
              <a:ext uri="{FF2B5EF4-FFF2-40B4-BE49-F238E27FC236}">
                <a16:creationId xmlns:a16="http://schemas.microsoft.com/office/drawing/2014/main" id="{76FF046A-8A4C-F04A-EDAC-AE69596EC0A4}"/>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27191F5-0987-36FE-105F-D9D02C285D80}"/>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F630D968-07AA-22B1-203A-C49D709BCB2F}"/>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97DC3EAD-20B5-B540-68E1-E524F797D46A}"/>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D7C77A43-255A-E98A-1458-99E8D23AC13F}"/>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176A9BA4-2774-FE40-596C-404C8E3DD14E}"/>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8612C325-850F-5B37-24F7-CF4D7ED05CB1}"/>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D454DF39-C078-6D6F-69EB-8384FC8E3C1E}"/>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F706BF2B-55C6-52DE-8FDB-FE5091BDB266}"/>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F9BF4615-44A5-0D44-0F01-944A859E0178}"/>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321AFF21-0F29-74D0-843F-18BE15EBDF87}"/>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8" name="TextBox 17">
            <a:extLst>
              <a:ext uri="{FF2B5EF4-FFF2-40B4-BE49-F238E27FC236}">
                <a16:creationId xmlns:a16="http://schemas.microsoft.com/office/drawing/2014/main" id="{7D52DAB3-519A-CDC8-E69B-98EB75AA5E41}"/>
              </a:ext>
            </a:extLst>
          </p:cNvPr>
          <p:cNvSpPr txBox="1"/>
          <p:nvPr/>
        </p:nvSpPr>
        <p:spPr>
          <a:xfrm>
            <a:off x="577444" y="3182326"/>
            <a:ext cx="5043428" cy="313932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Imagine 1,000 people consider running every year.</a:t>
            </a:r>
          </a:p>
          <a:p>
            <a:endParaRPr lang="en-US" dirty="0"/>
          </a:p>
          <a:p>
            <a:r>
              <a:rPr lang="en-US" dirty="0"/>
              <a:t>Of those persons...</a:t>
            </a:r>
          </a:p>
          <a:p>
            <a:pPr marL="285750" indent="-285750">
              <a:buFont typeface="Arial" panose="020B0604020202020204" pitchFamily="34" charset="0"/>
              <a:buChar char="•"/>
            </a:pPr>
            <a:r>
              <a:rPr lang="en-US" dirty="0"/>
              <a:t>250 are low-talent women</a:t>
            </a:r>
          </a:p>
          <a:p>
            <a:pPr marL="285750" indent="-285750">
              <a:buFont typeface="Arial" panose="020B0604020202020204" pitchFamily="34" charset="0"/>
              <a:buChar char="•"/>
            </a:pPr>
            <a:r>
              <a:rPr lang="en-US" dirty="0"/>
              <a:t>250 are low-talent men</a:t>
            </a:r>
          </a:p>
          <a:p>
            <a:pPr marL="285750" indent="-285750">
              <a:buFont typeface="Arial" panose="020B0604020202020204" pitchFamily="34" charset="0"/>
              <a:buChar char="•"/>
            </a:pPr>
            <a:r>
              <a:rPr lang="en-US" dirty="0"/>
              <a:t>250 are high-talent women</a:t>
            </a:r>
          </a:p>
          <a:p>
            <a:pPr marL="285750" indent="-285750">
              <a:buFont typeface="Arial" panose="020B0604020202020204" pitchFamily="34" charset="0"/>
              <a:buChar char="•"/>
            </a:pPr>
            <a:r>
              <a:rPr lang="en-US" dirty="0"/>
              <a:t>250 are high-talent men</a:t>
            </a:r>
          </a:p>
          <a:p>
            <a:pPr marL="285750" indent="-285750">
              <a:buFont typeface="Arial" panose="020B0604020202020204" pitchFamily="34" charset="0"/>
              <a:buChar char="•"/>
            </a:pPr>
            <a:endParaRPr lang="en-US" dirty="0"/>
          </a:p>
          <a:p>
            <a:r>
              <a:rPr lang="en-US" dirty="0"/>
              <a:t>Given the above cutoff, everyone but the low-talent women will run.</a:t>
            </a:r>
          </a:p>
        </p:txBody>
      </p:sp>
      <p:sp>
        <p:nvSpPr>
          <p:cNvPr id="13" name="TextBox 12">
            <a:extLst>
              <a:ext uri="{FF2B5EF4-FFF2-40B4-BE49-F238E27FC236}">
                <a16:creationId xmlns:a16="http://schemas.microsoft.com/office/drawing/2014/main" id="{236A333C-B398-7641-301E-C1D43AF03AAF}"/>
              </a:ext>
            </a:extLst>
          </p:cNvPr>
          <p:cNvSpPr txBox="1"/>
          <p:nvPr/>
        </p:nvSpPr>
        <p:spPr>
          <a:xfrm>
            <a:off x="5133816" y="2828016"/>
            <a:ext cx="7064189" cy="379187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nSpc>
                <a:spcPct val="150000"/>
              </a:lnSpc>
            </a:pPr>
            <a:r>
              <a:rPr lang="en-US" dirty="0"/>
              <a:t>So...</a:t>
            </a:r>
          </a:p>
          <a:p>
            <a:pPr marL="285750" indent="-285750">
              <a:lnSpc>
                <a:spcPct val="150000"/>
              </a:lnSpc>
              <a:buFont typeface="Arial" panose="020B0604020202020204" pitchFamily="34" charset="0"/>
              <a:buChar char="•"/>
            </a:pPr>
            <a:r>
              <a:rPr lang="en-US" dirty="0"/>
              <a:t>Women are under-represented among candidates (250 candidates are women, 500 are men)</a:t>
            </a:r>
          </a:p>
          <a:p>
            <a:pPr marL="285750" indent="-285750">
              <a:lnSpc>
                <a:spcPct val="150000"/>
              </a:lnSpc>
              <a:buFont typeface="Arial" panose="020B0604020202020204" pitchFamily="34" charset="0"/>
              <a:buChar char="•"/>
            </a:pPr>
            <a:r>
              <a:rPr lang="en-US" dirty="0">
                <a:solidFill>
                  <a:schemeClr val="tx1"/>
                </a:solidFill>
              </a:rPr>
              <a:t>Women candidates are disproportionately high talent. (100% of women candidates are high talent, 50% of men candidates are high talent)</a:t>
            </a:r>
          </a:p>
          <a:p>
            <a:pPr marL="285750" indent="-285750">
              <a:lnSpc>
                <a:spcPct val="150000"/>
              </a:lnSpc>
              <a:buFont typeface="Arial" panose="020B0604020202020204" pitchFamily="34" charset="0"/>
              <a:buChar char="•"/>
            </a:pPr>
            <a:r>
              <a:rPr lang="en-US" dirty="0">
                <a:solidFill>
                  <a:schemeClr val="tx1"/>
                </a:solidFill>
              </a:rPr>
              <a:t>100% of women who win are high talent.  Some portion of men who win are low talent.  Thus average talent among women who win office is higher than average talent among men who win office.</a:t>
            </a:r>
          </a:p>
        </p:txBody>
      </p:sp>
    </p:spTree>
    <p:extLst>
      <p:ext uri="{BB962C8B-B14F-4D97-AF65-F5344CB8AC3E}">
        <p14:creationId xmlns:p14="http://schemas.microsoft.com/office/powerpoint/2010/main" val="100812647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37981-6939-5377-2A9A-3D57CA37A1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A08D3F9-875E-4C77-DC4D-343E2A55ABCB}"/>
              </a:ext>
            </a:extLst>
          </p:cNvPr>
          <p:cNvSpPr txBox="1"/>
          <p:nvPr/>
        </p:nvSpPr>
        <p:spPr>
          <a:xfrm>
            <a:off x="636817" y="344520"/>
            <a:ext cx="5154384"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t>With all that in mind, consider two possibilities</a:t>
            </a:r>
          </a:p>
        </p:txBody>
      </p:sp>
      <p:sp>
        <p:nvSpPr>
          <p:cNvPr id="3" name="TextBox 2">
            <a:extLst>
              <a:ext uri="{FF2B5EF4-FFF2-40B4-BE49-F238E27FC236}">
                <a16:creationId xmlns:a16="http://schemas.microsoft.com/office/drawing/2014/main" id="{F04A1486-6DF9-0D42-E91C-85FFEEE5D2FF}"/>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sp>
        <p:nvSpPr>
          <p:cNvPr id="4" name="TextBox 3">
            <a:extLst>
              <a:ext uri="{FF2B5EF4-FFF2-40B4-BE49-F238E27FC236}">
                <a16:creationId xmlns:a16="http://schemas.microsoft.com/office/drawing/2014/main" id="{42F088A9-43EA-2284-625C-2599C93E1BC9}"/>
              </a:ext>
            </a:extLst>
          </p:cNvPr>
          <p:cNvSpPr txBox="1"/>
          <p:nvPr/>
        </p:nvSpPr>
        <p:spPr>
          <a:xfrm rot="20107433">
            <a:off x="986119" y="4096871"/>
            <a:ext cx="1479176" cy="369332"/>
          </a:xfrm>
          <a:prstGeom prst="rect">
            <a:avLst/>
          </a:prstGeom>
          <a:noFill/>
          <a:ln>
            <a:solidFill>
              <a:schemeClr val="tx1"/>
            </a:solidFill>
          </a:ln>
        </p:spPr>
        <p:txBody>
          <a:bodyPr wrap="square" rtlCol="0">
            <a:spAutoFit/>
          </a:bodyPr>
          <a:lstStyle/>
          <a:p>
            <a:r>
              <a:rPr lang="en-US" dirty="0"/>
              <a:t>possibility B</a:t>
            </a:r>
          </a:p>
        </p:txBody>
      </p:sp>
      <p:cxnSp>
        <p:nvCxnSpPr>
          <p:cNvPr id="5" name="Straight Arrow Connector 4">
            <a:extLst>
              <a:ext uri="{FF2B5EF4-FFF2-40B4-BE49-F238E27FC236}">
                <a16:creationId xmlns:a16="http://schemas.microsoft.com/office/drawing/2014/main" id="{6639F210-C1EA-D1E2-4D59-57B686E5283D}"/>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DD36BB84-923D-A0C5-AABF-AA2C3F201B8B}"/>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7937845B-FFDF-D677-DFB3-C4B2ABB0B6AB}"/>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57CF6792-5FAB-2DCC-E299-BEE266BCE0F0}"/>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BCAB701C-4919-B306-6B0A-33280B2831BB}"/>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09264842-E6B4-F5ED-1279-7D44BA0DC218}"/>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23664732-5F75-72A8-34BE-221733EFEF6D}"/>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27D87069-E434-E23B-DB8F-9D5E3F796775}"/>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EED064FA-FC52-ACC2-F552-B082C2423BD4}"/>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9FF557AA-543C-B236-B04A-0859A4530B57}"/>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27B649E8-6A37-0D45-5E99-890D46141932}"/>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3" name="Straight Arrow Connector 12">
            <a:extLst>
              <a:ext uri="{FF2B5EF4-FFF2-40B4-BE49-F238E27FC236}">
                <a16:creationId xmlns:a16="http://schemas.microsoft.com/office/drawing/2014/main" id="{56F829DE-4896-1D75-7797-FF5CEAFEF064}"/>
              </a:ext>
            </a:extLst>
          </p:cNvPr>
          <p:cNvCxnSpPr/>
          <p:nvPr/>
        </p:nvCxnSpPr>
        <p:spPr>
          <a:xfrm>
            <a:off x="2656146" y="5783988"/>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1028B7CB-6A13-FEB3-34B5-D649B31C906F}"/>
              </a:ext>
            </a:extLst>
          </p:cNvPr>
          <p:cNvSpPr txBox="1"/>
          <p:nvPr/>
        </p:nvSpPr>
        <p:spPr>
          <a:xfrm>
            <a:off x="9901662" y="5460822"/>
            <a:ext cx="2078703" cy="646331"/>
          </a:xfrm>
          <a:prstGeom prst="rect">
            <a:avLst/>
          </a:prstGeom>
          <a:noFill/>
        </p:spPr>
        <p:txBody>
          <a:bodyPr wrap="square" rtlCol="0">
            <a:spAutoFit/>
          </a:bodyPr>
          <a:lstStyle/>
          <a:p>
            <a:r>
              <a:rPr lang="en-US" dirty="0"/>
              <a:t>highest probability of winning</a:t>
            </a:r>
          </a:p>
        </p:txBody>
      </p:sp>
      <p:sp>
        <p:nvSpPr>
          <p:cNvPr id="18" name="TextBox 17">
            <a:extLst>
              <a:ext uri="{FF2B5EF4-FFF2-40B4-BE49-F238E27FC236}">
                <a16:creationId xmlns:a16="http://schemas.microsoft.com/office/drawing/2014/main" id="{CAE188BC-CF9A-051D-F655-47EAA22B3150}"/>
              </a:ext>
            </a:extLst>
          </p:cNvPr>
          <p:cNvSpPr txBox="1"/>
          <p:nvPr/>
        </p:nvSpPr>
        <p:spPr>
          <a:xfrm>
            <a:off x="759233" y="5436358"/>
            <a:ext cx="2078703" cy="646331"/>
          </a:xfrm>
          <a:prstGeom prst="rect">
            <a:avLst/>
          </a:prstGeom>
          <a:noFill/>
        </p:spPr>
        <p:txBody>
          <a:bodyPr wrap="square" rtlCol="0">
            <a:spAutoFit/>
          </a:bodyPr>
          <a:lstStyle/>
          <a:p>
            <a:r>
              <a:rPr lang="en-US" dirty="0"/>
              <a:t>lowest probability of winning</a:t>
            </a:r>
          </a:p>
        </p:txBody>
      </p:sp>
      <p:sp>
        <p:nvSpPr>
          <p:cNvPr id="19" name="TextBox 18">
            <a:extLst>
              <a:ext uri="{FF2B5EF4-FFF2-40B4-BE49-F238E27FC236}">
                <a16:creationId xmlns:a16="http://schemas.microsoft.com/office/drawing/2014/main" id="{EB6BA802-D33E-95B8-3CA8-E8957D204A00}"/>
              </a:ext>
            </a:extLst>
          </p:cNvPr>
          <p:cNvSpPr txBox="1"/>
          <p:nvPr/>
        </p:nvSpPr>
        <p:spPr>
          <a:xfrm>
            <a:off x="3854459" y="5016795"/>
            <a:ext cx="1216058" cy="584775"/>
          </a:xfrm>
          <a:prstGeom prst="rect">
            <a:avLst/>
          </a:prstGeom>
          <a:noFill/>
        </p:spPr>
        <p:txBody>
          <a:bodyPr wrap="square" rtlCol="0">
            <a:spAutoFit/>
          </a:bodyPr>
          <a:lstStyle/>
          <a:p>
            <a:pPr algn="ctr"/>
            <a:r>
              <a:rPr lang="en-US" sz="1600" dirty="0"/>
              <a:t>low talent women</a:t>
            </a:r>
          </a:p>
        </p:txBody>
      </p:sp>
      <p:sp>
        <p:nvSpPr>
          <p:cNvPr id="20" name="TextBox 19">
            <a:extLst>
              <a:ext uri="{FF2B5EF4-FFF2-40B4-BE49-F238E27FC236}">
                <a16:creationId xmlns:a16="http://schemas.microsoft.com/office/drawing/2014/main" id="{61026B09-5463-F665-7FB2-451B32480F7B}"/>
              </a:ext>
            </a:extLst>
          </p:cNvPr>
          <p:cNvSpPr txBox="1"/>
          <p:nvPr/>
        </p:nvSpPr>
        <p:spPr>
          <a:xfrm>
            <a:off x="8138108" y="5046647"/>
            <a:ext cx="1216058" cy="584775"/>
          </a:xfrm>
          <a:prstGeom prst="rect">
            <a:avLst/>
          </a:prstGeom>
          <a:noFill/>
        </p:spPr>
        <p:txBody>
          <a:bodyPr wrap="square" rtlCol="0">
            <a:spAutoFit/>
          </a:bodyPr>
          <a:lstStyle/>
          <a:p>
            <a:pPr algn="ctr"/>
            <a:r>
              <a:rPr lang="en-US" sz="1600" dirty="0"/>
              <a:t>high talent men</a:t>
            </a:r>
          </a:p>
        </p:txBody>
      </p:sp>
      <p:sp>
        <p:nvSpPr>
          <p:cNvPr id="21" name="TextBox 20">
            <a:extLst>
              <a:ext uri="{FF2B5EF4-FFF2-40B4-BE49-F238E27FC236}">
                <a16:creationId xmlns:a16="http://schemas.microsoft.com/office/drawing/2014/main" id="{13E9AB65-3401-8B72-6CC6-58ACFEDC66E9}"/>
              </a:ext>
            </a:extLst>
          </p:cNvPr>
          <p:cNvSpPr txBox="1"/>
          <p:nvPr/>
        </p:nvSpPr>
        <p:spPr>
          <a:xfrm>
            <a:off x="6698205" y="5083771"/>
            <a:ext cx="1216058" cy="584775"/>
          </a:xfrm>
          <a:prstGeom prst="rect">
            <a:avLst/>
          </a:prstGeom>
          <a:noFill/>
        </p:spPr>
        <p:txBody>
          <a:bodyPr wrap="square" rtlCol="0">
            <a:spAutoFit/>
          </a:bodyPr>
          <a:lstStyle/>
          <a:p>
            <a:pPr algn="ctr"/>
            <a:r>
              <a:rPr lang="en-US" sz="1600" dirty="0"/>
              <a:t>low talent men</a:t>
            </a:r>
          </a:p>
        </p:txBody>
      </p:sp>
      <p:sp>
        <p:nvSpPr>
          <p:cNvPr id="22" name="TextBox 21">
            <a:extLst>
              <a:ext uri="{FF2B5EF4-FFF2-40B4-BE49-F238E27FC236}">
                <a16:creationId xmlns:a16="http://schemas.microsoft.com/office/drawing/2014/main" id="{FF33EC56-EEA0-BA53-9689-938EC2BD226D}"/>
              </a:ext>
            </a:extLst>
          </p:cNvPr>
          <p:cNvSpPr txBox="1"/>
          <p:nvPr/>
        </p:nvSpPr>
        <p:spPr>
          <a:xfrm>
            <a:off x="5193061" y="5072037"/>
            <a:ext cx="1376870" cy="584775"/>
          </a:xfrm>
          <a:prstGeom prst="rect">
            <a:avLst/>
          </a:prstGeom>
          <a:noFill/>
        </p:spPr>
        <p:txBody>
          <a:bodyPr wrap="square" rtlCol="0">
            <a:spAutoFit/>
          </a:bodyPr>
          <a:lstStyle/>
          <a:p>
            <a:pPr algn="ctr"/>
            <a:r>
              <a:rPr lang="en-US" sz="1600" dirty="0"/>
              <a:t>high talent women</a:t>
            </a:r>
          </a:p>
        </p:txBody>
      </p:sp>
      <p:sp>
        <p:nvSpPr>
          <p:cNvPr id="23" name="Rectangle 22">
            <a:extLst>
              <a:ext uri="{FF2B5EF4-FFF2-40B4-BE49-F238E27FC236}">
                <a16:creationId xmlns:a16="http://schemas.microsoft.com/office/drawing/2014/main" id="{364345C0-831C-4BE5-FC93-54E850D99DA1}"/>
              </a:ext>
            </a:extLst>
          </p:cNvPr>
          <p:cNvSpPr/>
          <p:nvPr/>
        </p:nvSpPr>
        <p:spPr>
          <a:xfrm>
            <a:off x="2670567" y="4239638"/>
            <a:ext cx="4635667"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smaller than misogyny penalty)</a:t>
            </a:r>
          </a:p>
        </p:txBody>
      </p:sp>
      <p:cxnSp>
        <p:nvCxnSpPr>
          <p:cNvPr id="24" name="Straight Connector 23">
            <a:extLst>
              <a:ext uri="{FF2B5EF4-FFF2-40B4-BE49-F238E27FC236}">
                <a16:creationId xmlns:a16="http://schemas.microsoft.com/office/drawing/2014/main" id="{D5AB5158-9F0B-1CF8-6D7C-6D51A2181AE6}"/>
              </a:ext>
            </a:extLst>
          </p:cNvPr>
          <p:cNvCxnSpPr/>
          <p:nvPr/>
        </p:nvCxnSpPr>
        <p:spPr>
          <a:xfrm>
            <a:off x="5193061" y="4809674"/>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25" name="TextBox 24">
            <a:extLst>
              <a:ext uri="{FF2B5EF4-FFF2-40B4-BE49-F238E27FC236}">
                <a16:creationId xmlns:a16="http://schemas.microsoft.com/office/drawing/2014/main" id="{C1960AD8-FC99-B4FB-ED09-2800434E31BE}"/>
              </a:ext>
            </a:extLst>
          </p:cNvPr>
          <p:cNvSpPr txBox="1"/>
          <p:nvPr/>
        </p:nvSpPr>
        <p:spPr>
          <a:xfrm rot="20531952">
            <a:off x="7667320" y="4252821"/>
            <a:ext cx="1376870" cy="307777"/>
          </a:xfrm>
          <a:prstGeom prst="rect">
            <a:avLst/>
          </a:prstGeom>
          <a:noFill/>
        </p:spPr>
        <p:txBody>
          <a:bodyPr wrap="square" rtlCol="0">
            <a:spAutoFit/>
          </a:bodyPr>
          <a:lstStyle/>
          <a:p>
            <a:r>
              <a:rPr lang="en-US" sz="1400" i="1" dirty="0"/>
              <a:t>cutoff here</a:t>
            </a:r>
          </a:p>
        </p:txBody>
      </p:sp>
      <p:cxnSp>
        <p:nvCxnSpPr>
          <p:cNvPr id="26" name="Straight Arrow Connector 25">
            <a:extLst>
              <a:ext uri="{FF2B5EF4-FFF2-40B4-BE49-F238E27FC236}">
                <a16:creationId xmlns:a16="http://schemas.microsoft.com/office/drawing/2014/main" id="{3C7E2322-392B-5C22-0915-FA1B10D0CA7B}"/>
              </a:ext>
            </a:extLst>
          </p:cNvPr>
          <p:cNvCxnSpPr>
            <a:stCxn id="25" idx="1"/>
          </p:cNvCxnSpPr>
          <p:nvPr/>
        </p:nvCxnSpPr>
        <p:spPr>
          <a:xfrm flipH="1">
            <a:off x="5282342" y="4617170"/>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358893921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6F1A2-4AFA-C23B-D444-D2C98048313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805507E-B1C5-F395-BD52-C2F555ACF5D8}"/>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8805507E-B1C5-F395-BD52-C2F555ACF5D8}"/>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2"/>
                <a:stretch>
                  <a:fillRect l="-906" t="-2727" r="-1164" b="-11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991C02B1-790F-A732-8988-58D20A7758EE}"/>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888E4D96-1D3C-FEC7-BAB8-34C6AFBBB589}"/>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EDE114B2-6F74-C00C-5BA4-634736A3BA2A}"/>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8286DCB4-80D8-87E8-F54D-ABB0C2BC800F}"/>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333D9936-1950-AB25-1DC8-FCBE2CD9E723}"/>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6301028F-1916-2FD1-8119-66C5EDFE72C2}"/>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3BA94157-41F6-EB71-DEE4-9EBC707F197B}"/>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36EA2629-FB03-7A5A-69F8-CE7CBCF52C6D}"/>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82D56DEB-DA65-A09C-BD8C-924AFA4678DB}"/>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B353BD61-8C09-F21D-A16D-80AF7EC454C6}"/>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C38336D7-78A2-B367-C10E-A92188C178DC}"/>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45989EB6-2DC2-3A47-7E65-E07AB45C6493}"/>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206326828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FDD21-E76F-3AB3-F2C5-DAB0777B892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BD36902A-A726-00EF-A011-641A77D03285}"/>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6">
                            <a:lumMod val="20000"/>
                            <a:lumOff val="80000"/>
                          </a:schemeClr>
                        </a:solid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B-C</a:t>
                          </a:r>
                        </a:p>
                      </a:txBody>
                      <a:tcPr anchor="ctr">
                        <a:solidFill>
                          <a:schemeClr val="accent2">
                            <a:lumMod val="40000"/>
                            <a:lumOff val="6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𝜆</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bg2">
                            <a:lumMod val="25000"/>
                            <a:lumOff val="75000"/>
                          </a:schemeClr>
                        </a:solid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𝜆</m:t>
                                </m:r>
                                <m:r>
                                  <a:rPr lang="en-US" b="0" i="1" smtClean="0">
                                    <a:latin typeface="Cambria Math" panose="02040503050406030204" pitchFamily="18" charset="0"/>
                                  </a:rPr>
                                  <m:t>𝑤</m:t>
                                </m:r>
                              </m:oMath>
                            </m:oMathPara>
                          </a14:m>
                          <a:endParaRPr lang="en-US" dirty="0"/>
                        </a:p>
                      </a:txBody>
                      <a:tcPr anchor="ctr">
                        <a:solidFill>
                          <a:schemeClr val="accent2">
                            <a:lumMod val="40000"/>
                            <a:lumOff val="60000"/>
                          </a:schemeClr>
                        </a:solid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oMath>
                            </m:oMathPara>
                          </a14:m>
                          <a:endParaRPr lang="en-US" i="1" dirty="0"/>
                        </a:p>
                      </a:txBody>
                      <a:tcPr anchor="ctr">
                        <a:solidFill>
                          <a:schemeClr val="accent5">
                            <a:lumMod val="20000"/>
                            <a:lumOff val="80000"/>
                          </a:schemeClr>
                        </a:solid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accent1">
                            <a:lumMod val="20000"/>
                            <a:lumOff val="80000"/>
                          </a:schemeClr>
                        </a:solid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B-C</a:t>
                          </a:r>
                        </a:p>
                      </a:txBody>
                      <a:tcPr anchor="ctr">
                        <a:solidFill>
                          <a:schemeClr val="accent1">
                            <a:lumMod val="20000"/>
                            <a:lumOff val="80000"/>
                          </a:schemeClr>
                        </a:solidFill>
                      </a:tcPr>
                    </a:tc>
                    <a:tc rowSpan="2">
                      <a:txBody>
                        <a:bodyPr/>
                        <a:lstStyle/>
                        <a:p>
                          <a:pPr algn="ct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𝜇𝜆</m:t>
                                </m:r>
                                <m:r>
                                  <a:rPr lang="en-US" sz="1600" b="0" i="1" smtClean="0">
                                    <a:latin typeface="Cambria Math" panose="02040503050406030204" pitchFamily="18" charset="0"/>
                                  </a:rPr>
                                  <m:t>𝑤𝐵</m:t>
                                </m:r>
                                <m:r>
                                  <a:rPr lang="en-US" sz="1600" b="0" i="1" smtClean="0">
                                    <a:latin typeface="Cambria Math" panose="02040503050406030204" pitchFamily="18" charset="0"/>
                                  </a:rPr>
                                  <m:t>−</m:t>
                                </m:r>
                                <m:r>
                                  <a:rPr lang="en-US" sz="1600" b="0" i="1" smtClean="0">
                                    <a:latin typeface="Cambria Math" panose="02040503050406030204" pitchFamily="18" charset="0"/>
                                  </a:rPr>
                                  <m:t>𝐶</m:t>
                                </m:r>
                              </m:oMath>
                            </m:oMathPara>
                          </a14:m>
                          <a:endParaRPr lang="en-US" sz="1600" i="1" dirty="0"/>
                        </a:p>
                      </a:txBody>
                      <a:tcPr anchor="ctr">
                        <a:solidFill>
                          <a:schemeClr val="accent4">
                            <a:lumMod val="60000"/>
                            <a:lumOff val="40000"/>
                          </a:schemeClr>
                        </a:solid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𝜇𝜆</m:t>
                                </m:r>
                                <m:r>
                                  <a:rPr lang="en-US" b="0" i="1" smtClean="0">
                                    <a:latin typeface="Cambria Math" panose="02040503050406030204" pitchFamily="18" charset="0"/>
                                  </a:rPr>
                                  <m:t>𝑤</m:t>
                                </m:r>
                              </m:oMath>
                            </m:oMathPara>
                          </a14:m>
                          <a:endParaRPr lang="en-US" dirty="0"/>
                        </a:p>
                      </a:txBody>
                      <a:tcPr anchor="ctr">
                        <a:solidFill>
                          <a:schemeClr val="accent1">
                            <a:lumMod val="20000"/>
                            <a:lumOff val="80000"/>
                          </a:schemeClr>
                        </a:solid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i="1" dirty="0"/>
                        </a:p>
                      </a:txBody>
                      <a:tcPr anchor="ctr">
                        <a:solidFill>
                          <a:schemeClr val="tx2"/>
                        </a:solid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B-C</a:t>
                          </a:r>
                        </a:p>
                      </a:txBody>
                      <a:tcPr anchor="ctr">
                        <a:solidFill>
                          <a:schemeClr val="tx2"/>
                        </a:solidFill>
                      </a:tcPr>
                    </a:tc>
                    <a:tc rowSpan="2">
                      <a:txBody>
                        <a:bodyPr/>
                        <a:lstStyle/>
                        <a:p>
                          <a:pPr algn="ctr"/>
                          <a14:m>
                            <m:oMathPara xmlns:m="http://schemas.openxmlformats.org/officeDocument/2006/math">
                              <m:oMathParaPr>
                                <m:jc m:val="center"/>
                              </m:oMathParaPr>
                              <m:oMath xmlns:m="http://schemas.openxmlformats.org/officeDocument/2006/math">
                                <m:r>
                                  <a:rPr lang="en-US" sz="1800" b="0" i="1" smtClean="0">
                                    <a:latin typeface="Cambria Math" panose="02040503050406030204" pitchFamily="18" charset="0"/>
                                  </a:rPr>
                                  <m:t>𝜇</m:t>
                                </m:r>
                                <m:r>
                                  <a:rPr lang="en-US" sz="1800" b="0" i="1" smtClean="0">
                                    <a:latin typeface="Cambria Math" panose="02040503050406030204" pitchFamily="18" charset="0"/>
                                  </a:rPr>
                                  <m:t>𝑤𝐵</m:t>
                                </m:r>
                                <m:r>
                                  <a:rPr lang="en-US" sz="1800" b="0" i="1" smtClean="0">
                                    <a:latin typeface="Cambria Math" panose="02040503050406030204" pitchFamily="18" charset="0"/>
                                  </a:rPr>
                                  <m:t>−</m:t>
                                </m:r>
                                <m:r>
                                  <a:rPr lang="en-US" sz="1800" b="0" i="1" smtClean="0">
                                    <a:latin typeface="Cambria Math" panose="02040503050406030204" pitchFamily="18" charset="0"/>
                                  </a:rPr>
                                  <m:t>𝐶</m:t>
                                </m:r>
                              </m:oMath>
                            </m:oMathPara>
                          </a14:m>
                          <a:endParaRPr lang="en-US" sz="1800" i="1" dirty="0"/>
                        </a:p>
                      </a:txBody>
                      <a:tcPr anchor="ctr">
                        <a:solidFill>
                          <a:schemeClr val="accent5">
                            <a:lumMod val="40000"/>
                            <a:lumOff val="60000"/>
                          </a:schemeClr>
                        </a:solid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rPr>
                                  <m:t>𝜇</m:t>
                                </m:r>
                                <m:r>
                                  <a:rPr lang="en-US" b="0" i="1" smtClean="0">
                                    <a:latin typeface="Cambria Math" panose="02040503050406030204" pitchFamily="18" charset="0"/>
                                  </a:rPr>
                                  <m:t>𝑤</m:t>
                                </m:r>
                              </m:oMath>
                            </m:oMathPara>
                          </a14:m>
                          <a:endParaRPr lang="en-US" dirty="0"/>
                        </a:p>
                      </a:txBody>
                      <a:tcPr anchor="ctr">
                        <a:solidFill>
                          <a:schemeClr val="tx2"/>
                        </a:solid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Choice>
        <mc:Fallback xmlns="">
          <p:graphicFrame>
            <p:nvGraphicFramePr>
              <p:cNvPr id="4" name="Table 3">
                <a:extLst>
                  <a:ext uri="{FF2B5EF4-FFF2-40B4-BE49-F238E27FC236}">
                    <a16:creationId xmlns:a16="http://schemas.microsoft.com/office/drawing/2014/main" id="{BD36902A-A726-00EF-A011-641A77D03285}"/>
                  </a:ext>
                </a:extLst>
              </p:cNvPr>
              <p:cNvGraphicFramePr>
                <a:graphicFrameLocks noGrp="1"/>
              </p:cNvGraphicFramePr>
              <p:nvPr/>
            </p:nvGraphicFramePr>
            <p:xfrm>
              <a:off x="98856" y="1122522"/>
              <a:ext cx="11689734" cy="4820920"/>
            </p:xfrm>
            <a:graphic>
              <a:graphicData uri="http://schemas.openxmlformats.org/drawingml/2006/table">
                <a:tbl>
                  <a:tblPr firstRow="1" bandRow="1">
                    <a:tableStyleId>{5C22544A-7EE6-4342-B048-85BDC9FD1C3A}</a:tableStyleId>
                  </a:tblPr>
                  <a:tblGrid>
                    <a:gridCol w="1669962">
                      <a:extLst>
                        <a:ext uri="{9D8B030D-6E8A-4147-A177-3AD203B41FA5}">
                          <a16:colId xmlns:a16="http://schemas.microsoft.com/office/drawing/2014/main" val="1663853523"/>
                        </a:ext>
                      </a:extLst>
                    </a:gridCol>
                    <a:gridCol w="1669962">
                      <a:extLst>
                        <a:ext uri="{9D8B030D-6E8A-4147-A177-3AD203B41FA5}">
                          <a16:colId xmlns:a16="http://schemas.microsoft.com/office/drawing/2014/main" val="3618542185"/>
                        </a:ext>
                      </a:extLst>
                    </a:gridCol>
                    <a:gridCol w="1303549">
                      <a:extLst>
                        <a:ext uri="{9D8B030D-6E8A-4147-A177-3AD203B41FA5}">
                          <a16:colId xmlns:a16="http://schemas.microsoft.com/office/drawing/2014/main" val="1355337037"/>
                        </a:ext>
                      </a:extLst>
                    </a:gridCol>
                    <a:gridCol w="1228165">
                      <a:extLst>
                        <a:ext uri="{9D8B030D-6E8A-4147-A177-3AD203B41FA5}">
                          <a16:colId xmlns:a16="http://schemas.microsoft.com/office/drawing/2014/main" val="2347425372"/>
                        </a:ext>
                      </a:extLst>
                    </a:gridCol>
                    <a:gridCol w="1532965">
                      <a:extLst>
                        <a:ext uri="{9D8B030D-6E8A-4147-A177-3AD203B41FA5}">
                          <a16:colId xmlns:a16="http://schemas.microsoft.com/office/drawing/2014/main" val="4151739738"/>
                        </a:ext>
                      </a:extLst>
                    </a:gridCol>
                    <a:gridCol w="1389529">
                      <a:extLst>
                        <a:ext uri="{9D8B030D-6E8A-4147-A177-3AD203B41FA5}">
                          <a16:colId xmlns:a16="http://schemas.microsoft.com/office/drawing/2014/main" val="4082512160"/>
                        </a:ext>
                      </a:extLst>
                    </a:gridCol>
                    <a:gridCol w="2895602">
                      <a:extLst>
                        <a:ext uri="{9D8B030D-6E8A-4147-A177-3AD203B41FA5}">
                          <a16:colId xmlns:a16="http://schemas.microsoft.com/office/drawing/2014/main" val="3390141060"/>
                        </a:ext>
                      </a:extLst>
                    </a:gridCol>
                  </a:tblGrid>
                  <a:tr h="370840">
                    <a:tc>
                      <a:txBody>
                        <a:bodyPr/>
                        <a:lstStyle/>
                        <a:p>
                          <a:r>
                            <a:rPr lang="en-US" dirty="0"/>
                            <a:t>Gender</a:t>
                          </a:r>
                        </a:p>
                      </a:txBody>
                      <a:tcPr anchor="ctr"/>
                    </a:tc>
                    <a:tc>
                      <a:txBody>
                        <a:bodyPr/>
                        <a:lstStyle/>
                        <a:p>
                          <a:r>
                            <a:rPr lang="en-US" dirty="0"/>
                            <a:t>Level of Talent</a:t>
                          </a:r>
                        </a:p>
                      </a:txBody>
                      <a:tcPr anchor="ctr"/>
                    </a:tc>
                    <a:tc>
                      <a:txBody>
                        <a:bodyPr/>
                        <a:lstStyle/>
                        <a:p>
                          <a:r>
                            <a:rPr lang="en-US" dirty="0"/>
                            <a:t>Action</a:t>
                          </a:r>
                        </a:p>
                      </a:txBody>
                      <a:tcPr anchor="ctr"/>
                    </a:tc>
                    <a:tc>
                      <a:txBody>
                        <a:bodyPr/>
                        <a:lstStyle/>
                        <a:p>
                          <a:r>
                            <a:rPr lang="en-US" dirty="0"/>
                            <a:t>Outcome</a:t>
                          </a:r>
                        </a:p>
                      </a:txBody>
                      <a:tcPr anchor="ctr"/>
                    </a:tc>
                    <a:tc>
                      <a:txBody>
                        <a:bodyPr/>
                        <a:lstStyle/>
                        <a:p>
                          <a:r>
                            <a:rPr lang="en-US" dirty="0"/>
                            <a:t>Probability</a:t>
                          </a:r>
                        </a:p>
                      </a:txBody>
                      <a:tcPr anchor="ctr"/>
                    </a:tc>
                    <a:tc>
                      <a:txBody>
                        <a:bodyPr/>
                        <a:lstStyle/>
                        <a:p>
                          <a:r>
                            <a:rPr lang="en-US" dirty="0"/>
                            <a:t>Utility</a:t>
                          </a:r>
                        </a:p>
                      </a:txBody>
                      <a:tcPr anchor="ctr"/>
                    </a:tc>
                    <a:tc>
                      <a:txBody>
                        <a:bodyPr/>
                        <a:lstStyle/>
                        <a:p>
                          <a:r>
                            <a:rPr lang="en-US" dirty="0"/>
                            <a:t>Expected Utility</a:t>
                          </a:r>
                        </a:p>
                      </a:txBody>
                      <a:tcPr anchor="ctr"/>
                    </a:tc>
                    <a:extLst>
                      <a:ext uri="{0D108BD9-81ED-4DB2-BD59-A6C34878D82A}">
                        <a16:rowId xmlns:a16="http://schemas.microsoft.com/office/drawing/2014/main" val="1960836433"/>
                      </a:ext>
                    </a:extLst>
                  </a:tr>
                  <a:tr h="370840">
                    <a:tc rowSpan="3">
                      <a:txBody>
                        <a:bodyPr/>
                        <a:lstStyle/>
                        <a:p>
                          <a:r>
                            <a:rPr lang="en-US" dirty="0"/>
                            <a:t>man</a:t>
                          </a:r>
                        </a:p>
                      </a:txBody>
                      <a:tcPr anchor="ctr">
                        <a:solidFill>
                          <a:schemeClr val="accent2">
                            <a:lumMod val="40000"/>
                            <a:lumOff val="60000"/>
                          </a:schemeClr>
                        </a:solidFill>
                      </a:tcPr>
                    </a:tc>
                    <a:tc rowSpan="3">
                      <a:txBody>
                        <a:bodyPr/>
                        <a:lstStyle/>
                        <a:p>
                          <a:r>
                            <a:rPr lang="en-US" dirty="0"/>
                            <a:t>low</a:t>
                          </a:r>
                        </a:p>
                      </a:txBody>
                      <a:tcPr anchor="ctr">
                        <a:solidFill>
                          <a:schemeClr val="accent2">
                            <a:lumMod val="40000"/>
                            <a:lumOff val="60000"/>
                          </a:schemeClr>
                        </a:solidFill>
                      </a:tcPr>
                    </a:tc>
                    <a:tc>
                      <a:txBody>
                        <a:bodyPr/>
                        <a:lstStyle/>
                        <a:p>
                          <a:r>
                            <a:rPr lang="en-US" dirty="0"/>
                            <a:t>don’t run</a:t>
                          </a:r>
                        </a:p>
                      </a:txBody>
                      <a:tcPr anchor="ctr">
                        <a:solidFill>
                          <a:schemeClr val="accent6">
                            <a:lumMod val="20000"/>
                            <a:lumOff val="80000"/>
                          </a:schemeClr>
                        </a:solidFill>
                      </a:tcPr>
                    </a:tc>
                    <a:tc>
                      <a:txBody>
                        <a:bodyPr/>
                        <a:lstStyle/>
                        <a:p>
                          <a:r>
                            <a:rPr lang="en-US" dirty="0"/>
                            <a:t>lose</a:t>
                          </a:r>
                        </a:p>
                      </a:txBody>
                      <a:tcPr anchor="ctr">
                        <a:solidFill>
                          <a:schemeClr val="accent2">
                            <a:lumMod val="40000"/>
                            <a:lumOff val="60000"/>
                          </a:schemeClr>
                        </a:solidFill>
                      </a:tcPr>
                    </a:tc>
                    <a:tc>
                      <a:txBody>
                        <a:bodyPr/>
                        <a:lstStyle/>
                        <a:p>
                          <a:pPr algn="ctr"/>
                          <a:r>
                            <a:rPr lang="en-US" dirty="0"/>
                            <a:t>1</a:t>
                          </a:r>
                        </a:p>
                      </a:txBody>
                      <a:tcPr anchor="ctr">
                        <a:solidFill>
                          <a:schemeClr val="accent2">
                            <a:lumMod val="40000"/>
                            <a:lumOff val="60000"/>
                          </a:schemeClr>
                        </a:solidFill>
                      </a:tcPr>
                    </a:tc>
                    <a:tc>
                      <a:txBody>
                        <a:bodyPr/>
                        <a:lstStyle/>
                        <a:p>
                          <a:pPr algn="ctr"/>
                          <a:r>
                            <a:rPr lang="en-US" i="1" dirty="0"/>
                            <a:t>0</a:t>
                          </a:r>
                        </a:p>
                      </a:txBody>
                      <a:tcPr anchor="ctr">
                        <a:solidFill>
                          <a:schemeClr val="accent2">
                            <a:lumMod val="40000"/>
                            <a:lumOff val="60000"/>
                          </a:schemeClr>
                        </a:solidFill>
                      </a:tcPr>
                    </a:tc>
                    <a:tc>
                      <a:txBody>
                        <a:bodyPr/>
                        <a:lstStyle/>
                        <a:p>
                          <a:endParaRPr lang="en-US"/>
                        </a:p>
                      </a:txBody>
                      <a:tcPr anchor="ctr">
                        <a:blipFill>
                          <a:blip r:embed="rId2"/>
                          <a:stretch>
                            <a:fillRect l="-304000" t="-106557" r="-842" b="-1124590"/>
                          </a:stretch>
                        </a:blipFill>
                      </a:tcPr>
                    </a:tc>
                    <a:extLst>
                      <a:ext uri="{0D108BD9-81ED-4DB2-BD59-A6C34878D82A}">
                        <a16:rowId xmlns:a16="http://schemas.microsoft.com/office/drawing/2014/main" val="3434664292"/>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3">
                            <a:lumMod val="20000"/>
                            <a:lumOff val="80000"/>
                          </a:schemeClr>
                        </a:solidFill>
                      </a:tcPr>
                    </a:tc>
                    <a:tc>
                      <a:txBody>
                        <a:bodyPr/>
                        <a:lstStyle/>
                        <a:p>
                          <a:r>
                            <a:rPr lang="en-US" dirty="0"/>
                            <a:t>win</a:t>
                          </a:r>
                        </a:p>
                      </a:txBody>
                      <a:tcPr anchor="ctr">
                        <a:solidFill>
                          <a:schemeClr val="accent2">
                            <a:lumMod val="40000"/>
                            <a:lumOff val="60000"/>
                          </a:schemeClr>
                        </a:solidFill>
                      </a:tcPr>
                    </a:tc>
                    <a:tc>
                      <a:txBody>
                        <a:bodyPr/>
                        <a:lstStyle/>
                        <a:p>
                          <a:endParaRPr lang="en-US"/>
                        </a:p>
                      </a:txBody>
                      <a:tcPr anchor="ctr">
                        <a:blipFill>
                          <a:blip r:embed="rId2"/>
                          <a:stretch>
                            <a:fillRect l="-382540" t="-206557" r="-280556" b="-1024590"/>
                          </a:stretch>
                        </a:blipFill>
                      </a:tcPr>
                    </a:tc>
                    <a:tc>
                      <a:txBody>
                        <a:bodyPr/>
                        <a:lstStyle/>
                        <a:p>
                          <a:pPr algn="ctr"/>
                          <a:r>
                            <a:rPr lang="en-US" i="1" dirty="0"/>
                            <a:t>B-C</a:t>
                          </a:r>
                        </a:p>
                      </a:txBody>
                      <a:tcPr anchor="ctr">
                        <a:solidFill>
                          <a:schemeClr val="accent2">
                            <a:lumMod val="40000"/>
                            <a:lumOff val="60000"/>
                          </a:schemeClr>
                        </a:solidFill>
                      </a:tcPr>
                    </a:tc>
                    <a:tc rowSpan="2">
                      <a:txBody>
                        <a:bodyPr/>
                        <a:lstStyle/>
                        <a:p>
                          <a:endParaRPr lang="en-US"/>
                        </a:p>
                      </a:txBody>
                      <a:tcPr anchor="ctr">
                        <a:blipFill>
                          <a:blip r:embed="rId2"/>
                          <a:stretch>
                            <a:fillRect l="-304000" t="-104132" r="-842" b="-466942"/>
                          </a:stretch>
                        </a:blipFill>
                      </a:tcPr>
                    </a:tc>
                    <a:extLst>
                      <a:ext uri="{0D108BD9-81ED-4DB2-BD59-A6C34878D82A}">
                        <a16:rowId xmlns:a16="http://schemas.microsoft.com/office/drawing/2014/main" val="398002968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2">
                            <a:lumMod val="40000"/>
                            <a:lumOff val="60000"/>
                          </a:schemeClr>
                        </a:solidFill>
                      </a:tcPr>
                    </a:tc>
                    <a:tc>
                      <a:txBody>
                        <a:bodyPr/>
                        <a:lstStyle/>
                        <a:p>
                          <a:endParaRPr lang="en-US"/>
                        </a:p>
                      </a:txBody>
                      <a:tcPr anchor="ctr">
                        <a:blipFill>
                          <a:blip r:embed="rId2"/>
                          <a:stretch>
                            <a:fillRect l="-382540" t="-311667" r="-280556" b="-941667"/>
                          </a:stretch>
                        </a:blipFill>
                      </a:tcPr>
                    </a:tc>
                    <a:tc>
                      <a:txBody>
                        <a:bodyPr/>
                        <a:lstStyle/>
                        <a:p>
                          <a:pPr algn="ctr"/>
                          <a:r>
                            <a:rPr lang="en-US" i="1" dirty="0"/>
                            <a:t>-C</a:t>
                          </a:r>
                        </a:p>
                      </a:txBody>
                      <a:tcPr anchor="ctr">
                        <a:solidFill>
                          <a:schemeClr val="accent2">
                            <a:lumMod val="40000"/>
                            <a:lumOff val="60000"/>
                          </a:schemeClr>
                        </a:solidFill>
                      </a:tcPr>
                    </a:tc>
                    <a:tc vMerge="1">
                      <a:txBody>
                        <a:bodyPr/>
                        <a:lstStyle/>
                        <a:p>
                          <a:pPr algn="ctr"/>
                          <a:endParaRPr lang="en-US" i="1" dirty="0"/>
                        </a:p>
                      </a:txBody>
                      <a:tcPr>
                        <a:solidFill>
                          <a:schemeClr val="accent2">
                            <a:lumMod val="40000"/>
                            <a:lumOff val="60000"/>
                          </a:schemeClr>
                        </a:solidFill>
                      </a:tcPr>
                    </a:tc>
                    <a:extLst>
                      <a:ext uri="{0D108BD9-81ED-4DB2-BD59-A6C34878D82A}">
                        <a16:rowId xmlns:a16="http://schemas.microsoft.com/office/drawing/2014/main" val="4122539591"/>
                      </a:ext>
                    </a:extLst>
                  </a:tr>
                  <a:tr h="370840">
                    <a:tc rowSpan="3">
                      <a:txBody>
                        <a:bodyPr/>
                        <a:lstStyle/>
                        <a:p>
                          <a:r>
                            <a:rPr lang="en-US" dirty="0"/>
                            <a:t>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404918" r="-842" b="-826230"/>
                          </a:stretch>
                        </a:blipFill>
                      </a:tcPr>
                    </a:tc>
                    <a:extLst>
                      <a:ext uri="{0D108BD9-81ED-4DB2-BD59-A6C34878D82A}">
                        <a16:rowId xmlns:a16="http://schemas.microsoft.com/office/drawing/2014/main" val="1375576667"/>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20000"/>
                            <a:lumOff val="8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504918" r="-280556" b="-726230"/>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252459" r="-842" b="-313115"/>
                          </a:stretch>
                        </a:blipFill>
                      </a:tcPr>
                    </a:tc>
                    <a:extLst>
                      <a:ext uri="{0D108BD9-81ED-4DB2-BD59-A6C34878D82A}">
                        <a16:rowId xmlns:a16="http://schemas.microsoft.com/office/drawing/2014/main" val="1650652062"/>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604918" r="-280556" b="-626230"/>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4279452838"/>
                      </a:ext>
                    </a:extLst>
                  </a:tr>
                  <a:tr h="370840">
                    <a:tc rowSpan="3">
                      <a:txBody>
                        <a:bodyPr/>
                        <a:lstStyle/>
                        <a:p>
                          <a:r>
                            <a:rPr lang="en-US" dirty="0"/>
                            <a:t>woman</a:t>
                          </a:r>
                        </a:p>
                      </a:txBody>
                      <a:tcPr anchor="ctr">
                        <a:solidFill>
                          <a:schemeClr val="accent1">
                            <a:lumMod val="20000"/>
                            <a:lumOff val="80000"/>
                          </a:schemeClr>
                        </a:solidFill>
                      </a:tcPr>
                    </a:tc>
                    <a:tc rowSpan="3">
                      <a:txBody>
                        <a:bodyPr/>
                        <a:lstStyle/>
                        <a:p>
                          <a:r>
                            <a:rPr lang="en-US" dirty="0"/>
                            <a:t>low</a:t>
                          </a:r>
                        </a:p>
                      </a:txBody>
                      <a:tcPr anchor="ctr">
                        <a:solidFill>
                          <a:schemeClr val="accent1">
                            <a:lumMod val="20000"/>
                            <a:lumOff val="80000"/>
                          </a:schemeClr>
                        </a:solidFill>
                      </a:tcPr>
                    </a:tc>
                    <a:tc>
                      <a:txBody>
                        <a:bodyPr/>
                        <a:lstStyle/>
                        <a:p>
                          <a:r>
                            <a:rPr lang="en-US" dirty="0"/>
                            <a:t>don’t run</a:t>
                          </a:r>
                        </a:p>
                      </a:txBody>
                      <a:tcPr anchor="ctr">
                        <a:solidFill>
                          <a:schemeClr val="accent1">
                            <a:lumMod val="20000"/>
                            <a:lumOff val="80000"/>
                          </a:schemeClr>
                        </a:solidFill>
                      </a:tcPr>
                    </a:tc>
                    <a:tc>
                      <a:txBody>
                        <a:bodyPr/>
                        <a:lstStyle/>
                        <a:p>
                          <a:r>
                            <a:rPr lang="en-US" dirty="0"/>
                            <a:t>lose</a:t>
                          </a:r>
                        </a:p>
                      </a:txBody>
                      <a:tcPr anchor="ctr">
                        <a:solidFill>
                          <a:schemeClr val="accent1">
                            <a:lumMod val="20000"/>
                            <a:lumOff val="80000"/>
                          </a:schemeClr>
                        </a:solidFill>
                      </a:tcPr>
                    </a:tc>
                    <a:tc>
                      <a:txBody>
                        <a:bodyPr/>
                        <a:lstStyle/>
                        <a:p>
                          <a:pPr algn="ctr"/>
                          <a:r>
                            <a:rPr lang="en-US" dirty="0"/>
                            <a:t>1</a:t>
                          </a:r>
                        </a:p>
                      </a:txBody>
                      <a:tcPr anchor="ctr">
                        <a:solidFill>
                          <a:schemeClr val="accent1">
                            <a:lumMod val="20000"/>
                            <a:lumOff val="80000"/>
                          </a:schemeClr>
                        </a:solidFill>
                      </a:tcPr>
                    </a:tc>
                    <a:tc>
                      <a:txBody>
                        <a:bodyPr/>
                        <a:lstStyle/>
                        <a:p>
                          <a:pPr algn="ctr"/>
                          <a:r>
                            <a:rPr lang="en-US" i="1" dirty="0"/>
                            <a:t>0</a:t>
                          </a:r>
                        </a:p>
                      </a:txBody>
                      <a:tcPr anchor="ctr">
                        <a:solidFill>
                          <a:schemeClr val="accent1">
                            <a:lumMod val="20000"/>
                            <a:lumOff val="80000"/>
                          </a:schemeClr>
                        </a:solidFill>
                      </a:tcPr>
                    </a:tc>
                    <a:tc>
                      <a:txBody>
                        <a:bodyPr/>
                        <a:lstStyle/>
                        <a:p>
                          <a:endParaRPr lang="en-US"/>
                        </a:p>
                      </a:txBody>
                      <a:tcPr anchor="ctr">
                        <a:blipFill>
                          <a:blip r:embed="rId2"/>
                          <a:stretch>
                            <a:fillRect l="-304000" t="-704918" r="-842" b="-526230"/>
                          </a:stretch>
                        </a:blipFill>
                      </a:tcPr>
                    </a:tc>
                    <a:extLst>
                      <a:ext uri="{0D108BD9-81ED-4DB2-BD59-A6C34878D82A}">
                        <a16:rowId xmlns:a16="http://schemas.microsoft.com/office/drawing/2014/main" val="1323201191"/>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4">
                            <a:lumMod val="60000"/>
                            <a:lumOff val="40000"/>
                          </a:schemeClr>
                        </a:solidFill>
                      </a:tcPr>
                    </a:tc>
                    <a:tc>
                      <a:txBody>
                        <a:bodyPr/>
                        <a:lstStyle/>
                        <a:p>
                          <a:r>
                            <a:rPr lang="en-US" dirty="0"/>
                            <a:t>win</a:t>
                          </a:r>
                        </a:p>
                      </a:txBody>
                      <a:tcPr anchor="ctr">
                        <a:solidFill>
                          <a:schemeClr val="accent1">
                            <a:lumMod val="20000"/>
                            <a:lumOff val="80000"/>
                          </a:schemeClr>
                        </a:solidFill>
                      </a:tcPr>
                    </a:tc>
                    <a:tc>
                      <a:txBody>
                        <a:bodyPr/>
                        <a:lstStyle/>
                        <a:p>
                          <a:endParaRPr lang="en-US"/>
                        </a:p>
                      </a:txBody>
                      <a:tcPr anchor="ctr">
                        <a:blipFill>
                          <a:blip r:embed="rId2"/>
                          <a:stretch>
                            <a:fillRect l="-382540" t="-804918" r="-280556" b="-426230"/>
                          </a:stretch>
                        </a:blipFill>
                      </a:tcPr>
                    </a:tc>
                    <a:tc>
                      <a:txBody>
                        <a:bodyPr/>
                        <a:lstStyle/>
                        <a:p>
                          <a:pPr algn="ctr"/>
                          <a:r>
                            <a:rPr lang="en-US" i="1" dirty="0"/>
                            <a:t>B-C</a:t>
                          </a:r>
                        </a:p>
                      </a:txBody>
                      <a:tcPr anchor="ctr">
                        <a:solidFill>
                          <a:schemeClr val="accent1">
                            <a:lumMod val="20000"/>
                            <a:lumOff val="80000"/>
                          </a:schemeClr>
                        </a:solidFill>
                      </a:tcPr>
                    </a:tc>
                    <a:tc rowSpan="2">
                      <a:txBody>
                        <a:bodyPr/>
                        <a:lstStyle/>
                        <a:p>
                          <a:endParaRPr lang="en-US"/>
                        </a:p>
                      </a:txBody>
                      <a:tcPr anchor="ctr">
                        <a:blipFill>
                          <a:blip r:embed="rId2"/>
                          <a:stretch>
                            <a:fillRect l="-304000" t="-405785" r="-842" b="-165289"/>
                          </a:stretch>
                        </a:blipFill>
                      </a:tcPr>
                    </a:tc>
                    <a:extLst>
                      <a:ext uri="{0D108BD9-81ED-4DB2-BD59-A6C34878D82A}">
                        <a16:rowId xmlns:a16="http://schemas.microsoft.com/office/drawing/2014/main" val="1499790641"/>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accent1">
                            <a:lumMod val="20000"/>
                            <a:lumOff val="80000"/>
                          </a:schemeClr>
                        </a:solidFill>
                      </a:tcPr>
                    </a:tc>
                    <a:tc>
                      <a:txBody>
                        <a:bodyPr/>
                        <a:lstStyle/>
                        <a:p>
                          <a:endParaRPr lang="en-US"/>
                        </a:p>
                      </a:txBody>
                      <a:tcPr anchor="ctr">
                        <a:blipFill>
                          <a:blip r:embed="rId2"/>
                          <a:stretch>
                            <a:fillRect l="-382540" t="-920000" r="-280556" b="-333333"/>
                          </a:stretch>
                        </a:blipFill>
                      </a:tcPr>
                    </a:tc>
                    <a:tc>
                      <a:txBody>
                        <a:bodyPr/>
                        <a:lstStyle/>
                        <a:p>
                          <a:pPr algn="ctr"/>
                          <a:r>
                            <a:rPr lang="en-US" i="1" dirty="0"/>
                            <a:t>-C</a:t>
                          </a:r>
                        </a:p>
                      </a:txBody>
                      <a:tcPr anchor="ctr">
                        <a:solidFill>
                          <a:schemeClr val="accent1">
                            <a:lumMod val="20000"/>
                            <a:lumOff val="80000"/>
                          </a:schemeClr>
                        </a:solidFill>
                      </a:tcPr>
                    </a:tc>
                    <a:tc vMerge="1">
                      <a:txBody>
                        <a:bodyPr/>
                        <a:lstStyle/>
                        <a:p>
                          <a:pPr algn="ctr"/>
                          <a:endParaRPr lang="en-US" i="1" dirty="0"/>
                        </a:p>
                      </a:txBody>
                      <a:tcPr>
                        <a:solidFill>
                          <a:schemeClr val="accent1">
                            <a:lumMod val="20000"/>
                            <a:lumOff val="80000"/>
                          </a:schemeClr>
                        </a:solidFill>
                      </a:tcPr>
                    </a:tc>
                    <a:extLst>
                      <a:ext uri="{0D108BD9-81ED-4DB2-BD59-A6C34878D82A}">
                        <a16:rowId xmlns:a16="http://schemas.microsoft.com/office/drawing/2014/main" val="1947392918"/>
                      </a:ext>
                    </a:extLst>
                  </a:tr>
                  <a:tr h="370840">
                    <a:tc rowSpan="3">
                      <a:txBody>
                        <a:bodyPr/>
                        <a:lstStyle/>
                        <a:p>
                          <a:r>
                            <a:rPr lang="en-US" dirty="0"/>
                            <a:t>woman</a:t>
                          </a:r>
                        </a:p>
                      </a:txBody>
                      <a:tcPr anchor="ctr">
                        <a:solidFill>
                          <a:schemeClr val="tx2"/>
                        </a:solidFill>
                      </a:tcPr>
                    </a:tc>
                    <a:tc rowSpan="3">
                      <a:txBody>
                        <a:bodyPr/>
                        <a:lstStyle/>
                        <a:p>
                          <a:r>
                            <a:rPr lang="en-US" dirty="0"/>
                            <a:t>high</a:t>
                          </a:r>
                        </a:p>
                      </a:txBody>
                      <a:tcPr anchor="ctr">
                        <a:solidFill>
                          <a:schemeClr val="tx2"/>
                        </a:solidFill>
                      </a:tcPr>
                    </a:tc>
                    <a:tc>
                      <a:txBody>
                        <a:bodyPr/>
                        <a:lstStyle/>
                        <a:p>
                          <a:r>
                            <a:rPr lang="en-US" dirty="0"/>
                            <a:t>don’t run</a:t>
                          </a:r>
                        </a:p>
                      </a:txBody>
                      <a:tcPr anchor="ctr">
                        <a:solidFill>
                          <a:schemeClr val="tx2"/>
                        </a:solidFill>
                      </a:tcPr>
                    </a:tc>
                    <a:tc>
                      <a:txBody>
                        <a:bodyPr/>
                        <a:lstStyle/>
                        <a:p>
                          <a:r>
                            <a:rPr lang="en-US" dirty="0"/>
                            <a:t>lose</a:t>
                          </a:r>
                        </a:p>
                      </a:txBody>
                      <a:tcPr anchor="ctr">
                        <a:solidFill>
                          <a:schemeClr val="tx2"/>
                        </a:solidFill>
                      </a:tcPr>
                    </a:tc>
                    <a:tc>
                      <a:txBody>
                        <a:bodyPr/>
                        <a:lstStyle/>
                        <a:p>
                          <a:pPr algn="ctr"/>
                          <a:r>
                            <a:rPr lang="en-US" dirty="0"/>
                            <a:t>1</a:t>
                          </a:r>
                        </a:p>
                      </a:txBody>
                      <a:tcPr anchor="ctr">
                        <a:solidFill>
                          <a:schemeClr val="tx2"/>
                        </a:solidFill>
                      </a:tcPr>
                    </a:tc>
                    <a:tc>
                      <a:txBody>
                        <a:bodyPr/>
                        <a:lstStyle/>
                        <a:p>
                          <a:pPr algn="ctr"/>
                          <a:r>
                            <a:rPr lang="en-US" i="1" dirty="0"/>
                            <a:t>0</a:t>
                          </a:r>
                        </a:p>
                      </a:txBody>
                      <a:tcPr anchor="ctr">
                        <a:solidFill>
                          <a:schemeClr val="tx2"/>
                        </a:solidFill>
                      </a:tcPr>
                    </a:tc>
                    <a:tc>
                      <a:txBody>
                        <a:bodyPr/>
                        <a:lstStyle/>
                        <a:p>
                          <a:endParaRPr lang="en-US"/>
                        </a:p>
                      </a:txBody>
                      <a:tcPr anchor="ctr">
                        <a:blipFill>
                          <a:blip r:embed="rId2"/>
                          <a:stretch>
                            <a:fillRect l="-304000" t="-1003279" r="-842" b="-227869"/>
                          </a:stretch>
                        </a:blipFill>
                      </a:tcPr>
                    </a:tc>
                    <a:extLst>
                      <a:ext uri="{0D108BD9-81ED-4DB2-BD59-A6C34878D82A}">
                        <a16:rowId xmlns:a16="http://schemas.microsoft.com/office/drawing/2014/main" val="2673394150"/>
                      </a:ext>
                    </a:extLst>
                  </a:tr>
                  <a:tr h="370840">
                    <a:tc vMerge="1">
                      <a:txBody>
                        <a:bodyPr/>
                        <a:lstStyle/>
                        <a:p>
                          <a:endParaRPr lang="en-US" dirty="0"/>
                        </a:p>
                      </a:txBody>
                      <a:tcPr/>
                    </a:tc>
                    <a:tc vMerge="1">
                      <a:txBody>
                        <a:bodyPr/>
                        <a:lstStyle/>
                        <a:p>
                          <a:endParaRPr lang="en-US" dirty="0"/>
                        </a:p>
                      </a:txBody>
                      <a:tcPr/>
                    </a:tc>
                    <a:tc rowSpan="2">
                      <a:txBody>
                        <a:bodyPr/>
                        <a:lstStyle/>
                        <a:p>
                          <a:r>
                            <a:rPr lang="en-US" dirty="0"/>
                            <a:t>run</a:t>
                          </a:r>
                        </a:p>
                      </a:txBody>
                      <a:tcPr anchor="ctr">
                        <a:solidFill>
                          <a:schemeClr val="accent5">
                            <a:lumMod val="40000"/>
                            <a:lumOff val="60000"/>
                          </a:schemeClr>
                        </a:solidFill>
                      </a:tcPr>
                    </a:tc>
                    <a:tc>
                      <a:txBody>
                        <a:bodyPr/>
                        <a:lstStyle/>
                        <a:p>
                          <a:r>
                            <a:rPr lang="en-US" dirty="0"/>
                            <a:t>win</a:t>
                          </a:r>
                        </a:p>
                      </a:txBody>
                      <a:tcPr anchor="ctr">
                        <a:solidFill>
                          <a:schemeClr val="tx2"/>
                        </a:solidFill>
                      </a:tcPr>
                    </a:tc>
                    <a:tc>
                      <a:txBody>
                        <a:bodyPr/>
                        <a:lstStyle/>
                        <a:p>
                          <a:endParaRPr lang="en-US"/>
                        </a:p>
                      </a:txBody>
                      <a:tcPr anchor="ctr">
                        <a:blipFill>
                          <a:blip r:embed="rId2"/>
                          <a:stretch>
                            <a:fillRect l="-382540" t="-1103279" r="-280556" b="-127869"/>
                          </a:stretch>
                        </a:blipFill>
                      </a:tcPr>
                    </a:tc>
                    <a:tc>
                      <a:txBody>
                        <a:bodyPr/>
                        <a:lstStyle/>
                        <a:p>
                          <a:pPr algn="ctr"/>
                          <a:r>
                            <a:rPr lang="en-US" i="1" dirty="0"/>
                            <a:t>B-C</a:t>
                          </a:r>
                        </a:p>
                      </a:txBody>
                      <a:tcPr anchor="ctr">
                        <a:solidFill>
                          <a:schemeClr val="tx2"/>
                        </a:solidFill>
                      </a:tcPr>
                    </a:tc>
                    <a:tc rowSpan="2">
                      <a:txBody>
                        <a:bodyPr/>
                        <a:lstStyle/>
                        <a:p>
                          <a:endParaRPr lang="en-US"/>
                        </a:p>
                      </a:txBody>
                      <a:tcPr anchor="ctr">
                        <a:blipFill>
                          <a:blip r:embed="rId2"/>
                          <a:stretch>
                            <a:fillRect l="-304000" t="-551639" r="-842" b="-13934"/>
                          </a:stretch>
                        </a:blipFill>
                      </a:tcPr>
                    </a:tc>
                    <a:extLst>
                      <a:ext uri="{0D108BD9-81ED-4DB2-BD59-A6C34878D82A}">
                        <a16:rowId xmlns:a16="http://schemas.microsoft.com/office/drawing/2014/main" val="2457072740"/>
                      </a:ext>
                    </a:extLst>
                  </a:tr>
                  <a:tr h="370840">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p>
                          <a:r>
                            <a:rPr lang="en-US" dirty="0"/>
                            <a:t>lose</a:t>
                          </a:r>
                        </a:p>
                      </a:txBody>
                      <a:tcPr anchor="ctr">
                        <a:solidFill>
                          <a:schemeClr val="tx2"/>
                        </a:solidFill>
                      </a:tcPr>
                    </a:tc>
                    <a:tc>
                      <a:txBody>
                        <a:bodyPr/>
                        <a:lstStyle/>
                        <a:p>
                          <a:endParaRPr lang="en-US"/>
                        </a:p>
                      </a:txBody>
                      <a:tcPr anchor="ctr">
                        <a:blipFill>
                          <a:blip r:embed="rId2"/>
                          <a:stretch>
                            <a:fillRect l="-382540" t="-1203279" r="-280556" b="-27869"/>
                          </a:stretch>
                        </a:blipFill>
                      </a:tcPr>
                    </a:tc>
                    <a:tc>
                      <a:txBody>
                        <a:bodyPr/>
                        <a:lstStyle/>
                        <a:p>
                          <a:pPr algn="ctr"/>
                          <a:r>
                            <a:rPr lang="en-US" i="1" dirty="0"/>
                            <a:t>-C</a:t>
                          </a:r>
                        </a:p>
                      </a:txBody>
                      <a:tcPr anchor="ctr">
                        <a:solidFill>
                          <a:schemeClr val="tx2"/>
                        </a:solidFill>
                      </a:tcPr>
                    </a:tc>
                    <a:tc vMerge="1">
                      <a:txBody>
                        <a:bodyPr/>
                        <a:lstStyle/>
                        <a:p>
                          <a:pPr algn="ctr"/>
                          <a:endParaRPr lang="en-US" i="1" dirty="0"/>
                        </a:p>
                      </a:txBody>
                      <a:tcPr>
                        <a:solidFill>
                          <a:schemeClr val="tx2"/>
                        </a:solidFill>
                      </a:tcPr>
                    </a:tc>
                    <a:extLst>
                      <a:ext uri="{0D108BD9-81ED-4DB2-BD59-A6C34878D82A}">
                        <a16:rowId xmlns:a16="http://schemas.microsoft.com/office/drawing/2014/main" val="1247838998"/>
                      </a:ext>
                    </a:extLst>
                  </a:tr>
                </a:tbl>
              </a:graphicData>
            </a:graphic>
          </p:graphicFrame>
        </mc:Fallback>
      </mc:AlternateContent>
    </p:spTree>
    <p:extLst>
      <p:ext uri="{BB962C8B-B14F-4D97-AF65-F5344CB8AC3E}">
        <p14:creationId xmlns:p14="http://schemas.microsoft.com/office/powerpoint/2010/main" val="261753204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62120-E2AC-3A2F-2991-BEBCFDC4D28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328746A-D425-8920-1999-02202D33E735}"/>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E328746A-D425-8920-1999-02202D33E735}"/>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2"/>
                <a:stretch>
                  <a:fillRect l="-906" t="-2727" r="-1164" b="-11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C1C613E0-D953-DCAD-EBEC-737BBC0C0B9C}"/>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FD674FE6-01E0-5988-8D9D-418AB86F8D3E}"/>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45F98B5-2FE3-97CE-9E8E-88021FE73D4D}"/>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EC5AC4E2-E82D-6101-972F-01F6A943774A}"/>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2BA73297-2170-78F0-06A1-5AD71AAC1A27}"/>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9A3F0965-40E9-FC3C-C46A-B6F60C0F4EB3}"/>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C4868EA6-1BCB-5D51-8BBC-3DD8DAD3BD5A}"/>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7B9CEEA1-FEFC-862A-C761-45BC2422E11F}"/>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3A751211-2F23-FBF6-6018-7C7E56D4EBE0}"/>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601D1B95-A457-5DC9-DA2F-CB5D69B63874}"/>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87C8D78E-FB8D-959E-CE65-A2B57EE872C8}"/>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EB8912E0-C9A7-F296-0C3F-8640C078E0A6}"/>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CD26872-14DE-8D09-6299-6122354DA5E1}"/>
                  </a:ext>
                </a:extLst>
              </p:cNvPr>
              <p:cNvGraphicFramePr>
                <a:graphicFrameLocks noGrp="1"/>
              </p:cNvGraphicFramePr>
              <p:nvPr>
                <p:extLst>
                  <p:ext uri="{D42A27DB-BD31-4B8C-83A1-F6EECF244321}">
                    <p14:modId xmlns:p14="http://schemas.microsoft.com/office/powerpoint/2010/main" val="207892293"/>
                  </p:ext>
                </p:extLst>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1CD26872-14DE-8D09-6299-6122354DA5E1}"/>
                  </a:ext>
                </a:extLst>
              </p:cNvPr>
              <p:cNvGraphicFramePr>
                <a:graphicFrameLocks noGrp="1"/>
              </p:cNvGraphicFramePr>
              <p:nvPr>
                <p:extLst>
                  <p:ext uri="{D42A27DB-BD31-4B8C-83A1-F6EECF244321}">
                    <p14:modId xmlns:p14="http://schemas.microsoft.com/office/powerpoint/2010/main" val="207892293"/>
                  </p:ext>
                </p:extLst>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3"/>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3"/>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3"/>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3"/>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3"/>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3"/>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3"/>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3"/>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Tree>
    <p:extLst>
      <p:ext uri="{BB962C8B-B14F-4D97-AF65-F5344CB8AC3E}">
        <p14:creationId xmlns:p14="http://schemas.microsoft.com/office/powerpoint/2010/main" val="148834118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D30B8-C98E-372A-F69C-5107039E458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774D353-3385-22C3-668E-8ABBB6B2DE9F}"/>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E774D353-3385-22C3-668E-8ABBB6B2DE9F}"/>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2"/>
                <a:stretch>
                  <a:fillRect l="-906" t="-2727" r="-1164" b="-11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BA879B99-6F79-C4A1-FCB8-CEE9A38201EE}"/>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30E0687D-888E-A4E6-C1F1-DA1A378D5838}"/>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D37A4FF-FB3D-06C2-AC06-D964662DDADF}"/>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5871A6F6-6DDB-6969-F4FA-1F1825BB592D}"/>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5863C529-227A-36FC-E3D8-D4173FCD8D31}"/>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6FEEBABE-2EED-BF0C-8F59-DD3B4DAF71E2}"/>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7A27C3B6-05B2-8B23-A12E-A6D9B6ABE17A}"/>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C5BE99BD-6487-EC4A-4B75-E07FFAD11CE2}"/>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8A8A13CE-0CF1-53A5-01EF-2977FAD0B0B7}"/>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441D858B-184C-76AF-13BC-2C2BA87A0680}"/>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ECDA00E0-289A-2E91-666F-C8DEB92DABEC}"/>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022571F5-DBCC-9DC8-C032-DD9077A39684}"/>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D325627-97CE-A310-7BC1-C1A5C9CE108E}"/>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CD325627-97CE-A310-7BC1-C1A5C9CE108E}"/>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3"/>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3"/>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3"/>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3"/>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3"/>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3"/>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3"/>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3"/>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D4B12BA5-E915-3639-F928-3FABA82B9E97}"/>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66A543A6-3F85-3B25-16F2-FD402B98B4A6}"/>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073047E9-6E37-3030-87D4-792E003DB992}"/>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418697300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8D85D-B07E-4B92-A0DF-0C290F128A3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2A2376D-2142-E6B4-6795-A2FD4097485D}"/>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D2A2376D-2142-E6B4-6795-A2FD4097485D}"/>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2"/>
                <a:stretch>
                  <a:fillRect l="-906" t="-2727" r="-1164" b="-11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E985CBF5-3E85-85FE-7913-57F926596928}"/>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833006F4-3DF4-3277-C617-2CD7FECB6BFA}"/>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5E282F70-FD08-15F2-67A8-CC8707B90DB0}"/>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9F688438-DA52-C78C-4245-A3BF3886249F}"/>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012B0EE9-817E-4BA5-AFF3-F2DFDBA8CC5B}"/>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1C18865A-7DAC-5CC6-6D73-8F0F4575DAA3}"/>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EF19BCDC-1E3A-2420-AA0B-E7E4B9680213}"/>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0E7123FD-55A8-6FF3-92FF-39173F9499D2}"/>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48E3B537-76BA-503B-9D53-72660D88A3AB}"/>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552623EA-7F22-9B29-5AC9-8962395E5836}"/>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C6F62095-E876-F317-535E-E362FA933AF4}"/>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BCE464A8-B34B-43E7-877C-9514FE936466}"/>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F235CDF-A78B-CFEB-15E0-0D505C46B8C0}"/>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9F235CDF-A78B-CFEB-15E0-0D505C46B8C0}"/>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3"/>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3"/>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3"/>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3"/>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3"/>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3"/>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3"/>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3"/>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C5497962-3C40-31DD-6208-67D960C2DDF8}"/>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EAF75C18-0189-36F0-9756-12652D2FE5A9}"/>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98B4E2C7-0149-D351-D5D1-F36D88819BE2}"/>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1613689-8D57-028F-41EC-6267AB40EA37}"/>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01613689-8D57-028F-41EC-6267AB40EA37}"/>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4"/>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F7A45B8F-AFF2-1421-8114-8F6F84B9B326}"/>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044932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A347F-B341-C47B-D11D-749EF85EDFF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405132F-6909-97F6-8CCE-9473653E7293}"/>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4405132F-6909-97F6-8CCE-9473653E7293}"/>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2"/>
                <a:stretch>
                  <a:fillRect l="-906" t="-2727" r="-1164" b="-11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686A1AB9-1592-DAF7-7840-77CD141F302F}"/>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E431F961-7FD8-99C8-D37F-9115E907CE4E}"/>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C47F043D-0708-C009-D9F2-7D376B65C13A}"/>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0790D26D-549D-962C-BCDE-C086C633D635}"/>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F762D0DE-EB32-BA08-656B-20FC9D621297}"/>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E984514C-0F58-21F6-BF09-2F685E858050}"/>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6527637D-6572-11C1-79F4-7D9D630F4B6C}"/>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9049F557-FE45-8059-B8F0-3F751796BA95}"/>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2039A55B-77CF-F112-EFD9-4DF79CA0F97C}"/>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1B3C0B2D-D96B-1317-1D77-21AA1C1C3E11}"/>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CCD002FB-5F06-36CC-77E0-91F1F220AAC7}"/>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68FA816A-3F65-9D8D-DF65-1BC57321AE3C}"/>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9BF4B84-E18C-87B9-58C4-3888F11646B2}"/>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C9BF4B84-E18C-87B9-58C4-3888F11646B2}"/>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3"/>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3"/>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3"/>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3"/>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3"/>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3"/>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3"/>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3"/>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6BC13B69-C894-FFE1-39D1-01612D0C9787}"/>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55C0605B-BA0C-D27A-8F00-9F0C1F65D591}"/>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5E1DADCB-0107-2B04-A688-27E761CC93D5}"/>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A4CB146-B040-AC84-2082-003364677D01}"/>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4A4CB146-B040-AC84-2082-003364677D01}"/>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4"/>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788D6130-5ACD-E098-ECF2-7B691897A588}"/>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911F85E-2AC1-438C-7653-E3D2A33915CF}"/>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FA8354E8-0149-4348-2A44-CBB5BEFCA51F}"/>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197242573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BF257-E593-4BB9-C55E-799F849EDF1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C646B95-4F96-F99F-CC67-44D12ADB54C1}"/>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DC646B95-4F96-F99F-CC67-44D12ADB54C1}"/>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2"/>
                <a:stretch>
                  <a:fillRect l="-906" t="-2727" r="-1164" b="-11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D0D015A7-A00C-8923-E5F8-47530A98D06C}"/>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7661C2E3-5DF8-CC15-D139-0FC799EE08F7}"/>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976A0BD-A259-51C9-8E56-9D54F2AC6A2F}"/>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2199337F-B8D0-1303-C99F-068992A4FC7E}"/>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B26D526F-2B7A-8898-9F9E-01D44A639061}"/>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5641B281-8F4D-14F7-D873-15E00414CAA3}"/>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977201D9-5ADE-2A24-E125-E60FF5287E1D}"/>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00529C78-DFBC-A3AB-C222-9608064BF9C9}"/>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309EFE17-D7CB-CC1E-0A53-70775C140B7A}"/>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461D6C56-55EA-41C2-B587-D7F740ED4306}"/>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E4C1AB02-8B29-0A13-DF41-0E82E7786853}"/>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3443D5FB-2A58-CEB2-AD35-DDBBEB704491}"/>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728D94F-60E2-E0D8-BE35-FC1B602E919D}"/>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9728D94F-60E2-E0D8-BE35-FC1B602E919D}"/>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3"/>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3"/>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3"/>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3"/>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3"/>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3"/>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3"/>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3"/>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75225077-0DB9-CADC-B146-245FB0BBEAFD}"/>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B853B8DA-82BB-5A3A-FE13-CFBE63681881}"/>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916C12BA-BD82-695E-014A-ADE0C39D7E70}"/>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796D938-2FDC-6206-BFB8-AA353FDC6BB4}"/>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8796D938-2FDC-6206-BFB8-AA353FDC6BB4}"/>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4"/>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5147938D-4F93-CC19-5650-AAA9D03B9788}"/>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9A17D85-57CF-1F56-0F80-459C7AEB5358}"/>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4CEECFA4-2F6E-1B1B-5148-72E7E2736707}"/>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5B8F7E38-E809-5786-376B-F2AA30B57F0E}"/>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p:spTree>
    <p:extLst>
      <p:ext uri="{BB962C8B-B14F-4D97-AF65-F5344CB8AC3E}">
        <p14:creationId xmlns:p14="http://schemas.microsoft.com/office/powerpoint/2010/main" val="232457791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E55C-5795-E3E4-279A-6299E879DD7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60C1A9E-4CE2-E892-737D-0B353E6CB3DC}"/>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360C1A9E-4CE2-E892-737D-0B353E6CB3DC}"/>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2"/>
                <a:stretch>
                  <a:fillRect l="-906" t="-2727" r="-1164" b="-11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87B0DF27-3B55-564B-2E2D-AE25EF2DD19E}"/>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F19B031E-C9DA-9A27-E427-7C49EBABE87A}"/>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56EF7027-FFD3-987F-214F-15B7BEB1F0A8}"/>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E9B7C1B9-F878-E0F8-609E-25B2D4373315}"/>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70D5352F-6A53-6A08-14F3-2A1185330885}"/>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66C6F17F-70F4-0461-7D52-6ACE2F15119C}"/>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3BC301C9-005A-F686-BF0A-40037C5572C0}"/>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02653D7E-2203-5F74-E49E-483B4CC635F4}"/>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247EBE3D-F543-BFA0-A8B7-E20024526A17}"/>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4C4CA84E-8592-BD66-539C-3C9629418984}"/>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694268C0-5308-2AC5-0C84-59DDC37B3F40}"/>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BA6ADB9F-CD82-4DB4-D7FD-2100608BF3B0}"/>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20B4F58-C0F2-3556-03D9-08583F6FAC95}"/>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A20B4F58-C0F2-3556-03D9-08583F6FAC95}"/>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3"/>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3"/>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3"/>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3"/>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3"/>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3"/>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3"/>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3"/>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50CEC6CA-9592-1DBB-3E6E-55CF036ACA8A}"/>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3B4E0F9C-D53E-90FD-090A-E0C03518B0A6}"/>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DD0289D-2AEE-DA88-DC30-D358E98A375C}"/>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A54009F-BB3D-7F5A-33C8-65C85F66E5C6}"/>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FA54009F-BB3D-7F5A-33C8-65C85F66E5C6}"/>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4"/>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27D9F4F3-7959-AF48-3350-1A9224B0F5E6}"/>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D9B8106-A6D5-794E-17C5-C01D689AB76C}"/>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616E2797-88E8-17E2-21D5-DD0CC50EA980}"/>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B2801089-2D38-36A6-CDEA-5FB43F26E262}"/>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DD4EC87F-8756-9433-6240-4FB1EDE5B77B}"/>
                  </a:ext>
                </a:extLst>
              </p:cNvPr>
              <p:cNvSpPr txBox="1"/>
              <p:nvPr/>
            </p:nvSpPr>
            <p:spPr>
              <a:xfrm>
                <a:off x="349624" y="5056094"/>
                <a:ext cx="4141694" cy="376518"/>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p:txBody>
          </p:sp>
        </mc:Choice>
        <mc:Fallback xmlns="">
          <p:sp>
            <p:nvSpPr>
              <p:cNvPr id="22" name="TextBox 21">
                <a:extLst>
                  <a:ext uri="{FF2B5EF4-FFF2-40B4-BE49-F238E27FC236}">
                    <a16:creationId xmlns:a16="http://schemas.microsoft.com/office/drawing/2014/main" id="{DD4EC87F-8756-9433-6240-4FB1EDE5B77B}"/>
                  </a:ext>
                </a:extLst>
              </p:cNvPr>
              <p:cNvSpPr txBox="1">
                <a:spLocks noRot="1" noChangeAspect="1" noMove="1" noResize="1" noEditPoints="1" noAdjustHandles="1" noChangeArrowheads="1" noChangeShapeType="1" noTextEdit="1"/>
              </p:cNvSpPr>
              <p:nvPr/>
            </p:nvSpPr>
            <p:spPr>
              <a:xfrm>
                <a:off x="349624" y="5056094"/>
                <a:ext cx="4141694" cy="376518"/>
              </a:xfrm>
              <a:prstGeom prst="rect">
                <a:avLst/>
              </a:prstGeom>
              <a:blipFill>
                <a:blip r:embed="rId5"/>
                <a:stretch>
                  <a:fillRect b="-6250"/>
                </a:stretch>
              </a:blipFill>
              <a:ln>
                <a:solidFill>
                  <a:srgbClr val="FFFF00"/>
                </a:solidFill>
              </a:ln>
            </p:spPr>
            <p:txBody>
              <a:bodyPr/>
              <a:lstStyle/>
              <a:p>
                <a:r>
                  <a:rPr lang="en-US">
                    <a:noFill/>
                  </a:rPr>
                  <a:t> </a:t>
                </a:r>
              </a:p>
            </p:txBody>
          </p:sp>
        </mc:Fallback>
      </mc:AlternateContent>
      <p:cxnSp>
        <p:nvCxnSpPr>
          <p:cNvPr id="26" name="Straight Connector 25">
            <a:extLst>
              <a:ext uri="{FF2B5EF4-FFF2-40B4-BE49-F238E27FC236}">
                <a16:creationId xmlns:a16="http://schemas.microsoft.com/office/drawing/2014/main" id="{362544B4-6230-5EA8-C318-57B176EDB5F4}"/>
              </a:ext>
            </a:extLst>
          </p:cNvPr>
          <p:cNvCxnSpPr/>
          <p:nvPr/>
        </p:nvCxnSpPr>
        <p:spPr>
          <a:xfrm>
            <a:off x="3672669" y="4294094"/>
            <a:ext cx="3122578" cy="0"/>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393521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AC5E3-1882-B6C9-F919-0CD485F4AE0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E73D621-8799-3EDB-A326-C235977954B9}"/>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0E73D621-8799-3EDB-A326-C235977954B9}"/>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2"/>
                <a:stretch>
                  <a:fillRect l="-906" t="-2727" r="-1164" b="-11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42289B2A-EAB5-B064-71AE-41E5F4404C52}"/>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3A846837-8552-DCA2-DC55-99D3023FDA40}"/>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5E8082D1-73E9-9191-19F7-E0E9505385D8}"/>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F27E50C7-F0A2-763C-56BD-19C91E801100}"/>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82DB2BB2-FC2B-BCD3-FB48-A53C5E0A2B93}"/>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B182BA04-8EC7-7567-3F39-028529C3363A}"/>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B7BCB557-31BC-ED8A-4FB7-18C626D02F7D}"/>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48353765-6A9F-6165-4F0C-CA641601118C}"/>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D692A83B-B261-8658-6DB5-E0D17F05DF57}"/>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2FAF4634-7C89-6FB7-40D1-289A5ACB7C03}"/>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4637AB03-7F19-D15C-3FF9-E61CD44B5DCE}"/>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D7BB732F-F0A8-751F-1F89-9B420D8E4B0B}"/>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7C720D3-15FE-7FEA-6927-498D35BA5849}"/>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97C720D3-15FE-7FEA-6927-498D35BA5849}"/>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3"/>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3"/>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3"/>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3"/>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3"/>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3"/>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3"/>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3"/>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DF3B032A-7248-4D76-CD84-35141D56CB31}"/>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B0B55DFF-E0FF-A6AF-543D-343EF3E04CC6}"/>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1C4EFFEF-4648-53DB-12EC-199476A0EAC6}"/>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AE6D65D-BF1F-F4D1-6F86-4BC09F49BF3B}"/>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0AE6D65D-BF1F-F4D1-6F86-4BC09F49BF3B}"/>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4"/>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271E622E-07FC-A0BA-6C17-74CD7E68611D}"/>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74BB3CD-0582-9509-CE02-507494C04032}"/>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BBF998F7-C07B-E8F3-A7A5-5487E194DCF9}"/>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1871DC2D-BD66-5EA8-6637-5D9890A7CCDE}"/>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15D2590-261F-4733-B4AF-D7B215F2B41B}"/>
                  </a:ext>
                </a:extLst>
              </p:cNvPr>
              <p:cNvSpPr txBox="1"/>
              <p:nvPr/>
            </p:nvSpPr>
            <p:spPr>
              <a:xfrm>
                <a:off x="349624" y="5056094"/>
                <a:ext cx="4141694" cy="376518"/>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p:txBody>
          </p:sp>
        </mc:Choice>
        <mc:Fallback xmlns="">
          <p:sp>
            <p:nvSpPr>
              <p:cNvPr id="22" name="TextBox 21">
                <a:extLst>
                  <a:ext uri="{FF2B5EF4-FFF2-40B4-BE49-F238E27FC236}">
                    <a16:creationId xmlns:a16="http://schemas.microsoft.com/office/drawing/2014/main" id="{415D2590-261F-4733-B4AF-D7B215F2B41B}"/>
                  </a:ext>
                </a:extLst>
              </p:cNvPr>
              <p:cNvSpPr txBox="1">
                <a:spLocks noRot="1" noChangeAspect="1" noMove="1" noResize="1" noEditPoints="1" noAdjustHandles="1" noChangeArrowheads="1" noChangeShapeType="1" noTextEdit="1"/>
              </p:cNvSpPr>
              <p:nvPr/>
            </p:nvSpPr>
            <p:spPr>
              <a:xfrm>
                <a:off x="349624" y="5056094"/>
                <a:ext cx="4141694" cy="376518"/>
              </a:xfrm>
              <a:prstGeom prst="rect">
                <a:avLst/>
              </a:prstGeom>
              <a:blipFill>
                <a:blip r:embed="rId5"/>
                <a:stretch>
                  <a:fillRect b="-6250"/>
                </a:stretch>
              </a:blipFill>
              <a:ln>
                <a:solidFill>
                  <a:srgbClr val="FFFF00"/>
                </a:solidFill>
              </a:ln>
            </p:spPr>
            <p:txBody>
              <a:bodyPr/>
              <a:lstStyle/>
              <a:p>
                <a:r>
                  <a:rPr lang="en-US">
                    <a:noFill/>
                  </a:rPr>
                  <a:t> </a:t>
                </a:r>
              </a:p>
            </p:txBody>
          </p:sp>
        </mc:Fallback>
      </mc:AlternateContent>
      <p:cxnSp>
        <p:nvCxnSpPr>
          <p:cNvPr id="26" name="Straight Connector 25">
            <a:extLst>
              <a:ext uri="{FF2B5EF4-FFF2-40B4-BE49-F238E27FC236}">
                <a16:creationId xmlns:a16="http://schemas.microsoft.com/office/drawing/2014/main" id="{27740169-BAD5-0FC2-FBAD-0717A85692CE}"/>
              </a:ext>
            </a:extLst>
          </p:cNvPr>
          <p:cNvCxnSpPr/>
          <p:nvPr/>
        </p:nvCxnSpPr>
        <p:spPr>
          <a:xfrm>
            <a:off x="3854925" y="4572000"/>
            <a:ext cx="3122578" cy="0"/>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A2D6E1E-36B4-0EE8-36D9-B1A4DF28CB7E}"/>
                  </a:ext>
                </a:extLst>
              </p:cNvPr>
              <p:cNvSpPr txBox="1"/>
              <p:nvPr/>
            </p:nvSpPr>
            <p:spPr>
              <a:xfrm>
                <a:off x="349624" y="5702425"/>
                <a:ext cx="4141694" cy="376518"/>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p:txBody>
          </p:sp>
        </mc:Choice>
        <mc:Fallback xmlns="">
          <p:sp>
            <p:nvSpPr>
              <p:cNvPr id="25" name="TextBox 24">
                <a:extLst>
                  <a:ext uri="{FF2B5EF4-FFF2-40B4-BE49-F238E27FC236}">
                    <a16:creationId xmlns:a16="http://schemas.microsoft.com/office/drawing/2014/main" id="{EA2D6E1E-36B4-0EE8-36D9-B1A4DF28CB7E}"/>
                  </a:ext>
                </a:extLst>
              </p:cNvPr>
              <p:cNvSpPr txBox="1">
                <a:spLocks noRot="1" noChangeAspect="1" noMove="1" noResize="1" noEditPoints="1" noAdjustHandles="1" noChangeArrowheads="1" noChangeShapeType="1" noTextEdit="1"/>
              </p:cNvSpPr>
              <p:nvPr/>
            </p:nvSpPr>
            <p:spPr>
              <a:xfrm>
                <a:off x="349624" y="5702425"/>
                <a:ext cx="4141694" cy="376518"/>
              </a:xfrm>
              <a:prstGeom prst="rect">
                <a:avLst/>
              </a:prstGeom>
              <a:blipFill>
                <a:blip r:embed="rId6"/>
                <a:stretch>
                  <a:fillRect/>
                </a:stretch>
              </a:blipFill>
              <a:ln>
                <a:solidFill>
                  <a:srgbClr val="FFFF00"/>
                </a:solidFill>
              </a:ln>
            </p:spPr>
            <p:txBody>
              <a:bodyPr/>
              <a:lstStyle/>
              <a:p>
                <a:r>
                  <a:rPr lang="en-US">
                    <a:noFill/>
                  </a:rPr>
                  <a:t> </a:t>
                </a:r>
              </a:p>
            </p:txBody>
          </p:sp>
        </mc:Fallback>
      </mc:AlternateContent>
    </p:spTree>
    <p:extLst>
      <p:ext uri="{BB962C8B-B14F-4D97-AF65-F5344CB8AC3E}">
        <p14:creationId xmlns:p14="http://schemas.microsoft.com/office/powerpoint/2010/main" val="241379626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B11E0-5C2E-AA29-E703-5891BC4F0BA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D953DB0-3799-DCAA-40CC-69A6AE7B907A}"/>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1D953DB0-3799-DCAA-40CC-69A6AE7B907A}"/>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2"/>
                <a:stretch>
                  <a:fillRect l="-906" t="-2727" r="-1164" b="-11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AD9713D2-478C-83D9-5A66-564DB1889438}"/>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F64C3E2C-811F-94CA-B5A2-295F827763C1}"/>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1D110294-32A5-A3B2-3237-19669BAD783E}"/>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0B2FACBD-9593-D72A-532A-FAAD78780315}"/>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3DC3B66B-1F9C-7CCB-491D-FCBF40F90FE2}"/>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67C99E98-102D-7487-03CF-BE6B31D6D58D}"/>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5BE3A649-E7A8-6510-9F31-0CF9EF28E387}"/>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C835F84C-D8A3-7BE6-0CD3-0F01D77DE964}"/>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63401796-AF7F-D327-6096-FD7D1C42DFEC}"/>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F9AFBCC9-0D18-FD31-F0B3-937F4DAE2E47}"/>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E1224399-AD5F-2439-62E0-6971396842A5}"/>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8A4177BD-6865-4703-E71A-44CF5BC5256B}"/>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FDE8765-C7E9-2E93-4FC2-45C801ECC4CE}"/>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EFDE8765-C7E9-2E93-4FC2-45C801ECC4CE}"/>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3"/>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3"/>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3"/>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3"/>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3"/>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3"/>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3"/>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3"/>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A40FC628-AED1-640B-B039-6F67955A94C1}"/>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1E4DBEA2-E42F-3399-99B9-7DFD4821CC60}"/>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08C0BA1-B1C3-FEC9-CD10-F4A7B1830F7C}"/>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72AEE29-877F-29A2-04DC-944B2C701D99}"/>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B72AEE29-877F-29A2-04DC-944B2C701D99}"/>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4"/>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EB51CA25-D418-D0BC-B730-E45C8C3A893B}"/>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1EB7774-84D0-041F-F837-0188147AA8AE}"/>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015B88E7-2BFD-49BA-AB9C-8000BB9072EF}"/>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55371A52-60C6-7F55-598E-3E988CBED143}"/>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4315BF3-1200-7C7C-0F31-F1455D08CBE0}"/>
                  </a:ext>
                </a:extLst>
              </p:cNvPr>
              <p:cNvSpPr txBox="1"/>
              <p:nvPr/>
            </p:nvSpPr>
            <p:spPr>
              <a:xfrm>
                <a:off x="349624" y="5056094"/>
                <a:ext cx="4141694" cy="376518"/>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𝜇𝜆</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p:txBody>
          </p:sp>
        </mc:Choice>
        <mc:Fallback xmlns="">
          <p:sp>
            <p:nvSpPr>
              <p:cNvPr id="22" name="TextBox 21">
                <a:extLst>
                  <a:ext uri="{FF2B5EF4-FFF2-40B4-BE49-F238E27FC236}">
                    <a16:creationId xmlns:a16="http://schemas.microsoft.com/office/drawing/2014/main" id="{54315BF3-1200-7C7C-0F31-F1455D08CBE0}"/>
                  </a:ext>
                </a:extLst>
              </p:cNvPr>
              <p:cNvSpPr txBox="1">
                <a:spLocks noRot="1" noChangeAspect="1" noMove="1" noResize="1" noEditPoints="1" noAdjustHandles="1" noChangeArrowheads="1" noChangeShapeType="1" noTextEdit="1"/>
              </p:cNvSpPr>
              <p:nvPr/>
            </p:nvSpPr>
            <p:spPr>
              <a:xfrm>
                <a:off x="349624" y="5056094"/>
                <a:ext cx="4141694" cy="376518"/>
              </a:xfrm>
              <a:prstGeom prst="rect">
                <a:avLst/>
              </a:prstGeom>
              <a:blipFill>
                <a:blip r:embed="rId5"/>
                <a:stretch>
                  <a:fillRect b="-6250"/>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0142F4E-B77C-AA9D-12AC-5F6BD86ABDAA}"/>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10142F4E-B77C-AA9D-12AC-5F6BD86ABDAA}"/>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6"/>
                <a:stretch>
                  <a:fillRect/>
                </a:stretch>
              </a:blipFill>
              <a:ln>
                <a:solidFill>
                  <a:srgbClr val="FFFF00"/>
                </a:solidFill>
              </a:ln>
            </p:spPr>
            <p:txBody>
              <a:bodyPr/>
              <a:lstStyle/>
              <a:p>
                <a:r>
                  <a:rPr lang="en-US">
                    <a:noFill/>
                  </a:rPr>
                  <a:t> </a:t>
                </a:r>
              </a:p>
            </p:txBody>
          </p:sp>
        </mc:Fallback>
      </mc:AlternateContent>
    </p:spTree>
    <p:extLst>
      <p:ext uri="{BB962C8B-B14F-4D97-AF65-F5344CB8AC3E}">
        <p14:creationId xmlns:p14="http://schemas.microsoft.com/office/powerpoint/2010/main" val="31907935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80DA6-68AD-F851-F9FA-110F09CADE6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71A75C0-7EF7-9C33-09C7-BA29CC2DE352}"/>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771A75C0-7EF7-9C33-09C7-BA29CC2DE352}"/>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2"/>
                <a:stretch>
                  <a:fillRect l="-906" t="-2727" r="-1164" b="-11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E643D6FE-F25C-FC5D-2EA2-E3580FDFD553}"/>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7FAF888E-4541-F1CC-1734-3539F0ECA087}"/>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38CA117-F929-CD45-60C3-B2EEC57591B0}"/>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25669E55-50B0-2011-48AF-EF5795805D1D}"/>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41B0D0CD-73BB-67A7-1952-FE0E190BF71A}"/>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06F61168-4922-592F-6093-73255A3532E2}"/>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318EC454-D25D-101D-2EA9-6DDE0CD9E307}"/>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40676FFA-0299-2CA5-D1F8-F897CE7601CF}"/>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44AA4907-A0C5-3048-7744-4C4DDAD75DFE}"/>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8FBAAD23-3EAB-2C5C-499E-45261236CD91}"/>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DD2B1253-B03B-732D-E081-8D98701F9B75}"/>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C285E796-35CD-ABE5-4305-334E94075264}"/>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84B4D8C9-96E2-9E46-D73D-2571CB67D19A}"/>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84B4D8C9-96E2-9E46-D73D-2571CB67D19A}"/>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3"/>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3"/>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3"/>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3"/>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3"/>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3"/>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3"/>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3"/>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72463FA5-7476-D6C4-B5A5-6950D308E83D}"/>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4EF509DF-2AD1-F447-6206-90F5E287C2D5}"/>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358D5F0E-5D02-39DC-6EF3-391AAA482D21}"/>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56A401E-CF9D-3A3A-AFD3-3E8CA2F0ABB2}"/>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256A401E-CF9D-3A3A-AFD3-3E8CA2F0ABB2}"/>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4"/>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807CDA91-9E4B-DF8E-5CA3-0BBECB362799}"/>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50A676C-B145-F6DA-0260-603CAA04CBB7}"/>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8932640B-0061-BA26-AEEC-8201F2505842}"/>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22EF4D23-E6AD-536C-1C23-069139EEB0FD}"/>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E0A6D02-80ED-159E-5799-62079966196C}"/>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BE0A6D02-80ED-159E-5799-62079966196C}"/>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5"/>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AA918D2-FD62-775D-C30F-EF0D2832074A}"/>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DAA918D2-FD62-775D-C30F-EF0D2832074A}"/>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6"/>
                <a:stretch>
                  <a:fillRect/>
                </a:stretch>
              </a:blipFill>
              <a:ln>
                <a:solidFill>
                  <a:srgbClr val="FFFF00"/>
                </a:solidFill>
              </a:ln>
            </p:spPr>
            <p:txBody>
              <a:bodyPr/>
              <a:lstStyle/>
              <a:p>
                <a:r>
                  <a:rPr lang="en-US">
                    <a:noFill/>
                  </a:rPr>
                  <a:t> </a:t>
                </a:r>
              </a:p>
            </p:txBody>
          </p:sp>
        </mc:Fallback>
      </mc:AlternateContent>
    </p:spTree>
    <p:extLst>
      <p:ext uri="{BB962C8B-B14F-4D97-AF65-F5344CB8AC3E}">
        <p14:creationId xmlns:p14="http://schemas.microsoft.com/office/powerpoint/2010/main" val="289081696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B0271-FEEA-0120-8EBC-DD9EDC7F437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17B29FC-732C-66E8-6995-10F087B4B38D}"/>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D17B29FC-732C-66E8-6995-10F087B4B38D}"/>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2"/>
                <a:stretch>
                  <a:fillRect l="-906" t="-2727" r="-1164" b="-11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6994BC67-F582-1250-91F1-473DE8444882}"/>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D40D1C86-DD51-3CDD-1F09-941C00DD98DA}"/>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E17AFBA-1E51-1247-7612-19E764300A4E}"/>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E39B183A-F581-1463-0F8D-7304C22064DB}"/>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F140EAAC-F151-B00A-A2BE-AE2BC33E8CB4}"/>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90F3C9DC-A90D-7521-BA03-7753AB2EDD10}"/>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5A85931B-32A7-7272-25C0-BAF6A86D4F68}"/>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B754E7C0-9691-AE7E-4684-36ED99422A61}"/>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CA504E5F-AA88-C773-C72F-4482CB1646D4}"/>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09685924-33D3-7E0A-683F-C1309FDE21AA}"/>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9BD3BFB4-5C32-A7AF-3E42-6F0F0CBDEBD2}"/>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B6E7DB5C-013C-C801-3475-F0087E5B2ABC}"/>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568D1A5-FD01-C860-2071-189269A79F79}"/>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6568D1A5-FD01-C860-2071-189269A79F79}"/>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3"/>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3"/>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3"/>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3"/>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3"/>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3"/>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3"/>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3"/>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71AAD6F8-F9F9-B179-3B74-AF11286325B9}"/>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D7CAE4B4-5520-7C79-EE12-C47BDDC91C96}"/>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2D299E5C-B092-56F9-21DA-FCBC4FA6A332}"/>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CE2D658-A793-D596-40AD-C26F94DAAA90}"/>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ECE2D658-A793-D596-40AD-C26F94DAAA90}"/>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4"/>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AE850FFB-72F7-1E84-D186-2BCD57E553FF}"/>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A3F102B-B5F7-CC72-A22D-BF446FFF1A89}"/>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3C1844E9-27A9-D2AB-0F1D-A810502DB649}"/>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91155799-26E2-C7C4-1735-E5B6736E2D86}"/>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3ACB346-2935-A1AE-919E-5E2B9DCBBF25}"/>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E3ACB346-2935-A1AE-919E-5E2B9DCBBF25}"/>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5"/>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6E213D6-1B2A-5B78-DB80-21C8723F1004}"/>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26E213D6-1B2A-5B78-DB80-21C8723F1004}"/>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6"/>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5CA4A880-9C6A-BBA6-A2EA-E91E88F40DCD}"/>
              </a:ext>
            </a:extLst>
          </p:cNvPr>
          <p:cNvSpPr/>
          <p:nvPr/>
        </p:nvSpPr>
        <p:spPr>
          <a:xfrm>
            <a:off x="188849" y="375620"/>
            <a:ext cx="11425708" cy="5656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089E6F2A-BEC1-EAB5-CD68-227E16C91C05}"/>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DDE4167-7BCF-F9CF-C1F7-CD1F0FDBB3F5}"/>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41C0BA8-63CF-CFE8-E19A-FA618EC15F09}"/>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441C0BA8-63CF-CFE8-E19A-FA618EC15F09}"/>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7"/>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915DB1C-31FF-9C85-9564-839F1AC9B8A9}"/>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6915DB1C-31FF-9C85-9564-839F1AC9B8A9}"/>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8"/>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81D3AC01-DA1C-9513-A762-7FFB17BD8620}"/>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A5EA6CE-79BE-853B-40F8-E1CA290E9701}"/>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2A5EA6CE-79BE-853B-40F8-E1CA290E9701}"/>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69A97A5-0435-6FD1-9A36-E671B6E8D053}"/>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869A97A5-0435-6FD1-9A36-E671B6E8D053}"/>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10"/>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E0F1EA1B-A51B-05C4-9B77-7927AC24F6D0}"/>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31AF11BC-81E5-B083-9080-DA1F31FA8D5A}"/>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B5C9742-23CC-B97D-4E49-4922F34B9093}"/>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CB5C9742-23CC-B97D-4E49-4922F34B9093}"/>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1"/>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27C49DBB-C7D1-6ABE-0CF8-1B8BBA138ABA}"/>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4D7734C-A9DC-6166-7216-1CE49790A209}"/>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B4D7734C-A9DC-6166-7216-1CE49790A209}"/>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EC71C1D-42E1-AD97-D6ED-B3C4053B06FA}"/>
                  </a:ext>
                </a:extLst>
              </p:cNvPr>
              <p:cNvSpPr txBox="1"/>
              <p:nvPr/>
            </p:nvSpPr>
            <p:spPr>
              <a:xfrm>
                <a:off x="6908887" y="398379"/>
                <a:ext cx="5259318" cy="399468"/>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𝜆</m:t>
                        </m:r>
                      </m:den>
                    </m:f>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𝐶</m:t>
                        </m:r>
                      </m:num>
                      <m:den>
                        <m:r>
                          <a:rPr lang="en-US" sz="1400" b="0" i="1" smtClean="0">
                            <a:latin typeface="Cambria Math" panose="02040503050406030204" pitchFamily="18" charset="0"/>
                          </a:rPr>
                          <m:t>𝑤𝐵</m:t>
                        </m:r>
                      </m:den>
                    </m:f>
                  </m:oMath>
                </a14:m>
                <a:r>
                  <a:rPr lang="en-US" sz="1400" dirty="0"/>
                  <a:t> (low-talent women do not want to run)</a:t>
                </a:r>
              </a:p>
            </p:txBody>
          </p:sp>
        </mc:Choice>
        <mc:Fallback xmlns="">
          <p:sp>
            <p:nvSpPr>
              <p:cNvPr id="39" name="TextBox 38">
                <a:extLst>
                  <a:ext uri="{FF2B5EF4-FFF2-40B4-BE49-F238E27FC236}">
                    <a16:creationId xmlns:a16="http://schemas.microsoft.com/office/drawing/2014/main" id="{BEC71C1D-42E1-AD97-D6ED-B3C4053B06FA}"/>
                  </a:ext>
                </a:extLst>
              </p:cNvPr>
              <p:cNvSpPr txBox="1">
                <a:spLocks noRot="1" noChangeAspect="1" noMove="1" noResize="1" noEditPoints="1" noAdjustHandles="1" noChangeArrowheads="1" noChangeShapeType="1" noTextEdit="1"/>
              </p:cNvSpPr>
              <p:nvPr/>
            </p:nvSpPr>
            <p:spPr>
              <a:xfrm>
                <a:off x="6908887" y="398379"/>
                <a:ext cx="5259318" cy="399468"/>
              </a:xfrm>
              <a:prstGeom prst="rect">
                <a:avLst/>
              </a:prstGeom>
              <a:blipFill>
                <a:blip r:embed="rId13"/>
                <a:stretch>
                  <a:fillRect b="-1449"/>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2ADA635-7C7B-91DD-404A-3E073ADB86EB}"/>
                  </a:ext>
                </a:extLst>
              </p:cNvPr>
              <p:cNvSpPr txBox="1"/>
              <p:nvPr/>
            </p:nvSpPr>
            <p:spPr>
              <a:xfrm>
                <a:off x="6908886" y="802721"/>
                <a:ext cx="5220213" cy="399340"/>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𝐶</m:t>
                        </m:r>
                      </m:num>
                      <m:den>
                        <m:r>
                          <a:rPr lang="en-US" sz="1400" b="0" i="1" smtClean="0">
                            <a:latin typeface="Cambria Math" panose="02040503050406030204" pitchFamily="18" charset="0"/>
                          </a:rPr>
                          <m:t>𝑤𝐵</m:t>
                        </m:r>
                      </m:den>
                    </m:f>
                  </m:oMath>
                </a14:m>
                <a:r>
                  <a:rPr lang="en-US" sz="1400" dirty="0"/>
                  <a:t> (low-talent men want to run)</a:t>
                </a:r>
              </a:p>
            </p:txBody>
          </p:sp>
        </mc:Choice>
        <mc:Fallback xmlns="">
          <p:sp>
            <p:nvSpPr>
              <p:cNvPr id="40" name="TextBox 39">
                <a:extLst>
                  <a:ext uri="{FF2B5EF4-FFF2-40B4-BE49-F238E27FC236}">
                    <a16:creationId xmlns:a16="http://schemas.microsoft.com/office/drawing/2014/main" id="{C2ADA635-7C7B-91DD-404A-3E073ADB86EB}"/>
                  </a:ext>
                </a:extLst>
              </p:cNvPr>
              <p:cNvSpPr txBox="1">
                <a:spLocks noRot="1" noChangeAspect="1" noMove="1" noResize="1" noEditPoints="1" noAdjustHandles="1" noChangeArrowheads="1" noChangeShapeType="1" noTextEdit="1"/>
              </p:cNvSpPr>
              <p:nvPr/>
            </p:nvSpPr>
            <p:spPr>
              <a:xfrm>
                <a:off x="6908886" y="802721"/>
                <a:ext cx="5220213" cy="399340"/>
              </a:xfrm>
              <a:prstGeom prst="rect">
                <a:avLst/>
              </a:prstGeom>
              <a:blipFill>
                <a:blip r:embed="rId14"/>
                <a:stretch>
                  <a:fillRect b="-1471"/>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9628392-6E97-27D4-6878-66B18CA87A7F}"/>
                  </a:ext>
                </a:extLst>
              </p:cNvPr>
              <p:cNvSpPr txBox="1"/>
              <p:nvPr/>
            </p:nvSpPr>
            <p:spPr>
              <a:xfrm>
                <a:off x="6908886" y="84026"/>
                <a:ext cx="5259318" cy="30777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&lt;</m:t>
                    </m:r>
                    <m:r>
                      <a:rPr lang="en-US" sz="1400" b="0" i="1" smtClean="0">
                        <a:latin typeface="Cambria Math" panose="02040503050406030204" pitchFamily="18" charset="0"/>
                      </a:rPr>
                      <m:t>𝜇</m:t>
                    </m:r>
                  </m:oMath>
                </a14:m>
                <a:r>
                  <a:rPr lang="en-US" sz="1400" dirty="0"/>
                  <a:t> (low talent penalty more severe than misogyny penalty</a:t>
                </a:r>
              </a:p>
            </p:txBody>
          </p:sp>
        </mc:Choice>
        <mc:Fallback xmlns="">
          <p:sp>
            <p:nvSpPr>
              <p:cNvPr id="41" name="TextBox 40">
                <a:extLst>
                  <a:ext uri="{FF2B5EF4-FFF2-40B4-BE49-F238E27FC236}">
                    <a16:creationId xmlns:a16="http://schemas.microsoft.com/office/drawing/2014/main" id="{29628392-6E97-27D4-6878-66B18CA87A7F}"/>
                  </a:ext>
                </a:extLst>
              </p:cNvPr>
              <p:cNvSpPr txBox="1">
                <a:spLocks noRot="1" noChangeAspect="1" noMove="1" noResize="1" noEditPoints="1" noAdjustHandles="1" noChangeArrowheads="1" noChangeShapeType="1" noTextEdit="1"/>
              </p:cNvSpPr>
              <p:nvPr/>
            </p:nvSpPr>
            <p:spPr>
              <a:xfrm>
                <a:off x="6908886" y="84026"/>
                <a:ext cx="5259318" cy="307777"/>
              </a:xfrm>
              <a:prstGeom prst="rect">
                <a:avLst/>
              </a:prstGeom>
              <a:blipFill>
                <a:blip r:embed="rId15"/>
                <a:stretch>
                  <a:fillRect t="-1887" b="-15094"/>
                </a:stretch>
              </a:blipFill>
              <a:ln/>
            </p:spPr>
            <p:txBody>
              <a:bodyPr/>
              <a:lstStyle/>
              <a:p>
                <a:r>
                  <a:rPr lang="en-US">
                    <a:noFill/>
                  </a:rPr>
                  <a:t> </a:t>
                </a:r>
              </a:p>
            </p:txBody>
          </p:sp>
        </mc:Fallback>
      </mc:AlternateContent>
    </p:spTree>
    <p:extLst>
      <p:ext uri="{BB962C8B-B14F-4D97-AF65-F5344CB8AC3E}">
        <p14:creationId xmlns:p14="http://schemas.microsoft.com/office/powerpoint/2010/main" val="227810812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50218-513E-D8B7-1907-D0B1C6DF16D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9F1D080-93DB-6657-653F-A96CCE4660E2}"/>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99F1D080-93DB-6657-653F-A96CCE4660E2}"/>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2"/>
                <a:stretch>
                  <a:fillRect l="-906" t="-2727" r="-1164" b="-11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6E701300-B67A-02D1-8961-F75FA52B9A0C}"/>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82C4BD7A-089E-4E99-13FD-C1871ACDF89B}"/>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2C5DA7A1-1520-BEB3-1939-5683C0B35975}"/>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0F4286B2-6E30-4D28-7692-CC586B00A57B}"/>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6F581BE1-5C7D-F259-AE22-03BA0931EF7E}"/>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43A60126-881F-8198-68B9-A9808F44F96E}"/>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044E2DB1-5AB4-0A90-6C27-8F83E2474D04}"/>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640C834C-8C34-97AE-F23D-407169379111}"/>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367C1B45-0858-201A-C981-5DD4F0F5E824}"/>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90DF7133-5C14-33EB-0D38-B0DAB4C4125A}"/>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E18B6714-D614-784A-E809-C2E3132B46E6}"/>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ADEDA22E-7955-25F4-4D47-12E6B69184D5}"/>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25237E1-BE95-286E-7F6E-5A61D4ABE1C9}"/>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225237E1-BE95-286E-7F6E-5A61D4ABE1C9}"/>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3"/>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3"/>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3"/>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3"/>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3"/>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3"/>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3"/>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3"/>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8B564877-F287-83BE-171E-341276DE1B28}"/>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00007D5E-9CEF-476F-B7F9-7CB7329AF0D7}"/>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5DC27317-5483-D3D4-B469-721259348E69}"/>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18DED2C-61BE-A88C-E87A-3EAE7F14D7A2}"/>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518DED2C-61BE-A88C-E87A-3EAE7F14D7A2}"/>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4"/>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6E593294-911A-939B-4D05-B93A8C6BEC88}"/>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1C8F3F5-8F44-B646-95AE-F52256B925AC}"/>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0E16FE93-3617-765C-73ED-A92D6530AA33}"/>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03041C60-68F2-2815-AD75-A892AB436827}"/>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389FA8A-B566-7407-647B-91F10DBE8256}"/>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0389FA8A-B566-7407-647B-91F10DBE8256}"/>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5"/>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4EEF4D2-36DA-2CE1-D0F5-2F4E25C8B792}"/>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A4EEF4D2-36DA-2CE1-D0F5-2F4E25C8B792}"/>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6"/>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6F8089F4-B80E-2A25-463D-CE9B10F4C96C}"/>
              </a:ext>
            </a:extLst>
          </p:cNvPr>
          <p:cNvSpPr/>
          <p:nvPr/>
        </p:nvSpPr>
        <p:spPr>
          <a:xfrm>
            <a:off x="188849" y="375620"/>
            <a:ext cx="11425708" cy="5656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9515F11C-8730-7264-4086-7CA43C9BF45A}"/>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341861F1-060E-D6BD-293E-322B61F7E206}"/>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3DA9546-0F39-50A3-62F4-FC02EC7D59EB}"/>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D3DA9546-0F39-50A3-62F4-FC02EC7D59EB}"/>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7"/>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A0BA07C-AA34-69D5-3835-DC26BCC67B99}"/>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8A0BA07C-AA34-69D5-3835-DC26BCC67B99}"/>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8"/>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312FEAB8-BE80-649A-0129-79E7A774A532}"/>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C81FBB1-382F-6547-2499-59766BC897B1}"/>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6C81FBB1-382F-6547-2499-59766BC897B1}"/>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F45F18B-A535-43E6-3615-6D35C96F55C7}"/>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2F45F18B-A535-43E6-3615-6D35C96F55C7}"/>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10"/>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C9BAFD28-7A46-3FF8-F228-6354A4B69116}"/>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A6EBC11-327F-EA3F-078C-9394041BC65C}"/>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4992046-989F-0C57-1C14-D147CA3A8E8A}"/>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C4992046-989F-0C57-1C14-D147CA3A8E8A}"/>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1"/>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6A94B8A7-9CB9-4FD8-DF1A-B6A353FE64FA}"/>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7F70708-0743-8224-8B09-4A4DD2556400}"/>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C7F70708-0743-8224-8B09-4A4DD2556400}"/>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F28A41C-0EE1-073C-EEC3-40D4E25CE154}"/>
                  </a:ext>
                </a:extLst>
              </p:cNvPr>
              <p:cNvSpPr txBox="1"/>
              <p:nvPr/>
            </p:nvSpPr>
            <p:spPr>
              <a:xfrm>
                <a:off x="6908887" y="398379"/>
                <a:ext cx="5259318" cy="399468"/>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𝜆</m:t>
                        </m:r>
                      </m:den>
                    </m:f>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𝐶</m:t>
                        </m:r>
                      </m:num>
                      <m:den>
                        <m:r>
                          <a:rPr lang="en-US" sz="1400" b="0" i="1" smtClean="0">
                            <a:latin typeface="Cambria Math" panose="02040503050406030204" pitchFamily="18" charset="0"/>
                          </a:rPr>
                          <m:t>𝑤𝐵</m:t>
                        </m:r>
                      </m:den>
                    </m:f>
                  </m:oMath>
                </a14:m>
                <a:r>
                  <a:rPr lang="en-US" sz="1400" dirty="0"/>
                  <a:t> (low-talent women do not want to run)</a:t>
                </a:r>
              </a:p>
            </p:txBody>
          </p:sp>
        </mc:Choice>
        <mc:Fallback xmlns="">
          <p:sp>
            <p:nvSpPr>
              <p:cNvPr id="39" name="TextBox 38">
                <a:extLst>
                  <a:ext uri="{FF2B5EF4-FFF2-40B4-BE49-F238E27FC236}">
                    <a16:creationId xmlns:a16="http://schemas.microsoft.com/office/drawing/2014/main" id="{FF28A41C-0EE1-073C-EEC3-40D4E25CE154}"/>
                  </a:ext>
                </a:extLst>
              </p:cNvPr>
              <p:cNvSpPr txBox="1">
                <a:spLocks noRot="1" noChangeAspect="1" noMove="1" noResize="1" noEditPoints="1" noAdjustHandles="1" noChangeArrowheads="1" noChangeShapeType="1" noTextEdit="1"/>
              </p:cNvSpPr>
              <p:nvPr/>
            </p:nvSpPr>
            <p:spPr>
              <a:xfrm>
                <a:off x="6908887" y="398379"/>
                <a:ext cx="5259318" cy="399468"/>
              </a:xfrm>
              <a:prstGeom prst="rect">
                <a:avLst/>
              </a:prstGeom>
              <a:blipFill>
                <a:blip r:embed="rId13"/>
                <a:stretch>
                  <a:fillRect b="-1449"/>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2C7A8B5-C013-F919-F832-07576613B3E2}"/>
                  </a:ext>
                </a:extLst>
              </p:cNvPr>
              <p:cNvSpPr txBox="1"/>
              <p:nvPr/>
            </p:nvSpPr>
            <p:spPr>
              <a:xfrm>
                <a:off x="6908886" y="802721"/>
                <a:ext cx="5220213" cy="399340"/>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𝐶</m:t>
                        </m:r>
                      </m:num>
                      <m:den>
                        <m:r>
                          <a:rPr lang="en-US" sz="1400" b="0" i="1" smtClean="0">
                            <a:latin typeface="Cambria Math" panose="02040503050406030204" pitchFamily="18" charset="0"/>
                          </a:rPr>
                          <m:t>𝑤𝐵</m:t>
                        </m:r>
                      </m:den>
                    </m:f>
                  </m:oMath>
                </a14:m>
                <a:r>
                  <a:rPr lang="en-US" sz="1400" dirty="0"/>
                  <a:t> (low-talent men want to run)</a:t>
                </a:r>
              </a:p>
            </p:txBody>
          </p:sp>
        </mc:Choice>
        <mc:Fallback xmlns="">
          <p:sp>
            <p:nvSpPr>
              <p:cNvPr id="40" name="TextBox 39">
                <a:extLst>
                  <a:ext uri="{FF2B5EF4-FFF2-40B4-BE49-F238E27FC236}">
                    <a16:creationId xmlns:a16="http://schemas.microsoft.com/office/drawing/2014/main" id="{62C7A8B5-C013-F919-F832-07576613B3E2}"/>
                  </a:ext>
                </a:extLst>
              </p:cNvPr>
              <p:cNvSpPr txBox="1">
                <a:spLocks noRot="1" noChangeAspect="1" noMove="1" noResize="1" noEditPoints="1" noAdjustHandles="1" noChangeArrowheads="1" noChangeShapeType="1" noTextEdit="1"/>
              </p:cNvSpPr>
              <p:nvPr/>
            </p:nvSpPr>
            <p:spPr>
              <a:xfrm>
                <a:off x="6908886" y="802721"/>
                <a:ext cx="5220213" cy="399340"/>
              </a:xfrm>
              <a:prstGeom prst="rect">
                <a:avLst/>
              </a:prstGeom>
              <a:blipFill>
                <a:blip r:embed="rId14"/>
                <a:stretch>
                  <a:fillRect b="-1471"/>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C39B2BC5-1B0B-6582-A42C-FC46ADAB15A9}"/>
                  </a:ext>
                </a:extLst>
              </p:cNvPr>
              <p:cNvSpPr txBox="1"/>
              <p:nvPr/>
            </p:nvSpPr>
            <p:spPr>
              <a:xfrm>
                <a:off x="6908886" y="84026"/>
                <a:ext cx="5259318" cy="307777"/>
              </a:xfrm>
              <a:prstGeom prst="rect">
                <a:avLst/>
              </a:prstGeom>
              <a:ln w="38100">
                <a:solidFill>
                  <a:srgbClr val="FFFF00"/>
                </a:solidFill>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&lt;</m:t>
                    </m:r>
                    <m:r>
                      <a:rPr lang="en-US" sz="1400" b="0" i="1" smtClean="0">
                        <a:latin typeface="Cambria Math" panose="02040503050406030204" pitchFamily="18" charset="0"/>
                      </a:rPr>
                      <m:t>𝜇</m:t>
                    </m:r>
                  </m:oMath>
                </a14:m>
                <a:r>
                  <a:rPr lang="en-US" sz="1400" dirty="0"/>
                  <a:t> (low talent penalty more severe than misogyny penalty</a:t>
                </a:r>
              </a:p>
            </p:txBody>
          </p:sp>
        </mc:Choice>
        <mc:Fallback xmlns="">
          <p:sp>
            <p:nvSpPr>
              <p:cNvPr id="41" name="TextBox 40">
                <a:extLst>
                  <a:ext uri="{FF2B5EF4-FFF2-40B4-BE49-F238E27FC236}">
                    <a16:creationId xmlns:a16="http://schemas.microsoft.com/office/drawing/2014/main" id="{C39B2BC5-1B0B-6582-A42C-FC46ADAB15A9}"/>
                  </a:ext>
                </a:extLst>
              </p:cNvPr>
              <p:cNvSpPr txBox="1">
                <a:spLocks noRot="1" noChangeAspect="1" noMove="1" noResize="1" noEditPoints="1" noAdjustHandles="1" noChangeArrowheads="1" noChangeShapeType="1" noTextEdit="1"/>
              </p:cNvSpPr>
              <p:nvPr/>
            </p:nvSpPr>
            <p:spPr>
              <a:xfrm>
                <a:off x="6908886" y="84026"/>
                <a:ext cx="5259318" cy="307777"/>
              </a:xfrm>
              <a:prstGeom prst="rect">
                <a:avLst/>
              </a:prstGeom>
              <a:blipFill>
                <a:blip r:embed="rId15"/>
                <a:stretch>
                  <a:fillRect b="-12500"/>
                </a:stretch>
              </a:blipFill>
              <a:ln w="38100">
                <a:solidFill>
                  <a:srgbClr val="FFFF00"/>
                </a:solidFill>
              </a:ln>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BBE47538-C233-6479-280C-18B46DE2D4CB}"/>
              </a:ext>
            </a:extLst>
          </p:cNvPr>
          <p:cNvCxnSpPr>
            <a:cxnSpLocks/>
          </p:cNvCxnSpPr>
          <p:nvPr/>
        </p:nvCxnSpPr>
        <p:spPr>
          <a:xfrm flipV="1">
            <a:off x="1959444" y="1393717"/>
            <a:ext cx="6881570" cy="3751091"/>
          </a:xfrm>
          <a:prstGeom prst="line">
            <a:avLst/>
          </a:prstGeom>
          <a:ln>
            <a:solidFill>
              <a:srgbClr val="FFFF00"/>
            </a:solidFill>
          </a:ln>
        </p:spPr>
        <p:style>
          <a:lnRef idx="2">
            <a:schemeClr val="accent4"/>
          </a:lnRef>
          <a:fillRef idx="0">
            <a:schemeClr val="accent4"/>
          </a:fillRef>
          <a:effectRef idx="1">
            <a:schemeClr val="accent4"/>
          </a:effectRef>
          <a:fontRef idx="minor">
            <a:schemeClr val="tx1"/>
          </a:fontRef>
        </p:style>
      </p:cxnSp>
      <p:cxnSp>
        <p:nvCxnSpPr>
          <p:cNvPr id="45" name="Straight Arrow Connector 44">
            <a:extLst>
              <a:ext uri="{FF2B5EF4-FFF2-40B4-BE49-F238E27FC236}">
                <a16:creationId xmlns:a16="http://schemas.microsoft.com/office/drawing/2014/main" id="{B6EA4A17-42D1-47DC-F28F-600F59A6F855}"/>
              </a:ext>
            </a:extLst>
          </p:cNvPr>
          <p:cNvCxnSpPr>
            <a:cxnSpLocks/>
          </p:cNvCxnSpPr>
          <p:nvPr/>
        </p:nvCxnSpPr>
        <p:spPr>
          <a:xfrm flipH="1" flipV="1">
            <a:off x="7956318" y="1506071"/>
            <a:ext cx="217647" cy="236973"/>
          </a:xfrm>
          <a:prstGeom prst="straightConnector1">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298000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0E13A-8AE1-0F6C-3432-9C3688E5E44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A52E692-525D-F64A-B5B1-F1C71BC41BFA}"/>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DA52E692-525D-F64A-B5B1-F1C71BC41BFA}"/>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2"/>
                <a:stretch>
                  <a:fillRect l="-906" t="-2727" r="-1164" b="-11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27986E56-9E76-4307-2E46-D2D6A85D06D4}"/>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00CCF7BB-BBE4-C7A5-1476-A7E2C0A87E31}"/>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E01A64E4-3BB6-D27F-7FDA-209E3DDBC2A0}"/>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43CF0898-199C-9424-B2E4-178BC5EC7524}"/>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2DD084A7-F902-9567-FCC4-5C4D6C4ADEDA}"/>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E5BA7874-C8E7-9D56-6588-46FA8847B205}"/>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E61783FD-F4A5-203F-6CC1-8431B1CE9F9E}"/>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15BD031B-9E61-C4E7-2370-2F2ED8194384}"/>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CEF0DC75-3D50-10A1-083C-BCA5CB924094}"/>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F08CD1EE-C2D8-3CD0-B6C3-FEC87B0EDE6B}"/>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8E47A147-1096-8719-9731-E3C05E0D2B9C}"/>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BFD5E921-15B6-381D-4D6E-B994F862681A}"/>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04C120F3-1DEC-7C63-AA2A-C021000117F5}"/>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04C120F3-1DEC-7C63-AA2A-C021000117F5}"/>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3"/>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3"/>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3"/>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3"/>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3"/>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3"/>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3"/>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3"/>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0DC4A526-C18A-6590-DC7F-B2F267354DAA}"/>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E7FA07F4-E10E-0D06-0D7B-B2458B51D062}"/>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EEB219C1-E438-EABF-138B-78C47BA28E77}"/>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19955EE-BF82-4E6F-746A-370550BE8504}"/>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B19955EE-BF82-4E6F-746A-370550BE8504}"/>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4"/>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A6A7A64E-3A7D-838C-7449-FE4778CD120D}"/>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337F2AF-F976-D7F8-6F27-090861CC1251}"/>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5655B381-3B39-D1FD-7B73-BFB41018FE5B}"/>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23050D42-22C5-9544-913D-B53FB3563A3E}"/>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DB0DA97-E92B-5251-DC43-5DA98425BBCC}"/>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3DB0DA97-E92B-5251-DC43-5DA98425BBCC}"/>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5"/>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5CC6E6A-2E95-DCCE-8B9F-6EC90240CE67}"/>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C5CC6E6A-2E95-DCCE-8B9F-6EC90240CE67}"/>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6"/>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3B0144D3-9F13-2201-F3D3-F7B066A9E7CE}"/>
              </a:ext>
            </a:extLst>
          </p:cNvPr>
          <p:cNvSpPr/>
          <p:nvPr/>
        </p:nvSpPr>
        <p:spPr>
          <a:xfrm>
            <a:off x="188849" y="375620"/>
            <a:ext cx="11425708" cy="5656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2D49A9F7-BF90-8B25-B644-41D966B6DDC6}"/>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9D87057-EB6A-70A6-8885-F89E6893C3F8}"/>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52FC0AA-41C2-9535-665A-0511DBF7BEC4}"/>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652FC0AA-41C2-9535-665A-0511DBF7BEC4}"/>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7"/>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215A654-22A2-2291-958D-727A1D1B3E02}"/>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1215A654-22A2-2291-958D-727A1D1B3E02}"/>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8"/>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B9B84AB9-96A8-7D92-B906-42BAFD35CDA5}"/>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F3EC6BC-1E77-2F7F-DED4-3653C2065503}"/>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1F3EC6BC-1E77-2F7F-DED4-3653C2065503}"/>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8F4037A-C72D-86B7-C176-BAE0E028B6EE}"/>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D8F4037A-C72D-86B7-C176-BAE0E028B6EE}"/>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10"/>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C1B48F45-2FB6-C0F8-ACF5-650AEF0C598D}"/>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123BA3C0-F919-B7C4-AB70-B53FF37C7BE6}"/>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7596430-951D-A1D9-2FCA-D60CBB16E8AF}"/>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D7596430-951D-A1D9-2FCA-D60CBB16E8AF}"/>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1"/>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127EB025-0215-D6CF-6299-96EBD4C64F08}"/>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D9E3A56-80C7-7193-3112-6C7B2375CB95}"/>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CD9E3A56-80C7-7193-3112-6C7B2375CB95}"/>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7A84B5EF-9705-591E-424B-B0763463640A}"/>
                  </a:ext>
                </a:extLst>
              </p:cNvPr>
              <p:cNvSpPr txBox="1"/>
              <p:nvPr/>
            </p:nvSpPr>
            <p:spPr>
              <a:xfrm>
                <a:off x="6908887" y="398379"/>
                <a:ext cx="5259318" cy="399468"/>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𝜆</m:t>
                        </m:r>
                      </m:den>
                    </m:f>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𝐶</m:t>
                        </m:r>
                      </m:num>
                      <m:den>
                        <m:r>
                          <a:rPr lang="en-US" sz="1400" b="0" i="1" smtClean="0">
                            <a:latin typeface="Cambria Math" panose="02040503050406030204" pitchFamily="18" charset="0"/>
                          </a:rPr>
                          <m:t>𝑤𝐵</m:t>
                        </m:r>
                      </m:den>
                    </m:f>
                  </m:oMath>
                </a14:m>
                <a:r>
                  <a:rPr lang="en-US" sz="1400" dirty="0"/>
                  <a:t> (low-talent women do not want to run)</a:t>
                </a:r>
              </a:p>
            </p:txBody>
          </p:sp>
        </mc:Choice>
        <mc:Fallback xmlns="">
          <p:sp>
            <p:nvSpPr>
              <p:cNvPr id="39" name="TextBox 38">
                <a:extLst>
                  <a:ext uri="{FF2B5EF4-FFF2-40B4-BE49-F238E27FC236}">
                    <a16:creationId xmlns:a16="http://schemas.microsoft.com/office/drawing/2014/main" id="{7A84B5EF-9705-591E-424B-B0763463640A}"/>
                  </a:ext>
                </a:extLst>
              </p:cNvPr>
              <p:cNvSpPr txBox="1">
                <a:spLocks noRot="1" noChangeAspect="1" noMove="1" noResize="1" noEditPoints="1" noAdjustHandles="1" noChangeArrowheads="1" noChangeShapeType="1" noTextEdit="1"/>
              </p:cNvSpPr>
              <p:nvPr/>
            </p:nvSpPr>
            <p:spPr>
              <a:xfrm>
                <a:off x="6908887" y="398379"/>
                <a:ext cx="5259318" cy="399468"/>
              </a:xfrm>
              <a:prstGeom prst="rect">
                <a:avLst/>
              </a:prstGeom>
              <a:blipFill>
                <a:blip r:embed="rId13"/>
                <a:stretch>
                  <a:fillRect b="-1449"/>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735491E8-A9D5-E16D-45A6-CBF82B0C0D31}"/>
                  </a:ext>
                </a:extLst>
              </p:cNvPr>
              <p:cNvSpPr txBox="1"/>
              <p:nvPr/>
            </p:nvSpPr>
            <p:spPr>
              <a:xfrm>
                <a:off x="6908886" y="802721"/>
                <a:ext cx="5220213" cy="399340"/>
              </a:xfrm>
              <a:prstGeom prst="rect">
                <a:avLst/>
              </a:prstGeom>
              <a:ln w="38100">
                <a:solidFill>
                  <a:srgbClr val="FFFF00"/>
                </a:solidFill>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𝐶</m:t>
                        </m:r>
                      </m:num>
                      <m:den>
                        <m:r>
                          <a:rPr lang="en-US" sz="1400" b="0" i="1" smtClean="0">
                            <a:latin typeface="Cambria Math" panose="02040503050406030204" pitchFamily="18" charset="0"/>
                          </a:rPr>
                          <m:t>𝑤𝐵</m:t>
                        </m:r>
                      </m:den>
                    </m:f>
                  </m:oMath>
                </a14:m>
                <a:r>
                  <a:rPr lang="en-US" sz="1400" dirty="0"/>
                  <a:t> (low-talent men want to run)</a:t>
                </a:r>
              </a:p>
            </p:txBody>
          </p:sp>
        </mc:Choice>
        <mc:Fallback xmlns="">
          <p:sp>
            <p:nvSpPr>
              <p:cNvPr id="40" name="TextBox 39">
                <a:extLst>
                  <a:ext uri="{FF2B5EF4-FFF2-40B4-BE49-F238E27FC236}">
                    <a16:creationId xmlns:a16="http://schemas.microsoft.com/office/drawing/2014/main" id="{735491E8-A9D5-E16D-45A6-CBF82B0C0D31}"/>
                  </a:ext>
                </a:extLst>
              </p:cNvPr>
              <p:cNvSpPr txBox="1">
                <a:spLocks noRot="1" noChangeAspect="1" noMove="1" noResize="1" noEditPoints="1" noAdjustHandles="1" noChangeArrowheads="1" noChangeShapeType="1" noTextEdit="1"/>
              </p:cNvSpPr>
              <p:nvPr/>
            </p:nvSpPr>
            <p:spPr>
              <a:xfrm>
                <a:off x="6908886" y="802721"/>
                <a:ext cx="5220213" cy="399340"/>
              </a:xfrm>
              <a:prstGeom prst="rect">
                <a:avLst/>
              </a:prstGeom>
              <a:blipFill>
                <a:blip r:embed="rId14"/>
                <a:stretch>
                  <a:fillRect/>
                </a:stretch>
              </a:blipFill>
              <a:ln w="38100">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20A98D1-8035-F22E-D1FA-04A9D32468DD}"/>
                  </a:ext>
                </a:extLst>
              </p:cNvPr>
              <p:cNvSpPr txBox="1"/>
              <p:nvPr/>
            </p:nvSpPr>
            <p:spPr>
              <a:xfrm>
                <a:off x="6908886" y="84026"/>
                <a:ext cx="5259318" cy="30777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&lt;</m:t>
                    </m:r>
                    <m:r>
                      <a:rPr lang="en-US" sz="1400" b="0" i="1" smtClean="0">
                        <a:latin typeface="Cambria Math" panose="02040503050406030204" pitchFamily="18" charset="0"/>
                      </a:rPr>
                      <m:t>𝜇</m:t>
                    </m:r>
                  </m:oMath>
                </a14:m>
                <a:r>
                  <a:rPr lang="en-US" sz="1400" dirty="0"/>
                  <a:t> (low talent penalty more severe than misogyny penalty</a:t>
                </a:r>
              </a:p>
            </p:txBody>
          </p:sp>
        </mc:Choice>
        <mc:Fallback xmlns="">
          <p:sp>
            <p:nvSpPr>
              <p:cNvPr id="41" name="TextBox 40">
                <a:extLst>
                  <a:ext uri="{FF2B5EF4-FFF2-40B4-BE49-F238E27FC236}">
                    <a16:creationId xmlns:a16="http://schemas.microsoft.com/office/drawing/2014/main" id="{A20A98D1-8035-F22E-D1FA-04A9D32468DD}"/>
                  </a:ext>
                </a:extLst>
              </p:cNvPr>
              <p:cNvSpPr txBox="1">
                <a:spLocks noRot="1" noChangeAspect="1" noMove="1" noResize="1" noEditPoints="1" noAdjustHandles="1" noChangeArrowheads="1" noChangeShapeType="1" noTextEdit="1"/>
              </p:cNvSpPr>
              <p:nvPr/>
            </p:nvSpPr>
            <p:spPr>
              <a:xfrm>
                <a:off x="6908886" y="84026"/>
                <a:ext cx="5259318" cy="307777"/>
              </a:xfrm>
              <a:prstGeom prst="rect">
                <a:avLst/>
              </a:prstGeom>
              <a:blipFill>
                <a:blip r:embed="rId15"/>
                <a:stretch>
                  <a:fillRect t="-1887" b="-15094"/>
                </a:stretch>
              </a:blipFill>
              <a:ln/>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2EBE9C4F-1277-5CDE-77CF-27AF4F7B3282}"/>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5" name="Straight Arrow Connector 44">
            <a:extLst>
              <a:ext uri="{FF2B5EF4-FFF2-40B4-BE49-F238E27FC236}">
                <a16:creationId xmlns:a16="http://schemas.microsoft.com/office/drawing/2014/main" id="{7BEBF0A1-BE90-AF4C-1C73-AD5C3FF692DB}"/>
              </a:ext>
            </a:extLst>
          </p:cNvPr>
          <p:cNvCxnSpPr>
            <a:cxnSpLocks/>
          </p:cNvCxnSpPr>
          <p:nvPr/>
        </p:nvCxnSpPr>
        <p:spPr>
          <a:xfrm flipH="1" flipV="1">
            <a:off x="7956318" y="1506071"/>
            <a:ext cx="217647" cy="236973"/>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B6B58AE-0451-AE2A-A49B-9336184E9120}"/>
              </a:ext>
            </a:extLst>
          </p:cNvPr>
          <p:cNvCxnSpPr>
            <a:cxnSpLocks/>
          </p:cNvCxnSpPr>
          <p:nvPr/>
        </p:nvCxnSpPr>
        <p:spPr>
          <a:xfrm flipV="1">
            <a:off x="3636954" y="5131015"/>
            <a:ext cx="0" cy="336472"/>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1CBB8DD-5EE5-7D9E-3150-FB559514CF4F}"/>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rgbClr val="FFFF00"/>
                              </a:solidFill>
                              <a:latin typeface="Cambria Math" panose="02040503050406030204" pitchFamily="18" charset="0"/>
                            </a:rPr>
                          </m:ctrlPr>
                        </m:boxPr>
                        <m:e>
                          <m:argPr>
                            <m:argSz m:val="-1"/>
                          </m:argPr>
                          <m:f>
                            <m:fPr>
                              <m:ctrlPr>
                                <a:rPr lang="en-US" i="1" smtClean="0">
                                  <a:solidFill>
                                    <a:srgbClr val="FFFF00"/>
                                  </a:solidFill>
                                  <a:latin typeface="Cambria Math" panose="02040503050406030204" pitchFamily="18" charset="0"/>
                                </a:rPr>
                              </m:ctrlPr>
                            </m:fPr>
                            <m:num>
                              <m:r>
                                <a:rPr lang="en-US" b="0" i="1" smtClean="0">
                                  <a:solidFill>
                                    <a:srgbClr val="FFFF00"/>
                                  </a:solidFill>
                                  <a:latin typeface="Cambria Math" panose="02040503050406030204" pitchFamily="18" charset="0"/>
                                </a:rPr>
                                <m:t>𝐶</m:t>
                              </m:r>
                            </m:num>
                            <m:den>
                              <m:r>
                                <a:rPr lang="en-US" b="0" i="1" smtClean="0">
                                  <a:solidFill>
                                    <a:srgbClr val="FFFF00"/>
                                  </a:solidFill>
                                  <a:latin typeface="Cambria Math" panose="02040503050406030204" pitchFamily="18" charset="0"/>
                                </a:rPr>
                                <m:t>𝑤𝐵</m:t>
                              </m:r>
                            </m:den>
                          </m:f>
                        </m:e>
                      </m:box>
                    </m:oMath>
                  </m:oMathPara>
                </a14:m>
                <a:endParaRPr lang="en-US" dirty="0">
                  <a:solidFill>
                    <a:srgbClr val="FFFF00"/>
                  </a:solidFill>
                </a:endParaRPr>
              </a:p>
            </p:txBody>
          </p:sp>
        </mc:Choice>
        <mc:Fallback xmlns="">
          <p:sp>
            <p:nvSpPr>
              <p:cNvPr id="44" name="TextBox 43">
                <a:extLst>
                  <a:ext uri="{FF2B5EF4-FFF2-40B4-BE49-F238E27FC236}">
                    <a16:creationId xmlns:a16="http://schemas.microsoft.com/office/drawing/2014/main" id="{21CBB8DD-5EE5-7D9E-3150-FB559514CF4F}"/>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6"/>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B10654E8-6DFF-EAB9-BF7B-A914452F603B}"/>
              </a:ext>
            </a:extLst>
          </p:cNvPr>
          <p:cNvCxnSpPr>
            <a:cxnSpLocks/>
          </p:cNvCxnSpPr>
          <p:nvPr/>
        </p:nvCxnSpPr>
        <p:spPr>
          <a:xfrm flipH="1" flipV="1">
            <a:off x="3623921" y="1231757"/>
            <a:ext cx="13033" cy="3913051"/>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051372EF-9761-A6E6-560C-8AAB08FE754B}"/>
              </a:ext>
            </a:extLst>
          </p:cNvPr>
          <p:cNvCxnSpPr>
            <a:cxnSpLocks/>
          </p:cNvCxnSpPr>
          <p:nvPr/>
        </p:nvCxnSpPr>
        <p:spPr>
          <a:xfrm flipV="1">
            <a:off x="3628029" y="1992102"/>
            <a:ext cx="389121" cy="2598"/>
          </a:xfrm>
          <a:prstGeom prst="straightConnector1">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034079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44E58-879E-C265-4BF0-3BFC9DBF2EF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EBDB398-F398-BFE7-7F4E-23F0FE89EEDE}"/>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6EBDB398-F398-BFE7-7F4E-23F0FE89EEDE}"/>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2"/>
                <a:stretch>
                  <a:fillRect l="-906" t="-2727" r="-1164" b="-1181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4BBFCEA6-136A-6D90-9810-F7147B7772F3}"/>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22E4D4E3-7791-03AB-707D-AE71EEE82479}"/>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C80EB83-ABD3-4176-DEF4-3BF2BFB5716B}"/>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FE419BCF-AB51-6693-CD7A-614CBC09F25D}"/>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60C43E6A-E146-D9B4-A861-6F85B7D61D6D}"/>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DD82D3B6-A62E-E19D-1291-293A470D1288}"/>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1846A9FC-8E73-7076-28AB-E6C424A33682}"/>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60708B5E-4031-E5FF-C553-A4AABE5D5061}"/>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996A9DC3-12BC-1954-ED34-7D2F42DDB64A}"/>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46CDF58D-0437-D1B0-76EA-539C23B84C74}"/>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C9CCCED3-714D-8C4A-EAE6-1E75E229F84A}"/>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3E78F924-54BE-A9BD-356C-0E52C14BEAAC}"/>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49C7132-0DCD-7384-732D-57D3173A6CC3}"/>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149C7132-0DCD-7384-732D-57D3173A6CC3}"/>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3"/>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3"/>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3"/>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3"/>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3"/>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3"/>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3"/>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3"/>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D9FC991E-61EA-8E1F-92BA-73F3ECBCFB65}"/>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E7616293-EC4B-859C-1828-32D43293481C}"/>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7AA648D4-21E8-CB79-18BC-6A5AE77E22D6}"/>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C4A4EB8-1F74-6FA6-B4A2-E11C3E65844F}"/>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2C4A4EB8-1F74-6FA6-B4A2-E11C3E65844F}"/>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4"/>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47859B1D-8FE1-0BFA-5812-7AFB3C95D084}"/>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346BAF5-20C7-F459-6360-F8751565FFE9}"/>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6A570D2E-73A9-7D00-9803-4123CA12096B}"/>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B7B03CDF-D6A7-DBAF-F792-FA09740D5513}"/>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AE8FB4E-BD05-2795-C613-FFB8E341C775}"/>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0AE8FB4E-BD05-2795-C613-FFB8E341C775}"/>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5"/>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794502D-18AA-B59A-210F-7808CC47841C}"/>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E794502D-18AA-B59A-210F-7808CC47841C}"/>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6"/>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F461D387-E6D3-FABB-3D9F-3F97773F649A}"/>
              </a:ext>
            </a:extLst>
          </p:cNvPr>
          <p:cNvSpPr/>
          <p:nvPr/>
        </p:nvSpPr>
        <p:spPr>
          <a:xfrm>
            <a:off x="188849" y="375620"/>
            <a:ext cx="11425708" cy="5656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EB276D59-E16C-DAF5-A65A-9491CCE64048}"/>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AB9290D2-86EA-E092-9E42-9CF9D6335391}"/>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EC78B6D-3A56-028C-A02B-8A40ADDE6BB4}"/>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6EC78B6D-3A56-028C-A02B-8A40ADDE6BB4}"/>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7"/>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DE4B72E-C216-7140-24F4-3FCF54BA0892}"/>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1DE4B72E-C216-7140-24F4-3FCF54BA0892}"/>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8"/>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B0823319-5540-847B-514A-1F67E52D139F}"/>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EFA3C40-DDE4-41E6-4DBA-3267C553FA75}"/>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0EFA3C40-DDE4-41E6-4DBA-3267C553FA75}"/>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AF4541D-F227-D58F-73CC-6A28A792399B}"/>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CAF4541D-F227-D58F-73CC-6A28A792399B}"/>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10"/>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0762A1EC-7C8B-464C-B43B-3DBA1D03BC07}"/>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371EC62D-FCAA-659D-8AE7-6E9ED61F5E92}"/>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C373505-8AFE-EABF-E305-21C0787EF03F}"/>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AC373505-8AFE-EABF-E305-21C0787EF03F}"/>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1"/>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828660A-41D5-3FAA-B284-3A31F8642D6D}"/>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B210B3A-87B9-4E88-1E9E-CE995DD34D5F}"/>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3B210B3A-87B9-4E88-1E9E-CE995DD34D5F}"/>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303810B-AAED-4361-1AD7-9144E6AC0910}"/>
                  </a:ext>
                </a:extLst>
              </p:cNvPr>
              <p:cNvSpPr txBox="1"/>
              <p:nvPr/>
            </p:nvSpPr>
            <p:spPr>
              <a:xfrm>
                <a:off x="6908886" y="802721"/>
                <a:ext cx="5220213" cy="399340"/>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𝐶</m:t>
                        </m:r>
                      </m:num>
                      <m:den>
                        <m:r>
                          <a:rPr lang="en-US" sz="1400" b="0" i="1" smtClean="0">
                            <a:latin typeface="Cambria Math" panose="02040503050406030204" pitchFamily="18" charset="0"/>
                          </a:rPr>
                          <m:t>𝑤𝐵</m:t>
                        </m:r>
                      </m:den>
                    </m:f>
                  </m:oMath>
                </a14:m>
                <a:r>
                  <a:rPr lang="en-US" sz="1400" dirty="0"/>
                  <a:t> (low-talent men want to run)</a:t>
                </a:r>
              </a:p>
            </p:txBody>
          </p:sp>
        </mc:Choice>
        <mc:Fallback xmlns="">
          <p:sp>
            <p:nvSpPr>
              <p:cNvPr id="40" name="TextBox 39">
                <a:extLst>
                  <a:ext uri="{FF2B5EF4-FFF2-40B4-BE49-F238E27FC236}">
                    <a16:creationId xmlns:a16="http://schemas.microsoft.com/office/drawing/2014/main" id="{6303810B-AAED-4361-1AD7-9144E6AC0910}"/>
                  </a:ext>
                </a:extLst>
              </p:cNvPr>
              <p:cNvSpPr txBox="1">
                <a:spLocks noRot="1" noChangeAspect="1" noMove="1" noResize="1" noEditPoints="1" noAdjustHandles="1" noChangeArrowheads="1" noChangeShapeType="1" noTextEdit="1"/>
              </p:cNvSpPr>
              <p:nvPr/>
            </p:nvSpPr>
            <p:spPr>
              <a:xfrm>
                <a:off x="6908886" y="802721"/>
                <a:ext cx="5220213" cy="399340"/>
              </a:xfrm>
              <a:prstGeom prst="rect">
                <a:avLst/>
              </a:prstGeom>
              <a:blipFill>
                <a:blip r:embed="rId13"/>
                <a:stretch>
                  <a:fillRect b="-1471"/>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98E2954B-F55E-5693-71DD-B5002A260D80}"/>
                  </a:ext>
                </a:extLst>
              </p:cNvPr>
              <p:cNvSpPr txBox="1"/>
              <p:nvPr/>
            </p:nvSpPr>
            <p:spPr>
              <a:xfrm>
                <a:off x="6908886" y="84026"/>
                <a:ext cx="5259318" cy="30777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&lt;</m:t>
                    </m:r>
                    <m:r>
                      <a:rPr lang="en-US" sz="1400" b="0" i="1" smtClean="0">
                        <a:latin typeface="Cambria Math" panose="02040503050406030204" pitchFamily="18" charset="0"/>
                      </a:rPr>
                      <m:t>𝜇</m:t>
                    </m:r>
                  </m:oMath>
                </a14:m>
                <a:r>
                  <a:rPr lang="en-US" sz="1400" dirty="0"/>
                  <a:t> (low talent penalty more severe than misogyny penalty</a:t>
                </a:r>
              </a:p>
            </p:txBody>
          </p:sp>
        </mc:Choice>
        <mc:Fallback xmlns="">
          <p:sp>
            <p:nvSpPr>
              <p:cNvPr id="41" name="TextBox 40">
                <a:extLst>
                  <a:ext uri="{FF2B5EF4-FFF2-40B4-BE49-F238E27FC236}">
                    <a16:creationId xmlns:a16="http://schemas.microsoft.com/office/drawing/2014/main" id="{98E2954B-F55E-5693-71DD-B5002A260D80}"/>
                  </a:ext>
                </a:extLst>
              </p:cNvPr>
              <p:cNvSpPr txBox="1">
                <a:spLocks noRot="1" noChangeAspect="1" noMove="1" noResize="1" noEditPoints="1" noAdjustHandles="1" noChangeArrowheads="1" noChangeShapeType="1" noTextEdit="1"/>
              </p:cNvSpPr>
              <p:nvPr/>
            </p:nvSpPr>
            <p:spPr>
              <a:xfrm>
                <a:off x="6908886" y="84026"/>
                <a:ext cx="5259318" cy="307777"/>
              </a:xfrm>
              <a:prstGeom prst="rect">
                <a:avLst/>
              </a:prstGeom>
              <a:blipFill>
                <a:blip r:embed="rId14"/>
                <a:stretch>
                  <a:fillRect t="-1887" b="-15094"/>
                </a:stretch>
              </a:blipFill>
              <a:ln/>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8588B246-A491-8B12-4574-9E82136509F1}"/>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5" name="Straight Arrow Connector 44">
            <a:extLst>
              <a:ext uri="{FF2B5EF4-FFF2-40B4-BE49-F238E27FC236}">
                <a16:creationId xmlns:a16="http://schemas.microsoft.com/office/drawing/2014/main" id="{5A9DDEAA-CCBF-0FDE-D8B2-50D924EE8343}"/>
              </a:ext>
            </a:extLst>
          </p:cNvPr>
          <p:cNvCxnSpPr>
            <a:cxnSpLocks/>
          </p:cNvCxnSpPr>
          <p:nvPr/>
        </p:nvCxnSpPr>
        <p:spPr>
          <a:xfrm flipH="1" flipV="1">
            <a:off x="7956318" y="1506071"/>
            <a:ext cx="217647" cy="236973"/>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046A8196-18EB-9573-3F7A-EAF27C0DCE2A}"/>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4051104-39D0-C637-DB50-F515ED2DB5B3}"/>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54051104-39D0-C637-DB50-F515ED2DB5B3}"/>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5"/>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E04BC5A6-F026-1EBA-E9C2-90D977EF2D70}"/>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3A446CFC-BCB5-CB69-1DCD-FF12686AC2F6}"/>
              </a:ext>
            </a:extLst>
          </p:cNvPr>
          <p:cNvCxnSpPr>
            <a:cxnSpLocks/>
          </p:cNvCxnSpPr>
          <p:nvPr/>
        </p:nvCxnSpPr>
        <p:spPr>
          <a:xfrm flipV="1">
            <a:off x="3628029" y="1992102"/>
            <a:ext cx="389121" cy="2598"/>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F4AF182-C614-5854-16E4-8AFF40A59FD8}"/>
                  </a:ext>
                </a:extLst>
              </p:cNvPr>
              <p:cNvSpPr txBox="1"/>
              <p:nvPr/>
            </p:nvSpPr>
            <p:spPr>
              <a:xfrm>
                <a:off x="6908887" y="398379"/>
                <a:ext cx="5259318" cy="399468"/>
              </a:xfrm>
              <a:prstGeom prst="rect">
                <a:avLst/>
              </a:prstGeom>
              <a:ln w="38100">
                <a:solidFill>
                  <a:srgbClr val="FFFF00"/>
                </a:solidFill>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𝜆</m:t>
                        </m:r>
                      </m:den>
                    </m:f>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𝐶</m:t>
                        </m:r>
                      </m:num>
                      <m:den>
                        <m:r>
                          <a:rPr lang="en-US" sz="1400" b="0" i="1" smtClean="0">
                            <a:latin typeface="Cambria Math" panose="02040503050406030204" pitchFamily="18" charset="0"/>
                          </a:rPr>
                          <m:t>𝑤𝐵</m:t>
                        </m:r>
                      </m:den>
                    </m:f>
                  </m:oMath>
                </a14:m>
                <a:r>
                  <a:rPr lang="en-US" sz="1400" dirty="0"/>
                  <a:t> (low-talent women do not want to run)</a:t>
                </a:r>
              </a:p>
            </p:txBody>
          </p:sp>
        </mc:Choice>
        <mc:Fallback xmlns="">
          <p:sp>
            <p:nvSpPr>
              <p:cNvPr id="39" name="TextBox 38">
                <a:extLst>
                  <a:ext uri="{FF2B5EF4-FFF2-40B4-BE49-F238E27FC236}">
                    <a16:creationId xmlns:a16="http://schemas.microsoft.com/office/drawing/2014/main" id="{3F4AF182-C614-5854-16E4-8AFF40A59FD8}"/>
                  </a:ext>
                </a:extLst>
              </p:cNvPr>
              <p:cNvSpPr txBox="1">
                <a:spLocks noRot="1" noChangeAspect="1" noMove="1" noResize="1" noEditPoints="1" noAdjustHandles="1" noChangeArrowheads="1" noChangeShapeType="1" noTextEdit="1"/>
              </p:cNvSpPr>
              <p:nvPr/>
            </p:nvSpPr>
            <p:spPr>
              <a:xfrm>
                <a:off x="6908887" y="398379"/>
                <a:ext cx="5259318" cy="399468"/>
              </a:xfrm>
              <a:prstGeom prst="rect">
                <a:avLst/>
              </a:prstGeom>
              <a:blipFill>
                <a:blip r:embed="rId16"/>
                <a:stretch>
                  <a:fillRect/>
                </a:stretch>
              </a:blipFill>
              <a:ln w="38100">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0633F47-3148-7E79-F6BA-B8A4D15B6463}"/>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rgbClr val="FFFF00"/>
                              </a:solidFill>
                              <a:latin typeface="Cambria Math" panose="02040503050406030204" pitchFamily="18" charset="0"/>
                            </a:rPr>
                          </m:ctrlPr>
                        </m:boxPr>
                        <m:e>
                          <m:argPr>
                            <m:argSz m:val="-1"/>
                          </m:argPr>
                          <m:f>
                            <m:fPr>
                              <m:ctrlPr>
                                <a:rPr lang="en-US" i="1" smtClean="0">
                                  <a:solidFill>
                                    <a:srgbClr val="FFFF00"/>
                                  </a:solidFill>
                                  <a:latin typeface="Cambria Math" panose="02040503050406030204" pitchFamily="18" charset="0"/>
                                </a:rPr>
                              </m:ctrlPr>
                            </m:fPr>
                            <m:num>
                              <m:r>
                                <a:rPr lang="en-US" b="0" i="1" smtClean="0">
                                  <a:solidFill>
                                    <a:srgbClr val="FFFF00"/>
                                  </a:solidFill>
                                  <a:latin typeface="Cambria Math" panose="02040503050406030204" pitchFamily="18" charset="0"/>
                                </a:rPr>
                                <m:t>𝐶</m:t>
                              </m:r>
                            </m:num>
                            <m:den>
                              <m:r>
                                <a:rPr lang="en-US" b="0" i="1" smtClean="0">
                                  <a:solidFill>
                                    <a:srgbClr val="FFFF00"/>
                                  </a:solidFill>
                                  <a:latin typeface="Cambria Math" panose="02040503050406030204" pitchFamily="18" charset="0"/>
                                </a:rPr>
                                <m:t>𝑤𝐵</m:t>
                              </m:r>
                            </m:den>
                          </m:f>
                        </m:e>
                      </m:box>
                    </m:oMath>
                  </m:oMathPara>
                </a14:m>
                <a:endParaRPr lang="en-US" dirty="0">
                  <a:solidFill>
                    <a:srgbClr val="FFFF00"/>
                  </a:solidFill>
                </a:endParaRPr>
              </a:p>
            </p:txBody>
          </p:sp>
        </mc:Choice>
        <mc:Fallback xmlns="">
          <p:sp>
            <p:nvSpPr>
              <p:cNvPr id="46" name="TextBox 45">
                <a:extLst>
                  <a:ext uri="{FF2B5EF4-FFF2-40B4-BE49-F238E27FC236}">
                    <a16:creationId xmlns:a16="http://schemas.microsoft.com/office/drawing/2014/main" id="{F0633F47-3148-7E79-F6BA-B8A4D15B6463}"/>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7"/>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A9626E60-3A26-6956-1D44-E398C5D864DD}"/>
              </a:ext>
            </a:extLst>
          </p:cNvPr>
          <p:cNvCxnSpPr/>
          <p:nvPr/>
        </p:nvCxnSpPr>
        <p:spPr>
          <a:xfrm>
            <a:off x="1677614" y="4265494"/>
            <a:ext cx="282199" cy="0"/>
          </a:xfrm>
          <a:prstGeom prst="line">
            <a:avLst/>
          </a:prstGeom>
          <a:ln>
            <a:solidFill>
              <a:srgbClr val="FFFF00"/>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3F0E6AD4-FB60-CFB6-5850-3AB7593EA99F}"/>
              </a:ext>
            </a:extLst>
          </p:cNvPr>
          <p:cNvSpPr/>
          <p:nvPr/>
        </p:nvSpPr>
        <p:spPr>
          <a:xfrm rot="10800000">
            <a:off x="2084515" y="-1391579"/>
            <a:ext cx="11792084" cy="5580145"/>
          </a:xfrm>
          <a:prstGeom prst="arc">
            <a:avLst>
              <a:gd name="adj1" fmla="val 16219558"/>
              <a:gd name="adj2" fmla="val 0"/>
            </a:avLst>
          </a:prstGeom>
          <a:ln>
            <a:solidFill>
              <a:srgbClr val="FFFF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51" name="Straight Arrow Connector 50">
            <a:extLst>
              <a:ext uri="{FF2B5EF4-FFF2-40B4-BE49-F238E27FC236}">
                <a16:creationId xmlns:a16="http://schemas.microsoft.com/office/drawing/2014/main" id="{AA304E2F-B7F4-9343-0DD3-00BA1435DDB5}"/>
              </a:ext>
            </a:extLst>
          </p:cNvPr>
          <p:cNvCxnSpPr>
            <a:cxnSpLocks/>
          </p:cNvCxnSpPr>
          <p:nvPr/>
        </p:nvCxnSpPr>
        <p:spPr>
          <a:xfrm flipH="1">
            <a:off x="6662777" y="4143601"/>
            <a:ext cx="122884" cy="312944"/>
          </a:xfrm>
          <a:prstGeom prst="straightConnector1">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018548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7CFBB-8CB4-FAF3-B001-B04A499EEE3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51548B8-FBCC-C64A-2359-647C662D4EA3}"/>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C1F0FACD-0954-B13E-4E3F-FFA32086DB29}"/>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D5D75BCC-4B89-FC5D-7584-EFCA335872FD}"/>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5C926C37-BBD8-7F64-93FC-6B0B55F671E5}"/>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E09670D9-7826-7281-1C18-CBE1D732899F}"/>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9F4C800D-7A5A-8222-C65D-F5A74E2B2D82}"/>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F42750D2-6A73-3957-D937-7CEEEA7B5FCF}"/>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66DECE50-9058-46E4-6B72-1F1F3785CDE4}"/>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969F933C-11A9-3D0D-6076-959CF0719589}"/>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2B630F4C-A8B2-89FA-3A1A-A51CC017746D}"/>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F106FC47-7712-998F-157C-98F63C948EB8}"/>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41CBDFA9-C4B2-79C9-580C-4342559CC18E}"/>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F76674A9-A58B-6B00-0EFD-85B395E46973}"/>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F76674A9-A58B-6B00-0EFD-85B395E46973}"/>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159E0CF8-BD5D-4EE8-BD5B-9F6653EDAAB9}"/>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0C44C818-91C7-AC04-EBB9-C656241E7C85}"/>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F4837C68-6381-0CEB-C0D4-C17756EE805E}"/>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4E6BCFB-F65F-F53C-82FD-ABDC857E4A94}"/>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B4E6BCFB-F65F-F53C-82FD-ABDC857E4A94}"/>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D383D0CF-6A2C-A548-4007-7428336F222B}"/>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10FA147-E429-B25C-FB87-C1F401D27962}"/>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A1C6ECB3-B120-BA16-FFDF-9548B9305BF2}"/>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19BC9F27-DBE8-0394-38E4-5C5E50426FAE}"/>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F351439-9913-CA22-D6B3-75010D1BC776}"/>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BF351439-9913-CA22-D6B3-75010D1BC776}"/>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DE782EB-C3D8-9DCA-637B-EB9E7A24B38B}"/>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5DE782EB-C3D8-9DCA-637B-EB9E7A24B38B}"/>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1E5851BA-40DA-5EF0-C152-ABB13A63E573}"/>
              </a:ext>
            </a:extLst>
          </p:cNvPr>
          <p:cNvSpPr/>
          <p:nvPr/>
        </p:nvSpPr>
        <p:spPr>
          <a:xfrm>
            <a:off x="188849" y="375620"/>
            <a:ext cx="11425708" cy="56567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22C82E96-49F2-1A64-4967-A1E5C36DD89D}"/>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0955384-EBE7-CD6C-1898-8A8A49028C9A}"/>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F722371-E46A-72CA-3164-2C2463BF021A}"/>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1F722371-E46A-72CA-3164-2C2463BF021A}"/>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DDCAA2C-73DA-6D2B-5E02-AB0711F3B423}"/>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DDDCAA2C-73DA-6D2B-5E02-AB0711F3B423}"/>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F706AE7D-22F6-C3FE-AE64-24A14EE395F4}"/>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CE82717-6653-7EB4-5B66-FD6AD7CCF393}"/>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CCE82717-6653-7EB4-5B66-FD6AD7CCF393}"/>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90E7AE6-04AA-9D80-4B11-C537C34162DC}"/>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F90E7AE6-04AA-9D80-4B11-C537C34162DC}"/>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153AD4AE-DF74-D043-4FB4-2F86B36A41CA}"/>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0003F2C-C44D-1379-8458-6FB30A19F055}"/>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C2AB05D-5BC8-5C63-2B07-DFD85AAD466D}"/>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DC2AB05D-5BC8-5C63-2B07-DFD85AAD466D}"/>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481CE540-93FB-7E09-C063-A7474C1021B1}"/>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A26024E-2952-61A0-BAEA-301E70F4AC70}"/>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3A26024E-2952-61A0-BAEA-301E70F4AC70}"/>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133F9D9-CEED-5F17-C42F-C64D491B9A6B}"/>
                  </a:ext>
                </a:extLst>
              </p:cNvPr>
              <p:cNvSpPr txBox="1"/>
              <p:nvPr/>
            </p:nvSpPr>
            <p:spPr>
              <a:xfrm>
                <a:off x="6908886" y="802721"/>
                <a:ext cx="5220213" cy="399340"/>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𝐶</m:t>
                        </m:r>
                      </m:num>
                      <m:den>
                        <m:r>
                          <a:rPr lang="en-US" sz="1400" b="0" i="1" smtClean="0">
                            <a:latin typeface="Cambria Math" panose="02040503050406030204" pitchFamily="18" charset="0"/>
                          </a:rPr>
                          <m:t>𝑤𝐵</m:t>
                        </m:r>
                      </m:den>
                    </m:f>
                  </m:oMath>
                </a14:m>
                <a:r>
                  <a:rPr lang="en-US" sz="1400" dirty="0"/>
                  <a:t> (low-talent men want to run)</a:t>
                </a:r>
              </a:p>
            </p:txBody>
          </p:sp>
        </mc:Choice>
        <mc:Fallback xmlns="">
          <p:sp>
            <p:nvSpPr>
              <p:cNvPr id="40" name="TextBox 39">
                <a:extLst>
                  <a:ext uri="{FF2B5EF4-FFF2-40B4-BE49-F238E27FC236}">
                    <a16:creationId xmlns:a16="http://schemas.microsoft.com/office/drawing/2014/main" id="{C133F9D9-CEED-5F17-C42F-C64D491B9A6B}"/>
                  </a:ext>
                </a:extLst>
              </p:cNvPr>
              <p:cNvSpPr txBox="1">
                <a:spLocks noRot="1" noChangeAspect="1" noMove="1" noResize="1" noEditPoints="1" noAdjustHandles="1" noChangeArrowheads="1" noChangeShapeType="1" noTextEdit="1"/>
              </p:cNvSpPr>
              <p:nvPr/>
            </p:nvSpPr>
            <p:spPr>
              <a:xfrm>
                <a:off x="6908886" y="802721"/>
                <a:ext cx="5220213" cy="399340"/>
              </a:xfrm>
              <a:prstGeom prst="rect">
                <a:avLst/>
              </a:prstGeom>
              <a:blipFill>
                <a:blip r:embed="rId12"/>
                <a:stretch>
                  <a:fillRect b="-1471"/>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BC87240F-C3D1-1C08-C4E8-4BB776F27449}"/>
                  </a:ext>
                </a:extLst>
              </p:cNvPr>
              <p:cNvSpPr txBox="1"/>
              <p:nvPr/>
            </p:nvSpPr>
            <p:spPr>
              <a:xfrm>
                <a:off x="6908886" y="84026"/>
                <a:ext cx="5259318" cy="307777"/>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&lt;</m:t>
                    </m:r>
                    <m:r>
                      <a:rPr lang="en-US" sz="1400" b="0" i="1" smtClean="0">
                        <a:latin typeface="Cambria Math" panose="02040503050406030204" pitchFamily="18" charset="0"/>
                      </a:rPr>
                      <m:t>𝜇</m:t>
                    </m:r>
                  </m:oMath>
                </a14:m>
                <a:r>
                  <a:rPr lang="en-US" sz="1400" dirty="0"/>
                  <a:t> (low talent penalty more severe than misogyny penalty</a:t>
                </a:r>
              </a:p>
            </p:txBody>
          </p:sp>
        </mc:Choice>
        <mc:Fallback xmlns="">
          <p:sp>
            <p:nvSpPr>
              <p:cNvPr id="41" name="TextBox 40">
                <a:extLst>
                  <a:ext uri="{FF2B5EF4-FFF2-40B4-BE49-F238E27FC236}">
                    <a16:creationId xmlns:a16="http://schemas.microsoft.com/office/drawing/2014/main" id="{BC87240F-C3D1-1C08-C4E8-4BB776F27449}"/>
                  </a:ext>
                </a:extLst>
              </p:cNvPr>
              <p:cNvSpPr txBox="1">
                <a:spLocks noRot="1" noChangeAspect="1" noMove="1" noResize="1" noEditPoints="1" noAdjustHandles="1" noChangeArrowheads="1" noChangeShapeType="1" noTextEdit="1"/>
              </p:cNvSpPr>
              <p:nvPr/>
            </p:nvSpPr>
            <p:spPr>
              <a:xfrm>
                <a:off x="6908886" y="84026"/>
                <a:ext cx="5259318" cy="307777"/>
              </a:xfrm>
              <a:prstGeom prst="rect">
                <a:avLst/>
              </a:prstGeom>
              <a:blipFill>
                <a:blip r:embed="rId13"/>
                <a:stretch>
                  <a:fillRect t="-1887" b="-15094"/>
                </a:stretch>
              </a:blipFill>
              <a:ln/>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A0FDFB7D-4824-BFBA-DF6E-A5FC05CA7706}"/>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5" name="Straight Arrow Connector 44">
            <a:extLst>
              <a:ext uri="{FF2B5EF4-FFF2-40B4-BE49-F238E27FC236}">
                <a16:creationId xmlns:a16="http://schemas.microsoft.com/office/drawing/2014/main" id="{499EB7BC-5491-BF92-0B02-60E4AC4443C0}"/>
              </a:ext>
            </a:extLst>
          </p:cNvPr>
          <p:cNvCxnSpPr>
            <a:cxnSpLocks/>
          </p:cNvCxnSpPr>
          <p:nvPr/>
        </p:nvCxnSpPr>
        <p:spPr>
          <a:xfrm flipH="1" flipV="1">
            <a:off x="7956318" y="1506071"/>
            <a:ext cx="217647" cy="236973"/>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B2A471F-F976-6156-19B4-2538F66FC355}"/>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EA28F86-302C-3A89-5AD2-2976CED92566}"/>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1EA28F86-302C-3A89-5AD2-2976CED92566}"/>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4"/>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0A7B2168-E57E-9A4A-DDC0-E6BE5F5308D1}"/>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1B73FD46-3C3B-FBCA-DF47-4968247BBCE7}"/>
              </a:ext>
            </a:extLst>
          </p:cNvPr>
          <p:cNvCxnSpPr>
            <a:cxnSpLocks/>
          </p:cNvCxnSpPr>
          <p:nvPr/>
        </p:nvCxnSpPr>
        <p:spPr>
          <a:xfrm flipV="1">
            <a:off x="3628029" y="1992102"/>
            <a:ext cx="389121" cy="2598"/>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63C799AD-622C-8D5C-FB31-008F1A7650F7}"/>
                  </a:ext>
                </a:extLst>
              </p:cNvPr>
              <p:cNvSpPr txBox="1"/>
              <p:nvPr/>
            </p:nvSpPr>
            <p:spPr>
              <a:xfrm>
                <a:off x="6908887" y="398379"/>
                <a:ext cx="5259318" cy="399468"/>
              </a:xfrm>
              <a:prstGeom prst="rect">
                <a:avLst/>
              </a:prstGeom>
              <a:ln/>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r>
                          <a:rPr lang="en-US" sz="1400" b="0" i="1" smtClean="0">
                            <a:latin typeface="Cambria Math" panose="02040503050406030204" pitchFamily="18" charset="0"/>
                          </a:rPr>
                          <m:t>𝜆</m:t>
                        </m:r>
                      </m:den>
                    </m:f>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𝐶</m:t>
                        </m:r>
                      </m:num>
                      <m:den>
                        <m:r>
                          <a:rPr lang="en-US" sz="1400" b="0" i="1" smtClean="0">
                            <a:latin typeface="Cambria Math" panose="02040503050406030204" pitchFamily="18" charset="0"/>
                          </a:rPr>
                          <m:t>𝑤𝐵</m:t>
                        </m:r>
                      </m:den>
                    </m:f>
                  </m:oMath>
                </a14:m>
                <a:r>
                  <a:rPr lang="en-US" sz="1400" dirty="0"/>
                  <a:t> (low-talent women do not want to run)</a:t>
                </a:r>
              </a:p>
            </p:txBody>
          </p:sp>
        </mc:Choice>
        <mc:Fallback xmlns="">
          <p:sp>
            <p:nvSpPr>
              <p:cNvPr id="39" name="TextBox 38">
                <a:extLst>
                  <a:ext uri="{FF2B5EF4-FFF2-40B4-BE49-F238E27FC236}">
                    <a16:creationId xmlns:a16="http://schemas.microsoft.com/office/drawing/2014/main" id="{63C799AD-622C-8D5C-FB31-008F1A7650F7}"/>
                  </a:ext>
                </a:extLst>
              </p:cNvPr>
              <p:cNvSpPr txBox="1">
                <a:spLocks noRot="1" noChangeAspect="1" noMove="1" noResize="1" noEditPoints="1" noAdjustHandles="1" noChangeArrowheads="1" noChangeShapeType="1" noTextEdit="1"/>
              </p:cNvSpPr>
              <p:nvPr/>
            </p:nvSpPr>
            <p:spPr>
              <a:xfrm>
                <a:off x="6908887" y="398379"/>
                <a:ext cx="5259318" cy="399468"/>
              </a:xfrm>
              <a:prstGeom prst="rect">
                <a:avLst/>
              </a:prstGeom>
              <a:blipFill>
                <a:blip r:embed="rId15"/>
                <a:stretch>
                  <a:fillRect b="-1449"/>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7477A930-1159-BA3D-4A7B-0253D83C6151}"/>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7477A930-1159-BA3D-4A7B-0253D83C6151}"/>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6"/>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04A0B59F-B444-322C-833D-B17C4132CFE9}"/>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111A080A-B6A1-A097-0691-5D46B9EF3014}"/>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51" name="Straight Arrow Connector 50">
            <a:extLst>
              <a:ext uri="{FF2B5EF4-FFF2-40B4-BE49-F238E27FC236}">
                <a16:creationId xmlns:a16="http://schemas.microsoft.com/office/drawing/2014/main" id="{D8E58AF0-2701-DD9B-B33A-A7C4809AEFE4}"/>
              </a:ext>
            </a:extLst>
          </p:cNvPr>
          <p:cNvCxnSpPr>
            <a:cxnSpLocks/>
          </p:cNvCxnSpPr>
          <p:nvPr/>
        </p:nvCxnSpPr>
        <p:spPr>
          <a:xfrm flipH="1">
            <a:off x="6662777" y="4143601"/>
            <a:ext cx="122884" cy="312944"/>
          </a:xfrm>
          <a:prstGeom prst="straightConnector1">
            <a:avLst/>
          </a:prstGeom>
          <a:ln>
            <a:solidFill>
              <a:schemeClr val="accent6"/>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4297E73-2009-C295-31F4-F2F9F3C2F6AE}"/>
                  </a:ext>
                </a:extLst>
              </p:cNvPr>
              <p:cNvSpPr txBox="1"/>
              <p:nvPr/>
            </p:nvSpPr>
            <p:spPr>
              <a:xfrm>
                <a:off x="197644" y="76083"/>
                <a:ext cx="4691084"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b="1" i="1" dirty="0"/>
                  <a:t>Characterize the ranges of the values of the parameters </a:t>
                </a:r>
                <a14:m>
                  <m:oMath xmlns:m="http://schemas.openxmlformats.org/officeDocument/2006/math">
                    <m:r>
                      <a:rPr lang="en-US" b="1" i="1" smtClean="0">
                        <a:latin typeface="Cambria Math" panose="02040503050406030204" pitchFamily="18" charset="0"/>
                      </a:rPr>
                      <m:t>𝑩</m:t>
                    </m:r>
                    <m:r>
                      <a:rPr lang="en-US" b="1" i="1" smtClean="0">
                        <a:latin typeface="Cambria Math" panose="02040503050406030204" pitchFamily="18" charset="0"/>
                      </a:rPr>
                      <m:t>, </m:t>
                    </m:r>
                    <m:r>
                      <a:rPr lang="en-US" b="1" i="1" smtClean="0">
                        <a:latin typeface="Cambria Math" panose="02040503050406030204" pitchFamily="18" charset="0"/>
                      </a:rPr>
                      <m:t>𝑪</m:t>
                    </m:r>
                    <m:r>
                      <a:rPr lang="en-US" b="1" i="1" smtClean="0">
                        <a:latin typeface="Cambria Math" panose="02040503050406030204" pitchFamily="18" charset="0"/>
                      </a:rPr>
                      <m:t>, </m:t>
                    </m:r>
                    <m:r>
                      <a:rPr lang="en-US" b="1" i="1" smtClean="0">
                        <a:latin typeface="Cambria Math" panose="02040503050406030204" pitchFamily="18" charset="0"/>
                      </a:rPr>
                      <m:t>𝝀</m:t>
                    </m:r>
                    <m:r>
                      <a:rPr lang="en-US" b="1" i="1" smtClean="0">
                        <a:latin typeface="Cambria Math" panose="02040503050406030204" pitchFamily="18" charset="0"/>
                      </a:rPr>
                      <m:t>, </m:t>
                    </m:r>
                    <m:r>
                      <a:rPr lang="en-US" b="1" i="1" smtClean="0">
                        <a:latin typeface="Cambria Math" panose="02040503050406030204" pitchFamily="18" charset="0"/>
                      </a:rPr>
                      <m:t>𝝁</m:t>
                    </m:r>
                  </m:oMath>
                </a14:m>
                <a:r>
                  <a:rPr lang="en-US" b="1" i="1" dirty="0"/>
                  <a:t> at which this obtains</a:t>
                </a:r>
              </a:p>
            </p:txBody>
          </p:sp>
        </mc:Choice>
        <mc:Fallback xmlns="">
          <p:sp>
            <p:nvSpPr>
              <p:cNvPr id="2" name="TextBox 1">
                <a:extLst>
                  <a:ext uri="{FF2B5EF4-FFF2-40B4-BE49-F238E27FC236}">
                    <a16:creationId xmlns:a16="http://schemas.microsoft.com/office/drawing/2014/main" id="{94297E73-2009-C295-31F4-F2F9F3C2F6AE}"/>
                  </a:ext>
                </a:extLst>
              </p:cNvPr>
              <p:cNvSpPr txBox="1">
                <a:spLocks noRot="1" noChangeAspect="1" noMove="1" noResize="1" noEditPoints="1" noAdjustHandles="1" noChangeArrowheads="1" noChangeShapeType="1" noTextEdit="1"/>
              </p:cNvSpPr>
              <p:nvPr/>
            </p:nvSpPr>
            <p:spPr>
              <a:xfrm>
                <a:off x="197644" y="76083"/>
                <a:ext cx="4691084" cy="646331"/>
              </a:xfrm>
              <a:prstGeom prst="rect">
                <a:avLst/>
              </a:prstGeom>
              <a:blipFill>
                <a:blip r:embed="rId17"/>
                <a:stretch>
                  <a:fillRect l="-906" t="-2727" r="-1164" b="-11818"/>
                </a:stretch>
              </a:blipFill>
            </p:spPr>
            <p:txBody>
              <a:bodyPr/>
              <a:lstStyle/>
              <a:p>
                <a:r>
                  <a:rPr lang="en-US">
                    <a:noFill/>
                  </a:rPr>
                  <a:t> </a:t>
                </a:r>
              </a:p>
            </p:txBody>
          </p:sp>
        </mc:Fallback>
      </mc:AlternateContent>
      <p:cxnSp>
        <p:nvCxnSpPr>
          <p:cNvPr id="53" name="Straight Connector 52">
            <a:extLst>
              <a:ext uri="{FF2B5EF4-FFF2-40B4-BE49-F238E27FC236}">
                <a16:creationId xmlns:a16="http://schemas.microsoft.com/office/drawing/2014/main" id="{B8777582-D51B-F9C0-9A7A-7C8C19D44FFA}"/>
              </a:ext>
            </a:extLst>
          </p:cNvPr>
          <p:cNvCxnSpPr/>
          <p:nvPr/>
        </p:nvCxnSpPr>
        <p:spPr>
          <a:xfrm>
            <a:off x="3649602" y="3312360"/>
            <a:ext cx="13033" cy="91737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4" name="Freeform: Shape 53">
            <a:extLst>
              <a:ext uri="{FF2B5EF4-FFF2-40B4-BE49-F238E27FC236}">
                <a16:creationId xmlns:a16="http://schemas.microsoft.com/office/drawing/2014/main" id="{A050F400-CF7E-FA9D-9445-93AFC9C9D914}"/>
              </a:ext>
            </a:extLst>
          </p:cNvPr>
          <p:cNvSpPr/>
          <p:nvPr/>
        </p:nvSpPr>
        <p:spPr>
          <a:xfrm>
            <a:off x="3639312" y="3300984"/>
            <a:ext cx="932688" cy="411480"/>
          </a:xfrm>
          <a:custGeom>
            <a:avLst/>
            <a:gdLst>
              <a:gd name="connsiteX0" fmla="*/ 0 w 932688"/>
              <a:gd name="connsiteY0" fmla="*/ 0 h 411480"/>
              <a:gd name="connsiteX1" fmla="*/ 246888 w 932688"/>
              <a:gd name="connsiteY1" fmla="*/ 128016 h 411480"/>
              <a:gd name="connsiteX2" fmla="*/ 603504 w 932688"/>
              <a:gd name="connsiteY2" fmla="*/ 283464 h 411480"/>
              <a:gd name="connsiteX3" fmla="*/ 932688 w 932688"/>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932688" h="411480">
                <a:moveTo>
                  <a:pt x="0" y="0"/>
                </a:moveTo>
                <a:cubicBezTo>
                  <a:pt x="73152" y="40386"/>
                  <a:pt x="146304" y="80772"/>
                  <a:pt x="246888" y="128016"/>
                </a:cubicBezTo>
                <a:cubicBezTo>
                  <a:pt x="347472" y="175260"/>
                  <a:pt x="489204" y="236220"/>
                  <a:pt x="603504" y="283464"/>
                </a:cubicBezTo>
                <a:cubicBezTo>
                  <a:pt x="717804" y="330708"/>
                  <a:pt x="825246" y="371094"/>
                  <a:pt x="932688" y="41148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9FD06251-067B-5D79-6C9D-C1CD138D2F54}"/>
              </a:ext>
            </a:extLst>
          </p:cNvPr>
          <p:cNvCxnSpPr/>
          <p:nvPr/>
        </p:nvCxnSpPr>
        <p:spPr>
          <a:xfrm>
            <a:off x="3636954" y="4226333"/>
            <a:ext cx="914400" cy="914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02FCAE9E-4095-1011-605D-0EDCD30AA928}"/>
              </a:ext>
            </a:extLst>
          </p:cNvPr>
          <p:cNvCxnSpPr>
            <a:endCxn id="54" idx="3"/>
          </p:cNvCxnSpPr>
          <p:nvPr/>
        </p:nvCxnSpPr>
        <p:spPr>
          <a:xfrm flipV="1">
            <a:off x="3662635" y="3712464"/>
            <a:ext cx="909365" cy="4959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4601215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F66A8-43D1-3F45-919B-7BBB04FD971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9A70CDB-36FA-AB30-B374-55C6026C16FA}"/>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DCCD06D4-1B83-64CA-1A80-B27B8020A1AD}"/>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808E472-6F98-7542-DC6A-22D515506F36}"/>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0DE4CA2D-BD57-48F5-FCEF-2862F9321A37}"/>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2FE4A8E7-81EC-3729-0EF4-08527EE4A06C}"/>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6FCBAABF-7F10-247E-1C54-22D085107291}"/>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4D2AEFA7-9F7B-8AE5-04CE-0937566AC63C}"/>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5D150D82-C182-F033-C9E5-40CDA41E35C8}"/>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EA0A9796-B8A4-710A-4C51-3BB081BD6442}"/>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A4D1344C-DEF8-C6FC-72D6-B036B5737CCB}"/>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A52B8810-FC78-BE80-1C2A-4F769D5081D2}"/>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5393AAF7-9346-5C6C-D1D3-0095F37BC663}"/>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2BEB4F6-5244-9745-B152-3AFE4B1D233D}"/>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62BEB4F6-5244-9745-B152-3AFE4B1D233D}"/>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C3D5677C-1700-904A-04B2-0FEC399A10A5}"/>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4F1737E3-A2E6-C2A3-8726-04EAD65D74E2}"/>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BBCA0C86-D840-DEA5-E103-296A4879971C}"/>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8FDA534-ED6C-48E3-0A3A-B260A624DAA7}"/>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68FDA534-ED6C-48E3-0A3A-B260A624DAA7}"/>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8E34C7CC-18DC-8628-98E1-952904592665}"/>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DA81C9D4-6F41-0EF3-126F-5C4981B2B1F0}"/>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77D79D51-B810-9CEF-D311-252C502514CC}"/>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5343AE5C-55CF-A948-A6C6-80B87AA8828F}"/>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5CA751B7-CC49-2401-6E83-8C80FE60F696}"/>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5CA751B7-CC49-2401-6E83-8C80FE60F696}"/>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25C855E-42CE-9774-A405-5063E4050EBF}"/>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E25C855E-42CE-9774-A405-5063E4050EBF}"/>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6437F3E4-1D25-E5DE-EFBA-1F208BF8FA38}"/>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10578874-CBD0-86D4-B5ED-983E1BCDA734}"/>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3D89B156-2A8C-23CE-FC45-179937D266C9}"/>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465F5C5-D4C6-B3B7-C83B-2B2556CEC361}"/>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1465F5C5-D4C6-B3B7-C83B-2B2556CEC361}"/>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5BE9959-5CC6-7A38-1B50-D713F475149C}"/>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75BE9959-5CC6-7A38-1B50-D713F475149C}"/>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8D060C19-73FA-C07D-7397-126E1DF6B471}"/>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2A632E3-AFD3-8673-CA00-D27300B72793}"/>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B2A632E3-AFD3-8673-CA00-D27300B72793}"/>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DE564F5-CAD4-1924-FE3B-B6B073202B4B}"/>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6DE564F5-CAD4-1924-FE3B-B6B073202B4B}"/>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2E29FC5F-1489-BD15-071C-B1DE56463B57}"/>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84CAE35-D63F-2081-644A-EF614D05D76D}"/>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1333ECF-1BB7-1917-33F3-33281026A54E}"/>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F1333ECF-1BB7-1917-33F3-33281026A54E}"/>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A4788963-6A0B-B895-5C27-917F209BADA7}"/>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BBEC2379-765F-6028-B539-DCC533EEF1A6}"/>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BBEC2379-765F-6028-B539-DCC533EEF1A6}"/>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185A4A14-1E6A-1870-71FF-BE6AD990A304}"/>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424E4B12-DC43-0389-61ED-7014086B9F4E}"/>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35D4F59-F266-444F-7DED-125688C1F901}"/>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435D4F59-F266-444F-7DED-125688C1F901}"/>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03265115-F26C-2C10-15B7-7F37E76C38D1}"/>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ADA719C-D585-B120-F9CF-622B984F563D}"/>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CADA719C-D585-B120-F9CF-622B984F563D}"/>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3F038029-FB8B-A48B-9036-48989F2FDCBE}"/>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B19D8318-C7F3-2570-D781-730ABE878842}"/>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68200C05-7418-D7CD-A933-260EDCFED70B}"/>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p:cxnSp>
        <p:nvCxnSpPr>
          <p:cNvPr id="56" name="Straight Connector 55">
            <a:extLst>
              <a:ext uri="{FF2B5EF4-FFF2-40B4-BE49-F238E27FC236}">
                <a16:creationId xmlns:a16="http://schemas.microsoft.com/office/drawing/2014/main" id="{7BA4E363-92C4-21FD-948D-8F187E150445}"/>
              </a:ext>
            </a:extLst>
          </p:cNvPr>
          <p:cNvCxnSpPr/>
          <p:nvPr/>
        </p:nvCxnSpPr>
        <p:spPr>
          <a:xfrm>
            <a:off x="3636954" y="4226333"/>
            <a:ext cx="914400" cy="91440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0526CBA-89F9-2F3F-E05C-57739BEDA84B}"/>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10526CBA-89F9-2F3F-E05C-57739BEDA84B}"/>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0B3C5E9-C9C9-4E23-55DB-524C8078D6AB}"/>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B0B3C5E9-C9C9-4E23-55DB-524C8078D6AB}"/>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B5EBA9A6-095E-B7E7-3F0F-F9516A629F75}"/>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B5EBA9A6-095E-B7E7-3F0F-F9516A629F75}"/>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9661805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391D4-07B7-3B9C-75D1-5A533B4D57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1C9035D-AC56-B829-CCBF-94B3774BEC6F}"/>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A74982F7-6F6C-4982-3A2E-667E1298E5F6}"/>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EA10E73-F57F-ED8A-CFAF-DF32F54CB341}"/>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BF044BF4-F102-CB7A-4E59-2F86BDAA03D7}"/>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70BD1DCF-25A4-4EB5-AAD8-833EB35FD755}"/>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21AC9DDC-C374-5EB9-45C1-9B9AE325A94E}"/>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952D7AC2-F554-2235-87C1-D665500E9265}"/>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2F11E401-48CA-9575-AE56-D9499E7685E7}"/>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DD592582-685E-F64D-E4BD-E101CA9B55B2}"/>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B5F20FA0-3EC7-EE80-455E-CD717FFD6095}"/>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4FFD8F49-5501-8F09-7297-E1CE029FD928}"/>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E305774E-0DB1-32DA-B26A-1037B3096B85}"/>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4169DF3-74CC-ECF6-4B7D-55940080FAA0}"/>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34169DF3-74CC-ECF6-4B7D-55940080FAA0}"/>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E271FDCB-9614-063A-1308-784030D2245E}"/>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96BC33C2-70D6-66BF-AEDE-C8A949488049}"/>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AEE84D3D-9E99-6033-C2F3-C1D0B1D298E6}"/>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E98CF82-1428-3166-0BB7-40AE5FDC54AA}"/>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0E98CF82-1428-3166-0BB7-40AE5FDC54AA}"/>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1A805E06-F0B5-0D81-AD77-444CA0744A2A}"/>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E0F6B41-829D-3B00-A7C2-2DCB7CFE2741}"/>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74CF6D7C-005A-0829-5F17-2B6A5FF46C32}"/>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7FCE1916-545B-D1B8-6886-5FB55EA0AD2B}"/>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A2E55B3-4C66-704F-2B60-1F7250D36F4A}"/>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BA2E55B3-4C66-704F-2B60-1F7250D36F4A}"/>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936F73DE-E974-E056-14FA-A3DF0911CF1D}"/>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936F73DE-E974-E056-14FA-A3DF0911CF1D}"/>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16A9E1AF-264F-B071-FF51-110E99C02AC0}"/>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EBEF5591-9032-E5C4-6E85-4DF0974169A7}"/>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2C62C440-17D3-6CC3-B3A4-88BCEE0590DB}"/>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1A8AD309-13AA-406A-1A8E-E1699C49DD9F}"/>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1A8AD309-13AA-406A-1A8E-E1699C49DD9F}"/>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9BA2314-8CBF-8624-439E-4F5D89A7A7EB}"/>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59BA2314-8CBF-8624-439E-4F5D89A7A7EB}"/>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A7FC66BC-0A1E-5727-3A25-2C471C7B2A45}"/>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D149ACD-A751-AFFA-2F70-B527DDBA4778}"/>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4D149ACD-A751-AFFA-2F70-B527DDBA4778}"/>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5B9C39B-AEB2-EA3A-325C-F4CCBD84D19A}"/>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15B9C39B-AEB2-EA3A-325C-F4CCBD84D19A}"/>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6A7E5C2A-F2FF-2ABD-8B63-33E73F720EB9}"/>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66D7D8A9-ACFF-EDC5-56C7-E0AA584FC513}"/>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B6D54AB-F0B0-40B1-514E-3C9A7433947C}"/>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CB6D54AB-F0B0-40B1-514E-3C9A7433947C}"/>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8E92D9E4-DE23-BC49-7B16-4035C140FF5F}"/>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9CE7F6BE-A003-6EA5-F82C-8C793D94693C}"/>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9CE7F6BE-A003-6EA5-F82C-8C793D94693C}"/>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D0644EB6-62F9-D2ED-D5B9-CD53C2443809}"/>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9F0B6409-4BCD-5807-B50C-F66EFED9C7D2}"/>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E3AFAFD-F625-4D7E-6D67-53F508FF2FD8}"/>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EE3AFAFD-F625-4D7E-6D67-53F508FF2FD8}"/>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7BDB513B-238A-75BF-8798-D5ED5F887ADC}"/>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F94D36-F813-2AFD-D2B8-161B03F3962E}"/>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98F94D36-F813-2AFD-D2B8-161B03F3962E}"/>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94F5373F-CDC4-FA61-7736-237FFF0D463E}"/>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01197887-DC4E-625E-5D1C-51AC577A1B67}"/>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3E997507-A5B4-ECCA-20CA-706F1B9BE6B7}"/>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p:cxnSp>
        <p:nvCxnSpPr>
          <p:cNvPr id="56" name="Straight Connector 55">
            <a:extLst>
              <a:ext uri="{FF2B5EF4-FFF2-40B4-BE49-F238E27FC236}">
                <a16:creationId xmlns:a16="http://schemas.microsoft.com/office/drawing/2014/main" id="{BCB4B3A8-D9F5-3739-7453-01F84027921F}"/>
              </a:ext>
            </a:extLst>
          </p:cNvPr>
          <p:cNvCxnSpPr/>
          <p:nvPr/>
        </p:nvCxnSpPr>
        <p:spPr>
          <a:xfrm>
            <a:off x="3636954" y="4226333"/>
            <a:ext cx="914400" cy="91440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12F3B42-5947-E790-4951-80376720316A}"/>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B12F3B42-5947-E790-4951-80376720316A}"/>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7C16B05B-1787-CE91-9A44-DC92245B4BF7}"/>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7C16B05B-1787-CE91-9A44-DC92245B4BF7}"/>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7031614F-FB64-6CCB-FF42-A5BEB486B041}"/>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7031614F-FB64-6CCB-FF42-A5BEB486B041}"/>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1FEED99E-F832-18FD-8A9B-224827F8F03F}"/>
              </a:ext>
            </a:extLst>
          </p:cNvPr>
          <p:cNvCxnSpPr>
            <a:cxnSpLocks/>
          </p:cNvCxnSpPr>
          <p:nvPr/>
        </p:nvCxnSpPr>
        <p:spPr>
          <a:xfrm flipH="1">
            <a:off x="3998259" y="2249134"/>
            <a:ext cx="2340971" cy="143536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B1668A9F-58AA-2F10-7E23-FB56E2908626}"/>
              </a:ext>
            </a:extLst>
          </p:cNvPr>
          <p:cNvSpPr txBox="1"/>
          <p:nvPr/>
        </p:nvSpPr>
        <p:spPr>
          <a:xfrm>
            <a:off x="6344369" y="495418"/>
            <a:ext cx="3960242" cy="1754326"/>
          </a:xfrm>
          <a:prstGeom prst="rect">
            <a:avLst/>
          </a:prstGeom>
          <a:ln>
            <a:solidFill>
              <a:schemeClr val="tx1"/>
            </a:solid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For instance, in this region:</a:t>
            </a:r>
          </a:p>
          <a:p>
            <a:pPr marL="285750" indent="-285750">
              <a:buFont typeface="Arial" panose="020B0604020202020204" pitchFamily="34" charset="0"/>
              <a:buChar char="•"/>
            </a:pPr>
            <a:r>
              <a:rPr lang="en-US" i="1" dirty="0"/>
              <a:t>Women are underrepresented among candidates</a:t>
            </a:r>
          </a:p>
          <a:p>
            <a:pPr marL="285750" indent="-285750">
              <a:buFont typeface="Arial" panose="020B0604020202020204" pitchFamily="34" charset="0"/>
              <a:buChar char="•"/>
            </a:pPr>
            <a:r>
              <a:rPr lang="en-US" i="1" dirty="0"/>
              <a:t>Average talent among women candidates is higher than average talent among men candidates</a:t>
            </a:r>
          </a:p>
        </p:txBody>
      </p:sp>
      <p:cxnSp>
        <p:nvCxnSpPr>
          <p:cNvPr id="51" name="Straight Connector 50">
            <a:extLst>
              <a:ext uri="{FF2B5EF4-FFF2-40B4-BE49-F238E27FC236}">
                <a16:creationId xmlns:a16="http://schemas.microsoft.com/office/drawing/2014/main" id="{03CE190D-CB9E-D22E-DC91-F45EA454640A}"/>
              </a:ext>
            </a:extLst>
          </p:cNvPr>
          <p:cNvCxnSpPr/>
          <p:nvPr/>
        </p:nvCxnSpPr>
        <p:spPr>
          <a:xfrm>
            <a:off x="3649602" y="3312360"/>
            <a:ext cx="13033" cy="91737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3" name="Freeform: Shape 52">
            <a:extLst>
              <a:ext uri="{FF2B5EF4-FFF2-40B4-BE49-F238E27FC236}">
                <a16:creationId xmlns:a16="http://schemas.microsoft.com/office/drawing/2014/main" id="{231B04CD-4526-916D-F782-BB140196C4D6}"/>
              </a:ext>
            </a:extLst>
          </p:cNvPr>
          <p:cNvSpPr/>
          <p:nvPr/>
        </p:nvSpPr>
        <p:spPr>
          <a:xfrm>
            <a:off x="3639312" y="3300984"/>
            <a:ext cx="932688" cy="411480"/>
          </a:xfrm>
          <a:custGeom>
            <a:avLst/>
            <a:gdLst>
              <a:gd name="connsiteX0" fmla="*/ 0 w 932688"/>
              <a:gd name="connsiteY0" fmla="*/ 0 h 411480"/>
              <a:gd name="connsiteX1" fmla="*/ 246888 w 932688"/>
              <a:gd name="connsiteY1" fmla="*/ 128016 h 411480"/>
              <a:gd name="connsiteX2" fmla="*/ 603504 w 932688"/>
              <a:gd name="connsiteY2" fmla="*/ 283464 h 411480"/>
              <a:gd name="connsiteX3" fmla="*/ 932688 w 932688"/>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932688" h="411480">
                <a:moveTo>
                  <a:pt x="0" y="0"/>
                </a:moveTo>
                <a:cubicBezTo>
                  <a:pt x="73152" y="40386"/>
                  <a:pt x="146304" y="80772"/>
                  <a:pt x="246888" y="128016"/>
                </a:cubicBezTo>
                <a:cubicBezTo>
                  <a:pt x="347472" y="175260"/>
                  <a:pt x="489204" y="236220"/>
                  <a:pt x="603504" y="283464"/>
                </a:cubicBezTo>
                <a:cubicBezTo>
                  <a:pt x="717804" y="330708"/>
                  <a:pt x="825246" y="371094"/>
                  <a:pt x="932688" y="41148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55D4F184-FC01-A322-6DF9-452CA884FECC}"/>
              </a:ext>
            </a:extLst>
          </p:cNvPr>
          <p:cNvCxnSpPr>
            <a:endCxn id="53" idx="3"/>
          </p:cNvCxnSpPr>
          <p:nvPr/>
        </p:nvCxnSpPr>
        <p:spPr>
          <a:xfrm flipV="1">
            <a:off x="3662635" y="3712464"/>
            <a:ext cx="909365" cy="4959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837837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58748-781D-37A2-5B26-B21FFEF90E6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F0DFCB0-248D-D692-4DDE-88958455317E}"/>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4470AF4B-2BC9-67F8-80B8-65B0AB6D9B7A}"/>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D388DD74-ABA4-01F9-CB09-411A8236A04F}"/>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C5E87A54-76F2-28A5-C926-B07450400364}"/>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97A8E4A1-12D6-E058-FCB2-983410A7BB03}"/>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E780BF0E-56D1-EC17-7A1B-34C1AC1264CF}"/>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672C4C9D-A819-03FB-4355-C44E98FA945A}"/>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CF9ABFC1-0203-DC9B-36F1-0F9BCE46F9CB}"/>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831B0FA9-4476-E8BA-7B53-F83188716B6B}"/>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C21FE35A-D998-87A5-045F-CE99800B5BE8}"/>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01F3DC37-C7AB-D03B-0D56-A5DE64625C59}"/>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BD90B60F-82CD-18B4-ED67-72B117722FD7}"/>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1DDDC69-3FD9-9531-AEE9-B78467CA54BE}"/>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91DDDC69-3FD9-9531-AEE9-B78467CA54BE}"/>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A22A85C3-9A8B-BD23-BD45-57A77129CD75}"/>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8B6EAEF9-8E7F-20FC-8E8B-DF74118B706D}"/>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BD3EA86-3AEB-D1E5-73A4-36E3B1F6B7B8}"/>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F5FE4AB-3A5E-2AD9-8F1F-CE52CA18E8E5}"/>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2F5FE4AB-3A5E-2AD9-8F1F-CE52CA18E8E5}"/>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82D747B1-FAC5-7D3A-F633-E77618A37EF1}"/>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ADB557D-4B1A-6260-56C3-F1CE223063B9}"/>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234B4510-D8DD-27AF-6400-5429F2EBCE91}"/>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0FA72CB8-B171-C25C-9A58-56149F4273E9}"/>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BBDDEE7-EE60-CE9B-1C59-D85CA3581A97}"/>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3BBDDEE7-EE60-CE9B-1C59-D85CA3581A97}"/>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9264D65-5F01-BE6B-3BE9-BBEC6A0FC6FA}"/>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B9264D65-5F01-BE6B-3BE9-BBEC6A0FC6FA}"/>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CF82D7F9-2DD4-C4C9-F103-61772B0A3914}"/>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3363DEEC-220B-396F-325C-01556677204D}"/>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EB42E69-3ED0-21E8-F414-B5FDFC0EFDFA}"/>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667E6D7-D884-18B2-886D-7F69A81A8043}"/>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A667E6D7-D884-18B2-886D-7F69A81A8043}"/>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0BC0986-90AD-F1F5-DC3E-3DBC1C453458}"/>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30BC0986-90AD-F1F5-DC3E-3DBC1C453458}"/>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19EC55B8-7D6A-38F6-9662-2BCEA05AC856}"/>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F073773-B566-5646-57BF-40395943CF5F}"/>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FF073773-B566-5646-57BF-40395943CF5F}"/>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DDEC248-14A0-530E-C1E0-64401490EAF5}"/>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ADDEC248-14A0-530E-C1E0-64401490EAF5}"/>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102E3101-D0AF-D24A-2CA7-F6B005C72DBC}"/>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5679E56-6EA0-AC7B-62C8-7C74D1D822C2}"/>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74F992D-7BA7-28B6-5268-E0257AF4AAC0}"/>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574F992D-7BA7-28B6-5268-E0257AF4AAC0}"/>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206DEB16-9C32-7A7A-4AA7-3E4DEC3EEB06}"/>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7E2FCB7-B989-75FB-1D69-1821FCF40CB5}"/>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07E2FCB7-B989-75FB-1D69-1821FCF40CB5}"/>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5CF1CE93-7769-CFAF-BB90-F63B25C84223}"/>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A4AC3273-D1DC-692F-C162-F7E103D86BF1}"/>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83AA789-9225-343A-CB42-A09F0EFC39E5}"/>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183AA789-9225-343A-CB42-A09F0EFC39E5}"/>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A5743911-7F73-D85A-FD1D-FE076D7A1583}"/>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BE2EB854-B9FB-E426-B319-42BC1E105643}"/>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BE2EB854-B9FB-E426-B319-42BC1E105643}"/>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0D09D9CA-E52A-1328-720B-6C92F50234AA}"/>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A460C510-A1BF-9A19-8DB3-37347F7DA0A0}"/>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0DD32C76-0FA5-BC3F-0BAE-231EDA3FB6B6}"/>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p:cxnSp>
        <p:nvCxnSpPr>
          <p:cNvPr id="56" name="Straight Connector 55">
            <a:extLst>
              <a:ext uri="{FF2B5EF4-FFF2-40B4-BE49-F238E27FC236}">
                <a16:creationId xmlns:a16="http://schemas.microsoft.com/office/drawing/2014/main" id="{A9C84271-F29A-C892-68BE-32E6EE53DF7B}"/>
              </a:ext>
            </a:extLst>
          </p:cNvPr>
          <p:cNvCxnSpPr/>
          <p:nvPr/>
        </p:nvCxnSpPr>
        <p:spPr>
          <a:xfrm>
            <a:off x="3636954" y="4226333"/>
            <a:ext cx="914400" cy="91440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680A8AD-8626-D14F-AF7C-53EF37607CAD}"/>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7680A8AD-8626-D14F-AF7C-53EF37607CAD}"/>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9EAF3460-3BFA-577E-8506-3DB0889D1F67}"/>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9EAF3460-3BFA-577E-8506-3DB0889D1F67}"/>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A4F4529-36F7-63B4-17D0-1A1B3CD88CD6}"/>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CA4F4529-36F7-63B4-17D0-1A1B3CD88CD6}"/>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65BBDF48-1AF9-B500-D86B-6EBA6F75B1D3}"/>
              </a:ext>
            </a:extLst>
          </p:cNvPr>
          <p:cNvCxnSpPr>
            <a:cxnSpLocks/>
          </p:cNvCxnSpPr>
          <p:nvPr/>
        </p:nvCxnSpPr>
        <p:spPr>
          <a:xfrm>
            <a:off x="3636954" y="1268482"/>
            <a:ext cx="16311" cy="19760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3" name="Freeform: Shape 52">
            <a:extLst>
              <a:ext uri="{FF2B5EF4-FFF2-40B4-BE49-F238E27FC236}">
                <a16:creationId xmlns:a16="http://schemas.microsoft.com/office/drawing/2014/main" id="{0102C709-8E00-2B8F-015B-898DD6D98EBC}"/>
              </a:ext>
            </a:extLst>
          </p:cNvPr>
          <p:cNvSpPr/>
          <p:nvPr/>
        </p:nvSpPr>
        <p:spPr>
          <a:xfrm>
            <a:off x="3639312" y="3300984"/>
            <a:ext cx="932688" cy="411480"/>
          </a:xfrm>
          <a:custGeom>
            <a:avLst/>
            <a:gdLst>
              <a:gd name="connsiteX0" fmla="*/ 0 w 932688"/>
              <a:gd name="connsiteY0" fmla="*/ 0 h 411480"/>
              <a:gd name="connsiteX1" fmla="*/ 246888 w 932688"/>
              <a:gd name="connsiteY1" fmla="*/ 128016 h 411480"/>
              <a:gd name="connsiteX2" fmla="*/ 603504 w 932688"/>
              <a:gd name="connsiteY2" fmla="*/ 283464 h 411480"/>
              <a:gd name="connsiteX3" fmla="*/ 932688 w 932688"/>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932688" h="411480">
                <a:moveTo>
                  <a:pt x="0" y="0"/>
                </a:moveTo>
                <a:cubicBezTo>
                  <a:pt x="73152" y="40386"/>
                  <a:pt x="146304" y="80772"/>
                  <a:pt x="246888" y="128016"/>
                </a:cubicBezTo>
                <a:cubicBezTo>
                  <a:pt x="347472" y="175260"/>
                  <a:pt x="489204" y="236220"/>
                  <a:pt x="603504" y="283464"/>
                </a:cubicBezTo>
                <a:cubicBezTo>
                  <a:pt x="717804" y="330708"/>
                  <a:pt x="825246" y="371094"/>
                  <a:pt x="932688" y="41148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BC44D4F8-F134-E504-48BE-78C54C4CCC22}"/>
              </a:ext>
            </a:extLst>
          </p:cNvPr>
          <p:cNvCxnSpPr>
            <a:cxnSpLocks/>
          </p:cNvCxnSpPr>
          <p:nvPr/>
        </p:nvCxnSpPr>
        <p:spPr>
          <a:xfrm flipV="1">
            <a:off x="4594724" y="1396307"/>
            <a:ext cx="4256580" cy="231021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C4948D9F-E322-7B5C-DFF5-81A46AC9BF33}"/>
              </a:ext>
            </a:extLst>
          </p:cNvPr>
          <p:cNvSpPr txBox="1"/>
          <p:nvPr/>
        </p:nvSpPr>
        <p:spPr>
          <a:xfrm>
            <a:off x="3905413" y="1901969"/>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spTree>
    <p:extLst>
      <p:ext uri="{BB962C8B-B14F-4D97-AF65-F5344CB8AC3E}">
        <p14:creationId xmlns:p14="http://schemas.microsoft.com/office/powerpoint/2010/main" val="190264652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40C1D-5F90-5DEA-D199-1002513062B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945528B-6F18-8187-7560-1B5A54AF6E98}"/>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6C8AFB49-6B8B-A23E-C8DA-E1C62262C435}"/>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78501BA-A303-EFD3-C2AD-68E0BAFE4A09}"/>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C991F5CE-D0F4-7FDA-F39A-30D01422BF52}"/>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0F56714B-9CE4-91C0-D4E9-67C1B1658C4E}"/>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BFC52A75-A2A2-B926-C477-1D6D1B5E6926}"/>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AF3A6FEC-96CA-C26E-11CF-BA668EA817C8}"/>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1D8BC87C-8CB1-A146-0F9A-A0FCFE5E8238}"/>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AA166DED-FDD8-5390-DD17-C9F7B224A151}"/>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012D8511-86E9-7AD5-8F60-20D32C9337A1}"/>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F71DFA5E-303D-767F-92D4-FAB83A53E43F}"/>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2B2AB7CA-39C3-12B0-FD3E-C2C1747BC96F}"/>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0ED0121-EF90-0D0D-1409-A1D50E3A3C4B}"/>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20ED0121-EF90-0D0D-1409-A1D50E3A3C4B}"/>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E892559A-9CD9-1C88-11D4-C8E15115A4FE}"/>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82E089C7-0F1E-DF95-8B5E-87240972E1CC}"/>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386870B7-6ABA-F912-FD3E-910016B2DBD8}"/>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B45CCD5-7F48-0647-9A62-36FF3757EF19}"/>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1B45CCD5-7F48-0647-9A62-36FF3757EF19}"/>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FA6B7CC7-4D97-80A7-4AA6-EA8957C93A84}"/>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3B3033F-6318-E697-C3B2-C241E1FB4D25}"/>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08A18A79-E790-D3AC-EF60-09527C2F8938}"/>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D7F72866-A776-A759-A3A3-6422EB2CA9DB}"/>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982CD9F-363C-AC40-ABB5-5CA71B41C884}"/>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F982CD9F-363C-AC40-ABB5-5CA71B41C884}"/>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7B6B4AC-7E23-F020-0299-83170A340036}"/>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47B6B4AC-7E23-F020-0299-83170A340036}"/>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13B4EC45-DA4F-A634-D4D5-EAB4A0D8EC95}"/>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323D0334-461A-7222-A22F-EB1FCC48CD0F}"/>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0EA5947-E4E4-948E-78EC-B33ED334D443}"/>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0846FE2-CFDA-8B80-1FF9-88B76FB68B19}"/>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60846FE2-CFDA-8B80-1FF9-88B76FB68B19}"/>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00E373F-8BEA-B145-6AA1-CA93EFCB5215}"/>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F00E373F-8BEA-B145-6AA1-CA93EFCB5215}"/>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84FAB6C8-5196-19D4-2A57-CB4FCB5425A4}"/>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F9647E8-FFF6-AD9D-2F35-513708C40EC6}"/>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AF9647E8-FFF6-AD9D-2F35-513708C40EC6}"/>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B870D5E-9F63-E263-6398-04C71415587D}"/>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0B870D5E-9F63-E263-6398-04C71415587D}"/>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D2738A59-1EF3-4284-E290-96ACB8CDB2B6}"/>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66CAB523-230E-4D4B-2FCE-B5E55F3D8E65}"/>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48455F2-46DA-9C18-EEE1-DC1DC3C24FE2}"/>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248455F2-46DA-9C18-EEE1-DC1DC3C24FE2}"/>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7EDD3AA9-4C7D-C18F-2CBE-7318E959BE58}"/>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B1A7A3A-D41E-8C37-FF51-9EE9B28A5C58}"/>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DB1A7A3A-D41E-8C37-FF51-9EE9B28A5C58}"/>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D577967C-ECFB-DD0D-39CF-E9280FF9956A}"/>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A607D8DD-86B9-CA58-C8D4-42296ED7161C}"/>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766A711-85B0-E3B3-7F25-60E8FA26D3A2}"/>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E766A711-85B0-E3B3-7F25-60E8FA26D3A2}"/>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48B13946-2806-D1C3-0C81-240E8810FF00}"/>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1FE668F-E592-B0AB-3DF7-6762E9D9AA6E}"/>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A1FE668F-E592-B0AB-3DF7-6762E9D9AA6E}"/>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C0A6C173-62E0-2F4E-711D-454F3E17AB19}"/>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4A8BC9C7-FD90-3737-3E66-86A9A16B2868}"/>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B4D5D601-0855-A6E8-9A0B-E76FB642583A}"/>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p:cxnSp>
        <p:nvCxnSpPr>
          <p:cNvPr id="56" name="Straight Connector 55">
            <a:extLst>
              <a:ext uri="{FF2B5EF4-FFF2-40B4-BE49-F238E27FC236}">
                <a16:creationId xmlns:a16="http://schemas.microsoft.com/office/drawing/2014/main" id="{0A87976E-57A5-35EE-9412-308DD7A7719F}"/>
              </a:ext>
            </a:extLst>
          </p:cNvPr>
          <p:cNvCxnSpPr/>
          <p:nvPr/>
        </p:nvCxnSpPr>
        <p:spPr>
          <a:xfrm>
            <a:off x="3636954" y="4226333"/>
            <a:ext cx="914400" cy="91440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FE34EF41-2D97-1C63-9E3B-B47F0F9F22C7}"/>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FE34EF41-2D97-1C63-9E3B-B47F0F9F22C7}"/>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76B4219B-43FE-56C9-82B8-8A279A7A1B18}"/>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76B4219B-43FE-56C9-82B8-8A279A7A1B18}"/>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0BA3EB03-EA83-62F9-615B-92F16480CA53}"/>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0BA3EB03-EA83-62F9-615B-92F16480CA53}"/>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BB080268-1C50-8257-7F6A-0503725E42A5}"/>
              </a:ext>
            </a:extLst>
          </p:cNvPr>
          <p:cNvCxnSpPr>
            <a:cxnSpLocks/>
          </p:cNvCxnSpPr>
          <p:nvPr/>
        </p:nvCxnSpPr>
        <p:spPr>
          <a:xfrm>
            <a:off x="3636954" y="1268482"/>
            <a:ext cx="16311" cy="19760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3" name="Freeform: Shape 52">
            <a:extLst>
              <a:ext uri="{FF2B5EF4-FFF2-40B4-BE49-F238E27FC236}">
                <a16:creationId xmlns:a16="http://schemas.microsoft.com/office/drawing/2014/main" id="{3C06421E-6B94-2518-2D06-D8D8E3418318}"/>
              </a:ext>
            </a:extLst>
          </p:cNvPr>
          <p:cNvSpPr/>
          <p:nvPr/>
        </p:nvSpPr>
        <p:spPr>
          <a:xfrm>
            <a:off x="3639312" y="3300984"/>
            <a:ext cx="932688" cy="411480"/>
          </a:xfrm>
          <a:custGeom>
            <a:avLst/>
            <a:gdLst>
              <a:gd name="connsiteX0" fmla="*/ 0 w 932688"/>
              <a:gd name="connsiteY0" fmla="*/ 0 h 411480"/>
              <a:gd name="connsiteX1" fmla="*/ 246888 w 932688"/>
              <a:gd name="connsiteY1" fmla="*/ 128016 h 411480"/>
              <a:gd name="connsiteX2" fmla="*/ 603504 w 932688"/>
              <a:gd name="connsiteY2" fmla="*/ 283464 h 411480"/>
              <a:gd name="connsiteX3" fmla="*/ 932688 w 932688"/>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932688" h="411480">
                <a:moveTo>
                  <a:pt x="0" y="0"/>
                </a:moveTo>
                <a:cubicBezTo>
                  <a:pt x="73152" y="40386"/>
                  <a:pt x="146304" y="80772"/>
                  <a:pt x="246888" y="128016"/>
                </a:cubicBezTo>
                <a:cubicBezTo>
                  <a:pt x="347472" y="175260"/>
                  <a:pt x="489204" y="236220"/>
                  <a:pt x="603504" y="283464"/>
                </a:cubicBezTo>
                <a:cubicBezTo>
                  <a:pt x="717804" y="330708"/>
                  <a:pt x="825246" y="371094"/>
                  <a:pt x="932688" y="41148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C8183626-C981-C270-0F2E-3DDF663AAA4E}"/>
              </a:ext>
            </a:extLst>
          </p:cNvPr>
          <p:cNvCxnSpPr>
            <a:cxnSpLocks/>
          </p:cNvCxnSpPr>
          <p:nvPr/>
        </p:nvCxnSpPr>
        <p:spPr>
          <a:xfrm flipV="1">
            <a:off x="4594724" y="1396307"/>
            <a:ext cx="4256580" cy="2310211"/>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24253B0F-A3FB-AED6-D28D-C948045A14DD}"/>
              </a:ext>
            </a:extLst>
          </p:cNvPr>
          <p:cNvSpPr txBox="1"/>
          <p:nvPr/>
        </p:nvSpPr>
        <p:spPr>
          <a:xfrm>
            <a:off x="3905413" y="1901969"/>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39C3582E-C26C-06EE-2403-6BE0CB0A7430}"/>
                  </a:ext>
                </a:extLst>
              </p:cNvPr>
              <p:cNvSpPr txBox="1"/>
              <p:nvPr/>
            </p:nvSpPr>
            <p:spPr>
              <a:xfrm>
                <a:off x="5884848" y="3474360"/>
                <a:ext cx="6016770" cy="3003528"/>
              </a:xfrm>
              <a:prstGeom prst="rect">
                <a:avLst/>
              </a:prstGeom>
              <a:ln>
                <a:solidFill>
                  <a:schemeClr val="tx1"/>
                </a:solidFill>
              </a:ln>
            </p:spPr>
            <p:style>
              <a:lnRef idx="2">
                <a:schemeClr val="accent5">
                  <a:shade val="15000"/>
                </a:schemeClr>
              </a:lnRef>
              <a:fillRef idx="1">
                <a:schemeClr val="accent5"/>
              </a:fillRef>
              <a:effectRef idx="0">
                <a:schemeClr val="accent5"/>
              </a:effectRef>
              <a:fontRef idx="minor">
                <a:schemeClr val="lt1"/>
              </a:fontRef>
            </p:style>
            <p:txBody>
              <a:bodyPr wrap="square" rtlCol="0">
                <a:noAutofit/>
              </a:bodyPr>
              <a:lstStyle/>
              <a:p>
                <a14:m>
                  <m:oMath xmlns:m="http://schemas.openxmlformats.org/officeDocument/2006/math">
                    <m:r>
                      <a:rPr lang="en-US" b="0" i="1" dirty="0" smtClean="0">
                        <a:latin typeface="Cambria Math" panose="02040503050406030204" pitchFamily="18" charset="0"/>
                      </a:rPr>
                      <m:t>𝜇</m:t>
                    </m:r>
                    <m:r>
                      <a:rPr lang="en-US" b="0" i="1" dirty="0" smtClean="0">
                        <a:latin typeface="Cambria Math" panose="02040503050406030204" pitchFamily="18" charset="0"/>
                      </a:rPr>
                      <m:t>≥</m:t>
                    </m:r>
                    <m:r>
                      <a:rPr lang="en-US" b="0" i="1" dirty="0" smtClean="0">
                        <a:latin typeface="Cambria Math" panose="02040503050406030204" pitchFamily="18" charset="0"/>
                      </a:rPr>
                      <m:t>𝜆</m:t>
                    </m:r>
                  </m:oMath>
                </a14:m>
                <a:r>
                  <a:rPr lang="en-US" i="1" dirty="0"/>
                  <a:t> – i.e. the low-talent penalty is more severe than the misogyny penalty.</a:t>
                </a:r>
              </a:p>
              <a:p>
                <a:endParaRPr lang="en-US" i="1" dirty="0"/>
              </a:p>
              <a:p>
                <a:r>
                  <a:rPr lang="en-US" i="1" dirty="0"/>
                  <a:t>So the ordering of win-probabilities is like this:</a:t>
                </a:r>
              </a:p>
            </p:txBody>
          </p:sp>
        </mc:Choice>
        <mc:Fallback xmlns="">
          <p:sp>
            <p:nvSpPr>
              <p:cNvPr id="39" name="TextBox 38">
                <a:extLst>
                  <a:ext uri="{FF2B5EF4-FFF2-40B4-BE49-F238E27FC236}">
                    <a16:creationId xmlns:a16="http://schemas.microsoft.com/office/drawing/2014/main" id="{39C3582E-C26C-06EE-2403-6BE0CB0A7430}"/>
                  </a:ext>
                </a:extLst>
              </p:cNvPr>
              <p:cNvSpPr txBox="1">
                <a:spLocks noRot="1" noChangeAspect="1" noMove="1" noResize="1" noEditPoints="1" noAdjustHandles="1" noChangeArrowheads="1" noChangeShapeType="1" noTextEdit="1"/>
              </p:cNvSpPr>
              <p:nvPr/>
            </p:nvSpPr>
            <p:spPr>
              <a:xfrm>
                <a:off x="5884848" y="3474360"/>
                <a:ext cx="6016770" cy="3003528"/>
              </a:xfrm>
              <a:prstGeom prst="rect">
                <a:avLst/>
              </a:prstGeom>
              <a:blipFill>
                <a:blip r:embed="rId17"/>
                <a:stretch>
                  <a:fillRect l="-707" t="-806"/>
                </a:stretch>
              </a:blipFill>
              <a:ln>
                <a:solidFill>
                  <a:schemeClr val="tx1"/>
                </a:solidFill>
              </a:ln>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7618FBBA-04AF-9FEF-8684-181A1041DB92}"/>
              </a:ext>
            </a:extLst>
          </p:cNvPr>
          <p:cNvCxnSpPr>
            <a:cxnSpLocks/>
          </p:cNvCxnSpPr>
          <p:nvPr/>
        </p:nvCxnSpPr>
        <p:spPr>
          <a:xfrm>
            <a:off x="6589270" y="5720504"/>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8E2FBB64-CD25-8FE4-64BE-B63B7AB5F35F}"/>
              </a:ext>
            </a:extLst>
          </p:cNvPr>
          <p:cNvSpPr txBox="1"/>
          <p:nvPr/>
        </p:nvSpPr>
        <p:spPr>
          <a:xfrm>
            <a:off x="6205096" y="4953775"/>
            <a:ext cx="1216058" cy="584775"/>
          </a:xfrm>
          <a:prstGeom prst="rect">
            <a:avLst/>
          </a:prstGeom>
          <a:noFill/>
        </p:spPr>
        <p:txBody>
          <a:bodyPr wrap="square" rtlCol="0">
            <a:spAutoFit/>
          </a:bodyPr>
          <a:lstStyle/>
          <a:p>
            <a:pPr algn="ctr"/>
            <a:r>
              <a:rPr lang="en-US" sz="1600" dirty="0"/>
              <a:t>low talent women</a:t>
            </a:r>
          </a:p>
        </p:txBody>
      </p:sp>
      <p:sp>
        <p:nvSpPr>
          <p:cNvPr id="45" name="TextBox 44">
            <a:extLst>
              <a:ext uri="{FF2B5EF4-FFF2-40B4-BE49-F238E27FC236}">
                <a16:creationId xmlns:a16="http://schemas.microsoft.com/office/drawing/2014/main" id="{225A51FB-8A02-CFFE-A64A-009987996E89}"/>
              </a:ext>
            </a:extLst>
          </p:cNvPr>
          <p:cNvSpPr txBox="1"/>
          <p:nvPr/>
        </p:nvSpPr>
        <p:spPr>
          <a:xfrm>
            <a:off x="10488745" y="4983627"/>
            <a:ext cx="1216058" cy="584775"/>
          </a:xfrm>
          <a:prstGeom prst="rect">
            <a:avLst/>
          </a:prstGeom>
          <a:noFill/>
        </p:spPr>
        <p:txBody>
          <a:bodyPr wrap="square" rtlCol="0">
            <a:spAutoFit/>
          </a:bodyPr>
          <a:lstStyle/>
          <a:p>
            <a:pPr algn="ctr"/>
            <a:r>
              <a:rPr lang="en-US" sz="1600" dirty="0"/>
              <a:t>high talent men</a:t>
            </a:r>
          </a:p>
        </p:txBody>
      </p:sp>
      <p:sp>
        <p:nvSpPr>
          <p:cNvPr id="58" name="TextBox 57">
            <a:extLst>
              <a:ext uri="{FF2B5EF4-FFF2-40B4-BE49-F238E27FC236}">
                <a16:creationId xmlns:a16="http://schemas.microsoft.com/office/drawing/2014/main" id="{94BE367A-76D7-DEC2-285F-BF964C6B0A52}"/>
              </a:ext>
            </a:extLst>
          </p:cNvPr>
          <p:cNvSpPr txBox="1"/>
          <p:nvPr/>
        </p:nvSpPr>
        <p:spPr>
          <a:xfrm>
            <a:off x="7632979" y="4959343"/>
            <a:ext cx="1216058" cy="584775"/>
          </a:xfrm>
          <a:prstGeom prst="rect">
            <a:avLst/>
          </a:prstGeom>
          <a:noFill/>
        </p:spPr>
        <p:txBody>
          <a:bodyPr wrap="square" rtlCol="0">
            <a:spAutoFit/>
          </a:bodyPr>
          <a:lstStyle/>
          <a:p>
            <a:pPr algn="ctr"/>
            <a:r>
              <a:rPr lang="en-US" sz="1600" dirty="0"/>
              <a:t>low talent men</a:t>
            </a:r>
          </a:p>
        </p:txBody>
      </p:sp>
      <p:sp>
        <p:nvSpPr>
          <p:cNvPr id="59" name="TextBox 58">
            <a:extLst>
              <a:ext uri="{FF2B5EF4-FFF2-40B4-BE49-F238E27FC236}">
                <a16:creationId xmlns:a16="http://schemas.microsoft.com/office/drawing/2014/main" id="{60F41443-6E63-229F-E65A-3982722EDDED}"/>
              </a:ext>
            </a:extLst>
          </p:cNvPr>
          <p:cNvSpPr txBox="1"/>
          <p:nvPr/>
        </p:nvSpPr>
        <p:spPr>
          <a:xfrm>
            <a:off x="9060862" y="4964911"/>
            <a:ext cx="1376870" cy="584775"/>
          </a:xfrm>
          <a:prstGeom prst="rect">
            <a:avLst/>
          </a:prstGeom>
          <a:noFill/>
        </p:spPr>
        <p:txBody>
          <a:bodyPr wrap="square" rtlCol="0">
            <a:spAutoFit/>
          </a:bodyPr>
          <a:lstStyle/>
          <a:p>
            <a:pPr algn="ctr"/>
            <a:r>
              <a:rPr lang="en-US" sz="1600" dirty="0"/>
              <a:t>high talent women</a:t>
            </a:r>
          </a:p>
        </p:txBody>
      </p:sp>
    </p:spTree>
    <p:extLst>
      <p:ext uri="{BB962C8B-B14F-4D97-AF65-F5344CB8AC3E}">
        <p14:creationId xmlns:p14="http://schemas.microsoft.com/office/powerpoint/2010/main" val="352924284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732F7-1F5A-D82E-870E-CCAE0EBD49A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25DD5D2-BA49-0A63-177A-FE25AE065467}"/>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928518EF-0FFD-906E-B027-448F2056911C}"/>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E3CA204-C56D-FA73-9632-C21C67343593}"/>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8FF5EE9A-F530-02A5-31E4-CE219C075D36}"/>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F0314593-F023-97B7-EC46-96FA542DE9B3}"/>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DFFE0798-CC71-EC16-CA65-298AD5BAA8E0}"/>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785F8EB6-B01A-7173-7F49-2E88DD57D6C4}"/>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66CE3C34-CEA4-598F-E6AC-D38CC7369B65}"/>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D4E00F86-F9FE-71AB-5490-0CE4D444E64D}"/>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1AC3AC1A-08AD-BD21-C32F-2709A128FEED}"/>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43E7A722-7E4D-DF7D-4048-10CA284450C9}"/>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CD186590-0221-B48B-9C51-2FF6F8DB3BD9}"/>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4C9D464-E615-915E-4A65-4952CCE11E05}"/>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C4C9D464-E615-915E-4A65-4952CCE11E05}"/>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53AF3A32-973C-E811-2115-BB8038453889}"/>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57F21CFC-4CC4-D11F-14D9-138C411F3CA0}"/>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7B5063AE-C974-A472-0610-42C9FB56AABF}"/>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6E8C5DF-7956-7B12-CA46-EAB5EBC0F6BD}"/>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86E8C5DF-7956-7B12-CA46-EAB5EBC0F6BD}"/>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0118B05C-38FE-A029-7E49-DF9CABA1CAE8}"/>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4FF7F3B-C382-3913-C95C-14F48100446A}"/>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A4822746-7829-D87F-2D8F-69FB36667E38}"/>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9B6108A7-3FCE-E66F-7D88-7F24001488F3}"/>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66FB445-75E1-D631-3AC3-77BAA10BEA95}"/>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966FB445-75E1-D631-3AC3-77BAA10BEA95}"/>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B369CFD-955F-DAFA-63C5-1745F8F2A7EC}"/>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3B369CFD-955F-DAFA-63C5-1745F8F2A7EC}"/>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6993DFA9-71F1-DE41-2F65-1E32FF153C19}"/>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7511BDD7-BBE0-C11E-A2BB-65361F99F650}"/>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2B9026D6-1A97-9B5D-1AC2-9AA4046A1219}"/>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E573324-0960-A715-B129-C3A3C9F07410}"/>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2E573324-0960-A715-B129-C3A3C9F07410}"/>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5A1872A-33C4-DC82-248A-3C0336C4E678}"/>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B5A1872A-33C4-DC82-248A-3C0336C4E678}"/>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D38E5DF8-D472-8C66-0F30-43DE73E8D557}"/>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DC89C7B-6BD3-C224-C11C-31B54F9F4A66}"/>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ADC89C7B-6BD3-C224-C11C-31B54F9F4A66}"/>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30AB3B8-8EF8-7A9D-EB11-A612A3ED37BF}"/>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530AB3B8-8EF8-7A9D-EB11-A612A3ED37BF}"/>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83E0C489-1722-628A-D74B-AF334A3A2000}"/>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33851FAE-5E62-4F4A-C250-F9E37A5A57B1}"/>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5192D49-D8F3-E05E-57EC-66100CFFDB6B}"/>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D5192D49-D8F3-E05E-57EC-66100CFFDB6B}"/>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6D80F341-A3BB-F331-B7B9-38F800C619BA}"/>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512D30A-EE6E-A4E1-56D6-95045FD212F3}"/>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1512D30A-EE6E-A4E1-56D6-95045FD212F3}"/>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6637EA7A-A419-A71F-4DD4-5CDD9E09AD3D}"/>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6E93A9BE-6B4E-F402-3416-EE9F64A05699}"/>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387A9D01-E66B-B0B3-C56D-9B5AC010B1F9}"/>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387A9D01-E66B-B0B3-C56D-9B5AC010B1F9}"/>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AE8B9BE5-BEB2-1013-FEF5-2297828F9F17}"/>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9E94410-139A-FEB4-2618-BA182E1DEAD0}"/>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89E94410-139A-FEB4-2618-BA182E1DEAD0}"/>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CBB2FF35-568A-ACBB-78E1-9BD4B485944D}"/>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1E58699D-7E04-9B81-5DB1-811F955B7FA5}"/>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663376DC-B8C1-768E-3D48-7176D547581B}"/>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p:cxnSp>
        <p:nvCxnSpPr>
          <p:cNvPr id="56" name="Straight Connector 55">
            <a:extLst>
              <a:ext uri="{FF2B5EF4-FFF2-40B4-BE49-F238E27FC236}">
                <a16:creationId xmlns:a16="http://schemas.microsoft.com/office/drawing/2014/main" id="{22E10E83-4540-3298-78DA-EB4117477565}"/>
              </a:ext>
            </a:extLst>
          </p:cNvPr>
          <p:cNvCxnSpPr/>
          <p:nvPr/>
        </p:nvCxnSpPr>
        <p:spPr>
          <a:xfrm>
            <a:off x="3636954" y="4226333"/>
            <a:ext cx="914400" cy="91440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33CFDD39-E0BA-A557-1FB7-D1F4911238E0}"/>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33CFDD39-E0BA-A557-1FB7-D1F4911238E0}"/>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DF8BC778-58CE-2810-68CC-40C0B2CBFF7E}"/>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DF8BC778-58CE-2810-68CC-40C0B2CBFF7E}"/>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4D29EC0F-A443-D5E8-B168-C19746AE29FD}"/>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4D29EC0F-A443-D5E8-B168-C19746AE29FD}"/>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B26D9EBB-314D-3140-D97A-D174F86F65EF}"/>
              </a:ext>
            </a:extLst>
          </p:cNvPr>
          <p:cNvCxnSpPr>
            <a:cxnSpLocks/>
          </p:cNvCxnSpPr>
          <p:nvPr/>
        </p:nvCxnSpPr>
        <p:spPr>
          <a:xfrm>
            <a:off x="3636954" y="1268482"/>
            <a:ext cx="16311" cy="19760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3" name="Freeform: Shape 52">
            <a:extLst>
              <a:ext uri="{FF2B5EF4-FFF2-40B4-BE49-F238E27FC236}">
                <a16:creationId xmlns:a16="http://schemas.microsoft.com/office/drawing/2014/main" id="{25500F4A-31A2-F317-2A5C-AE9410B7FEC5}"/>
              </a:ext>
            </a:extLst>
          </p:cNvPr>
          <p:cNvSpPr/>
          <p:nvPr/>
        </p:nvSpPr>
        <p:spPr>
          <a:xfrm>
            <a:off x="3639312" y="3300984"/>
            <a:ext cx="932688" cy="411480"/>
          </a:xfrm>
          <a:custGeom>
            <a:avLst/>
            <a:gdLst>
              <a:gd name="connsiteX0" fmla="*/ 0 w 932688"/>
              <a:gd name="connsiteY0" fmla="*/ 0 h 411480"/>
              <a:gd name="connsiteX1" fmla="*/ 246888 w 932688"/>
              <a:gd name="connsiteY1" fmla="*/ 128016 h 411480"/>
              <a:gd name="connsiteX2" fmla="*/ 603504 w 932688"/>
              <a:gd name="connsiteY2" fmla="*/ 283464 h 411480"/>
              <a:gd name="connsiteX3" fmla="*/ 932688 w 932688"/>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932688" h="411480">
                <a:moveTo>
                  <a:pt x="0" y="0"/>
                </a:moveTo>
                <a:cubicBezTo>
                  <a:pt x="73152" y="40386"/>
                  <a:pt x="146304" y="80772"/>
                  <a:pt x="246888" y="128016"/>
                </a:cubicBezTo>
                <a:cubicBezTo>
                  <a:pt x="347472" y="175260"/>
                  <a:pt x="489204" y="236220"/>
                  <a:pt x="603504" y="283464"/>
                </a:cubicBezTo>
                <a:cubicBezTo>
                  <a:pt x="717804" y="330708"/>
                  <a:pt x="825246" y="371094"/>
                  <a:pt x="932688" y="41148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084128B3-A0CA-5ABB-9702-1BB6E84A4032}"/>
              </a:ext>
            </a:extLst>
          </p:cNvPr>
          <p:cNvCxnSpPr>
            <a:cxnSpLocks/>
          </p:cNvCxnSpPr>
          <p:nvPr/>
        </p:nvCxnSpPr>
        <p:spPr>
          <a:xfrm flipV="1">
            <a:off x="4594724" y="1396307"/>
            <a:ext cx="4256580" cy="231021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1C10CDCA-73A4-229A-A431-FC04F97AD447}"/>
              </a:ext>
            </a:extLst>
          </p:cNvPr>
          <p:cNvSpPr txBox="1"/>
          <p:nvPr/>
        </p:nvSpPr>
        <p:spPr>
          <a:xfrm>
            <a:off x="3905413" y="1901969"/>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cxnSp>
        <p:nvCxnSpPr>
          <p:cNvPr id="39" name="Straight Arrow Connector 38">
            <a:extLst>
              <a:ext uri="{FF2B5EF4-FFF2-40B4-BE49-F238E27FC236}">
                <a16:creationId xmlns:a16="http://schemas.microsoft.com/office/drawing/2014/main" id="{AD225BDB-A292-FA46-EE5D-6095FB8E7D73}"/>
              </a:ext>
            </a:extLst>
          </p:cNvPr>
          <p:cNvCxnSpPr>
            <a:cxnSpLocks/>
          </p:cNvCxnSpPr>
          <p:nvPr/>
        </p:nvCxnSpPr>
        <p:spPr>
          <a:xfrm>
            <a:off x="6994337" y="3422198"/>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D6B6F435-CFE5-F665-3003-4537C8D7BC20}"/>
              </a:ext>
            </a:extLst>
          </p:cNvPr>
          <p:cNvSpPr txBox="1"/>
          <p:nvPr/>
        </p:nvSpPr>
        <p:spPr>
          <a:xfrm>
            <a:off x="6610163" y="2655469"/>
            <a:ext cx="1216058" cy="584775"/>
          </a:xfrm>
          <a:prstGeom prst="rect">
            <a:avLst/>
          </a:prstGeom>
          <a:noFill/>
        </p:spPr>
        <p:txBody>
          <a:bodyPr wrap="square" rtlCol="0">
            <a:spAutoFit/>
          </a:bodyPr>
          <a:lstStyle/>
          <a:p>
            <a:pPr algn="ctr"/>
            <a:r>
              <a:rPr lang="en-US" sz="1600" dirty="0"/>
              <a:t>low talent women</a:t>
            </a:r>
          </a:p>
        </p:txBody>
      </p:sp>
      <p:sp>
        <p:nvSpPr>
          <p:cNvPr id="41" name="TextBox 40">
            <a:extLst>
              <a:ext uri="{FF2B5EF4-FFF2-40B4-BE49-F238E27FC236}">
                <a16:creationId xmlns:a16="http://schemas.microsoft.com/office/drawing/2014/main" id="{CAFC9DDB-DE7F-788F-A2E5-C7CCFF404EF9}"/>
              </a:ext>
            </a:extLst>
          </p:cNvPr>
          <p:cNvSpPr txBox="1"/>
          <p:nvPr/>
        </p:nvSpPr>
        <p:spPr>
          <a:xfrm>
            <a:off x="10893812" y="2685321"/>
            <a:ext cx="1216058" cy="584775"/>
          </a:xfrm>
          <a:prstGeom prst="rect">
            <a:avLst/>
          </a:prstGeom>
          <a:noFill/>
        </p:spPr>
        <p:txBody>
          <a:bodyPr wrap="square" rtlCol="0">
            <a:spAutoFit/>
          </a:bodyPr>
          <a:lstStyle/>
          <a:p>
            <a:pPr algn="ctr"/>
            <a:r>
              <a:rPr lang="en-US" sz="1600" dirty="0"/>
              <a:t>high talent men</a:t>
            </a:r>
          </a:p>
        </p:txBody>
      </p:sp>
      <p:sp>
        <p:nvSpPr>
          <p:cNvPr id="45" name="TextBox 44">
            <a:extLst>
              <a:ext uri="{FF2B5EF4-FFF2-40B4-BE49-F238E27FC236}">
                <a16:creationId xmlns:a16="http://schemas.microsoft.com/office/drawing/2014/main" id="{D62E9321-23C5-EF72-CD06-2875A4AB0F2A}"/>
              </a:ext>
            </a:extLst>
          </p:cNvPr>
          <p:cNvSpPr txBox="1"/>
          <p:nvPr/>
        </p:nvSpPr>
        <p:spPr>
          <a:xfrm>
            <a:off x="8038046" y="2661037"/>
            <a:ext cx="1216058" cy="584775"/>
          </a:xfrm>
          <a:prstGeom prst="rect">
            <a:avLst/>
          </a:prstGeom>
          <a:noFill/>
        </p:spPr>
        <p:txBody>
          <a:bodyPr wrap="square" rtlCol="0">
            <a:spAutoFit/>
          </a:bodyPr>
          <a:lstStyle/>
          <a:p>
            <a:pPr algn="ctr"/>
            <a:r>
              <a:rPr lang="en-US" sz="1600" dirty="0"/>
              <a:t>low talent men</a:t>
            </a:r>
          </a:p>
        </p:txBody>
      </p:sp>
      <p:sp>
        <p:nvSpPr>
          <p:cNvPr id="58" name="TextBox 57">
            <a:extLst>
              <a:ext uri="{FF2B5EF4-FFF2-40B4-BE49-F238E27FC236}">
                <a16:creationId xmlns:a16="http://schemas.microsoft.com/office/drawing/2014/main" id="{D5876C13-45F1-93ED-BAE4-0170E32BA8B9}"/>
              </a:ext>
            </a:extLst>
          </p:cNvPr>
          <p:cNvSpPr txBox="1"/>
          <p:nvPr/>
        </p:nvSpPr>
        <p:spPr>
          <a:xfrm>
            <a:off x="9465929" y="2666605"/>
            <a:ext cx="1376870" cy="584775"/>
          </a:xfrm>
          <a:prstGeom prst="rect">
            <a:avLst/>
          </a:prstGeom>
          <a:noFill/>
        </p:spPr>
        <p:txBody>
          <a:bodyPr wrap="square" rtlCol="0">
            <a:spAutoFit/>
          </a:bodyPr>
          <a:lstStyle/>
          <a:p>
            <a:pPr algn="ctr"/>
            <a:r>
              <a:rPr lang="en-US" sz="1600" dirty="0"/>
              <a:t>high talent women</a:t>
            </a:r>
          </a:p>
        </p:txBody>
      </p:sp>
    </p:spTree>
    <p:extLst>
      <p:ext uri="{BB962C8B-B14F-4D97-AF65-F5344CB8AC3E}">
        <p14:creationId xmlns:p14="http://schemas.microsoft.com/office/powerpoint/2010/main" val="137751105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322B-707F-9E9A-CD1F-85CC174350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D2131AC-61AE-3E9F-90C2-5D9DDB93FF87}"/>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97363ABC-6774-3350-6F3D-CDF4C7B2CD67}"/>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96321C49-03FF-5262-057E-CE5E4BF729A3}"/>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24FBE269-9897-FF02-651E-4B6D18EED634}"/>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A262B2BD-3330-CFD8-361B-4875A4A90AA9}"/>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ACC6B799-0D29-D392-5ADB-5216A979EC33}"/>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AAB65A2B-5D22-BB97-8FBC-1A8300C3C2B6}"/>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8BAF987A-3DB6-46F6-E8FD-7043728020F1}"/>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1D6BBEAA-0998-52F2-CF89-5564922CBAAE}"/>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4B5DCF26-8B6C-8491-CD53-EBFD175784E6}"/>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6C93CC83-0862-6C7F-FCFA-8FC3ADF3541E}"/>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E8CE3AF4-B4F5-14B2-F33E-1C1AC3BDE89E}"/>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D8D0C88-0DA6-62FA-6A5D-F94FAE835BD0}"/>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1D8D0C88-0DA6-62FA-6A5D-F94FAE835BD0}"/>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D7A1FD7D-5219-DD75-AEEF-08C3BB383E9D}"/>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08E706E0-DEDF-FFC5-80AF-197FE2963FD5}"/>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071923FF-8282-93F9-1BB2-341B10331C06}"/>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4E97F23-CB21-23C0-540A-423E829E0616}"/>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94E97F23-CB21-23C0-540A-423E829E0616}"/>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C1933BCD-62C2-FF58-E53E-6B795E3B379C}"/>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E0B7615-8504-C2C8-0C7D-65D4C39355AB}"/>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D7570FDC-2B69-ADFA-7B0F-4831174796DB}"/>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8DF87EE9-A065-E02C-7690-D2E366954242}"/>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6D5FA93-5FD1-D3BA-92F9-5F5ED5F7A59D}"/>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26D5FA93-5FD1-D3BA-92F9-5F5ED5F7A59D}"/>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756D978-A931-5B41-A13B-610F9EAA78B5}"/>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F756D978-A931-5B41-A13B-610F9EAA78B5}"/>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4351C6F0-E474-6E15-3C23-C6FAB47082B9}"/>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6301ECB0-D7D7-23D8-F2FD-510109B7A25F}"/>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164F1B3-F6FD-18EC-4653-98B4BD3BF3D9}"/>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1863D99-C162-7990-B9C1-A37BB54CF60B}"/>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31863D99-C162-7990-B9C1-A37BB54CF60B}"/>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A726320-7F99-1DB6-7FEE-260E12A73A94}"/>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BA726320-7F99-1DB6-7FEE-260E12A73A94}"/>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BD60EDE3-3009-15E7-982F-B5275ADE48CF}"/>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84A57A0-A886-276E-60FC-4A927E819296}"/>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484A57A0-A886-276E-60FC-4A927E819296}"/>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2D32B64-4647-9C04-7D19-CE9F75455C39}"/>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62D32B64-4647-9C04-7D19-CE9F75455C39}"/>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B9286005-8DC6-6545-5402-24FDB0D59C95}"/>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36D6258C-D593-0BCA-28A0-DF42718D89A4}"/>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4056758-8E6C-CC6F-1073-DFBBBD92889F}"/>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C4056758-8E6C-CC6F-1073-DFBBBD92889F}"/>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3683288D-3081-6A20-2C88-458F69C26C84}"/>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08288A9-4C1A-1A69-5655-66AB79970050}"/>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408288A9-4C1A-1A69-5655-66AB79970050}"/>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3B43170E-EB79-49FC-CDC2-5B16D03152E8}"/>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EF80EB1B-D312-5736-02E2-335F9AD99023}"/>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A130A74-AC1C-37E7-DB2E-2ABC61165636}"/>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AA130A74-AC1C-37E7-DB2E-2ABC61165636}"/>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CD8F576E-FCA9-5AE7-EADC-A6510BC3C75A}"/>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726F7EC-34DE-0371-5E0C-74D286EBD6C0}"/>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3726F7EC-34DE-0371-5E0C-74D286EBD6C0}"/>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D544C70E-C675-9973-F5BC-BC4CB0D14930}"/>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ADE60748-47F1-39AA-ADB0-6DB960FFA6B8}"/>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DF13C63B-7511-6C21-0E93-856609E5949E}"/>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p:cxnSp>
        <p:nvCxnSpPr>
          <p:cNvPr id="56" name="Straight Connector 55">
            <a:extLst>
              <a:ext uri="{FF2B5EF4-FFF2-40B4-BE49-F238E27FC236}">
                <a16:creationId xmlns:a16="http://schemas.microsoft.com/office/drawing/2014/main" id="{54F20FFD-82A0-40B0-3921-1D862B216EB5}"/>
              </a:ext>
            </a:extLst>
          </p:cNvPr>
          <p:cNvCxnSpPr/>
          <p:nvPr/>
        </p:nvCxnSpPr>
        <p:spPr>
          <a:xfrm>
            <a:off x="3636954" y="4226333"/>
            <a:ext cx="914400" cy="91440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923F42BD-0DE4-9B6D-D625-6646E3AFB41A}"/>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923F42BD-0DE4-9B6D-D625-6646E3AFB41A}"/>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33594C85-6F49-7759-FBF6-A9DAF7C0BC51}"/>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33594C85-6F49-7759-FBF6-A9DAF7C0BC51}"/>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694F6A7D-D7C0-21F5-B883-1961451500DC}"/>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694F6A7D-D7C0-21F5-B883-1961451500DC}"/>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B433A4AA-ADFA-6B64-B673-E5F2228019B9}"/>
              </a:ext>
            </a:extLst>
          </p:cNvPr>
          <p:cNvCxnSpPr>
            <a:cxnSpLocks/>
          </p:cNvCxnSpPr>
          <p:nvPr/>
        </p:nvCxnSpPr>
        <p:spPr>
          <a:xfrm>
            <a:off x="3636954" y="1268482"/>
            <a:ext cx="16311" cy="1976027"/>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sp>
        <p:nvSpPr>
          <p:cNvPr id="53" name="Freeform: Shape 52">
            <a:extLst>
              <a:ext uri="{FF2B5EF4-FFF2-40B4-BE49-F238E27FC236}">
                <a16:creationId xmlns:a16="http://schemas.microsoft.com/office/drawing/2014/main" id="{F1FB35F5-FA6B-71F1-A7EA-05A81C09E694}"/>
              </a:ext>
            </a:extLst>
          </p:cNvPr>
          <p:cNvSpPr/>
          <p:nvPr/>
        </p:nvSpPr>
        <p:spPr>
          <a:xfrm>
            <a:off x="3639312" y="3300984"/>
            <a:ext cx="932688" cy="411480"/>
          </a:xfrm>
          <a:custGeom>
            <a:avLst/>
            <a:gdLst>
              <a:gd name="connsiteX0" fmla="*/ 0 w 932688"/>
              <a:gd name="connsiteY0" fmla="*/ 0 h 411480"/>
              <a:gd name="connsiteX1" fmla="*/ 246888 w 932688"/>
              <a:gd name="connsiteY1" fmla="*/ 128016 h 411480"/>
              <a:gd name="connsiteX2" fmla="*/ 603504 w 932688"/>
              <a:gd name="connsiteY2" fmla="*/ 283464 h 411480"/>
              <a:gd name="connsiteX3" fmla="*/ 932688 w 932688"/>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932688" h="411480">
                <a:moveTo>
                  <a:pt x="0" y="0"/>
                </a:moveTo>
                <a:cubicBezTo>
                  <a:pt x="73152" y="40386"/>
                  <a:pt x="146304" y="80772"/>
                  <a:pt x="246888" y="128016"/>
                </a:cubicBezTo>
                <a:cubicBezTo>
                  <a:pt x="347472" y="175260"/>
                  <a:pt x="489204" y="236220"/>
                  <a:pt x="603504" y="283464"/>
                </a:cubicBezTo>
                <a:cubicBezTo>
                  <a:pt x="717804" y="330708"/>
                  <a:pt x="825246" y="371094"/>
                  <a:pt x="932688" y="41148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D0EA5C8F-0061-5314-55AA-C9512ECC5A86}"/>
              </a:ext>
            </a:extLst>
          </p:cNvPr>
          <p:cNvCxnSpPr>
            <a:cxnSpLocks/>
          </p:cNvCxnSpPr>
          <p:nvPr/>
        </p:nvCxnSpPr>
        <p:spPr>
          <a:xfrm flipV="1">
            <a:off x="4594724" y="1396307"/>
            <a:ext cx="4256580" cy="231021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EC620F8C-7062-3D6C-3DF4-1E7193E61745}"/>
              </a:ext>
            </a:extLst>
          </p:cNvPr>
          <p:cNvSpPr txBox="1"/>
          <p:nvPr/>
        </p:nvSpPr>
        <p:spPr>
          <a:xfrm>
            <a:off x="3905413" y="1901969"/>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cxnSp>
        <p:nvCxnSpPr>
          <p:cNvPr id="39" name="Straight Arrow Connector 38">
            <a:extLst>
              <a:ext uri="{FF2B5EF4-FFF2-40B4-BE49-F238E27FC236}">
                <a16:creationId xmlns:a16="http://schemas.microsoft.com/office/drawing/2014/main" id="{90E96F0D-054B-1525-CDCA-5D7968ACCEAA}"/>
              </a:ext>
            </a:extLst>
          </p:cNvPr>
          <p:cNvCxnSpPr>
            <a:cxnSpLocks/>
          </p:cNvCxnSpPr>
          <p:nvPr/>
        </p:nvCxnSpPr>
        <p:spPr>
          <a:xfrm>
            <a:off x="6994337" y="3422198"/>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AE107344-3A78-AB0E-E5D6-5F5EC8C64061}"/>
              </a:ext>
            </a:extLst>
          </p:cNvPr>
          <p:cNvSpPr txBox="1"/>
          <p:nvPr/>
        </p:nvSpPr>
        <p:spPr>
          <a:xfrm>
            <a:off x="6610163" y="2655469"/>
            <a:ext cx="1216058" cy="584775"/>
          </a:xfrm>
          <a:prstGeom prst="rect">
            <a:avLst/>
          </a:prstGeom>
          <a:noFill/>
        </p:spPr>
        <p:txBody>
          <a:bodyPr wrap="square" rtlCol="0">
            <a:spAutoFit/>
          </a:bodyPr>
          <a:lstStyle/>
          <a:p>
            <a:pPr algn="ctr"/>
            <a:r>
              <a:rPr lang="en-US" sz="1600" dirty="0"/>
              <a:t>low talent women</a:t>
            </a:r>
          </a:p>
        </p:txBody>
      </p:sp>
      <p:sp>
        <p:nvSpPr>
          <p:cNvPr id="41" name="TextBox 40">
            <a:extLst>
              <a:ext uri="{FF2B5EF4-FFF2-40B4-BE49-F238E27FC236}">
                <a16:creationId xmlns:a16="http://schemas.microsoft.com/office/drawing/2014/main" id="{E98367E8-50F4-5D1B-A5C3-9CB039B32385}"/>
              </a:ext>
            </a:extLst>
          </p:cNvPr>
          <p:cNvSpPr txBox="1"/>
          <p:nvPr/>
        </p:nvSpPr>
        <p:spPr>
          <a:xfrm>
            <a:off x="10893812" y="2685321"/>
            <a:ext cx="1216058" cy="584775"/>
          </a:xfrm>
          <a:prstGeom prst="rect">
            <a:avLst/>
          </a:prstGeom>
          <a:noFill/>
        </p:spPr>
        <p:txBody>
          <a:bodyPr wrap="square" rtlCol="0">
            <a:spAutoFit/>
          </a:bodyPr>
          <a:lstStyle/>
          <a:p>
            <a:pPr algn="ctr"/>
            <a:r>
              <a:rPr lang="en-US" sz="1600" dirty="0"/>
              <a:t>high talent men</a:t>
            </a:r>
          </a:p>
        </p:txBody>
      </p:sp>
      <p:sp>
        <p:nvSpPr>
          <p:cNvPr id="45" name="TextBox 44">
            <a:extLst>
              <a:ext uri="{FF2B5EF4-FFF2-40B4-BE49-F238E27FC236}">
                <a16:creationId xmlns:a16="http://schemas.microsoft.com/office/drawing/2014/main" id="{A65F22D5-36D0-4371-060B-919C7E73E19D}"/>
              </a:ext>
            </a:extLst>
          </p:cNvPr>
          <p:cNvSpPr txBox="1"/>
          <p:nvPr/>
        </p:nvSpPr>
        <p:spPr>
          <a:xfrm>
            <a:off x="8038046" y="2661037"/>
            <a:ext cx="1216058" cy="584775"/>
          </a:xfrm>
          <a:prstGeom prst="rect">
            <a:avLst/>
          </a:prstGeom>
          <a:noFill/>
        </p:spPr>
        <p:txBody>
          <a:bodyPr wrap="square" rtlCol="0">
            <a:spAutoFit/>
          </a:bodyPr>
          <a:lstStyle/>
          <a:p>
            <a:pPr algn="ctr"/>
            <a:r>
              <a:rPr lang="en-US" sz="1600" dirty="0"/>
              <a:t>low talent men</a:t>
            </a:r>
          </a:p>
        </p:txBody>
      </p:sp>
      <p:sp>
        <p:nvSpPr>
          <p:cNvPr id="58" name="TextBox 57">
            <a:extLst>
              <a:ext uri="{FF2B5EF4-FFF2-40B4-BE49-F238E27FC236}">
                <a16:creationId xmlns:a16="http://schemas.microsoft.com/office/drawing/2014/main" id="{7DF635AA-4FE1-DBDE-B75D-3E795EA5B621}"/>
              </a:ext>
            </a:extLst>
          </p:cNvPr>
          <p:cNvSpPr txBox="1"/>
          <p:nvPr/>
        </p:nvSpPr>
        <p:spPr>
          <a:xfrm>
            <a:off x="9465929" y="2666605"/>
            <a:ext cx="1376870" cy="584775"/>
          </a:xfrm>
          <a:prstGeom prst="rect">
            <a:avLst/>
          </a:prstGeom>
          <a:noFill/>
        </p:spPr>
        <p:txBody>
          <a:bodyPr wrap="square" rtlCol="0">
            <a:spAutoFit/>
          </a:bodyPr>
          <a:lstStyle/>
          <a:p>
            <a:pPr algn="ctr"/>
            <a:r>
              <a:rPr lang="en-US" sz="1600" dirty="0"/>
              <a:t>high talent women</a:t>
            </a: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A9C6883F-DB74-85C5-F457-FDBC0697B038}"/>
                  </a:ext>
                </a:extLst>
              </p:cNvPr>
              <p:cNvSpPr txBox="1"/>
              <p:nvPr/>
            </p:nvSpPr>
            <p:spPr>
              <a:xfrm>
                <a:off x="1726704" y="3661875"/>
                <a:ext cx="6016770" cy="1066517"/>
              </a:xfrm>
              <a:prstGeom prst="rect">
                <a:avLst/>
              </a:prstGeom>
              <a:ln>
                <a:solidFill>
                  <a:schemeClr val="tx1"/>
                </a:solidFill>
              </a:ln>
            </p:spPr>
            <p:style>
              <a:lnRef idx="2">
                <a:schemeClr val="accent5">
                  <a:shade val="15000"/>
                </a:schemeClr>
              </a:lnRef>
              <a:fillRef idx="1">
                <a:schemeClr val="accent5"/>
              </a:fillRef>
              <a:effectRef idx="0">
                <a:schemeClr val="accent5"/>
              </a:effectRef>
              <a:fontRef idx="minor">
                <a:schemeClr val="lt1"/>
              </a:fontRef>
            </p:style>
            <p:txBody>
              <a:bodyPr wrap="square" rtlCol="0">
                <a:noAutofit/>
              </a:bodyPr>
              <a:lstStyle/>
              <a:p>
                <a14:m>
                  <m:oMath xmlns:m="http://schemas.openxmlformats.org/officeDocument/2006/math">
                    <m:r>
                      <a:rPr lang="en-US" b="0" i="1" dirty="0" smtClean="0">
                        <a:latin typeface="Cambria Math" panose="02040503050406030204" pitchFamily="18" charset="0"/>
                      </a:rPr>
                      <m:t>𝜆</m:t>
                    </m:r>
                    <m:r>
                      <a:rPr lang="en-US" b="0" i="1" dirty="0" smtClean="0">
                        <a:latin typeface="Cambria Math" panose="02040503050406030204" pitchFamily="18" charset="0"/>
                      </a:rPr>
                      <m:t>≥</m:t>
                    </m:r>
                    <m:box>
                      <m:boxPr>
                        <m:ctrlPr>
                          <a:rPr lang="en-US" b="0" i="1" dirty="0" smtClean="0">
                            <a:latin typeface="Cambria Math" panose="02040503050406030204" pitchFamily="18" charset="0"/>
                          </a:rPr>
                        </m:ctrlPr>
                      </m:boxPr>
                      <m:e>
                        <m:argPr>
                          <m:argSz m:val="-1"/>
                        </m:argP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𝐶</m:t>
                            </m:r>
                          </m:num>
                          <m:den>
                            <m:r>
                              <a:rPr lang="en-US" b="0" i="1" dirty="0" smtClean="0">
                                <a:latin typeface="Cambria Math" panose="02040503050406030204" pitchFamily="18" charset="0"/>
                              </a:rPr>
                              <m:t>𝑤𝐵</m:t>
                            </m:r>
                          </m:den>
                        </m:f>
                      </m:e>
                    </m:box>
                  </m:oMath>
                </a14:m>
                <a:r>
                  <a:rPr lang="en-US" i="1" dirty="0"/>
                  <a:t> – i.e. the low-talent penalty is not bad enough to deter low-talent men from running.  So, low talent men run (as do high talent women and high talent men).</a:t>
                </a:r>
              </a:p>
              <a:p>
                <a:endParaRPr lang="en-US" i="1" dirty="0"/>
              </a:p>
            </p:txBody>
          </p:sp>
        </mc:Choice>
        <mc:Fallback xmlns="">
          <p:sp>
            <p:nvSpPr>
              <p:cNvPr id="59" name="TextBox 58">
                <a:extLst>
                  <a:ext uri="{FF2B5EF4-FFF2-40B4-BE49-F238E27FC236}">
                    <a16:creationId xmlns:a16="http://schemas.microsoft.com/office/drawing/2014/main" id="{A9C6883F-DB74-85C5-F457-FDBC0697B038}"/>
                  </a:ext>
                </a:extLst>
              </p:cNvPr>
              <p:cNvSpPr txBox="1">
                <a:spLocks noRot="1" noChangeAspect="1" noMove="1" noResize="1" noEditPoints="1" noAdjustHandles="1" noChangeArrowheads="1" noChangeShapeType="1" noTextEdit="1"/>
              </p:cNvSpPr>
              <p:nvPr/>
            </p:nvSpPr>
            <p:spPr>
              <a:xfrm>
                <a:off x="1726704" y="3661875"/>
                <a:ext cx="6016770" cy="1066517"/>
              </a:xfrm>
              <a:prstGeom prst="rect">
                <a:avLst/>
              </a:prstGeom>
              <a:blipFill>
                <a:blip r:embed="rId17"/>
                <a:stretch>
                  <a:fillRect l="-707" t="-1124"/>
                </a:stretch>
              </a:blipFill>
              <a:ln>
                <a:solidFill>
                  <a:schemeClr val="tx1"/>
                </a:solidFill>
              </a:ln>
            </p:spPr>
            <p:txBody>
              <a:bodyPr/>
              <a:lstStyle/>
              <a:p>
                <a:r>
                  <a:rPr lang="en-US">
                    <a:noFill/>
                  </a:rPr>
                  <a:t> </a:t>
                </a:r>
              </a:p>
            </p:txBody>
          </p:sp>
        </mc:Fallback>
      </mc:AlternateContent>
      <p:sp>
        <p:nvSpPr>
          <p:cNvPr id="60" name="Oval 59">
            <a:extLst>
              <a:ext uri="{FF2B5EF4-FFF2-40B4-BE49-F238E27FC236}">
                <a16:creationId xmlns:a16="http://schemas.microsoft.com/office/drawing/2014/main" id="{87CDB3E9-5381-D85E-32AF-6E970E5F3A17}"/>
              </a:ext>
            </a:extLst>
          </p:cNvPr>
          <p:cNvSpPr/>
          <p:nvPr/>
        </p:nvSpPr>
        <p:spPr>
          <a:xfrm>
            <a:off x="8038046" y="2503453"/>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36B433A9-130D-E15A-EA31-5800F8A80B1E}"/>
              </a:ext>
            </a:extLst>
          </p:cNvPr>
          <p:cNvSpPr txBox="1"/>
          <p:nvPr/>
        </p:nvSpPr>
        <p:spPr>
          <a:xfrm rot="19474235">
            <a:off x="8856172" y="2065892"/>
            <a:ext cx="10691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run!</a:t>
            </a:r>
          </a:p>
        </p:txBody>
      </p:sp>
    </p:spTree>
    <p:extLst>
      <p:ext uri="{BB962C8B-B14F-4D97-AF65-F5344CB8AC3E}">
        <p14:creationId xmlns:p14="http://schemas.microsoft.com/office/powerpoint/2010/main" val="275280164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3C129-9D6E-9DDA-410C-1731D7D351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E9A7FE9-62A6-CC0C-96EE-CFB93C5C7AF3}"/>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0027AC85-AA66-8376-5A17-FC1C7DD849A6}"/>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DA110A1A-A575-2CE0-F57B-AF3D85614F2A}"/>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C245CD26-E257-B26B-630F-1005D498B929}"/>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5C552FE5-33C7-157B-E482-EBB849469C0F}"/>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9955CAC6-8885-52D3-197D-8EF2F1CE2DDA}"/>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B8A478D4-AD24-6762-AC7C-CDB9D8280867}"/>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5F50019D-E2D6-CE85-8022-DFD88B81F3A1}"/>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7FEDF9B5-66F7-4160-8798-FADDF7AEEF68}"/>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E4A86114-FDF8-F31E-03A0-1B012FEE82FA}"/>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1C257CB4-266F-620A-038E-61C02AE3E7D3}"/>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A1667F77-9B13-6C30-C0A8-1A799351DC06}"/>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F83D1F3C-8820-5470-0BED-EA928E79643F}"/>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F83D1F3C-8820-5470-0BED-EA928E79643F}"/>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4AC53273-1FE6-B13B-6FF7-2557E967E011}"/>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BAFF04F2-803F-D87C-F1BE-FB1EE15AEAAF}"/>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41EB474F-F1E9-CA28-495F-858316918144}"/>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F8A7A0E5-2B70-E997-F7DA-C59AB1AB3025}"/>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F8A7A0E5-2B70-E997-F7DA-C59AB1AB3025}"/>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61373026-BBA3-DA67-4A4D-7284E9B5B103}"/>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C271D92-8E5D-C109-C02D-4B4E9D8B26F8}"/>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EC608C8E-28A5-DE83-9D11-F10BE30C7D06}"/>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25F942F3-15D8-9628-5F58-4C76621A3BDB}"/>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4C277F9-3908-AAB1-7C49-0A0E3315E441}"/>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64C277F9-3908-AAB1-7C49-0A0E3315E441}"/>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C14147F-DBF2-4EC9-B582-D4E65C7616E0}"/>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FC14147F-DBF2-4EC9-B582-D4E65C7616E0}"/>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B677901D-A595-5DF3-A58C-0A2679CAF051}"/>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6FA89263-7075-AFCF-32E3-B85AAA34CED9}"/>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8A10AD67-E3A4-D2B3-9C3A-B8C340853B6E}"/>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2A397DC-B539-9C32-7EC9-F7AC41796F2F}"/>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A2A397DC-B539-9C32-7EC9-F7AC41796F2F}"/>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4525AD1-12A7-AB8E-2C1C-F63762B56823}"/>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F4525AD1-12A7-AB8E-2C1C-F63762B56823}"/>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F15EC2B0-3A1F-A567-D1DB-DB5F32E22180}"/>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6BAACC1-676A-C1AB-6840-1DDCA79141FF}"/>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A6BAACC1-676A-C1AB-6840-1DDCA79141FF}"/>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98B19988-025F-9A43-5550-DDA8850817F4}"/>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98B19988-025F-9A43-5550-DDA8850817F4}"/>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719FD8A2-E54E-6D29-D27F-970F706DD4D0}"/>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80C52F9E-71CB-E61B-31C7-A630D717EAED}"/>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9DD7204-4C55-3C9C-C97D-539933B47C1E}"/>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49DD7204-4C55-3C9C-C97D-539933B47C1E}"/>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08ED422B-EC4D-DAE6-D666-8A04F6393BA6}"/>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2F3520C-E3CD-1644-DFC9-BBCBA4B7AF5B}"/>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D2F3520C-E3CD-1644-DFC9-BBCBA4B7AF5B}"/>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5E6C2904-DD5B-E39B-C12B-5C5479351A60}"/>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C99CF809-9BF1-17E6-1F40-0044A7BE8D9F}"/>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0DBF1EF-631A-7AC6-E1FC-E2F7910617CB}"/>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B0DBF1EF-631A-7AC6-E1FC-E2F7910617CB}"/>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A32107EC-3E12-A131-8268-2ADEEF056F8F}"/>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F84785F-058A-3205-7D15-BC662688867B}"/>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CF84785F-058A-3205-7D15-BC662688867B}"/>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4CA645D5-7FA8-7871-3FBC-46C554FB334E}"/>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C718CDC7-A9C3-64D3-79AF-1640949EF2EB}"/>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5FF5E253-A4D4-CBAF-A250-B7752FDE487B}"/>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p:cxnSp>
        <p:nvCxnSpPr>
          <p:cNvPr id="56" name="Straight Connector 55">
            <a:extLst>
              <a:ext uri="{FF2B5EF4-FFF2-40B4-BE49-F238E27FC236}">
                <a16:creationId xmlns:a16="http://schemas.microsoft.com/office/drawing/2014/main" id="{9D83A7BF-6CB2-3577-FE82-0AF41399FE59}"/>
              </a:ext>
            </a:extLst>
          </p:cNvPr>
          <p:cNvCxnSpPr/>
          <p:nvPr/>
        </p:nvCxnSpPr>
        <p:spPr>
          <a:xfrm>
            <a:off x="3636954" y="4226333"/>
            <a:ext cx="914400" cy="91440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5B6A62B-CCFA-A101-02BF-BC7EDDA12DF6}"/>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B5B6A62B-CCFA-A101-02BF-BC7EDDA12DF6}"/>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B1B7FC9-B84C-6C78-C59E-8DCD3D2C3A37}"/>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FB1B7FC9-B84C-6C78-C59E-8DCD3D2C3A37}"/>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29B7CD9C-4FFD-1197-0754-9D831AACBDDA}"/>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29B7CD9C-4FFD-1197-0754-9D831AACBDDA}"/>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AE3A4B8E-74E9-E195-F14F-8920F58863FA}"/>
              </a:ext>
            </a:extLst>
          </p:cNvPr>
          <p:cNvCxnSpPr>
            <a:cxnSpLocks/>
          </p:cNvCxnSpPr>
          <p:nvPr/>
        </p:nvCxnSpPr>
        <p:spPr>
          <a:xfrm>
            <a:off x="3636954" y="1268482"/>
            <a:ext cx="16311" cy="19760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3" name="Freeform: Shape 52">
            <a:extLst>
              <a:ext uri="{FF2B5EF4-FFF2-40B4-BE49-F238E27FC236}">
                <a16:creationId xmlns:a16="http://schemas.microsoft.com/office/drawing/2014/main" id="{3B492153-9293-B7E4-426D-C2272B67FEE2}"/>
              </a:ext>
            </a:extLst>
          </p:cNvPr>
          <p:cNvSpPr/>
          <p:nvPr/>
        </p:nvSpPr>
        <p:spPr>
          <a:xfrm>
            <a:off x="3639312" y="3300984"/>
            <a:ext cx="932688" cy="411480"/>
          </a:xfrm>
          <a:custGeom>
            <a:avLst/>
            <a:gdLst>
              <a:gd name="connsiteX0" fmla="*/ 0 w 932688"/>
              <a:gd name="connsiteY0" fmla="*/ 0 h 411480"/>
              <a:gd name="connsiteX1" fmla="*/ 246888 w 932688"/>
              <a:gd name="connsiteY1" fmla="*/ 128016 h 411480"/>
              <a:gd name="connsiteX2" fmla="*/ 603504 w 932688"/>
              <a:gd name="connsiteY2" fmla="*/ 283464 h 411480"/>
              <a:gd name="connsiteX3" fmla="*/ 932688 w 932688"/>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932688" h="411480">
                <a:moveTo>
                  <a:pt x="0" y="0"/>
                </a:moveTo>
                <a:cubicBezTo>
                  <a:pt x="73152" y="40386"/>
                  <a:pt x="146304" y="80772"/>
                  <a:pt x="246888" y="128016"/>
                </a:cubicBezTo>
                <a:cubicBezTo>
                  <a:pt x="347472" y="175260"/>
                  <a:pt x="489204" y="236220"/>
                  <a:pt x="603504" y="283464"/>
                </a:cubicBezTo>
                <a:cubicBezTo>
                  <a:pt x="717804" y="330708"/>
                  <a:pt x="825246" y="371094"/>
                  <a:pt x="932688" y="41148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BE2AD133-3AEE-8A1E-07C5-FDE5B1726DC9}"/>
              </a:ext>
            </a:extLst>
          </p:cNvPr>
          <p:cNvCxnSpPr>
            <a:cxnSpLocks/>
          </p:cNvCxnSpPr>
          <p:nvPr/>
        </p:nvCxnSpPr>
        <p:spPr>
          <a:xfrm flipV="1">
            <a:off x="4594724" y="1396307"/>
            <a:ext cx="4256580" cy="231021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4E33660C-F76A-025A-848D-EF9FE5394654}"/>
              </a:ext>
            </a:extLst>
          </p:cNvPr>
          <p:cNvSpPr txBox="1"/>
          <p:nvPr/>
        </p:nvSpPr>
        <p:spPr>
          <a:xfrm>
            <a:off x="3905413" y="1901969"/>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cxnSp>
        <p:nvCxnSpPr>
          <p:cNvPr id="39" name="Straight Arrow Connector 38">
            <a:extLst>
              <a:ext uri="{FF2B5EF4-FFF2-40B4-BE49-F238E27FC236}">
                <a16:creationId xmlns:a16="http://schemas.microsoft.com/office/drawing/2014/main" id="{E5F92F6F-EF27-0712-F62F-AEFB36DAE4BC}"/>
              </a:ext>
            </a:extLst>
          </p:cNvPr>
          <p:cNvCxnSpPr>
            <a:cxnSpLocks/>
          </p:cNvCxnSpPr>
          <p:nvPr/>
        </p:nvCxnSpPr>
        <p:spPr>
          <a:xfrm>
            <a:off x="6994337" y="3422198"/>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B363538B-B19C-AFAC-F06A-521FBDD4ECB5}"/>
              </a:ext>
            </a:extLst>
          </p:cNvPr>
          <p:cNvSpPr txBox="1"/>
          <p:nvPr/>
        </p:nvSpPr>
        <p:spPr>
          <a:xfrm>
            <a:off x="6610163" y="2655469"/>
            <a:ext cx="1216058" cy="584775"/>
          </a:xfrm>
          <a:prstGeom prst="rect">
            <a:avLst/>
          </a:prstGeom>
          <a:noFill/>
        </p:spPr>
        <p:txBody>
          <a:bodyPr wrap="square" rtlCol="0">
            <a:spAutoFit/>
          </a:bodyPr>
          <a:lstStyle/>
          <a:p>
            <a:pPr algn="ctr"/>
            <a:r>
              <a:rPr lang="en-US" sz="1600" dirty="0"/>
              <a:t>low talent women</a:t>
            </a:r>
          </a:p>
        </p:txBody>
      </p:sp>
      <p:sp>
        <p:nvSpPr>
          <p:cNvPr id="41" name="TextBox 40">
            <a:extLst>
              <a:ext uri="{FF2B5EF4-FFF2-40B4-BE49-F238E27FC236}">
                <a16:creationId xmlns:a16="http://schemas.microsoft.com/office/drawing/2014/main" id="{DDC0C3D1-B91C-AA1D-7433-8FB6742A96D7}"/>
              </a:ext>
            </a:extLst>
          </p:cNvPr>
          <p:cNvSpPr txBox="1"/>
          <p:nvPr/>
        </p:nvSpPr>
        <p:spPr>
          <a:xfrm>
            <a:off x="10893812" y="2685321"/>
            <a:ext cx="1216058" cy="584775"/>
          </a:xfrm>
          <a:prstGeom prst="rect">
            <a:avLst/>
          </a:prstGeom>
          <a:noFill/>
        </p:spPr>
        <p:txBody>
          <a:bodyPr wrap="square" rtlCol="0">
            <a:spAutoFit/>
          </a:bodyPr>
          <a:lstStyle/>
          <a:p>
            <a:pPr algn="ctr"/>
            <a:r>
              <a:rPr lang="en-US" sz="1600" dirty="0"/>
              <a:t>high talent men</a:t>
            </a:r>
          </a:p>
        </p:txBody>
      </p:sp>
      <p:sp>
        <p:nvSpPr>
          <p:cNvPr id="45" name="TextBox 44">
            <a:extLst>
              <a:ext uri="{FF2B5EF4-FFF2-40B4-BE49-F238E27FC236}">
                <a16:creationId xmlns:a16="http://schemas.microsoft.com/office/drawing/2014/main" id="{B02A4ACA-3749-9E37-1D34-36E63B7019FA}"/>
              </a:ext>
            </a:extLst>
          </p:cNvPr>
          <p:cNvSpPr txBox="1"/>
          <p:nvPr/>
        </p:nvSpPr>
        <p:spPr>
          <a:xfrm>
            <a:off x="8038046" y="2661037"/>
            <a:ext cx="1216058" cy="584775"/>
          </a:xfrm>
          <a:prstGeom prst="rect">
            <a:avLst/>
          </a:prstGeom>
          <a:noFill/>
        </p:spPr>
        <p:txBody>
          <a:bodyPr wrap="square" rtlCol="0">
            <a:spAutoFit/>
          </a:bodyPr>
          <a:lstStyle/>
          <a:p>
            <a:pPr algn="ctr"/>
            <a:r>
              <a:rPr lang="en-US" sz="1600" dirty="0"/>
              <a:t>low talent men</a:t>
            </a:r>
          </a:p>
        </p:txBody>
      </p:sp>
      <p:sp>
        <p:nvSpPr>
          <p:cNvPr id="58" name="TextBox 57">
            <a:extLst>
              <a:ext uri="{FF2B5EF4-FFF2-40B4-BE49-F238E27FC236}">
                <a16:creationId xmlns:a16="http://schemas.microsoft.com/office/drawing/2014/main" id="{EB3B92E9-D41C-74A0-2A46-97FE521EF8B9}"/>
              </a:ext>
            </a:extLst>
          </p:cNvPr>
          <p:cNvSpPr txBox="1"/>
          <p:nvPr/>
        </p:nvSpPr>
        <p:spPr>
          <a:xfrm>
            <a:off x="9465929" y="2666605"/>
            <a:ext cx="1376870" cy="584775"/>
          </a:xfrm>
          <a:prstGeom prst="rect">
            <a:avLst/>
          </a:prstGeom>
          <a:noFill/>
        </p:spPr>
        <p:txBody>
          <a:bodyPr wrap="square" rtlCol="0">
            <a:spAutoFit/>
          </a:bodyPr>
          <a:lstStyle/>
          <a:p>
            <a:pPr algn="ctr"/>
            <a:r>
              <a:rPr lang="en-US" sz="1600" dirty="0"/>
              <a:t>high talent women</a:t>
            </a:r>
          </a:p>
        </p:txBody>
      </p:sp>
      <p:sp>
        <p:nvSpPr>
          <p:cNvPr id="60" name="Oval 59">
            <a:extLst>
              <a:ext uri="{FF2B5EF4-FFF2-40B4-BE49-F238E27FC236}">
                <a16:creationId xmlns:a16="http://schemas.microsoft.com/office/drawing/2014/main" id="{80F5A6E7-E212-F765-4FE8-DECB2997CD42}"/>
              </a:ext>
            </a:extLst>
          </p:cNvPr>
          <p:cNvSpPr/>
          <p:nvPr/>
        </p:nvSpPr>
        <p:spPr>
          <a:xfrm>
            <a:off x="8038046" y="2503453"/>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51C6FBF5-950C-71B4-6CEC-164544C49F9B}"/>
              </a:ext>
            </a:extLst>
          </p:cNvPr>
          <p:cNvSpPr txBox="1"/>
          <p:nvPr/>
        </p:nvSpPr>
        <p:spPr>
          <a:xfrm rot="19474235">
            <a:off x="8856172" y="2065892"/>
            <a:ext cx="10691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run!</a:t>
            </a:r>
          </a:p>
        </p:txBody>
      </p:sp>
    </p:spTree>
    <p:extLst>
      <p:ext uri="{BB962C8B-B14F-4D97-AF65-F5344CB8AC3E}">
        <p14:creationId xmlns:p14="http://schemas.microsoft.com/office/powerpoint/2010/main" val="268354046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BCE1A-7FEE-8756-C698-7282793A180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10808B-6C96-98D6-2D67-8C505ABDA2CD}"/>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8AD3722C-31CB-5946-56A0-33A4439C70D1}"/>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3DE951B-079E-547F-F497-9981A6D2EDCB}"/>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F29CCE1E-B564-797B-C5F8-6FE5A0A70B18}"/>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6BEB6D75-3800-2C60-4FF3-BA67EF1C9D30}"/>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9DC4D154-162F-8EE1-6022-56AE9F8F97FC}"/>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19EFB63F-A61A-685F-56CF-DDDB0C66B962}"/>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2192D942-A131-1510-CDC7-098DE77A1220}"/>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70BDB962-3107-E12F-131C-C3CA2CEF142A}"/>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3320409E-DA8B-86D4-435A-BE19B562E258}"/>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81B845DF-D46C-2B0E-C935-48AEEB0C9F2D}"/>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3DE10095-D671-3D3D-D833-A585B5C56A09}"/>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DCCA827-AAF9-E553-8F9C-1B36F3AE5A3D}"/>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3DCCA827-AAF9-E553-8F9C-1B36F3AE5A3D}"/>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9ECC507C-472F-C920-D6C4-6C7AF6D57030}"/>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3DDC3079-B891-5845-A25E-7AE4A9B43039}"/>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B6A1B6DE-EACF-AA42-E354-A767DCE80C33}"/>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570882C-10D4-B10C-97B4-3747390BEBA5}"/>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1570882C-10D4-B10C-97B4-3747390BEBA5}"/>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933E7383-2500-AED5-4047-516FF2C17CFA}"/>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4A3859D-B282-332D-2FDB-C3C6C5A0F99E}"/>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AACA1F05-B517-6A77-B397-67BB3536614D}"/>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DAE24FD9-92B2-3B3B-C35D-DBE42A1558D1}"/>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D50D4B2-347C-F8E8-3B78-94E215A2B83D}"/>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2D50D4B2-347C-F8E8-3B78-94E215A2B83D}"/>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1EF1A90-EC51-B1FD-7D34-EA8734C026AD}"/>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31EF1A90-EC51-B1FD-7D34-EA8734C026AD}"/>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C40FF6C0-5CD1-E4BF-A742-BBEE0F15812C}"/>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9421DAF9-A897-148C-6E5E-78BBBC3CF5FA}"/>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60367C6-ED69-BFF6-0AC9-93224D89A635}"/>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490EE24-1A1D-CB30-20B1-E97176DD3159}"/>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8490EE24-1A1D-CB30-20B1-E97176DD3159}"/>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BF539FBD-5D6B-9CA4-6B4B-42F101AC2D3E}"/>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BF539FBD-5D6B-9CA4-6B4B-42F101AC2D3E}"/>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7E2D2385-5CF1-7769-1ED3-491DE0FC91CE}"/>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11A0502-2BDD-7124-49D2-4A3D0C3FF3DD}"/>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111A0502-2BDD-7124-49D2-4A3D0C3FF3DD}"/>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5F15CE4-491D-FFB5-2D9E-F9D2805C7219}"/>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85F15CE4-491D-FFB5-2D9E-F9D2805C7219}"/>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3C291F3A-468A-1C3A-C65C-F2D5E25A70AB}"/>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E01352C0-C0AD-5D1D-C890-DCBEE334A339}"/>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67C20E3-1FE7-B8FA-3A9F-386BC752B961}"/>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F67C20E3-1FE7-B8FA-3A9F-386BC752B961}"/>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0FFD69A8-D304-442A-197E-86301F5201CD}"/>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E59C39E-A172-EF97-BF55-1ABE77572AE8}"/>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4E59C39E-A172-EF97-BF55-1ABE77572AE8}"/>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682788B0-180A-23A9-97BE-2F6D4B2319D6}"/>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984B306E-1EB4-FC7B-1301-6B0D207FE366}"/>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E0A5A2C-F820-5ADF-E337-38474AAFBFED}"/>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6E0A5A2C-F820-5ADF-E337-38474AAFBFED}"/>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FA261942-B07D-E519-82C5-2B2F553D8476}"/>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270FE09-AA70-FDE6-CE97-85B896391DA4}"/>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9270FE09-AA70-FDE6-CE97-85B896391DA4}"/>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E12B6F5C-8F21-31CD-B987-600366600AD2}"/>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EFCA3977-B128-9F04-993B-1FF3CDDD2BF9}"/>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A7B14244-2731-9E57-CEB9-9E6173FEEDB7}"/>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p:cxnSp>
        <p:nvCxnSpPr>
          <p:cNvPr id="56" name="Straight Connector 55">
            <a:extLst>
              <a:ext uri="{FF2B5EF4-FFF2-40B4-BE49-F238E27FC236}">
                <a16:creationId xmlns:a16="http://schemas.microsoft.com/office/drawing/2014/main" id="{36FA52E2-AC51-D62D-05CC-59F101D67F2B}"/>
              </a:ext>
            </a:extLst>
          </p:cNvPr>
          <p:cNvCxnSpPr/>
          <p:nvPr/>
        </p:nvCxnSpPr>
        <p:spPr>
          <a:xfrm>
            <a:off x="3636954" y="4226333"/>
            <a:ext cx="914400" cy="91440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A53E9118-443A-04AF-4F63-2BCE6031D9B0}"/>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A53E9118-443A-04AF-4F63-2BCE6031D9B0}"/>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3EE6B0BE-41BE-52BB-172F-125D36A03D74}"/>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3EE6B0BE-41BE-52BB-172F-125D36A03D74}"/>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BAC08E56-0B13-F4D1-8E9F-13EE0DA269A0}"/>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BAC08E56-0B13-F4D1-8E9F-13EE0DA269A0}"/>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787925AC-AA2F-EAF8-E1FF-8FE8B86E38BE}"/>
              </a:ext>
            </a:extLst>
          </p:cNvPr>
          <p:cNvCxnSpPr>
            <a:cxnSpLocks/>
          </p:cNvCxnSpPr>
          <p:nvPr/>
        </p:nvCxnSpPr>
        <p:spPr>
          <a:xfrm>
            <a:off x="3636954" y="1268482"/>
            <a:ext cx="16311" cy="19760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3" name="Freeform: Shape 52">
            <a:extLst>
              <a:ext uri="{FF2B5EF4-FFF2-40B4-BE49-F238E27FC236}">
                <a16:creationId xmlns:a16="http://schemas.microsoft.com/office/drawing/2014/main" id="{265D9A2F-5F7C-7A1E-B478-30B351C51821}"/>
              </a:ext>
            </a:extLst>
          </p:cNvPr>
          <p:cNvSpPr/>
          <p:nvPr/>
        </p:nvSpPr>
        <p:spPr>
          <a:xfrm>
            <a:off x="3639312" y="3300984"/>
            <a:ext cx="932688" cy="411480"/>
          </a:xfrm>
          <a:custGeom>
            <a:avLst/>
            <a:gdLst>
              <a:gd name="connsiteX0" fmla="*/ 0 w 932688"/>
              <a:gd name="connsiteY0" fmla="*/ 0 h 411480"/>
              <a:gd name="connsiteX1" fmla="*/ 246888 w 932688"/>
              <a:gd name="connsiteY1" fmla="*/ 128016 h 411480"/>
              <a:gd name="connsiteX2" fmla="*/ 603504 w 932688"/>
              <a:gd name="connsiteY2" fmla="*/ 283464 h 411480"/>
              <a:gd name="connsiteX3" fmla="*/ 932688 w 932688"/>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932688" h="411480">
                <a:moveTo>
                  <a:pt x="0" y="0"/>
                </a:moveTo>
                <a:cubicBezTo>
                  <a:pt x="73152" y="40386"/>
                  <a:pt x="146304" y="80772"/>
                  <a:pt x="246888" y="128016"/>
                </a:cubicBezTo>
                <a:cubicBezTo>
                  <a:pt x="347472" y="175260"/>
                  <a:pt x="489204" y="236220"/>
                  <a:pt x="603504" y="283464"/>
                </a:cubicBezTo>
                <a:cubicBezTo>
                  <a:pt x="717804" y="330708"/>
                  <a:pt x="825246" y="371094"/>
                  <a:pt x="932688" y="411480"/>
                </a:cubicBezTo>
              </a:path>
            </a:pathLst>
          </a:cu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AD032396-B369-A1D7-B0D0-A675F33F7BC0}"/>
              </a:ext>
            </a:extLst>
          </p:cNvPr>
          <p:cNvCxnSpPr>
            <a:cxnSpLocks/>
          </p:cNvCxnSpPr>
          <p:nvPr/>
        </p:nvCxnSpPr>
        <p:spPr>
          <a:xfrm flipV="1">
            <a:off x="4594724" y="1396307"/>
            <a:ext cx="4256580" cy="231021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76889BB2-FCD7-634A-4888-19058A6EB3B5}"/>
              </a:ext>
            </a:extLst>
          </p:cNvPr>
          <p:cNvSpPr txBox="1"/>
          <p:nvPr/>
        </p:nvSpPr>
        <p:spPr>
          <a:xfrm>
            <a:off x="3905413" y="1901969"/>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cxnSp>
        <p:nvCxnSpPr>
          <p:cNvPr id="39" name="Straight Arrow Connector 38">
            <a:extLst>
              <a:ext uri="{FF2B5EF4-FFF2-40B4-BE49-F238E27FC236}">
                <a16:creationId xmlns:a16="http://schemas.microsoft.com/office/drawing/2014/main" id="{DB0E89A3-56B1-E20D-D279-E71FCE7B5D69}"/>
              </a:ext>
            </a:extLst>
          </p:cNvPr>
          <p:cNvCxnSpPr>
            <a:cxnSpLocks/>
          </p:cNvCxnSpPr>
          <p:nvPr/>
        </p:nvCxnSpPr>
        <p:spPr>
          <a:xfrm>
            <a:off x="6994337" y="3422198"/>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F5C17CCD-F248-8799-EED1-9787E481B8A8}"/>
              </a:ext>
            </a:extLst>
          </p:cNvPr>
          <p:cNvSpPr txBox="1"/>
          <p:nvPr/>
        </p:nvSpPr>
        <p:spPr>
          <a:xfrm>
            <a:off x="6610163" y="2655469"/>
            <a:ext cx="1216058" cy="584775"/>
          </a:xfrm>
          <a:prstGeom prst="rect">
            <a:avLst/>
          </a:prstGeom>
          <a:noFill/>
        </p:spPr>
        <p:txBody>
          <a:bodyPr wrap="square" rtlCol="0">
            <a:spAutoFit/>
          </a:bodyPr>
          <a:lstStyle/>
          <a:p>
            <a:pPr algn="ctr"/>
            <a:r>
              <a:rPr lang="en-US" sz="1600" dirty="0"/>
              <a:t>low talent women</a:t>
            </a:r>
          </a:p>
        </p:txBody>
      </p:sp>
      <p:sp>
        <p:nvSpPr>
          <p:cNvPr id="41" name="TextBox 40">
            <a:extLst>
              <a:ext uri="{FF2B5EF4-FFF2-40B4-BE49-F238E27FC236}">
                <a16:creationId xmlns:a16="http://schemas.microsoft.com/office/drawing/2014/main" id="{97736C4C-FFD7-6C3E-BEEA-85AC256A64BD}"/>
              </a:ext>
            </a:extLst>
          </p:cNvPr>
          <p:cNvSpPr txBox="1"/>
          <p:nvPr/>
        </p:nvSpPr>
        <p:spPr>
          <a:xfrm>
            <a:off x="10893812" y="2685321"/>
            <a:ext cx="1216058" cy="584775"/>
          </a:xfrm>
          <a:prstGeom prst="rect">
            <a:avLst/>
          </a:prstGeom>
          <a:noFill/>
        </p:spPr>
        <p:txBody>
          <a:bodyPr wrap="square" rtlCol="0">
            <a:spAutoFit/>
          </a:bodyPr>
          <a:lstStyle/>
          <a:p>
            <a:pPr algn="ctr"/>
            <a:r>
              <a:rPr lang="en-US" sz="1600" dirty="0"/>
              <a:t>high talent men</a:t>
            </a:r>
          </a:p>
        </p:txBody>
      </p:sp>
      <p:sp>
        <p:nvSpPr>
          <p:cNvPr id="45" name="TextBox 44">
            <a:extLst>
              <a:ext uri="{FF2B5EF4-FFF2-40B4-BE49-F238E27FC236}">
                <a16:creationId xmlns:a16="http://schemas.microsoft.com/office/drawing/2014/main" id="{EFF3C89B-243F-E716-AFE7-D8312E360FD3}"/>
              </a:ext>
            </a:extLst>
          </p:cNvPr>
          <p:cNvSpPr txBox="1"/>
          <p:nvPr/>
        </p:nvSpPr>
        <p:spPr>
          <a:xfrm>
            <a:off x="8038046" y="2661037"/>
            <a:ext cx="1216058" cy="584775"/>
          </a:xfrm>
          <a:prstGeom prst="rect">
            <a:avLst/>
          </a:prstGeom>
          <a:noFill/>
        </p:spPr>
        <p:txBody>
          <a:bodyPr wrap="square" rtlCol="0">
            <a:spAutoFit/>
          </a:bodyPr>
          <a:lstStyle/>
          <a:p>
            <a:pPr algn="ctr"/>
            <a:r>
              <a:rPr lang="en-US" sz="1600" dirty="0"/>
              <a:t>low talent men</a:t>
            </a:r>
          </a:p>
        </p:txBody>
      </p:sp>
      <p:sp>
        <p:nvSpPr>
          <p:cNvPr id="58" name="TextBox 57">
            <a:extLst>
              <a:ext uri="{FF2B5EF4-FFF2-40B4-BE49-F238E27FC236}">
                <a16:creationId xmlns:a16="http://schemas.microsoft.com/office/drawing/2014/main" id="{EB6E3C15-23CB-A18D-4618-F01D26B5EFAA}"/>
              </a:ext>
            </a:extLst>
          </p:cNvPr>
          <p:cNvSpPr txBox="1"/>
          <p:nvPr/>
        </p:nvSpPr>
        <p:spPr>
          <a:xfrm>
            <a:off x="9465929" y="2666605"/>
            <a:ext cx="1376870" cy="584775"/>
          </a:xfrm>
          <a:prstGeom prst="rect">
            <a:avLst/>
          </a:prstGeom>
          <a:noFill/>
        </p:spPr>
        <p:txBody>
          <a:bodyPr wrap="square" rtlCol="0">
            <a:spAutoFit/>
          </a:bodyPr>
          <a:lstStyle/>
          <a:p>
            <a:pPr algn="ctr"/>
            <a:r>
              <a:rPr lang="en-US" sz="1600" dirty="0"/>
              <a:t>high talent women</a:t>
            </a:r>
          </a:p>
        </p:txBody>
      </p:sp>
      <p:sp>
        <p:nvSpPr>
          <p:cNvPr id="60" name="Oval 59">
            <a:extLst>
              <a:ext uri="{FF2B5EF4-FFF2-40B4-BE49-F238E27FC236}">
                <a16:creationId xmlns:a16="http://schemas.microsoft.com/office/drawing/2014/main" id="{6D828022-BC2D-E460-94F7-6C0432030DA8}"/>
              </a:ext>
            </a:extLst>
          </p:cNvPr>
          <p:cNvSpPr/>
          <p:nvPr/>
        </p:nvSpPr>
        <p:spPr>
          <a:xfrm>
            <a:off x="8038046" y="2503453"/>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77FA282D-E429-7041-0CB8-45FF6E3CA3C4}"/>
              </a:ext>
            </a:extLst>
          </p:cNvPr>
          <p:cNvSpPr txBox="1"/>
          <p:nvPr/>
        </p:nvSpPr>
        <p:spPr>
          <a:xfrm rot="19474235">
            <a:off x="8856172" y="2065892"/>
            <a:ext cx="10691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run!</a:t>
            </a: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F292B069-4BC7-441D-A23C-8DEDF4E6AA51}"/>
                  </a:ext>
                </a:extLst>
              </p:cNvPr>
              <p:cNvSpPr txBox="1"/>
              <p:nvPr/>
            </p:nvSpPr>
            <p:spPr>
              <a:xfrm>
                <a:off x="483648" y="3965030"/>
                <a:ext cx="6016770" cy="749656"/>
              </a:xfrm>
              <a:prstGeom prst="rect">
                <a:avLst/>
              </a:prstGeom>
              <a:ln>
                <a:solidFill>
                  <a:schemeClr val="tx1"/>
                </a:solidFill>
              </a:ln>
            </p:spPr>
            <p:style>
              <a:lnRef idx="2">
                <a:schemeClr val="accent5">
                  <a:shade val="15000"/>
                </a:schemeClr>
              </a:lnRef>
              <a:fillRef idx="1">
                <a:schemeClr val="accent5"/>
              </a:fillRef>
              <a:effectRef idx="0">
                <a:schemeClr val="accent5"/>
              </a:effectRef>
              <a:fontRef idx="minor">
                <a:schemeClr val="lt1"/>
              </a:fontRef>
            </p:style>
            <p:txBody>
              <a:bodyPr wrap="square" rtlCol="0">
                <a:noAutofit/>
              </a:bodyPr>
              <a:lstStyle/>
              <a:p>
                <a14:m>
                  <m:oMath xmlns:m="http://schemas.openxmlformats.org/officeDocument/2006/math">
                    <m:r>
                      <a:rPr lang="en-US" b="0" i="1" dirty="0" smtClean="0">
                        <a:latin typeface="Cambria Math" panose="02040503050406030204" pitchFamily="18" charset="0"/>
                      </a:rPr>
                      <m:t>𝜇</m:t>
                    </m:r>
                    <m:r>
                      <a:rPr lang="en-US" b="0" i="1" dirty="0" smtClean="0">
                        <a:latin typeface="Cambria Math" panose="02040503050406030204" pitchFamily="18" charset="0"/>
                      </a:rPr>
                      <m:t>≥</m:t>
                    </m:r>
                    <m:box>
                      <m:boxPr>
                        <m:ctrlPr>
                          <a:rPr lang="en-US" b="0" i="1" dirty="0" smtClean="0">
                            <a:latin typeface="Cambria Math" panose="02040503050406030204" pitchFamily="18" charset="0"/>
                          </a:rPr>
                        </m:ctrlPr>
                      </m:boxPr>
                      <m:e>
                        <m:argPr>
                          <m:argSz m:val="-1"/>
                        </m:argP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1</m:t>
                            </m:r>
                          </m:num>
                          <m:den>
                            <m:r>
                              <a:rPr lang="en-US" b="0" i="1" dirty="0" smtClean="0">
                                <a:latin typeface="Cambria Math" panose="02040503050406030204" pitchFamily="18" charset="0"/>
                              </a:rPr>
                              <m:t>𝜆</m:t>
                            </m:r>
                          </m:den>
                        </m:f>
                      </m:e>
                    </m:box>
                    <m:box>
                      <m:boxPr>
                        <m:ctrlPr>
                          <a:rPr lang="en-US" b="0" i="1" dirty="0" smtClean="0">
                            <a:latin typeface="Cambria Math" panose="02040503050406030204" pitchFamily="18" charset="0"/>
                          </a:rPr>
                        </m:ctrlPr>
                      </m:boxPr>
                      <m:e>
                        <m:argPr>
                          <m:argSz m:val="-1"/>
                        </m:argP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𝐶</m:t>
                            </m:r>
                          </m:num>
                          <m:den>
                            <m:r>
                              <a:rPr lang="en-US" b="0" i="1" dirty="0" smtClean="0">
                                <a:latin typeface="Cambria Math" panose="02040503050406030204" pitchFamily="18" charset="0"/>
                              </a:rPr>
                              <m:t>𝑤𝐵</m:t>
                            </m:r>
                          </m:den>
                        </m:f>
                      </m:e>
                    </m:box>
                  </m:oMath>
                </a14:m>
                <a:r>
                  <a:rPr lang="en-US" i="1" dirty="0"/>
                  <a:t> – i.e. the misogyny penalty is not bad enough to deter low-talent women from running.  So they run too!</a:t>
                </a:r>
              </a:p>
              <a:p>
                <a:endParaRPr lang="en-US" i="1" dirty="0"/>
              </a:p>
            </p:txBody>
          </p:sp>
        </mc:Choice>
        <mc:Fallback xmlns="">
          <p:sp>
            <p:nvSpPr>
              <p:cNvPr id="59" name="TextBox 58">
                <a:extLst>
                  <a:ext uri="{FF2B5EF4-FFF2-40B4-BE49-F238E27FC236}">
                    <a16:creationId xmlns:a16="http://schemas.microsoft.com/office/drawing/2014/main" id="{F292B069-4BC7-441D-A23C-8DEDF4E6AA51}"/>
                  </a:ext>
                </a:extLst>
              </p:cNvPr>
              <p:cNvSpPr txBox="1">
                <a:spLocks noRot="1" noChangeAspect="1" noMove="1" noResize="1" noEditPoints="1" noAdjustHandles="1" noChangeArrowheads="1" noChangeShapeType="1" noTextEdit="1"/>
              </p:cNvSpPr>
              <p:nvPr/>
            </p:nvSpPr>
            <p:spPr>
              <a:xfrm>
                <a:off x="483648" y="3965030"/>
                <a:ext cx="6016770" cy="749656"/>
              </a:xfrm>
              <a:prstGeom prst="rect">
                <a:avLst/>
              </a:prstGeom>
              <a:blipFill>
                <a:blip r:embed="rId17"/>
                <a:stretch>
                  <a:fillRect l="-707" t="-794" b="-1587"/>
                </a:stretch>
              </a:blipFill>
              <a:ln>
                <a:solidFill>
                  <a:schemeClr val="tx1"/>
                </a:solidFill>
              </a:ln>
            </p:spPr>
            <p:txBody>
              <a:bodyPr/>
              <a:lstStyle/>
              <a:p>
                <a:r>
                  <a:rPr lang="en-US">
                    <a:noFill/>
                  </a:rPr>
                  <a:t> </a:t>
                </a:r>
              </a:p>
            </p:txBody>
          </p:sp>
        </mc:Fallback>
      </mc:AlternateContent>
      <p:sp>
        <p:nvSpPr>
          <p:cNvPr id="62" name="Oval 61">
            <a:extLst>
              <a:ext uri="{FF2B5EF4-FFF2-40B4-BE49-F238E27FC236}">
                <a16:creationId xmlns:a16="http://schemas.microsoft.com/office/drawing/2014/main" id="{D80837F0-0086-836B-3C04-86B4B171E82A}"/>
              </a:ext>
            </a:extLst>
          </p:cNvPr>
          <p:cNvSpPr/>
          <p:nvPr/>
        </p:nvSpPr>
        <p:spPr>
          <a:xfrm>
            <a:off x="6569666" y="2475385"/>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4D55B9D7-188C-8D2B-3621-F647F2989748}"/>
              </a:ext>
            </a:extLst>
          </p:cNvPr>
          <p:cNvSpPr txBox="1"/>
          <p:nvPr/>
        </p:nvSpPr>
        <p:spPr>
          <a:xfrm rot="19474235">
            <a:off x="7387792" y="2037824"/>
            <a:ext cx="10691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run!</a:t>
            </a:r>
          </a:p>
        </p:txBody>
      </p:sp>
    </p:spTree>
    <p:extLst>
      <p:ext uri="{BB962C8B-B14F-4D97-AF65-F5344CB8AC3E}">
        <p14:creationId xmlns:p14="http://schemas.microsoft.com/office/powerpoint/2010/main" val="384384436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4D3A8-D124-C54E-433A-7E5983F837F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1C83D67-236B-E995-0460-CFCA6CD196AE}"/>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6B7866AC-4B57-4E31-5557-2916D8586221}"/>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EC475B40-47FA-38B7-E311-C460961200F7}"/>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CA698B37-7092-5D12-4F7E-EB4864352E7C}"/>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3F80652F-83A4-3F36-96E1-7194E8F480AA}"/>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FCFA39F8-007B-6B5A-0416-B6EF67DD64F0}"/>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150215EC-999E-5A02-38FB-5DBA7C9EEF58}"/>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6D1CF82F-50E8-ED4B-E9CE-1360B476306A}"/>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680F1422-6E63-4FCB-4D2E-3FCEA8989166}"/>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7B8F1444-8B5D-41E6-0136-F9550E8451B7}"/>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627EA983-E291-E6AF-E52A-D097801A24AB}"/>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098F5E58-CE0F-FB6C-E885-27ECD7F89C12}"/>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5A498F26-6EF4-4DAE-EC6B-0D2615973B5C}"/>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5A498F26-6EF4-4DAE-EC6B-0D2615973B5C}"/>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5A4FD9C9-ADB9-712E-0351-B7EBB28FD33A}"/>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AEDB010A-C19D-6938-C5D8-88DC48B51792}"/>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1D23B9D3-F90F-547A-2184-6A6769043320}"/>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C69B8A6-AA3B-63B3-42D6-E214CD71D7BC}"/>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9C69B8A6-AA3B-63B3-42D6-E214CD71D7BC}"/>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CCD8FD57-69CE-48FE-E30A-4809221FE1F1}"/>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81FD8E7-AEC6-8CDD-D1B7-1FDEC84EFE82}"/>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74CE5507-A33E-AC83-511D-1F440916E354}"/>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C46B2EAE-CF6C-FA55-E608-5B264019C516}"/>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8A1B62D-41D1-E369-225F-1A0587C2ABF7}"/>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48A1B62D-41D1-E369-225F-1A0587C2ABF7}"/>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E952E78-3CCC-81A5-3025-8F4C1F23D90C}"/>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3E952E78-3CCC-81A5-3025-8F4C1F23D90C}"/>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0D863FE1-8D14-7FF0-CEB0-E8DA3FE3DE6C}"/>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7E6E8C91-85CC-DB40-F047-CE0C4BA1A8BF}"/>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D95B6A79-36AF-E473-6D54-133FEB109872}"/>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9B2F243-6F76-04EA-A56D-61CCB4E97B5E}"/>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29B2F243-6F76-04EA-A56D-61CCB4E97B5E}"/>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D038466-D91A-8E4D-95D9-F344184A7D5D}"/>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6D038466-D91A-8E4D-95D9-F344184A7D5D}"/>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DC989CDB-83FE-156E-7CD3-BBC3FDD85CB9}"/>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BA6EB11-4E28-2C44-9A46-7A0E07FD2BC6}"/>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6BA6EB11-4E28-2C44-9A46-7A0E07FD2BC6}"/>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4DD53EB-5F28-6CAF-A14A-4029AB1EDA10}"/>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B4DD53EB-5F28-6CAF-A14A-4029AB1EDA10}"/>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D4F13404-EEB5-8224-D473-09C0D63B29EF}"/>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EB473A17-A779-6236-32C8-AD8CF0D94FBC}"/>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F45518F5-14E6-3789-82C0-DBF99EB0179E}"/>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F45518F5-14E6-3789-82C0-DBF99EB0179E}"/>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BEAF2F79-E21B-42BB-19B5-E8C7DFFD6689}"/>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2A991955-AF91-5E7A-01F3-0AA615A86B1A}"/>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2A991955-AF91-5E7A-01F3-0AA615A86B1A}"/>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A6358BA4-1B4E-3A0D-F77E-23BC3DFCF065}"/>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F8565C13-E789-FF9C-1BA5-7412CDF97E02}"/>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0542D27D-C4E0-6FED-2416-92316E4565AE}"/>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0542D27D-C4E0-6FED-2416-92316E4565AE}"/>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C02AD6FD-A520-E938-4F50-935C7CA9D469}"/>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1648E7E-8E09-981E-76FB-B53DB37706AD}"/>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C1648E7E-8E09-981E-76FB-B53DB37706AD}"/>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5ADBD329-6670-BB31-241C-17B129ACD6B7}"/>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7DB6D3FC-9E6A-ECD9-A04B-D3EB4EAFE9C5}"/>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61D629A5-5798-AC00-B741-AA358035E287}"/>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p:cxnSp>
        <p:nvCxnSpPr>
          <p:cNvPr id="56" name="Straight Connector 55">
            <a:extLst>
              <a:ext uri="{FF2B5EF4-FFF2-40B4-BE49-F238E27FC236}">
                <a16:creationId xmlns:a16="http://schemas.microsoft.com/office/drawing/2014/main" id="{58F75CA9-797E-3221-60AB-606D858B7476}"/>
              </a:ext>
            </a:extLst>
          </p:cNvPr>
          <p:cNvCxnSpPr/>
          <p:nvPr/>
        </p:nvCxnSpPr>
        <p:spPr>
          <a:xfrm>
            <a:off x="3636954" y="4226333"/>
            <a:ext cx="914400" cy="91440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6E5E26EC-279C-8673-D897-886657449D3C}"/>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6E5E26EC-279C-8673-D897-886657449D3C}"/>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750DFBF-F156-8EE0-154E-AB44A1349670}"/>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6750DFBF-F156-8EE0-154E-AB44A1349670}"/>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DFF653B-7415-F5ED-C7E1-CFC11FEA0448}"/>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5DFF653B-7415-F5ED-C7E1-CFC11FEA0448}"/>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704C7B1A-D2D9-1803-6155-98DD11B3B96B}"/>
              </a:ext>
            </a:extLst>
          </p:cNvPr>
          <p:cNvCxnSpPr>
            <a:cxnSpLocks/>
          </p:cNvCxnSpPr>
          <p:nvPr/>
        </p:nvCxnSpPr>
        <p:spPr>
          <a:xfrm>
            <a:off x="3636954" y="1268482"/>
            <a:ext cx="16311" cy="19760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3" name="Freeform: Shape 52">
            <a:extLst>
              <a:ext uri="{FF2B5EF4-FFF2-40B4-BE49-F238E27FC236}">
                <a16:creationId xmlns:a16="http://schemas.microsoft.com/office/drawing/2014/main" id="{257260F6-7C6A-5DB8-9D2C-F0AEA4D6F0BC}"/>
              </a:ext>
            </a:extLst>
          </p:cNvPr>
          <p:cNvSpPr/>
          <p:nvPr/>
        </p:nvSpPr>
        <p:spPr>
          <a:xfrm>
            <a:off x="3639312" y="3300984"/>
            <a:ext cx="932688" cy="411480"/>
          </a:xfrm>
          <a:custGeom>
            <a:avLst/>
            <a:gdLst>
              <a:gd name="connsiteX0" fmla="*/ 0 w 932688"/>
              <a:gd name="connsiteY0" fmla="*/ 0 h 411480"/>
              <a:gd name="connsiteX1" fmla="*/ 246888 w 932688"/>
              <a:gd name="connsiteY1" fmla="*/ 128016 h 411480"/>
              <a:gd name="connsiteX2" fmla="*/ 603504 w 932688"/>
              <a:gd name="connsiteY2" fmla="*/ 283464 h 411480"/>
              <a:gd name="connsiteX3" fmla="*/ 932688 w 932688"/>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932688" h="411480">
                <a:moveTo>
                  <a:pt x="0" y="0"/>
                </a:moveTo>
                <a:cubicBezTo>
                  <a:pt x="73152" y="40386"/>
                  <a:pt x="146304" y="80772"/>
                  <a:pt x="246888" y="128016"/>
                </a:cubicBezTo>
                <a:cubicBezTo>
                  <a:pt x="347472" y="175260"/>
                  <a:pt x="489204" y="236220"/>
                  <a:pt x="603504" y="283464"/>
                </a:cubicBezTo>
                <a:cubicBezTo>
                  <a:pt x="717804" y="330708"/>
                  <a:pt x="825246" y="371094"/>
                  <a:pt x="932688" y="41148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0C6C104A-5D55-8267-E05B-7C91A79AD6A1}"/>
              </a:ext>
            </a:extLst>
          </p:cNvPr>
          <p:cNvCxnSpPr>
            <a:cxnSpLocks/>
          </p:cNvCxnSpPr>
          <p:nvPr/>
        </p:nvCxnSpPr>
        <p:spPr>
          <a:xfrm flipV="1">
            <a:off x="4594724" y="1396307"/>
            <a:ext cx="4256580" cy="231021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9EB8B30E-FE30-BCCA-2CFD-564EC85C46BF}"/>
              </a:ext>
            </a:extLst>
          </p:cNvPr>
          <p:cNvSpPr txBox="1"/>
          <p:nvPr/>
        </p:nvSpPr>
        <p:spPr>
          <a:xfrm>
            <a:off x="3905413" y="1901969"/>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cxnSp>
        <p:nvCxnSpPr>
          <p:cNvPr id="39" name="Straight Arrow Connector 38">
            <a:extLst>
              <a:ext uri="{FF2B5EF4-FFF2-40B4-BE49-F238E27FC236}">
                <a16:creationId xmlns:a16="http://schemas.microsoft.com/office/drawing/2014/main" id="{B52038C3-0236-A041-ED14-D7ADC9B967CF}"/>
              </a:ext>
            </a:extLst>
          </p:cNvPr>
          <p:cNvCxnSpPr>
            <a:cxnSpLocks/>
          </p:cNvCxnSpPr>
          <p:nvPr/>
        </p:nvCxnSpPr>
        <p:spPr>
          <a:xfrm>
            <a:off x="6994337" y="3422198"/>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41DA3CEB-EC74-5771-0709-08A7E5F7168A}"/>
              </a:ext>
            </a:extLst>
          </p:cNvPr>
          <p:cNvSpPr txBox="1"/>
          <p:nvPr/>
        </p:nvSpPr>
        <p:spPr>
          <a:xfrm>
            <a:off x="6610163" y="2655469"/>
            <a:ext cx="1216058" cy="584775"/>
          </a:xfrm>
          <a:prstGeom prst="rect">
            <a:avLst/>
          </a:prstGeom>
          <a:noFill/>
        </p:spPr>
        <p:txBody>
          <a:bodyPr wrap="square" rtlCol="0">
            <a:spAutoFit/>
          </a:bodyPr>
          <a:lstStyle/>
          <a:p>
            <a:pPr algn="ctr"/>
            <a:r>
              <a:rPr lang="en-US" sz="1600" dirty="0"/>
              <a:t>low talent women</a:t>
            </a:r>
          </a:p>
        </p:txBody>
      </p:sp>
      <p:sp>
        <p:nvSpPr>
          <p:cNvPr id="41" name="TextBox 40">
            <a:extLst>
              <a:ext uri="{FF2B5EF4-FFF2-40B4-BE49-F238E27FC236}">
                <a16:creationId xmlns:a16="http://schemas.microsoft.com/office/drawing/2014/main" id="{3BAED1E2-AD32-FF70-E2A1-7E8171D8B53C}"/>
              </a:ext>
            </a:extLst>
          </p:cNvPr>
          <p:cNvSpPr txBox="1"/>
          <p:nvPr/>
        </p:nvSpPr>
        <p:spPr>
          <a:xfrm>
            <a:off x="10893812" y="2685321"/>
            <a:ext cx="1216058" cy="584775"/>
          </a:xfrm>
          <a:prstGeom prst="rect">
            <a:avLst/>
          </a:prstGeom>
          <a:noFill/>
        </p:spPr>
        <p:txBody>
          <a:bodyPr wrap="square" rtlCol="0">
            <a:spAutoFit/>
          </a:bodyPr>
          <a:lstStyle/>
          <a:p>
            <a:pPr algn="ctr"/>
            <a:r>
              <a:rPr lang="en-US" sz="1600" dirty="0"/>
              <a:t>high talent men</a:t>
            </a:r>
          </a:p>
        </p:txBody>
      </p:sp>
      <p:sp>
        <p:nvSpPr>
          <p:cNvPr id="45" name="TextBox 44">
            <a:extLst>
              <a:ext uri="{FF2B5EF4-FFF2-40B4-BE49-F238E27FC236}">
                <a16:creationId xmlns:a16="http://schemas.microsoft.com/office/drawing/2014/main" id="{613611B4-E024-0A24-4664-DAD0E958FED8}"/>
              </a:ext>
            </a:extLst>
          </p:cNvPr>
          <p:cNvSpPr txBox="1"/>
          <p:nvPr/>
        </p:nvSpPr>
        <p:spPr>
          <a:xfrm>
            <a:off x="8038046" y="2661037"/>
            <a:ext cx="1216058" cy="584775"/>
          </a:xfrm>
          <a:prstGeom prst="rect">
            <a:avLst/>
          </a:prstGeom>
          <a:noFill/>
        </p:spPr>
        <p:txBody>
          <a:bodyPr wrap="square" rtlCol="0">
            <a:spAutoFit/>
          </a:bodyPr>
          <a:lstStyle/>
          <a:p>
            <a:pPr algn="ctr"/>
            <a:r>
              <a:rPr lang="en-US" sz="1600" dirty="0"/>
              <a:t>low talent men</a:t>
            </a:r>
          </a:p>
        </p:txBody>
      </p:sp>
      <p:sp>
        <p:nvSpPr>
          <p:cNvPr id="58" name="TextBox 57">
            <a:extLst>
              <a:ext uri="{FF2B5EF4-FFF2-40B4-BE49-F238E27FC236}">
                <a16:creationId xmlns:a16="http://schemas.microsoft.com/office/drawing/2014/main" id="{F469EF4A-B929-76F6-C381-541AE1BF2632}"/>
              </a:ext>
            </a:extLst>
          </p:cNvPr>
          <p:cNvSpPr txBox="1"/>
          <p:nvPr/>
        </p:nvSpPr>
        <p:spPr>
          <a:xfrm>
            <a:off x="9465929" y="2666605"/>
            <a:ext cx="1376870" cy="584775"/>
          </a:xfrm>
          <a:prstGeom prst="rect">
            <a:avLst/>
          </a:prstGeom>
          <a:noFill/>
        </p:spPr>
        <p:txBody>
          <a:bodyPr wrap="square" rtlCol="0">
            <a:spAutoFit/>
          </a:bodyPr>
          <a:lstStyle/>
          <a:p>
            <a:pPr algn="ctr"/>
            <a:r>
              <a:rPr lang="en-US" sz="1600" dirty="0"/>
              <a:t>high talent women</a:t>
            </a:r>
          </a:p>
        </p:txBody>
      </p:sp>
      <p:sp>
        <p:nvSpPr>
          <p:cNvPr id="60" name="Oval 59">
            <a:extLst>
              <a:ext uri="{FF2B5EF4-FFF2-40B4-BE49-F238E27FC236}">
                <a16:creationId xmlns:a16="http://schemas.microsoft.com/office/drawing/2014/main" id="{D5513C0E-925A-7358-F78C-BA049A22B33A}"/>
              </a:ext>
            </a:extLst>
          </p:cNvPr>
          <p:cNvSpPr/>
          <p:nvPr/>
        </p:nvSpPr>
        <p:spPr>
          <a:xfrm>
            <a:off x="8038046" y="2503453"/>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9AE23904-70C9-86E1-398C-CECD4EF6CC56}"/>
              </a:ext>
            </a:extLst>
          </p:cNvPr>
          <p:cNvSpPr txBox="1"/>
          <p:nvPr/>
        </p:nvSpPr>
        <p:spPr>
          <a:xfrm rot="19474235">
            <a:off x="8856172" y="2065892"/>
            <a:ext cx="10691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run!</a:t>
            </a:r>
          </a:p>
        </p:txBody>
      </p:sp>
      <p:sp>
        <p:nvSpPr>
          <p:cNvPr id="62" name="Oval 61">
            <a:extLst>
              <a:ext uri="{FF2B5EF4-FFF2-40B4-BE49-F238E27FC236}">
                <a16:creationId xmlns:a16="http://schemas.microsoft.com/office/drawing/2014/main" id="{4C3165A5-70AF-CC78-0AB5-BB7489E44637}"/>
              </a:ext>
            </a:extLst>
          </p:cNvPr>
          <p:cNvSpPr/>
          <p:nvPr/>
        </p:nvSpPr>
        <p:spPr>
          <a:xfrm>
            <a:off x="6569666" y="2475385"/>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5FF47BF1-84E7-8637-F17F-41F443069F87}"/>
              </a:ext>
            </a:extLst>
          </p:cNvPr>
          <p:cNvSpPr txBox="1"/>
          <p:nvPr/>
        </p:nvSpPr>
        <p:spPr>
          <a:xfrm rot="19474235">
            <a:off x="7387792" y="2037824"/>
            <a:ext cx="10691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run!</a:t>
            </a:r>
          </a:p>
        </p:txBody>
      </p:sp>
    </p:spTree>
    <p:extLst>
      <p:ext uri="{BB962C8B-B14F-4D97-AF65-F5344CB8AC3E}">
        <p14:creationId xmlns:p14="http://schemas.microsoft.com/office/powerpoint/2010/main" val="8493173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A0472-EFB9-8BC9-063E-6DAA2698B4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3035748-58D0-30E0-D5CE-2D6489B63072}"/>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4344D25D-B396-F588-E187-7E8F3A19B7C2}"/>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1CC65CD-C6F1-B826-45A1-3CB1C253F35B}"/>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EC42A455-7B78-6905-4452-36725D2B5E9A}"/>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99EC0381-0B30-0AD5-29B6-ACDE9F803083}"/>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57C728D4-C2E5-0B72-2EBD-35B492F1B2C7}"/>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166ACC66-BD64-2C53-CAEC-72C3943FEBC0}"/>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EE90520D-8E74-504D-A6FB-4C2DD21CE4C6}"/>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92001280-A7FE-3EC3-45C2-94D6D65DECA8}"/>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3B815A07-D75B-96C5-6381-2603E7A5AB8D}"/>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6BBD8EF4-6639-E146-2832-FCD05E010457}"/>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9EDF086B-4654-DC48-1696-F8B2FFB91C87}"/>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5376437E-C7A2-10B0-CD8A-8F9437F07234}"/>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5376437E-C7A2-10B0-CD8A-8F9437F07234}"/>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1550012B-7682-F410-C105-9A74226A2505}"/>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A36D5485-83A4-C176-364E-EAD562B5245D}"/>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BBD80FDA-2A48-941B-DA0C-759BB7C6FDFC}"/>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DC4F48F-8D1D-0E0E-4705-7BAFE6B0A0FD}"/>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7DC4F48F-8D1D-0E0E-4705-7BAFE6B0A0FD}"/>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C1BE281C-640C-34FB-BA62-9A80E1DAB1AF}"/>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07AA5393-DF54-8C8A-A833-219911A32768}"/>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2CE23A2B-AC5A-3583-EA50-5459195F87A5}"/>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F7E95CE9-B335-5E6D-A871-F4F9EB52D206}"/>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86D6FD7-F81D-FCDB-A879-62E004E8E8FA}"/>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F86D6FD7-F81D-FCDB-A879-62E004E8E8FA}"/>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C079EA7-7C3D-B482-7FC9-5A536FCB432B}"/>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1C079EA7-7C3D-B482-7FC9-5A536FCB432B}"/>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A66F6E92-B946-6D90-B289-7FC2E2C70A5A}"/>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5EC2B2E2-B6AC-93AD-FCBC-AA5D0FAECDF9}"/>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E65CDB1-FC7A-67EB-A4B7-0A618DA16C34}"/>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A96D858-6366-0E8F-05C2-85EE3D1F1565}"/>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3A96D858-6366-0E8F-05C2-85EE3D1F1565}"/>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D9862B32-769F-FAAB-2EC4-E7780EA5FF29}"/>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D9862B32-769F-FAAB-2EC4-E7780EA5FF29}"/>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1F5F6384-469C-314E-20CD-9FF2E725FE91}"/>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45B8F795-F01D-ECF7-B2BC-842E61DEA52E}"/>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45B8F795-F01D-ECF7-B2BC-842E61DEA52E}"/>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196AF68-9990-A492-5CC4-0091B2360AF7}"/>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2196AF68-9990-A492-5CC4-0091B2360AF7}"/>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88E02FD6-5F7D-07B8-84D2-509A2678D775}"/>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B41ACB1B-19B4-DB13-FEE3-CE86A0E212B8}"/>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3DADEA1-EDCB-0EC7-341E-AA8603E2A4A5}"/>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43DADEA1-EDCB-0EC7-341E-AA8603E2A4A5}"/>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5CD29697-8A7C-FB14-77BB-59FC97F20459}"/>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48E4A5E-FED1-2881-C6A2-69B39DE81CCA}"/>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048E4A5E-FED1-2881-C6A2-69B39DE81CCA}"/>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ACF663D8-22AB-5D25-32A7-43D8F5300234}"/>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3654013A-3DB9-C402-A9B1-5B308D25B189}"/>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42B70DD-E487-E822-90B3-025DBEAC0D17}"/>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542B70DD-E487-E822-90B3-025DBEAC0D17}"/>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BC57C4A0-0D90-CE48-384E-7B25A80BF0DE}"/>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BC766C9C-42DF-BD5E-6E99-F8FCDD1B01C0}"/>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BC766C9C-42DF-BD5E-6E99-F8FCDD1B01C0}"/>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CC82C21A-35D8-BD00-D08C-5929BB5430B0}"/>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920DFC6C-D9C5-7EA9-69CE-524F6FB6F198}"/>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6CBDA259-D318-761F-6727-ACE15A67BF93}"/>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0A78231B-F4C1-A561-EDED-A969F53CBD01}"/>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0A78231B-F4C1-A561-EDED-A969F53CBD01}"/>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A86560CD-BC03-0027-44E1-CF66C82D3DB6}"/>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A86560CD-BC03-0027-44E1-CF66C82D3DB6}"/>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FBA47576-6A21-E924-002F-BF90A1DB5B1D}"/>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FBA47576-6A21-E924-002F-BF90A1DB5B1D}"/>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B266FE92-51B6-17F0-DC86-1600F3DCAAB4}"/>
              </a:ext>
            </a:extLst>
          </p:cNvPr>
          <p:cNvCxnSpPr>
            <a:cxnSpLocks/>
          </p:cNvCxnSpPr>
          <p:nvPr/>
        </p:nvCxnSpPr>
        <p:spPr>
          <a:xfrm>
            <a:off x="3636954" y="1268482"/>
            <a:ext cx="16311" cy="197602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3" name="Freeform: Shape 52">
            <a:extLst>
              <a:ext uri="{FF2B5EF4-FFF2-40B4-BE49-F238E27FC236}">
                <a16:creationId xmlns:a16="http://schemas.microsoft.com/office/drawing/2014/main" id="{A1E1CCAD-D59B-4337-B92C-FB34FDD585FE}"/>
              </a:ext>
            </a:extLst>
          </p:cNvPr>
          <p:cNvSpPr/>
          <p:nvPr/>
        </p:nvSpPr>
        <p:spPr>
          <a:xfrm>
            <a:off x="3639312" y="3300984"/>
            <a:ext cx="932688" cy="411480"/>
          </a:xfrm>
          <a:custGeom>
            <a:avLst/>
            <a:gdLst>
              <a:gd name="connsiteX0" fmla="*/ 0 w 932688"/>
              <a:gd name="connsiteY0" fmla="*/ 0 h 411480"/>
              <a:gd name="connsiteX1" fmla="*/ 246888 w 932688"/>
              <a:gd name="connsiteY1" fmla="*/ 128016 h 411480"/>
              <a:gd name="connsiteX2" fmla="*/ 603504 w 932688"/>
              <a:gd name="connsiteY2" fmla="*/ 283464 h 411480"/>
              <a:gd name="connsiteX3" fmla="*/ 932688 w 932688"/>
              <a:gd name="connsiteY3" fmla="*/ 411480 h 411480"/>
            </a:gdLst>
            <a:ahLst/>
            <a:cxnLst>
              <a:cxn ang="0">
                <a:pos x="connsiteX0" y="connsiteY0"/>
              </a:cxn>
              <a:cxn ang="0">
                <a:pos x="connsiteX1" y="connsiteY1"/>
              </a:cxn>
              <a:cxn ang="0">
                <a:pos x="connsiteX2" y="connsiteY2"/>
              </a:cxn>
              <a:cxn ang="0">
                <a:pos x="connsiteX3" y="connsiteY3"/>
              </a:cxn>
            </a:cxnLst>
            <a:rect l="l" t="t" r="r" b="b"/>
            <a:pathLst>
              <a:path w="932688" h="411480">
                <a:moveTo>
                  <a:pt x="0" y="0"/>
                </a:moveTo>
                <a:cubicBezTo>
                  <a:pt x="73152" y="40386"/>
                  <a:pt x="146304" y="80772"/>
                  <a:pt x="246888" y="128016"/>
                </a:cubicBezTo>
                <a:cubicBezTo>
                  <a:pt x="347472" y="175260"/>
                  <a:pt x="489204" y="236220"/>
                  <a:pt x="603504" y="283464"/>
                </a:cubicBezTo>
                <a:cubicBezTo>
                  <a:pt x="717804" y="330708"/>
                  <a:pt x="825246" y="371094"/>
                  <a:pt x="932688" y="411480"/>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DBBA1814-0E28-40B0-2358-610F4A077C7A}"/>
              </a:ext>
            </a:extLst>
          </p:cNvPr>
          <p:cNvCxnSpPr>
            <a:cxnSpLocks/>
          </p:cNvCxnSpPr>
          <p:nvPr/>
        </p:nvCxnSpPr>
        <p:spPr>
          <a:xfrm flipV="1">
            <a:off x="4594724" y="1396307"/>
            <a:ext cx="4256580" cy="231021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DA22D1CB-3A73-71F2-069B-E7DFE7FC3A85}"/>
              </a:ext>
            </a:extLst>
          </p:cNvPr>
          <p:cNvSpPr txBox="1"/>
          <p:nvPr/>
        </p:nvSpPr>
        <p:spPr>
          <a:xfrm>
            <a:off x="3905413" y="1901969"/>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cxnSp>
        <p:nvCxnSpPr>
          <p:cNvPr id="39" name="Straight Arrow Connector 38">
            <a:extLst>
              <a:ext uri="{FF2B5EF4-FFF2-40B4-BE49-F238E27FC236}">
                <a16:creationId xmlns:a16="http://schemas.microsoft.com/office/drawing/2014/main" id="{5B4A6547-4B55-627F-B38A-04A93CCD0B8C}"/>
              </a:ext>
            </a:extLst>
          </p:cNvPr>
          <p:cNvCxnSpPr>
            <a:cxnSpLocks/>
          </p:cNvCxnSpPr>
          <p:nvPr/>
        </p:nvCxnSpPr>
        <p:spPr>
          <a:xfrm>
            <a:off x="6994337" y="3422198"/>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7C1E10F4-6DA4-DA32-742F-ADA74AC95B50}"/>
              </a:ext>
            </a:extLst>
          </p:cNvPr>
          <p:cNvSpPr txBox="1"/>
          <p:nvPr/>
        </p:nvSpPr>
        <p:spPr>
          <a:xfrm>
            <a:off x="6610163" y="2655469"/>
            <a:ext cx="1216058" cy="584775"/>
          </a:xfrm>
          <a:prstGeom prst="rect">
            <a:avLst/>
          </a:prstGeom>
          <a:noFill/>
        </p:spPr>
        <p:txBody>
          <a:bodyPr wrap="square" rtlCol="0">
            <a:spAutoFit/>
          </a:bodyPr>
          <a:lstStyle/>
          <a:p>
            <a:pPr algn="ctr"/>
            <a:r>
              <a:rPr lang="en-US" sz="1600" dirty="0"/>
              <a:t>low talent women</a:t>
            </a:r>
          </a:p>
        </p:txBody>
      </p:sp>
      <p:sp>
        <p:nvSpPr>
          <p:cNvPr id="41" name="TextBox 40">
            <a:extLst>
              <a:ext uri="{FF2B5EF4-FFF2-40B4-BE49-F238E27FC236}">
                <a16:creationId xmlns:a16="http://schemas.microsoft.com/office/drawing/2014/main" id="{D4998B0E-5681-1519-2CC8-E5475DA70BD5}"/>
              </a:ext>
            </a:extLst>
          </p:cNvPr>
          <p:cNvSpPr txBox="1"/>
          <p:nvPr/>
        </p:nvSpPr>
        <p:spPr>
          <a:xfrm>
            <a:off x="10893812" y="2685321"/>
            <a:ext cx="1216058" cy="584775"/>
          </a:xfrm>
          <a:prstGeom prst="rect">
            <a:avLst/>
          </a:prstGeom>
          <a:noFill/>
        </p:spPr>
        <p:txBody>
          <a:bodyPr wrap="square" rtlCol="0">
            <a:spAutoFit/>
          </a:bodyPr>
          <a:lstStyle/>
          <a:p>
            <a:pPr algn="ctr"/>
            <a:r>
              <a:rPr lang="en-US" sz="1600" dirty="0"/>
              <a:t>high talent men</a:t>
            </a:r>
          </a:p>
        </p:txBody>
      </p:sp>
      <p:sp>
        <p:nvSpPr>
          <p:cNvPr id="45" name="TextBox 44">
            <a:extLst>
              <a:ext uri="{FF2B5EF4-FFF2-40B4-BE49-F238E27FC236}">
                <a16:creationId xmlns:a16="http://schemas.microsoft.com/office/drawing/2014/main" id="{2586C029-4613-9E84-6B2B-011F78D8D590}"/>
              </a:ext>
            </a:extLst>
          </p:cNvPr>
          <p:cNvSpPr txBox="1"/>
          <p:nvPr/>
        </p:nvSpPr>
        <p:spPr>
          <a:xfrm>
            <a:off x="8038046" y="2661037"/>
            <a:ext cx="1216058" cy="584775"/>
          </a:xfrm>
          <a:prstGeom prst="rect">
            <a:avLst/>
          </a:prstGeom>
          <a:noFill/>
        </p:spPr>
        <p:txBody>
          <a:bodyPr wrap="square" rtlCol="0">
            <a:spAutoFit/>
          </a:bodyPr>
          <a:lstStyle/>
          <a:p>
            <a:pPr algn="ctr"/>
            <a:r>
              <a:rPr lang="en-US" sz="1600" dirty="0"/>
              <a:t>low talent men</a:t>
            </a:r>
          </a:p>
        </p:txBody>
      </p:sp>
      <p:sp>
        <p:nvSpPr>
          <p:cNvPr id="58" name="TextBox 57">
            <a:extLst>
              <a:ext uri="{FF2B5EF4-FFF2-40B4-BE49-F238E27FC236}">
                <a16:creationId xmlns:a16="http://schemas.microsoft.com/office/drawing/2014/main" id="{43519DC3-13DE-F209-9057-3946773E8C33}"/>
              </a:ext>
            </a:extLst>
          </p:cNvPr>
          <p:cNvSpPr txBox="1"/>
          <p:nvPr/>
        </p:nvSpPr>
        <p:spPr>
          <a:xfrm>
            <a:off x="9465929" y="2666605"/>
            <a:ext cx="1376870" cy="584775"/>
          </a:xfrm>
          <a:prstGeom prst="rect">
            <a:avLst/>
          </a:prstGeom>
          <a:noFill/>
        </p:spPr>
        <p:txBody>
          <a:bodyPr wrap="square" rtlCol="0">
            <a:spAutoFit/>
          </a:bodyPr>
          <a:lstStyle/>
          <a:p>
            <a:pPr algn="ctr"/>
            <a:r>
              <a:rPr lang="en-US" sz="1600" dirty="0"/>
              <a:t>high talent women</a:t>
            </a:r>
          </a:p>
        </p:txBody>
      </p:sp>
      <p:sp>
        <p:nvSpPr>
          <p:cNvPr id="60" name="Oval 59">
            <a:extLst>
              <a:ext uri="{FF2B5EF4-FFF2-40B4-BE49-F238E27FC236}">
                <a16:creationId xmlns:a16="http://schemas.microsoft.com/office/drawing/2014/main" id="{35ED354F-018D-9B00-7458-2C4B39DF10D5}"/>
              </a:ext>
            </a:extLst>
          </p:cNvPr>
          <p:cNvSpPr/>
          <p:nvPr/>
        </p:nvSpPr>
        <p:spPr>
          <a:xfrm>
            <a:off x="8038046" y="2503453"/>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C98D4D85-D4C0-85B2-3E24-261A7D904B3C}"/>
              </a:ext>
            </a:extLst>
          </p:cNvPr>
          <p:cNvSpPr txBox="1"/>
          <p:nvPr/>
        </p:nvSpPr>
        <p:spPr>
          <a:xfrm rot="19474235">
            <a:off x="8856172" y="2065892"/>
            <a:ext cx="10691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run!</a:t>
            </a:r>
          </a:p>
        </p:txBody>
      </p:sp>
      <p:sp>
        <p:nvSpPr>
          <p:cNvPr id="62" name="Oval 61">
            <a:extLst>
              <a:ext uri="{FF2B5EF4-FFF2-40B4-BE49-F238E27FC236}">
                <a16:creationId xmlns:a16="http://schemas.microsoft.com/office/drawing/2014/main" id="{F3FE27A5-94E9-2134-528F-1D5B88EDE243}"/>
              </a:ext>
            </a:extLst>
          </p:cNvPr>
          <p:cNvSpPr/>
          <p:nvPr/>
        </p:nvSpPr>
        <p:spPr>
          <a:xfrm>
            <a:off x="6569666" y="2475385"/>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6DB85074-3D2E-601F-BB5C-F17699DBBC0D}"/>
              </a:ext>
            </a:extLst>
          </p:cNvPr>
          <p:cNvSpPr txBox="1"/>
          <p:nvPr/>
        </p:nvSpPr>
        <p:spPr>
          <a:xfrm rot="19474235">
            <a:off x="7387792" y="2037824"/>
            <a:ext cx="10691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run!</a:t>
            </a:r>
          </a:p>
        </p:txBody>
      </p:sp>
      <p:sp>
        <p:nvSpPr>
          <p:cNvPr id="59" name="TextBox 58">
            <a:extLst>
              <a:ext uri="{FF2B5EF4-FFF2-40B4-BE49-F238E27FC236}">
                <a16:creationId xmlns:a16="http://schemas.microsoft.com/office/drawing/2014/main" id="{C2A17B80-A9DC-6442-08C9-EC5CF12048EF}"/>
              </a:ext>
            </a:extLst>
          </p:cNvPr>
          <p:cNvSpPr txBox="1"/>
          <p:nvPr/>
        </p:nvSpPr>
        <p:spPr>
          <a:xfrm>
            <a:off x="5138505" y="3730015"/>
            <a:ext cx="6016770" cy="2074421"/>
          </a:xfrm>
          <a:prstGeom prst="rect">
            <a:avLst/>
          </a:prstGeom>
          <a:ln>
            <a:solidFill>
              <a:schemeClr val="tx1"/>
            </a:solidFill>
          </a:ln>
        </p:spPr>
        <p:style>
          <a:lnRef idx="2">
            <a:schemeClr val="accent5">
              <a:shade val="15000"/>
            </a:schemeClr>
          </a:lnRef>
          <a:fillRef idx="1">
            <a:schemeClr val="accent5"/>
          </a:fillRef>
          <a:effectRef idx="0">
            <a:schemeClr val="accent5"/>
          </a:effectRef>
          <a:fontRef idx="minor">
            <a:schemeClr val="lt1"/>
          </a:fontRef>
        </p:style>
        <p:txBody>
          <a:bodyPr wrap="square" rtlCol="0">
            <a:noAutofit/>
          </a:bodyPr>
          <a:lstStyle/>
          <a:p>
            <a:r>
              <a:rPr lang="en-US" i="1" dirty="0"/>
              <a:t>No disparities!</a:t>
            </a:r>
            <a:br>
              <a:rPr lang="en-US" i="1" dirty="0"/>
            </a:br>
            <a:endParaRPr lang="en-US" i="1" dirty="0"/>
          </a:p>
          <a:p>
            <a:pPr marL="285750" indent="-285750">
              <a:buFont typeface="Arial" panose="020B0604020202020204" pitchFamily="34" charset="0"/>
              <a:buChar char="•"/>
            </a:pPr>
            <a:r>
              <a:rPr lang="en-US" i="1" dirty="0"/>
              <a:t>Women and men are equally represented among candidates</a:t>
            </a:r>
            <a:br>
              <a:rPr lang="en-US" i="1" dirty="0"/>
            </a:br>
            <a:endParaRPr lang="en-US" i="1" dirty="0"/>
          </a:p>
          <a:p>
            <a:pPr marL="285750" indent="-285750">
              <a:buFont typeface="Arial" panose="020B0604020202020204" pitchFamily="34" charset="0"/>
              <a:buChar char="•"/>
            </a:pPr>
            <a:r>
              <a:rPr lang="en-US" i="1" dirty="0"/>
              <a:t>Average talent among women candidates is equal to average talent among men candidates.</a:t>
            </a:r>
          </a:p>
          <a:p>
            <a:endParaRPr lang="en-US" i="1" dirty="0"/>
          </a:p>
        </p:txBody>
      </p:sp>
    </p:spTree>
    <p:extLst>
      <p:ext uri="{BB962C8B-B14F-4D97-AF65-F5344CB8AC3E}">
        <p14:creationId xmlns:p14="http://schemas.microsoft.com/office/powerpoint/2010/main" val="428111114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DD312-2ABC-2FB5-7BFD-B5966452BBF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9E05171-23BF-2B1B-37FC-C9862912D4EC}"/>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D318D5CD-D008-E90D-2EFF-61E7B6E804E8}"/>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E1A9F5DF-19CA-FB33-8E39-94C06C1AAF81}"/>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F1E32E6D-0485-EE3E-6FB9-9F8553D7357A}"/>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F60ACAA6-CDF4-FC69-E8A9-82FA5E93D99D}"/>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07928107-07C5-953C-157B-ED920A24C944}"/>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8B433FE0-D417-53BA-B709-BCD78CC64708}"/>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267EE0D6-82B6-9097-2C73-31A85AD15E44}"/>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0349C4F9-7C48-6738-FCD2-E5B27EFE018F}"/>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39579950-543D-0371-A1CB-35938C049969}"/>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66DEF659-0874-7663-CEA6-1515527BDAB8}"/>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C5F1EA52-6A7E-74B0-B821-6EEB8DC5BC32}"/>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88185DA5-21A9-CD8F-E359-A29D69F1F77D}"/>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88185DA5-21A9-CD8F-E359-A29D69F1F77D}"/>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CEA02FE7-75A7-9279-70D5-963E6AD7718C}"/>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D56480F8-9B1E-26A5-EA8D-C5650D30811E}"/>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EC284083-0955-3FB6-CA2B-BEF026059698}"/>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9ABC7BB-31D1-49C4-D067-486652180AA5}"/>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D9ABC7BB-31D1-49C4-D067-486652180AA5}"/>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117B4F32-5DDD-1C94-7E5D-3192F33309ED}"/>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D1D799F-B865-6212-27AD-D3DFEB418A92}"/>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A55D5710-C445-72DE-101E-7D9E62123B3A}"/>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EC421C61-C643-03CD-12E6-439CE045EA08}"/>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989CBA5-6925-EE1B-B59E-F84AB60A507B}"/>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7989CBA5-6925-EE1B-B59E-F84AB60A507B}"/>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FC1D04D-73F5-99A3-86B5-F967261E30B4}"/>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EFC1D04D-73F5-99A3-86B5-F967261E30B4}"/>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8345CFDD-E671-3FD0-B776-31137BDD1BFB}"/>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81C537E7-F652-968B-3A7F-EBDACFC738B1}"/>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A30EF75B-63E2-D0C6-444A-BE955C1060C8}"/>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8E3D3CF-1454-FD6D-84E5-FEA58A680609}"/>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78E3D3CF-1454-FD6D-84E5-FEA58A680609}"/>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7726CBC-578B-B94E-BECD-B42C4B60D420}"/>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47726CBC-578B-B94E-BECD-B42C4B60D420}"/>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0F5E19BD-8529-F933-54E1-0AA4AD281394}"/>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4C38371-F42C-8E0F-22D8-D5F12C19869A}"/>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64C38371-F42C-8E0F-22D8-D5F12C19869A}"/>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B15ADDD-6CBA-1E85-4092-E17C0E5B116A}"/>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8B15ADDD-6CBA-1E85-4092-E17C0E5B116A}"/>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F581CE4F-FBE2-0EE3-FD1F-BBC8ACE54687}"/>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501A7D7-02C6-4B24-B2DA-7337B0EC024A}"/>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B64BEB9-90AF-688C-6535-41C5AA922859}"/>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2B64BEB9-90AF-688C-6535-41C5AA922859}"/>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E1438561-3A7E-B37D-D728-AB04D49D0912}"/>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17116490-77D2-9C5E-A3AE-3A9F70412061}"/>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17116490-77D2-9C5E-A3AE-3A9F70412061}"/>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7C16EB2C-E795-E1F5-B290-42A5CD7A6196}"/>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D7B15FF3-F3CB-9E6B-8D80-6B4913C6720C}"/>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95B0E1D-6FD5-38AE-88D2-D95FD6FF1589}"/>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695B0E1D-6FD5-38AE-88D2-D95FD6FF1589}"/>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E0A3D81F-4E1B-B8C4-C295-E7F0C722DE0F}"/>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08978189-E8AE-B1E6-E5F2-0B66EF3C4325}"/>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08978189-E8AE-B1E6-E5F2-0B66EF3C4325}"/>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F0A54643-B7D1-A0D5-4E7C-D52472F4E980}"/>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5950B020-8B58-397E-2462-3515C23221E9}"/>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2C80DFBE-C80C-9C20-6803-EE2EF6EBF445}"/>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EFA55042-5F7A-C211-3E2C-341A331B32F4}"/>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EFA55042-5F7A-C211-3E2C-341A331B32F4}"/>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92B568DD-4F70-7D1B-8E10-4B324AE12871}"/>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92B568DD-4F70-7D1B-8E10-4B324AE12871}"/>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450D9316-38CE-4B4E-B6A3-D3F11850A324}"/>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450D9316-38CE-4B4E-B6A3-D3F11850A324}"/>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BB05732A-3449-4171-E073-51EB0C621FCC}"/>
              </a:ext>
            </a:extLst>
          </p:cNvPr>
          <p:cNvCxnSpPr>
            <a:cxnSpLocks/>
          </p:cNvCxnSpPr>
          <p:nvPr/>
        </p:nvCxnSpPr>
        <p:spPr>
          <a:xfrm>
            <a:off x="3626664" y="4245148"/>
            <a:ext cx="0" cy="8385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8F64CD99-0400-2884-CC68-E14A8D4325A1}"/>
              </a:ext>
            </a:extLst>
          </p:cNvPr>
          <p:cNvCxnSpPr>
            <a:cxnSpLocks/>
          </p:cNvCxnSpPr>
          <p:nvPr/>
        </p:nvCxnSpPr>
        <p:spPr>
          <a:xfrm flipV="1">
            <a:off x="3636295" y="3683293"/>
            <a:ext cx="983047" cy="54437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ABEF6BCA-F72F-7672-A64F-FFEF8BEA85C1}"/>
              </a:ext>
            </a:extLst>
          </p:cNvPr>
          <p:cNvSpPr txBox="1"/>
          <p:nvPr/>
        </p:nvSpPr>
        <p:spPr>
          <a:xfrm>
            <a:off x="4105656" y="4336618"/>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sp>
        <p:nvSpPr>
          <p:cNvPr id="66" name="Freeform: Shape 65">
            <a:extLst>
              <a:ext uri="{FF2B5EF4-FFF2-40B4-BE49-F238E27FC236}">
                <a16:creationId xmlns:a16="http://schemas.microsoft.com/office/drawing/2014/main" id="{BE48740F-0485-57FE-B685-011B7257F914}"/>
              </a:ext>
            </a:extLst>
          </p:cNvPr>
          <p:cNvSpPr/>
          <p:nvPr/>
        </p:nvSpPr>
        <p:spPr>
          <a:xfrm>
            <a:off x="4628561" y="3695307"/>
            <a:ext cx="3308808" cy="499621"/>
          </a:xfrm>
          <a:custGeom>
            <a:avLst/>
            <a:gdLst>
              <a:gd name="connsiteX0" fmla="*/ 0 w 3308808"/>
              <a:gd name="connsiteY0" fmla="*/ 0 h 499621"/>
              <a:gd name="connsiteX1" fmla="*/ 669303 w 3308808"/>
              <a:gd name="connsiteY1" fmla="*/ 188536 h 499621"/>
              <a:gd name="connsiteX2" fmla="*/ 1545996 w 3308808"/>
              <a:gd name="connsiteY2" fmla="*/ 367646 h 499621"/>
              <a:gd name="connsiteX3" fmla="*/ 2686639 w 3308808"/>
              <a:gd name="connsiteY3" fmla="*/ 471340 h 499621"/>
              <a:gd name="connsiteX4" fmla="*/ 3308808 w 3308808"/>
              <a:gd name="connsiteY4" fmla="*/ 499621 h 49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8808" h="499621">
                <a:moveTo>
                  <a:pt x="0" y="0"/>
                </a:moveTo>
                <a:cubicBezTo>
                  <a:pt x="205818" y="63631"/>
                  <a:pt x="411637" y="127262"/>
                  <a:pt x="669303" y="188536"/>
                </a:cubicBezTo>
                <a:cubicBezTo>
                  <a:pt x="926969" y="249810"/>
                  <a:pt x="1209773" y="320512"/>
                  <a:pt x="1545996" y="367646"/>
                </a:cubicBezTo>
                <a:cubicBezTo>
                  <a:pt x="1882219" y="414780"/>
                  <a:pt x="2392837" y="449344"/>
                  <a:pt x="2686639" y="471340"/>
                </a:cubicBezTo>
                <a:cubicBezTo>
                  <a:pt x="2980441" y="493336"/>
                  <a:pt x="3144624" y="496478"/>
                  <a:pt x="3308808" y="499621"/>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797715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AC206-07F2-6FDA-4F0D-6A77FB5D1D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BCF70F4-A424-FDC0-6253-3164B92D936C}"/>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C6F967B2-4455-80AE-3B2C-376A26007F02}"/>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7CFE3A2F-C6B4-650E-E293-8481F172F577}"/>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B886F629-A8CA-811C-C5EB-F7A0F4287D63}"/>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E0F8002A-A6AD-626E-6271-DF4E7368B038}"/>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19157CFF-1F8C-CB1A-2EFE-0E83E3825434}"/>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3B50BEF1-8F48-B4A5-7430-0F9C3C4754E2}"/>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3BD0B027-C844-95E8-8260-3D77306B2743}"/>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B964EA83-EBD2-A1D5-66A7-CB9B1ABABEC7}"/>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D6DB4575-7699-A1B5-07F2-39125F97EAF7}"/>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1E7E92A9-1DA2-48DF-272B-3718D093BC41}"/>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D90C9574-0E5B-960F-7A7B-55E415F64E0B}"/>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D94BDE93-15B2-A645-ED91-1A2463254C73}"/>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D94BDE93-15B2-A645-ED91-1A2463254C73}"/>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BB331F34-38C9-EFA8-9CA4-3B121F09ABE8}"/>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01D01617-3B47-4CEF-0748-B5BBEE152549}"/>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1451F782-69C8-4FC6-ED20-163A50C61757}"/>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BEE0681-6D99-6D45-B493-01B5DCC7E861}"/>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0BEE0681-6D99-6D45-B493-01B5DCC7E861}"/>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2FBC5364-5778-DA33-B289-32F9CA27E40C}"/>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7CB53B6-6901-57A7-C054-A8170D750E32}"/>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506B49AE-F53F-89DA-F147-6822E8B91F9D}"/>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38106342-19F0-339F-6FB9-90963475C33A}"/>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8295CE0-64DF-ADDE-C61E-22CE5E07D0B0}"/>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A8295CE0-64DF-ADDE-C61E-22CE5E07D0B0}"/>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4C6D515-B808-ECCB-836E-3F7872BBA983}"/>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24C6D515-B808-ECCB-836E-3F7872BBA983}"/>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02F1A99A-7549-5D01-5A43-BBFE01ACD14E}"/>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70148693-0FEB-7DAA-4C53-3A750EDDD19D}"/>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8BBB5C3D-D76D-E001-16A3-B9E8192FF08B}"/>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0B88B6D-D74A-A4C0-6AF2-AB2BEE542EAF}"/>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80B88B6D-D74A-A4C0-6AF2-AB2BEE542EAF}"/>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7FF7B98-B968-4A88-B005-2294A7573ECB}"/>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F7FF7B98-B968-4A88-B005-2294A7573ECB}"/>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B33D4AD5-1248-753A-D586-1F410B22FEC7}"/>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8E522EF5-7B1F-1C18-09EC-060835893C24}"/>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8E522EF5-7B1F-1C18-09EC-060835893C24}"/>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92039AC-28C7-015E-0546-41C2E76E9CE0}"/>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792039AC-28C7-015E-0546-41C2E76E9CE0}"/>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9DED4EE3-7BA4-C849-62E4-F08D01DA2852}"/>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6C6D5331-0D5B-5755-32FF-B615ECA08E0E}"/>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B9B9D2E-A22A-1252-088E-E97A24584D94}"/>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4B9B9D2E-A22A-1252-088E-E97A24584D94}"/>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EF879835-9057-FCCB-009E-828FFA81E846}"/>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984DF69-11DD-32C9-8C25-6DCD91CD4FA2}"/>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4984DF69-11DD-32C9-8C25-6DCD91CD4FA2}"/>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23E6534D-4BD6-BF08-573A-F43E18B96B23}"/>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5E2258E3-812E-563C-DD87-483464F2D50A}"/>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63BFC62-2E28-E80A-E754-BBC0C620F1DD}"/>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263BFC62-2E28-E80A-E754-BBC0C620F1DD}"/>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8C741B77-FCCB-A0A0-E254-0E4F16F8A7C2}"/>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E9F78607-ECDA-6F17-8CE4-2500AD466A97}"/>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E9F78607-ECDA-6F17-8CE4-2500AD466A97}"/>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F9F33B01-4C24-52DD-C59E-07EDE3A3DD46}"/>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F6122857-479D-9F36-62B2-4F910B0CF4A5}"/>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95BE0FBA-0812-506E-8C3A-CC92A7322AEA}"/>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D072C693-21A8-BE58-8452-6F84052D5F18}"/>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D072C693-21A8-BE58-8452-6F84052D5F18}"/>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DD5D0D60-4550-CEA5-5AA4-6E0F26F6858C}"/>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DD5D0D60-4550-CEA5-5AA4-6E0F26F6858C}"/>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85BFEA7-210D-4887-4924-A21E388499FE}"/>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A85BFEA7-210D-4887-4924-A21E388499FE}"/>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F6894828-A07B-C5FA-CF69-380A6EC5BF59}"/>
              </a:ext>
            </a:extLst>
          </p:cNvPr>
          <p:cNvCxnSpPr>
            <a:cxnSpLocks/>
          </p:cNvCxnSpPr>
          <p:nvPr/>
        </p:nvCxnSpPr>
        <p:spPr>
          <a:xfrm>
            <a:off x="3626664" y="4245148"/>
            <a:ext cx="0" cy="8385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91E81BBC-916B-3824-B1DE-6D1A6C701476}"/>
              </a:ext>
            </a:extLst>
          </p:cNvPr>
          <p:cNvCxnSpPr>
            <a:cxnSpLocks/>
          </p:cNvCxnSpPr>
          <p:nvPr/>
        </p:nvCxnSpPr>
        <p:spPr>
          <a:xfrm flipV="1">
            <a:off x="3636295" y="3683293"/>
            <a:ext cx="983047" cy="54437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F974FBE5-AB82-6C01-B802-5AF6727654D8}"/>
              </a:ext>
            </a:extLst>
          </p:cNvPr>
          <p:cNvSpPr txBox="1"/>
          <p:nvPr/>
        </p:nvSpPr>
        <p:spPr>
          <a:xfrm>
            <a:off x="4105656" y="4336618"/>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sp>
        <p:nvSpPr>
          <p:cNvPr id="66" name="Freeform: Shape 65">
            <a:extLst>
              <a:ext uri="{FF2B5EF4-FFF2-40B4-BE49-F238E27FC236}">
                <a16:creationId xmlns:a16="http://schemas.microsoft.com/office/drawing/2014/main" id="{8A301B41-904C-9E50-2570-82DFF215A12D}"/>
              </a:ext>
            </a:extLst>
          </p:cNvPr>
          <p:cNvSpPr/>
          <p:nvPr/>
        </p:nvSpPr>
        <p:spPr>
          <a:xfrm>
            <a:off x="4628561" y="3695307"/>
            <a:ext cx="3308808" cy="499621"/>
          </a:xfrm>
          <a:custGeom>
            <a:avLst/>
            <a:gdLst>
              <a:gd name="connsiteX0" fmla="*/ 0 w 3308808"/>
              <a:gd name="connsiteY0" fmla="*/ 0 h 499621"/>
              <a:gd name="connsiteX1" fmla="*/ 669303 w 3308808"/>
              <a:gd name="connsiteY1" fmla="*/ 188536 h 499621"/>
              <a:gd name="connsiteX2" fmla="*/ 1545996 w 3308808"/>
              <a:gd name="connsiteY2" fmla="*/ 367646 h 499621"/>
              <a:gd name="connsiteX3" fmla="*/ 2686639 w 3308808"/>
              <a:gd name="connsiteY3" fmla="*/ 471340 h 499621"/>
              <a:gd name="connsiteX4" fmla="*/ 3308808 w 3308808"/>
              <a:gd name="connsiteY4" fmla="*/ 499621 h 49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8808" h="499621">
                <a:moveTo>
                  <a:pt x="0" y="0"/>
                </a:moveTo>
                <a:cubicBezTo>
                  <a:pt x="205818" y="63631"/>
                  <a:pt x="411637" y="127262"/>
                  <a:pt x="669303" y="188536"/>
                </a:cubicBezTo>
                <a:cubicBezTo>
                  <a:pt x="926969" y="249810"/>
                  <a:pt x="1209773" y="320512"/>
                  <a:pt x="1545996" y="367646"/>
                </a:cubicBezTo>
                <a:cubicBezTo>
                  <a:pt x="1882219" y="414780"/>
                  <a:pt x="2392837" y="449344"/>
                  <a:pt x="2686639" y="471340"/>
                </a:cubicBezTo>
                <a:cubicBezTo>
                  <a:pt x="2980441" y="493336"/>
                  <a:pt x="3144624" y="496478"/>
                  <a:pt x="3308808" y="499621"/>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78A80A8E-89E4-DE87-70B2-E53D4B066AC8}"/>
              </a:ext>
            </a:extLst>
          </p:cNvPr>
          <p:cNvSpPr txBox="1"/>
          <p:nvPr/>
        </p:nvSpPr>
        <p:spPr>
          <a:xfrm>
            <a:off x="8480609" y="1635832"/>
            <a:ext cx="3644250" cy="206210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1600" b="1" dirty="0"/>
              <a:t>step 1</a:t>
            </a:r>
            <a:r>
              <a:rPr lang="en-US" sz="1600" dirty="0"/>
              <a:t>: how are win probabilities ordered across the 4 types?</a:t>
            </a:r>
          </a:p>
          <a:p>
            <a:endParaRPr lang="en-US" sz="1600" dirty="0"/>
          </a:p>
          <a:p>
            <a:r>
              <a:rPr lang="en-US" sz="1600" b="1" dirty="0"/>
              <a:t>step 2:</a:t>
            </a:r>
            <a:r>
              <a:rPr lang="en-US" sz="1600" dirty="0"/>
              <a:t> does the low-talent penalty deter low-talent men from running?</a:t>
            </a:r>
          </a:p>
          <a:p>
            <a:endParaRPr lang="en-US" sz="1600" dirty="0"/>
          </a:p>
          <a:p>
            <a:r>
              <a:rPr lang="en-US" sz="1600" b="1" dirty="0"/>
              <a:t>step 3:</a:t>
            </a:r>
            <a:r>
              <a:rPr lang="en-US" sz="1600" dirty="0"/>
              <a:t> does the misogyny penalty deter low-talent women from running?</a:t>
            </a:r>
          </a:p>
        </p:txBody>
      </p:sp>
    </p:spTree>
    <p:extLst>
      <p:ext uri="{BB962C8B-B14F-4D97-AF65-F5344CB8AC3E}">
        <p14:creationId xmlns:p14="http://schemas.microsoft.com/office/powerpoint/2010/main" val="262546289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42A30-6A82-137F-29F9-01BFAC00C16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283B88-8EDD-B8B9-19AA-88E2B53D63B2}"/>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583AE28C-675D-5528-12A1-B20AE42E6A49}"/>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E1D39C6E-4EEE-488A-B218-7F9A24C46AF3}"/>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3B61BC16-76F1-3AAD-1376-5D2BD308B746}"/>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620DFE37-0624-914C-9515-41550E44F6E5}"/>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4204BA0A-CD6F-8D53-4341-846597652D82}"/>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247E8820-7BAC-65E5-66D9-98B284C1F5C9}"/>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C9173FDB-0A75-26F0-222F-4B1079EC24A2}"/>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993AA132-53C6-4F9D-CDA2-314EB1EF5A56}"/>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5B267E89-03A3-8532-D8A5-FCF831F2F19B}"/>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926CEFED-22D3-2A46-4213-BEE4D1F22862}"/>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3461CCD2-E488-CA5E-D178-9CAD9A88D22D}"/>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8F73CC68-CF63-E9A3-14A4-A74FA6C4EA88}"/>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8F73CC68-CF63-E9A3-14A4-A74FA6C4EA88}"/>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5B4EFEAE-A1B1-81F4-98A4-B1DB3F15F4B7}"/>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E13BAD95-9FB6-213D-9892-E4A3238601BA}"/>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9549E4D1-6DF4-4A28-244F-25B21853B97E}"/>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D77E2A9-3A81-DD71-D5E8-3B54247A3653}"/>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ED77E2A9-3A81-DD71-D5E8-3B54247A3653}"/>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16798860-3F7C-86B8-77B6-045EB76D7C86}"/>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BE3378C3-E1EE-C649-6670-DEB4C4B4ED8F}"/>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5F528827-7D45-357F-4B41-EFD40AA6F5F4}"/>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3C8FC166-F7F9-586F-25BF-8BBF27A94E3F}"/>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476B974-5D7C-8CB6-7C86-6664D1FDBEA7}"/>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7476B974-5D7C-8CB6-7C86-6664D1FDBEA7}"/>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F6C716B-9B1F-DE14-5413-22FB3974655E}"/>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7F6C716B-9B1F-DE14-5413-22FB3974655E}"/>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47015FA8-1072-8A12-B7A9-5E86C0FCB937}"/>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F83C9398-3C41-1431-1F3A-0481322816DB}"/>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69BDA357-FBC9-9C8B-31AD-9CA072901079}"/>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DBBCE72-2122-4996-DEA0-C1B24A710B01}"/>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2DBBCE72-2122-4996-DEA0-C1B24A710B01}"/>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4A8F3D4-D94B-844A-3E67-7E4741472936}"/>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14A8F3D4-D94B-844A-3E67-7E4741472936}"/>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23340082-8C85-B6F1-E3CC-F273945A3E68}"/>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C480A6B-E8B5-9A98-AAE8-484DA92BFFE3}"/>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CC480A6B-E8B5-9A98-AAE8-484DA92BFFE3}"/>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6EAE930-E4AB-10CD-8D95-3E3E37EAB2EB}"/>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56EAE930-E4AB-10CD-8D95-3E3E37EAB2EB}"/>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D17D08A5-A3D5-A9ED-7DA1-42DDD61C8823}"/>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DE5D8E32-BC2A-AC71-8CA9-F5A35873DEC1}"/>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17FE86D-70DF-AD92-4184-1FEE9CB332CA}"/>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617FE86D-70DF-AD92-4184-1FEE9CB332CA}"/>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FF5B6589-535E-4A22-07BD-CBE64CA3E0A0}"/>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1064FD4-8A6B-8EE4-9BEC-B0231BB860C9}"/>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C1064FD4-8A6B-8EE4-9BEC-B0231BB860C9}"/>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B4913231-4E66-9CAE-5893-149DE790F965}"/>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B4714DDB-9A13-2448-5A40-F8B5900ADAF9}"/>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CEDEC42-F2DE-65FA-53E2-34FD5C09EBA2}"/>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6CEDEC42-F2DE-65FA-53E2-34FD5C09EBA2}"/>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14AC0152-3FDE-7023-14E4-BD96AFA7AB0C}"/>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ABC8129-9A26-8F48-3344-CFDC192227A0}"/>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5ABC8129-9A26-8F48-3344-CFDC192227A0}"/>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2FDD5105-DC5E-9A85-268F-AE2E91BC83E3}"/>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3A8915DD-138E-EC4D-45E1-3AE057F74AA9}"/>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C8915B67-729A-E94F-8D6D-5E41125FE66A}"/>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185AC96-911C-2B2A-96CA-805DBEBCA982}"/>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B185AC96-911C-2B2A-96CA-805DBEBCA982}"/>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CE362DD-09B7-5423-9A28-A8805F9ECA9E}"/>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FCE362DD-09B7-5423-9A28-A8805F9ECA9E}"/>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B5D545CC-4C89-6D48-6C69-52E19C4C721E}"/>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B5D545CC-4C89-6D48-6C69-52E19C4C721E}"/>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E8C6EDD6-5EBF-F65E-7B2F-48BC4BF6CBF8}"/>
              </a:ext>
            </a:extLst>
          </p:cNvPr>
          <p:cNvCxnSpPr>
            <a:cxnSpLocks/>
          </p:cNvCxnSpPr>
          <p:nvPr/>
        </p:nvCxnSpPr>
        <p:spPr>
          <a:xfrm>
            <a:off x="3626664" y="4245148"/>
            <a:ext cx="0" cy="8385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6D7D63AC-3E6E-097C-8A33-E9378E885BAB}"/>
              </a:ext>
            </a:extLst>
          </p:cNvPr>
          <p:cNvCxnSpPr>
            <a:cxnSpLocks/>
          </p:cNvCxnSpPr>
          <p:nvPr/>
        </p:nvCxnSpPr>
        <p:spPr>
          <a:xfrm flipV="1">
            <a:off x="3636295" y="3683293"/>
            <a:ext cx="983047" cy="54437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1A264D2F-E13E-1B14-2D79-62A95B103D33}"/>
              </a:ext>
            </a:extLst>
          </p:cNvPr>
          <p:cNvSpPr txBox="1"/>
          <p:nvPr/>
        </p:nvSpPr>
        <p:spPr>
          <a:xfrm>
            <a:off x="4105656" y="4336618"/>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sp>
        <p:nvSpPr>
          <p:cNvPr id="66" name="Freeform: Shape 65">
            <a:extLst>
              <a:ext uri="{FF2B5EF4-FFF2-40B4-BE49-F238E27FC236}">
                <a16:creationId xmlns:a16="http://schemas.microsoft.com/office/drawing/2014/main" id="{044C28CE-25BD-C62D-714B-FC492DAFCF74}"/>
              </a:ext>
            </a:extLst>
          </p:cNvPr>
          <p:cNvSpPr/>
          <p:nvPr/>
        </p:nvSpPr>
        <p:spPr>
          <a:xfrm>
            <a:off x="4628561" y="3695307"/>
            <a:ext cx="3308808" cy="499621"/>
          </a:xfrm>
          <a:custGeom>
            <a:avLst/>
            <a:gdLst>
              <a:gd name="connsiteX0" fmla="*/ 0 w 3308808"/>
              <a:gd name="connsiteY0" fmla="*/ 0 h 499621"/>
              <a:gd name="connsiteX1" fmla="*/ 669303 w 3308808"/>
              <a:gd name="connsiteY1" fmla="*/ 188536 h 499621"/>
              <a:gd name="connsiteX2" fmla="*/ 1545996 w 3308808"/>
              <a:gd name="connsiteY2" fmla="*/ 367646 h 499621"/>
              <a:gd name="connsiteX3" fmla="*/ 2686639 w 3308808"/>
              <a:gd name="connsiteY3" fmla="*/ 471340 h 499621"/>
              <a:gd name="connsiteX4" fmla="*/ 3308808 w 3308808"/>
              <a:gd name="connsiteY4" fmla="*/ 499621 h 49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8808" h="499621">
                <a:moveTo>
                  <a:pt x="0" y="0"/>
                </a:moveTo>
                <a:cubicBezTo>
                  <a:pt x="205818" y="63631"/>
                  <a:pt x="411637" y="127262"/>
                  <a:pt x="669303" y="188536"/>
                </a:cubicBezTo>
                <a:cubicBezTo>
                  <a:pt x="926969" y="249810"/>
                  <a:pt x="1209773" y="320512"/>
                  <a:pt x="1545996" y="367646"/>
                </a:cubicBezTo>
                <a:cubicBezTo>
                  <a:pt x="1882219" y="414780"/>
                  <a:pt x="2392837" y="449344"/>
                  <a:pt x="2686639" y="471340"/>
                </a:cubicBezTo>
                <a:cubicBezTo>
                  <a:pt x="2980441" y="493336"/>
                  <a:pt x="3144624" y="496478"/>
                  <a:pt x="3308808" y="499621"/>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1A1FABBE-032B-DB8A-0D49-4261C012881D}"/>
              </a:ext>
            </a:extLst>
          </p:cNvPr>
          <p:cNvSpPr txBox="1"/>
          <p:nvPr/>
        </p:nvSpPr>
        <p:spPr>
          <a:xfrm>
            <a:off x="8480609" y="1635832"/>
            <a:ext cx="3644250" cy="206210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1600" b="1" dirty="0"/>
              <a:t>step 1</a:t>
            </a:r>
            <a:r>
              <a:rPr lang="en-US" sz="1600" dirty="0"/>
              <a:t>: how are win probabilities ordered across the 4 types?</a:t>
            </a:r>
          </a:p>
          <a:p>
            <a:endParaRPr lang="en-US" sz="1600" dirty="0"/>
          </a:p>
          <a:p>
            <a:r>
              <a:rPr lang="en-US" sz="1600" b="1" dirty="0"/>
              <a:t>step 2:</a:t>
            </a:r>
            <a:r>
              <a:rPr lang="en-US" sz="1600" dirty="0"/>
              <a:t> does the low-talent penalty deter low-talent men from running?</a:t>
            </a:r>
          </a:p>
          <a:p>
            <a:endParaRPr lang="en-US" sz="1600" dirty="0"/>
          </a:p>
          <a:p>
            <a:r>
              <a:rPr lang="en-US" sz="1600" b="1" dirty="0"/>
              <a:t>step 3:</a:t>
            </a:r>
            <a:r>
              <a:rPr lang="en-US" sz="1600" dirty="0"/>
              <a:t> does the misogyny penalty deter low-talent women from running?</a:t>
            </a:r>
          </a:p>
        </p:txBody>
      </p:sp>
      <p:cxnSp>
        <p:nvCxnSpPr>
          <p:cNvPr id="40" name="Straight Arrow Connector 39">
            <a:extLst>
              <a:ext uri="{FF2B5EF4-FFF2-40B4-BE49-F238E27FC236}">
                <a16:creationId xmlns:a16="http://schemas.microsoft.com/office/drawing/2014/main" id="{FC02F3B1-A26B-2187-17AC-018F9F5B75E2}"/>
              </a:ext>
            </a:extLst>
          </p:cNvPr>
          <p:cNvCxnSpPr>
            <a:cxnSpLocks/>
          </p:cNvCxnSpPr>
          <p:nvPr/>
        </p:nvCxnSpPr>
        <p:spPr>
          <a:xfrm>
            <a:off x="6127545" y="1262959"/>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0D5A561A-4A05-EE47-DDA8-8B4397227D9B}"/>
              </a:ext>
            </a:extLst>
          </p:cNvPr>
          <p:cNvSpPr txBox="1"/>
          <p:nvPr/>
        </p:nvSpPr>
        <p:spPr>
          <a:xfrm>
            <a:off x="5743371" y="496230"/>
            <a:ext cx="1216058" cy="584775"/>
          </a:xfrm>
          <a:prstGeom prst="rect">
            <a:avLst/>
          </a:prstGeom>
          <a:noFill/>
        </p:spPr>
        <p:txBody>
          <a:bodyPr wrap="square" rtlCol="0">
            <a:spAutoFit/>
          </a:bodyPr>
          <a:lstStyle/>
          <a:p>
            <a:pPr algn="ctr"/>
            <a:r>
              <a:rPr lang="en-US" sz="1600" dirty="0"/>
              <a:t>low talent women</a:t>
            </a:r>
          </a:p>
        </p:txBody>
      </p:sp>
      <p:sp>
        <p:nvSpPr>
          <p:cNvPr id="45" name="TextBox 44">
            <a:extLst>
              <a:ext uri="{FF2B5EF4-FFF2-40B4-BE49-F238E27FC236}">
                <a16:creationId xmlns:a16="http://schemas.microsoft.com/office/drawing/2014/main" id="{5CD88E34-035D-C3F1-1BBA-194A1FEC343B}"/>
              </a:ext>
            </a:extLst>
          </p:cNvPr>
          <p:cNvSpPr txBox="1"/>
          <p:nvPr/>
        </p:nvSpPr>
        <p:spPr>
          <a:xfrm>
            <a:off x="10027020" y="526082"/>
            <a:ext cx="1216058" cy="584775"/>
          </a:xfrm>
          <a:prstGeom prst="rect">
            <a:avLst/>
          </a:prstGeom>
          <a:noFill/>
        </p:spPr>
        <p:txBody>
          <a:bodyPr wrap="square" rtlCol="0">
            <a:spAutoFit/>
          </a:bodyPr>
          <a:lstStyle/>
          <a:p>
            <a:pPr algn="ctr"/>
            <a:r>
              <a:rPr lang="en-US" sz="1600" dirty="0"/>
              <a:t>high talent men</a:t>
            </a:r>
          </a:p>
        </p:txBody>
      </p:sp>
      <p:sp>
        <p:nvSpPr>
          <p:cNvPr id="53" name="TextBox 52">
            <a:extLst>
              <a:ext uri="{FF2B5EF4-FFF2-40B4-BE49-F238E27FC236}">
                <a16:creationId xmlns:a16="http://schemas.microsoft.com/office/drawing/2014/main" id="{B5CCD41C-DAAA-129F-33B7-61ADEBF80013}"/>
              </a:ext>
            </a:extLst>
          </p:cNvPr>
          <p:cNvSpPr txBox="1"/>
          <p:nvPr/>
        </p:nvSpPr>
        <p:spPr>
          <a:xfrm>
            <a:off x="8626944" y="510379"/>
            <a:ext cx="1216058" cy="584775"/>
          </a:xfrm>
          <a:prstGeom prst="rect">
            <a:avLst/>
          </a:prstGeom>
          <a:noFill/>
        </p:spPr>
        <p:txBody>
          <a:bodyPr wrap="square" rtlCol="0">
            <a:spAutoFit/>
          </a:bodyPr>
          <a:lstStyle/>
          <a:p>
            <a:pPr algn="ctr"/>
            <a:r>
              <a:rPr lang="en-US" sz="1600" dirty="0"/>
              <a:t>low talent men</a:t>
            </a:r>
          </a:p>
        </p:txBody>
      </p:sp>
      <p:sp>
        <p:nvSpPr>
          <p:cNvPr id="56" name="TextBox 55">
            <a:extLst>
              <a:ext uri="{FF2B5EF4-FFF2-40B4-BE49-F238E27FC236}">
                <a16:creationId xmlns:a16="http://schemas.microsoft.com/office/drawing/2014/main" id="{0FC7ABA4-77D9-A150-1A60-6081E7A495E6}"/>
              </a:ext>
            </a:extLst>
          </p:cNvPr>
          <p:cNvSpPr txBox="1"/>
          <p:nvPr/>
        </p:nvSpPr>
        <p:spPr>
          <a:xfrm>
            <a:off x="7076543" y="517769"/>
            <a:ext cx="1376870" cy="584775"/>
          </a:xfrm>
          <a:prstGeom prst="rect">
            <a:avLst/>
          </a:prstGeom>
          <a:noFill/>
        </p:spPr>
        <p:txBody>
          <a:bodyPr wrap="square" rtlCol="0">
            <a:spAutoFit/>
          </a:bodyPr>
          <a:lstStyle/>
          <a:p>
            <a:pPr algn="ctr"/>
            <a:r>
              <a:rPr lang="en-US" sz="1600" dirty="0"/>
              <a:t>high talent women</a:t>
            </a:r>
          </a:p>
        </p:txBody>
      </p:sp>
      <p:sp>
        <p:nvSpPr>
          <p:cNvPr id="58" name="Rectangle 57">
            <a:extLst>
              <a:ext uri="{FF2B5EF4-FFF2-40B4-BE49-F238E27FC236}">
                <a16:creationId xmlns:a16="http://schemas.microsoft.com/office/drawing/2014/main" id="{937EB7FB-0338-0AB8-5843-D01695D3A203}"/>
              </a:ext>
            </a:extLst>
          </p:cNvPr>
          <p:cNvSpPr/>
          <p:nvPr/>
        </p:nvSpPr>
        <p:spPr>
          <a:xfrm>
            <a:off x="8507141" y="1571818"/>
            <a:ext cx="3341767" cy="721264"/>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DBB11644-B448-2AE4-7A0F-0684968672CB}"/>
                  </a:ext>
                </a:extLst>
              </p:cNvPr>
              <p:cNvSpPr txBox="1"/>
              <p:nvPr/>
            </p:nvSpPr>
            <p:spPr>
              <a:xfrm>
                <a:off x="4059521" y="1644352"/>
                <a:ext cx="2739259" cy="923330"/>
              </a:xfrm>
              <a:prstGeom prst="rect">
                <a:avLst/>
              </a:prstGeom>
              <a:noFill/>
            </p:spPr>
            <p:txBody>
              <a:bodyPr wrap="square" rtlCol="0">
                <a:spAutoFit/>
              </a:bodyPr>
              <a:lstStyle/>
              <a:p>
                <a14:m>
                  <m:oMath xmlns:m="http://schemas.openxmlformats.org/officeDocument/2006/math">
                    <m:r>
                      <a:rPr lang="en-US" b="0" i="1" smtClean="0">
                        <a:solidFill>
                          <a:srgbClr val="FFFF00"/>
                        </a:solidFill>
                        <a:latin typeface="Cambria Math" panose="02040503050406030204" pitchFamily="18" charset="0"/>
                      </a:rPr>
                      <m:t>𝜇</m:t>
                    </m:r>
                    <m:r>
                      <a:rPr lang="en-US" b="0" i="1" smtClean="0">
                        <a:solidFill>
                          <a:srgbClr val="FFFF00"/>
                        </a:solidFill>
                        <a:latin typeface="Cambria Math" panose="02040503050406030204" pitchFamily="18" charset="0"/>
                      </a:rPr>
                      <m:t>≤</m:t>
                    </m:r>
                    <m:r>
                      <a:rPr lang="en-US" b="0" i="1" smtClean="0">
                        <a:solidFill>
                          <a:srgbClr val="FFFF00"/>
                        </a:solidFill>
                        <a:latin typeface="Cambria Math" panose="02040503050406030204" pitchFamily="18" charset="0"/>
                      </a:rPr>
                      <m:t>𝜆</m:t>
                    </m:r>
                  </m:oMath>
                </a14:m>
                <a:r>
                  <a:rPr lang="en-US" dirty="0">
                    <a:solidFill>
                      <a:srgbClr val="FFFF00"/>
                    </a:solidFill>
                  </a:rPr>
                  <a:t> -- Misogyny penalty is more severe than the low-talent penalty</a:t>
                </a:r>
              </a:p>
            </p:txBody>
          </p:sp>
        </mc:Choice>
        <mc:Fallback xmlns="">
          <p:sp>
            <p:nvSpPr>
              <p:cNvPr id="59" name="TextBox 58">
                <a:extLst>
                  <a:ext uri="{FF2B5EF4-FFF2-40B4-BE49-F238E27FC236}">
                    <a16:creationId xmlns:a16="http://schemas.microsoft.com/office/drawing/2014/main" id="{DBB11644-B448-2AE4-7A0F-0684968672CB}"/>
                  </a:ext>
                </a:extLst>
              </p:cNvPr>
              <p:cNvSpPr txBox="1">
                <a:spLocks noRot="1" noChangeAspect="1" noMove="1" noResize="1" noEditPoints="1" noAdjustHandles="1" noChangeArrowheads="1" noChangeShapeType="1" noTextEdit="1"/>
              </p:cNvSpPr>
              <p:nvPr/>
            </p:nvSpPr>
            <p:spPr>
              <a:xfrm>
                <a:off x="4059521" y="1644352"/>
                <a:ext cx="2739259" cy="923330"/>
              </a:xfrm>
              <a:prstGeom prst="rect">
                <a:avLst/>
              </a:prstGeom>
              <a:blipFill>
                <a:blip r:embed="rId17"/>
                <a:stretch>
                  <a:fillRect l="-2004" t="-3311" r="-1336" b="-10596"/>
                </a:stretch>
              </a:blipFill>
            </p:spPr>
            <p:txBody>
              <a:bodyPr/>
              <a:lstStyle/>
              <a:p>
                <a:r>
                  <a:rPr lang="en-US">
                    <a:noFill/>
                  </a:rPr>
                  <a:t> </a:t>
                </a:r>
              </a:p>
            </p:txBody>
          </p:sp>
        </mc:Fallback>
      </mc:AlternateContent>
    </p:spTree>
    <p:extLst>
      <p:ext uri="{BB962C8B-B14F-4D97-AF65-F5344CB8AC3E}">
        <p14:creationId xmlns:p14="http://schemas.microsoft.com/office/powerpoint/2010/main" val="167360903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704ED-651F-B359-43D1-9D85179D96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5D6DA6C-B73A-6C1D-2BE0-B2702D4A6C0A}"/>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724C320E-1A81-0833-A7BE-B2EE28EBF1C7}"/>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B2C66E53-C364-8607-66EA-BE8219BC32CD}"/>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D775E51A-14F9-D7E6-6D22-FE3A744CC5FC}"/>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32BA8BEC-CCD2-206E-3177-68E4F2F4184A}"/>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3C07494D-9EE4-378A-5B2E-36943719B473}"/>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E10D4B48-6F4E-E830-1A5C-83EE341D3CEE}"/>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29D14CCA-22CA-0ADA-C205-2757177DFECA}"/>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94D76AEF-C0FC-C3BA-2DA5-CBFD627F96D3}"/>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F5E07EC5-8B49-7599-06DF-B891ED2D64B8}"/>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72AC41B3-8AC1-9FB7-7AD5-CE6F65C24FB8}"/>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AE253FAA-F808-61C7-8B40-5C2E801EC01A}"/>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A3F1F3F9-EBED-2177-237D-CEDDAC04EC69}"/>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A3F1F3F9-EBED-2177-237D-CEDDAC04EC69}"/>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C25F6F2D-AA95-552A-2A7F-3665B5B35EF8}"/>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EE3D1478-33EA-14E6-00A3-4E0DD7776A41}"/>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E49D6591-52AC-42C2-8B98-936B898F5120}"/>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E41079C-5978-386A-0570-BC0F58BC7E7E}"/>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EE41079C-5978-386A-0570-BC0F58BC7E7E}"/>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61909706-E385-B646-3BD2-EE792D7E51CF}"/>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7ACB6C02-DB5E-6818-4DD1-556F79DB422C}"/>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8EA0519C-6E77-A10F-2833-10D5841019C6}"/>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420D4BD3-520D-C336-6209-BDCBF4F3E0E3}"/>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6E683F1-2071-A4E6-332E-FA05ABBC38E2}"/>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46E683F1-2071-A4E6-332E-FA05ABBC38E2}"/>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45F0586-10D5-68F3-9BBF-72E56AFF4F6C}"/>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345F0586-10D5-68F3-9BBF-72E56AFF4F6C}"/>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6F372A75-724F-D857-11ED-10905FB92DE1}"/>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09A99B90-7D1F-C3E9-5F4A-56E924786CAD}"/>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0D5B368-F339-64AA-25EB-D7CF6A72463E}"/>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C9833FA-A604-B992-AC7F-0D7C6579D172}"/>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AC9833FA-A604-B992-AC7F-0D7C6579D172}"/>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525DD2A-04A5-3CC9-9EFA-87D52536E74D}"/>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A525DD2A-04A5-3CC9-9EFA-87D52536E74D}"/>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D197C093-C173-60C9-111A-F7BB7522EE0A}"/>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3F56710-62CD-00D5-72D3-E28AB130AAF3}"/>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F3F56710-62CD-00D5-72D3-E28AB130AAF3}"/>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48048EC-A14D-341C-51C4-24F5077E40B0}"/>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848048EC-A14D-341C-51C4-24F5077E40B0}"/>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2BE48823-D39A-EA6E-6AA9-3D56BF9F7A56}"/>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CE0B1250-94A3-C205-CCA7-3E1AFC05F5C6}"/>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2186186-CE8E-B686-60C8-1F5DB2539815}"/>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62186186-CE8E-B686-60C8-1F5DB2539815}"/>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8B545FCA-C80B-A70F-F5BF-3AC56EF4A958}"/>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12986F2-7591-407F-8686-AC7F78FB8B8A}"/>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312986F2-7591-407F-8686-AC7F78FB8B8A}"/>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D41FB921-EA7A-BF76-E255-32439AFE4B36}"/>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75C29EF1-7BF2-D044-4AAD-0B95B2EFFE65}"/>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BE93C39-3AFA-CD08-51DA-CEADA5763753}"/>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1BE93C39-3AFA-CD08-51DA-CEADA5763753}"/>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74816AA1-4A0D-A581-5619-F1A73706B635}"/>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64BFDB3D-C725-A43D-8082-7FFC4CC6F38E}"/>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64BFDB3D-C725-A43D-8082-7FFC4CC6F38E}"/>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197F6DA4-C052-56E4-6D45-D12A09417B08}"/>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B7BEA60B-8DB2-726C-BD9D-7080697C3990}"/>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936A3D9D-900A-9AFC-ADFE-D53F8DEDD4F6}"/>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FF74945-E54D-CD4F-95A4-6A698B401EBF}"/>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BFF74945-E54D-CD4F-95A4-6A698B401EBF}"/>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3D9B1ACC-FD8A-5631-06E2-ECC6F5690077}"/>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3D9B1ACC-FD8A-5631-06E2-ECC6F5690077}"/>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FE1606D5-89B2-5C93-2D87-7EE99F8BB4D9}"/>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FE1606D5-89B2-5C93-2D87-7EE99F8BB4D9}"/>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0273D1C7-817E-B6C2-FC9D-7E781BC4D675}"/>
              </a:ext>
            </a:extLst>
          </p:cNvPr>
          <p:cNvCxnSpPr>
            <a:cxnSpLocks/>
          </p:cNvCxnSpPr>
          <p:nvPr/>
        </p:nvCxnSpPr>
        <p:spPr>
          <a:xfrm>
            <a:off x="3626664" y="4245148"/>
            <a:ext cx="0" cy="8385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32AED555-4D46-9AA3-59A2-8EB855D717F7}"/>
              </a:ext>
            </a:extLst>
          </p:cNvPr>
          <p:cNvCxnSpPr>
            <a:cxnSpLocks/>
          </p:cNvCxnSpPr>
          <p:nvPr/>
        </p:nvCxnSpPr>
        <p:spPr>
          <a:xfrm flipV="1">
            <a:off x="3636295" y="3683293"/>
            <a:ext cx="983047" cy="54437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95329733-5D3A-7F3A-4F51-66EFE70F6287}"/>
              </a:ext>
            </a:extLst>
          </p:cNvPr>
          <p:cNvSpPr txBox="1"/>
          <p:nvPr/>
        </p:nvSpPr>
        <p:spPr>
          <a:xfrm>
            <a:off x="4105656" y="4336618"/>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sp>
        <p:nvSpPr>
          <p:cNvPr id="66" name="Freeform: Shape 65">
            <a:extLst>
              <a:ext uri="{FF2B5EF4-FFF2-40B4-BE49-F238E27FC236}">
                <a16:creationId xmlns:a16="http://schemas.microsoft.com/office/drawing/2014/main" id="{6D0FE2EB-D004-4C9C-FA62-FA21418ECAFE}"/>
              </a:ext>
            </a:extLst>
          </p:cNvPr>
          <p:cNvSpPr/>
          <p:nvPr/>
        </p:nvSpPr>
        <p:spPr>
          <a:xfrm>
            <a:off x="4628561" y="3695307"/>
            <a:ext cx="3308808" cy="499621"/>
          </a:xfrm>
          <a:custGeom>
            <a:avLst/>
            <a:gdLst>
              <a:gd name="connsiteX0" fmla="*/ 0 w 3308808"/>
              <a:gd name="connsiteY0" fmla="*/ 0 h 499621"/>
              <a:gd name="connsiteX1" fmla="*/ 669303 w 3308808"/>
              <a:gd name="connsiteY1" fmla="*/ 188536 h 499621"/>
              <a:gd name="connsiteX2" fmla="*/ 1545996 w 3308808"/>
              <a:gd name="connsiteY2" fmla="*/ 367646 h 499621"/>
              <a:gd name="connsiteX3" fmla="*/ 2686639 w 3308808"/>
              <a:gd name="connsiteY3" fmla="*/ 471340 h 499621"/>
              <a:gd name="connsiteX4" fmla="*/ 3308808 w 3308808"/>
              <a:gd name="connsiteY4" fmla="*/ 499621 h 49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8808" h="499621">
                <a:moveTo>
                  <a:pt x="0" y="0"/>
                </a:moveTo>
                <a:cubicBezTo>
                  <a:pt x="205818" y="63631"/>
                  <a:pt x="411637" y="127262"/>
                  <a:pt x="669303" y="188536"/>
                </a:cubicBezTo>
                <a:cubicBezTo>
                  <a:pt x="926969" y="249810"/>
                  <a:pt x="1209773" y="320512"/>
                  <a:pt x="1545996" y="367646"/>
                </a:cubicBezTo>
                <a:cubicBezTo>
                  <a:pt x="1882219" y="414780"/>
                  <a:pt x="2392837" y="449344"/>
                  <a:pt x="2686639" y="471340"/>
                </a:cubicBezTo>
                <a:cubicBezTo>
                  <a:pt x="2980441" y="493336"/>
                  <a:pt x="3144624" y="496478"/>
                  <a:pt x="3308808" y="499621"/>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5D824226-A447-3D54-4103-6A89CF2C7002}"/>
              </a:ext>
            </a:extLst>
          </p:cNvPr>
          <p:cNvSpPr txBox="1"/>
          <p:nvPr/>
        </p:nvSpPr>
        <p:spPr>
          <a:xfrm>
            <a:off x="8480609" y="1635832"/>
            <a:ext cx="3644250" cy="206210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1600" b="1" dirty="0"/>
              <a:t>step 1</a:t>
            </a:r>
            <a:r>
              <a:rPr lang="en-US" sz="1600" dirty="0"/>
              <a:t>: how are win probabilities ordered across the 4 types?</a:t>
            </a:r>
          </a:p>
          <a:p>
            <a:endParaRPr lang="en-US" sz="1600" dirty="0"/>
          </a:p>
          <a:p>
            <a:r>
              <a:rPr lang="en-US" sz="1600" b="1" dirty="0"/>
              <a:t>step 2:</a:t>
            </a:r>
            <a:r>
              <a:rPr lang="en-US" sz="1600" dirty="0"/>
              <a:t> does the low-talent penalty deter low-talent men from running?</a:t>
            </a:r>
          </a:p>
          <a:p>
            <a:endParaRPr lang="en-US" sz="1600" dirty="0"/>
          </a:p>
          <a:p>
            <a:r>
              <a:rPr lang="en-US" sz="1600" b="1" dirty="0"/>
              <a:t>step 3:</a:t>
            </a:r>
            <a:r>
              <a:rPr lang="en-US" sz="1600" dirty="0"/>
              <a:t> does the misogyny penalty deter low-talent women from running?</a:t>
            </a:r>
          </a:p>
        </p:txBody>
      </p:sp>
      <p:cxnSp>
        <p:nvCxnSpPr>
          <p:cNvPr id="40" name="Straight Arrow Connector 39">
            <a:extLst>
              <a:ext uri="{FF2B5EF4-FFF2-40B4-BE49-F238E27FC236}">
                <a16:creationId xmlns:a16="http://schemas.microsoft.com/office/drawing/2014/main" id="{2AAC1AAA-921F-4846-4AD4-7B925323DD59}"/>
              </a:ext>
            </a:extLst>
          </p:cNvPr>
          <p:cNvCxnSpPr>
            <a:cxnSpLocks/>
          </p:cNvCxnSpPr>
          <p:nvPr/>
        </p:nvCxnSpPr>
        <p:spPr>
          <a:xfrm>
            <a:off x="6127545" y="1262959"/>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BEB6EA90-3C28-90B8-B22E-01B6A28885F5}"/>
              </a:ext>
            </a:extLst>
          </p:cNvPr>
          <p:cNvSpPr txBox="1"/>
          <p:nvPr/>
        </p:nvSpPr>
        <p:spPr>
          <a:xfrm>
            <a:off x="5743371" y="496230"/>
            <a:ext cx="1216058" cy="584775"/>
          </a:xfrm>
          <a:prstGeom prst="rect">
            <a:avLst/>
          </a:prstGeom>
          <a:noFill/>
        </p:spPr>
        <p:txBody>
          <a:bodyPr wrap="square" rtlCol="0">
            <a:spAutoFit/>
          </a:bodyPr>
          <a:lstStyle/>
          <a:p>
            <a:pPr algn="ctr"/>
            <a:r>
              <a:rPr lang="en-US" sz="1600" dirty="0"/>
              <a:t>low talent women</a:t>
            </a:r>
          </a:p>
        </p:txBody>
      </p:sp>
      <p:sp>
        <p:nvSpPr>
          <p:cNvPr id="45" name="TextBox 44">
            <a:extLst>
              <a:ext uri="{FF2B5EF4-FFF2-40B4-BE49-F238E27FC236}">
                <a16:creationId xmlns:a16="http://schemas.microsoft.com/office/drawing/2014/main" id="{BCD60D21-AD46-E63E-A309-6DF3FE7B50DF}"/>
              </a:ext>
            </a:extLst>
          </p:cNvPr>
          <p:cNvSpPr txBox="1"/>
          <p:nvPr/>
        </p:nvSpPr>
        <p:spPr>
          <a:xfrm>
            <a:off x="10027020" y="526082"/>
            <a:ext cx="1216058" cy="584775"/>
          </a:xfrm>
          <a:prstGeom prst="rect">
            <a:avLst/>
          </a:prstGeom>
          <a:noFill/>
        </p:spPr>
        <p:txBody>
          <a:bodyPr wrap="square" rtlCol="0">
            <a:spAutoFit/>
          </a:bodyPr>
          <a:lstStyle/>
          <a:p>
            <a:pPr algn="ctr"/>
            <a:r>
              <a:rPr lang="en-US" sz="1600" dirty="0"/>
              <a:t>high talent men</a:t>
            </a:r>
          </a:p>
        </p:txBody>
      </p:sp>
      <p:sp>
        <p:nvSpPr>
          <p:cNvPr id="53" name="TextBox 52">
            <a:extLst>
              <a:ext uri="{FF2B5EF4-FFF2-40B4-BE49-F238E27FC236}">
                <a16:creationId xmlns:a16="http://schemas.microsoft.com/office/drawing/2014/main" id="{31D05E23-4BE2-ACDE-1FD5-084F756AC4BD}"/>
              </a:ext>
            </a:extLst>
          </p:cNvPr>
          <p:cNvSpPr txBox="1"/>
          <p:nvPr/>
        </p:nvSpPr>
        <p:spPr>
          <a:xfrm>
            <a:off x="8626944" y="510379"/>
            <a:ext cx="1216058" cy="584775"/>
          </a:xfrm>
          <a:prstGeom prst="rect">
            <a:avLst/>
          </a:prstGeom>
          <a:noFill/>
        </p:spPr>
        <p:txBody>
          <a:bodyPr wrap="square" rtlCol="0">
            <a:spAutoFit/>
          </a:bodyPr>
          <a:lstStyle/>
          <a:p>
            <a:pPr algn="ctr"/>
            <a:r>
              <a:rPr lang="en-US" sz="1600" dirty="0"/>
              <a:t>low talent men</a:t>
            </a:r>
          </a:p>
        </p:txBody>
      </p:sp>
      <p:sp>
        <p:nvSpPr>
          <p:cNvPr id="56" name="TextBox 55">
            <a:extLst>
              <a:ext uri="{FF2B5EF4-FFF2-40B4-BE49-F238E27FC236}">
                <a16:creationId xmlns:a16="http://schemas.microsoft.com/office/drawing/2014/main" id="{87808D3B-E8A0-877F-618F-2B7C57E3967A}"/>
              </a:ext>
            </a:extLst>
          </p:cNvPr>
          <p:cNvSpPr txBox="1"/>
          <p:nvPr/>
        </p:nvSpPr>
        <p:spPr>
          <a:xfrm>
            <a:off x="7076543" y="517769"/>
            <a:ext cx="1376870" cy="584775"/>
          </a:xfrm>
          <a:prstGeom prst="rect">
            <a:avLst/>
          </a:prstGeom>
          <a:noFill/>
        </p:spPr>
        <p:txBody>
          <a:bodyPr wrap="square" rtlCol="0">
            <a:spAutoFit/>
          </a:bodyPr>
          <a:lstStyle/>
          <a:p>
            <a:pPr algn="ctr"/>
            <a:r>
              <a:rPr lang="en-US" sz="1600" dirty="0"/>
              <a:t>high talent women</a:t>
            </a:r>
          </a:p>
        </p:txBody>
      </p:sp>
      <p:sp>
        <p:nvSpPr>
          <p:cNvPr id="58" name="Rectangle 57">
            <a:extLst>
              <a:ext uri="{FF2B5EF4-FFF2-40B4-BE49-F238E27FC236}">
                <a16:creationId xmlns:a16="http://schemas.microsoft.com/office/drawing/2014/main" id="{434CF4D4-6F24-C757-6746-461A902BB05E}"/>
              </a:ext>
            </a:extLst>
          </p:cNvPr>
          <p:cNvSpPr/>
          <p:nvPr/>
        </p:nvSpPr>
        <p:spPr>
          <a:xfrm>
            <a:off x="8573280" y="2307786"/>
            <a:ext cx="3341767" cy="721264"/>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0D0C8ACD-1F62-692B-0A7D-60392CC82F61}"/>
                  </a:ext>
                </a:extLst>
              </p:cNvPr>
              <p:cNvSpPr txBox="1"/>
              <p:nvPr/>
            </p:nvSpPr>
            <p:spPr>
              <a:xfrm>
                <a:off x="4059521" y="1644352"/>
                <a:ext cx="2739259" cy="1235210"/>
              </a:xfrm>
              <a:prstGeom prst="rect">
                <a:avLst/>
              </a:prstGeom>
              <a:noFill/>
            </p:spPr>
            <p:txBody>
              <a:bodyPr wrap="square" rtlCol="0">
                <a:spAutoFit/>
              </a:bodyPr>
              <a:lstStyle/>
              <a:p>
                <a14:m>
                  <m:oMath xmlns:m="http://schemas.openxmlformats.org/officeDocument/2006/math">
                    <m:r>
                      <a:rPr lang="en-US" b="0" i="1" smtClean="0">
                        <a:solidFill>
                          <a:srgbClr val="FFFF00"/>
                        </a:solidFill>
                        <a:latin typeface="Cambria Math" panose="02040503050406030204" pitchFamily="18" charset="0"/>
                      </a:rPr>
                      <m:t>𝜆</m:t>
                    </m:r>
                    <m:r>
                      <a:rPr lang="en-US" b="0" i="1" smtClean="0">
                        <a:solidFill>
                          <a:srgbClr val="FFFF00"/>
                        </a:solidFill>
                        <a:latin typeface="Cambria Math" panose="02040503050406030204" pitchFamily="18" charset="0"/>
                      </a:rPr>
                      <m:t>≥</m:t>
                    </m:r>
                    <m:box>
                      <m:boxPr>
                        <m:ctrlPr>
                          <a:rPr lang="en-US" b="0" i="1" smtClean="0">
                            <a:solidFill>
                              <a:srgbClr val="FFFF00"/>
                            </a:solidFill>
                            <a:latin typeface="Cambria Math" panose="02040503050406030204" pitchFamily="18" charset="0"/>
                          </a:rPr>
                        </m:ctrlPr>
                      </m:boxPr>
                      <m:e>
                        <m:argPr>
                          <m:argSz m:val="-1"/>
                        </m:argPr>
                        <m:f>
                          <m:fPr>
                            <m:ctrlPr>
                              <a:rPr lang="en-US" b="0" i="1" smtClean="0">
                                <a:solidFill>
                                  <a:srgbClr val="FFFF00"/>
                                </a:solidFill>
                                <a:latin typeface="Cambria Math" panose="02040503050406030204" pitchFamily="18" charset="0"/>
                              </a:rPr>
                            </m:ctrlPr>
                          </m:fPr>
                          <m:num>
                            <m:r>
                              <a:rPr lang="en-US" b="0" i="1" smtClean="0">
                                <a:solidFill>
                                  <a:srgbClr val="FFFF00"/>
                                </a:solidFill>
                                <a:latin typeface="Cambria Math" panose="02040503050406030204" pitchFamily="18" charset="0"/>
                              </a:rPr>
                              <m:t>𝐶</m:t>
                            </m:r>
                          </m:num>
                          <m:den>
                            <m:r>
                              <a:rPr lang="en-US" b="0" i="1" smtClean="0">
                                <a:solidFill>
                                  <a:srgbClr val="FFFF00"/>
                                </a:solidFill>
                                <a:latin typeface="Cambria Math" panose="02040503050406030204" pitchFamily="18" charset="0"/>
                              </a:rPr>
                              <m:t>𝑤𝐵</m:t>
                            </m:r>
                          </m:den>
                        </m:f>
                      </m:e>
                    </m:box>
                  </m:oMath>
                </a14:m>
                <a:r>
                  <a:rPr lang="en-US" dirty="0">
                    <a:solidFill>
                      <a:srgbClr val="FFFF00"/>
                    </a:solidFill>
                  </a:rPr>
                  <a:t> -- Low talent penalty does not deter low-talent men from running</a:t>
                </a:r>
              </a:p>
            </p:txBody>
          </p:sp>
        </mc:Choice>
        <mc:Fallback xmlns="">
          <p:sp>
            <p:nvSpPr>
              <p:cNvPr id="59" name="TextBox 58">
                <a:extLst>
                  <a:ext uri="{FF2B5EF4-FFF2-40B4-BE49-F238E27FC236}">
                    <a16:creationId xmlns:a16="http://schemas.microsoft.com/office/drawing/2014/main" id="{0D0C8ACD-1F62-692B-0A7D-60392CC82F61}"/>
                  </a:ext>
                </a:extLst>
              </p:cNvPr>
              <p:cNvSpPr txBox="1">
                <a:spLocks noRot="1" noChangeAspect="1" noMove="1" noResize="1" noEditPoints="1" noAdjustHandles="1" noChangeArrowheads="1" noChangeShapeType="1" noTextEdit="1"/>
              </p:cNvSpPr>
              <p:nvPr/>
            </p:nvSpPr>
            <p:spPr>
              <a:xfrm>
                <a:off x="4059521" y="1644352"/>
                <a:ext cx="2739259" cy="1235210"/>
              </a:xfrm>
              <a:prstGeom prst="rect">
                <a:avLst/>
              </a:prstGeom>
              <a:blipFill>
                <a:blip r:embed="rId17"/>
                <a:stretch>
                  <a:fillRect l="-2004" t="-1485" b="-7426"/>
                </a:stretch>
              </a:blipFill>
            </p:spPr>
            <p:txBody>
              <a:bodyPr/>
              <a:lstStyle/>
              <a:p>
                <a:r>
                  <a:rPr lang="en-US">
                    <a:noFill/>
                  </a:rPr>
                  <a:t> </a:t>
                </a:r>
              </a:p>
            </p:txBody>
          </p:sp>
        </mc:Fallback>
      </mc:AlternateContent>
      <p:sp>
        <p:nvSpPr>
          <p:cNvPr id="60" name="Oval 59">
            <a:extLst>
              <a:ext uri="{FF2B5EF4-FFF2-40B4-BE49-F238E27FC236}">
                <a16:creationId xmlns:a16="http://schemas.microsoft.com/office/drawing/2014/main" id="{20DBA29E-84F6-CD42-A060-5CDF0274EDE4}"/>
              </a:ext>
            </a:extLst>
          </p:cNvPr>
          <p:cNvSpPr/>
          <p:nvPr/>
        </p:nvSpPr>
        <p:spPr>
          <a:xfrm>
            <a:off x="8600605" y="382713"/>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2BB7F1B0-0C79-50C7-DA2C-7A7B5806C417}"/>
              </a:ext>
            </a:extLst>
          </p:cNvPr>
          <p:cNvSpPr txBox="1"/>
          <p:nvPr/>
        </p:nvSpPr>
        <p:spPr>
          <a:xfrm rot="21139612">
            <a:off x="9642679" y="84241"/>
            <a:ext cx="10691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run!</a:t>
            </a:r>
          </a:p>
        </p:txBody>
      </p:sp>
    </p:spTree>
    <p:extLst>
      <p:ext uri="{BB962C8B-B14F-4D97-AF65-F5344CB8AC3E}">
        <p14:creationId xmlns:p14="http://schemas.microsoft.com/office/powerpoint/2010/main" val="184081719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916AD-BAB5-9078-3499-42196497E10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A8BF3A-D6C3-D7B1-B64D-50E468E1A42F}"/>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FA056546-294C-67BF-A8FD-E7E14C326C1E}"/>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16393242-D88D-3D6F-155F-0EEDB12303AD}"/>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ACEC8E7A-A526-B535-3B28-566AD95828FA}"/>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F32D01E2-1246-A0D3-DC2C-1F3E955EC2EB}"/>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5221DFCC-FE3B-5135-0672-84ED968BC106}"/>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7D4F1D97-B669-118E-5DCC-340383A4D21D}"/>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5F9685BE-225D-DB04-435B-D584FD3A4D1E}"/>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F7160870-C878-5195-31A7-F5080D17485A}"/>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54DDB136-F3B5-DFB1-2FF0-C1EB409CC954}"/>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B68F6548-CB52-C5ED-1C19-49B5498D75FE}"/>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C0C7A3D9-0368-2BF7-B853-C59704CBA6E2}"/>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F5FF62C-2139-31C6-DA74-6D80AA829D88}"/>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1F5FF62C-2139-31C6-DA74-6D80AA829D88}"/>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92B5249F-960E-8A7B-1DB9-006C7B0EE7D5}"/>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5B1029EE-5815-062D-F4A9-365D6CB5DAC6}"/>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B892DF12-A012-B9E0-C518-FA0DBDF8EDD5}"/>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CC7EBA8-CDD0-957E-3B9D-405486D4CF2E}"/>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3CC7EBA8-CDD0-957E-3B9D-405486D4CF2E}"/>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792085C7-E757-95D8-D490-0163693C9725}"/>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B1F9580-C4BF-A99B-A1D8-3EFD6D8385F1}"/>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9D62250F-46FA-148C-1F09-56964FEE9916}"/>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F4EF34CA-57E8-F39D-266A-A5D1098E9BEA}"/>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1D6D34B-5159-4158-58D7-980EAFEDB88B}"/>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F1D6D34B-5159-4158-58D7-980EAFEDB88B}"/>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2691511-7B1B-4298-F5C4-D45286020980}"/>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32691511-7B1B-4298-F5C4-D45286020980}"/>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9A6ACBFA-9311-8348-78C9-8FC3B19923F9}"/>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503FC423-9181-1996-7B96-97DD706A507A}"/>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DED5B04-A39E-7A46-B876-468416755313}"/>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06897CA-2D6F-C7D1-9EA6-CBFF36BD0A5D}"/>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B06897CA-2D6F-C7D1-9EA6-CBFF36BD0A5D}"/>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CE13E71-59C7-382C-8646-1C899238BEED}"/>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CCE13E71-59C7-382C-8646-1C899238BEED}"/>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03A863E1-D526-0654-6CC7-617A1F1BA9D0}"/>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D41B5CE-C619-B376-FBA4-B7160366D96A}"/>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1D41B5CE-C619-B376-FBA4-B7160366D96A}"/>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9AC789D7-20C8-3D65-C3E8-3D36E1C8345B}"/>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9AC789D7-20C8-3D65-C3E8-3D36E1C8345B}"/>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53BAC6E6-9148-C396-DCBF-96D0470A4142}"/>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1321AECB-C830-564C-8569-4AFA545EEEC7}"/>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77B7AC8-F368-70AC-11CB-40398E4BE978}"/>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677B7AC8-F368-70AC-11CB-40398E4BE978}"/>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7E4C6CD5-4960-EF33-8F50-4FC24DC6B1A1}"/>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6C25FCF4-073E-D2C8-3214-76D3D1988C7D}"/>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6C25FCF4-073E-D2C8-3214-76D3D1988C7D}"/>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1AC4209A-A080-EF6D-CC50-468D6E747D21}"/>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A7115171-5930-36DF-CF5D-177A7A8B477F}"/>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300FD79-6B33-A635-0A24-4FC3839328F1}"/>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E300FD79-6B33-A635-0A24-4FC3839328F1}"/>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D3A14BA1-7292-2AA6-51CC-E2C69ED86731}"/>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78CABFF-8007-8BFF-3997-1F9E9926DA65}"/>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F78CABFF-8007-8BFF-3997-1F9E9926DA65}"/>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EEA0E131-A01C-658B-4AD5-02350F7B8EAB}"/>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2FEEB067-EC32-E86D-45C0-0803375E2DB3}"/>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75050B83-A247-6AB3-BAA8-CB233DE70659}"/>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FD7939D1-2645-B0FD-5427-3FB31B04269D}"/>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FD7939D1-2645-B0FD-5427-3FB31B04269D}"/>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584F4EB4-1B00-24B7-C24C-635FD60F11D4}"/>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584F4EB4-1B00-24B7-C24C-635FD60F11D4}"/>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B3347BC7-5062-4B0A-DD59-ED7D174CEA1B}"/>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B3347BC7-5062-4B0A-DD59-ED7D174CEA1B}"/>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BCC9F0CB-BD3F-0A23-C8B8-A3D90978B59D}"/>
              </a:ext>
            </a:extLst>
          </p:cNvPr>
          <p:cNvCxnSpPr>
            <a:cxnSpLocks/>
          </p:cNvCxnSpPr>
          <p:nvPr/>
        </p:nvCxnSpPr>
        <p:spPr>
          <a:xfrm>
            <a:off x="3626664" y="4245148"/>
            <a:ext cx="0" cy="8385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953FC04A-E6B4-D363-C238-410B5AE78014}"/>
              </a:ext>
            </a:extLst>
          </p:cNvPr>
          <p:cNvCxnSpPr>
            <a:cxnSpLocks/>
          </p:cNvCxnSpPr>
          <p:nvPr/>
        </p:nvCxnSpPr>
        <p:spPr>
          <a:xfrm flipV="1">
            <a:off x="3636295" y="3683293"/>
            <a:ext cx="983047" cy="54437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CF3BC6F7-1A0A-FD2D-E97E-5F8C7278BE24}"/>
              </a:ext>
            </a:extLst>
          </p:cNvPr>
          <p:cNvSpPr txBox="1"/>
          <p:nvPr/>
        </p:nvSpPr>
        <p:spPr>
          <a:xfrm>
            <a:off x="4105656" y="4336618"/>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sp>
        <p:nvSpPr>
          <p:cNvPr id="66" name="Freeform: Shape 65">
            <a:extLst>
              <a:ext uri="{FF2B5EF4-FFF2-40B4-BE49-F238E27FC236}">
                <a16:creationId xmlns:a16="http://schemas.microsoft.com/office/drawing/2014/main" id="{4294D3D2-379B-BCF4-8BB7-1BF3B824CF71}"/>
              </a:ext>
            </a:extLst>
          </p:cNvPr>
          <p:cNvSpPr/>
          <p:nvPr/>
        </p:nvSpPr>
        <p:spPr>
          <a:xfrm>
            <a:off x="4628561" y="3695307"/>
            <a:ext cx="3308808" cy="499621"/>
          </a:xfrm>
          <a:custGeom>
            <a:avLst/>
            <a:gdLst>
              <a:gd name="connsiteX0" fmla="*/ 0 w 3308808"/>
              <a:gd name="connsiteY0" fmla="*/ 0 h 499621"/>
              <a:gd name="connsiteX1" fmla="*/ 669303 w 3308808"/>
              <a:gd name="connsiteY1" fmla="*/ 188536 h 499621"/>
              <a:gd name="connsiteX2" fmla="*/ 1545996 w 3308808"/>
              <a:gd name="connsiteY2" fmla="*/ 367646 h 499621"/>
              <a:gd name="connsiteX3" fmla="*/ 2686639 w 3308808"/>
              <a:gd name="connsiteY3" fmla="*/ 471340 h 499621"/>
              <a:gd name="connsiteX4" fmla="*/ 3308808 w 3308808"/>
              <a:gd name="connsiteY4" fmla="*/ 499621 h 49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8808" h="499621">
                <a:moveTo>
                  <a:pt x="0" y="0"/>
                </a:moveTo>
                <a:cubicBezTo>
                  <a:pt x="205818" y="63631"/>
                  <a:pt x="411637" y="127262"/>
                  <a:pt x="669303" y="188536"/>
                </a:cubicBezTo>
                <a:cubicBezTo>
                  <a:pt x="926969" y="249810"/>
                  <a:pt x="1209773" y="320512"/>
                  <a:pt x="1545996" y="367646"/>
                </a:cubicBezTo>
                <a:cubicBezTo>
                  <a:pt x="1882219" y="414780"/>
                  <a:pt x="2392837" y="449344"/>
                  <a:pt x="2686639" y="471340"/>
                </a:cubicBezTo>
                <a:cubicBezTo>
                  <a:pt x="2980441" y="493336"/>
                  <a:pt x="3144624" y="496478"/>
                  <a:pt x="3308808" y="499621"/>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A7DF2B0-FC0E-0F4D-395F-A552E0F83891}"/>
              </a:ext>
            </a:extLst>
          </p:cNvPr>
          <p:cNvSpPr txBox="1"/>
          <p:nvPr/>
        </p:nvSpPr>
        <p:spPr>
          <a:xfrm>
            <a:off x="8480609" y="1635832"/>
            <a:ext cx="3644250" cy="2062103"/>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sz="1600" b="1" dirty="0"/>
              <a:t>step 1</a:t>
            </a:r>
            <a:r>
              <a:rPr lang="en-US" sz="1600" dirty="0"/>
              <a:t>: how are win probabilities ordered across the 4 types?</a:t>
            </a:r>
          </a:p>
          <a:p>
            <a:endParaRPr lang="en-US" sz="1600" dirty="0"/>
          </a:p>
          <a:p>
            <a:r>
              <a:rPr lang="en-US" sz="1600" b="1" dirty="0"/>
              <a:t>step 2:</a:t>
            </a:r>
            <a:r>
              <a:rPr lang="en-US" sz="1600" dirty="0"/>
              <a:t> does the low-talent penalty deter low-talent men from running?</a:t>
            </a:r>
          </a:p>
          <a:p>
            <a:endParaRPr lang="en-US" sz="1600" dirty="0"/>
          </a:p>
          <a:p>
            <a:r>
              <a:rPr lang="en-US" sz="1600" b="1" dirty="0"/>
              <a:t>step 3:</a:t>
            </a:r>
            <a:r>
              <a:rPr lang="en-US" sz="1600" dirty="0"/>
              <a:t> does the misogyny penalty deter low-talent women from running?</a:t>
            </a:r>
          </a:p>
        </p:txBody>
      </p:sp>
      <p:cxnSp>
        <p:nvCxnSpPr>
          <p:cNvPr id="40" name="Straight Arrow Connector 39">
            <a:extLst>
              <a:ext uri="{FF2B5EF4-FFF2-40B4-BE49-F238E27FC236}">
                <a16:creationId xmlns:a16="http://schemas.microsoft.com/office/drawing/2014/main" id="{DE0C2DC5-288E-9CE5-D70B-31BBC8174DEB}"/>
              </a:ext>
            </a:extLst>
          </p:cNvPr>
          <p:cNvCxnSpPr>
            <a:cxnSpLocks/>
          </p:cNvCxnSpPr>
          <p:nvPr/>
        </p:nvCxnSpPr>
        <p:spPr>
          <a:xfrm>
            <a:off x="6127545" y="1262959"/>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AB545EF6-4465-987C-3464-A71F0DC59D44}"/>
              </a:ext>
            </a:extLst>
          </p:cNvPr>
          <p:cNvSpPr txBox="1"/>
          <p:nvPr/>
        </p:nvSpPr>
        <p:spPr>
          <a:xfrm>
            <a:off x="5743371" y="496230"/>
            <a:ext cx="1216058" cy="584775"/>
          </a:xfrm>
          <a:prstGeom prst="rect">
            <a:avLst/>
          </a:prstGeom>
          <a:noFill/>
        </p:spPr>
        <p:txBody>
          <a:bodyPr wrap="square" rtlCol="0">
            <a:spAutoFit/>
          </a:bodyPr>
          <a:lstStyle/>
          <a:p>
            <a:pPr algn="ctr"/>
            <a:r>
              <a:rPr lang="en-US" sz="1600" dirty="0"/>
              <a:t>low talent women</a:t>
            </a:r>
          </a:p>
        </p:txBody>
      </p:sp>
      <p:sp>
        <p:nvSpPr>
          <p:cNvPr id="45" name="TextBox 44">
            <a:extLst>
              <a:ext uri="{FF2B5EF4-FFF2-40B4-BE49-F238E27FC236}">
                <a16:creationId xmlns:a16="http://schemas.microsoft.com/office/drawing/2014/main" id="{EBFB5FA1-B496-6C69-E461-E435A16A4017}"/>
              </a:ext>
            </a:extLst>
          </p:cNvPr>
          <p:cNvSpPr txBox="1"/>
          <p:nvPr/>
        </p:nvSpPr>
        <p:spPr>
          <a:xfrm>
            <a:off x="10027020" y="526082"/>
            <a:ext cx="1216058" cy="584775"/>
          </a:xfrm>
          <a:prstGeom prst="rect">
            <a:avLst/>
          </a:prstGeom>
          <a:noFill/>
        </p:spPr>
        <p:txBody>
          <a:bodyPr wrap="square" rtlCol="0">
            <a:spAutoFit/>
          </a:bodyPr>
          <a:lstStyle/>
          <a:p>
            <a:pPr algn="ctr"/>
            <a:r>
              <a:rPr lang="en-US" sz="1600" dirty="0"/>
              <a:t>high talent men</a:t>
            </a:r>
          </a:p>
        </p:txBody>
      </p:sp>
      <p:sp>
        <p:nvSpPr>
          <p:cNvPr id="53" name="TextBox 52">
            <a:extLst>
              <a:ext uri="{FF2B5EF4-FFF2-40B4-BE49-F238E27FC236}">
                <a16:creationId xmlns:a16="http://schemas.microsoft.com/office/drawing/2014/main" id="{CE3694A8-0D9C-BE6C-2E94-F632BA6FF652}"/>
              </a:ext>
            </a:extLst>
          </p:cNvPr>
          <p:cNvSpPr txBox="1"/>
          <p:nvPr/>
        </p:nvSpPr>
        <p:spPr>
          <a:xfrm>
            <a:off x="8626944" y="510379"/>
            <a:ext cx="1216058" cy="584775"/>
          </a:xfrm>
          <a:prstGeom prst="rect">
            <a:avLst/>
          </a:prstGeom>
          <a:noFill/>
        </p:spPr>
        <p:txBody>
          <a:bodyPr wrap="square" rtlCol="0">
            <a:spAutoFit/>
          </a:bodyPr>
          <a:lstStyle/>
          <a:p>
            <a:pPr algn="ctr"/>
            <a:r>
              <a:rPr lang="en-US" sz="1600" dirty="0"/>
              <a:t>low talent men</a:t>
            </a:r>
          </a:p>
        </p:txBody>
      </p:sp>
      <p:sp>
        <p:nvSpPr>
          <p:cNvPr id="56" name="TextBox 55">
            <a:extLst>
              <a:ext uri="{FF2B5EF4-FFF2-40B4-BE49-F238E27FC236}">
                <a16:creationId xmlns:a16="http://schemas.microsoft.com/office/drawing/2014/main" id="{D0D187AF-FD26-0520-7A9B-4224F9AA8C42}"/>
              </a:ext>
            </a:extLst>
          </p:cNvPr>
          <p:cNvSpPr txBox="1"/>
          <p:nvPr/>
        </p:nvSpPr>
        <p:spPr>
          <a:xfrm>
            <a:off x="7076543" y="517769"/>
            <a:ext cx="1376870" cy="584775"/>
          </a:xfrm>
          <a:prstGeom prst="rect">
            <a:avLst/>
          </a:prstGeom>
          <a:noFill/>
        </p:spPr>
        <p:txBody>
          <a:bodyPr wrap="square" rtlCol="0">
            <a:spAutoFit/>
          </a:bodyPr>
          <a:lstStyle/>
          <a:p>
            <a:pPr algn="ctr"/>
            <a:r>
              <a:rPr lang="en-US" sz="1600" dirty="0"/>
              <a:t>high talent women</a:t>
            </a:r>
          </a:p>
        </p:txBody>
      </p:sp>
      <p:sp>
        <p:nvSpPr>
          <p:cNvPr id="58" name="Rectangle 57">
            <a:extLst>
              <a:ext uri="{FF2B5EF4-FFF2-40B4-BE49-F238E27FC236}">
                <a16:creationId xmlns:a16="http://schemas.microsoft.com/office/drawing/2014/main" id="{8C859CCC-7913-32BE-382C-698E9AD4FC92}"/>
              </a:ext>
            </a:extLst>
          </p:cNvPr>
          <p:cNvSpPr/>
          <p:nvPr/>
        </p:nvSpPr>
        <p:spPr>
          <a:xfrm>
            <a:off x="8555218" y="3024184"/>
            <a:ext cx="3341767" cy="721264"/>
          </a:xfrm>
          <a:prstGeom prst="rect">
            <a:avLst/>
          </a:prstGeom>
          <a:noFill/>
          <a:ln w="3810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02D95975-BCEB-EC3F-BC24-5B9FD114D3E4}"/>
                  </a:ext>
                </a:extLst>
              </p:cNvPr>
              <p:cNvSpPr txBox="1"/>
              <p:nvPr/>
            </p:nvSpPr>
            <p:spPr>
              <a:xfrm>
                <a:off x="4059521" y="1644352"/>
                <a:ext cx="2739259" cy="958532"/>
              </a:xfrm>
              <a:prstGeom prst="rect">
                <a:avLst/>
              </a:prstGeom>
              <a:noFill/>
            </p:spPr>
            <p:txBody>
              <a:bodyPr wrap="square" rtlCol="0">
                <a:spAutoFit/>
              </a:bodyPr>
              <a:lstStyle/>
              <a:p>
                <a14:m>
                  <m:oMath xmlns:m="http://schemas.openxmlformats.org/officeDocument/2006/math">
                    <m:r>
                      <a:rPr lang="en-US" b="0" i="1" smtClean="0">
                        <a:solidFill>
                          <a:srgbClr val="FFFF00"/>
                        </a:solidFill>
                        <a:latin typeface="Cambria Math" panose="02040503050406030204" pitchFamily="18" charset="0"/>
                      </a:rPr>
                      <m:t>𝜇</m:t>
                    </m:r>
                    <m:r>
                      <a:rPr lang="en-US" b="0" i="1" smtClean="0">
                        <a:solidFill>
                          <a:srgbClr val="FFFF00"/>
                        </a:solidFill>
                        <a:latin typeface="Cambria Math" panose="02040503050406030204" pitchFamily="18" charset="0"/>
                      </a:rPr>
                      <m:t>≤</m:t>
                    </m:r>
                    <m:box>
                      <m:boxPr>
                        <m:ctrlPr>
                          <a:rPr lang="en-US" b="0" i="1" smtClean="0">
                            <a:solidFill>
                              <a:srgbClr val="FFFF00"/>
                            </a:solidFill>
                            <a:latin typeface="Cambria Math" panose="02040503050406030204" pitchFamily="18" charset="0"/>
                          </a:rPr>
                        </m:ctrlPr>
                      </m:boxPr>
                      <m:e>
                        <m:argPr>
                          <m:argSz m:val="-1"/>
                        </m:argPr>
                        <m:f>
                          <m:fPr>
                            <m:ctrlPr>
                              <a:rPr lang="en-US" b="0" i="1" smtClean="0">
                                <a:solidFill>
                                  <a:srgbClr val="FFFF00"/>
                                </a:solidFill>
                                <a:latin typeface="Cambria Math" panose="02040503050406030204" pitchFamily="18" charset="0"/>
                              </a:rPr>
                            </m:ctrlPr>
                          </m:fPr>
                          <m:num>
                            <m:r>
                              <a:rPr lang="en-US" b="0" i="1" smtClean="0">
                                <a:solidFill>
                                  <a:srgbClr val="FFFF00"/>
                                </a:solidFill>
                                <a:latin typeface="Cambria Math" panose="02040503050406030204" pitchFamily="18" charset="0"/>
                              </a:rPr>
                              <m:t>1</m:t>
                            </m:r>
                          </m:num>
                          <m:den>
                            <m:r>
                              <a:rPr lang="en-US" b="0" i="1" smtClean="0">
                                <a:solidFill>
                                  <a:srgbClr val="FFFF00"/>
                                </a:solidFill>
                                <a:latin typeface="Cambria Math" panose="02040503050406030204" pitchFamily="18" charset="0"/>
                              </a:rPr>
                              <m:t>𝜆</m:t>
                            </m:r>
                          </m:den>
                        </m:f>
                      </m:e>
                    </m:box>
                    <m:box>
                      <m:boxPr>
                        <m:ctrlPr>
                          <a:rPr lang="en-US" b="0" i="1" smtClean="0">
                            <a:solidFill>
                              <a:srgbClr val="FFFF00"/>
                            </a:solidFill>
                            <a:latin typeface="Cambria Math" panose="02040503050406030204" pitchFamily="18" charset="0"/>
                          </a:rPr>
                        </m:ctrlPr>
                      </m:boxPr>
                      <m:e>
                        <m:argPr>
                          <m:argSz m:val="-1"/>
                        </m:argPr>
                        <m:f>
                          <m:fPr>
                            <m:ctrlPr>
                              <a:rPr lang="en-US" b="0" i="1" smtClean="0">
                                <a:solidFill>
                                  <a:srgbClr val="FFFF00"/>
                                </a:solidFill>
                                <a:latin typeface="Cambria Math" panose="02040503050406030204" pitchFamily="18" charset="0"/>
                              </a:rPr>
                            </m:ctrlPr>
                          </m:fPr>
                          <m:num>
                            <m:r>
                              <a:rPr lang="en-US" b="0" i="1" smtClean="0">
                                <a:solidFill>
                                  <a:srgbClr val="FFFF00"/>
                                </a:solidFill>
                                <a:latin typeface="Cambria Math" panose="02040503050406030204" pitchFamily="18" charset="0"/>
                              </a:rPr>
                              <m:t>𝐶</m:t>
                            </m:r>
                          </m:num>
                          <m:den>
                            <m:r>
                              <a:rPr lang="en-US" b="0" i="1" smtClean="0">
                                <a:solidFill>
                                  <a:srgbClr val="FFFF00"/>
                                </a:solidFill>
                                <a:latin typeface="Cambria Math" panose="02040503050406030204" pitchFamily="18" charset="0"/>
                              </a:rPr>
                              <m:t>𝑤𝐵</m:t>
                            </m:r>
                          </m:den>
                        </m:f>
                      </m:e>
                    </m:box>
                  </m:oMath>
                </a14:m>
                <a:r>
                  <a:rPr lang="en-US" dirty="0">
                    <a:solidFill>
                      <a:srgbClr val="FFFF00"/>
                    </a:solidFill>
                  </a:rPr>
                  <a:t> -- misogyny penalty deters low-talent women from running</a:t>
                </a:r>
              </a:p>
            </p:txBody>
          </p:sp>
        </mc:Choice>
        <mc:Fallback xmlns="">
          <p:sp>
            <p:nvSpPr>
              <p:cNvPr id="59" name="TextBox 58">
                <a:extLst>
                  <a:ext uri="{FF2B5EF4-FFF2-40B4-BE49-F238E27FC236}">
                    <a16:creationId xmlns:a16="http://schemas.microsoft.com/office/drawing/2014/main" id="{02D95975-BCEB-EC3F-BC24-5B9FD114D3E4}"/>
                  </a:ext>
                </a:extLst>
              </p:cNvPr>
              <p:cNvSpPr txBox="1">
                <a:spLocks noRot="1" noChangeAspect="1" noMove="1" noResize="1" noEditPoints="1" noAdjustHandles="1" noChangeArrowheads="1" noChangeShapeType="1" noTextEdit="1"/>
              </p:cNvSpPr>
              <p:nvPr/>
            </p:nvSpPr>
            <p:spPr>
              <a:xfrm>
                <a:off x="4059521" y="1644352"/>
                <a:ext cx="2739259" cy="958532"/>
              </a:xfrm>
              <a:prstGeom prst="rect">
                <a:avLst/>
              </a:prstGeom>
              <a:blipFill>
                <a:blip r:embed="rId17"/>
                <a:stretch>
                  <a:fillRect l="-2004" t="-1911" b="-9554"/>
                </a:stretch>
              </a:blipFill>
            </p:spPr>
            <p:txBody>
              <a:bodyPr/>
              <a:lstStyle/>
              <a:p>
                <a:r>
                  <a:rPr lang="en-US">
                    <a:noFill/>
                  </a:rPr>
                  <a:t> </a:t>
                </a:r>
              </a:p>
            </p:txBody>
          </p:sp>
        </mc:Fallback>
      </mc:AlternateContent>
      <p:sp>
        <p:nvSpPr>
          <p:cNvPr id="60" name="Oval 59">
            <a:extLst>
              <a:ext uri="{FF2B5EF4-FFF2-40B4-BE49-F238E27FC236}">
                <a16:creationId xmlns:a16="http://schemas.microsoft.com/office/drawing/2014/main" id="{4D074916-D590-E89F-A712-319561D4C98D}"/>
              </a:ext>
            </a:extLst>
          </p:cNvPr>
          <p:cNvSpPr/>
          <p:nvPr/>
        </p:nvSpPr>
        <p:spPr>
          <a:xfrm>
            <a:off x="8600605" y="382713"/>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0BC85562-C92B-3621-9601-251BD2F02084}"/>
              </a:ext>
            </a:extLst>
          </p:cNvPr>
          <p:cNvSpPr txBox="1"/>
          <p:nvPr/>
        </p:nvSpPr>
        <p:spPr>
          <a:xfrm rot="21139612">
            <a:off x="9642679" y="84241"/>
            <a:ext cx="10691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run!</a:t>
            </a:r>
          </a:p>
        </p:txBody>
      </p:sp>
      <p:sp>
        <p:nvSpPr>
          <p:cNvPr id="62" name="Oval 61">
            <a:extLst>
              <a:ext uri="{FF2B5EF4-FFF2-40B4-BE49-F238E27FC236}">
                <a16:creationId xmlns:a16="http://schemas.microsoft.com/office/drawing/2014/main" id="{ADACC8D8-8B56-3921-23F8-5400DBCF62E8}"/>
              </a:ext>
            </a:extLst>
          </p:cNvPr>
          <p:cNvSpPr/>
          <p:nvPr/>
        </p:nvSpPr>
        <p:spPr>
          <a:xfrm>
            <a:off x="5704195" y="393685"/>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9A4C76A0-A32A-B8B1-711D-91057B584967}"/>
              </a:ext>
            </a:extLst>
          </p:cNvPr>
          <p:cNvSpPr txBox="1"/>
          <p:nvPr/>
        </p:nvSpPr>
        <p:spPr>
          <a:xfrm rot="21139612">
            <a:off x="6743395" y="52362"/>
            <a:ext cx="1711006"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don’t run!</a:t>
            </a:r>
          </a:p>
        </p:txBody>
      </p:sp>
    </p:spTree>
    <p:extLst>
      <p:ext uri="{BB962C8B-B14F-4D97-AF65-F5344CB8AC3E}">
        <p14:creationId xmlns:p14="http://schemas.microsoft.com/office/powerpoint/2010/main" val="118084314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8D5A1-EBE0-44E4-1B7A-5358058FFCB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B957D0-5604-F38C-0473-696D94D8F7E6}"/>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8971E90C-C5F1-6D50-7778-E910BAE3B803}"/>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02DDD3F5-CF48-7FD7-B2DF-4F084A0633A4}"/>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0044AAB0-AB62-EA3C-5FC3-B6E1A09E4241}"/>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6AF1BF93-6DD9-E3FE-833A-8CC247148720}"/>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2E4332A6-7831-AC10-A613-0A7C49C8B737}"/>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22B713A4-3971-F319-E3CB-0C1CA9F6F197}"/>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D6A86BC1-B74F-DAB6-46B9-D6FD75CF36DA}"/>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FE8EB3F5-9EF5-DFAB-0E2A-E51D9AFB8E73}"/>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68819C81-180B-5E5A-7759-A690180D5804}"/>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307C074E-63CB-27D5-7ADC-996FC6D2C43A}"/>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96140C00-5E2B-A1F0-2BBA-5E3E157C22A4}"/>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E1F1A03-DFB5-4B3B-BC9F-A2D3EC6B2358}"/>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CE1F1A03-DFB5-4B3B-BC9F-A2D3EC6B2358}"/>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03CB8C78-B6FF-BE62-10AD-8ED7636EEDB3}"/>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A7049BB6-5E8F-C194-C92D-BE72C1EA5E34}"/>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2CAB6B79-8EFF-0DDB-D571-55F6449FA16A}"/>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B0AC888-709A-37B0-406D-EE0E17F4EA4C}"/>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0B0AC888-709A-37B0-406D-EE0E17F4EA4C}"/>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A878179A-6CEB-29CA-3071-526E72DD24D8}"/>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EA0FBB3-1BB3-39A2-DCAC-E6917037CD0D}"/>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2CE11FBA-2795-E3A8-8E5C-FF3DB64EF73B}"/>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461A1A06-3F09-5E61-166E-5FC4C662A8BC}"/>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F4ABC80-86E1-C0FD-CEDA-269F52B61149}"/>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EF4ABC80-86E1-C0FD-CEDA-269F52B61149}"/>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01A5A3D-84A5-18AE-0098-DE0676E656CB}"/>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301A5A3D-84A5-18AE-0098-DE0676E656CB}"/>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DE7E4E1D-130F-D068-F7AB-FCA728F71D0E}"/>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95BCA025-2E2D-3863-ABB4-61F0C8015D78}"/>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9C448B0C-0556-62E3-A13A-4655455B117A}"/>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CE33C8E-D74E-D595-1595-CCDAA6DD0C7D}"/>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4CE33C8E-D74E-D595-1595-CCDAA6DD0C7D}"/>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F69D956-070A-4B8E-1F24-A5BF6A393E75}"/>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EF69D956-070A-4B8E-1F24-A5BF6A393E75}"/>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4A9CD414-9489-4045-217D-80A8A094D226}"/>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BBD6B7A-CA03-AD23-A61D-FCAF9A1F41D3}"/>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BBBD6B7A-CA03-AD23-A61D-FCAF9A1F41D3}"/>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96EFC5A-52C4-AC0D-BDDE-7E96F4F027BC}"/>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A96EFC5A-52C4-AC0D-BDDE-7E96F4F027BC}"/>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7AD21D29-A74D-271A-A780-C32B4AA666DE}"/>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38B3078A-9570-C752-9E3A-2800F3EAEA9C}"/>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6AC50292-06D2-C723-7A41-FCF7C8CE4CC3}"/>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6AC50292-06D2-C723-7A41-FCF7C8CE4CC3}"/>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DDAEFAEE-1930-16DE-AAA9-4E4075047AA3}"/>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F3482729-9FD3-C5B3-8CC5-9C12597C3CCD}"/>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F3482729-9FD3-C5B3-8CC5-9C12597C3CCD}"/>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293990FC-E4BD-F05E-6E69-84E3EC52E54D}"/>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36A53BF5-D8E3-0C57-2B64-DC1211189F53}"/>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34D43F2-E1E2-10F5-791F-4E601E7679AC}"/>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434D43F2-E1E2-10F5-791F-4E601E7679AC}"/>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67561CDD-93F2-DEA8-AC2E-B54189581CF3}"/>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73EAA69F-8ABF-11A3-42FE-B694AE9FD0F5}"/>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73EAA69F-8ABF-11A3-42FE-B694AE9FD0F5}"/>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E65F43CA-1377-3648-AEEB-6D785EA9A28B}"/>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08D6AB99-30E2-4954-69FF-E91B140273F6}"/>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BD58BF19-97E6-C08A-E437-4BA7DFDE25A3}"/>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7BB8B2A-FDF2-5540-4120-7A2D30DDCF00}"/>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77BB8B2A-FDF2-5540-4120-7A2D30DDCF00}"/>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1890B8D-A956-3EBD-6B4A-29DA22E6A369}"/>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F1890B8D-A956-3EBD-6B4A-29DA22E6A369}"/>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AB5009FA-280C-A7D9-96AD-A9128E9DEF16}"/>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AB5009FA-280C-A7D9-96AD-A9128E9DEF16}"/>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D84962A2-8EF8-567E-3FC8-A62990B25F4F}"/>
              </a:ext>
            </a:extLst>
          </p:cNvPr>
          <p:cNvCxnSpPr>
            <a:cxnSpLocks/>
          </p:cNvCxnSpPr>
          <p:nvPr/>
        </p:nvCxnSpPr>
        <p:spPr>
          <a:xfrm>
            <a:off x="3626664" y="4245148"/>
            <a:ext cx="0" cy="8385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4EB7AEA7-2F39-EE20-F613-A845FB673E52}"/>
              </a:ext>
            </a:extLst>
          </p:cNvPr>
          <p:cNvCxnSpPr>
            <a:cxnSpLocks/>
          </p:cNvCxnSpPr>
          <p:nvPr/>
        </p:nvCxnSpPr>
        <p:spPr>
          <a:xfrm flipV="1">
            <a:off x="3636295" y="3683293"/>
            <a:ext cx="983047" cy="54437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908D2C6E-9D70-11AF-5EE2-2D874FF251A4}"/>
              </a:ext>
            </a:extLst>
          </p:cNvPr>
          <p:cNvSpPr txBox="1"/>
          <p:nvPr/>
        </p:nvSpPr>
        <p:spPr>
          <a:xfrm>
            <a:off x="4105656" y="4336618"/>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sp>
        <p:nvSpPr>
          <p:cNvPr id="66" name="Freeform: Shape 65">
            <a:extLst>
              <a:ext uri="{FF2B5EF4-FFF2-40B4-BE49-F238E27FC236}">
                <a16:creationId xmlns:a16="http://schemas.microsoft.com/office/drawing/2014/main" id="{159B1CD7-5CA7-73AF-CA0B-B7338677E1EB}"/>
              </a:ext>
            </a:extLst>
          </p:cNvPr>
          <p:cNvSpPr/>
          <p:nvPr/>
        </p:nvSpPr>
        <p:spPr>
          <a:xfrm>
            <a:off x="4628561" y="3695307"/>
            <a:ext cx="3308808" cy="499621"/>
          </a:xfrm>
          <a:custGeom>
            <a:avLst/>
            <a:gdLst>
              <a:gd name="connsiteX0" fmla="*/ 0 w 3308808"/>
              <a:gd name="connsiteY0" fmla="*/ 0 h 499621"/>
              <a:gd name="connsiteX1" fmla="*/ 669303 w 3308808"/>
              <a:gd name="connsiteY1" fmla="*/ 188536 h 499621"/>
              <a:gd name="connsiteX2" fmla="*/ 1545996 w 3308808"/>
              <a:gd name="connsiteY2" fmla="*/ 367646 h 499621"/>
              <a:gd name="connsiteX3" fmla="*/ 2686639 w 3308808"/>
              <a:gd name="connsiteY3" fmla="*/ 471340 h 499621"/>
              <a:gd name="connsiteX4" fmla="*/ 3308808 w 3308808"/>
              <a:gd name="connsiteY4" fmla="*/ 499621 h 49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8808" h="499621">
                <a:moveTo>
                  <a:pt x="0" y="0"/>
                </a:moveTo>
                <a:cubicBezTo>
                  <a:pt x="205818" y="63631"/>
                  <a:pt x="411637" y="127262"/>
                  <a:pt x="669303" y="188536"/>
                </a:cubicBezTo>
                <a:cubicBezTo>
                  <a:pt x="926969" y="249810"/>
                  <a:pt x="1209773" y="320512"/>
                  <a:pt x="1545996" y="367646"/>
                </a:cubicBezTo>
                <a:cubicBezTo>
                  <a:pt x="1882219" y="414780"/>
                  <a:pt x="2392837" y="449344"/>
                  <a:pt x="2686639" y="471340"/>
                </a:cubicBezTo>
                <a:cubicBezTo>
                  <a:pt x="2980441" y="493336"/>
                  <a:pt x="3144624" y="496478"/>
                  <a:pt x="3308808" y="499621"/>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5E136586-6C02-CBE6-5279-1DC3423B3005}"/>
              </a:ext>
            </a:extLst>
          </p:cNvPr>
          <p:cNvCxnSpPr>
            <a:cxnSpLocks/>
          </p:cNvCxnSpPr>
          <p:nvPr/>
        </p:nvCxnSpPr>
        <p:spPr>
          <a:xfrm>
            <a:off x="6127545" y="1262959"/>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21FB5C68-D522-1D1A-9E54-9820DC9F87C3}"/>
              </a:ext>
            </a:extLst>
          </p:cNvPr>
          <p:cNvSpPr txBox="1"/>
          <p:nvPr/>
        </p:nvSpPr>
        <p:spPr>
          <a:xfrm>
            <a:off x="5743371" y="496230"/>
            <a:ext cx="1216058" cy="584775"/>
          </a:xfrm>
          <a:prstGeom prst="rect">
            <a:avLst/>
          </a:prstGeom>
          <a:noFill/>
        </p:spPr>
        <p:txBody>
          <a:bodyPr wrap="square" rtlCol="0">
            <a:spAutoFit/>
          </a:bodyPr>
          <a:lstStyle/>
          <a:p>
            <a:pPr algn="ctr"/>
            <a:r>
              <a:rPr lang="en-US" sz="1600" dirty="0"/>
              <a:t>low talent women</a:t>
            </a:r>
          </a:p>
        </p:txBody>
      </p:sp>
      <p:sp>
        <p:nvSpPr>
          <p:cNvPr id="45" name="TextBox 44">
            <a:extLst>
              <a:ext uri="{FF2B5EF4-FFF2-40B4-BE49-F238E27FC236}">
                <a16:creationId xmlns:a16="http://schemas.microsoft.com/office/drawing/2014/main" id="{0784DD00-01F6-8F5F-B98B-49DC3D981EE6}"/>
              </a:ext>
            </a:extLst>
          </p:cNvPr>
          <p:cNvSpPr txBox="1"/>
          <p:nvPr/>
        </p:nvSpPr>
        <p:spPr>
          <a:xfrm>
            <a:off x="10027020" y="526082"/>
            <a:ext cx="1216058" cy="584775"/>
          </a:xfrm>
          <a:prstGeom prst="rect">
            <a:avLst/>
          </a:prstGeom>
          <a:noFill/>
        </p:spPr>
        <p:txBody>
          <a:bodyPr wrap="square" rtlCol="0">
            <a:spAutoFit/>
          </a:bodyPr>
          <a:lstStyle/>
          <a:p>
            <a:pPr algn="ctr"/>
            <a:r>
              <a:rPr lang="en-US" sz="1600" dirty="0"/>
              <a:t>high talent men</a:t>
            </a:r>
          </a:p>
        </p:txBody>
      </p:sp>
      <p:sp>
        <p:nvSpPr>
          <p:cNvPr id="53" name="TextBox 52">
            <a:extLst>
              <a:ext uri="{FF2B5EF4-FFF2-40B4-BE49-F238E27FC236}">
                <a16:creationId xmlns:a16="http://schemas.microsoft.com/office/drawing/2014/main" id="{BEC5A95E-A09F-83BB-1C2B-66905623E04C}"/>
              </a:ext>
            </a:extLst>
          </p:cNvPr>
          <p:cNvSpPr txBox="1"/>
          <p:nvPr/>
        </p:nvSpPr>
        <p:spPr>
          <a:xfrm>
            <a:off x="8626944" y="510379"/>
            <a:ext cx="1216058" cy="584775"/>
          </a:xfrm>
          <a:prstGeom prst="rect">
            <a:avLst/>
          </a:prstGeom>
          <a:noFill/>
        </p:spPr>
        <p:txBody>
          <a:bodyPr wrap="square" rtlCol="0">
            <a:spAutoFit/>
          </a:bodyPr>
          <a:lstStyle/>
          <a:p>
            <a:pPr algn="ctr"/>
            <a:r>
              <a:rPr lang="en-US" sz="1600" dirty="0"/>
              <a:t>low talent men</a:t>
            </a:r>
          </a:p>
        </p:txBody>
      </p:sp>
      <p:sp>
        <p:nvSpPr>
          <p:cNvPr id="56" name="TextBox 55">
            <a:extLst>
              <a:ext uri="{FF2B5EF4-FFF2-40B4-BE49-F238E27FC236}">
                <a16:creationId xmlns:a16="http://schemas.microsoft.com/office/drawing/2014/main" id="{3B23D8DA-178B-BC37-F404-601FB1767B19}"/>
              </a:ext>
            </a:extLst>
          </p:cNvPr>
          <p:cNvSpPr txBox="1"/>
          <p:nvPr/>
        </p:nvSpPr>
        <p:spPr>
          <a:xfrm>
            <a:off x="7076543" y="517769"/>
            <a:ext cx="1376870" cy="584775"/>
          </a:xfrm>
          <a:prstGeom prst="rect">
            <a:avLst/>
          </a:prstGeom>
          <a:noFill/>
        </p:spPr>
        <p:txBody>
          <a:bodyPr wrap="square" rtlCol="0">
            <a:spAutoFit/>
          </a:bodyPr>
          <a:lstStyle/>
          <a:p>
            <a:pPr algn="ctr"/>
            <a:r>
              <a:rPr lang="en-US" sz="1600" dirty="0"/>
              <a:t>high talent women</a:t>
            </a:r>
          </a:p>
        </p:txBody>
      </p:sp>
      <p:sp>
        <p:nvSpPr>
          <p:cNvPr id="60" name="Oval 59">
            <a:extLst>
              <a:ext uri="{FF2B5EF4-FFF2-40B4-BE49-F238E27FC236}">
                <a16:creationId xmlns:a16="http://schemas.microsoft.com/office/drawing/2014/main" id="{8A7E4894-F151-6662-0457-7A44FDEEAF17}"/>
              </a:ext>
            </a:extLst>
          </p:cNvPr>
          <p:cNvSpPr/>
          <p:nvPr/>
        </p:nvSpPr>
        <p:spPr>
          <a:xfrm>
            <a:off x="8600605" y="382713"/>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4F67AF79-CC02-AD88-C9F8-DBF1C44EAA8A}"/>
              </a:ext>
            </a:extLst>
          </p:cNvPr>
          <p:cNvSpPr txBox="1"/>
          <p:nvPr/>
        </p:nvSpPr>
        <p:spPr>
          <a:xfrm rot="21139612">
            <a:off x="9642679" y="84241"/>
            <a:ext cx="10691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run!</a:t>
            </a:r>
          </a:p>
        </p:txBody>
      </p:sp>
      <p:sp>
        <p:nvSpPr>
          <p:cNvPr id="62" name="Oval 61">
            <a:extLst>
              <a:ext uri="{FF2B5EF4-FFF2-40B4-BE49-F238E27FC236}">
                <a16:creationId xmlns:a16="http://schemas.microsoft.com/office/drawing/2014/main" id="{69A1FBB6-049D-DE45-1D63-263F00627A7E}"/>
              </a:ext>
            </a:extLst>
          </p:cNvPr>
          <p:cNvSpPr/>
          <p:nvPr/>
        </p:nvSpPr>
        <p:spPr>
          <a:xfrm>
            <a:off x="5704195" y="393685"/>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01FA0442-8ED0-2263-D942-75DCE9BA067D}"/>
              </a:ext>
            </a:extLst>
          </p:cNvPr>
          <p:cNvSpPr txBox="1"/>
          <p:nvPr/>
        </p:nvSpPr>
        <p:spPr>
          <a:xfrm rot="21139612">
            <a:off x="6743395" y="52362"/>
            <a:ext cx="1711006"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don’t run!</a:t>
            </a:r>
          </a:p>
        </p:txBody>
      </p:sp>
    </p:spTree>
    <p:extLst>
      <p:ext uri="{BB962C8B-B14F-4D97-AF65-F5344CB8AC3E}">
        <p14:creationId xmlns:p14="http://schemas.microsoft.com/office/powerpoint/2010/main" val="288104787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8908F-6F30-ECF2-DADA-42FD9FDAD9E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9D231F-60B9-B4E7-41CB-7F284DAE68DA}"/>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8C74BC7C-140F-52FA-3A99-8B12E9748A14}"/>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2880586-2D56-BBB3-DDB5-FA2A53347E21}"/>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DD6FF47E-7BAC-2F20-0D26-DB87CF823AEB}"/>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8CFFC248-374C-5899-9024-7C92278A0326}"/>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52E42F54-3EBC-05B3-2B85-5EB12E561EA2}"/>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01D7E5FE-7704-EB4B-AB0A-D6244AA92410}"/>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DDDF2BF3-5C41-DAC7-28EC-161B4C497511}"/>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F849CEB1-E422-E187-AB2C-7D702637A302}"/>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26477690-1981-C66E-BBA6-14967A2023CB}"/>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12BE41C9-F162-6007-6C42-424EDACB820C}"/>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7BBE0B9F-8FC8-0AC4-D34D-58FCB047A10E}"/>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4EAB070B-594D-FFB4-DEBE-C316E3B0800E}"/>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4EAB070B-594D-FFB4-DEBE-C316E3B0800E}"/>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13" name="TextBox 12">
            <a:extLst>
              <a:ext uri="{FF2B5EF4-FFF2-40B4-BE49-F238E27FC236}">
                <a16:creationId xmlns:a16="http://schemas.microsoft.com/office/drawing/2014/main" id="{0589DA36-B57D-359C-965C-1D7A4A3606B7}"/>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457B8A3B-B025-47B4-A420-5F38062DEA49}"/>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9419713-9079-8C7D-1BD6-590851A40A4B}"/>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DE26973-4768-3932-A3E2-87CEA12D99B4}"/>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8DE26973-4768-3932-A3E2-87CEA12D99B4}"/>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179DEF1E-F6CF-46F8-E360-3BA69DDD8741}"/>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48EC49A-C8AA-3187-3D30-33223CAE5342}"/>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BF67280D-6596-9890-8FA7-6F8EB4380ABC}"/>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393B55ED-763E-4B0E-4C76-F5D30AD2D184}"/>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75F8825-EF05-8475-C24A-C9A957D74858}"/>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B75F8825-EF05-8475-C24A-C9A957D74858}"/>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C3D4456E-1071-9D4B-30B3-018271CD71DB}"/>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C3D4456E-1071-9D4B-30B3-018271CD71DB}"/>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76E130E8-12BF-A140-DB7A-D05342CDFA7B}"/>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5D2820F5-61A8-E28C-1265-EEFB3CCA045A}"/>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A61A266-8292-D1D4-2039-1599D4A99001}"/>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494558C-554F-453A-FF55-330C4C42C15F}"/>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B494558C-554F-453A-FF55-330C4C42C15F}"/>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7E52690-2972-F9CD-A7B1-95D6B0DCA964}"/>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07E52690-2972-F9CD-A7B1-95D6B0DCA964}"/>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55C654E8-B9B3-73AD-0591-B9A768FD067C}"/>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09283DE-048B-B5EC-3B57-669A6D80C881}"/>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A09283DE-048B-B5EC-3B57-669A6D80C881}"/>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E350AB91-3FCE-FE0B-4657-00E3DFFAF23B}"/>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E350AB91-3FCE-FE0B-4657-00E3DFFAF23B}"/>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28B939FD-6362-2E20-6EC5-41B6EEA1F4E9}"/>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B6907E2-4FB0-D0F4-4264-769CF4917DD5}"/>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25BD586-D2F0-692A-0B94-D1EEB7D0CCDF}"/>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325BD586-D2F0-692A-0B94-D1EEB7D0CCDF}"/>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DC4BD600-B5A9-0D6C-BCE3-4C30A0E590FE}"/>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8DD6EFA-0A17-DCB3-EE0D-65B9C575E3F6}"/>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08DD6EFA-0A17-DCB3-EE0D-65B9C575E3F6}"/>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5D4E73C7-4FB6-1A71-F5A9-4C30ADF63BAA}"/>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84228DBD-ED47-AD30-B0AB-478D88F1EE6E}"/>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7C7D197-E21A-828E-C2B6-EC66C4987D7D}"/>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67C7D197-E21A-828E-C2B6-EC66C4987D7D}"/>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65996724-1D22-DE05-090A-33425CA1913F}"/>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7E4C9BB-BAE5-D5DA-F6FB-04AF37F7A9FC}"/>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37E4C9BB-BAE5-D5DA-F6FB-04AF37F7A9FC}"/>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E21CAE49-1B6B-E798-E50C-AEBD4DA3C5D7}"/>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E0088FC4-3640-FA39-D890-494CEDE12C49}"/>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99678562-D070-7046-9E13-B7838709BB67}"/>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A5327F4B-E28A-6F96-E0C3-6C4538671AD5}"/>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A5327F4B-E28A-6F96-E0C3-6C4538671AD5}"/>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97814A92-FA6C-E93B-7A88-CDF88E1467F1}"/>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97814A92-FA6C-E93B-7A88-CDF88E1467F1}"/>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1619D712-887E-E9AB-D17C-672B891399B3}"/>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1619D712-887E-E9AB-D17C-672B891399B3}"/>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2A2D4CC7-CF96-BF2E-5021-04AD37B2238F}"/>
              </a:ext>
            </a:extLst>
          </p:cNvPr>
          <p:cNvCxnSpPr>
            <a:cxnSpLocks/>
          </p:cNvCxnSpPr>
          <p:nvPr/>
        </p:nvCxnSpPr>
        <p:spPr>
          <a:xfrm>
            <a:off x="3626664" y="4245148"/>
            <a:ext cx="0" cy="8385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7F89137C-A49F-39B1-7F3B-19227CB885F9}"/>
              </a:ext>
            </a:extLst>
          </p:cNvPr>
          <p:cNvCxnSpPr>
            <a:cxnSpLocks/>
          </p:cNvCxnSpPr>
          <p:nvPr/>
        </p:nvCxnSpPr>
        <p:spPr>
          <a:xfrm flipV="1">
            <a:off x="3636295" y="3683293"/>
            <a:ext cx="983047" cy="54437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D2CC8DFC-E307-07AA-4371-22FAE41F4E31}"/>
              </a:ext>
            </a:extLst>
          </p:cNvPr>
          <p:cNvSpPr txBox="1"/>
          <p:nvPr/>
        </p:nvSpPr>
        <p:spPr>
          <a:xfrm>
            <a:off x="4105656" y="4336618"/>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sp>
        <p:nvSpPr>
          <p:cNvPr id="66" name="Freeform: Shape 65">
            <a:extLst>
              <a:ext uri="{FF2B5EF4-FFF2-40B4-BE49-F238E27FC236}">
                <a16:creationId xmlns:a16="http://schemas.microsoft.com/office/drawing/2014/main" id="{01C2CF53-06FD-D901-14C0-F4D417740655}"/>
              </a:ext>
            </a:extLst>
          </p:cNvPr>
          <p:cNvSpPr/>
          <p:nvPr/>
        </p:nvSpPr>
        <p:spPr>
          <a:xfrm>
            <a:off x="4628561" y="3695307"/>
            <a:ext cx="3308808" cy="499621"/>
          </a:xfrm>
          <a:custGeom>
            <a:avLst/>
            <a:gdLst>
              <a:gd name="connsiteX0" fmla="*/ 0 w 3308808"/>
              <a:gd name="connsiteY0" fmla="*/ 0 h 499621"/>
              <a:gd name="connsiteX1" fmla="*/ 669303 w 3308808"/>
              <a:gd name="connsiteY1" fmla="*/ 188536 h 499621"/>
              <a:gd name="connsiteX2" fmla="*/ 1545996 w 3308808"/>
              <a:gd name="connsiteY2" fmla="*/ 367646 h 499621"/>
              <a:gd name="connsiteX3" fmla="*/ 2686639 w 3308808"/>
              <a:gd name="connsiteY3" fmla="*/ 471340 h 499621"/>
              <a:gd name="connsiteX4" fmla="*/ 3308808 w 3308808"/>
              <a:gd name="connsiteY4" fmla="*/ 499621 h 49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8808" h="499621">
                <a:moveTo>
                  <a:pt x="0" y="0"/>
                </a:moveTo>
                <a:cubicBezTo>
                  <a:pt x="205818" y="63631"/>
                  <a:pt x="411637" y="127262"/>
                  <a:pt x="669303" y="188536"/>
                </a:cubicBezTo>
                <a:cubicBezTo>
                  <a:pt x="926969" y="249810"/>
                  <a:pt x="1209773" y="320512"/>
                  <a:pt x="1545996" y="367646"/>
                </a:cubicBezTo>
                <a:cubicBezTo>
                  <a:pt x="1882219" y="414780"/>
                  <a:pt x="2392837" y="449344"/>
                  <a:pt x="2686639" y="471340"/>
                </a:cubicBezTo>
                <a:cubicBezTo>
                  <a:pt x="2980441" y="493336"/>
                  <a:pt x="3144624" y="496478"/>
                  <a:pt x="3308808" y="499621"/>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D9CB4B88-C132-4AD0-7253-5EC4C3BFCCB0}"/>
              </a:ext>
            </a:extLst>
          </p:cNvPr>
          <p:cNvCxnSpPr>
            <a:cxnSpLocks/>
          </p:cNvCxnSpPr>
          <p:nvPr/>
        </p:nvCxnSpPr>
        <p:spPr>
          <a:xfrm>
            <a:off x="6127545" y="1262959"/>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57FD1978-04B5-3FBE-5003-0890284BBB03}"/>
              </a:ext>
            </a:extLst>
          </p:cNvPr>
          <p:cNvSpPr txBox="1"/>
          <p:nvPr/>
        </p:nvSpPr>
        <p:spPr>
          <a:xfrm>
            <a:off x="5743371" y="496230"/>
            <a:ext cx="1216058" cy="584775"/>
          </a:xfrm>
          <a:prstGeom prst="rect">
            <a:avLst/>
          </a:prstGeom>
          <a:noFill/>
        </p:spPr>
        <p:txBody>
          <a:bodyPr wrap="square" rtlCol="0">
            <a:spAutoFit/>
          </a:bodyPr>
          <a:lstStyle/>
          <a:p>
            <a:pPr algn="ctr"/>
            <a:r>
              <a:rPr lang="en-US" sz="1600" dirty="0"/>
              <a:t>low talent women</a:t>
            </a:r>
          </a:p>
        </p:txBody>
      </p:sp>
      <p:sp>
        <p:nvSpPr>
          <p:cNvPr id="45" name="TextBox 44">
            <a:extLst>
              <a:ext uri="{FF2B5EF4-FFF2-40B4-BE49-F238E27FC236}">
                <a16:creationId xmlns:a16="http://schemas.microsoft.com/office/drawing/2014/main" id="{3A1C5B64-1D19-4E72-383F-EBCC2FB27998}"/>
              </a:ext>
            </a:extLst>
          </p:cNvPr>
          <p:cNvSpPr txBox="1"/>
          <p:nvPr/>
        </p:nvSpPr>
        <p:spPr>
          <a:xfrm>
            <a:off x="10027020" y="526082"/>
            <a:ext cx="1216058" cy="584775"/>
          </a:xfrm>
          <a:prstGeom prst="rect">
            <a:avLst/>
          </a:prstGeom>
          <a:noFill/>
        </p:spPr>
        <p:txBody>
          <a:bodyPr wrap="square" rtlCol="0">
            <a:spAutoFit/>
          </a:bodyPr>
          <a:lstStyle/>
          <a:p>
            <a:pPr algn="ctr"/>
            <a:r>
              <a:rPr lang="en-US" sz="1600" dirty="0"/>
              <a:t>high talent men</a:t>
            </a:r>
          </a:p>
        </p:txBody>
      </p:sp>
      <p:sp>
        <p:nvSpPr>
          <p:cNvPr id="53" name="TextBox 52">
            <a:extLst>
              <a:ext uri="{FF2B5EF4-FFF2-40B4-BE49-F238E27FC236}">
                <a16:creationId xmlns:a16="http://schemas.microsoft.com/office/drawing/2014/main" id="{822E4A55-FE06-4490-8210-B49BBBF79040}"/>
              </a:ext>
            </a:extLst>
          </p:cNvPr>
          <p:cNvSpPr txBox="1"/>
          <p:nvPr/>
        </p:nvSpPr>
        <p:spPr>
          <a:xfrm>
            <a:off x="8626944" y="510379"/>
            <a:ext cx="1216058" cy="584775"/>
          </a:xfrm>
          <a:prstGeom prst="rect">
            <a:avLst/>
          </a:prstGeom>
          <a:noFill/>
        </p:spPr>
        <p:txBody>
          <a:bodyPr wrap="square" rtlCol="0">
            <a:spAutoFit/>
          </a:bodyPr>
          <a:lstStyle/>
          <a:p>
            <a:pPr algn="ctr"/>
            <a:r>
              <a:rPr lang="en-US" sz="1600" dirty="0"/>
              <a:t>low talent men</a:t>
            </a:r>
          </a:p>
        </p:txBody>
      </p:sp>
      <p:sp>
        <p:nvSpPr>
          <p:cNvPr id="56" name="TextBox 55">
            <a:extLst>
              <a:ext uri="{FF2B5EF4-FFF2-40B4-BE49-F238E27FC236}">
                <a16:creationId xmlns:a16="http://schemas.microsoft.com/office/drawing/2014/main" id="{9D124D75-E075-CB49-F508-7F62366A1EFD}"/>
              </a:ext>
            </a:extLst>
          </p:cNvPr>
          <p:cNvSpPr txBox="1"/>
          <p:nvPr/>
        </p:nvSpPr>
        <p:spPr>
          <a:xfrm>
            <a:off x="7076543" y="517769"/>
            <a:ext cx="1376870" cy="584775"/>
          </a:xfrm>
          <a:prstGeom prst="rect">
            <a:avLst/>
          </a:prstGeom>
          <a:noFill/>
        </p:spPr>
        <p:txBody>
          <a:bodyPr wrap="square" rtlCol="0">
            <a:spAutoFit/>
          </a:bodyPr>
          <a:lstStyle/>
          <a:p>
            <a:pPr algn="ctr"/>
            <a:r>
              <a:rPr lang="en-US" sz="1600" dirty="0"/>
              <a:t>high talent women</a:t>
            </a:r>
          </a:p>
        </p:txBody>
      </p:sp>
      <p:sp>
        <p:nvSpPr>
          <p:cNvPr id="60" name="Oval 59">
            <a:extLst>
              <a:ext uri="{FF2B5EF4-FFF2-40B4-BE49-F238E27FC236}">
                <a16:creationId xmlns:a16="http://schemas.microsoft.com/office/drawing/2014/main" id="{6C007733-314C-4B53-0074-828146FA6C2F}"/>
              </a:ext>
            </a:extLst>
          </p:cNvPr>
          <p:cNvSpPr/>
          <p:nvPr/>
        </p:nvSpPr>
        <p:spPr>
          <a:xfrm>
            <a:off x="8600605" y="382713"/>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2D80C928-4432-9CDA-85E5-5E4D2868C4A5}"/>
              </a:ext>
            </a:extLst>
          </p:cNvPr>
          <p:cNvSpPr txBox="1"/>
          <p:nvPr/>
        </p:nvSpPr>
        <p:spPr>
          <a:xfrm rot="21139612">
            <a:off x="9642679" y="84241"/>
            <a:ext cx="10691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run!</a:t>
            </a:r>
          </a:p>
        </p:txBody>
      </p:sp>
      <p:sp>
        <p:nvSpPr>
          <p:cNvPr id="62" name="Oval 61">
            <a:extLst>
              <a:ext uri="{FF2B5EF4-FFF2-40B4-BE49-F238E27FC236}">
                <a16:creationId xmlns:a16="http://schemas.microsoft.com/office/drawing/2014/main" id="{572E27DF-29DF-F377-2FE0-F52B53C6900D}"/>
              </a:ext>
            </a:extLst>
          </p:cNvPr>
          <p:cNvSpPr/>
          <p:nvPr/>
        </p:nvSpPr>
        <p:spPr>
          <a:xfrm>
            <a:off x="5704195" y="393685"/>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338FF123-1449-A4BB-F0D2-91DAE16A672D}"/>
              </a:ext>
            </a:extLst>
          </p:cNvPr>
          <p:cNvSpPr txBox="1"/>
          <p:nvPr/>
        </p:nvSpPr>
        <p:spPr>
          <a:xfrm rot="21139612">
            <a:off x="6743395" y="52362"/>
            <a:ext cx="1711006"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don’t run!</a:t>
            </a:r>
          </a:p>
        </p:txBody>
      </p:sp>
      <p:sp>
        <p:nvSpPr>
          <p:cNvPr id="39" name="TextBox 38">
            <a:extLst>
              <a:ext uri="{FF2B5EF4-FFF2-40B4-BE49-F238E27FC236}">
                <a16:creationId xmlns:a16="http://schemas.microsoft.com/office/drawing/2014/main" id="{617B0932-1918-0354-62BB-E9C1AC1C2AA4}"/>
              </a:ext>
            </a:extLst>
          </p:cNvPr>
          <p:cNvSpPr txBox="1"/>
          <p:nvPr/>
        </p:nvSpPr>
        <p:spPr>
          <a:xfrm rot="20727599">
            <a:off x="568635" y="1462250"/>
            <a:ext cx="3979173" cy="923330"/>
          </a:xfrm>
          <a:prstGeom prst="rect">
            <a:avLst/>
          </a:prstGeom>
          <a:solidFill>
            <a:srgbClr val="FFFF00"/>
          </a:solidFill>
        </p:spPr>
        <p:txBody>
          <a:bodyPr wrap="square" rtlCol="0">
            <a:spAutoFit/>
          </a:bodyPr>
          <a:lstStyle/>
          <a:p>
            <a:r>
              <a:rPr lang="en-US" dirty="0">
                <a:solidFill>
                  <a:schemeClr val="bg1"/>
                </a:solidFill>
              </a:rPr>
              <a:t>but </a:t>
            </a:r>
            <a:r>
              <a:rPr lang="en-US" dirty="0" err="1">
                <a:solidFill>
                  <a:schemeClr val="bg1"/>
                </a:solidFill>
              </a:rPr>
              <a:t>wait..we’re</a:t>
            </a:r>
            <a:r>
              <a:rPr lang="en-US" dirty="0">
                <a:solidFill>
                  <a:schemeClr val="bg1"/>
                </a:solidFill>
              </a:rPr>
              <a:t> not done!!!</a:t>
            </a:r>
          </a:p>
          <a:p>
            <a:endParaRPr lang="en-US" dirty="0">
              <a:solidFill>
                <a:schemeClr val="bg1"/>
              </a:solidFill>
            </a:endParaRPr>
          </a:p>
          <a:p>
            <a:r>
              <a:rPr lang="en-US" dirty="0">
                <a:solidFill>
                  <a:schemeClr val="bg1"/>
                </a:solidFill>
              </a:rPr>
              <a:t>What do high-talent women do???</a:t>
            </a:r>
          </a:p>
        </p:txBody>
      </p:sp>
      <p:sp>
        <p:nvSpPr>
          <p:cNvPr id="58" name="Oval 57">
            <a:extLst>
              <a:ext uri="{FF2B5EF4-FFF2-40B4-BE49-F238E27FC236}">
                <a16:creationId xmlns:a16="http://schemas.microsoft.com/office/drawing/2014/main" id="{BCB46957-DA20-F759-A835-00AE8B62152D}"/>
              </a:ext>
            </a:extLst>
          </p:cNvPr>
          <p:cNvSpPr/>
          <p:nvPr/>
        </p:nvSpPr>
        <p:spPr>
          <a:xfrm>
            <a:off x="7158713" y="480719"/>
            <a:ext cx="1268736" cy="818339"/>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7335529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DC976-21FF-91F1-CD44-6DE7B99BA38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0DD18A5-AA75-14D8-0FF6-B00E338B4B56}"/>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400E1A19-6924-14AC-9E96-E4EC6938DA01}"/>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47478D45-51FC-57CD-A9D6-DC6168BDB91D}"/>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34A562BF-BDF3-2A74-3B96-827A9E201115}"/>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D4AD2E60-2263-981C-C10C-866558BD6BD8}"/>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F29B288F-2801-0FCA-B83C-6EA675E2366C}"/>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52912A45-FF22-68EA-3FBF-7C4BA51C3167}"/>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91E5593F-C4E1-8CD7-F1EF-75949659EDE7}"/>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AA6530B3-EBB7-AD01-DAE0-DDE9915B991D}"/>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0E7CA2BD-BF8B-8783-0F8F-F6C2215DA3DD}"/>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A4127456-537C-E0A5-0343-3EEEDBF1DEB4}"/>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7B4926DB-7454-8767-4F94-01B6449E73EB}"/>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3" name="TextBox 12">
            <a:extLst>
              <a:ext uri="{FF2B5EF4-FFF2-40B4-BE49-F238E27FC236}">
                <a16:creationId xmlns:a16="http://schemas.microsoft.com/office/drawing/2014/main" id="{E45E0FD4-6BCF-9923-F42E-1B6B9BA1670B}"/>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1A41FE57-17FE-4ECB-F432-CB663BDE523F}"/>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F0058713-9277-1D9F-6B88-2823F7772343}"/>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1E74752-AF89-8CF0-960E-16153875E54B}"/>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01E74752-AF89-8CF0-960E-16153875E54B}"/>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2"/>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0DC4E28C-86C3-F509-82A8-E285F6DE2629}"/>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5C7D695-CE93-785F-58DF-68F0649789BF}"/>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D6986EC8-31B4-15E1-171D-30A17DD8DE15}"/>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309052BF-995D-C99B-E67A-5DD74846076E}"/>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C703280-6236-227D-6054-631E11427CE2}"/>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FC703280-6236-227D-6054-631E11427CE2}"/>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3"/>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696FDD7-C2FE-311A-34A4-85AFD1700CC6}"/>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2696FDD7-C2FE-311A-34A4-85AFD1700CC6}"/>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4"/>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55C4E0BB-2020-FFD8-EB9A-B97EFC7A92E4}"/>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E6B4FAF7-D5A4-ECE2-F90E-A13A92E97605}"/>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E5E53285-9CBF-C4E3-5EEE-CC33F6B327DB}"/>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DD20196E-FDFF-2211-B6BB-AB546244B08D}"/>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DD20196E-FDFF-2211-B6BB-AB546244B08D}"/>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5"/>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107BFE8-666A-9F9B-4B7D-CA62612CC1EE}"/>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6107BFE8-666A-9F9B-4B7D-CA62612CC1EE}"/>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6"/>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8302882D-A6F0-CB9D-6304-6AA34441015F}"/>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4AF3781-5BDA-EEA1-D7B4-A8686E43AD2C}"/>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F4AF3781-5BDA-EEA1-D7B4-A8686E43AD2C}"/>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3E718C7-2B71-EB04-3D52-8AFDA9953024}"/>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83E718C7-2B71-EB04-3D52-8AFDA9953024}"/>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8"/>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C3CC359A-FCE4-B744-DA7B-86E3403872AE}"/>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88430B89-9FF7-DE3C-11D8-DA4D8FA6966D}"/>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D06E8D8-50DD-90B3-F24D-0E5DB9DD7A14}"/>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7D06E8D8-50DD-90B3-F24D-0E5DB9DD7A14}"/>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9"/>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0133E539-B3AD-C114-0163-9E2D295C384C}"/>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227B54A-A425-2B34-905C-59EB2C9A9D65}"/>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7227B54A-A425-2B34-905C-59EB2C9A9D65}"/>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0"/>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5C56E5AB-F52E-EFA5-66A2-BFCD2E4FC6DB}"/>
              </a:ext>
            </a:extLst>
          </p:cNvPr>
          <p:cNvCxnSpPr>
            <a:cxnSpLocks/>
          </p:cNvCxnSpPr>
          <p:nvPr/>
        </p:nvCxnSpPr>
        <p:spPr>
          <a:xfrm flipV="1">
            <a:off x="1959444" y="1393717"/>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A547D347-9673-63B0-E8E4-2C0A772695C3}"/>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8127404-7069-BC2A-7348-EB6A565A7C14}"/>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48127404-7069-BC2A-7348-EB6A565A7C14}"/>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1"/>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0F9E77DE-CF7C-FDDF-CABE-E5E43057567E}"/>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78CCDD0B-D041-786D-2476-6E502A528276}"/>
                  </a:ext>
                </a:extLst>
              </p:cNvPr>
              <p:cNvSpPr txBox="1"/>
              <p:nvPr/>
            </p:nvSpPr>
            <p:spPr>
              <a:xfrm>
                <a:off x="1085905" y="4029248"/>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78CCDD0B-D041-786D-2476-6E502A528276}"/>
                  </a:ext>
                </a:extLst>
              </p:cNvPr>
              <p:cNvSpPr txBox="1">
                <a:spLocks noRot="1" noChangeAspect="1" noMove="1" noResize="1" noEditPoints="1" noAdjustHandles="1" noChangeArrowheads="1" noChangeShapeType="1" noTextEdit="1"/>
              </p:cNvSpPr>
              <p:nvPr/>
            </p:nvSpPr>
            <p:spPr>
              <a:xfrm>
                <a:off x="1085905" y="4029248"/>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138D53D5-A662-A0AB-AD05-A576D4BED0B9}"/>
              </a:ext>
            </a:extLst>
          </p:cNvPr>
          <p:cNvCxnSpPr/>
          <p:nvPr/>
        </p:nvCxnSpPr>
        <p:spPr>
          <a:xfrm>
            <a:off x="1677614" y="4265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233ECD21-2225-476B-B04F-7DCA06615D85}"/>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0E158BA4-9C58-7CCF-C478-4505B166892F}"/>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FFFBCF4-9700-049F-24D6-356D1F716E0C}"/>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BFFFBCF4-9700-049F-24D6-356D1F716E0C}"/>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BA49429-EF8C-1EF6-059A-4ED654BDDA1B}"/>
                  </a:ext>
                </a:extLst>
              </p:cNvPr>
              <p:cNvSpPr txBox="1"/>
              <p:nvPr/>
            </p:nvSpPr>
            <p:spPr>
              <a:xfrm>
                <a:off x="7829431" y="4000561"/>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FBA49429-EF8C-1EF6-059A-4ED654BDDA1B}"/>
                  </a:ext>
                </a:extLst>
              </p:cNvPr>
              <p:cNvSpPr txBox="1">
                <a:spLocks noRot="1" noChangeAspect="1" noMove="1" noResize="1" noEditPoints="1" noAdjustHandles="1" noChangeArrowheads="1" noChangeShapeType="1" noTextEdit="1"/>
              </p:cNvSpPr>
              <p:nvPr/>
            </p:nvSpPr>
            <p:spPr>
              <a:xfrm>
                <a:off x="7829431" y="4000561"/>
                <a:ext cx="1181161" cy="38632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7A5A4297-EC8B-64F4-1546-07C5B0FB036E}"/>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7A5A4297-EC8B-64F4-1546-07C5B0FB036E}"/>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5"/>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2F330854-EEA2-523B-DB14-3110A5B4EE94}"/>
              </a:ext>
            </a:extLst>
          </p:cNvPr>
          <p:cNvCxnSpPr>
            <a:cxnSpLocks/>
          </p:cNvCxnSpPr>
          <p:nvPr/>
        </p:nvCxnSpPr>
        <p:spPr>
          <a:xfrm>
            <a:off x="3626664" y="4245148"/>
            <a:ext cx="0" cy="8385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7239B00F-402C-8976-EEDA-1B351B22129B}"/>
              </a:ext>
            </a:extLst>
          </p:cNvPr>
          <p:cNvCxnSpPr>
            <a:cxnSpLocks/>
          </p:cNvCxnSpPr>
          <p:nvPr/>
        </p:nvCxnSpPr>
        <p:spPr>
          <a:xfrm flipV="1">
            <a:off x="3636295" y="3683293"/>
            <a:ext cx="983047" cy="54437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CD482997-694C-498B-8EBC-18752F34EB6E}"/>
              </a:ext>
            </a:extLst>
          </p:cNvPr>
          <p:cNvSpPr txBox="1"/>
          <p:nvPr/>
        </p:nvSpPr>
        <p:spPr>
          <a:xfrm>
            <a:off x="4105656" y="4336618"/>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sp>
        <p:nvSpPr>
          <p:cNvPr id="66" name="Freeform: Shape 65">
            <a:extLst>
              <a:ext uri="{FF2B5EF4-FFF2-40B4-BE49-F238E27FC236}">
                <a16:creationId xmlns:a16="http://schemas.microsoft.com/office/drawing/2014/main" id="{E6ACC73C-85B0-0645-4447-534826D3BAF1}"/>
              </a:ext>
            </a:extLst>
          </p:cNvPr>
          <p:cNvSpPr/>
          <p:nvPr/>
        </p:nvSpPr>
        <p:spPr>
          <a:xfrm>
            <a:off x="4628561" y="3695307"/>
            <a:ext cx="3308808" cy="499621"/>
          </a:xfrm>
          <a:custGeom>
            <a:avLst/>
            <a:gdLst>
              <a:gd name="connsiteX0" fmla="*/ 0 w 3308808"/>
              <a:gd name="connsiteY0" fmla="*/ 0 h 499621"/>
              <a:gd name="connsiteX1" fmla="*/ 669303 w 3308808"/>
              <a:gd name="connsiteY1" fmla="*/ 188536 h 499621"/>
              <a:gd name="connsiteX2" fmla="*/ 1545996 w 3308808"/>
              <a:gd name="connsiteY2" fmla="*/ 367646 h 499621"/>
              <a:gd name="connsiteX3" fmla="*/ 2686639 w 3308808"/>
              <a:gd name="connsiteY3" fmla="*/ 471340 h 499621"/>
              <a:gd name="connsiteX4" fmla="*/ 3308808 w 3308808"/>
              <a:gd name="connsiteY4" fmla="*/ 499621 h 49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8808" h="499621">
                <a:moveTo>
                  <a:pt x="0" y="0"/>
                </a:moveTo>
                <a:cubicBezTo>
                  <a:pt x="205818" y="63631"/>
                  <a:pt x="411637" y="127262"/>
                  <a:pt x="669303" y="188536"/>
                </a:cubicBezTo>
                <a:cubicBezTo>
                  <a:pt x="926969" y="249810"/>
                  <a:pt x="1209773" y="320512"/>
                  <a:pt x="1545996" y="367646"/>
                </a:cubicBezTo>
                <a:cubicBezTo>
                  <a:pt x="1882219" y="414780"/>
                  <a:pt x="2392837" y="449344"/>
                  <a:pt x="2686639" y="471340"/>
                </a:cubicBezTo>
                <a:cubicBezTo>
                  <a:pt x="2980441" y="493336"/>
                  <a:pt x="3144624" y="496478"/>
                  <a:pt x="3308808" y="499621"/>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700E9F43-A784-77FB-F85E-49139151845B}"/>
              </a:ext>
            </a:extLst>
          </p:cNvPr>
          <p:cNvCxnSpPr>
            <a:cxnSpLocks/>
          </p:cNvCxnSpPr>
          <p:nvPr/>
        </p:nvCxnSpPr>
        <p:spPr>
          <a:xfrm>
            <a:off x="6127545" y="1262959"/>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AEF2577D-CC57-A964-3D8F-F43EC5084C3A}"/>
              </a:ext>
            </a:extLst>
          </p:cNvPr>
          <p:cNvSpPr txBox="1"/>
          <p:nvPr/>
        </p:nvSpPr>
        <p:spPr>
          <a:xfrm>
            <a:off x="5743371" y="496230"/>
            <a:ext cx="1216058" cy="584775"/>
          </a:xfrm>
          <a:prstGeom prst="rect">
            <a:avLst/>
          </a:prstGeom>
          <a:noFill/>
        </p:spPr>
        <p:txBody>
          <a:bodyPr wrap="square" rtlCol="0">
            <a:spAutoFit/>
          </a:bodyPr>
          <a:lstStyle/>
          <a:p>
            <a:pPr algn="ctr"/>
            <a:r>
              <a:rPr lang="en-US" sz="1600" dirty="0"/>
              <a:t>low talent women</a:t>
            </a:r>
          </a:p>
        </p:txBody>
      </p:sp>
      <p:sp>
        <p:nvSpPr>
          <p:cNvPr id="45" name="TextBox 44">
            <a:extLst>
              <a:ext uri="{FF2B5EF4-FFF2-40B4-BE49-F238E27FC236}">
                <a16:creationId xmlns:a16="http://schemas.microsoft.com/office/drawing/2014/main" id="{B08443F9-A04A-7767-F60A-4D0CD93FFCDC}"/>
              </a:ext>
            </a:extLst>
          </p:cNvPr>
          <p:cNvSpPr txBox="1"/>
          <p:nvPr/>
        </p:nvSpPr>
        <p:spPr>
          <a:xfrm>
            <a:off x="10027020" y="526082"/>
            <a:ext cx="1216058" cy="584775"/>
          </a:xfrm>
          <a:prstGeom prst="rect">
            <a:avLst/>
          </a:prstGeom>
          <a:noFill/>
        </p:spPr>
        <p:txBody>
          <a:bodyPr wrap="square" rtlCol="0">
            <a:spAutoFit/>
          </a:bodyPr>
          <a:lstStyle/>
          <a:p>
            <a:pPr algn="ctr"/>
            <a:r>
              <a:rPr lang="en-US" sz="1600" dirty="0"/>
              <a:t>high talent men</a:t>
            </a:r>
          </a:p>
        </p:txBody>
      </p:sp>
      <p:sp>
        <p:nvSpPr>
          <p:cNvPr id="53" name="TextBox 52">
            <a:extLst>
              <a:ext uri="{FF2B5EF4-FFF2-40B4-BE49-F238E27FC236}">
                <a16:creationId xmlns:a16="http://schemas.microsoft.com/office/drawing/2014/main" id="{A80F4E6E-1AA8-7980-1791-0B4AE651384C}"/>
              </a:ext>
            </a:extLst>
          </p:cNvPr>
          <p:cNvSpPr txBox="1"/>
          <p:nvPr/>
        </p:nvSpPr>
        <p:spPr>
          <a:xfrm>
            <a:off x="8626944" y="510379"/>
            <a:ext cx="1216058" cy="584775"/>
          </a:xfrm>
          <a:prstGeom prst="rect">
            <a:avLst/>
          </a:prstGeom>
          <a:noFill/>
        </p:spPr>
        <p:txBody>
          <a:bodyPr wrap="square" rtlCol="0">
            <a:spAutoFit/>
          </a:bodyPr>
          <a:lstStyle/>
          <a:p>
            <a:pPr algn="ctr"/>
            <a:r>
              <a:rPr lang="en-US" sz="1600" dirty="0"/>
              <a:t>low talent men</a:t>
            </a:r>
          </a:p>
        </p:txBody>
      </p:sp>
      <p:sp>
        <p:nvSpPr>
          <p:cNvPr id="56" name="TextBox 55">
            <a:extLst>
              <a:ext uri="{FF2B5EF4-FFF2-40B4-BE49-F238E27FC236}">
                <a16:creationId xmlns:a16="http://schemas.microsoft.com/office/drawing/2014/main" id="{EC17C45E-01ED-7B21-6319-FEF6EBA1446E}"/>
              </a:ext>
            </a:extLst>
          </p:cNvPr>
          <p:cNvSpPr txBox="1"/>
          <p:nvPr/>
        </p:nvSpPr>
        <p:spPr>
          <a:xfrm>
            <a:off x="7076543" y="517769"/>
            <a:ext cx="1376870" cy="584775"/>
          </a:xfrm>
          <a:prstGeom prst="rect">
            <a:avLst/>
          </a:prstGeom>
          <a:noFill/>
        </p:spPr>
        <p:txBody>
          <a:bodyPr wrap="square" rtlCol="0">
            <a:spAutoFit/>
          </a:bodyPr>
          <a:lstStyle/>
          <a:p>
            <a:pPr algn="ctr"/>
            <a:r>
              <a:rPr lang="en-US" sz="1600" dirty="0"/>
              <a:t>high talent women</a:t>
            </a:r>
          </a:p>
        </p:txBody>
      </p:sp>
      <p:sp>
        <p:nvSpPr>
          <p:cNvPr id="60" name="Oval 59">
            <a:extLst>
              <a:ext uri="{FF2B5EF4-FFF2-40B4-BE49-F238E27FC236}">
                <a16:creationId xmlns:a16="http://schemas.microsoft.com/office/drawing/2014/main" id="{8B175A2C-BF50-7479-9E09-7735C7A5F371}"/>
              </a:ext>
            </a:extLst>
          </p:cNvPr>
          <p:cNvSpPr/>
          <p:nvPr/>
        </p:nvSpPr>
        <p:spPr>
          <a:xfrm>
            <a:off x="8600605" y="382713"/>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484CF30F-1159-8421-0FB7-9CBE05CF7E06}"/>
              </a:ext>
            </a:extLst>
          </p:cNvPr>
          <p:cNvSpPr txBox="1"/>
          <p:nvPr/>
        </p:nvSpPr>
        <p:spPr>
          <a:xfrm rot="21139612">
            <a:off x="9642679" y="84241"/>
            <a:ext cx="10691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run!</a:t>
            </a:r>
          </a:p>
        </p:txBody>
      </p:sp>
      <p:sp>
        <p:nvSpPr>
          <p:cNvPr id="62" name="Oval 61">
            <a:extLst>
              <a:ext uri="{FF2B5EF4-FFF2-40B4-BE49-F238E27FC236}">
                <a16:creationId xmlns:a16="http://schemas.microsoft.com/office/drawing/2014/main" id="{2E6CD056-625E-E817-9E79-F57DE2D2B04A}"/>
              </a:ext>
            </a:extLst>
          </p:cNvPr>
          <p:cNvSpPr/>
          <p:nvPr/>
        </p:nvSpPr>
        <p:spPr>
          <a:xfrm>
            <a:off x="5704195" y="393685"/>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DC89805C-2A46-9726-9854-81557CA56D0E}"/>
              </a:ext>
            </a:extLst>
          </p:cNvPr>
          <p:cNvSpPr txBox="1"/>
          <p:nvPr/>
        </p:nvSpPr>
        <p:spPr>
          <a:xfrm rot="21139612">
            <a:off x="6743395" y="52362"/>
            <a:ext cx="1711006"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don’t run!</a:t>
            </a:r>
          </a:p>
        </p:txBody>
      </p:sp>
      <p:sp>
        <p:nvSpPr>
          <p:cNvPr id="39" name="TextBox 38">
            <a:extLst>
              <a:ext uri="{FF2B5EF4-FFF2-40B4-BE49-F238E27FC236}">
                <a16:creationId xmlns:a16="http://schemas.microsoft.com/office/drawing/2014/main" id="{5E011A16-2DCB-52E2-4327-2BF905A76792}"/>
              </a:ext>
            </a:extLst>
          </p:cNvPr>
          <p:cNvSpPr txBox="1"/>
          <p:nvPr/>
        </p:nvSpPr>
        <p:spPr>
          <a:xfrm rot="20727599">
            <a:off x="568635" y="1462250"/>
            <a:ext cx="3979173" cy="923330"/>
          </a:xfrm>
          <a:prstGeom prst="rect">
            <a:avLst/>
          </a:prstGeom>
          <a:solidFill>
            <a:srgbClr val="FFFF00"/>
          </a:solidFill>
        </p:spPr>
        <p:txBody>
          <a:bodyPr wrap="square" rtlCol="0">
            <a:spAutoFit/>
          </a:bodyPr>
          <a:lstStyle/>
          <a:p>
            <a:r>
              <a:rPr lang="en-US" dirty="0">
                <a:solidFill>
                  <a:schemeClr val="bg1"/>
                </a:solidFill>
              </a:rPr>
              <a:t>but </a:t>
            </a:r>
            <a:r>
              <a:rPr lang="en-US" dirty="0" err="1">
                <a:solidFill>
                  <a:schemeClr val="bg1"/>
                </a:solidFill>
              </a:rPr>
              <a:t>wait..we’re</a:t>
            </a:r>
            <a:r>
              <a:rPr lang="en-US" dirty="0">
                <a:solidFill>
                  <a:schemeClr val="bg1"/>
                </a:solidFill>
              </a:rPr>
              <a:t> not done!!!</a:t>
            </a:r>
          </a:p>
          <a:p>
            <a:endParaRPr lang="en-US" dirty="0">
              <a:solidFill>
                <a:schemeClr val="bg1"/>
              </a:solidFill>
            </a:endParaRPr>
          </a:p>
          <a:p>
            <a:r>
              <a:rPr lang="en-US" dirty="0">
                <a:solidFill>
                  <a:schemeClr val="bg1"/>
                </a:solidFill>
              </a:rPr>
              <a:t>What do high-talent women do???</a:t>
            </a:r>
          </a:p>
        </p:txBody>
      </p:sp>
      <p:sp>
        <p:nvSpPr>
          <p:cNvPr id="58" name="Oval 57">
            <a:extLst>
              <a:ext uri="{FF2B5EF4-FFF2-40B4-BE49-F238E27FC236}">
                <a16:creationId xmlns:a16="http://schemas.microsoft.com/office/drawing/2014/main" id="{38DB2FC9-7201-6887-9726-E1A4CB3BA93C}"/>
              </a:ext>
            </a:extLst>
          </p:cNvPr>
          <p:cNvSpPr/>
          <p:nvPr/>
        </p:nvSpPr>
        <p:spPr>
          <a:xfrm>
            <a:off x="7158713" y="480719"/>
            <a:ext cx="1268736" cy="818339"/>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2F2FB495-294E-2F25-9B31-B7F282F24EBF}"/>
                  </a:ext>
                </a:extLst>
              </p:cNvPr>
              <p:cNvSpPr txBox="1"/>
              <p:nvPr/>
            </p:nvSpPr>
            <p:spPr>
              <a:xfrm>
                <a:off x="7875076" y="1666415"/>
                <a:ext cx="3595984" cy="1563057"/>
              </a:xfrm>
              <a:prstGeom prst="rect">
                <a:avLst/>
              </a:prstGeom>
              <a:noFill/>
              <a:ln w="38100">
                <a:solidFill>
                  <a:srgbClr val="FFFF00"/>
                </a:solidFill>
              </a:ln>
            </p:spPr>
            <p:txBody>
              <a:bodyPr wrap="square" rtlCol="0">
                <a:spAutoFit/>
              </a:bodyPr>
              <a:lstStyle/>
              <a:p>
                <a:r>
                  <a:rPr lang="en-US" dirty="0"/>
                  <a:t>A high-talent women prefers to run instead of not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a:p>
                <a:r>
                  <a:rPr lang="en-US" dirty="0"/>
                  <a:t>or equivalently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e>
                      </m:box>
                    </m:oMath>
                  </m:oMathPara>
                </a14:m>
                <a:endParaRPr lang="en-US" dirty="0"/>
              </a:p>
            </p:txBody>
          </p:sp>
        </mc:Choice>
        <mc:Fallback xmlns="">
          <p:sp>
            <p:nvSpPr>
              <p:cNvPr id="59" name="TextBox 58">
                <a:extLst>
                  <a:ext uri="{FF2B5EF4-FFF2-40B4-BE49-F238E27FC236}">
                    <a16:creationId xmlns:a16="http://schemas.microsoft.com/office/drawing/2014/main" id="{2F2FB495-294E-2F25-9B31-B7F282F24EBF}"/>
                  </a:ext>
                </a:extLst>
              </p:cNvPr>
              <p:cNvSpPr txBox="1">
                <a:spLocks noRot="1" noChangeAspect="1" noMove="1" noResize="1" noEditPoints="1" noAdjustHandles="1" noChangeArrowheads="1" noChangeShapeType="1" noTextEdit="1"/>
              </p:cNvSpPr>
              <p:nvPr/>
            </p:nvSpPr>
            <p:spPr>
              <a:xfrm>
                <a:off x="7875076" y="1666415"/>
                <a:ext cx="3595984" cy="1563057"/>
              </a:xfrm>
              <a:prstGeom prst="rect">
                <a:avLst/>
              </a:prstGeom>
              <a:blipFill>
                <a:blip r:embed="rId16"/>
                <a:stretch>
                  <a:fillRect l="-1007" t="-380" r="-1342"/>
                </a:stretch>
              </a:blipFill>
              <a:ln w="38100">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082277ED-0866-A236-0CA2-59F82D80061C}"/>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082277ED-0866-A236-0CA2-59F82D80061C}"/>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17"/>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17"/>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17"/>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17"/>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17"/>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17"/>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17"/>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17"/>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64" name="Rectangle 63">
            <a:extLst>
              <a:ext uri="{FF2B5EF4-FFF2-40B4-BE49-F238E27FC236}">
                <a16:creationId xmlns:a16="http://schemas.microsoft.com/office/drawing/2014/main" id="{6CEDA162-9517-425F-1D59-2F31259F5E9D}"/>
              </a:ext>
            </a:extLst>
          </p:cNvPr>
          <p:cNvSpPr/>
          <p:nvPr/>
        </p:nvSpPr>
        <p:spPr>
          <a:xfrm>
            <a:off x="7937369" y="5171896"/>
            <a:ext cx="3973401" cy="860366"/>
          </a:xfrm>
          <a:prstGeom prst="rect">
            <a:avLst/>
          </a:prstGeom>
          <a:noFill/>
          <a:ln w="57150">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554087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FBCA2-E1F4-CC72-2F31-830B680CABD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F155E657-106B-9751-3074-0A4A617F3BD2}"/>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F155E657-106B-9751-3074-0A4A617F3BD2}"/>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3" name="TextBox 2">
            <a:extLst>
              <a:ext uri="{FF2B5EF4-FFF2-40B4-BE49-F238E27FC236}">
                <a16:creationId xmlns:a16="http://schemas.microsoft.com/office/drawing/2014/main" id="{5A957B26-1210-7E4F-A6FD-C1C652F173AC}"/>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61D78418-5024-F188-6B10-0B072EDFFB2B}"/>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5D4BA3C2-97B9-8163-A68A-DA39D10EB0CC}"/>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3E452CD5-9E34-441C-EFDA-BD9623E6048B}"/>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0A7A1B38-9791-4CDC-472F-EDF9B97D7277}"/>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3D39960B-6BE7-4583-B160-F24785764A8D}"/>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CE933E54-0073-97E2-F2E9-5F46E32391E9}"/>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9DEDBA94-F4D2-EFC6-DF20-BC928CDFE08F}"/>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22770772-5AF7-24EF-F7AB-D91B3E5D78DB}"/>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5F23AF7E-106E-A718-DB44-2A0774B030AC}"/>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6389E94C-A98D-9797-8C68-5C380E5E85A2}"/>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4392D471-C3EA-4657-D795-012856C68D7C}"/>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3" name="TextBox 12">
            <a:extLst>
              <a:ext uri="{FF2B5EF4-FFF2-40B4-BE49-F238E27FC236}">
                <a16:creationId xmlns:a16="http://schemas.microsoft.com/office/drawing/2014/main" id="{4EBC8AFC-E86C-282B-A19E-B89AE7773372}"/>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2729F0A3-65DE-4004-3A49-CCE9C26222C2}"/>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55375A31-9303-4629-99BE-8B2978037EB5}"/>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71F7522-B4F4-04FA-0A4A-DEB159846279}"/>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971F7522-B4F4-04FA-0A4A-DEB159846279}"/>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5C5BF1D8-37B3-F592-64B7-90962B635681}"/>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8EFF0A5-C758-B2B7-427A-D1562FB16E90}"/>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42E713B5-23DF-1243-4FA1-37AB1B7ACADA}"/>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273FFF7F-B138-C8BC-CDA8-44EF9435613A}"/>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61450A8-1AC3-CCCF-C22B-136AAC9E3FC7}"/>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861450A8-1AC3-CCCF-C22B-136AAC9E3FC7}"/>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C4B8AF1-5A5B-2537-FE43-E7592E5264BC}"/>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1C4B8AF1-5A5B-2537-FE43-E7592E5264BC}"/>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B6A537F4-5F1A-353B-35A9-53A0CEECDF23}"/>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231F1352-8D28-9323-B089-187857CC39AA}"/>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30081484-C684-93A3-564C-BAAC451758DB}"/>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ADC1F5C-EF7D-7A2E-4899-5AAFED4118E2}"/>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AADC1F5C-EF7D-7A2E-4899-5AAFED4118E2}"/>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38FC66E0-889F-6DCD-1B18-0B324DC2B3E6}"/>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38FC66E0-889F-6DCD-1B18-0B324DC2B3E6}"/>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D50DC542-EAD2-4622-D356-F7BFF0415158}"/>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AECC5DE-64F8-A270-E807-1DF89673D9B9}"/>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CAECC5DE-64F8-A270-E807-1DF89673D9B9}"/>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F282DB5-3EB4-2E45-5510-5F4E03C3A78A}"/>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7F282DB5-3EB4-2E45-5510-5F4E03C3A78A}"/>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C9ECC3CC-AE43-FAA2-A060-341EDB0147ED}"/>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F6F75D88-98E7-697E-BDE2-A643FCED7B78}"/>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48890BAE-B4E9-B0EE-FC2B-E20C754255E7}"/>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48890BAE-B4E9-B0EE-FC2B-E20C754255E7}"/>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730D6756-EA83-C584-03CE-D9EFA88F0D08}"/>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223D7168-C4F5-6123-68BD-AB9C8845710A}"/>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223D7168-C4F5-6123-68BD-AB9C8845710A}"/>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2423679F-A5E2-3D36-CE85-E28690EF0C4F}"/>
              </a:ext>
            </a:extLst>
          </p:cNvPr>
          <p:cNvCxnSpPr>
            <a:cxnSpLocks/>
          </p:cNvCxnSpPr>
          <p:nvPr/>
        </p:nvCxnSpPr>
        <p:spPr>
          <a:xfrm flipV="1">
            <a:off x="1937125" y="1364512"/>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9B3C9A4D-439D-66F4-CC49-78D3951139E4}"/>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0B7A1540-DD25-3AD9-4CF0-6EF7096D41E5}"/>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0B7A1540-DD25-3AD9-4CF0-6EF7096D41E5}"/>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5FEC9E49-36FA-1E24-7FA2-7244A301FCC5}"/>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DAAC634-2FC2-B76F-DDE7-7EA23B4E9BEF}"/>
                  </a:ext>
                </a:extLst>
              </p:cNvPr>
              <p:cNvSpPr txBox="1"/>
              <p:nvPr/>
            </p:nvSpPr>
            <p:spPr>
              <a:xfrm>
                <a:off x="1095927" y="3958497"/>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DDAAC634-2FC2-B76F-DDE7-7EA23B4E9BEF}"/>
                  </a:ext>
                </a:extLst>
              </p:cNvPr>
              <p:cNvSpPr txBox="1">
                <a:spLocks noRot="1" noChangeAspect="1" noMove="1" noResize="1" noEditPoints="1" noAdjustHandles="1" noChangeArrowheads="1" noChangeShapeType="1" noTextEdit="1"/>
              </p:cNvSpPr>
              <p:nvPr/>
            </p:nvSpPr>
            <p:spPr>
              <a:xfrm>
                <a:off x="1095927" y="3958497"/>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71EA95F4-3CB7-AE2F-58EA-D1CB9C0E4AA1}"/>
              </a:ext>
            </a:extLst>
          </p:cNvPr>
          <p:cNvCxnSpPr/>
          <p:nvPr/>
        </p:nvCxnSpPr>
        <p:spPr>
          <a:xfrm>
            <a:off x="1687636" y="4194743"/>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1BDDEBE0-5EA9-E3BC-D6B9-A7979A645E3C}"/>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F0E23B04-A448-6B6A-DAD0-D93D7C5FAC0D}"/>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D2222A48-4124-BD36-9A4E-7A397BECC9A1}"/>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D2222A48-4124-BD36-9A4E-7A397BECC9A1}"/>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D31833E2-E27D-83F0-BA12-29E8206758BC}"/>
                  </a:ext>
                </a:extLst>
              </p:cNvPr>
              <p:cNvSpPr txBox="1"/>
              <p:nvPr/>
            </p:nvSpPr>
            <p:spPr>
              <a:xfrm>
                <a:off x="2199811" y="2895890"/>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D31833E2-E27D-83F0-BA12-29E8206758BC}"/>
                  </a:ext>
                </a:extLst>
              </p:cNvPr>
              <p:cNvSpPr txBox="1">
                <a:spLocks noRot="1" noChangeAspect="1" noMove="1" noResize="1" noEditPoints="1" noAdjustHandles="1" noChangeArrowheads="1" noChangeShapeType="1" noTextEdit="1"/>
              </p:cNvSpPr>
              <p:nvPr/>
            </p:nvSpPr>
            <p:spPr>
              <a:xfrm>
                <a:off x="2199811" y="2895890"/>
                <a:ext cx="1181161" cy="386324"/>
              </a:xfrm>
              <a:prstGeom prst="rect">
                <a:avLst/>
              </a:prstGeom>
              <a:blipFill>
                <a:blip r:embed="rId15"/>
                <a:stretch>
                  <a:fillRect b="-1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3D1FF2BF-2E87-EA15-6480-402005C4B6E1}"/>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3D1FF2BF-2E87-EA15-6480-402005C4B6E1}"/>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8C2DAAC3-1EB2-B2D7-8CC1-78B762476288}"/>
              </a:ext>
            </a:extLst>
          </p:cNvPr>
          <p:cNvCxnSpPr>
            <a:cxnSpLocks/>
          </p:cNvCxnSpPr>
          <p:nvPr/>
        </p:nvCxnSpPr>
        <p:spPr>
          <a:xfrm>
            <a:off x="3626664" y="4245148"/>
            <a:ext cx="0" cy="8385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B9930BCD-750F-5A13-D16C-3316DBB1AFF5}"/>
              </a:ext>
            </a:extLst>
          </p:cNvPr>
          <p:cNvCxnSpPr>
            <a:cxnSpLocks/>
          </p:cNvCxnSpPr>
          <p:nvPr/>
        </p:nvCxnSpPr>
        <p:spPr>
          <a:xfrm flipV="1">
            <a:off x="3636295" y="3683293"/>
            <a:ext cx="983047" cy="54437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F112F6E4-52D8-F875-6D30-8B3B9CDCBB55}"/>
              </a:ext>
            </a:extLst>
          </p:cNvPr>
          <p:cNvSpPr txBox="1"/>
          <p:nvPr/>
        </p:nvSpPr>
        <p:spPr>
          <a:xfrm>
            <a:off x="5820273" y="4667280"/>
            <a:ext cx="3960242" cy="369332"/>
          </a:xfrm>
          <a:prstGeom prst="rect">
            <a:avLst/>
          </a:prstGeom>
          <a:noFill/>
          <a:ln>
            <a:noFill/>
          </a:ln>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i="1" dirty="0"/>
              <a:t>What happens in this region?</a:t>
            </a:r>
          </a:p>
        </p:txBody>
      </p:sp>
      <p:sp>
        <p:nvSpPr>
          <p:cNvPr id="66" name="Freeform: Shape 65">
            <a:extLst>
              <a:ext uri="{FF2B5EF4-FFF2-40B4-BE49-F238E27FC236}">
                <a16:creationId xmlns:a16="http://schemas.microsoft.com/office/drawing/2014/main" id="{FD24D2BB-3DDC-0843-1D52-6E5146E910AA}"/>
              </a:ext>
            </a:extLst>
          </p:cNvPr>
          <p:cNvSpPr/>
          <p:nvPr/>
        </p:nvSpPr>
        <p:spPr>
          <a:xfrm>
            <a:off x="4628561" y="3695307"/>
            <a:ext cx="3308808" cy="499621"/>
          </a:xfrm>
          <a:custGeom>
            <a:avLst/>
            <a:gdLst>
              <a:gd name="connsiteX0" fmla="*/ 0 w 3308808"/>
              <a:gd name="connsiteY0" fmla="*/ 0 h 499621"/>
              <a:gd name="connsiteX1" fmla="*/ 669303 w 3308808"/>
              <a:gd name="connsiteY1" fmla="*/ 188536 h 499621"/>
              <a:gd name="connsiteX2" fmla="*/ 1545996 w 3308808"/>
              <a:gd name="connsiteY2" fmla="*/ 367646 h 499621"/>
              <a:gd name="connsiteX3" fmla="*/ 2686639 w 3308808"/>
              <a:gd name="connsiteY3" fmla="*/ 471340 h 499621"/>
              <a:gd name="connsiteX4" fmla="*/ 3308808 w 3308808"/>
              <a:gd name="connsiteY4" fmla="*/ 499621 h 49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8808" h="499621">
                <a:moveTo>
                  <a:pt x="0" y="0"/>
                </a:moveTo>
                <a:cubicBezTo>
                  <a:pt x="205818" y="63631"/>
                  <a:pt x="411637" y="127262"/>
                  <a:pt x="669303" y="188536"/>
                </a:cubicBezTo>
                <a:cubicBezTo>
                  <a:pt x="926969" y="249810"/>
                  <a:pt x="1209773" y="320512"/>
                  <a:pt x="1545996" y="367646"/>
                </a:cubicBezTo>
                <a:cubicBezTo>
                  <a:pt x="1882219" y="414780"/>
                  <a:pt x="2392837" y="449344"/>
                  <a:pt x="2686639" y="471340"/>
                </a:cubicBezTo>
                <a:cubicBezTo>
                  <a:pt x="2980441" y="493336"/>
                  <a:pt x="3144624" y="496478"/>
                  <a:pt x="3308808" y="499621"/>
                </a:cubicBezTo>
              </a:path>
            </a:pathLst>
          </a:cu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3DE3D8DA-5B70-4199-4581-B8192831786A}"/>
              </a:ext>
            </a:extLst>
          </p:cNvPr>
          <p:cNvCxnSpPr>
            <a:cxnSpLocks/>
          </p:cNvCxnSpPr>
          <p:nvPr/>
        </p:nvCxnSpPr>
        <p:spPr>
          <a:xfrm>
            <a:off x="6127545" y="1262959"/>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C979C444-2C1A-362E-D922-0C2817D52319}"/>
              </a:ext>
            </a:extLst>
          </p:cNvPr>
          <p:cNvSpPr txBox="1"/>
          <p:nvPr/>
        </p:nvSpPr>
        <p:spPr>
          <a:xfrm>
            <a:off x="5743371" y="496230"/>
            <a:ext cx="1216058" cy="584775"/>
          </a:xfrm>
          <a:prstGeom prst="rect">
            <a:avLst/>
          </a:prstGeom>
          <a:noFill/>
        </p:spPr>
        <p:txBody>
          <a:bodyPr wrap="square" rtlCol="0">
            <a:spAutoFit/>
          </a:bodyPr>
          <a:lstStyle/>
          <a:p>
            <a:pPr algn="ctr"/>
            <a:r>
              <a:rPr lang="en-US" sz="1600" dirty="0"/>
              <a:t>low talent women</a:t>
            </a:r>
          </a:p>
        </p:txBody>
      </p:sp>
      <p:sp>
        <p:nvSpPr>
          <p:cNvPr id="45" name="TextBox 44">
            <a:extLst>
              <a:ext uri="{FF2B5EF4-FFF2-40B4-BE49-F238E27FC236}">
                <a16:creationId xmlns:a16="http://schemas.microsoft.com/office/drawing/2014/main" id="{49E45978-13C1-A53E-3BA5-6CEA31264C0A}"/>
              </a:ext>
            </a:extLst>
          </p:cNvPr>
          <p:cNvSpPr txBox="1"/>
          <p:nvPr/>
        </p:nvSpPr>
        <p:spPr>
          <a:xfrm>
            <a:off x="10027020" y="526082"/>
            <a:ext cx="1216058" cy="584775"/>
          </a:xfrm>
          <a:prstGeom prst="rect">
            <a:avLst/>
          </a:prstGeom>
          <a:noFill/>
        </p:spPr>
        <p:txBody>
          <a:bodyPr wrap="square" rtlCol="0">
            <a:spAutoFit/>
          </a:bodyPr>
          <a:lstStyle/>
          <a:p>
            <a:pPr algn="ctr"/>
            <a:r>
              <a:rPr lang="en-US" sz="1600" dirty="0"/>
              <a:t>high talent men</a:t>
            </a:r>
          </a:p>
        </p:txBody>
      </p:sp>
      <p:sp>
        <p:nvSpPr>
          <p:cNvPr id="53" name="TextBox 52">
            <a:extLst>
              <a:ext uri="{FF2B5EF4-FFF2-40B4-BE49-F238E27FC236}">
                <a16:creationId xmlns:a16="http://schemas.microsoft.com/office/drawing/2014/main" id="{C7F1BD45-FA24-E18C-B406-1F9558F03811}"/>
              </a:ext>
            </a:extLst>
          </p:cNvPr>
          <p:cNvSpPr txBox="1"/>
          <p:nvPr/>
        </p:nvSpPr>
        <p:spPr>
          <a:xfrm>
            <a:off x="8626944" y="510379"/>
            <a:ext cx="1216058" cy="584775"/>
          </a:xfrm>
          <a:prstGeom prst="rect">
            <a:avLst/>
          </a:prstGeom>
          <a:noFill/>
        </p:spPr>
        <p:txBody>
          <a:bodyPr wrap="square" rtlCol="0">
            <a:spAutoFit/>
          </a:bodyPr>
          <a:lstStyle/>
          <a:p>
            <a:pPr algn="ctr"/>
            <a:r>
              <a:rPr lang="en-US" sz="1600" dirty="0"/>
              <a:t>low talent men</a:t>
            </a:r>
          </a:p>
        </p:txBody>
      </p:sp>
      <p:sp>
        <p:nvSpPr>
          <p:cNvPr id="56" name="TextBox 55">
            <a:extLst>
              <a:ext uri="{FF2B5EF4-FFF2-40B4-BE49-F238E27FC236}">
                <a16:creationId xmlns:a16="http://schemas.microsoft.com/office/drawing/2014/main" id="{9DBE77AA-C7D9-39F5-5FE5-1ACD8910599E}"/>
              </a:ext>
            </a:extLst>
          </p:cNvPr>
          <p:cNvSpPr txBox="1"/>
          <p:nvPr/>
        </p:nvSpPr>
        <p:spPr>
          <a:xfrm>
            <a:off x="7076543" y="517769"/>
            <a:ext cx="1376870" cy="584775"/>
          </a:xfrm>
          <a:prstGeom prst="rect">
            <a:avLst/>
          </a:prstGeom>
          <a:noFill/>
        </p:spPr>
        <p:txBody>
          <a:bodyPr wrap="square" rtlCol="0">
            <a:spAutoFit/>
          </a:bodyPr>
          <a:lstStyle/>
          <a:p>
            <a:pPr algn="ctr"/>
            <a:r>
              <a:rPr lang="en-US" sz="1600" dirty="0"/>
              <a:t>high talent women</a:t>
            </a:r>
          </a:p>
        </p:txBody>
      </p:sp>
      <p:sp>
        <p:nvSpPr>
          <p:cNvPr id="60" name="Oval 59">
            <a:extLst>
              <a:ext uri="{FF2B5EF4-FFF2-40B4-BE49-F238E27FC236}">
                <a16:creationId xmlns:a16="http://schemas.microsoft.com/office/drawing/2014/main" id="{50346256-7619-1759-B49D-0AB40DAB9542}"/>
              </a:ext>
            </a:extLst>
          </p:cNvPr>
          <p:cNvSpPr/>
          <p:nvPr/>
        </p:nvSpPr>
        <p:spPr>
          <a:xfrm>
            <a:off x="8600605" y="382713"/>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8A470FEF-5244-E04C-E507-AB6D566DA30B}"/>
              </a:ext>
            </a:extLst>
          </p:cNvPr>
          <p:cNvSpPr txBox="1"/>
          <p:nvPr/>
        </p:nvSpPr>
        <p:spPr>
          <a:xfrm rot="21139612">
            <a:off x="9642679" y="84241"/>
            <a:ext cx="1069131"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run!</a:t>
            </a:r>
          </a:p>
        </p:txBody>
      </p:sp>
      <p:sp>
        <p:nvSpPr>
          <p:cNvPr id="62" name="Oval 61">
            <a:extLst>
              <a:ext uri="{FF2B5EF4-FFF2-40B4-BE49-F238E27FC236}">
                <a16:creationId xmlns:a16="http://schemas.microsoft.com/office/drawing/2014/main" id="{54EA39E4-0061-759F-02F2-A102F9E1C3B9}"/>
              </a:ext>
            </a:extLst>
          </p:cNvPr>
          <p:cNvSpPr/>
          <p:nvPr/>
        </p:nvSpPr>
        <p:spPr>
          <a:xfrm>
            <a:off x="5704195" y="393685"/>
            <a:ext cx="1268736" cy="818339"/>
          </a:xfrm>
          <a:prstGeom prst="ellipse">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62">
            <a:extLst>
              <a:ext uri="{FF2B5EF4-FFF2-40B4-BE49-F238E27FC236}">
                <a16:creationId xmlns:a16="http://schemas.microsoft.com/office/drawing/2014/main" id="{0487CB88-B2DF-4C52-5C8F-E878E28CDC14}"/>
              </a:ext>
            </a:extLst>
          </p:cNvPr>
          <p:cNvSpPr txBox="1"/>
          <p:nvPr/>
        </p:nvSpPr>
        <p:spPr>
          <a:xfrm rot="21139612">
            <a:off x="6743395" y="52362"/>
            <a:ext cx="1711006" cy="369332"/>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solidFill>
                  <a:schemeClr val="tx1"/>
                </a:solidFill>
              </a:rPr>
              <a:t>they don’t run!</a:t>
            </a:r>
          </a:p>
        </p:txBody>
      </p:sp>
      <p:sp>
        <p:nvSpPr>
          <p:cNvPr id="39" name="TextBox 38">
            <a:extLst>
              <a:ext uri="{FF2B5EF4-FFF2-40B4-BE49-F238E27FC236}">
                <a16:creationId xmlns:a16="http://schemas.microsoft.com/office/drawing/2014/main" id="{C3E7A440-E469-FC05-E46B-1CC748CC1D02}"/>
              </a:ext>
            </a:extLst>
          </p:cNvPr>
          <p:cNvSpPr txBox="1"/>
          <p:nvPr/>
        </p:nvSpPr>
        <p:spPr>
          <a:xfrm rot="20727599">
            <a:off x="568635" y="1462250"/>
            <a:ext cx="3979173" cy="923330"/>
          </a:xfrm>
          <a:prstGeom prst="rect">
            <a:avLst/>
          </a:prstGeom>
          <a:solidFill>
            <a:srgbClr val="FFFF00"/>
          </a:solidFill>
        </p:spPr>
        <p:txBody>
          <a:bodyPr wrap="square" rtlCol="0">
            <a:spAutoFit/>
          </a:bodyPr>
          <a:lstStyle/>
          <a:p>
            <a:r>
              <a:rPr lang="en-US" dirty="0">
                <a:solidFill>
                  <a:schemeClr val="bg1"/>
                </a:solidFill>
              </a:rPr>
              <a:t>but </a:t>
            </a:r>
            <a:r>
              <a:rPr lang="en-US" dirty="0" err="1">
                <a:solidFill>
                  <a:schemeClr val="bg1"/>
                </a:solidFill>
              </a:rPr>
              <a:t>wait..we’re</a:t>
            </a:r>
            <a:r>
              <a:rPr lang="en-US" dirty="0">
                <a:solidFill>
                  <a:schemeClr val="bg1"/>
                </a:solidFill>
              </a:rPr>
              <a:t> not done!!!</a:t>
            </a:r>
          </a:p>
          <a:p>
            <a:endParaRPr lang="en-US" dirty="0">
              <a:solidFill>
                <a:schemeClr val="bg1"/>
              </a:solidFill>
            </a:endParaRPr>
          </a:p>
          <a:p>
            <a:r>
              <a:rPr lang="en-US" dirty="0">
                <a:solidFill>
                  <a:schemeClr val="bg1"/>
                </a:solidFill>
              </a:rPr>
              <a:t>What do high-talent women do???</a:t>
            </a:r>
          </a:p>
        </p:txBody>
      </p:sp>
      <p:sp>
        <p:nvSpPr>
          <p:cNvPr id="58" name="Oval 57">
            <a:extLst>
              <a:ext uri="{FF2B5EF4-FFF2-40B4-BE49-F238E27FC236}">
                <a16:creationId xmlns:a16="http://schemas.microsoft.com/office/drawing/2014/main" id="{FB882450-3A2E-F2BF-E0DC-A5D423337DDA}"/>
              </a:ext>
            </a:extLst>
          </p:cNvPr>
          <p:cNvSpPr/>
          <p:nvPr/>
        </p:nvSpPr>
        <p:spPr>
          <a:xfrm>
            <a:off x="7158713" y="480719"/>
            <a:ext cx="1268736" cy="818339"/>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74080FF2-4268-E948-A031-1983320EA603}"/>
                  </a:ext>
                </a:extLst>
              </p:cNvPr>
              <p:cNvSpPr txBox="1"/>
              <p:nvPr/>
            </p:nvSpPr>
            <p:spPr>
              <a:xfrm>
                <a:off x="7875076" y="1666415"/>
                <a:ext cx="3595984" cy="1563057"/>
              </a:xfrm>
              <a:prstGeom prst="rect">
                <a:avLst/>
              </a:prstGeom>
              <a:noFill/>
              <a:ln w="38100">
                <a:solidFill>
                  <a:srgbClr val="FFFF00"/>
                </a:solidFill>
              </a:ln>
            </p:spPr>
            <p:txBody>
              <a:bodyPr wrap="square" rtlCol="0">
                <a:spAutoFit/>
              </a:bodyPr>
              <a:lstStyle/>
              <a:p>
                <a:r>
                  <a:rPr lang="en-US" dirty="0"/>
                  <a:t>A high-talent women prefers to run instead of not run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𝑤𝐵</m:t>
                      </m:r>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≥0</m:t>
                      </m:r>
                    </m:oMath>
                  </m:oMathPara>
                </a14:m>
                <a:endParaRPr lang="en-US" dirty="0"/>
              </a:p>
              <a:p>
                <a:r>
                  <a:rPr lang="en-US" dirty="0"/>
                  <a:t>or equivalently if</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box>
                        <m:boxPr>
                          <m:ctrlPr>
                            <a:rPr lang="en-US" b="0" i="1" smtClean="0">
                              <a:latin typeface="Cambria Math" panose="02040503050406030204" pitchFamily="18" charset="0"/>
                            </a:rPr>
                          </m:ctrlPr>
                        </m:boxPr>
                        <m:e>
                          <m:argPr>
                            <m:argSz m:val="-1"/>
                          </m:argP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e>
                      </m:box>
                    </m:oMath>
                  </m:oMathPara>
                </a14:m>
                <a:endParaRPr lang="en-US" dirty="0"/>
              </a:p>
            </p:txBody>
          </p:sp>
        </mc:Choice>
        <mc:Fallback xmlns="">
          <p:sp>
            <p:nvSpPr>
              <p:cNvPr id="59" name="TextBox 58">
                <a:extLst>
                  <a:ext uri="{FF2B5EF4-FFF2-40B4-BE49-F238E27FC236}">
                    <a16:creationId xmlns:a16="http://schemas.microsoft.com/office/drawing/2014/main" id="{74080FF2-4268-E948-A031-1983320EA603}"/>
                  </a:ext>
                </a:extLst>
              </p:cNvPr>
              <p:cNvSpPr txBox="1">
                <a:spLocks noRot="1" noChangeAspect="1" noMove="1" noResize="1" noEditPoints="1" noAdjustHandles="1" noChangeArrowheads="1" noChangeShapeType="1" noTextEdit="1"/>
              </p:cNvSpPr>
              <p:nvPr/>
            </p:nvSpPr>
            <p:spPr>
              <a:xfrm>
                <a:off x="7875076" y="1666415"/>
                <a:ext cx="3595984" cy="1563057"/>
              </a:xfrm>
              <a:prstGeom prst="rect">
                <a:avLst/>
              </a:prstGeom>
              <a:blipFill>
                <a:blip r:embed="rId17"/>
                <a:stretch>
                  <a:fillRect l="-1007" t="-380" r="-1342"/>
                </a:stretch>
              </a:blipFill>
              <a:ln w="38100">
                <a:solidFill>
                  <a:srgbClr val="FFFF00"/>
                </a:solidFill>
              </a:ln>
            </p:spPr>
            <p:txBody>
              <a:bodyPr/>
              <a:lstStyle/>
              <a:p>
                <a:r>
                  <a:rPr lang="en-US">
                    <a:noFill/>
                  </a:rPr>
                  <a:t> </a:t>
                </a:r>
              </a:p>
            </p:txBody>
          </p:sp>
        </mc:Fallback>
      </mc:AlternateContent>
      <p:cxnSp>
        <p:nvCxnSpPr>
          <p:cNvPr id="65" name="Straight Connector 64">
            <a:extLst>
              <a:ext uri="{FF2B5EF4-FFF2-40B4-BE49-F238E27FC236}">
                <a16:creationId xmlns:a16="http://schemas.microsoft.com/office/drawing/2014/main" id="{41456E64-12D2-72E8-1B74-BF4FD771FCC3}"/>
              </a:ext>
            </a:extLst>
          </p:cNvPr>
          <p:cNvCxnSpPr>
            <a:cxnSpLocks/>
          </p:cNvCxnSpPr>
          <p:nvPr/>
        </p:nvCxnSpPr>
        <p:spPr>
          <a:xfrm>
            <a:off x="1959444" y="4194928"/>
            <a:ext cx="7909897" cy="0"/>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6433BF78-5D8B-8852-52AA-8D2A4B71923A}"/>
                  </a:ext>
                </a:extLst>
              </p:cNvPr>
              <p:cNvSpPr txBox="1"/>
              <p:nvPr/>
            </p:nvSpPr>
            <p:spPr>
              <a:xfrm>
                <a:off x="9705054" y="39626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69" name="TextBox 68">
                <a:extLst>
                  <a:ext uri="{FF2B5EF4-FFF2-40B4-BE49-F238E27FC236}">
                    <a16:creationId xmlns:a16="http://schemas.microsoft.com/office/drawing/2014/main" id="{6433BF78-5D8B-8852-52AA-8D2A4B71923A}"/>
                  </a:ext>
                </a:extLst>
              </p:cNvPr>
              <p:cNvSpPr txBox="1">
                <a:spLocks noRot="1" noChangeAspect="1" noMove="1" noResize="1" noEditPoints="1" noAdjustHandles="1" noChangeArrowheads="1" noChangeShapeType="1" noTextEdit="1"/>
              </p:cNvSpPr>
              <p:nvPr/>
            </p:nvSpPr>
            <p:spPr>
              <a:xfrm>
                <a:off x="9705054" y="3962658"/>
                <a:ext cx="1181161" cy="386324"/>
              </a:xfrm>
              <a:prstGeom prst="rect">
                <a:avLst/>
              </a:prstGeom>
              <a:blipFill>
                <a:blip r:embed="rId18"/>
                <a:stretch>
                  <a:fillRect/>
                </a:stretch>
              </a:blipFill>
            </p:spPr>
            <p:txBody>
              <a:bodyPr/>
              <a:lstStyle/>
              <a:p>
                <a:r>
                  <a:rPr lang="en-US">
                    <a:noFill/>
                  </a:rPr>
                  <a:t> </a:t>
                </a:r>
              </a:p>
            </p:txBody>
          </p:sp>
        </mc:Fallback>
      </mc:AlternateContent>
      <p:sp>
        <p:nvSpPr>
          <p:cNvPr id="70" name="TextBox 69">
            <a:extLst>
              <a:ext uri="{FF2B5EF4-FFF2-40B4-BE49-F238E27FC236}">
                <a16:creationId xmlns:a16="http://schemas.microsoft.com/office/drawing/2014/main" id="{2D4D5B5D-BC83-21BE-335C-E711B69CD96D}"/>
              </a:ext>
            </a:extLst>
          </p:cNvPr>
          <p:cNvSpPr txBox="1"/>
          <p:nvPr/>
        </p:nvSpPr>
        <p:spPr>
          <a:xfrm>
            <a:off x="4113872" y="3924937"/>
            <a:ext cx="2147607" cy="307777"/>
          </a:xfrm>
          <a:prstGeom prst="rect">
            <a:avLst/>
          </a:prstGeom>
          <a:noFill/>
        </p:spPr>
        <p:txBody>
          <a:bodyPr wrap="square" rtlCol="0">
            <a:spAutoFit/>
          </a:bodyPr>
          <a:lstStyle/>
          <a:p>
            <a:r>
              <a:rPr lang="en-US" sz="1400" dirty="0"/>
              <a:t>high-talent women run</a:t>
            </a:r>
          </a:p>
        </p:txBody>
      </p:sp>
      <p:sp>
        <p:nvSpPr>
          <p:cNvPr id="71" name="TextBox 70">
            <a:extLst>
              <a:ext uri="{FF2B5EF4-FFF2-40B4-BE49-F238E27FC236}">
                <a16:creationId xmlns:a16="http://schemas.microsoft.com/office/drawing/2014/main" id="{9771ADAE-9E6C-897C-C4BA-E4AF3CF8033A}"/>
              </a:ext>
            </a:extLst>
          </p:cNvPr>
          <p:cNvSpPr txBox="1"/>
          <p:nvPr/>
        </p:nvSpPr>
        <p:spPr>
          <a:xfrm>
            <a:off x="3859166" y="4170629"/>
            <a:ext cx="2415675" cy="307777"/>
          </a:xfrm>
          <a:prstGeom prst="rect">
            <a:avLst/>
          </a:prstGeom>
          <a:noFill/>
        </p:spPr>
        <p:txBody>
          <a:bodyPr wrap="square" rtlCol="0">
            <a:spAutoFit/>
          </a:bodyPr>
          <a:lstStyle/>
          <a:p>
            <a:r>
              <a:rPr lang="en-US" sz="1400" dirty="0"/>
              <a:t>high-talent women don’t run</a:t>
            </a:r>
          </a:p>
        </p:txBody>
      </p:sp>
    </p:spTree>
    <p:extLst>
      <p:ext uri="{BB962C8B-B14F-4D97-AF65-F5344CB8AC3E}">
        <p14:creationId xmlns:p14="http://schemas.microsoft.com/office/powerpoint/2010/main" val="279953914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2F0A4-D40F-E564-17DF-F66E7D991CA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B3AEE1A-4372-086E-A13D-A7DCB43A59BA}"/>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3B3AEE1A-4372-086E-A13D-A7DCB43A59BA}"/>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3" name="TextBox 2">
            <a:extLst>
              <a:ext uri="{FF2B5EF4-FFF2-40B4-BE49-F238E27FC236}">
                <a16:creationId xmlns:a16="http://schemas.microsoft.com/office/drawing/2014/main" id="{758C101B-3D95-2035-C45C-0D3D29952F5D}"/>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37833672-69E0-141F-F0EF-9804984082B6}"/>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237FD9A-9F28-133B-5CCA-DA456EC5C8B7}"/>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5BE7C9AA-420B-B557-70AA-A89E26E9301E}"/>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459A9F77-06C8-AB6B-5A43-656E01DCE984}"/>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CF918FC2-3C19-A034-3A7A-3A7A8A8472FD}"/>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D90C0232-CFCB-2112-C35E-76A0F5DFA93D}"/>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79C48F91-99DA-E3B7-BC20-7B9D198560E2}"/>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37742C0B-91E9-A82F-1662-76ABCD8BFED3}"/>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EA14786B-FA79-769B-810B-4C05A52B2DB1}"/>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8C323E93-A06F-BB4F-CEAD-E5246D451D39}"/>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5D39B9CD-7A7A-5036-7889-1FA68A3BB11C}"/>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3" name="TextBox 12">
            <a:extLst>
              <a:ext uri="{FF2B5EF4-FFF2-40B4-BE49-F238E27FC236}">
                <a16:creationId xmlns:a16="http://schemas.microsoft.com/office/drawing/2014/main" id="{92C0CBFE-38A7-44F7-37D4-89A557544A5F}"/>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E105CC32-26BC-2944-B7A7-14A0B7469DCA}"/>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1C6C3E8-8E3A-6856-BF85-8F2E20B3E4D3}"/>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F040CB0-92A7-E063-1FA3-5A3E11DF65B8}"/>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0F040CB0-92A7-E063-1FA3-5A3E11DF65B8}"/>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BC93463E-0405-6750-E361-41C15084AB4E}"/>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C44F7722-7397-A498-3682-463E08D40001}"/>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8C470274-10E2-2DCB-CA61-BEBC077160C4}"/>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C76A424D-3A67-3E91-B54C-9BC9286DB7F3}"/>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762CF1D-74EA-93B1-EC98-A46F7C9368BF}"/>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F762CF1D-74EA-93B1-EC98-A46F7C9368BF}"/>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A067260-681B-DFF8-FE76-12AF691253B3}"/>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BA067260-681B-DFF8-FE76-12AF691253B3}"/>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12722F2F-3C2A-A248-AEF0-D83FA0D26391}"/>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1A8F4877-66B5-5179-876A-64B729E15AA2}"/>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A4D3C17-2C36-6449-37B4-7AF8C9224EAB}"/>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35E18B4-498A-053D-8EF4-C277F33E3B30}"/>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C35E18B4-498A-053D-8EF4-C277F33E3B30}"/>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E97D269-08AE-7F8B-EAD3-CA59A8EA4EA5}"/>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6E97D269-08AE-7F8B-EAD3-CA59A8EA4EA5}"/>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A7B10DF3-8AAE-0FB8-AF3E-1043BD27A01D}"/>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E3DA2FC-01F7-0AB0-BBF5-A1327CA855AF}"/>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9E3DA2FC-01F7-0AB0-BBF5-A1327CA855AF}"/>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8E3EAC3-F72A-C584-E6A7-37430ABFF49D}"/>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08E3EAC3-F72A-C584-E6A7-37430ABFF49D}"/>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F12C2D9D-90D3-6E5F-33AD-EF3AC8C327E4}"/>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EECF309-2370-E7B0-7B69-E92D79C64FB8}"/>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18F8C89-FD57-97F7-4631-B3E5E41A2554}"/>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818F8C89-FD57-97F7-4631-B3E5E41A2554}"/>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3E327C90-9586-FEF8-9F41-863346B2B60F}"/>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E6BED09-0222-B8C0-7F42-552215FEE43E}"/>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3E6BED09-0222-B8C0-7F42-552215FEE43E}"/>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0C4CBD35-7A43-A3FA-1AF3-E78B2F0FEDFF}"/>
              </a:ext>
            </a:extLst>
          </p:cNvPr>
          <p:cNvCxnSpPr>
            <a:cxnSpLocks/>
          </p:cNvCxnSpPr>
          <p:nvPr/>
        </p:nvCxnSpPr>
        <p:spPr>
          <a:xfrm flipV="1">
            <a:off x="1937125" y="1364512"/>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4A8EF246-EB36-E03C-3017-0943A13BAA88}"/>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11D892C-A30F-F526-EE80-634CC54B29D6}"/>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711D892C-A30F-F526-EE80-634CC54B29D6}"/>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974F05BB-7F49-8E60-EA22-CD773B9B872D}"/>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AF34E73-F269-B05C-F199-46369937E3B3}"/>
                  </a:ext>
                </a:extLst>
              </p:cNvPr>
              <p:cNvSpPr txBox="1"/>
              <p:nvPr/>
            </p:nvSpPr>
            <p:spPr>
              <a:xfrm>
                <a:off x="1095927" y="3958497"/>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DAF34E73-F269-B05C-F199-46369937E3B3}"/>
                  </a:ext>
                </a:extLst>
              </p:cNvPr>
              <p:cNvSpPr txBox="1">
                <a:spLocks noRot="1" noChangeAspect="1" noMove="1" noResize="1" noEditPoints="1" noAdjustHandles="1" noChangeArrowheads="1" noChangeShapeType="1" noTextEdit="1"/>
              </p:cNvSpPr>
              <p:nvPr/>
            </p:nvSpPr>
            <p:spPr>
              <a:xfrm>
                <a:off x="1095927" y="3958497"/>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1226219A-D8C6-095F-806A-AB6AE69DA3C3}"/>
              </a:ext>
            </a:extLst>
          </p:cNvPr>
          <p:cNvCxnSpPr/>
          <p:nvPr/>
        </p:nvCxnSpPr>
        <p:spPr>
          <a:xfrm>
            <a:off x="1687636" y="4194743"/>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3038872A-2D41-6453-4B96-A5708A68D5FA}"/>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D912164D-051E-6A60-C0D0-F255C670331E}"/>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DACE62C4-D785-2BCB-D436-1272A6A16440}"/>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DACE62C4-D785-2BCB-D436-1272A6A16440}"/>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9BF5BB7-B65C-E414-3C9A-1B4F3DF31357}"/>
                  </a:ext>
                </a:extLst>
              </p:cNvPr>
              <p:cNvSpPr txBox="1"/>
              <p:nvPr/>
            </p:nvSpPr>
            <p:spPr>
              <a:xfrm>
                <a:off x="2199811" y="2895890"/>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89BF5BB7-B65C-E414-3C9A-1B4F3DF31357}"/>
                  </a:ext>
                </a:extLst>
              </p:cNvPr>
              <p:cNvSpPr txBox="1">
                <a:spLocks noRot="1" noChangeAspect="1" noMove="1" noResize="1" noEditPoints="1" noAdjustHandles="1" noChangeArrowheads="1" noChangeShapeType="1" noTextEdit="1"/>
              </p:cNvSpPr>
              <p:nvPr/>
            </p:nvSpPr>
            <p:spPr>
              <a:xfrm>
                <a:off x="2199811" y="2895890"/>
                <a:ext cx="1181161" cy="386324"/>
              </a:xfrm>
              <a:prstGeom prst="rect">
                <a:avLst/>
              </a:prstGeom>
              <a:blipFill>
                <a:blip r:embed="rId15"/>
                <a:stretch>
                  <a:fillRect b="-1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C33EEBD1-895D-1660-14AC-6C81DCEE7081}"/>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C33EEBD1-895D-1660-14AC-6C81DCEE7081}"/>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FE719750-2D81-E51B-CE3C-904969D0B549}"/>
              </a:ext>
            </a:extLst>
          </p:cNvPr>
          <p:cNvCxnSpPr>
            <a:cxnSpLocks/>
          </p:cNvCxnSpPr>
          <p:nvPr/>
        </p:nvCxnSpPr>
        <p:spPr>
          <a:xfrm>
            <a:off x="3626664" y="4245148"/>
            <a:ext cx="0" cy="8385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0F37F213-6404-5A38-EB39-5577E2C0D067}"/>
              </a:ext>
            </a:extLst>
          </p:cNvPr>
          <p:cNvCxnSpPr>
            <a:cxnSpLocks/>
          </p:cNvCxnSpPr>
          <p:nvPr/>
        </p:nvCxnSpPr>
        <p:spPr>
          <a:xfrm flipV="1">
            <a:off x="3636295" y="3683293"/>
            <a:ext cx="983047" cy="544375"/>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66" name="Freeform: Shape 65">
            <a:extLst>
              <a:ext uri="{FF2B5EF4-FFF2-40B4-BE49-F238E27FC236}">
                <a16:creationId xmlns:a16="http://schemas.microsoft.com/office/drawing/2014/main" id="{686EA644-F4D1-E4EA-FD28-1BBEA12A7CB6}"/>
              </a:ext>
            </a:extLst>
          </p:cNvPr>
          <p:cNvSpPr/>
          <p:nvPr/>
        </p:nvSpPr>
        <p:spPr>
          <a:xfrm>
            <a:off x="4628561" y="3695307"/>
            <a:ext cx="3308808" cy="499621"/>
          </a:xfrm>
          <a:custGeom>
            <a:avLst/>
            <a:gdLst>
              <a:gd name="connsiteX0" fmla="*/ 0 w 3308808"/>
              <a:gd name="connsiteY0" fmla="*/ 0 h 499621"/>
              <a:gd name="connsiteX1" fmla="*/ 669303 w 3308808"/>
              <a:gd name="connsiteY1" fmla="*/ 188536 h 499621"/>
              <a:gd name="connsiteX2" fmla="*/ 1545996 w 3308808"/>
              <a:gd name="connsiteY2" fmla="*/ 367646 h 499621"/>
              <a:gd name="connsiteX3" fmla="*/ 2686639 w 3308808"/>
              <a:gd name="connsiteY3" fmla="*/ 471340 h 499621"/>
              <a:gd name="connsiteX4" fmla="*/ 3308808 w 3308808"/>
              <a:gd name="connsiteY4" fmla="*/ 499621 h 49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8808" h="499621">
                <a:moveTo>
                  <a:pt x="0" y="0"/>
                </a:moveTo>
                <a:cubicBezTo>
                  <a:pt x="205818" y="63631"/>
                  <a:pt x="411637" y="127262"/>
                  <a:pt x="669303" y="188536"/>
                </a:cubicBezTo>
                <a:cubicBezTo>
                  <a:pt x="926969" y="249810"/>
                  <a:pt x="1209773" y="320512"/>
                  <a:pt x="1545996" y="367646"/>
                </a:cubicBezTo>
                <a:cubicBezTo>
                  <a:pt x="1882219" y="414780"/>
                  <a:pt x="2392837" y="449344"/>
                  <a:pt x="2686639" y="471340"/>
                </a:cubicBezTo>
                <a:cubicBezTo>
                  <a:pt x="2980441" y="493336"/>
                  <a:pt x="3144624" y="496478"/>
                  <a:pt x="3308808" y="499621"/>
                </a:cubicBez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1510B61F-C03E-AFF5-29A0-1183EF2F205E}"/>
              </a:ext>
            </a:extLst>
          </p:cNvPr>
          <p:cNvSpPr txBox="1"/>
          <p:nvPr/>
        </p:nvSpPr>
        <p:spPr>
          <a:xfrm>
            <a:off x="5539819" y="180662"/>
            <a:ext cx="3979173" cy="369332"/>
          </a:xfrm>
          <a:prstGeom prst="rect">
            <a:avLst/>
          </a:prstGeom>
          <a:solidFill>
            <a:srgbClr val="FFFF00"/>
          </a:solidFill>
        </p:spPr>
        <p:txBody>
          <a:bodyPr wrap="square" rtlCol="0">
            <a:spAutoFit/>
          </a:bodyPr>
          <a:lstStyle/>
          <a:p>
            <a:r>
              <a:rPr lang="en-US" dirty="0">
                <a:solidFill>
                  <a:schemeClr val="bg1"/>
                </a:solidFill>
              </a:rPr>
              <a:t>So actually we have two regions here.</a:t>
            </a:r>
          </a:p>
        </p:txBody>
      </p:sp>
      <p:cxnSp>
        <p:nvCxnSpPr>
          <p:cNvPr id="65" name="Straight Connector 64">
            <a:extLst>
              <a:ext uri="{FF2B5EF4-FFF2-40B4-BE49-F238E27FC236}">
                <a16:creationId xmlns:a16="http://schemas.microsoft.com/office/drawing/2014/main" id="{00666C0F-F618-26B4-C6B4-6047A0E484C2}"/>
              </a:ext>
            </a:extLst>
          </p:cNvPr>
          <p:cNvCxnSpPr>
            <a:cxnSpLocks/>
          </p:cNvCxnSpPr>
          <p:nvPr/>
        </p:nvCxnSpPr>
        <p:spPr>
          <a:xfrm>
            <a:off x="1959444" y="4194928"/>
            <a:ext cx="7909897" cy="0"/>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65BDFF68-3489-BF08-5189-DD6F8F3161E1}"/>
                  </a:ext>
                </a:extLst>
              </p:cNvPr>
              <p:cNvSpPr txBox="1"/>
              <p:nvPr/>
            </p:nvSpPr>
            <p:spPr>
              <a:xfrm>
                <a:off x="9705054" y="39626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69" name="TextBox 68">
                <a:extLst>
                  <a:ext uri="{FF2B5EF4-FFF2-40B4-BE49-F238E27FC236}">
                    <a16:creationId xmlns:a16="http://schemas.microsoft.com/office/drawing/2014/main" id="{65BDFF68-3489-BF08-5189-DD6F8F3161E1}"/>
                  </a:ext>
                </a:extLst>
              </p:cNvPr>
              <p:cNvSpPr txBox="1">
                <a:spLocks noRot="1" noChangeAspect="1" noMove="1" noResize="1" noEditPoints="1" noAdjustHandles="1" noChangeArrowheads="1" noChangeShapeType="1" noTextEdit="1"/>
              </p:cNvSpPr>
              <p:nvPr/>
            </p:nvSpPr>
            <p:spPr>
              <a:xfrm>
                <a:off x="9705054" y="3962658"/>
                <a:ext cx="1181161" cy="386324"/>
              </a:xfrm>
              <a:prstGeom prst="rect">
                <a:avLst/>
              </a:prstGeom>
              <a:blipFill>
                <a:blip r:embed="rId17"/>
                <a:stretch>
                  <a:fillRect/>
                </a:stretch>
              </a:blipFill>
            </p:spPr>
            <p:txBody>
              <a:bodyPr/>
              <a:lstStyle/>
              <a:p>
                <a:r>
                  <a:rPr lang="en-US">
                    <a:noFill/>
                  </a:rPr>
                  <a:t> </a:t>
                </a:r>
              </a:p>
            </p:txBody>
          </p:sp>
        </mc:Fallback>
      </mc:AlternateContent>
      <p:cxnSp>
        <p:nvCxnSpPr>
          <p:cNvPr id="67" name="Straight Connector 66">
            <a:extLst>
              <a:ext uri="{FF2B5EF4-FFF2-40B4-BE49-F238E27FC236}">
                <a16:creationId xmlns:a16="http://schemas.microsoft.com/office/drawing/2014/main" id="{B0E016CD-3368-F9BE-9F12-160FB8A1B6A5}"/>
              </a:ext>
            </a:extLst>
          </p:cNvPr>
          <p:cNvCxnSpPr/>
          <p:nvPr/>
        </p:nvCxnSpPr>
        <p:spPr>
          <a:xfrm>
            <a:off x="3636954" y="4194928"/>
            <a:ext cx="4319364" cy="3274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83D98176-F7B9-7437-F202-98B8C5A0C5A0}"/>
              </a:ext>
            </a:extLst>
          </p:cNvPr>
          <p:cNvCxnSpPr/>
          <p:nvPr/>
        </p:nvCxnSpPr>
        <p:spPr>
          <a:xfrm>
            <a:off x="3659273" y="4217046"/>
            <a:ext cx="13396" cy="845611"/>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8647E829-7699-F3BB-D41E-9C870BB04CAC}"/>
              </a:ext>
            </a:extLst>
          </p:cNvPr>
          <p:cNvCxnSpPr/>
          <p:nvPr/>
        </p:nvCxnSpPr>
        <p:spPr>
          <a:xfrm>
            <a:off x="3653893" y="5083729"/>
            <a:ext cx="5156789" cy="27088"/>
          </a:xfrm>
          <a:prstGeom prst="line">
            <a:avLst/>
          </a:prstGeom>
        </p:spPr>
        <p:style>
          <a:lnRef idx="2">
            <a:schemeClr val="accent5"/>
          </a:lnRef>
          <a:fillRef idx="0">
            <a:schemeClr val="accent5"/>
          </a:fillRef>
          <a:effectRef idx="1">
            <a:schemeClr val="accent5"/>
          </a:effectRef>
          <a:fontRef idx="minor">
            <a:schemeClr val="tx1"/>
          </a:fontRef>
        </p:style>
      </p:cxnSp>
      <p:cxnSp>
        <p:nvCxnSpPr>
          <p:cNvPr id="76" name="Straight Connector 75">
            <a:extLst>
              <a:ext uri="{FF2B5EF4-FFF2-40B4-BE49-F238E27FC236}">
                <a16:creationId xmlns:a16="http://schemas.microsoft.com/office/drawing/2014/main" id="{361AF7F6-573C-18FC-BAE8-E6C4F86DF3E9}"/>
              </a:ext>
            </a:extLst>
          </p:cNvPr>
          <p:cNvCxnSpPr/>
          <p:nvPr/>
        </p:nvCxnSpPr>
        <p:spPr>
          <a:xfrm>
            <a:off x="3655903" y="4254077"/>
            <a:ext cx="4874537" cy="58239"/>
          </a:xfrm>
          <a:prstGeom prst="line">
            <a:avLst/>
          </a:prstGeom>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64247533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707CC-9EBF-DD05-FFF8-D172AF8FF59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2FBC5A34-C553-A038-563F-5702948B657B}"/>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2FBC5A34-C553-A038-563F-5702948B657B}"/>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3" name="TextBox 2">
            <a:extLst>
              <a:ext uri="{FF2B5EF4-FFF2-40B4-BE49-F238E27FC236}">
                <a16:creationId xmlns:a16="http://schemas.microsoft.com/office/drawing/2014/main" id="{EB0A96C7-99F6-422B-E47F-F9AF55F2DBC9}"/>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36A2837A-4161-9263-68B2-E257A946C33A}"/>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68FC6A54-7AC2-FA16-4A4D-1A0A59B042A1}"/>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9A82E81D-480E-FEC8-6317-E153162AC9C0}"/>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B1E2F968-CD10-9BE9-239C-39D28BD6E7B6}"/>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165CFFFC-95B5-0C9C-1015-1BFB61CB08EE}"/>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53614D93-3C36-F2BA-58E9-BE4546D5DEFA}"/>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BA3FD5C8-10F8-4CDF-813D-79CE92A7D48D}"/>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49E1C127-FE5F-0F7A-403B-E2E44986D7A3}"/>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12E03E5D-EA6F-B0AD-08EA-65964AB1B6CA}"/>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E3E5EACD-DB19-0FE4-D6AC-DA7A134DA747}"/>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749D9586-18A6-DC02-5E7A-07EA9D2C94F2}"/>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3" name="TextBox 12">
            <a:extLst>
              <a:ext uri="{FF2B5EF4-FFF2-40B4-BE49-F238E27FC236}">
                <a16:creationId xmlns:a16="http://schemas.microsoft.com/office/drawing/2014/main" id="{777351AD-75F9-3A91-5EBF-961C7AE5A2E9}"/>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A5CAFA75-D9B0-D482-FD42-2C2AAF2AC3B4}"/>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1A640261-2B92-F2B8-3981-8065D41CDC99}"/>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F460F10-12D2-4F36-02FB-9C1F981982F7}"/>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8F460F10-12D2-4F36-02FB-9C1F981982F7}"/>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6170E830-2983-3192-8310-054354E1AAD5}"/>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CEC0178-5669-32C3-F915-5800FA2BA22B}"/>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2918602A-C79C-9F1B-0661-B7100146FFA7}"/>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9F082802-0E49-7689-CA03-6930956BAC67}"/>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D1F1675-9F0E-FC53-96A6-1C8EB8A0C802}"/>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FD1F1675-9F0E-FC53-96A6-1C8EB8A0C802}"/>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7FDF60B-9016-5F33-CFE9-7EF6BED74635}"/>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57FDF60B-9016-5F33-CFE9-7EF6BED74635}"/>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D4D6D999-68BA-91A8-FE90-8EF96637DF69}"/>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3AFA12B7-789A-9E18-82B7-0A8BF1EFEDC9}"/>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BFBD9EE3-7002-7120-4138-E5149A6E44FD}"/>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C878A7A-6566-66CA-A504-8E5FADA1F166}"/>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7C878A7A-6566-66CA-A504-8E5FADA1F166}"/>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AC87B1C-99FF-B497-8351-F558EC7C1215}"/>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AAC87B1C-99FF-B497-8351-F558EC7C1215}"/>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99B881B1-5CF9-1A95-2330-57E5F0194E23}"/>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6E9CCC3-2ACF-2D67-468A-4BD2330BFA18}"/>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56E9CCC3-2ACF-2D67-468A-4BD2330BFA18}"/>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8B20FA84-68C2-D1BB-F46B-B285FEA4F37B}"/>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8B20FA84-68C2-D1BB-F46B-B285FEA4F37B}"/>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0F3051F7-ABE3-13E2-C93A-3BFC1A4DF76D}"/>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44337F30-387F-AEC8-DC04-D14D6C4F378E}"/>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8699311-30D3-CFC2-1250-F64AEDAA8A15}"/>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C8699311-30D3-CFC2-1250-F64AEDAA8A15}"/>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6FAAE366-F5ED-8C51-DF04-B3B3CC06BC57}"/>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E682663-64FA-43B2-6FCB-F6302D50D9A9}"/>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4E682663-64FA-43B2-6FCB-F6302D50D9A9}"/>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DD9AB98E-D803-088C-AE64-08F0BB649390}"/>
              </a:ext>
            </a:extLst>
          </p:cNvPr>
          <p:cNvCxnSpPr>
            <a:cxnSpLocks/>
          </p:cNvCxnSpPr>
          <p:nvPr/>
        </p:nvCxnSpPr>
        <p:spPr>
          <a:xfrm flipV="1">
            <a:off x="1937125" y="1364512"/>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82B3EC81-4AEE-3FF0-2839-5CA50A031987}"/>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13305EF-B8B8-F444-0D11-BF059917E3D9}"/>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513305EF-B8B8-F444-0D11-BF059917E3D9}"/>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0B44C08B-6951-CA39-B4C5-A566C5E328D4}"/>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1E5D9248-12DD-C9B9-937F-87ED11E8B8CB}"/>
                  </a:ext>
                </a:extLst>
              </p:cNvPr>
              <p:cNvSpPr txBox="1"/>
              <p:nvPr/>
            </p:nvSpPr>
            <p:spPr>
              <a:xfrm>
                <a:off x="1095927" y="3958497"/>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1E5D9248-12DD-C9B9-937F-87ED11E8B8CB}"/>
                  </a:ext>
                </a:extLst>
              </p:cNvPr>
              <p:cNvSpPr txBox="1">
                <a:spLocks noRot="1" noChangeAspect="1" noMove="1" noResize="1" noEditPoints="1" noAdjustHandles="1" noChangeArrowheads="1" noChangeShapeType="1" noTextEdit="1"/>
              </p:cNvSpPr>
              <p:nvPr/>
            </p:nvSpPr>
            <p:spPr>
              <a:xfrm>
                <a:off x="1095927" y="3958497"/>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11A20601-7AB4-FEC0-056B-39F8BB9927E4}"/>
              </a:ext>
            </a:extLst>
          </p:cNvPr>
          <p:cNvCxnSpPr/>
          <p:nvPr/>
        </p:nvCxnSpPr>
        <p:spPr>
          <a:xfrm>
            <a:off x="1687636" y="4194743"/>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28B73A4C-3C9A-50C3-2D9F-9ADB2B8EE4A5}"/>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C695B447-8301-1866-123C-A1A0B040AF0E}"/>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406DFF3-FFC0-2D75-61ED-AFCE2E1FF68F}"/>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C406DFF3-FFC0-2D75-61ED-AFCE2E1FF68F}"/>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8BAF1E0C-7B74-E4D4-1634-5FDEA569B2C6}"/>
                  </a:ext>
                </a:extLst>
              </p:cNvPr>
              <p:cNvSpPr txBox="1"/>
              <p:nvPr/>
            </p:nvSpPr>
            <p:spPr>
              <a:xfrm>
                <a:off x="2199811" y="2895890"/>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8BAF1E0C-7B74-E4D4-1634-5FDEA569B2C6}"/>
                  </a:ext>
                </a:extLst>
              </p:cNvPr>
              <p:cNvSpPr txBox="1">
                <a:spLocks noRot="1" noChangeAspect="1" noMove="1" noResize="1" noEditPoints="1" noAdjustHandles="1" noChangeArrowheads="1" noChangeShapeType="1" noTextEdit="1"/>
              </p:cNvSpPr>
              <p:nvPr/>
            </p:nvSpPr>
            <p:spPr>
              <a:xfrm>
                <a:off x="2199811" y="2895890"/>
                <a:ext cx="1181161" cy="386324"/>
              </a:xfrm>
              <a:prstGeom prst="rect">
                <a:avLst/>
              </a:prstGeom>
              <a:blipFill>
                <a:blip r:embed="rId15"/>
                <a:stretch>
                  <a:fillRect b="-1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9EC6F165-7F76-33D6-A358-557480E78911}"/>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9EC6F165-7F76-33D6-A358-557480E78911}"/>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9D437788-2CAC-8ADB-ADEE-A30AA028A4A0}"/>
              </a:ext>
            </a:extLst>
          </p:cNvPr>
          <p:cNvCxnSpPr>
            <a:cxnSpLocks/>
          </p:cNvCxnSpPr>
          <p:nvPr/>
        </p:nvCxnSpPr>
        <p:spPr>
          <a:xfrm>
            <a:off x="3626664" y="4245148"/>
            <a:ext cx="0" cy="8385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C5BA0B6D-89B5-BF0D-A488-3F80809DC4C7}"/>
              </a:ext>
            </a:extLst>
          </p:cNvPr>
          <p:cNvCxnSpPr>
            <a:cxnSpLocks/>
          </p:cNvCxnSpPr>
          <p:nvPr/>
        </p:nvCxnSpPr>
        <p:spPr>
          <a:xfrm flipV="1">
            <a:off x="3636295" y="3683293"/>
            <a:ext cx="983047" cy="544375"/>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66" name="Freeform: Shape 65">
            <a:extLst>
              <a:ext uri="{FF2B5EF4-FFF2-40B4-BE49-F238E27FC236}">
                <a16:creationId xmlns:a16="http://schemas.microsoft.com/office/drawing/2014/main" id="{167EAC35-BFBE-84C1-0F99-7DE6B01B4271}"/>
              </a:ext>
            </a:extLst>
          </p:cNvPr>
          <p:cNvSpPr/>
          <p:nvPr/>
        </p:nvSpPr>
        <p:spPr>
          <a:xfrm>
            <a:off x="4628561" y="3695307"/>
            <a:ext cx="3308808" cy="499621"/>
          </a:xfrm>
          <a:custGeom>
            <a:avLst/>
            <a:gdLst>
              <a:gd name="connsiteX0" fmla="*/ 0 w 3308808"/>
              <a:gd name="connsiteY0" fmla="*/ 0 h 499621"/>
              <a:gd name="connsiteX1" fmla="*/ 669303 w 3308808"/>
              <a:gd name="connsiteY1" fmla="*/ 188536 h 499621"/>
              <a:gd name="connsiteX2" fmla="*/ 1545996 w 3308808"/>
              <a:gd name="connsiteY2" fmla="*/ 367646 h 499621"/>
              <a:gd name="connsiteX3" fmla="*/ 2686639 w 3308808"/>
              <a:gd name="connsiteY3" fmla="*/ 471340 h 499621"/>
              <a:gd name="connsiteX4" fmla="*/ 3308808 w 3308808"/>
              <a:gd name="connsiteY4" fmla="*/ 499621 h 49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8808" h="499621">
                <a:moveTo>
                  <a:pt x="0" y="0"/>
                </a:moveTo>
                <a:cubicBezTo>
                  <a:pt x="205818" y="63631"/>
                  <a:pt x="411637" y="127262"/>
                  <a:pt x="669303" y="188536"/>
                </a:cubicBezTo>
                <a:cubicBezTo>
                  <a:pt x="926969" y="249810"/>
                  <a:pt x="1209773" y="320512"/>
                  <a:pt x="1545996" y="367646"/>
                </a:cubicBezTo>
                <a:cubicBezTo>
                  <a:pt x="1882219" y="414780"/>
                  <a:pt x="2392837" y="449344"/>
                  <a:pt x="2686639" y="471340"/>
                </a:cubicBezTo>
                <a:cubicBezTo>
                  <a:pt x="2980441" y="493336"/>
                  <a:pt x="3144624" y="496478"/>
                  <a:pt x="3308808" y="499621"/>
                </a:cubicBez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B85BABEB-DFBB-852B-3A8C-B213050F1B89}"/>
              </a:ext>
            </a:extLst>
          </p:cNvPr>
          <p:cNvSpPr txBox="1"/>
          <p:nvPr/>
        </p:nvSpPr>
        <p:spPr>
          <a:xfrm>
            <a:off x="5539819" y="180662"/>
            <a:ext cx="3979173" cy="369332"/>
          </a:xfrm>
          <a:prstGeom prst="rect">
            <a:avLst/>
          </a:prstGeom>
          <a:solidFill>
            <a:srgbClr val="FFFF00"/>
          </a:solidFill>
        </p:spPr>
        <p:txBody>
          <a:bodyPr wrap="square" rtlCol="0">
            <a:spAutoFit/>
          </a:bodyPr>
          <a:lstStyle/>
          <a:p>
            <a:r>
              <a:rPr lang="en-US" dirty="0">
                <a:solidFill>
                  <a:schemeClr val="bg1"/>
                </a:solidFill>
              </a:rPr>
              <a:t>So actually we have two regions here.</a:t>
            </a:r>
          </a:p>
        </p:txBody>
      </p:sp>
      <p:cxnSp>
        <p:nvCxnSpPr>
          <p:cNvPr id="65" name="Straight Connector 64">
            <a:extLst>
              <a:ext uri="{FF2B5EF4-FFF2-40B4-BE49-F238E27FC236}">
                <a16:creationId xmlns:a16="http://schemas.microsoft.com/office/drawing/2014/main" id="{1D460CF2-AE60-589C-0433-42D0B694CD11}"/>
              </a:ext>
            </a:extLst>
          </p:cNvPr>
          <p:cNvCxnSpPr>
            <a:cxnSpLocks/>
          </p:cNvCxnSpPr>
          <p:nvPr/>
        </p:nvCxnSpPr>
        <p:spPr>
          <a:xfrm>
            <a:off x="1959444" y="4194928"/>
            <a:ext cx="7909897" cy="0"/>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025F09E5-364A-E303-DC39-749F2158D20E}"/>
                  </a:ext>
                </a:extLst>
              </p:cNvPr>
              <p:cNvSpPr txBox="1"/>
              <p:nvPr/>
            </p:nvSpPr>
            <p:spPr>
              <a:xfrm>
                <a:off x="9705054" y="39626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69" name="TextBox 68">
                <a:extLst>
                  <a:ext uri="{FF2B5EF4-FFF2-40B4-BE49-F238E27FC236}">
                    <a16:creationId xmlns:a16="http://schemas.microsoft.com/office/drawing/2014/main" id="{025F09E5-364A-E303-DC39-749F2158D20E}"/>
                  </a:ext>
                </a:extLst>
              </p:cNvPr>
              <p:cNvSpPr txBox="1">
                <a:spLocks noRot="1" noChangeAspect="1" noMove="1" noResize="1" noEditPoints="1" noAdjustHandles="1" noChangeArrowheads="1" noChangeShapeType="1" noTextEdit="1"/>
              </p:cNvSpPr>
              <p:nvPr/>
            </p:nvSpPr>
            <p:spPr>
              <a:xfrm>
                <a:off x="9705054" y="3962658"/>
                <a:ext cx="1181161" cy="386324"/>
              </a:xfrm>
              <a:prstGeom prst="rect">
                <a:avLst/>
              </a:prstGeom>
              <a:blipFill>
                <a:blip r:embed="rId17"/>
                <a:stretch>
                  <a:fillRect/>
                </a:stretch>
              </a:blipFill>
            </p:spPr>
            <p:txBody>
              <a:bodyPr/>
              <a:lstStyle/>
              <a:p>
                <a:r>
                  <a:rPr lang="en-US">
                    <a:noFill/>
                  </a:rPr>
                  <a:t> </a:t>
                </a:r>
              </a:p>
            </p:txBody>
          </p:sp>
        </mc:Fallback>
      </mc:AlternateContent>
      <p:cxnSp>
        <p:nvCxnSpPr>
          <p:cNvPr id="67" name="Straight Connector 66">
            <a:extLst>
              <a:ext uri="{FF2B5EF4-FFF2-40B4-BE49-F238E27FC236}">
                <a16:creationId xmlns:a16="http://schemas.microsoft.com/office/drawing/2014/main" id="{ED254617-FDA9-432A-8D61-2A33075990E1}"/>
              </a:ext>
            </a:extLst>
          </p:cNvPr>
          <p:cNvCxnSpPr/>
          <p:nvPr/>
        </p:nvCxnSpPr>
        <p:spPr>
          <a:xfrm>
            <a:off x="3636954" y="4194928"/>
            <a:ext cx="4319364" cy="3274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5BAF4457-2683-8B14-0556-8E92F205C3D0}"/>
              </a:ext>
            </a:extLst>
          </p:cNvPr>
          <p:cNvCxnSpPr/>
          <p:nvPr/>
        </p:nvCxnSpPr>
        <p:spPr>
          <a:xfrm>
            <a:off x="3659273" y="4217046"/>
            <a:ext cx="13396" cy="845611"/>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3DB8F3BA-C131-6279-F9E6-21B83431A527}"/>
              </a:ext>
            </a:extLst>
          </p:cNvPr>
          <p:cNvCxnSpPr/>
          <p:nvPr/>
        </p:nvCxnSpPr>
        <p:spPr>
          <a:xfrm>
            <a:off x="3653893" y="5083729"/>
            <a:ext cx="5156789" cy="27088"/>
          </a:xfrm>
          <a:prstGeom prst="line">
            <a:avLst/>
          </a:prstGeom>
        </p:spPr>
        <p:style>
          <a:lnRef idx="2">
            <a:schemeClr val="accent5"/>
          </a:lnRef>
          <a:fillRef idx="0">
            <a:schemeClr val="accent5"/>
          </a:fillRef>
          <a:effectRef idx="1">
            <a:schemeClr val="accent5"/>
          </a:effectRef>
          <a:fontRef idx="minor">
            <a:schemeClr val="tx1"/>
          </a:fontRef>
        </p:style>
      </p:cxnSp>
      <p:cxnSp>
        <p:nvCxnSpPr>
          <p:cNvPr id="76" name="Straight Connector 75">
            <a:extLst>
              <a:ext uri="{FF2B5EF4-FFF2-40B4-BE49-F238E27FC236}">
                <a16:creationId xmlns:a16="http://schemas.microsoft.com/office/drawing/2014/main" id="{50079617-307A-6BD5-51AF-762228440010}"/>
              </a:ext>
            </a:extLst>
          </p:cNvPr>
          <p:cNvCxnSpPr/>
          <p:nvPr/>
        </p:nvCxnSpPr>
        <p:spPr>
          <a:xfrm>
            <a:off x="3655903" y="4254077"/>
            <a:ext cx="4874537" cy="58239"/>
          </a:xfrm>
          <a:prstGeom prst="line">
            <a:avLst/>
          </a:prstGeom>
        </p:spPr>
        <p:style>
          <a:lnRef idx="2">
            <a:schemeClr val="accent5"/>
          </a:lnRef>
          <a:fillRef idx="0">
            <a:schemeClr val="accent5"/>
          </a:fillRef>
          <a:effectRef idx="1">
            <a:schemeClr val="accent5"/>
          </a:effectRef>
          <a:fontRef idx="minor">
            <a:schemeClr val="tx1"/>
          </a:fontRef>
        </p:style>
      </p:cxnSp>
      <p:cxnSp>
        <p:nvCxnSpPr>
          <p:cNvPr id="40" name="Straight Arrow Connector 39">
            <a:extLst>
              <a:ext uri="{FF2B5EF4-FFF2-40B4-BE49-F238E27FC236}">
                <a16:creationId xmlns:a16="http://schemas.microsoft.com/office/drawing/2014/main" id="{FFFF1771-72E2-5DE0-81C4-96D0AE6451C4}"/>
              </a:ext>
            </a:extLst>
          </p:cNvPr>
          <p:cNvCxnSpPr>
            <a:cxnSpLocks/>
          </p:cNvCxnSpPr>
          <p:nvPr/>
        </p:nvCxnSpPr>
        <p:spPr>
          <a:xfrm>
            <a:off x="5605401" y="2034458"/>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25B21C1A-8682-2319-1964-3828169D3457}"/>
              </a:ext>
            </a:extLst>
          </p:cNvPr>
          <p:cNvSpPr txBox="1"/>
          <p:nvPr/>
        </p:nvSpPr>
        <p:spPr>
          <a:xfrm>
            <a:off x="9504876" y="1297581"/>
            <a:ext cx="1216058" cy="584775"/>
          </a:xfrm>
          <a:prstGeom prst="rect">
            <a:avLst/>
          </a:prstGeom>
          <a:noFill/>
        </p:spPr>
        <p:txBody>
          <a:bodyPr wrap="square" rtlCol="0">
            <a:spAutoFit/>
          </a:bodyPr>
          <a:lstStyle/>
          <a:p>
            <a:pPr algn="ctr"/>
            <a:r>
              <a:rPr lang="en-US" sz="1600" dirty="0"/>
              <a:t>high talent men</a:t>
            </a:r>
          </a:p>
        </p:txBody>
      </p:sp>
      <p:sp>
        <p:nvSpPr>
          <p:cNvPr id="45" name="TextBox 44">
            <a:extLst>
              <a:ext uri="{FF2B5EF4-FFF2-40B4-BE49-F238E27FC236}">
                <a16:creationId xmlns:a16="http://schemas.microsoft.com/office/drawing/2014/main" id="{8829DB08-4FD1-2E0A-9424-A43210382259}"/>
              </a:ext>
            </a:extLst>
          </p:cNvPr>
          <p:cNvSpPr txBox="1"/>
          <p:nvPr/>
        </p:nvSpPr>
        <p:spPr>
          <a:xfrm>
            <a:off x="8104800" y="1281878"/>
            <a:ext cx="1216058" cy="584775"/>
          </a:xfrm>
          <a:prstGeom prst="rect">
            <a:avLst/>
          </a:prstGeom>
          <a:noFill/>
        </p:spPr>
        <p:txBody>
          <a:bodyPr wrap="square" rtlCol="0">
            <a:spAutoFit/>
          </a:bodyPr>
          <a:lstStyle/>
          <a:p>
            <a:pPr algn="ctr"/>
            <a:r>
              <a:rPr lang="en-US" sz="1600" dirty="0"/>
              <a:t>low talent men</a:t>
            </a:r>
          </a:p>
        </p:txBody>
      </p:sp>
      <p:sp>
        <p:nvSpPr>
          <p:cNvPr id="50" name="TextBox 49">
            <a:extLst>
              <a:ext uri="{FF2B5EF4-FFF2-40B4-BE49-F238E27FC236}">
                <a16:creationId xmlns:a16="http://schemas.microsoft.com/office/drawing/2014/main" id="{1389B549-A1CA-36DD-E0EA-DEFF807EA6AC}"/>
              </a:ext>
            </a:extLst>
          </p:cNvPr>
          <p:cNvSpPr txBox="1"/>
          <p:nvPr/>
        </p:nvSpPr>
        <p:spPr>
          <a:xfrm>
            <a:off x="6554399" y="1289268"/>
            <a:ext cx="1376870" cy="584775"/>
          </a:xfrm>
          <a:prstGeom prst="rect">
            <a:avLst/>
          </a:prstGeom>
          <a:noFill/>
        </p:spPr>
        <p:txBody>
          <a:bodyPr wrap="square" rtlCol="0">
            <a:spAutoFit/>
          </a:bodyPr>
          <a:lstStyle/>
          <a:p>
            <a:pPr algn="ctr"/>
            <a:r>
              <a:rPr lang="en-US" sz="1600" dirty="0"/>
              <a:t>high talent women</a:t>
            </a:r>
          </a:p>
        </p:txBody>
      </p:sp>
      <p:sp>
        <p:nvSpPr>
          <p:cNvPr id="61" name="TextBox 60">
            <a:extLst>
              <a:ext uri="{FF2B5EF4-FFF2-40B4-BE49-F238E27FC236}">
                <a16:creationId xmlns:a16="http://schemas.microsoft.com/office/drawing/2014/main" id="{EE52C4EF-C717-A010-C933-5EEADDA3D8D6}"/>
              </a:ext>
            </a:extLst>
          </p:cNvPr>
          <p:cNvSpPr txBox="1"/>
          <p:nvPr/>
        </p:nvSpPr>
        <p:spPr>
          <a:xfrm>
            <a:off x="5233538" y="1316410"/>
            <a:ext cx="1216058" cy="584775"/>
          </a:xfrm>
          <a:prstGeom prst="rect">
            <a:avLst/>
          </a:prstGeom>
          <a:noFill/>
        </p:spPr>
        <p:txBody>
          <a:bodyPr wrap="square" rtlCol="0">
            <a:spAutoFit/>
          </a:bodyPr>
          <a:lstStyle/>
          <a:p>
            <a:pPr algn="ctr"/>
            <a:r>
              <a:rPr lang="en-US" sz="1600" dirty="0"/>
              <a:t>low talent women</a:t>
            </a:r>
          </a:p>
        </p:txBody>
      </p:sp>
      <p:sp>
        <p:nvSpPr>
          <p:cNvPr id="63" name="TextBox 62">
            <a:extLst>
              <a:ext uri="{FF2B5EF4-FFF2-40B4-BE49-F238E27FC236}">
                <a16:creationId xmlns:a16="http://schemas.microsoft.com/office/drawing/2014/main" id="{57381D09-875C-2D30-76C2-10F159D20EB2}"/>
              </a:ext>
            </a:extLst>
          </p:cNvPr>
          <p:cNvSpPr txBox="1"/>
          <p:nvPr/>
        </p:nvSpPr>
        <p:spPr>
          <a:xfrm>
            <a:off x="7927344" y="2423628"/>
            <a:ext cx="3949370" cy="2862322"/>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dirty="0"/>
              <a:t>In this region, high talent women run.  So:</a:t>
            </a:r>
          </a:p>
          <a:p>
            <a:pPr marL="285750" indent="-285750">
              <a:buFont typeface="Arial" panose="020B0604020202020204" pitchFamily="34" charset="0"/>
              <a:buChar char="•"/>
            </a:pPr>
            <a:r>
              <a:rPr lang="en-US" dirty="0"/>
              <a:t>women are underrepresented among candidates</a:t>
            </a:r>
          </a:p>
          <a:p>
            <a:pPr marL="285750" indent="-285750">
              <a:buFont typeface="Arial" panose="020B0604020202020204" pitchFamily="34" charset="0"/>
              <a:buChar char="•"/>
            </a:pPr>
            <a:r>
              <a:rPr lang="en-US" dirty="0"/>
              <a:t>average talent is higher among women candidates than men candidates</a:t>
            </a:r>
          </a:p>
          <a:p>
            <a:pPr marL="285750" indent="-285750">
              <a:buFont typeface="Arial" panose="020B0604020202020204" pitchFamily="34" charset="0"/>
              <a:buChar char="•"/>
            </a:pPr>
            <a:endParaRPr lang="en-US" dirty="0"/>
          </a:p>
          <a:p>
            <a:r>
              <a:rPr lang="en-US" dirty="0"/>
              <a:t>(This is the pattern we see in the “real world”)</a:t>
            </a:r>
          </a:p>
        </p:txBody>
      </p:sp>
      <p:cxnSp>
        <p:nvCxnSpPr>
          <p:cNvPr id="68" name="Straight Arrow Connector 67">
            <a:extLst>
              <a:ext uri="{FF2B5EF4-FFF2-40B4-BE49-F238E27FC236}">
                <a16:creationId xmlns:a16="http://schemas.microsoft.com/office/drawing/2014/main" id="{6875BF0E-71FD-5D28-CBD9-FF793781D336}"/>
              </a:ext>
            </a:extLst>
          </p:cNvPr>
          <p:cNvCxnSpPr>
            <a:cxnSpLocks/>
          </p:cNvCxnSpPr>
          <p:nvPr/>
        </p:nvCxnSpPr>
        <p:spPr>
          <a:xfrm flipH="1">
            <a:off x="5040247" y="2696066"/>
            <a:ext cx="2851382" cy="135017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D48ACDBE-7FB0-A867-BE0F-E0B5B2C965B7}"/>
              </a:ext>
            </a:extLst>
          </p:cNvPr>
          <p:cNvCxnSpPr>
            <a:cxnSpLocks/>
          </p:cNvCxnSpPr>
          <p:nvPr/>
        </p:nvCxnSpPr>
        <p:spPr>
          <a:xfrm flipH="1">
            <a:off x="6449596" y="671964"/>
            <a:ext cx="15482" cy="1655855"/>
          </a:xfrm>
          <a:prstGeom prst="line">
            <a:avLst/>
          </a:prstGeom>
          <a:ln>
            <a:solidFill>
              <a:schemeClr val="tx1"/>
            </a:solidFill>
          </a:ln>
        </p:spPr>
        <p:style>
          <a:lnRef idx="2">
            <a:schemeClr val="accent5"/>
          </a:lnRef>
          <a:fillRef idx="0">
            <a:schemeClr val="accent5"/>
          </a:fillRef>
          <a:effectRef idx="1">
            <a:schemeClr val="accent5"/>
          </a:effectRef>
          <a:fontRef idx="minor">
            <a:schemeClr val="tx1"/>
          </a:fontRef>
        </p:style>
      </p:cxnSp>
      <p:sp>
        <p:nvSpPr>
          <p:cNvPr id="73" name="TextBox 72">
            <a:extLst>
              <a:ext uri="{FF2B5EF4-FFF2-40B4-BE49-F238E27FC236}">
                <a16:creationId xmlns:a16="http://schemas.microsoft.com/office/drawing/2014/main" id="{29586666-60A1-C2BA-D4EE-E09FCEABE406}"/>
              </a:ext>
            </a:extLst>
          </p:cNvPr>
          <p:cNvSpPr txBox="1"/>
          <p:nvPr/>
        </p:nvSpPr>
        <p:spPr>
          <a:xfrm>
            <a:off x="6465078" y="671964"/>
            <a:ext cx="538315" cy="307777"/>
          </a:xfrm>
          <a:prstGeom prst="rect">
            <a:avLst/>
          </a:prstGeom>
          <a:noFill/>
        </p:spPr>
        <p:txBody>
          <a:bodyPr wrap="square" rtlCol="0">
            <a:spAutoFit/>
          </a:bodyPr>
          <a:lstStyle/>
          <a:p>
            <a:r>
              <a:rPr lang="en-US" sz="1400" i="1" dirty="0"/>
              <a:t>run</a:t>
            </a:r>
          </a:p>
        </p:txBody>
      </p:sp>
      <p:cxnSp>
        <p:nvCxnSpPr>
          <p:cNvPr id="78" name="Straight Arrow Connector 77">
            <a:extLst>
              <a:ext uri="{FF2B5EF4-FFF2-40B4-BE49-F238E27FC236}">
                <a16:creationId xmlns:a16="http://schemas.microsoft.com/office/drawing/2014/main" id="{E8A423AD-34DD-8281-6AC0-D627522EDA80}"/>
              </a:ext>
            </a:extLst>
          </p:cNvPr>
          <p:cNvCxnSpPr/>
          <p:nvPr/>
        </p:nvCxnSpPr>
        <p:spPr>
          <a:xfrm flipV="1">
            <a:off x="6535703" y="978804"/>
            <a:ext cx="318296" cy="850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F4069144-27BF-282A-413E-052EB4089DD6}"/>
              </a:ext>
            </a:extLst>
          </p:cNvPr>
          <p:cNvSpPr txBox="1"/>
          <p:nvPr/>
        </p:nvSpPr>
        <p:spPr>
          <a:xfrm>
            <a:off x="5627650" y="675336"/>
            <a:ext cx="926522" cy="307777"/>
          </a:xfrm>
          <a:prstGeom prst="rect">
            <a:avLst/>
          </a:prstGeom>
          <a:noFill/>
        </p:spPr>
        <p:txBody>
          <a:bodyPr wrap="square" rtlCol="0">
            <a:spAutoFit/>
          </a:bodyPr>
          <a:lstStyle/>
          <a:p>
            <a:r>
              <a:rPr lang="en-US" sz="1400" i="1" dirty="0"/>
              <a:t>don’t run</a:t>
            </a:r>
          </a:p>
        </p:txBody>
      </p:sp>
      <p:cxnSp>
        <p:nvCxnSpPr>
          <p:cNvPr id="80" name="Straight Arrow Connector 79">
            <a:extLst>
              <a:ext uri="{FF2B5EF4-FFF2-40B4-BE49-F238E27FC236}">
                <a16:creationId xmlns:a16="http://schemas.microsoft.com/office/drawing/2014/main" id="{746C2D8D-A593-E9F4-021F-FE3D0908CA39}"/>
              </a:ext>
            </a:extLst>
          </p:cNvPr>
          <p:cNvCxnSpPr>
            <a:cxnSpLocks/>
          </p:cNvCxnSpPr>
          <p:nvPr/>
        </p:nvCxnSpPr>
        <p:spPr>
          <a:xfrm flipH="1">
            <a:off x="5937684" y="987313"/>
            <a:ext cx="46504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404429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0D031-D26E-0DD0-49FF-9A928D6AE8B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99A0717-40F1-698F-0B5C-063F42491C5D}"/>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699A0717-40F1-698F-0B5C-063F42491C5D}"/>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3" name="TextBox 2">
            <a:extLst>
              <a:ext uri="{FF2B5EF4-FFF2-40B4-BE49-F238E27FC236}">
                <a16:creationId xmlns:a16="http://schemas.microsoft.com/office/drawing/2014/main" id="{E511EBB3-1401-84FF-AC0A-B7F030EBD060}"/>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7C947ABF-0D30-6D49-5882-7A3618C660F1}"/>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85E771F0-3BFE-8B15-D736-843248E89D5F}"/>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8AD95F0D-99EB-154E-D426-34B38D6FC3B7}"/>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6B6228F1-1DC1-EF5A-D208-676FE04B9102}"/>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118ED519-031F-A82E-D71B-89999D83AA04}"/>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D38A6438-43D2-1989-689E-AB024CA48FBC}"/>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50AE10C1-6CD0-C86D-4B74-471DC1F92411}"/>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554ADC2B-EA2A-A045-7F89-165B6D6FBBE1}"/>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F13E1ACF-16B0-248A-4C57-3AE7205C2EE4}"/>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6B8FDFC2-1649-3C18-A384-16D1E11FC891}"/>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382E797B-744F-72EA-9548-5DB96B2BD414}"/>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3" name="TextBox 12">
            <a:extLst>
              <a:ext uri="{FF2B5EF4-FFF2-40B4-BE49-F238E27FC236}">
                <a16:creationId xmlns:a16="http://schemas.microsoft.com/office/drawing/2014/main" id="{E432E1D6-BF39-E6CE-8E73-18BB1E7BECE4}"/>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F495FFE4-EFBA-7381-A553-381B43CDE00B}"/>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0B416D1C-2BAD-D94B-9D0B-DE9650FDD4F7}"/>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5C91CB51-A8C8-871E-51EB-82A0171C4F6E}"/>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5C91CB51-A8C8-871E-51EB-82A0171C4F6E}"/>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41C589AA-0A8D-79EE-0B15-4D4E4CF0EC0B}"/>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E9BC7ED-8561-18A3-26AA-C3BD35DBF1D6}"/>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23A1CFCA-FA8F-4501-C448-767ED62FCEAD}"/>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B01A98BD-B85A-AD28-F8BA-A5E7BEEB7443}"/>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B4C3A7F-32CC-AA1E-2D2D-BED57F2D9B74}"/>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0B4C3A7F-32CC-AA1E-2D2D-BED57F2D9B74}"/>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43B92FF4-7F3A-E67C-A779-EF429CFF4AEF}"/>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43B92FF4-7F3A-E67C-A779-EF429CFF4AEF}"/>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14FA2F6C-A0A2-9DFF-5626-C4AF7FB1CD58}"/>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811B55A1-EB63-BBC7-F4B1-0E0FBEEEC0F3}"/>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03A3C660-6305-DB62-5A44-F36047638E47}"/>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BEB36CE-E51C-7F2D-BB94-C45019F90E80}"/>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0BEB36CE-E51C-7F2D-BB94-C45019F90E80}"/>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9D377FA-0E7F-4AC1-02D1-034609EE8B93}"/>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F9D377FA-0E7F-4AC1-02D1-034609EE8B93}"/>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D24C8EBF-E79A-63D1-E9C4-125E4FB72C28}"/>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0A419DA-91FC-43CF-E7A4-2729FB14B978}"/>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10A419DA-91FC-43CF-E7A4-2729FB14B978}"/>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7DA4CFE-9B3E-823A-81E8-3503063BCCD8}"/>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37DA4CFE-9B3E-823A-81E8-3503063BCCD8}"/>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1BEB46DE-568F-6DF1-8FB0-F8D2686AA45A}"/>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A7575B75-4CE6-70C5-ECBB-C2669D3DA6A4}"/>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30760857-5065-6610-1200-802F74C47D72}"/>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30760857-5065-6610-1200-802F74C47D72}"/>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230559DB-1BB9-AF7B-3DF7-FF0E7367AAFF}"/>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4966B641-8050-3F4A-6468-19B545EDBAE7}"/>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4966B641-8050-3F4A-6468-19B545EDBAE7}"/>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F27B218C-2999-D339-C8E9-7F54E174FD9E}"/>
              </a:ext>
            </a:extLst>
          </p:cNvPr>
          <p:cNvCxnSpPr>
            <a:cxnSpLocks/>
          </p:cNvCxnSpPr>
          <p:nvPr/>
        </p:nvCxnSpPr>
        <p:spPr>
          <a:xfrm flipV="1">
            <a:off x="1937125" y="1364512"/>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99811D4E-168A-16DE-67D6-C47083360FEB}"/>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A29CB7B-40ED-3189-EA39-D69671FA85B0}"/>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9A29CB7B-40ED-3189-EA39-D69671FA85B0}"/>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5DF75ADA-0DED-050F-8B93-C057D8FB8204}"/>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FA709B28-73BE-46EE-E470-95EDFF51EFC1}"/>
                  </a:ext>
                </a:extLst>
              </p:cNvPr>
              <p:cNvSpPr txBox="1"/>
              <p:nvPr/>
            </p:nvSpPr>
            <p:spPr>
              <a:xfrm>
                <a:off x="1095927" y="3958497"/>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FA709B28-73BE-46EE-E470-95EDFF51EFC1}"/>
                  </a:ext>
                </a:extLst>
              </p:cNvPr>
              <p:cNvSpPr txBox="1">
                <a:spLocks noRot="1" noChangeAspect="1" noMove="1" noResize="1" noEditPoints="1" noAdjustHandles="1" noChangeArrowheads="1" noChangeShapeType="1" noTextEdit="1"/>
              </p:cNvSpPr>
              <p:nvPr/>
            </p:nvSpPr>
            <p:spPr>
              <a:xfrm>
                <a:off x="1095927" y="3958497"/>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FA106D09-7382-56B6-2511-7FA51354BAF0}"/>
              </a:ext>
            </a:extLst>
          </p:cNvPr>
          <p:cNvCxnSpPr/>
          <p:nvPr/>
        </p:nvCxnSpPr>
        <p:spPr>
          <a:xfrm>
            <a:off x="1687636" y="4194743"/>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E76D236F-143C-DD69-09FF-6A39D26FE1D4}"/>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 name="TextBox 1">
            <a:extLst>
              <a:ext uri="{FF2B5EF4-FFF2-40B4-BE49-F238E27FC236}">
                <a16:creationId xmlns:a16="http://schemas.microsoft.com/office/drawing/2014/main" id="{AFD93DAA-8596-E330-39CF-887891DED1D0}"/>
              </a:ext>
            </a:extLst>
          </p:cNvPr>
          <p:cNvSpPr txBox="1"/>
          <p:nvPr/>
        </p:nvSpPr>
        <p:spPr>
          <a:xfrm>
            <a:off x="197644" y="76083"/>
            <a:ext cx="4963742"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b="1" i="1" dirty="0"/>
              <a:t>What patterns of gender disparity does this model generate in all these different regions?</a:t>
            </a:r>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EF1DF141-BB5F-4D48-B379-359C4AE5AE8E}"/>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EF1DF141-BB5F-4D48-B379-359C4AE5AE8E}"/>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CB0B9E13-14B7-29F8-6185-48716B92247F}"/>
                  </a:ext>
                </a:extLst>
              </p:cNvPr>
              <p:cNvSpPr txBox="1"/>
              <p:nvPr/>
            </p:nvSpPr>
            <p:spPr>
              <a:xfrm>
                <a:off x="2199811" y="2895890"/>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CB0B9E13-14B7-29F8-6185-48716B92247F}"/>
                  </a:ext>
                </a:extLst>
              </p:cNvPr>
              <p:cNvSpPr txBox="1">
                <a:spLocks noRot="1" noChangeAspect="1" noMove="1" noResize="1" noEditPoints="1" noAdjustHandles="1" noChangeArrowheads="1" noChangeShapeType="1" noTextEdit="1"/>
              </p:cNvSpPr>
              <p:nvPr/>
            </p:nvSpPr>
            <p:spPr>
              <a:xfrm>
                <a:off x="2199811" y="2895890"/>
                <a:ext cx="1181161" cy="386324"/>
              </a:xfrm>
              <a:prstGeom prst="rect">
                <a:avLst/>
              </a:prstGeom>
              <a:blipFill>
                <a:blip r:embed="rId15"/>
                <a:stretch>
                  <a:fillRect b="-1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0B5CFA17-4E2E-8AC3-C05B-BCE4706CA6CF}"/>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0B5CFA17-4E2E-8AC3-C05B-BCE4706CA6CF}"/>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F7D168F9-EECE-53CB-E03C-15B632835946}"/>
              </a:ext>
            </a:extLst>
          </p:cNvPr>
          <p:cNvCxnSpPr>
            <a:cxnSpLocks/>
          </p:cNvCxnSpPr>
          <p:nvPr/>
        </p:nvCxnSpPr>
        <p:spPr>
          <a:xfrm>
            <a:off x="3626664" y="4245148"/>
            <a:ext cx="0" cy="8385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487928E7-EFB9-4D6E-C2CA-A0598089EAF7}"/>
              </a:ext>
            </a:extLst>
          </p:cNvPr>
          <p:cNvCxnSpPr>
            <a:cxnSpLocks/>
          </p:cNvCxnSpPr>
          <p:nvPr/>
        </p:nvCxnSpPr>
        <p:spPr>
          <a:xfrm flipV="1">
            <a:off x="3636295" y="3683293"/>
            <a:ext cx="983047" cy="544375"/>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66" name="Freeform: Shape 65">
            <a:extLst>
              <a:ext uri="{FF2B5EF4-FFF2-40B4-BE49-F238E27FC236}">
                <a16:creationId xmlns:a16="http://schemas.microsoft.com/office/drawing/2014/main" id="{ADBF9F19-04FB-5E2F-40B9-E56080E9FE17}"/>
              </a:ext>
            </a:extLst>
          </p:cNvPr>
          <p:cNvSpPr/>
          <p:nvPr/>
        </p:nvSpPr>
        <p:spPr>
          <a:xfrm>
            <a:off x="4628561" y="3695307"/>
            <a:ext cx="3308808" cy="499621"/>
          </a:xfrm>
          <a:custGeom>
            <a:avLst/>
            <a:gdLst>
              <a:gd name="connsiteX0" fmla="*/ 0 w 3308808"/>
              <a:gd name="connsiteY0" fmla="*/ 0 h 499621"/>
              <a:gd name="connsiteX1" fmla="*/ 669303 w 3308808"/>
              <a:gd name="connsiteY1" fmla="*/ 188536 h 499621"/>
              <a:gd name="connsiteX2" fmla="*/ 1545996 w 3308808"/>
              <a:gd name="connsiteY2" fmla="*/ 367646 h 499621"/>
              <a:gd name="connsiteX3" fmla="*/ 2686639 w 3308808"/>
              <a:gd name="connsiteY3" fmla="*/ 471340 h 499621"/>
              <a:gd name="connsiteX4" fmla="*/ 3308808 w 3308808"/>
              <a:gd name="connsiteY4" fmla="*/ 499621 h 4996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8808" h="499621">
                <a:moveTo>
                  <a:pt x="0" y="0"/>
                </a:moveTo>
                <a:cubicBezTo>
                  <a:pt x="205818" y="63631"/>
                  <a:pt x="411637" y="127262"/>
                  <a:pt x="669303" y="188536"/>
                </a:cubicBezTo>
                <a:cubicBezTo>
                  <a:pt x="926969" y="249810"/>
                  <a:pt x="1209773" y="320512"/>
                  <a:pt x="1545996" y="367646"/>
                </a:cubicBezTo>
                <a:cubicBezTo>
                  <a:pt x="1882219" y="414780"/>
                  <a:pt x="2392837" y="449344"/>
                  <a:pt x="2686639" y="471340"/>
                </a:cubicBezTo>
                <a:cubicBezTo>
                  <a:pt x="2980441" y="493336"/>
                  <a:pt x="3144624" y="496478"/>
                  <a:pt x="3308808" y="499621"/>
                </a:cubicBezTo>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085CD86B-9CFF-46A8-FCCE-291A1795A607}"/>
              </a:ext>
            </a:extLst>
          </p:cNvPr>
          <p:cNvSpPr txBox="1"/>
          <p:nvPr/>
        </p:nvSpPr>
        <p:spPr>
          <a:xfrm>
            <a:off x="5539819" y="180662"/>
            <a:ext cx="3979173" cy="369332"/>
          </a:xfrm>
          <a:prstGeom prst="rect">
            <a:avLst/>
          </a:prstGeom>
          <a:solidFill>
            <a:srgbClr val="FFFF00"/>
          </a:solidFill>
        </p:spPr>
        <p:txBody>
          <a:bodyPr wrap="square" rtlCol="0">
            <a:spAutoFit/>
          </a:bodyPr>
          <a:lstStyle/>
          <a:p>
            <a:r>
              <a:rPr lang="en-US" dirty="0">
                <a:solidFill>
                  <a:schemeClr val="bg1"/>
                </a:solidFill>
              </a:rPr>
              <a:t>So actually we have two regions here.</a:t>
            </a:r>
          </a:p>
        </p:txBody>
      </p:sp>
      <p:cxnSp>
        <p:nvCxnSpPr>
          <p:cNvPr id="65" name="Straight Connector 64">
            <a:extLst>
              <a:ext uri="{FF2B5EF4-FFF2-40B4-BE49-F238E27FC236}">
                <a16:creationId xmlns:a16="http://schemas.microsoft.com/office/drawing/2014/main" id="{1722E4FB-D0A0-9494-9B18-F0E6EE974385}"/>
              </a:ext>
            </a:extLst>
          </p:cNvPr>
          <p:cNvCxnSpPr>
            <a:cxnSpLocks/>
          </p:cNvCxnSpPr>
          <p:nvPr/>
        </p:nvCxnSpPr>
        <p:spPr>
          <a:xfrm>
            <a:off x="1959444" y="4194928"/>
            <a:ext cx="7909897" cy="0"/>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4EE0E30E-6159-B0AD-2551-AD674C0A032A}"/>
                  </a:ext>
                </a:extLst>
              </p:cNvPr>
              <p:cNvSpPr txBox="1"/>
              <p:nvPr/>
            </p:nvSpPr>
            <p:spPr>
              <a:xfrm>
                <a:off x="9705054" y="39626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69" name="TextBox 68">
                <a:extLst>
                  <a:ext uri="{FF2B5EF4-FFF2-40B4-BE49-F238E27FC236}">
                    <a16:creationId xmlns:a16="http://schemas.microsoft.com/office/drawing/2014/main" id="{4EE0E30E-6159-B0AD-2551-AD674C0A032A}"/>
                  </a:ext>
                </a:extLst>
              </p:cNvPr>
              <p:cNvSpPr txBox="1">
                <a:spLocks noRot="1" noChangeAspect="1" noMove="1" noResize="1" noEditPoints="1" noAdjustHandles="1" noChangeArrowheads="1" noChangeShapeType="1" noTextEdit="1"/>
              </p:cNvSpPr>
              <p:nvPr/>
            </p:nvSpPr>
            <p:spPr>
              <a:xfrm>
                <a:off x="9705054" y="3962658"/>
                <a:ext cx="1181161" cy="386324"/>
              </a:xfrm>
              <a:prstGeom prst="rect">
                <a:avLst/>
              </a:prstGeom>
              <a:blipFill>
                <a:blip r:embed="rId17"/>
                <a:stretch>
                  <a:fillRect/>
                </a:stretch>
              </a:blipFill>
            </p:spPr>
            <p:txBody>
              <a:bodyPr/>
              <a:lstStyle/>
              <a:p>
                <a:r>
                  <a:rPr lang="en-US">
                    <a:noFill/>
                  </a:rPr>
                  <a:t> </a:t>
                </a:r>
              </a:p>
            </p:txBody>
          </p:sp>
        </mc:Fallback>
      </mc:AlternateContent>
      <p:cxnSp>
        <p:nvCxnSpPr>
          <p:cNvPr id="67" name="Straight Connector 66">
            <a:extLst>
              <a:ext uri="{FF2B5EF4-FFF2-40B4-BE49-F238E27FC236}">
                <a16:creationId xmlns:a16="http://schemas.microsoft.com/office/drawing/2014/main" id="{BA572145-8E22-0A15-35EF-87517A2AB8EE}"/>
              </a:ext>
            </a:extLst>
          </p:cNvPr>
          <p:cNvCxnSpPr/>
          <p:nvPr/>
        </p:nvCxnSpPr>
        <p:spPr>
          <a:xfrm>
            <a:off x="3636954" y="4194928"/>
            <a:ext cx="4319364" cy="3274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72" name="Straight Connector 71">
            <a:extLst>
              <a:ext uri="{FF2B5EF4-FFF2-40B4-BE49-F238E27FC236}">
                <a16:creationId xmlns:a16="http://schemas.microsoft.com/office/drawing/2014/main" id="{5AEC18C0-0F5C-50F5-065D-6CFC99234D58}"/>
              </a:ext>
            </a:extLst>
          </p:cNvPr>
          <p:cNvCxnSpPr/>
          <p:nvPr/>
        </p:nvCxnSpPr>
        <p:spPr>
          <a:xfrm>
            <a:off x="3659273" y="4217046"/>
            <a:ext cx="13396" cy="845611"/>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967BCD77-ACF3-12F4-5FB4-10201E1FFD60}"/>
              </a:ext>
            </a:extLst>
          </p:cNvPr>
          <p:cNvCxnSpPr/>
          <p:nvPr/>
        </p:nvCxnSpPr>
        <p:spPr>
          <a:xfrm>
            <a:off x="3653893" y="5083729"/>
            <a:ext cx="5156789" cy="27088"/>
          </a:xfrm>
          <a:prstGeom prst="line">
            <a:avLst/>
          </a:prstGeom>
        </p:spPr>
        <p:style>
          <a:lnRef idx="2">
            <a:schemeClr val="accent5"/>
          </a:lnRef>
          <a:fillRef idx="0">
            <a:schemeClr val="accent5"/>
          </a:fillRef>
          <a:effectRef idx="1">
            <a:schemeClr val="accent5"/>
          </a:effectRef>
          <a:fontRef idx="minor">
            <a:schemeClr val="tx1"/>
          </a:fontRef>
        </p:style>
      </p:cxnSp>
      <p:cxnSp>
        <p:nvCxnSpPr>
          <p:cNvPr id="76" name="Straight Connector 75">
            <a:extLst>
              <a:ext uri="{FF2B5EF4-FFF2-40B4-BE49-F238E27FC236}">
                <a16:creationId xmlns:a16="http://schemas.microsoft.com/office/drawing/2014/main" id="{9D0DCB91-6697-92AF-25D7-DAB7E1D17210}"/>
              </a:ext>
            </a:extLst>
          </p:cNvPr>
          <p:cNvCxnSpPr/>
          <p:nvPr/>
        </p:nvCxnSpPr>
        <p:spPr>
          <a:xfrm>
            <a:off x="3655903" y="4254077"/>
            <a:ext cx="4874537" cy="58239"/>
          </a:xfrm>
          <a:prstGeom prst="line">
            <a:avLst/>
          </a:prstGeom>
        </p:spPr>
        <p:style>
          <a:lnRef idx="2">
            <a:schemeClr val="accent5"/>
          </a:lnRef>
          <a:fillRef idx="0">
            <a:schemeClr val="accent5"/>
          </a:fillRef>
          <a:effectRef idx="1">
            <a:schemeClr val="accent5"/>
          </a:effectRef>
          <a:fontRef idx="minor">
            <a:schemeClr val="tx1"/>
          </a:fontRef>
        </p:style>
      </p:cxnSp>
      <p:cxnSp>
        <p:nvCxnSpPr>
          <p:cNvPr id="40" name="Straight Arrow Connector 39">
            <a:extLst>
              <a:ext uri="{FF2B5EF4-FFF2-40B4-BE49-F238E27FC236}">
                <a16:creationId xmlns:a16="http://schemas.microsoft.com/office/drawing/2014/main" id="{CF869108-415D-0EA2-4D67-922B47ED661F}"/>
              </a:ext>
            </a:extLst>
          </p:cNvPr>
          <p:cNvCxnSpPr>
            <a:cxnSpLocks/>
          </p:cNvCxnSpPr>
          <p:nvPr/>
        </p:nvCxnSpPr>
        <p:spPr>
          <a:xfrm>
            <a:off x="5605401" y="2034458"/>
            <a:ext cx="4526448"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1E07785D-116C-244B-910B-DAB8EEE1EC3B}"/>
              </a:ext>
            </a:extLst>
          </p:cNvPr>
          <p:cNvSpPr txBox="1"/>
          <p:nvPr/>
        </p:nvSpPr>
        <p:spPr>
          <a:xfrm>
            <a:off x="9504876" y="1297581"/>
            <a:ext cx="1216058" cy="584775"/>
          </a:xfrm>
          <a:prstGeom prst="rect">
            <a:avLst/>
          </a:prstGeom>
          <a:noFill/>
        </p:spPr>
        <p:txBody>
          <a:bodyPr wrap="square" rtlCol="0">
            <a:spAutoFit/>
          </a:bodyPr>
          <a:lstStyle/>
          <a:p>
            <a:pPr algn="ctr"/>
            <a:r>
              <a:rPr lang="en-US" sz="1600" dirty="0"/>
              <a:t>high talent men</a:t>
            </a:r>
          </a:p>
        </p:txBody>
      </p:sp>
      <p:sp>
        <p:nvSpPr>
          <p:cNvPr id="45" name="TextBox 44">
            <a:extLst>
              <a:ext uri="{FF2B5EF4-FFF2-40B4-BE49-F238E27FC236}">
                <a16:creationId xmlns:a16="http://schemas.microsoft.com/office/drawing/2014/main" id="{4F5F4FA4-1FD3-1CFA-E84F-A4A359B2CD1D}"/>
              </a:ext>
            </a:extLst>
          </p:cNvPr>
          <p:cNvSpPr txBox="1"/>
          <p:nvPr/>
        </p:nvSpPr>
        <p:spPr>
          <a:xfrm>
            <a:off x="8104800" y="1281878"/>
            <a:ext cx="1216058" cy="584775"/>
          </a:xfrm>
          <a:prstGeom prst="rect">
            <a:avLst/>
          </a:prstGeom>
          <a:noFill/>
        </p:spPr>
        <p:txBody>
          <a:bodyPr wrap="square" rtlCol="0">
            <a:spAutoFit/>
          </a:bodyPr>
          <a:lstStyle/>
          <a:p>
            <a:pPr algn="ctr"/>
            <a:r>
              <a:rPr lang="en-US" sz="1600" dirty="0"/>
              <a:t>low talent men</a:t>
            </a:r>
          </a:p>
        </p:txBody>
      </p:sp>
      <p:sp>
        <p:nvSpPr>
          <p:cNvPr id="50" name="TextBox 49">
            <a:extLst>
              <a:ext uri="{FF2B5EF4-FFF2-40B4-BE49-F238E27FC236}">
                <a16:creationId xmlns:a16="http://schemas.microsoft.com/office/drawing/2014/main" id="{B50AAE9E-E5A1-C3A1-8CE5-89AAFC2FA7B8}"/>
              </a:ext>
            </a:extLst>
          </p:cNvPr>
          <p:cNvSpPr txBox="1"/>
          <p:nvPr/>
        </p:nvSpPr>
        <p:spPr>
          <a:xfrm>
            <a:off x="6554399" y="1289268"/>
            <a:ext cx="1376870" cy="584775"/>
          </a:xfrm>
          <a:prstGeom prst="rect">
            <a:avLst/>
          </a:prstGeom>
          <a:noFill/>
        </p:spPr>
        <p:txBody>
          <a:bodyPr wrap="square" rtlCol="0">
            <a:spAutoFit/>
          </a:bodyPr>
          <a:lstStyle/>
          <a:p>
            <a:pPr algn="ctr"/>
            <a:r>
              <a:rPr lang="en-US" sz="1600" dirty="0"/>
              <a:t>high talent women</a:t>
            </a:r>
          </a:p>
        </p:txBody>
      </p:sp>
      <p:sp>
        <p:nvSpPr>
          <p:cNvPr id="61" name="TextBox 60">
            <a:extLst>
              <a:ext uri="{FF2B5EF4-FFF2-40B4-BE49-F238E27FC236}">
                <a16:creationId xmlns:a16="http://schemas.microsoft.com/office/drawing/2014/main" id="{4C77F6E0-8EE8-292B-109D-6DCB6F85F095}"/>
              </a:ext>
            </a:extLst>
          </p:cNvPr>
          <p:cNvSpPr txBox="1"/>
          <p:nvPr/>
        </p:nvSpPr>
        <p:spPr>
          <a:xfrm>
            <a:off x="5233538" y="1316410"/>
            <a:ext cx="1216058" cy="584775"/>
          </a:xfrm>
          <a:prstGeom prst="rect">
            <a:avLst/>
          </a:prstGeom>
          <a:noFill/>
        </p:spPr>
        <p:txBody>
          <a:bodyPr wrap="square" rtlCol="0">
            <a:spAutoFit/>
          </a:bodyPr>
          <a:lstStyle/>
          <a:p>
            <a:pPr algn="ctr"/>
            <a:r>
              <a:rPr lang="en-US" sz="1600" dirty="0"/>
              <a:t>low talent women</a:t>
            </a:r>
          </a:p>
        </p:txBody>
      </p:sp>
      <p:sp>
        <p:nvSpPr>
          <p:cNvPr id="63" name="TextBox 62">
            <a:extLst>
              <a:ext uri="{FF2B5EF4-FFF2-40B4-BE49-F238E27FC236}">
                <a16:creationId xmlns:a16="http://schemas.microsoft.com/office/drawing/2014/main" id="{B07386D6-43A6-9AA2-F770-2851D445B66C}"/>
              </a:ext>
            </a:extLst>
          </p:cNvPr>
          <p:cNvSpPr txBox="1"/>
          <p:nvPr/>
        </p:nvSpPr>
        <p:spPr>
          <a:xfrm>
            <a:off x="7927344" y="2423628"/>
            <a:ext cx="3949370" cy="1477328"/>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dirty="0"/>
              <a:t>In this region, high talent women don’t run.  So 100% of candidates are men (and thus there is no talent disparity between men and women candidates to speak of).</a:t>
            </a:r>
          </a:p>
        </p:txBody>
      </p:sp>
      <p:cxnSp>
        <p:nvCxnSpPr>
          <p:cNvPr id="68" name="Straight Arrow Connector 67">
            <a:extLst>
              <a:ext uri="{FF2B5EF4-FFF2-40B4-BE49-F238E27FC236}">
                <a16:creationId xmlns:a16="http://schemas.microsoft.com/office/drawing/2014/main" id="{DF5B387C-57DB-CFD8-4029-610EA0D64B67}"/>
              </a:ext>
            </a:extLst>
          </p:cNvPr>
          <p:cNvCxnSpPr>
            <a:cxnSpLocks/>
          </p:cNvCxnSpPr>
          <p:nvPr/>
        </p:nvCxnSpPr>
        <p:spPr>
          <a:xfrm flipH="1">
            <a:off x="5338723" y="2696066"/>
            <a:ext cx="2552906" cy="206548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1" name="Straight Connector 70">
            <a:extLst>
              <a:ext uri="{FF2B5EF4-FFF2-40B4-BE49-F238E27FC236}">
                <a16:creationId xmlns:a16="http://schemas.microsoft.com/office/drawing/2014/main" id="{9F17C9AA-E5DF-45D5-5688-817529357669}"/>
              </a:ext>
            </a:extLst>
          </p:cNvPr>
          <p:cNvCxnSpPr>
            <a:cxnSpLocks/>
          </p:cNvCxnSpPr>
          <p:nvPr/>
        </p:nvCxnSpPr>
        <p:spPr>
          <a:xfrm flipH="1">
            <a:off x="8044142" y="651981"/>
            <a:ext cx="15482" cy="1655855"/>
          </a:xfrm>
          <a:prstGeom prst="line">
            <a:avLst/>
          </a:prstGeom>
          <a:ln>
            <a:solidFill>
              <a:schemeClr val="tx1"/>
            </a:solidFill>
          </a:ln>
        </p:spPr>
        <p:style>
          <a:lnRef idx="2">
            <a:schemeClr val="accent5"/>
          </a:lnRef>
          <a:fillRef idx="0">
            <a:schemeClr val="accent5"/>
          </a:fillRef>
          <a:effectRef idx="1">
            <a:schemeClr val="accent5"/>
          </a:effectRef>
          <a:fontRef idx="minor">
            <a:schemeClr val="tx1"/>
          </a:fontRef>
        </p:style>
      </p:cxnSp>
      <p:sp>
        <p:nvSpPr>
          <p:cNvPr id="73" name="TextBox 72">
            <a:extLst>
              <a:ext uri="{FF2B5EF4-FFF2-40B4-BE49-F238E27FC236}">
                <a16:creationId xmlns:a16="http://schemas.microsoft.com/office/drawing/2014/main" id="{036E57AE-FE08-D9E4-C2E1-2E6DD7182C13}"/>
              </a:ext>
            </a:extLst>
          </p:cNvPr>
          <p:cNvSpPr txBox="1"/>
          <p:nvPr/>
        </p:nvSpPr>
        <p:spPr>
          <a:xfrm>
            <a:off x="8059624" y="651981"/>
            <a:ext cx="538315" cy="307777"/>
          </a:xfrm>
          <a:prstGeom prst="rect">
            <a:avLst/>
          </a:prstGeom>
          <a:noFill/>
        </p:spPr>
        <p:txBody>
          <a:bodyPr wrap="square" rtlCol="0">
            <a:spAutoFit/>
          </a:bodyPr>
          <a:lstStyle/>
          <a:p>
            <a:r>
              <a:rPr lang="en-US" sz="1400" i="1" dirty="0"/>
              <a:t>run</a:t>
            </a:r>
          </a:p>
        </p:txBody>
      </p:sp>
      <p:cxnSp>
        <p:nvCxnSpPr>
          <p:cNvPr id="78" name="Straight Arrow Connector 77">
            <a:extLst>
              <a:ext uri="{FF2B5EF4-FFF2-40B4-BE49-F238E27FC236}">
                <a16:creationId xmlns:a16="http://schemas.microsoft.com/office/drawing/2014/main" id="{C6DEEF24-BA9E-EF94-3462-50353D1C0B91}"/>
              </a:ext>
            </a:extLst>
          </p:cNvPr>
          <p:cNvCxnSpPr/>
          <p:nvPr/>
        </p:nvCxnSpPr>
        <p:spPr>
          <a:xfrm flipV="1">
            <a:off x="8130249" y="958821"/>
            <a:ext cx="318296" cy="850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9" name="TextBox 78">
            <a:extLst>
              <a:ext uri="{FF2B5EF4-FFF2-40B4-BE49-F238E27FC236}">
                <a16:creationId xmlns:a16="http://schemas.microsoft.com/office/drawing/2014/main" id="{5CCF2565-DEA5-E645-49A9-D062F6359EB7}"/>
              </a:ext>
            </a:extLst>
          </p:cNvPr>
          <p:cNvSpPr txBox="1"/>
          <p:nvPr/>
        </p:nvSpPr>
        <p:spPr>
          <a:xfrm>
            <a:off x="7222196" y="655353"/>
            <a:ext cx="926522" cy="307777"/>
          </a:xfrm>
          <a:prstGeom prst="rect">
            <a:avLst/>
          </a:prstGeom>
          <a:noFill/>
        </p:spPr>
        <p:txBody>
          <a:bodyPr wrap="square" rtlCol="0">
            <a:spAutoFit/>
          </a:bodyPr>
          <a:lstStyle/>
          <a:p>
            <a:r>
              <a:rPr lang="en-US" sz="1400" i="1" dirty="0"/>
              <a:t>don’t run</a:t>
            </a:r>
          </a:p>
        </p:txBody>
      </p:sp>
      <p:cxnSp>
        <p:nvCxnSpPr>
          <p:cNvPr id="80" name="Straight Arrow Connector 79">
            <a:extLst>
              <a:ext uri="{FF2B5EF4-FFF2-40B4-BE49-F238E27FC236}">
                <a16:creationId xmlns:a16="http://schemas.microsoft.com/office/drawing/2014/main" id="{1AAFECD2-8E9F-48EC-0775-98E4DDFCB83E}"/>
              </a:ext>
            </a:extLst>
          </p:cNvPr>
          <p:cNvCxnSpPr>
            <a:cxnSpLocks/>
          </p:cNvCxnSpPr>
          <p:nvPr/>
        </p:nvCxnSpPr>
        <p:spPr>
          <a:xfrm flipH="1">
            <a:off x="7532230" y="967330"/>
            <a:ext cx="46504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230807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D024B-1A81-1B8D-B0C0-BF5D163DCCE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690CB775-CC55-81A2-7851-46A40593651E}"/>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5">
                            <a:lumMod val="20000"/>
                            <a:lumOff val="80000"/>
                          </a:schemeClr>
                        </a:solid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5">
                            <a:lumMod val="20000"/>
                            <a:lumOff val="80000"/>
                          </a:schemeClr>
                        </a:solid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𝜆</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4">
                            <a:lumMod val="40000"/>
                            <a:lumOff val="60000"/>
                          </a:schemeClr>
                        </a:solid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4">
                            <a:lumMod val="40000"/>
                            <a:lumOff val="60000"/>
                          </a:schemeClr>
                        </a:solid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𝜇</m:t>
                                </m:r>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accent1">
                            <a:lumMod val="20000"/>
                            <a:lumOff val="80000"/>
                          </a:schemeClr>
                        </a:solid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accent1">
                            <a:lumMod val="20000"/>
                            <a:lumOff val="80000"/>
                          </a:schemeClr>
                        </a:solid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𝑤𝐵</m:t>
                                </m:r>
                                <m:r>
                                  <a:rPr lang="en-US" sz="1400" b="0" i="1" smtClean="0">
                                    <a:latin typeface="Cambria Math" panose="02040503050406030204" pitchFamily="18" charset="0"/>
                                  </a:rPr>
                                  <m:t>−</m:t>
                                </m:r>
                                <m:r>
                                  <a:rPr lang="en-US" sz="1400" b="0" i="1" smtClean="0">
                                    <a:latin typeface="Cambria Math" panose="02040503050406030204" pitchFamily="18" charset="0"/>
                                  </a:rPr>
                                  <m:t>𝐶</m:t>
                                </m:r>
                              </m:oMath>
                            </m:oMathPara>
                          </a14:m>
                          <a:endParaRPr lang="en-US" sz="1400" i="1" dirty="0"/>
                        </a:p>
                      </a:txBody>
                      <a:tcPr>
                        <a:solidFill>
                          <a:schemeClr val="tx1">
                            <a:lumMod val="85000"/>
                          </a:schemeClr>
                        </a:solid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0</m:t>
                                </m:r>
                              </m:oMath>
                            </m:oMathPara>
                          </a14:m>
                          <a:endParaRPr lang="en-US" sz="1400" dirty="0"/>
                        </a:p>
                      </a:txBody>
                      <a:tcPr>
                        <a:solidFill>
                          <a:schemeClr val="tx1">
                            <a:lumMod val="85000"/>
                          </a:schemeClr>
                        </a:solidFill>
                      </a:tcPr>
                    </a:tc>
                    <a:extLst>
                      <a:ext uri="{0D108BD9-81ED-4DB2-BD59-A6C34878D82A}">
                        <a16:rowId xmlns:a16="http://schemas.microsoft.com/office/drawing/2014/main" val="2360377173"/>
                      </a:ext>
                    </a:extLst>
                  </a:tr>
                </a:tbl>
              </a:graphicData>
            </a:graphic>
          </p:graphicFrame>
        </mc:Choice>
        <mc:Fallback xmlns="">
          <p:graphicFrame>
            <p:nvGraphicFramePr>
              <p:cNvPr id="4" name="Table 3">
                <a:extLst>
                  <a:ext uri="{FF2B5EF4-FFF2-40B4-BE49-F238E27FC236}">
                    <a16:creationId xmlns:a16="http://schemas.microsoft.com/office/drawing/2014/main" id="{690CB775-CC55-81A2-7851-46A40593651E}"/>
                  </a:ext>
                </a:extLst>
              </p:cNvPr>
              <p:cNvGraphicFramePr>
                <a:graphicFrameLocks noGrp="1"/>
              </p:cNvGraphicFramePr>
              <p:nvPr/>
            </p:nvGraphicFramePr>
            <p:xfrm>
              <a:off x="7956318" y="3348115"/>
              <a:ext cx="3935504" cy="3337560"/>
            </p:xfrm>
            <a:graphic>
              <a:graphicData uri="http://schemas.openxmlformats.org/drawingml/2006/table">
                <a:tbl>
                  <a:tblPr firstRow="1" bandRow="1">
                    <a:tableStyleId>{5C22544A-7EE6-4342-B048-85BDC9FD1C3A}</a:tableStyleId>
                  </a:tblPr>
                  <a:tblGrid>
                    <a:gridCol w="1004046">
                      <a:extLst>
                        <a:ext uri="{9D8B030D-6E8A-4147-A177-3AD203B41FA5}">
                          <a16:colId xmlns:a16="http://schemas.microsoft.com/office/drawing/2014/main" val="1315731517"/>
                        </a:ext>
                      </a:extLst>
                    </a:gridCol>
                    <a:gridCol w="914400">
                      <a:extLst>
                        <a:ext uri="{9D8B030D-6E8A-4147-A177-3AD203B41FA5}">
                          <a16:colId xmlns:a16="http://schemas.microsoft.com/office/drawing/2014/main" val="963518129"/>
                        </a:ext>
                      </a:extLst>
                    </a:gridCol>
                    <a:gridCol w="2017058">
                      <a:extLst>
                        <a:ext uri="{9D8B030D-6E8A-4147-A177-3AD203B41FA5}">
                          <a16:colId xmlns:a16="http://schemas.microsoft.com/office/drawing/2014/main" val="3802436861"/>
                        </a:ext>
                      </a:extLst>
                    </a:gridCol>
                  </a:tblGrid>
                  <a:tr h="370840">
                    <a:tc>
                      <a:txBody>
                        <a:bodyPr/>
                        <a:lstStyle/>
                        <a:p>
                          <a:r>
                            <a:rPr lang="en-US" sz="1400" dirty="0"/>
                            <a:t>type</a:t>
                          </a:r>
                        </a:p>
                      </a:txBody>
                      <a:tcPr/>
                    </a:tc>
                    <a:tc>
                      <a:txBody>
                        <a:bodyPr/>
                        <a:lstStyle/>
                        <a:p>
                          <a:r>
                            <a:rPr lang="en-US" sz="1400" dirty="0"/>
                            <a:t>action</a:t>
                          </a:r>
                        </a:p>
                      </a:txBody>
                      <a:tcPr/>
                    </a:tc>
                    <a:tc>
                      <a:txBody>
                        <a:bodyPr/>
                        <a:lstStyle/>
                        <a:p>
                          <a:r>
                            <a:rPr lang="en-US" sz="1400" dirty="0"/>
                            <a:t>expected utility</a:t>
                          </a:r>
                        </a:p>
                      </a:txBody>
                      <a:tcPr/>
                    </a:tc>
                    <a:extLst>
                      <a:ext uri="{0D108BD9-81ED-4DB2-BD59-A6C34878D82A}">
                        <a16:rowId xmlns:a16="http://schemas.microsoft.com/office/drawing/2014/main" val="1786047325"/>
                      </a:ext>
                    </a:extLst>
                  </a:tr>
                  <a:tr h="370840">
                    <a:tc rowSpan="2">
                      <a:txBody>
                        <a:bodyPr/>
                        <a:lstStyle/>
                        <a:p>
                          <a:r>
                            <a:rPr lang="en-US" sz="1400" dirty="0"/>
                            <a:t>low talent woman</a:t>
                          </a:r>
                        </a:p>
                      </a:txBody>
                      <a:tcPr anchor="ctr">
                        <a:solidFill>
                          <a:schemeClr val="accent5">
                            <a:lumMod val="20000"/>
                            <a:lumOff val="80000"/>
                          </a:schemeClr>
                        </a:solidFill>
                      </a:tcPr>
                    </a:tc>
                    <a:tc>
                      <a:txBody>
                        <a:bodyPr/>
                        <a:lstStyle/>
                        <a:p>
                          <a:r>
                            <a:rPr lang="en-US" sz="1400" dirty="0"/>
                            <a:t>run</a:t>
                          </a:r>
                        </a:p>
                      </a:txBody>
                      <a:tcPr>
                        <a:solidFill>
                          <a:schemeClr val="accent5">
                            <a:lumMod val="20000"/>
                            <a:lumOff val="80000"/>
                          </a:schemeClr>
                        </a:solidFill>
                      </a:tcPr>
                    </a:tc>
                    <a:tc>
                      <a:txBody>
                        <a:bodyPr/>
                        <a:lstStyle/>
                        <a:p>
                          <a:endParaRPr lang="en-US"/>
                        </a:p>
                      </a:txBody>
                      <a:tcPr>
                        <a:blipFill>
                          <a:blip r:embed="rId2"/>
                          <a:stretch>
                            <a:fillRect l="-95468" t="-103279" r="-1208" b="-701639"/>
                          </a:stretch>
                        </a:blipFill>
                      </a:tcPr>
                    </a:tc>
                    <a:extLst>
                      <a:ext uri="{0D108BD9-81ED-4DB2-BD59-A6C34878D82A}">
                        <a16:rowId xmlns:a16="http://schemas.microsoft.com/office/drawing/2014/main" val="1165820235"/>
                      </a:ext>
                    </a:extLst>
                  </a:tr>
                  <a:tr h="370840">
                    <a:tc vMerge="1">
                      <a:txBody>
                        <a:bodyPr/>
                        <a:lstStyle/>
                        <a:p>
                          <a:endParaRPr lang="en-US" dirty="0"/>
                        </a:p>
                      </a:txBody>
                      <a:tcPr/>
                    </a:tc>
                    <a:tc>
                      <a:txBody>
                        <a:bodyPr/>
                        <a:lstStyle/>
                        <a:p>
                          <a:r>
                            <a:rPr lang="en-US" sz="1400" dirty="0"/>
                            <a:t>don’t run</a:t>
                          </a:r>
                        </a:p>
                      </a:txBody>
                      <a:tcPr>
                        <a:solidFill>
                          <a:schemeClr val="accent5">
                            <a:lumMod val="20000"/>
                            <a:lumOff val="80000"/>
                          </a:schemeClr>
                        </a:solidFill>
                      </a:tcPr>
                    </a:tc>
                    <a:tc>
                      <a:txBody>
                        <a:bodyPr/>
                        <a:lstStyle/>
                        <a:p>
                          <a:endParaRPr lang="en-US"/>
                        </a:p>
                      </a:txBody>
                      <a:tcPr>
                        <a:blipFill>
                          <a:blip r:embed="rId2"/>
                          <a:stretch>
                            <a:fillRect l="-95468" t="-203279" r="-1208" b="-601639"/>
                          </a:stretch>
                        </a:blipFill>
                      </a:tcPr>
                    </a:tc>
                    <a:extLst>
                      <a:ext uri="{0D108BD9-81ED-4DB2-BD59-A6C34878D82A}">
                        <a16:rowId xmlns:a16="http://schemas.microsoft.com/office/drawing/2014/main" val="1944851895"/>
                      </a:ext>
                    </a:extLst>
                  </a:tr>
                  <a:tr h="370840">
                    <a:tc rowSpan="2">
                      <a:txBody>
                        <a:bodyPr/>
                        <a:lstStyle/>
                        <a:p>
                          <a:r>
                            <a:rPr lang="en-US" sz="1400" dirty="0"/>
                            <a:t>low talent man</a:t>
                          </a:r>
                        </a:p>
                      </a:txBody>
                      <a:tcPr anchor="ctr">
                        <a:solidFill>
                          <a:schemeClr val="accent4">
                            <a:lumMod val="40000"/>
                            <a:lumOff val="60000"/>
                          </a:schemeClr>
                        </a:solidFill>
                      </a:tcPr>
                    </a:tc>
                    <a:tc>
                      <a:txBody>
                        <a:bodyPr/>
                        <a:lstStyle/>
                        <a:p>
                          <a:r>
                            <a:rPr lang="en-US" sz="1400" dirty="0"/>
                            <a:t>run</a:t>
                          </a:r>
                        </a:p>
                      </a:txBody>
                      <a:tcPr>
                        <a:solidFill>
                          <a:schemeClr val="accent4">
                            <a:lumMod val="40000"/>
                            <a:lumOff val="60000"/>
                          </a:schemeClr>
                        </a:solidFill>
                      </a:tcPr>
                    </a:tc>
                    <a:tc>
                      <a:txBody>
                        <a:bodyPr/>
                        <a:lstStyle/>
                        <a:p>
                          <a:endParaRPr lang="en-US"/>
                        </a:p>
                      </a:txBody>
                      <a:tcPr>
                        <a:blipFill>
                          <a:blip r:embed="rId2"/>
                          <a:stretch>
                            <a:fillRect l="-95468" t="-303279" r="-1208" b="-501639"/>
                          </a:stretch>
                        </a:blipFill>
                      </a:tcPr>
                    </a:tc>
                    <a:extLst>
                      <a:ext uri="{0D108BD9-81ED-4DB2-BD59-A6C34878D82A}">
                        <a16:rowId xmlns:a16="http://schemas.microsoft.com/office/drawing/2014/main" val="469433902"/>
                      </a:ext>
                    </a:extLst>
                  </a:tr>
                  <a:tr h="370840">
                    <a:tc vMerge="1">
                      <a:txBody>
                        <a:bodyPr/>
                        <a:lstStyle/>
                        <a:p>
                          <a:endParaRPr lang="en-US" dirty="0"/>
                        </a:p>
                      </a:txBody>
                      <a:tcPr/>
                    </a:tc>
                    <a:tc>
                      <a:txBody>
                        <a:bodyPr/>
                        <a:lstStyle/>
                        <a:p>
                          <a:r>
                            <a:rPr lang="en-US" sz="1400" dirty="0"/>
                            <a:t>don’t run</a:t>
                          </a:r>
                        </a:p>
                      </a:txBody>
                      <a:tcPr>
                        <a:solidFill>
                          <a:schemeClr val="accent4">
                            <a:lumMod val="40000"/>
                            <a:lumOff val="60000"/>
                          </a:schemeClr>
                        </a:solidFill>
                      </a:tcPr>
                    </a:tc>
                    <a:tc>
                      <a:txBody>
                        <a:bodyPr/>
                        <a:lstStyle/>
                        <a:p>
                          <a:endParaRPr lang="en-US"/>
                        </a:p>
                      </a:txBody>
                      <a:tcPr>
                        <a:blipFill>
                          <a:blip r:embed="rId2"/>
                          <a:stretch>
                            <a:fillRect l="-95468" t="-410000" r="-1208" b="-410000"/>
                          </a:stretch>
                        </a:blipFill>
                      </a:tcPr>
                    </a:tc>
                    <a:extLst>
                      <a:ext uri="{0D108BD9-81ED-4DB2-BD59-A6C34878D82A}">
                        <a16:rowId xmlns:a16="http://schemas.microsoft.com/office/drawing/2014/main" val="3952393198"/>
                      </a:ext>
                    </a:extLst>
                  </a:tr>
                  <a:tr h="370840">
                    <a:tc rowSpan="2">
                      <a:txBody>
                        <a:bodyPr/>
                        <a:lstStyle/>
                        <a:p>
                          <a:r>
                            <a:rPr lang="en-US" sz="1400" dirty="0"/>
                            <a:t>high talent woman</a:t>
                          </a:r>
                        </a:p>
                      </a:txBody>
                      <a:tcPr anchor="ctr">
                        <a:solidFill>
                          <a:schemeClr val="accent1">
                            <a:lumMod val="20000"/>
                            <a:lumOff val="80000"/>
                          </a:schemeClr>
                        </a:solidFill>
                      </a:tcPr>
                    </a:tc>
                    <a:tc>
                      <a:txBody>
                        <a:bodyPr/>
                        <a:lstStyle/>
                        <a:p>
                          <a:r>
                            <a:rPr lang="en-US" sz="1400" dirty="0"/>
                            <a:t>run</a:t>
                          </a:r>
                        </a:p>
                      </a:txBody>
                      <a:tcPr>
                        <a:solidFill>
                          <a:schemeClr val="accent1">
                            <a:lumMod val="20000"/>
                            <a:lumOff val="80000"/>
                          </a:schemeClr>
                        </a:solidFill>
                      </a:tcPr>
                    </a:tc>
                    <a:tc>
                      <a:txBody>
                        <a:bodyPr/>
                        <a:lstStyle/>
                        <a:p>
                          <a:endParaRPr lang="en-US"/>
                        </a:p>
                      </a:txBody>
                      <a:tcPr>
                        <a:blipFill>
                          <a:blip r:embed="rId2"/>
                          <a:stretch>
                            <a:fillRect l="-95468" t="-501639" r="-1208" b="-303279"/>
                          </a:stretch>
                        </a:blipFill>
                      </a:tcPr>
                    </a:tc>
                    <a:extLst>
                      <a:ext uri="{0D108BD9-81ED-4DB2-BD59-A6C34878D82A}">
                        <a16:rowId xmlns:a16="http://schemas.microsoft.com/office/drawing/2014/main" val="2897457711"/>
                      </a:ext>
                    </a:extLst>
                  </a:tr>
                  <a:tr h="370840">
                    <a:tc vMerge="1">
                      <a:txBody>
                        <a:bodyPr/>
                        <a:lstStyle/>
                        <a:p>
                          <a:endParaRPr lang="en-US" dirty="0"/>
                        </a:p>
                      </a:txBody>
                      <a:tcPr anchor="ctr"/>
                    </a:tc>
                    <a:tc>
                      <a:txBody>
                        <a:bodyPr/>
                        <a:lstStyle/>
                        <a:p>
                          <a:r>
                            <a:rPr lang="en-US" sz="1400" dirty="0"/>
                            <a:t>don’t run</a:t>
                          </a:r>
                        </a:p>
                      </a:txBody>
                      <a:tcPr>
                        <a:solidFill>
                          <a:schemeClr val="accent1">
                            <a:lumMod val="20000"/>
                            <a:lumOff val="80000"/>
                          </a:schemeClr>
                        </a:solidFill>
                      </a:tcPr>
                    </a:tc>
                    <a:tc>
                      <a:txBody>
                        <a:bodyPr/>
                        <a:lstStyle/>
                        <a:p>
                          <a:endParaRPr lang="en-US"/>
                        </a:p>
                      </a:txBody>
                      <a:tcPr>
                        <a:blipFill>
                          <a:blip r:embed="rId2"/>
                          <a:stretch>
                            <a:fillRect l="-95468" t="-601639" r="-1208" b="-203279"/>
                          </a:stretch>
                        </a:blipFill>
                      </a:tcPr>
                    </a:tc>
                    <a:extLst>
                      <a:ext uri="{0D108BD9-81ED-4DB2-BD59-A6C34878D82A}">
                        <a16:rowId xmlns:a16="http://schemas.microsoft.com/office/drawing/2014/main" val="838714598"/>
                      </a:ext>
                    </a:extLst>
                  </a:tr>
                  <a:tr h="370840">
                    <a:tc rowSpan="2">
                      <a:txBody>
                        <a:bodyPr/>
                        <a:lstStyle/>
                        <a:p>
                          <a:r>
                            <a:rPr lang="en-US" sz="1400" dirty="0"/>
                            <a:t>high talent man</a:t>
                          </a:r>
                        </a:p>
                      </a:txBody>
                      <a:tcPr anchor="ctr">
                        <a:solidFill>
                          <a:schemeClr val="tx1">
                            <a:lumMod val="85000"/>
                          </a:schemeClr>
                        </a:solidFill>
                      </a:tcPr>
                    </a:tc>
                    <a:tc>
                      <a:txBody>
                        <a:bodyPr/>
                        <a:lstStyle/>
                        <a:p>
                          <a:r>
                            <a:rPr lang="en-US" sz="1400" dirty="0"/>
                            <a:t>run</a:t>
                          </a:r>
                        </a:p>
                      </a:txBody>
                      <a:tcPr>
                        <a:solidFill>
                          <a:schemeClr val="tx1">
                            <a:lumMod val="85000"/>
                          </a:schemeClr>
                        </a:solidFill>
                      </a:tcPr>
                    </a:tc>
                    <a:tc>
                      <a:txBody>
                        <a:bodyPr/>
                        <a:lstStyle/>
                        <a:p>
                          <a:endParaRPr lang="en-US"/>
                        </a:p>
                      </a:txBody>
                      <a:tcPr>
                        <a:blipFill>
                          <a:blip r:embed="rId2"/>
                          <a:stretch>
                            <a:fillRect l="-95468" t="-701639" r="-1208" b="-103279"/>
                          </a:stretch>
                        </a:blipFill>
                      </a:tcPr>
                    </a:tc>
                    <a:extLst>
                      <a:ext uri="{0D108BD9-81ED-4DB2-BD59-A6C34878D82A}">
                        <a16:rowId xmlns:a16="http://schemas.microsoft.com/office/drawing/2014/main" val="4223685808"/>
                      </a:ext>
                    </a:extLst>
                  </a:tr>
                  <a:tr h="370840">
                    <a:tc vMerge="1">
                      <a:txBody>
                        <a:bodyPr/>
                        <a:lstStyle/>
                        <a:p>
                          <a:endParaRPr lang="en-US" dirty="0"/>
                        </a:p>
                      </a:txBody>
                      <a:tcPr anchor="ctr"/>
                    </a:tc>
                    <a:tc>
                      <a:txBody>
                        <a:bodyPr/>
                        <a:lstStyle/>
                        <a:p>
                          <a:r>
                            <a:rPr lang="en-US" sz="1400" dirty="0"/>
                            <a:t>don’t run</a:t>
                          </a:r>
                        </a:p>
                      </a:txBody>
                      <a:tcPr>
                        <a:solidFill>
                          <a:schemeClr val="tx1">
                            <a:lumMod val="85000"/>
                          </a:schemeClr>
                        </a:solidFill>
                      </a:tcPr>
                    </a:tc>
                    <a:tc>
                      <a:txBody>
                        <a:bodyPr/>
                        <a:lstStyle/>
                        <a:p>
                          <a:endParaRPr lang="en-US"/>
                        </a:p>
                      </a:txBody>
                      <a:tcPr>
                        <a:blipFill>
                          <a:blip r:embed="rId2"/>
                          <a:stretch>
                            <a:fillRect l="-95468" t="-801639" r="-1208" b="-3279"/>
                          </a:stretch>
                        </a:blipFill>
                      </a:tcPr>
                    </a:tc>
                    <a:extLst>
                      <a:ext uri="{0D108BD9-81ED-4DB2-BD59-A6C34878D82A}">
                        <a16:rowId xmlns:a16="http://schemas.microsoft.com/office/drawing/2014/main" val="2360377173"/>
                      </a:ext>
                    </a:extLst>
                  </a:tr>
                </a:tbl>
              </a:graphicData>
            </a:graphic>
          </p:graphicFrame>
        </mc:Fallback>
      </mc:AlternateContent>
      <p:sp>
        <p:nvSpPr>
          <p:cNvPr id="3" name="TextBox 2">
            <a:extLst>
              <a:ext uri="{FF2B5EF4-FFF2-40B4-BE49-F238E27FC236}">
                <a16:creationId xmlns:a16="http://schemas.microsoft.com/office/drawing/2014/main" id="{0BFBCB21-3481-0B38-83F6-211CFE5DBB04}"/>
              </a:ext>
            </a:extLst>
          </p:cNvPr>
          <p:cNvSpPr txBox="1"/>
          <p:nvPr/>
        </p:nvSpPr>
        <p:spPr>
          <a:xfrm rot="20107433">
            <a:off x="986118" y="1210235"/>
            <a:ext cx="1479176" cy="369332"/>
          </a:xfrm>
          <a:prstGeom prst="rect">
            <a:avLst/>
          </a:prstGeom>
          <a:noFill/>
          <a:ln>
            <a:solidFill>
              <a:schemeClr val="tx1"/>
            </a:solidFill>
          </a:ln>
        </p:spPr>
        <p:txBody>
          <a:bodyPr wrap="square" rtlCol="0">
            <a:spAutoFit/>
          </a:bodyPr>
          <a:lstStyle/>
          <a:p>
            <a:r>
              <a:rPr lang="en-US" dirty="0"/>
              <a:t>possibility A</a:t>
            </a:r>
          </a:p>
        </p:txBody>
      </p:sp>
      <p:cxnSp>
        <p:nvCxnSpPr>
          <p:cNvPr id="5" name="Straight Arrow Connector 4">
            <a:extLst>
              <a:ext uri="{FF2B5EF4-FFF2-40B4-BE49-F238E27FC236}">
                <a16:creationId xmlns:a16="http://schemas.microsoft.com/office/drawing/2014/main" id="{271E26E2-4391-AAE7-9A35-0A6E25168BFA}"/>
              </a:ext>
            </a:extLst>
          </p:cNvPr>
          <p:cNvCxnSpPr/>
          <p:nvPr/>
        </p:nvCxnSpPr>
        <p:spPr>
          <a:xfrm>
            <a:off x="2474356" y="2480385"/>
            <a:ext cx="7064189" cy="0"/>
          </a:xfrm>
          <a:prstGeom prst="straightConnector1">
            <a:avLst/>
          </a:prstGeom>
          <a:ln>
            <a:solidFill>
              <a:schemeClr val="tx1"/>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29982A8D-A78C-BDAA-0612-D337E9DE3166}"/>
              </a:ext>
            </a:extLst>
          </p:cNvPr>
          <p:cNvSpPr txBox="1"/>
          <p:nvPr/>
        </p:nvSpPr>
        <p:spPr>
          <a:xfrm>
            <a:off x="9719872" y="2157219"/>
            <a:ext cx="2078703" cy="646331"/>
          </a:xfrm>
          <a:prstGeom prst="rect">
            <a:avLst/>
          </a:prstGeom>
          <a:noFill/>
        </p:spPr>
        <p:txBody>
          <a:bodyPr wrap="square" rtlCol="0">
            <a:spAutoFit/>
          </a:bodyPr>
          <a:lstStyle/>
          <a:p>
            <a:r>
              <a:rPr lang="en-US" dirty="0"/>
              <a:t>highest probability of winning</a:t>
            </a:r>
          </a:p>
        </p:txBody>
      </p:sp>
      <p:sp>
        <p:nvSpPr>
          <p:cNvPr id="7" name="TextBox 6">
            <a:extLst>
              <a:ext uri="{FF2B5EF4-FFF2-40B4-BE49-F238E27FC236}">
                <a16:creationId xmlns:a16="http://schemas.microsoft.com/office/drawing/2014/main" id="{18A1E60C-4BFB-8601-AED2-D1B8BCD4DBBE}"/>
              </a:ext>
            </a:extLst>
          </p:cNvPr>
          <p:cNvSpPr txBox="1"/>
          <p:nvPr/>
        </p:nvSpPr>
        <p:spPr>
          <a:xfrm>
            <a:off x="577443" y="2132755"/>
            <a:ext cx="2078703" cy="646331"/>
          </a:xfrm>
          <a:prstGeom prst="rect">
            <a:avLst/>
          </a:prstGeom>
          <a:noFill/>
        </p:spPr>
        <p:txBody>
          <a:bodyPr wrap="square" rtlCol="0">
            <a:spAutoFit/>
          </a:bodyPr>
          <a:lstStyle/>
          <a:p>
            <a:r>
              <a:rPr lang="en-US" dirty="0"/>
              <a:t>lowest probability of winning</a:t>
            </a:r>
          </a:p>
        </p:txBody>
      </p:sp>
      <p:sp>
        <p:nvSpPr>
          <p:cNvPr id="8" name="TextBox 7">
            <a:extLst>
              <a:ext uri="{FF2B5EF4-FFF2-40B4-BE49-F238E27FC236}">
                <a16:creationId xmlns:a16="http://schemas.microsoft.com/office/drawing/2014/main" id="{FF552061-A19B-61DD-DED5-1AD5B87AF6F0}"/>
              </a:ext>
            </a:extLst>
          </p:cNvPr>
          <p:cNvSpPr txBox="1"/>
          <p:nvPr/>
        </p:nvSpPr>
        <p:spPr>
          <a:xfrm>
            <a:off x="3672669" y="1713192"/>
            <a:ext cx="1216058" cy="584775"/>
          </a:xfrm>
          <a:prstGeom prst="rect">
            <a:avLst/>
          </a:prstGeom>
          <a:noFill/>
        </p:spPr>
        <p:txBody>
          <a:bodyPr wrap="square" rtlCol="0">
            <a:spAutoFit/>
          </a:bodyPr>
          <a:lstStyle/>
          <a:p>
            <a:pPr algn="ctr"/>
            <a:r>
              <a:rPr lang="en-US" sz="1600" dirty="0"/>
              <a:t>low talent women</a:t>
            </a:r>
          </a:p>
        </p:txBody>
      </p:sp>
      <p:sp>
        <p:nvSpPr>
          <p:cNvPr id="9" name="TextBox 8">
            <a:extLst>
              <a:ext uri="{FF2B5EF4-FFF2-40B4-BE49-F238E27FC236}">
                <a16:creationId xmlns:a16="http://schemas.microsoft.com/office/drawing/2014/main" id="{1AB4EE3C-F840-2D8F-CA3D-FE0E8ECC6C4D}"/>
              </a:ext>
            </a:extLst>
          </p:cNvPr>
          <p:cNvSpPr txBox="1"/>
          <p:nvPr/>
        </p:nvSpPr>
        <p:spPr>
          <a:xfrm>
            <a:off x="7956318" y="1743044"/>
            <a:ext cx="1216058" cy="584775"/>
          </a:xfrm>
          <a:prstGeom prst="rect">
            <a:avLst/>
          </a:prstGeom>
          <a:noFill/>
        </p:spPr>
        <p:txBody>
          <a:bodyPr wrap="square" rtlCol="0">
            <a:spAutoFit/>
          </a:bodyPr>
          <a:lstStyle/>
          <a:p>
            <a:pPr algn="ctr"/>
            <a:r>
              <a:rPr lang="en-US" sz="1600" dirty="0"/>
              <a:t>high talent men</a:t>
            </a:r>
          </a:p>
        </p:txBody>
      </p:sp>
      <p:sp>
        <p:nvSpPr>
          <p:cNvPr id="10" name="TextBox 9">
            <a:extLst>
              <a:ext uri="{FF2B5EF4-FFF2-40B4-BE49-F238E27FC236}">
                <a16:creationId xmlns:a16="http://schemas.microsoft.com/office/drawing/2014/main" id="{17406088-7477-492D-EDDC-EAF396B20732}"/>
              </a:ext>
            </a:extLst>
          </p:cNvPr>
          <p:cNvSpPr txBox="1"/>
          <p:nvPr/>
        </p:nvSpPr>
        <p:spPr>
          <a:xfrm>
            <a:off x="5100552" y="1718760"/>
            <a:ext cx="1216058" cy="584775"/>
          </a:xfrm>
          <a:prstGeom prst="rect">
            <a:avLst/>
          </a:prstGeom>
          <a:noFill/>
        </p:spPr>
        <p:txBody>
          <a:bodyPr wrap="square" rtlCol="0">
            <a:spAutoFit/>
          </a:bodyPr>
          <a:lstStyle/>
          <a:p>
            <a:pPr algn="ctr"/>
            <a:r>
              <a:rPr lang="en-US" sz="1600" dirty="0"/>
              <a:t>low talent men</a:t>
            </a:r>
          </a:p>
        </p:txBody>
      </p:sp>
      <p:sp>
        <p:nvSpPr>
          <p:cNvPr id="11" name="TextBox 10">
            <a:extLst>
              <a:ext uri="{FF2B5EF4-FFF2-40B4-BE49-F238E27FC236}">
                <a16:creationId xmlns:a16="http://schemas.microsoft.com/office/drawing/2014/main" id="{BAD9CBE0-3263-001E-07E0-19FE2DA6B14C}"/>
              </a:ext>
            </a:extLst>
          </p:cNvPr>
          <p:cNvSpPr txBox="1"/>
          <p:nvPr/>
        </p:nvSpPr>
        <p:spPr>
          <a:xfrm>
            <a:off x="6528435" y="1724328"/>
            <a:ext cx="1376870" cy="584775"/>
          </a:xfrm>
          <a:prstGeom prst="rect">
            <a:avLst/>
          </a:prstGeom>
          <a:noFill/>
        </p:spPr>
        <p:txBody>
          <a:bodyPr wrap="square" rtlCol="0">
            <a:spAutoFit/>
          </a:bodyPr>
          <a:lstStyle/>
          <a:p>
            <a:pPr algn="ctr"/>
            <a:r>
              <a:rPr lang="en-US" sz="1600" dirty="0"/>
              <a:t>high talent women</a:t>
            </a:r>
          </a:p>
        </p:txBody>
      </p:sp>
      <p:sp>
        <p:nvSpPr>
          <p:cNvPr id="12" name="Rectangle 11">
            <a:extLst>
              <a:ext uri="{FF2B5EF4-FFF2-40B4-BE49-F238E27FC236}">
                <a16:creationId xmlns:a16="http://schemas.microsoft.com/office/drawing/2014/main" id="{F516B438-A6F9-8902-F73E-768FAFE36EB4}"/>
              </a:ext>
            </a:extLst>
          </p:cNvPr>
          <p:cNvSpPr/>
          <p:nvPr/>
        </p:nvSpPr>
        <p:spPr>
          <a:xfrm>
            <a:off x="2488778" y="936035"/>
            <a:ext cx="4168588" cy="36932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sz="1400" i="1" dirty="0">
                <a:solidFill>
                  <a:schemeClr val="tx1"/>
                </a:solidFill>
              </a:rPr>
              <a:t>(low-talent penalty is bigger than misogyny penalty)</a:t>
            </a:r>
          </a:p>
        </p:txBody>
      </p:sp>
      <p:cxnSp>
        <p:nvCxnSpPr>
          <p:cNvPr id="14" name="Straight Connector 13">
            <a:extLst>
              <a:ext uri="{FF2B5EF4-FFF2-40B4-BE49-F238E27FC236}">
                <a16:creationId xmlns:a16="http://schemas.microsoft.com/office/drawing/2014/main" id="{62394EC6-4ED3-C731-53F3-473BDB37A92B}"/>
              </a:ext>
            </a:extLst>
          </p:cNvPr>
          <p:cNvCxnSpPr/>
          <p:nvPr/>
        </p:nvCxnSpPr>
        <p:spPr>
          <a:xfrm>
            <a:off x="5011271" y="1506071"/>
            <a:ext cx="0" cy="1622611"/>
          </a:xfrm>
          <a:prstGeom prst="line">
            <a:avLst/>
          </a:prstGeom>
          <a:ln w="38100"/>
        </p:spPr>
        <p:style>
          <a:lnRef idx="2">
            <a:schemeClr val="accent5"/>
          </a:lnRef>
          <a:fillRef idx="0">
            <a:schemeClr val="accent5"/>
          </a:fillRef>
          <a:effectRef idx="1">
            <a:schemeClr val="accent5"/>
          </a:effectRef>
          <a:fontRef idx="minor">
            <a:schemeClr val="tx1"/>
          </a:fontRef>
        </p:style>
      </p:cxnSp>
      <p:sp>
        <p:nvSpPr>
          <p:cNvPr id="15" name="TextBox 14">
            <a:extLst>
              <a:ext uri="{FF2B5EF4-FFF2-40B4-BE49-F238E27FC236}">
                <a16:creationId xmlns:a16="http://schemas.microsoft.com/office/drawing/2014/main" id="{C407D7B6-A1EA-C472-CC1D-6FAD7A790A23}"/>
              </a:ext>
            </a:extLst>
          </p:cNvPr>
          <p:cNvSpPr txBox="1"/>
          <p:nvPr/>
        </p:nvSpPr>
        <p:spPr>
          <a:xfrm rot="20531952">
            <a:off x="7485530" y="949218"/>
            <a:ext cx="1376870" cy="307777"/>
          </a:xfrm>
          <a:prstGeom prst="rect">
            <a:avLst/>
          </a:prstGeom>
          <a:noFill/>
        </p:spPr>
        <p:txBody>
          <a:bodyPr wrap="square" rtlCol="0">
            <a:spAutoFit/>
          </a:bodyPr>
          <a:lstStyle/>
          <a:p>
            <a:r>
              <a:rPr lang="en-US" sz="1400" i="1" dirty="0"/>
              <a:t>cutoff here</a:t>
            </a:r>
          </a:p>
        </p:txBody>
      </p:sp>
      <p:cxnSp>
        <p:nvCxnSpPr>
          <p:cNvPr id="17" name="Straight Arrow Connector 16">
            <a:extLst>
              <a:ext uri="{FF2B5EF4-FFF2-40B4-BE49-F238E27FC236}">
                <a16:creationId xmlns:a16="http://schemas.microsoft.com/office/drawing/2014/main" id="{01D80DF7-717A-BCEF-3174-EAC94256F1D4}"/>
              </a:ext>
            </a:extLst>
          </p:cNvPr>
          <p:cNvCxnSpPr>
            <a:stCxn id="15" idx="1"/>
          </p:cNvCxnSpPr>
          <p:nvPr/>
        </p:nvCxnSpPr>
        <p:spPr>
          <a:xfrm flipH="1">
            <a:off x="5100552" y="1313567"/>
            <a:ext cx="2417937" cy="399625"/>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13" name="TextBox 12">
            <a:extLst>
              <a:ext uri="{FF2B5EF4-FFF2-40B4-BE49-F238E27FC236}">
                <a16:creationId xmlns:a16="http://schemas.microsoft.com/office/drawing/2014/main" id="{CB461D7C-BC6C-7440-2067-6AE0812D5CBE}"/>
              </a:ext>
            </a:extLst>
          </p:cNvPr>
          <p:cNvSpPr txBox="1"/>
          <p:nvPr/>
        </p:nvSpPr>
        <p:spPr>
          <a:xfrm>
            <a:off x="128653" y="2931652"/>
            <a:ext cx="2976281" cy="646331"/>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Step 1: What has to be true for this to be the ordering?</a:t>
            </a:r>
          </a:p>
        </p:txBody>
      </p:sp>
      <p:sp>
        <p:nvSpPr>
          <p:cNvPr id="16" name="Oval 15">
            <a:extLst>
              <a:ext uri="{FF2B5EF4-FFF2-40B4-BE49-F238E27FC236}">
                <a16:creationId xmlns:a16="http://schemas.microsoft.com/office/drawing/2014/main" id="{73F4DDE3-399F-002F-4EF7-BEDCFC8982E3}"/>
              </a:ext>
            </a:extLst>
          </p:cNvPr>
          <p:cNvSpPr/>
          <p:nvPr/>
        </p:nvSpPr>
        <p:spPr>
          <a:xfrm>
            <a:off x="3361765" y="1549806"/>
            <a:ext cx="6096000"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5D32ED82-7AFC-2B4F-51E3-425C8C11DC31}"/>
              </a:ext>
            </a:extLst>
          </p:cNvPr>
          <p:cNvCxnSpPr/>
          <p:nvPr/>
        </p:nvCxnSpPr>
        <p:spPr>
          <a:xfrm flipV="1">
            <a:off x="3019624" y="2309103"/>
            <a:ext cx="871058" cy="669861"/>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D9D9C26-3BB6-8160-DDC9-80C8ADD5F926}"/>
                  </a:ext>
                </a:extLst>
              </p:cNvPr>
              <p:cNvSpPr txBox="1"/>
              <p:nvPr/>
            </p:nvSpPr>
            <p:spPr>
              <a:xfrm>
                <a:off x="3239222" y="3051388"/>
                <a:ext cx="1649505" cy="369332"/>
              </a:xfrm>
              <a:prstGeom prst="rect">
                <a:avLst/>
              </a:prstGeom>
              <a:noFill/>
              <a:ln w="28575">
                <a:solidFill>
                  <a:schemeClr val="accent3"/>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r>
                        <a:rPr lang="en-US" b="0" i="1" smtClean="0">
                          <a:latin typeface="Cambria Math" panose="02040503050406030204" pitchFamily="18" charset="0"/>
                        </a:rPr>
                        <m:t>𝜇</m:t>
                      </m:r>
                    </m:oMath>
                  </m:oMathPara>
                </a14:m>
                <a:endParaRPr lang="en-US" dirty="0"/>
              </a:p>
            </p:txBody>
          </p:sp>
        </mc:Choice>
        <mc:Fallback xmlns="">
          <p:sp>
            <p:nvSpPr>
              <p:cNvPr id="18" name="TextBox 17">
                <a:extLst>
                  <a:ext uri="{FF2B5EF4-FFF2-40B4-BE49-F238E27FC236}">
                    <a16:creationId xmlns:a16="http://schemas.microsoft.com/office/drawing/2014/main" id="{ED9D9C26-3BB6-8160-DDC9-80C8ADD5F926}"/>
                  </a:ext>
                </a:extLst>
              </p:cNvPr>
              <p:cNvSpPr txBox="1">
                <a:spLocks noRot="1" noChangeAspect="1" noMove="1" noResize="1" noEditPoints="1" noAdjustHandles="1" noChangeArrowheads="1" noChangeShapeType="1" noTextEdit="1"/>
              </p:cNvSpPr>
              <p:nvPr/>
            </p:nvSpPr>
            <p:spPr>
              <a:xfrm>
                <a:off x="3239222" y="3051388"/>
                <a:ext cx="1649505" cy="369332"/>
              </a:xfrm>
              <a:prstGeom prst="rect">
                <a:avLst/>
              </a:prstGeom>
              <a:blipFill>
                <a:blip r:embed="rId3"/>
                <a:stretch>
                  <a:fillRect/>
                </a:stretch>
              </a:blipFill>
              <a:ln w="28575">
                <a:solidFill>
                  <a:schemeClr val="accent3"/>
                </a:solidFill>
              </a:ln>
            </p:spPr>
            <p:txBody>
              <a:bodyPr/>
              <a:lstStyle/>
              <a:p>
                <a:r>
                  <a:rPr lang="en-US">
                    <a:noFill/>
                  </a:rPr>
                  <a:t> </a:t>
                </a:r>
              </a:p>
            </p:txBody>
          </p:sp>
        </mc:Fallback>
      </mc:AlternateContent>
      <p:sp>
        <p:nvSpPr>
          <p:cNvPr id="20" name="Oval 19">
            <a:extLst>
              <a:ext uri="{FF2B5EF4-FFF2-40B4-BE49-F238E27FC236}">
                <a16:creationId xmlns:a16="http://schemas.microsoft.com/office/drawing/2014/main" id="{F17EC90B-C2F8-BDA0-D77F-966DB7D73774}"/>
              </a:ext>
            </a:extLst>
          </p:cNvPr>
          <p:cNvSpPr/>
          <p:nvPr/>
        </p:nvSpPr>
        <p:spPr>
          <a:xfrm>
            <a:off x="2474356" y="708337"/>
            <a:ext cx="4320891" cy="884593"/>
          </a:xfrm>
          <a:prstGeom prst="ellipse">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590348F-E43C-2CE5-1CAC-D1BAFF88FCFA}"/>
              </a:ext>
            </a:extLst>
          </p:cNvPr>
          <p:cNvSpPr txBox="1"/>
          <p:nvPr/>
        </p:nvSpPr>
        <p:spPr>
          <a:xfrm>
            <a:off x="197644" y="4029249"/>
            <a:ext cx="2976281" cy="646331"/>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wrap="square" rtlCol="0">
            <a:spAutoFit/>
          </a:bodyPr>
          <a:lstStyle/>
          <a:p>
            <a:r>
              <a:rPr lang="en-US" dirty="0"/>
              <a:t>Step 2: What has to be true for the cutoff to be here?</a:t>
            </a:r>
          </a:p>
        </p:txBody>
      </p:sp>
      <p:cxnSp>
        <p:nvCxnSpPr>
          <p:cNvPr id="23" name="Straight Arrow Connector 22">
            <a:extLst>
              <a:ext uri="{FF2B5EF4-FFF2-40B4-BE49-F238E27FC236}">
                <a16:creationId xmlns:a16="http://schemas.microsoft.com/office/drawing/2014/main" id="{02F10AD2-C1A8-AE81-9A79-8E0FFCE3FED5}"/>
              </a:ext>
            </a:extLst>
          </p:cNvPr>
          <p:cNvCxnSpPr/>
          <p:nvPr/>
        </p:nvCxnSpPr>
        <p:spPr>
          <a:xfrm flipV="1">
            <a:off x="3104934" y="3126716"/>
            <a:ext cx="1829448" cy="902533"/>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 name="TextBox 23">
            <a:extLst>
              <a:ext uri="{FF2B5EF4-FFF2-40B4-BE49-F238E27FC236}">
                <a16:creationId xmlns:a16="http://schemas.microsoft.com/office/drawing/2014/main" id="{6E1D0F6D-2991-72C4-120D-9FC541184072}"/>
              </a:ext>
            </a:extLst>
          </p:cNvPr>
          <p:cNvSpPr txBox="1"/>
          <p:nvPr/>
        </p:nvSpPr>
        <p:spPr>
          <a:xfrm>
            <a:off x="3397909" y="4016137"/>
            <a:ext cx="3818961" cy="646331"/>
          </a:xfrm>
          <a:prstGeom prst="rect">
            <a:avLst/>
          </a:prstGeom>
          <a:noFill/>
          <a:ln w="38100">
            <a:solidFill>
              <a:schemeClr val="accent5"/>
            </a:solidFill>
          </a:ln>
        </p:spPr>
        <p:txBody>
          <a:bodyPr wrap="square" rtlCol="0">
            <a:spAutoFit/>
          </a:bodyPr>
          <a:lstStyle/>
          <a:p>
            <a:r>
              <a:rPr lang="en-US" dirty="0"/>
              <a:t>(low talent women prefer not to run, while low talent men prefer to run.)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C7FB142-F1FB-61D1-71AD-CDE334FD46D1}"/>
                  </a:ext>
                </a:extLst>
              </p:cNvPr>
              <p:cNvSpPr txBox="1"/>
              <p:nvPr/>
            </p:nvSpPr>
            <p:spPr>
              <a:xfrm>
                <a:off x="349624" y="5056094"/>
                <a:ext cx="4141694" cy="63664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𝜆</m:t>
                          </m:r>
                        </m:den>
                      </m:f>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2" name="TextBox 21">
                <a:extLst>
                  <a:ext uri="{FF2B5EF4-FFF2-40B4-BE49-F238E27FC236}">
                    <a16:creationId xmlns:a16="http://schemas.microsoft.com/office/drawing/2014/main" id="{7C7FB142-F1FB-61D1-71AD-CDE334FD46D1}"/>
                  </a:ext>
                </a:extLst>
              </p:cNvPr>
              <p:cNvSpPr txBox="1">
                <a:spLocks noRot="1" noChangeAspect="1" noMove="1" noResize="1" noEditPoints="1" noAdjustHandles="1" noChangeArrowheads="1" noChangeShapeType="1" noTextEdit="1"/>
              </p:cNvSpPr>
              <p:nvPr/>
            </p:nvSpPr>
            <p:spPr>
              <a:xfrm>
                <a:off x="349624" y="5056094"/>
                <a:ext cx="4141694" cy="636649"/>
              </a:xfrm>
              <a:prstGeom prst="rect">
                <a:avLst/>
              </a:prstGeom>
              <a:blipFill>
                <a:blip r:embed="rId4"/>
                <a:stretch>
                  <a:fillRect/>
                </a:stretch>
              </a:blipFill>
              <a:ln>
                <a:solidFill>
                  <a:srgbClr val="FFFF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8165B5EC-20B1-1201-6A5A-248E904DBBE7}"/>
                  </a:ext>
                </a:extLst>
              </p:cNvPr>
              <p:cNvSpPr txBox="1"/>
              <p:nvPr/>
            </p:nvSpPr>
            <p:spPr>
              <a:xfrm>
                <a:off x="349624" y="5702425"/>
                <a:ext cx="4141694" cy="634789"/>
              </a:xfrm>
              <a:prstGeom prst="rect">
                <a:avLst/>
              </a:prstGeom>
              <a:noFill/>
              <a:ln>
                <a:solidFill>
                  <a:srgbClr val="FFFF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𝐶</m:t>
                          </m:r>
                        </m:num>
                        <m:den>
                          <m:r>
                            <a:rPr lang="en-US" b="0" i="1" smtClean="0">
                              <a:latin typeface="Cambria Math" panose="02040503050406030204" pitchFamily="18" charset="0"/>
                            </a:rPr>
                            <m:t>𝑤𝐵</m:t>
                          </m:r>
                        </m:den>
                      </m:f>
                    </m:oMath>
                  </m:oMathPara>
                </a14:m>
                <a:endParaRPr lang="en-US" dirty="0"/>
              </a:p>
            </p:txBody>
          </p:sp>
        </mc:Choice>
        <mc:Fallback xmlns="">
          <p:sp>
            <p:nvSpPr>
              <p:cNvPr id="25" name="TextBox 24">
                <a:extLst>
                  <a:ext uri="{FF2B5EF4-FFF2-40B4-BE49-F238E27FC236}">
                    <a16:creationId xmlns:a16="http://schemas.microsoft.com/office/drawing/2014/main" id="{8165B5EC-20B1-1201-6A5A-248E904DBBE7}"/>
                  </a:ext>
                </a:extLst>
              </p:cNvPr>
              <p:cNvSpPr txBox="1">
                <a:spLocks noRot="1" noChangeAspect="1" noMove="1" noResize="1" noEditPoints="1" noAdjustHandles="1" noChangeArrowheads="1" noChangeShapeType="1" noTextEdit="1"/>
              </p:cNvSpPr>
              <p:nvPr/>
            </p:nvSpPr>
            <p:spPr>
              <a:xfrm>
                <a:off x="349624" y="5702425"/>
                <a:ext cx="4141694" cy="634789"/>
              </a:xfrm>
              <a:prstGeom prst="rect">
                <a:avLst/>
              </a:prstGeom>
              <a:blipFill>
                <a:blip r:embed="rId5"/>
                <a:stretch>
                  <a:fillRect/>
                </a:stretch>
              </a:blipFill>
              <a:ln>
                <a:solidFill>
                  <a:srgbClr val="FFFF00"/>
                </a:solidFill>
              </a:ln>
            </p:spPr>
            <p:txBody>
              <a:bodyPr/>
              <a:lstStyle/>
              <a:p>
                <a:r>
                  <a:rPr lang="en-US">
                    <a:noFill/>
                  </a:rPr>
                  <a:t> </a:t>
                </a:r>
              </a:p>
            </p:txBody>
          </p:sp>
        </mc:Fallback>
      </mc:AlternateContent>
      <p:sp>
        <p:nvSpPr>
          <p:cNvPr id="26" name="Rectangle 25">
            <a:extLst>
              <a:ext uri="{FF2B5EF4-FFF2-40B4-BE49-F238E27FC236}">
                <a16:creationId xmlns:a16="http://schemas.microsoft.com/office/drawing/2014/main" id="{F567C3B4-4B0A-2813-7935-2D5EBB4DE041}"/>
              </a:ext>
            </a:extLst>
          </p:cNvPr>
          <p:cNvSpPr/>
          <p:nvPr/>
        </p:nvSpPr>
        <p:spPr>
          <a:xfrm>
            <a:off x="188849" y="375620"/>
            <a:ext cx="11425708" cy="5656730"/>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4CAE7EA5-01AD-A6FF-3031-4D293E434C60}"/>
              </a:ext>
            </a:extLst>
          </p:cNvPr>
          <p:cNvCxnSpPr>
            <a:cxnSpLocks/>
          </p:cNvCxnSpPr>
          <p:nvPr/>
        </p:nvCxnSpPr>
        <p:spPr>
          <a:xfrm>
            <a:off x="1959813" y="1398494"/>
            <a:ext cx="0" cy="372931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C542923A-20CC-A48A-5668-B54BD81F9D9A}"/>
              </a:ext>
            </a:extLst>
          </p:cNvPr>
          <p:cNvCxnSpPr>
            <a:cxnSpLocks/>
          </p:cNvCxnSpPr>
          <p:nvPr/>
        </p:nvCxnSpPr>
        <p:spPr>
          <a:xfrm flipH="1">
            <a:off x="1959813" y="5127812"/>
            <a:ext cx="6881201"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68DD8C4-3972-876E-45A0-507B52AF8243}"/>
                  </a:ext>
                </a:extLst>
              </p:cNvPr>
              <p:cNvSpPr txBox="1"/>
              <p:nvPr/>
            </p:nvSpPr>
            <p:spPr>
              <a:xfrm>
                <a:off x="1073468" y="741092"/>
                <a:ext cx="1499449" cy="492443"/>
              </a:xfrm>
              <a:prstGeom prst="rect">
                <a:avLst/>
              </a:prstGeom>
              <a:noFill/>
            </p:spPr>
            <p:txBody>
              <a:bodyPr wrap="none" lIns="0" tIns="0" rIns="0" bIns="0" rtlCol="0">
                <a:spAutoFit/>
              </a:bodyPr>
              <a:lstStyle/>
              <a:p>
                <a:pPr algn="ctr"/>
                <a14:m>
                  <m:oMath xmlns:m="http://schemas.openxmlformats.org/officeDocument/2006/math">
                    <m:r>
                      <a:rPr lang="en-US" b="0" i="1" smtClean="0">
                        <a:latin typeface="Cambria Math" panose="02040503050406030204" pitchFamily="18" charset="0"/>
                      </a:rPr>
                      <m:t>𝜇</m:t>
                    </m:r>
                  </m:oMath>
                </a14:m>
                <a:r>
                  <a:rPr lang="en-US" dirty="0"/>
                  <a:t> </a:t>
                </a:r>
                <a:br>
                  <a:rPr lang="en-US" dirty="0"/>
                </a:br>
                <a:r>
                  <a:rPr lang="en-US" sz="1400" dirty="0"/>
                  <a:t>(misogyny penalty)</a:t>
                </a:r>
              </a:p>
            </p:txBody>
          </p:sp>
        </mc:Choice>
        <mc:Fallback xmlns="">
          <p:sp>
            <p:nvSpPr>
              <p:cNvPr id="29" name="TextBox 28">
                <a:extLst>
                  <a:ext uri="{FF2B5EF4-FFF2-40B4-BE49-F238E27FC236}">
                    <a16:creationId xmlns:a16="http://schemas.microsoft.com/office/drawing/2014/main" id="{368DD8C4-3972-876E-45A0-507B52AF8243}"/>
                  </a:ext>
                </a:extLst>
              </p:cNvPr>
              <p:cNvSpPr txBox="1">
                <a:spLocks noRot="1" noChangeAspect="1" noMove="1" noResize="1" noEditPoints="1" noAdjustHandles="1" noChangeArrowheads="1" noChangeShapeType="1" noTextEdit="1"/>
              </p:cNvSpPr>
              <p:nvPr/>
            </p:nvSpPr>
            <p:spPr>
              <a:xfrm>
                <a:off x="1073468" y="741092"/>
                <a:ext cx="1499449" cy="492443"/>
              </a:xfrm>
              <a:prstGeom prst="rect">
                <a:avLst/>
              </a:prstGeom>
              <a:blipFill>
                <a:blip r:embed="rId6"/>
                <a:stretch>
                  <a:fillRect l="-4878" r="-4878"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17FAF554-9ECA-B527-50FB-AEF42E666888}"/>
                  </a:ext>
                </a:extLst>
              </p:cNvPr>
              <p:cNvSpPr txBox="1"/>
              <p:nvPr/>
            </p:nvSpPr>
            <p:spPr>
              <a:xfrm>
                <a:off x="9118729" y="4787327"/>
                <a:ext cx="150599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𝜆</m:t>
                      </m:r>
                    </m:oMath>
                  </m:oMathPara>
                </a14:m>
                <a:endParaRPr lang="en-US" dirty="0"/>
              </a:p>
              <a:p>
                <a:r>
                  <a:rPr lang="en-US" sz="1400" dirty="0"/>
                  <a:t>(low-talent penalty)</a:t>
                </a:r>
              </a:p>
            </p:txBody>
          </p:sp>
        </mc:Choice>
        <mc:Fallback xmlns="">
          <p:sp>
            <p:nvSpPr>
              <p:cNvPr id="30" name="TextBox 29">
                <a:extLst>
                  <a:ext uri="{FF2B5EF4-FFF2-40B4-BE49-F238E27FC236}">
                    <a16:creationId xmlns:a16="http://schemas.microsoft.com/office/drawing/2014/main" id="{17FAF554-9ECA-B527-50FB-AEF42E666888}"/>
                  </a:ext>
                </a:extLst>
              </p:cNvPr>
              <p:cNvSpPr txBox="1">
                <a:spLocks noRot="1" noChangeAspect="1" noMove="1" noResize="1" noEditPoints="1" noAdjustHandles="1" noChangeArrowheads="1" noChangeShapeType="1" noTextEdit="1"/>
              </p:cNvSpPr>
              <p:nvPr/>
            </p:nvSpPr>
            <p:spPr>
              <a:xfrm>
                <a:off x="9118729" y="4787327"/>
                <a:ext cx="1505990" cy="492443"/>
              </a:xfrm>
              <a:prstGeom prst="rect">
                <a:avLst/>
              </a:prstGeom>
              <a:blipFill>
                <a:blip r:embed="rId7"/>
                <a:stretch>
                  <a:fillRect l="-7287" r="-5263" b="-20988"/>
                </a:stretch>
              </a:blipFill>
            </p:spPr>
            <p:txBody>
              <a:bodyPr/>
              <a:lstStyle/>
              <a:p>
                <a:r>
                  <a:rPr lang="en-US">
                    <a:noFill/>
                  </a:rPr>
                  <a:t> </a:t>
                </a:r>
              </a:p>
            </p:txBody>
          </p:sp>
        </mc:Fallback>
      </mc:AlternateContent>
      <p:cxnSp>
        <p:nvCxnSpPr>
          <p:cNvPr id="31" name="Straight Connector 30">
            <a:extLst>
              <a:ext uri="{FF2B5EF4-FFF2-40B4-BE49-F238E27FC236}">
                <a16:creationId xmlns:a16="http://schemas.microsoft.com/office/drawing/2014/main" id="{3C731719-C814-5CB3-FBF8-D473EB3F3D09}"/>
              </a:ext>
            </a:extLst>
          </p:cNvPr>
          <p:cNvCxnSpPr/>
          <p:nvPr/>
        </p:nvCxnSpPr>
        <p:spPr>
          <a:xfrm>
            <a:off x="1677614" y="1398494"/>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7FC3729-6B0B-D153-4A3D-4E6AAF89703F}"/>
                  </a:ext>
                </a:extLst>
              </p:cNvPr>
              <p:cNvSpPr txBox="1"/>
              <p:nvPr/>
            </p:nvSpPr>
            <p:spPr>
              <a:xfrm>
                <a:off x="1234435" y="1231757"/>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2" name="TextBox 31">
                <a:extLst>
                  <a:ext uri="{FF2B5EF4-FFF2-40B4-BE49-F238E27FC236}">
                    <a16:creationId xmlns:a16="http://schemas.microsoft.com/office/drawing/2014/main" id="{F7FC3729-6B0B-D153-4A3D-4E6AAF89703F}"/>
                  </a:ext>
                </a:extLst>
              </p:cNvPr>
              <p:cNvSpPr txBox="1">
                <a:spLocks noRot="1" noChangeAspect="1" noMove="1" noResize="1" noEditPoints="1" noAdjustHandles="1" noChangeArrowheads="1" noChangeShapeType="1" noTextEdit="1"/>
              </p:cNvSpPr>
              <p:nvPr/>
            </p:nvSpPr>
            <p:spPr>
              <a:xfrm>
                <a:off x="1234435" y="1231757"/>
                <a:ext cx="55543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F9EE37D4-AF48-C564-0F2D-2BD4A7B8E0F1}"/>
                  </a:ext>
                </a:extLst>
              </p:cNvPr>
              <p:cNvSpPr txBox="1"/>
              <p:nvPr/>
            </p:nvSpPr>
            <p:spPr>
              <a:xfrm>
                <a:off x="1232098" y="4943145"/>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3" name="TextBox 32">
                <a:extLst>
                  <a:ext uri="{FF2B5EF4-FFF2-40B4-BE49-F238E27FC236}">
                    <a16:creationId xmlns:a16="http://schemas.microsoft.com/office/drawing/2014/main" id="{F9EE37D4-AF48-C564-0F2D-2BD4A7B8E0F1}"/>
                  </a:ext>
                </a:extLst>
              </p:cNvPr>
              <p:cNvSpPr txBox="1">
                <a:spLocks noRot="1" noChangeAspect="1" noMove="1" noResize="1" noEditPoints="1" noAdjustHandles="1" noChangeArrowheads="1" noChangeShapeType="1" noTextEdit="1"/>
              </p:cNvSpPr>
              <p:nvPr/>
            </p:nvSpPr>
            <p:spPr>
              <a:xfrm>
                <a:off x="1232098" y="4943145"/>
                <a:ext cx="555431" cy="369332"/>
              </a:xfrm>
              <a:prstGeom prst="rect">
                <a:avLst/>
              </a:prstGeom>
              <a:blipFill>
                <a:blip r:embed="rId9"/>
                <a:stretch>
                  <a:fillRect/>
                </a:stretch>
              </a:blipFill>
            </p:spPr>
            <p:txBody>
              <a:bodyPr/>
              <a:lstStyle/>
              <a:p>
                <a:r>
                  <a:rPr lang="en-US">
                    <a:noFill/>
                  </a:rPr>
                  <a:t> </a:t>
                </a:r>
              </a:p>
            </p:txBody>
          </p:sp>
        </mc:Fallback>
      </mc:AlternateContent>
      <p:cxnSp>
        <p:nvCxnSpPr>
          <p:cNvPr id="34" name="Straight Connector 33">
            <a:extLst>
              <a:ext uri="{FF2B5EF4-FFF2-40B4-BE49-F238E27FC236}">
                <a16:creationId xmlns:a16="http://schemas.microsoft.com/office/drawing/2014/main" id="{98CA607B-A3C8-88DB-6DC4-9632FF3441AD}"/>
              </a:ext>
            </a:extLst>
          </p:cNvPr>
          <p:cNvCxnSpPr/>
          <p:nvPr/>
        </p:nvCxnSpPr>
        <p:spPr>
          <a:xfrm>
            <a:off x="1682094" y="5127811"/>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CC665EE-4BC0-5AA9-BF8A-2FB49F152C3E}"/>
              </a:ext>
            </a:extLst>
          </p:cNvPr>
          <p:cNvCxnSpPr>
            <a:cxnSpLocks/>
          </p:cNvCxnSpPr>
          <p:nvPr/>
        </p:nvCxnSpPr>
        <p:spPr>
          <a:xfrm flipV="1">
            <a:off x="195944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7787A72A-F209-D07D-A1F1-A47AC4F38C86}"/>
                  </a:ext>
                </a:extLst>
              </p:cNvPr>
              <p:cNvSpPr txBox="1"/>
              <p:nvPr/>
            </p:nvSpPr>
            <p:spPr>
              <a:xfrm>
                <a:off x="1684255" y="5441141"/>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36" name="TextBox 35">
                <a:extLst>
                  <a:ext uri="{FF2B5EF4-FFF2-40B4-BE49-F238E27FC236}">
                    <a16:creationId xmlns:a16="http://schemas.microsoft.com/office/drawing/2014/main" id="{7787A72A-F209-D07D-A1F1-A47AC4F38C86}"/>
                  </a:ext>
                </a:extLst>
              </p:cNvPr>
              <p:cNvSpPr txBox="1">
                <a:spLocks noRot="1" noChangeAspect="1" noMove="1" noResize="1" noEditPoints="1" noAdjustHandles="1" noChangeArrowheads="1" noChangeShapeType="1" noTextEdit="1"/>
              </p:cNvSpPr>
              <p:nvPr/>
            </p:nvSpPr>
            <p:spPr>
              <a:xfrm>
                <a:off x="1684255" y="5441141"/>
                <a:ext cx="555431" cy="369332"/>
              </a:xfrm>
              <a:prstGeom prst="rect">
                <a:avLst/>
              </a:prstGeom>
              <a:blipFill>
                <a:blip r:embed="rId10"/>
                <a:stretch>
                  <a:fillRect/>
                </a:stretch>
              </a:blipFill>
            </p:spPr>
            <p:txBody>
              <a:bodyPr/>
              <a:lstStyle/>
              <a:p>
                <a:r>
                  <a:rPr lang="en-US">
                    <a:noFill/>
                  </a:rPr>
                  <a:t> </a:t>
                </a:r>
              </a:p>
            </p:txBody>
          </p:sp>
        </mc:Fallback>
      </mc:AlternateContent>
      <p:cxnSp>
        <p:nvCxnSpPr>
          <p:cNvPr id="37" name="Straight Connector 36">
            <a:extLst>
              <a:ext uri="{FF2B5EF4-FFF2-40B4-BE49-F238E27FC236}">
                <a16:creationId xmlns:a16="http://schemas.microsoft.com/office/drawing/2014/main" id="{9C0057F6-E09E-39C7-9B58-5CAFC96020DB}"/>
              </a:ext>
            </a:extLst>
          </p:cNvPr>
          <p:cNvCxnSpPr>
            <a:cxnSpLocks/>
          </p:cNvCxnSpPr>
          <p:nvPr/>
        </p:nvCxnSpPr>
        <p:spPr>
          <a:xfrm flipV="1">
            <a:off x="8841014" y="5127811"/>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2A9D7BE4-DA96-9FB1-324A-0799E4222829}"/>
                  </a:ext>
                </a:extLst>
              </p:cNvPr>
              <p:cNvSpPr txBox="1"/>
              <p:nvPr/>
            </p:nvSpPr>
            <p:spPr>
              <a:xfrm>
                <a:off x="8563298" y="5431730"/>
                <a:ext cx="55543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38" name="TextBox 37">
                <a:extLst>
                  <a:ext uri="{FF2B5EF4-FFF2-40B4-BE49-F238E27FC236}">
                    <a16:creationId xmlns:a16="http://schemas.microsoft.com/office/drawing/2014/main" id="{2A9D7BE4-DA96-9FB1-324A-0799E4222829}"/>
                  </a:ext>
                </a:extLst>
              </p:cNvPr>
              <p:cNvSpPr txBox="1">
                <a:spLocks noRot="1" noChangeAspect="1" noMove="1" noResize="1" noEditPoints="1" noAdjustHandles="1" noChangeArrowheads="1" noChangeShapeType="1" noTextEdit="1"/>
              </p:cNvSpPr>
              <p:nvPr/>
            </p:nvSpPr>
            <p:spPr>
              <a:xfrm>
                <a:off x="8563298" y="5431730"/>
                <a:ext cx="555431" cy="369332"/>
              </a:xfrm>
              <a:prstGeom prst="rect">
                <a:avLst/>
              </a:prstGeom>
              <a:blipFill>
                <a:blip r:embed="rId11"/>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8116D04B-FB0F-A381-21B6-CFBC67E7A48E}"/>
              </a:ext>
            </a:extLst>
          </p:cNvPr>
          <p:cNvCxnSpPr>
            <a:cxnSpLocks/>
          </p:cNvCxnSpPr>
          <p:nvPr/>
        </p:nvCxnSpPr>
        <p:spPr>
          <a:xfrm flipV="1">
            <a:off x="1937125" y="1364512"/>
            <a:ext cx="6881570" cy="3751091"/>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p:cxnSp>
        <p:nvCxnSpPr>
          <p:cNvPr id="42" name="Straight Connector 41">
            <a:extLst>
              <a:ext uri="{FF2B5EF4-FFF2-40B4-BE49-F238E27FC236}">
                <a16:creationId xmlns:a16="http://schemas.microsoft.com/office/drawing/2014/main" id="{4DA5FBB2-55A7-F03C-8C2E-3A09FA211471}"/>
              </a:ext>
            </a:extLst>
          </p:cNvPr>
          <p:cNvCxnSpPr>
            <a:cxnSpLocks/>
          </p:cNvCxnSpPr>
          <p:nvPr/>
        </p:nvCxnSpPr>
        <p:spPr>
          <a:xfrm flipV="1">
            <a:off x="3636954" y="5131015"/>
            <a:ext cx="0" cy="336472"/>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5EC52373-FB36-C674-A13F-45D41DCB60E9}"/>
                  </a:ext>
                </a:extLst>
              </p:cNvPr>
              <p:cNvSpPr txBox="1"/>
              <p:nvPr/>
            </p:nvSpPr>
            <p:spPr>
              <a:xfrm>
                <a:off x="3361765" y="5444345"/>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4" name="TextBox 43">
                <a:extLst>
                  <a:ext uri="{FF2B5EF4-FFF2-40B4-BE49-F238E27FC236}">
                    <a16:creationId xmlns:a16="http://schemas.microsoft.com/office/drawing/2014/main" id="{5EC52373-FB36-C674-A13F-45D41DCB60E9}"/>
                  </a:ext>
                </a:extLst>
              </p:cNvPr>
              <p:cNvSpPr txBox="1">
                <a:spLocks noRot="1" noChangeAspect="1" noMove="1" noResize="1" noEditPoints="1" noAdjustHandles="1" noChangeArrowheads="1" noChangeShapeType="1" noTextEdit="1"/>
              </p:cNvSpPr>
              <p:nvPr/>
            </p:nvSpPr>
            <p:spPr>
              <a:xfrm>
                <a:off x="3361765" y="5444345"/>
                <a:ext cx="555431" cy="418704"/>
              </a:xfrm>
              <a:prstGeom prst="rect">
                <a:avLst/>
              </a:prstGeom>
              <a:blipFill>
                <a:blip r:embed="rId12"/>
                <a:stretch>
                  <a:fillRect b="-1449"/>
                </a:stretch>
              </a:blipFill>
            </p:spPr>
            <p:txBody>
              <a:bodyPr/>
              <a:lstStyle/>
              <a:p>
                <a:r>
                  <a:rPr lang="en-US">
                    <a:noFill/>
                  </a:rPr>
                  <a:t> </a:t>
                </a:r>
              </a:p>
            </p:txBody>
          </p:sp>
        </mc:Fallback>
      </mc:AlternateContent>
      <p:cxnSp>
        <p:nvCxnSpPr>
          <p:cNvPr id="47" name="Straight Connector 46">
            <a:extLst>
              <a:ext uri="{FF2B5EF4-FFF2-40B4-BE49-F238E27FC236}">
                <a16:creationId xmlns:a16="http://schemas.microsoft.com/office/drawing/2014/main" id="{91357934-5379-C843-8877-4F92C28B64ED}"/>
              </a:ext>
            </a:extLst>
          </p:cNvPr>
          <p:cNvCxnSpPr>
            <a:cxnSpLocks/>
          </p:cNvCxnSpPr>
          <p:nvPr/>
        </p:nvCxnSpPr>
        <p:spPr>
          <a:xfrm flipH="1" flipV="1">
            <a:off x="3623921" y="1231757"/>
            <a:ext cx="13033" cy="3913051"/>
          </a:xfrm>
          <a:prstGeom prst="line">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E2A332D2-6FD1-86A5-8746-AAD997900DB9}"/>
                  </a:ext>
                </a:extLst>
              </p:cNvPr>
              <p:cNvSpPr txBox="1"/>
              <p:nvPr/>
            </p:nvSpPr>
            <p:spPr>
              <a:xfrm>
                <a:off x="1095927" y="3958497"/>
                <a:ext cx="555431" cy="41870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en-US" i="1" smtClean="0">
                              <a:solidFill>
                                <a:schemeClr val="tx1"/>
                              </a:solidFill>
                              <a:latin typeface="Cambria Math" panose="02040503050406030204" pitchFamily="18" charset="0"/>
                            </a:rPr>
                          </m:ctrlPr>
                        </m:boxPr>
                        <m:e>
                          <m:argPr>
                            <m:argSz m:val="-1"/>
                          </m:argP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𝐶</m:t>
                              </m:r>
                            </m:num>
                            <m:den>
                              <m:r>
                                <a:rPr lang="en-US" b="0" i="1" smtClean="0">
                                  <a:solidFill>
                                    <a:schemeClr val="tx1"/>
                                  </a:solidFill>
                                  <a:latin typeface="Cambria Math" panose="02040503050406030204" pitchFamily="18" charset="0"/>
                                </a:rPr>
                                <m:t>𝑤𝐵</m:t>
                              </m:r>
                            </m:den>
                          </m:f>
                        </m:e>
                      </m:box>
                    </m:oMath>
                  </m:oMathPara>
                </a14:m>
                <a:endParaRPr lang="en-US" dirty="0">
                  <a:solidFill>
                    <a:schemeClr val="tx1"/>
                  </a:solidFill>
                </a:endParaRPr>
              </a:p>
            </p:txBody>
          </p:sp>
        </mc:Choice>
        <mc:Fallback xmlns="">
          <p:sp>
            <p:nvSpPr>
              <p:cNvPr id="46" name="TextBox 45">
                <a:extLst>
                  <a:ext uri="{FF2B5EF4-FFF2-40B4-BE49-F238E27FC236}">
                    <a16:creationId xmlns:a16="http://schemas.microsoft.com/office/drawing/2014/main" id="{E2A332D2-6FD1-86A5-8746-AAD997900DB9}"/>
                  </a:ext>
                </a:extLst>
              </p:cNvPr>
              <p:cNvSpPr txBox="1">
                <a:spLocks noRot="1" noChangeAspect="1" noMove="1" noResize="1" noEditPoints="1" noAdjustHandles="1" noChangeArrowheads="1" noChangeShapeType="1" noTextEdit="1"/>
              </p:cNvSpPr>
              <p:nvPr/>
            </p:nvSpPr>
            <p:spPr>
              <a:xfrm>
                <a:off x="1095927" y="3958497"/>
                <a:ext cx="555431" cy="418704"/>
              </a:xfrm>
              <a:prstGeom prst="rect">
                <a:avLst/>
              </a:prstGeom>
              <a:blipFill>
                <a:blip r:embed="rId13"/>
                <a:stretch>
                  <a:fillRect b="-1449"/>
                </a:stretch>
              </a:blipFill>
            </p:spPr>
            <p:txBody>
              <a:bodyPr/>
              <a:lstStyle/>
              <a:p>
                <a:r>
                  <a:rPr lang="en-US">
                    <a:noFill/>
                  </a:rPr>
                  <a:t> </a:t>
                </a:r>
              </a:p>
            </p:txBody>
          </p:sp>
        </mc:Fallback>
      </mc:AlternateContent>
      <p:cxnSp>
        <p:nvCxnSpPr>
          <p:cNvPr id="48" name="Straight Connector 47">
            <a:extLst>
              <a:ext uri="{FF2B5EF4-FFF2-40B4-BE49-F238E27FC236}">
                <a16:creationId xmlns:a16="http://schemas.microsoft.com/office/drawing/2014/main" id="{A9F3EEC4-2CAC-27E2-5439-6F6972CA3733}"/>
              </a:ext>
            </a:extLst>
          </p:cNvPr>
          <p:cNvCxnSpPr/>
          <p:nvPr/>
        </p:nvCxnSpPr>
        <p:spPr>
          <a:xfrm>
            <a:off x="1687636" y="4194743"/>
            <a:ext cx="28219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49" name="Arc 48">
            <a:extLst>
              <a:ext uri="{FF2B5EF4-FFF2-40B4-BE49-F238E27FC236}">
                <a16:creationId xmlns:a16="http://schemas.microsoft.com/office/drawing/2014/main" id="{8BCCF48C-88A5-975C-F4E5-637E1E30A673}"/>
              </a:ext>
            </a:extLst>
          </p:cNvPr>
          <p:cNvSpPr/>
          <p:nvPr/>
        </p:nvSpPr>
        <p:spPr>
          <a:xfrm rot="10800000">
            <a:off x="2084515" y="-1391579"/>
            <a:ext cx="11792084" cy="5580145"/>
          </a:xfrm>
          <a:prstGeom prst="arc">
            <a:avLst>
              <a:gd name="adj1" fmla="val 16219558"/>
              <a:gd name="adj2" fmla="val 0"/>
            </a:avLst>
          </a:prstGeom>
          <a:ln>
            <a:solidFill>
              <a:schemeClr val="accent6"/>
            </a:solidFill>
            <a:prstDash val="dash"/>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F86CDC00-2041-70DA-0D67-5F37B20C58EC}"/>
                  </a:ext>
                </a:extLst>
              </p:cNvPr>
              <p:cNvSpPr txBox="1"/>
              <p:nvPr/>
            </p:nvSpPr>
            <p:spPr>
              <a:xfrm>
                <a:off x="8741688" y="1147857"/>
                <a:ext cx="779930"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r>
                        <a:rPr lang="en-US" sz="1600" b="0" i="1" smtClean="0">
                          <a:solidFill>
                            <a:schemeClr val="accent6"/>
                          </a:solidFill>
                          <a:latin typeface="Cambria Math" panose="02040503050406030204" pitchFamily="18" charset="0"/>
                        </a:rPr>
                        <m:t>𝜆</m:t>
                      </m:r>
                    </m:oMath>
                  </m:oMathPara>
                </a14:m>
                <a:endParaRPr lang="en-US" sz="1600" dirty="0">
                  <a:solidFill>
                    <a:schemeClr val="accent6"/>
                  </a:solidFill>
                </a:endParaRPr>
              </a:p>
            </p:txBody>
          </p:sp>
        </mc:Choice>
        <mc:Fallback xmlns="">
          <p:sp>
            <p:nvSpPr>
              <p:cNvPr id="52" name="TextBox 51">
                <a:extLst>
                  <a:ext uri="{FF2B5EF4-FFF2-40B4-BE49-F238E27FC236}">
                    <a16:creationId xmlns:a16="http://schemas.microsoft.com/office/drawing/2014/main" id="{F86CDC00-2041-70DA-0D67-5F37B20C58EC}"/>
                  </a:ext>
                </a:extLst>
              </p:cNvPr>
              <p:cNvSpPr txBox="1">
                <a:spLocks noRot="1" noChangeAspect="1" noMove="1" noResize="1" noEditPoints="1" noAdjustHandles="1" noChangeArrowheads="1" noChangeShapeType="1" noTextEdit="1"/>
              </p:cNvSpPr>
              <p:nvPr/>
            </p:nvSpPr>
            <p:spPr>
              <a:xfrm>
                <a:off x="8741688" y="1147857"/>
                <a:ext cx="779930" cy="33855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1ED507A7-68E7-B144-BD31-5E1A6C1D338B}"/>
                  </a:ext>
                </a:extLst>
              </p:cNvPr>
              <p:cNvSpPr txBox="1"/>
              <p:nvPr/>
            </p:nvSpPr>
            <p:spPr>
              <a:xfrm>
                <a:off x="2199811" y="2895890"/>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1</m:t>
                              </m:r>
                            </m:num>
                            <m:den>
                              <m:r>
                                <a:rPr lang="en-US" sz="1600" b="0" i="1" smtClean="0">
                                  <a:solidFill>
                                    <a:schemeClr val="accent6"/>
                                  </a:solidFill>
                                  <a:latin typeface="Cambria Math" panose="02040503050406030204" pitchFamily="18" charset="0"/>
                                </a:rPr>
                                <m:t>𝜆</m:t>
                              </m:r>
                            </m:den>
                          </m:f>
                        </m:e>
                      </m:box>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5" name="TextBox 54">
                <a:extLst>
                  <a:ext uri="{FF2B5EF4-FFF2-40B4-BE49-F238E27FC236}">
                    <a16:creationId xmlns:a16="http://schemas.microsoft.com/office/drawing/2014/main" id="{1ED507A7-68E7-B144-BD31-5E1A6C1D338B}"/>
                  </a:ext>
                </a:extLst>
              </p:cNvPr>
              <p:cNvSpPr txBox="1">
                <a:spLocks noRot="1" noChangeAspect="1" noMove="1" noResize="1" noEditPoints="1" noAdjustHandles="1" noChangeArrowheads="1" noChangeShapeType="1" noTextEdit="1"/>
              </p:cNvSpPr>
              <p:nvPr/>
            </p:nvSpPr>
            <p:spPr>
              <a:xfrm>
                <a:off x="2199811" y="2895890"/>
                <a:ext cx="1181161" cy="386324"/>
              </a:xfrm>
              <a:prstGeom prst="rect">
                <a:avLst/>
              </a:prstGeom>
              <a:blipFill>
                <a:blip r:embed="rId15"/>
                <a:stretch>
                  <a:fillRect b="-15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3AA439CC-FE54-5D32-8F5B-63C024E56109}"/>
                  </a:ext>
                </a:extLst>
              </p:cNvPr>
              <p:cNvSpPr txBox="1"/>
              <p:nvPr/>
            </p:nvSpPr>
            <p:spPr>
              <a:xfrm>
                <a:off x="3391911" y="8821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𝜆</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57" name="TextBox 56">
                <a:extLst>
                  <a:ext uri="{FF2B5EF4-FFF2-40B4-BE49-F238E27FC236}">
                    <a16:creationId xmlns:a16="http://schemas.microsoft.com/office/drawing/2014/main" id="{3AA439CC-FE54-5D32-8F5B-63C024E56109}"/>
                  </a:ext>
                </a:extLst>
              </p:cNvPr>
              <p:cNvSpPr txBox="1">
                <a:spLocks noRot="1" noChangeAspect="1" noMove="1" noResize="1" noEditPoints="1" noAdjustHandles="1" noChangeArrowheads="1" noChangeShapeType="1" noTextEdit="1"/>
              </p:cNvSpPr>
              <p:nvPr/>
            </p:nvSpPr>
            <p:spPr>
              <a:xfrm>
                <a:off x="3391911" y="882158"/>
                <a:ext cx="1181161" cy="386324"/>
              </a:xfrm>
              <a:prstGeom prst="rect">
                <a:avLst/>
              </a:prstGeom>
              <a:blipFill>
                <a:blip r:embed="rId1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E70F292F-0EC6-EA94-8B2D-7A20C1412188}"/>
              </a:ext>
            </a:extLst>
          </p:cNvPr>
          <p:cNvCxnSpPr>
            <a:cxnSpLocks/>
          </p:cNvCxnSpPr>
          <p:nvPr/>
        </p:nvCxnSpPr>
        <p:spPr>
          <a:xfrm>
            <a:off x="3626664" y="4245148"/>
            <a:ext cx="0" cy="838581"/>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5" name="Straight Connector 64">
            <a:extLst>
              <a:ext uri="{FF2B5EF4-FFF2-40B4-BE49-F238E27FC236}">
                <a16:creationId xmlns:a16="http://schemas.microsoft.com/office/drawing/2014/main" id="{27FC1C96-1C54-43BE-7DA0-B9CA1A106F85}"/>
              </a:ext>
            </a:extLst>
          </p:cNvPr>
          <p:cNvCxnSpPr>
            <a:cxnSpLocks/>
          </p:cNvCxnSpPr>
          <p:nvPr/>
        </p:nvCxnSpPr>
        <p:spPr>
          <a:xfrm>
            <a:off x="1959444" y="4194928"/>
            <a:ext cx="7909897" cy="0"/>
          </a:xfrm>
          <a:prstGeom prst="line">
            <a:avLst/>
          </a:prstGeom>
          <a:ln>
            <a:solidFill>
              <a:schemeClr val="accent6"/>
            </a:solidFill>
            <a:prstDash val="dash"/>
          </a:ln>
        </p:spPr>
        <p:style>
          <a:lnRef idx="2">
            <a:schemeClr val="accent4"/>
          </a:lnRef>
          <a:fillRef idx="0">
            <a:schemeClr val="accent4"/>
          </a:fillRef>
          <a:effectRef idx="1">
            <a:schemeClr val="accent4"/>
          </a:effectRef>
          <a:fontRef idx="minor">
            <a:schemeClr val="tx1"/>
          </a:fontRef>
        </p:style>
      </p:cxn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345233AD-D495-06FD-5D0B-AB51169915FE}"/>
                  </a:ext>
                </a:extLst>
              </p:cNvPr>
              <p:cNvSpPr txBox="1"/>
              <p:nvPr/>
            </p:nvSpPr>
            <p:spPr>
              <a:xfrm>
                <a:off x="9705054" y="3962658"/>
                <a:ext cx="1181161" cy="38632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accent6"/>
                          </a:solidFill>
                          <a:latin typeface="Cambria Math" panose="02040503050406030204" pitchFamily="18" charset="0"/>
                        </a:rPr>
                        <m:t>𝜇</m:t>
                      </m:r>
                      <m:r>
                        <a:rPr lang="en-US" sz="1600" b="0" i="1" smtClean="0">
                          <a:solidFill>
                            <a:schemeClr val="accent6"/>
                          </a:solidFill>
                          <a:latin typeface="Cambria Math" panose="02040503050406030204" pitchFamily="18" charset="0"/>
                        </a:rPr>
                        <m:t>=</m:t>
                      </m:r>
                      <m:box>
                        <m:boxPr>
                          <m:ctrlPr>
                            <a:rPr lang="en-US" sz="1600" b="0" i="1" smtClean="0">
                              <a:solidFill>
                                <a:schemeClr val="accent6"/>
                              </a:solidFill>
                              <a:latin typeface="Cambria Math" panose="02040503050406030204" pitchFamily="18" charset="0"/>
                            </a:rPr>
                          </m:ctrlPr>
                        </m:boxPr>
                        <m:e>
                          <m:argPr>
                            <m:argSz m:val="-1"/>
                          </m:argPr>
                          <m:f>
                            <m:fPr>
                              <m:ctrlPr>
                                <a:rPr lang="en-US" sz="1600" b="0" i="1" smtClean="0">
                                  <a:solidFill>
                                    <a:schemeClr val="accent6"/>
                                  </a:solidFill>
                                  <a:latin typeface="Cambria Math" panose="02040503050406030204" pitchFamily="18" charset="0"/>
                                </a:rPr>
                              </m:ctrlPr>
                            </m:fPr>
                            <m:num>
                              <m:r>
                                <a:rPr lang="en-US" sz="1600" b="0" i="1" smtClean="0">
                                  <a:solidFill>
                                    <a:schemeClr val="accent6"/>
                                  </a:solidFill>
                                  <a:latin typeface="Cambria Math" panose="02040503050406030204" pitchFamily="18" charset="0"/>
                                </a:rPr>
                                <m:t>𝐶</m:t>
                              </m:r>
                            </m:num>
                            <m:den>
                              <m:r>
                                <a:rPr lang="en-US" sz="1600" b="0" i="1" smtClean="0">
                                  <a:solidFill>
                                    <a:schemeClr val="accent6"/>
                                  </a:solidFill>
                                  <a:latin typeface="Cambria Math" panose="02040503050406030204" pitchFamily="18" charset="0"/>
                                </a:rPr>
                                <m:t>𝑤𝐵</m:t>
                              </m:r>
                            </m:den>
                          </m:f>
                        </m:e>
                      </m:box>
                    </m:oMath>
                  </m:oMathPara>
                </a14:m>
                <a:endParaRPr lang="en-US" sz="1600" dirty="0">
                  <a:solidFill>
                    <a:schemeClr val="accent6"/>
                  </a:solidFill>
                </a:endParaRPr>
              </a:p>
            </p:txBody>
          </p:sp>
        </mc:Choice>
        <mc:Fallback xmlns="">
          <p:sp>
            <p:nvSpPr>
              <p:cNvPr id="69" name="TextBox 68">
                <a:extLst>
                  <a:ext uri="{FF2B5EF4-FFF2-40B4-BE49-F238E27FC236}">
                    <a16:creationId xmlns:a16="http://schemas.microsoft.com/office/drawing/2014/main" id="{345233AD-D495-06FD-5D0B-AB51169915FE}"/>
                  </a:ext>
                </a:extLst>
              </p:cNvPr>
              <p:cNvSpPr txBox="1">
                <a:spLocks noRot="1" noChangeAspect="1" noMove="1" noResize="1" noEditPoints="1" noAdjustHandles="1" noChangeArrowheads="1" noChangeShapeType="1" noTextEdit="1"/>
              </p:cNvSpPr>
              <p:nvPr/>
            </p:nvSpPr>
            <p:spPr>
              <a:xfrm>
                <a:off x="9705054" y="3962658"/>
                <a:ext cx="1181161" cy="386324"/>
              </a:xfrm>
              <a:prstGeom prst="rect">
                <a:avLst/>
              </a:prstGeom>
              <a:blipFill>
                <a:blip r:embed="rId17"/>
                <a:stretch>
                  <a:fillRect/>
                </a:stretch>
              </a:blipFill>
            </p:spPr>
            <p:txBody>
              <a:bodyPr/>
              <a:lstStyle/>
              <a:p>
                <a:r>
                  <a:rPr lang="en-US">
                    <a:noFill/>
                  </a:rPr>
                  <a:t> </a:t>
                </a:r>
              </a:p>
            </p:txBody>
          </p:sp>
        </mc:Fallback>
      </mc:AlternateContent>
      <p:sp>
        <p:nvSpPr>
          <p:cNvPr id="53" name="TextBox 52">
            <a:extLst>
              <a:ext uri="{FF2B5EF4-FFF2-40B4-BE49-F238E27FC236}">
                <a16:creationId xmlns:a16="http://schemas.microsoft.com/office/drawing/2014/main" id="{1466B74A-FF06-F4E2-87F1-C91E7DCC131C}"/>
              </a:ext>
            </a:extLst>
          </p:cNvPr>
          <p:cNvSpPr txBox="1"/>
          <p:nvPr/>
        </p:nvSpPr>
        <p:spPr>
          <a:xfrm>
            <a:off x="0" y="39092"/>
            <a:ext cx="4691083"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b="1" i="1" dirty="0"/>
              <a:t>Exercise: Do the analysis for all 8 regions!</a:t>
            </a:r>
          </a:p>
        </p:txBody>
      </p:sp>
    </p:spTree>
    <p:extLst>
      <p:ext uri="{BB962C8B-B14F-4D97-AF65-F5344CB8AC3E}">
        <p14:creationId xmlns:p14="http://schemas.microsoft.com/office/powerpoint/2010/main" val="39621836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docMetadata/LabelInfo.xml><?xml version="1.0" encoding="utf-8"?>
<clbl:labelList xmlns:clbl="http://schemas.microsoft.com/office/2020/mipLabelMetadata">
  <clbl:label id="{374e17f4-cf11-4ce2-b3ef-5de76bf4ce41}" enabled="0" method="" siteId="{374e17f4-cf11-4ce2-b3ef-5de76bf4ce41}" removed="1"/>
</clbl:labelList>
</file>

<file path=docProps/app.xml><?xml version="1.0" encoding="utf-8"?>
<Properties xmlns="http://schemas.openxmlformats.org/officeDocument/2006/extended-properties" xmlns:vt="http://schemas.openxmlformats.org/officeDocument/2006/docPropsVTypes">
  <Template>Office Theme</Template>
  <TotalTime>1416</TotalTime>
  <Words>21467</Words>
  <Application>Microsoft Office PowerPoint</Application>
  <PresentationFormat>Widescreen</PresentationFormat>
  <Paragraphs>6231</Paragraphs>
  <Slides>141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141</vt:i4>
      </vt:variant>
    </vt:vector>
  </HeadingPairs>
  <TitlesOfParts>
    <vt:vector size="146" baseType="lpstr">
      <vt:lpstr>Aptos</vt:lpstr>
      <vt:lpstr>Aptos Display</vt:lpstr>
      <vt:lpstr>Arial</vt:lpstr>
      <vt:lpstr>Cambria Math</vt:lpstr>
      <vt:lpstr>Office Theme</vt:lpstr>
      <vt:lpstr>Expected Utility: Parameterized Models</vt:lpstr>
      <vt:lpstr>What’s Coming 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Jordan, Stuart</dc:creator>
  <cp:lastModifiedBy>Jordan, Stuart</cp:lastModifiedBy>
  <cp:revision>3</cp:revision>
  <dcterms:created xsi:type="dcterms:W3CDTF">2025-03-13T17:56:59Z</dcterms:created>
  <dcterms:modified xsi:type="dcterms:W3CDTF">2026-03-24T15:43:19Z</dcterms:modified>
</cp:coreProperties>
</file>