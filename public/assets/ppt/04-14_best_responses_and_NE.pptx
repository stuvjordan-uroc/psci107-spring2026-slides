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399" r:id="rId3"/>
    <p:sldId id="258" r:id="rId4"/>
    <p:sldId id="268" r:id="rId5"/>
    <p:sldId id="269" r:id="rId6"/>
    <p:sldId id="271" r:id="rId7"/>
    <p:sldId id="273" r:id="rId8"/>
    <p:sldId id="274" r:id="rId9"/>
    <p:sldId id="275" r:id="rId10"/>
    <p:sldId id="276" r:id="rId11"/>
    <p:sldId id="277" r:id="rId12"/>
    <p:sldId id="278" r:id="rId13"/>
    <p:sldId id="279" r:id="rId14"/>
    <p:sldId id="280" r:id="rId15"/>
    <p:sldId id="283" r:id="rId16"/>
    <p:sldId id="400"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59" r:id="rId31"/>
    <p:sldId id="303" r:id="rId32"/>
    <p:sldId id="304" r:id="rId33"/>
    <p:sldId id="306" r:id="rId34"/>
    <p:sldId id="307" r:id="rId35"/>
    <p:sldId id="308" r:id="rId36"/>
    <p:sldId id="310" r:id="rId37"/>
    <p:sldId id="311" r:id="rId38"/>
    <p:sldId id="312" r:id="rId39"/>
    <p:sldId id="313" r:id="rId40"/>
    <p:sldId id="314" r:id="rId41"/>
    <p:sldId id="315" r:id="rId42"/>
    <p:sldId id="316" r:id="rId43"/>
    <p:sldId id="317" r:id="rId44"/>
    <p:sldId id="321" r:id="rId45"/>
    <p:sldId id="401" r:id="rId46"/>
    <p:sldId id="342" r:id="rId47"/>
    <p:sldId id="343" r:id="rId48"/>
    <p:sldId id="341" r:id="rId49"/>
    <p:sldId id="335" r:id="rId50"/>
    <p:sldId id="336" r:id="rId51"/>
    <p:sldId id="338" r:id="rId52"/>
    <p:sldId id="339" r:id="rId53"/>
    <p:sldId id="340" r:id="rId54"/>
    <p:sldId id="344" r:id="rId55"/>
    <p:sldId id="345" r:id="rId56"/>
    <p:sldId id="346" r:id="rId57"/>
    <p:sldId id="347" r:id="rId58"/>
    <p:sldId id="348" r:id="rId59"/>
    <p:sldId id="349" r:id="rId60"/>
    <p:sldId id="352" r:id="rId61"/>
    <p:sldId id="350" r:id="rId62"/>
    <p:sldId id="351" r:id="rId63"/>
    <p:sldId id="354" r:id="rId64"/>
    <p:sldId id="355" r:id="rId65"/>
    <p:sldId id="356" r:id="rId66"/>
    <p:sldId id="357" r:id="rId67"/>
    <p:sldId id="358" r:id="rId68"/>
    <p:sldId id="402" r:id="rId69"/>
    <p:sldId id="403" r:id="rId70"/>
    <p:sldId id="404" r:id="rId71"/>
    <p:sldId id="405" r:id="rId72"/>
    <p:sldId id="406" r:id="rId73"/>
    <p:sldId id="407" r:id="rId74"/>
    <p:sldId id="408" r:id="rId75"/>
    <p:sldId id="409" r:id="rId76"/>
    <p:sldId id="410" r:id="rId77"/>
    <p:sldId id="411" r:id="rId78"/>
    <p:sldId id="412" r:id="rId79"/>
    <p:sldId id="413" r:id="rId80"/>
    <p:sldId id="414" r:id="rId81"/>
    <p:sldId id="415" r:id="rId82"/>
    <p:sldId id="416" r:id="rId83"/>
    <p:sldId id="417" r:id="rId84"/>
    <p:sldId id="418" r:id="rId85"/>
    <p:sldId id="419" r:id="rId86"/>
    <p:sldId id="420" r:id="rId87"/>
    <p:sldId id="421" r:id="rId88"/>
    <p:sldId id="422" r:id="rId89"/>
    <p:sldId id="423" r:id="rId90"/>
    <p:sldId id="424" r:id="rId91"/>
    <p:sldId id="425" r:id="rId92"/>
    <p:sldId id="426" r:id="rId93"/>
    <p:sldId id="427" r:id="rId94"/>
    <p:sldId id="428"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61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dan, Stuart" userId="1bf9a496-f356-4f9c-b15f-a24cde0408c2" providerId="ADAL" clId="{D610E14A-756D-4778-AAB0-AFD182EFE9D3}"/>
    <pc:docChg chg="modSld">
      <pc:chgData name="Jordan, Stuart" userId="1bf9a496-f356-4f9c-b15f-a24cde0408c2" providerId="ADAL" clId="{D610E14A-756D-4778-AAB0-AFD182EFE9D3}" dt="2026-04-14T13:46:13.861" v="57" actId="20577"/>
      <pc:docMkLst>
        <pc:docMk/>
      </pc:docMkLst>
      <pc:sldChg chg="modSp mod">
        <pc:chgData name="Jordan, Stuart" userId="1bf9a496-f356-4f9c-b15f-a24cde0408c2" providerId="ADAL" clId="{D610E14A-756D-4778-AAB0-AFD182EFE9D3}" dt="2026-04-14T13:46:13.861" v="57" actId="20577"/>
        <pc:sldMkLst>
          <pc:docMk/>
          <pc:sldMk cId="1257350819" sldId="256"/>
        </pc:sldMkLst>
        <pc:spChg chg="mod">
          <ac:chgData name="Jordan, Stuart" userId="1bf9a496-f356-4f9c-b15f-a24cde0408c2" providerId="ADAL" clId="{D610E14A-756D-4778-AAB0-AFD182EFE9D3}" dt="2026-04-14T13:46:13.861" v="57" actId="20577"/>
          <ac:spMkLst>
            <pc:docMk/>
            <pc:sldMk cId="1257350819" sldId="256"/>
            <ac:spMk id="5" creationId="{25860DA2-F28F-A2EC-33FF-7D396A2E725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B0114-F746-C133-B24B-CD39F1EF84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62AABA-B83C-51F0-6D7E-1E52DF32EC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28459D-DB59-6FD3-9AB6-467354C08029}"/>
              </a:ext>
            </a:extLst>
          </p:cNvPr>
          <p:cNvSpPr>
            <a:spLocks noGrp="1"/>
          </p:cNvSpPr>
          <p:nvPr>
            <p:ph type="dt" sz="half" idx="10"/>
          </p:nvPr>
        </p:nvSpPr>
        <p:spPr/>
        <p:txBody>
          <a:bodyPr/>
          <a:lstStyle/>
          <a:p>
            <a:fld id="{BEA8AAD4-DAC1-4D07-AEA1-A6F43B3119FE}" type="datetimeFigureOut">
              <a:rPr lang="en-US" smtClean="0"/>
              <a:t>4/14/2026</a:t>
            </a:fld>
            <a:endParaRPr lang="en-US"/>
          </a:p>
        </p:txBody>
      </p:sp>
      <p:sp>
        <p:nvSpPr>
          <p:cNvPr id="5" name="Footer Placeholder 4">
            <a:extLst>
              <a:ext uri="{FF2B5EF4-FFF2-40B4-BE49-F238E27FC236}">
                <a16:creationId xmlns:a16="http://schemas.microsoft.com/office/drawing/2014/main" id="{F2D04DF6-3FD5-D38D-93F9-D24175951A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C69E79-DDC2-3180-09A4-7A470A05F807}"/>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148840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163BC-8957-9565-F23D-04DF9DBB81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C6F0AB-B2A0-1978-1DFA-ADB6E578B3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2FB951-9769-294C-B62D-F41800C7F60C}"/>
              </a:ext>
            </a:extLst>
          </p:cNvPr>
          <p:cNvSpPr>
            <a:spLocks noGrp="1"/>
          </p:cNvSpPr>
          <p:nvPr>
            <p:ph type="dt" sz="half" idx="10"/>
          </p:nvPr>
        </p:nvSpPr>
        <p:spPr/>
        <p:txBody>
          <a:bodyPr/>
          <a:lstStyle/>
          <a:p>
            <a:fld id="{BEA8AAD4-DAC1-4D07-AEA1-A6F43B3119FE}" type="datetimeFigureOut">
              <a:rPr lang="en-US" smtClean="0"/>
              <a:t>4/14/2026</a:t>
            </a:fld>
            <a:endParaRPr lang="en-US"/>
          </a:p>
        </p:txBody>
      </p:sp>
      <p:sp>
        <p:nvSpPr>
          <p:cNvPr id="5" name="Footer Placeholder 4">
            <a:extLst>
              <a:ext uri="{FF2B5EF4-FFF2-40B4-BE49-F238E27FC236}">
                <a16:creationId xmlns:a16="http://schemas.microsoft.com/office/drawing/2014/main" id="{888F5540-1D20-D7B9-037A-CBE9C9389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404FB3-C8BE-CD8B-DAE6-23599B1FADD5}"/>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3363204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A5CE-2D72-DDB7-103A-BE6566BF7C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61BB2B-17A7-CE06-0266-6148E2CCC7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D8867C-09A5-2320-C497-77AD1D24A0EC}"/>
              </a:ext>
            </a:extLst>
          </p:cNvPr>
          <p:cNvSpPr>
            <a:spLocks noGrp="1"/>
          </p:cNvSpPr>
          <p:nvPr>
            <p:ph type="dt" sz="half" idx="10"/>
          </p:nvPr>
        </p:nvSpPr>
        <p:spPr/>
        <p:txBody>
          <a:bodyPr/>
          <a:lstStyle/>
          <a:p>
            <a:fld id="{BEA8AAD4-DAC1-4D07-AEA1-A6F43B3119FE}" type="datetimeFigureOut">
              <a:rPr lang="en-US" smtClean="0"/>
              <a:t>4/14/2026</a:t>
            </a:fld>
            <a:endParaRPr lang="en-US"/>
          </a:p>
        </p:txBody>
      </p:sp>
      <p:sp>
        <p:nvSpPr>
          <p:cNvPr id="5" name="Footer Placeholder 4">
            <a:extLst>
              <a:ext uri="{FF2B5EF4-FFF2-40B4-BE49-F238E27FC236}">
                <a16:creationId xmlns:a16="http://schemas.microsoft.com/office/drawing/2014/main" id="{778D6E02-FCF9-6F7A-E51A-9A5B5FFCCD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D7F02A-10E0-95B5-E71D-23B45E9A65E8}"/>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3541732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10FC7-363B-C38F-7033-50D741F665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E8201F-56D6-5C40-DC24-667A4DD930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8C8AE1-635B-9708-B531-B1956BB1B7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EB9C63-8709-58B7-713B-D567AB0CD7C8}"/>
              </a:ext>
            </a:extLst>
          </p:cNvPr>
          <p:cNvSpPr>
            <a:spLocks noGrp="1"/>
          </p:cNvSpPr>
          <p:nvPr>
            <p:ph type="dt" sz="half" idx="10"/>
          </p:nvPr>
        </p:nvSpPr>
        <p:spPr/>
        <p:txBody>
          <a:bodyPr/>
          <a:lstStyle/>
          <a:p>
            <a:fld id="{BEA8AAD4-DAC1-4D07-AEA1-A6F43B3119FE}" type="datetimeFigureOut">
              <a:rPr lang="en-US" smtClean="0"/>
              <a:t>4/14/2026</a:t>
            </a:fld>
            <a:endParaRPr lang="en-US"/>
          </a:p>
        </p:txBody>
      </p:sp>
      <p:sp>
        <p:nvSpPr>
          <p:cNvPr id="6" name="Footer Placeholder 5">
            <a:extLst>
              <a:ext uri="{FF2B5EF4-FFF2-40B4-BE49-F238E27FC236}">
                <a16:creationId xmlns:a16="http://schemas.microsoft.com/office/drawing/2014/main" id="{76ABFC8B-B17A-AB40-8CF0-1F809CDAC9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71669C-A8EF-C247-B38D-CE0D82F5645B}"/>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1649153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FA0C3-6ABF-D0A6-6108-4A37F0864D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9D3444-BAB9-39E4-1E99-5422982FB7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C6635E-359D-BF88-E3C2-9C7B2AEEDB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3832FE-352B-5EB5-31B4-1F9267581E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ECBC6D-BC8A-2EF4-22B1-AD83A602D2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F8786A-52D0-B9E3-59EB-F2A51FE9A733}"/>
              </a:ext>
            </a:extLst>
          </p:cNvPr>
          <p:cNvSpPr>
            <a:spLocks noGrp="1"/>
          </p:cNvSpPr>
          <p:nvPr>
            <p:ph type="dt" sz="half" idx="10"/>
          </p:nvPr>
        </p:nvSpPr>
        <p:spPr/>
        <p:txBody>
          <a:bodyPr/>
          <a:lstStyle/>
          <a:p>
            <a:fld id="{BEA8AAD4-DAC1-4D07-AEA1-A6F43B3119FE}" type="datetimeFigureOut">
              <a:rPr lang="en-US" smtClean="0"/>
              <a:t>4/14/2026</a:t>
            </a:fld>
            <a:endParaRPr lang="en-US"/>
          </a:p>
        </p:txBody>
      </p:sp>
      <p:sp>
        <p:nvSpPr>
          <p:cNvPr id="8" name="Footer Placeholder 7">
            <a:extLst>
              <a:ext uri="{FF2B5EF4-FFF2-40B4-BE49-F238E27FC236}">
                <a16:creationId xmlns:a16="http://schemas.microsoft.com/office/drawing/2014/main" id="{80CC0C12-5023-5A62-3E25-29F1D1DC34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1C437D-FE41-C463-E971-D42DA04DFB3B}"/>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20239799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456B0-D2A1-C92E-489B-9B8D194FFE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B10218-8A8E-B0D9-6C62-ABE46514DC4E}"/>
              </a:ext>
            </a:extLst>
          </p:cNvPr>
          <p:cNvSpPr>
            <a:spLocks noGrp="1"/>
          </p:cNvSpPr>
          <p:nvPr>
            <p:ph type="dt" sz="half" idx="10"/>
          </p:nvPr>
        </p:nvSpPr>
        <p:spPr/>
        <p:txBody>
          <a:bodyPr/>
          <a:lstStyle/>
          <a:p>
            <a:fld id="{BEA8AAD4-DAC1-4D07-AEA1-A6F43B3119FE}" type="datetimeFigureOut">
              <a:rPr lang="en-US" smtClean="0"/>
              <a:t>4/14/2026</a:t>
            </a:fld>
            <a:endParaRPr lang="en-US"/>
          </a:p>
        </p:txBody>
      </p:sp>
      <p:sp>
        <p:nvSpPr>
          <p:cNvPr id="4" name="Footer Placeholder 3">
            <a:extLst>
              <a:ext uri="{FF2B5EF4-FFF2-40B4-BE49-F238E27FC236}">
                <a16:creationId xmlns:a16="http://schemas.microsoft.com/office/drawing/2014/main" id="{62BA1DB5-05FD-BE60-8F8C-3715313CF7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3C7315-1A1C-409A-B300-E9D97581A6D7}"/>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644305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30A222-E013-55FD-0F49-5489B2982DAE}"/>
              </a:ext>
            </a:extLst>
          </p:cNvPr>
          <p:cNvSpPr>
            <a:spLocks noGrp="1"/>
          </p:cNvSpPr>
          <p:nvPr>
            <p:ph type="dt" sz="half" idx="10"/>
          </p:nvPr>
        </p:nvSpPr>
        <p:spPr/>
        <p:txBody>
          <a:bodyPr/>
          <a:lstStyle/>
          <a:p>
            <a:fld id="{BEA8AAD4-DAC1-4D07-AEA1-A6F43B3119FE}" type="datetimeFigureOut">
              <a:rPr lang="en-US" smtClean="0"/>
              <a:t>4/14/2026</a:t>
            </a:fld>
            <a:endParaRPr lang="en-US"/>
          </a:p>
        </p:txBody>
      </p:sp>
      <p:sp>
        <p:nvSpPr>
          <p:cNvPr id="3" name="Footer Placeholder 2">
            <a:extLst>
              <a:ext uri="{FF2B5EF4-FFF2-40B4-BE49-F238E27FC236}">
                <a16:creationId xmlns:a16="http://schemas.microsoft.com/office/drawing/2014/main" id="{D78019F3-88E2-494A-8324-A03E9DDE5B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E557681-5EAB-BF3C-C8F4-619C0B156DBF}"/>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3876051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1FFE7-7D9C-C888-90AF-8FF05F0790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D78891-87D0-4307-1531-F2B20FA8BE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5AD147-3A84-C031-CD46-28C3F7FAB1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C5AA5F-2BF2-90EC-A588-9B1C57277054}"/>
              </a:ext>
            </a:extLst>
          </p:cNvPr>
          <p:cNvSpPr>
            <a:spLocks noGrp="1"/>
          </p:cNvSpPr>
          <p:nvPr>
            <p:ph type="dt" sz="half" idx="10"/>
          </p:nvPr>
        </p:nvSpPr>
        <p:spPr/>
        <p:txBody>
          <a:bodyPr/>
          <a:lstStyle/>
          <a:p>
            <a:fld id="{BEA8AAD4-DAC1-4D07-AEA1-A6F43B3119FE}" type="datetimeFigureOut">
              <a:rPr lang="en-US" smtClean="0"/>
              <a:t>4/14/2026</a:t>
            </a:fld>
            <a:endParaRPr lang="en-US"/>
          </a:p>
        </p:txBody>
      </p:sp>
      <p:sp>
        <p:nvSpPr>
          <p:cNvPr id="6" name="Footer Placeholder 5">
            <a:extLst>
              <a:ext uri="{FF2B5EF4-FFF2-40B4-BE49-F238E27FC236}">
                <a16:creationId xmlns:a16="http://schemas.microsoft.com/office/drawing/2014/main" id="{6AEBA9D4-38CE-DC78-1C6C-939BC3075B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6262F9-9301-867A-07D1-9C2AA172CD6C}"/>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3579890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F513F-9A2D-B49B-47EA-CEB3EADDE2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71F1CC-A51C-C405-48F5-943413581F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6F6AA9-D887-C34C-2F8A-EB00C0E52C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C0AD74-02D7-557C-5865-EE99A96A6CC1}"/>
              </a:ext>
            </a:extLst>
          </p:cNvPr>
          <p:cNvSpPr>
            <a:spLocks noGrp="1"/>
          </p:cNvSpPr>
          <p:nvPr>
            <p:ph type="dt" sz="half" idx="10"/>
          </p:nvPr>
        </p:nvSpPr>
        <p:spPr/>
        <p:txBody>
          <a:bodyPr/>
          <a:lstStyle/>
          <a:p>
            <a:fld id="{BEA8AAD4-DAC1-4D07-AEA1-A6F43B3119FE}" type="datetimeFigureOut">
              <a:rPr lang="en-US" smtClean="0"/>
              <a:t>4/14/2026</a:t>
            </a:fld>
            <a:endParaRPr lang="en-US"/>
          </a:p>
        </p:txBody>
      </p:sp>
      <p:sp>
        <p:nvSpPr>
          <p:cNvPr id="6" name="Footer Placeholder 5">
            <a:extLst>
              <a:ext uri="{FF2B5EF4-FFF2-40B4-BE49-F238E27FC236}">
                <a16:creationId xmlns:a16="http://schemas.microsoft.com/office/drawing/2014/main" id="{AA7A2672-BEBA-913A-9649-DB861585CF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92A502-F43B-FC46-AE3C-F86EB4CB74BE}"/>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266638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6A33A-3F24-3CA7-8DCE-AE16DCF8BA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4CE627-0DBC-34A3-2DC3-BBC39AE37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03CFA7-A8E3-787D-3A21-50E983A82110}"/>
              </a:ext>
            </a:extLst>
          </p:cNvPr>
          <p:cNvSpPr>
            <a:spLocks noGrp="1"/>
          </p:cNvSpPr>
          <p:nvPr>
            <p:ph type="dt" sz="half" idx="10"/>
          </p:nvPr>
        </p:nvSpPr>
        <p:spPr/>
        <p:txBody>
          <a:bodyPr/>
          <a:lstStyle/>
          <a:p>
            <a:fld id="{BEA8AAD4-DAC1-4D07-AEA1-A6F43B3119FE}" type="datetimeFigureOut">
              <a:rPr lang="en-US" smtClean="0"/>
              <a:t>4/14/2026</a:t>
            </a:fld>
            <a:endParaRPr lang="en-US"/>
          </a:p>
        </p:txBody>
      </p:sp>
      <p:sp>
        <p:nvSpPr>
          <p:cNvPr id="5" name="Footer Placeholder 4">
            <a:extLst>
              <a:ext uri="{FF2B5EF4-FFF2-40B4-BE49-F238E27FC236}">
                <a16:creationId xmlns:a16="http://schemas.microsoft.com/office/drawing/2014/main" id="{9361E1B6-891D-E61E-F9F0-B538C3804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8198EB-CBD3-ECBB-045B-2308BB9EC349}"/>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566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8F7008-13F4-7165-F07A-B95F80C499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83FCA7-FC26-75A2-FAF1-3A7C20C1AA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42CBF3-9CC6-8011-D5E3-950B59E92ABA}"/>
              </a:ext>
            </a:extLst>
          </p:cNvPr>
          <p:cNvSpPr>
            <a:spLocks noGrp="1"/>
          </p:cNvSpPr>
          <p:nvPr>
            <p:ph type="dt" sz="half" idx="10"/>
          </p:nvPr>
        </p:nvSpPr>
        <p:spPr/>
        <p:txBody>
          <a:bodyPr/>
          <a:lstStyle/>
          <a:p>
            <a:fld id="{BEA8AAD4-DAC1-4D07-AEA1-A6F43B3119FE}" type="datetimeFigureOut">
              <a:rPr lang="en-US" smtClean="0"/>
              <a:t>4/14/2026</a:t>
            </a:fld>
            <a:endParaRPr lang="en-US"/>
          </a:p>
        </p:txBody>
      </p:sp>
      <p:sp>
        <p:nvSpPr>
          <p:cNvPr id="5" name="Footer Placeholder 4">
            <a:extLst>
              <a:ext uri="{FF2B5EF4-FFF2-40B4-BE49-F238E27FC236}">
                <a16:creationId xmlns:a16="http://schemas.microsoft.com/office/drawing/2014/main" id="{0ED519F7-BE3E-E73E-A425-23857D5868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19B3B9-4206-62F8-CB43-32E5F8FC089A}"/>
              </a:ext>
            </a:extLst>
          </p:cNvPr>
          <p:cNvSpPr>
            <a:spLocks noGrp="1"/>
          </p:cNvSpPr>
          <p:nvPr>
            <p:ph type="sldNum" sz="quarter" idx="12"/>
          </p:nvPr>
        </p:nvSpPr>
        <p:spPr/>
        <p:txBody>
          <a:bodyPr/>
          <a:lstStyle/>
          <a:p>
            <a:fld id="{FB7A1D2A-C534-4B21-B916-97EF92256AB4}" type="slidenum">
              <a:rPr lang="en-US" smtClean="0"/>
              <a:t>‹#›</a:t>
            </a:fld>
            <a:endParaRPr lang="en-US"/>
          </a:p>
        </p:txBody>
      </p:sp>
    </p:spTree>
    <p:extLst>
      <p:ext uri="{BB962C8B-B14F-4D97-AF65-F5344CB8AC3E}">
        <p14:creationId xmlns:p14="http://schemas.microsoft.com/office/powerpoint/2010/main" val="300947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977800-9E4A-A969-C68A-C9D57AFF7F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060869-A2AC-2D46-2FB5-355F34C227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631E36-A570-ECF6-2D7B-1EFE4426B3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A8AAD4-DAC1-4D07-AEA1-A6F43B3119FE}" type="datetimeFigureOut">
              <a:rPr lang="en-US" smtClean="0"/>
              <a:t>4/14/2026</a:t>
            </a:fld>
            <a:endParaRPr lang="en-US"/>
          </a:p>
        </p:txBody>
      </p:sp>
      <p:sp>
        <p:nvSpPr>
          <p:cNvPr id="5" name="Footer Placeholder 4">
            <a:extLst>
              <a:ext uri="{FF2B5EF4-FFF2-40B4-BE49-F238E27FC236}">
                <a16:creationId xmlns:a16="http://schemas.microsoft.com/office/drawing/2014/main" id="{6197ABCB-95D9-ED48-A103-40C48582E6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2008068-89C6-6E3C-7018-6E0D6B0A87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7A1D2A-C534-4B21-B916-97EF92256AB4}" type="slidenum">
              <a:rPr lang="en-US" smtClean="0"/>
              <a:t>‹#›</a:t>
            </a:fld>
            <a:endParaRPr lang="en-US"/>
          </a:p>
        </p:txBody>
      </p:sp>
    </p:spTree>
    <p:extLst>
      <p:ext uri="{BB962C8B-B14F-4D97-AF65-F5344CB8AC3E}">
        <p14:creationId xmlns:p14="http://schemas.microsoft.com/office/powerpoint/2010/main" val="1388869155"/>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3E991B-6544-E9CC-AF6A-F6F9DA343386}"/>
              </a:ext>
            </a:extLst>
          </p:cNvPr>
          <p:cNvSpPr txBox="1"/>
          <p:nvPr/>
        </p:nvSpPr>
        <p:spPr>
          <a:xfrm>
            <a:off x="2743200" y="801189"/>
            <a:ext cx="6583680" cy="923330"/>
          </a:xfrm>
          <a:prstGeom prst="rect">
            <a:avLst/>
          </a:prstGeom>
          <a:noFill/>
        </p:spPr>
        <p:txBody>
          <a:bodyPr wrap="square" rtlCol="0">
            <a:spAutoFit/>
          </a:bodyPr>
          <a:lstStyle/>
          <a:p>
            <a:pPr algn="ctr"/>
            <a:r>
              <a:rPr lang="en-US" sz="5400" b="1" u="sng"/>
              <a:t>your list this week</a:t>
            </a:r>
          </a:p>
        </p:txBody>
      </p:sp>
      <p:sp>
        <p:nvSpPr>
          <p:cNvPr id="5" name="TextBox 4">
            <a:extLst>
              <a:ext uri="{FF2B5EF4-FFF2-40B4-BE49-F238E27FC236}">
                <a16:creationId xmlns:a16="http://schemas.microsoft.com/office/drawing/2014/main" id="{25860DA2-F28F-A2EC-33FF-7D396A2E7252}"/>
              </a:ext>
            </a:extLst>
          </p:cNvPr>
          <p:cNvSpPr txBox="1"/>
          <p:nvPr/>
        </p:nvSpPr>
        <p:spPr>
          <a:xfrm>
            <a:off x="1323703" y="2194560"/>
            <a:ext cx="9666514" cy="1200329"/>
          </a:xfrm>
          <a:prstGeom prst="rect">
            <a:avLst/>
          </a:prstGeom>
          <a:noFill/>
        </p:spPr>
        <p:txBody>
          <a:bodyPr wrap="square" rtlCol="0">
            <a:spAutoFit/>
          </a:bodyPr>
          <a:lstStyle/>
          <a:p>
            <a:pPr marL="285750" indent="-285750">
              <a:buFont typeface="Arial" panose="020B0604020202020204" pitchFamily="34" charset="0"/>
              <a:buChar char="•"/>
            </a:pPr>
            <a:r>
              <a:rPr lang="en-US" sz="2400">
                <a:solidFill>
                  <a:schemeClr val="accent3"/>
                </a:solidFill>
              </a:rPr>
              <a:t>Lesson 8, and all COUs in Lesson 8.</a:t>
            </a:r>
            <a:br>
              <a:rPr lang="en-US" sz="2400" dirty="0">
                <a:solidFill>
                  <a:schemeClr val="accent3"/>
                </a:solidFill>
              </a:rPr>
            </a:br>
            <a:endParaRPr lang="en-US" sz="2400" dirty="0">
              <a:solidFill>
                <a:schemeClr val="accent3"/>
              </a:solidFill>
            </a:endParaRPr>
          </a:p>
          <a:p>
            <a:pPr marL="285750" indent="-285750">
              <a:buFont typeface="Arial" panose="020B0604020202020204" pitchFamily="34" charset="0"/>
              <a:buChar char="•"/>
            </a:pPr>
            <a:r>
              <a:rPr lang="en-US" sz="2400">
                <a:solidFill>
                  <a:schemeClr val="accent3"/>
                </a:solidFill>
              </a:rPr>
              <a:t>Problem solving sessions this </a:t>
            </a:r>
            <a:r>
              <a:rPr lang="en-US" sz="2400" dirty="0">
                <a:solidFill>
                  <a:schemeClr val="accent3"/>
                </a:solidFill>
              </a:rPr>
              <a:t>week on Thursday </a:t>
            </a:r>
            <a:r>
              <a:rPr lang="en-US" sz="2400">
                <a:solidFill>
                  <a:schemeClr val="accent3"/>
                </a:solidFill>
              </a:rPr>
              <a:t>and Friday</a:t>
            </a:r>
            <a:endParaRPr lang="en-US" sz="2400" dirty="0">
              <a:solidFill>
                <a:schemeClr val="accent3"/>
              </a:solidFill>
            </a:endParaRPr>
          </a:p>
        </p:txBody>
      </p:sp>
    </p:spTree>
    <p:extLst>
      <p:ext uri="{BB962C8B-B14F-4D97-AF65-F5344CB8AC3E}">
        <p14:creationId xmlns:p14="http://schemas.microsoft.com/office/powerpoint/2010/main" val="1257350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B801D6-C8A5-1726-C2D0-D9D840E74EDD}"/>
              </a:ext>
            </a:extLst>
          </p:cNvPr>
          <p:cNvSpPr txBox="1"/>
          <p:nvPr/>
        </p:nvSpPr>
        <p:spPr>
          <a:xfrm>
            <a:off x="2717800" y="2274838"/>
            <a:ext cx="6756400" cy="2308324"/>
          </a:xfrm>
          <a:prstGeom prst="rect">
            <a:avLst/>
          </a:prstGeom>
          <a:noFill/>
        </p:spPr>
        <p:txBody>
          <a:bodyPr wrap="square" rtlCol="0">
            <a:spAutoFit/>
          </a:bodyPr>
          <a:lstStyle/>
          <a:p>
            <a:pPr algn="ctr"/>
            <a:r>
              <a:rPr lang="en-US" sz="4800" dirty="0"/>
              <a:t>Best Responses</a:t>
            </a:r>
          </a:p>
          <a:p>
            <a:pPr algn="ctr"/>
            <a:r>
              <a:rPr lang="en-US" sz="4800" dirty="0"/>
              <a:t>and</a:t>
            </a:r>
          </a:p>
          <a:p>
            <a:pPr algn="ctr"/>
            <a:r>
              <a:rPr lang="en-US" sz="4800" dirty="0"/>
              <a:t>Nash Equilibrium</a:t>
            </a:r>
          </a:p>
        </p:txBody>
      </p:sp>
    </p:spTree>
    <p:extLst>
      <p:ext uri="{BB962C8B-B14F-4D97-AF65-F5344CB8AC3E}">
        <p14:creationId xmlns:p14="http://schemas.microsoft.com/office/powerpoint/2010/main" val="1469103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827314" y="1341120"/>
            <a:ext cx="10371909" cy="461665"/>
          </a:xfrm>
          <a:prstGeom prst="rect">
            <a:avLst/>
          </a:prstGeom>
          <a:noFill/>
        </p:spPr>
        <p:txBody>
          <a:bodyPr wrap="square" rtlCol="0">
            <a:spAutoFit/>
          </a:bodyPr>
          <a:lstStyle/>
          <a:p>
            <a:r>
              <a:rPr lang="en-US" sz="2400"/>
              <a:t>The </a:t>
            </a:r>
            <a:r>
              <a:rPr lang="en-US" sz="2400" b="1"/>
              <a:t>prisoners dilemma </a:t>
            </a:r>
            <a:r>
              <a:rPr lang="en-US" sz="2400"/>
              <a:t>is a model often used to teach game theory.</a:t>
            </a:r>
          </a:p>
        </p:txBody>
      </p:sp>
    </p:spTree>
    <p:extLst>
      <p:ext uri="{BB962C8B-B14F-4D97-AF65-F5344CB8AC3E}">
        <p14:creationId xmlns:p14="http://schemas.microsoft.com/office/powerpoint/2010/main" val="2430311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827314" y="1341120"/>
            <a:ext cx="10371909" cy="1569660"/>
          </a:xfrm>
          <a:prstGeom prst="rect">
            <a:avLst/>
          </a:prstGeom>
          <a:noFill/>
        </p:spPr>
        <p:txBody>
          <a:bodyPr wrap="square" rtlCol="0">
            <a:spAutoFit/>
          </a:bodyPr>
          <a:lstStyle/>
          <a:p>
            <a:r>
              <a:rPr lang="en-US" sz="2400"/>
              <a:t>The </a:t>
            </a:r>
            <a:r>
              <a:rPr lang="en-US" sz="2400" b="1"/>
              <a:t>prisoners dilemma </a:t>
            </a:r>
            <a:r>
              <a:rPr lang="en-US" sz="2400"/>
              <a:t>is a model often used to teach game theory.</a:t>
            </a:r>
          </a:p>
          <a:p>
            <a:endParaRPr lang="en-US" sz="2400"/>
          </a:p>
          <a:p>
            <a:r>
              <a:rPr lang="en-US" sz="2400"/>
              <a:t>It’s a model that depicts two suspects in a crime (‘Suspect A’ and ‘Suspect B’) held in separate cells, unable to communicate with one another.</a:t>
            </a:r>
          </a:p>
        </p:txBody>
      </p:sp>
    </p:spTree>
    <p:extLst>
      <p:ext uri="{BB962C8B-B14F-4D97-AF65-F5344CB8AC3E}">
        <p14:creationId xmlns:p14="http://schemas.microsoft.com/office/powerpoint/2010/main" val="2526242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827314" y="1341120"/>
            <a:ext cx="10371909" cy="2308324"/>
          </a:xfrm>
          <a:prstGeom prst="rect">
            <a:avLst/>
          </a:prstGeom>
          <a:noFill/>
        </p:spPr>
        <p:txBody>
          <a:bodyPr wrap="square" rtlCol="0">
            <a:spAutoFit/>
          </a:bodyPr>
          <a:lstStyle/>
          <a:p>
            <a:r>
              <a:rPr lang="en-US" sz="2400"/>
              <a:t>The </a:t>
            </a:r>
            <a:r>
              <a:rPr lang="en-US" sz="2400" b="1"/>
              <a:t>prisoners dilemma </a:t>
            </a:r>
            <a:r>
              <a:rPr lang="en-US" sz="2400"/>
              <a:t>is a model often used to teach game theory.</a:t>
            </a:r>
          </a:p>
          <a:p>
            <a:endParaRPr lang="en-US" sz="2400"/>
          </a:p>
          <a:p>
            <a:r>
              <a:rPr lang="en-US" sz="2400"/>
              <a:t>It’s a model that depicts two suspects in a crime (‘Suspect A’ and ‘Suspect B’) held in separate cells, unable to communicate with one another.</a:t>
            </a:r>
          </a:p>
          <a:p>
            <a:endParaRPr lang="en-US" sz="2400"/>
          </a:p>
          <a:p>
            <a:r>
              <a:rPr lang="en-US" sz="2400"/>
              <a:t>Each suspect must choose whether to </a:t>
            </a:r>
            <a:r>
              <a:rPr lang="en-US" sz="2400" i="1"/>
              <a:t>confess</a:t>
            </a:r>
            <a:r>
              <a:rPr lang="en-US" sz="2400"/>
              <a:t> or to </a:t>
            </a:r>
            <a:r>
              <a:rPr lang="en-US" sz="2400" i="1"/>
              <a:t>not confess</a:t>
            </a:r>
            <a:r>
              <a:rPr lang="en-US" sz="2400"/>
              <a:t>.</a:t>
            </a:r>
          </a:p>
        </p:txBody>
      </p:sp>
    </p:spTree>
    <p:extLst>
      <p:ext uri="{BB962C8B-B14F-4D97-AF65-F5344CB8AC3E}">
        <p14:creationId xmlns:p14="http://schemas.microsoft.com/office/powerpoint/2010/main" val="3180080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827314" y="1341120"/>
            <a:ext cx="10371909" cy="4524315"/>
          </a:xfrm>
          <a:prstGeom prst="rect">
            <a:avLst/>
          </a:prstGeom>
          <a:noFill/>
        </p:spPr>
        <p:txBody>
          <a:bodyPr wrap="square" rtlCol="0">
            <a:spAutoFit/>
          </a:bodyPr>
          <a:lstStyle/>
          <a:p>
            <a:r>
              <a:rPr lang="en-US" sz="2400"/>
              <a:t>The </a:t>
            </a:r>
            <a:r>
              <a:rPr lang="en-US" sz="2400" b="1"/>
              <a:t>prisoners dilemma </a:t>
            </a:r>
            <a:r>
              <a:rPr lang="en-US" sz="2400"/>
              <a:t>is a model often used to teach game theory.</a:t>
            </a:r>
          </a:p>
          <a:p>
            <a:endParaRPr lang="en-US" sz="2400"/>
          </a:p>
          <a:p>
            <a:r>
              <a:rPr lang="en-US" sz="2400"/>
              <a:t>It’s a model that depicts two suspects in a crime (‘Suspect A’ and ‘Suspect B’) held in separate cells, unable to communicate with one another.</a:t>
            </a:r>
          </a:p>
          <a:p>
            <a:endParaRPr lang="en-US" sz="2400"/>
          </a:p>
          <a:p>
            <a:r>
              <a:rPr lang="en-US" sz="2400"/>
              <a:t>Each suspect must choose whether to </a:t>
            </a:r>
            <a:r>
              <a:rPr lang="en-US" sz="2400" i="1"/>
              <a:t>confess</a:t>
            </a:r>
            <a:r>
              <a:rPr lang="en-US" sz="2400"/>
              <a:t> or to </a:t>
            </a:r>
            <a:r>
              <a:rPr lang="en-US" sz="2400" i="1"/>
              <a:t>not confess</a:t>
            </a:r>
            <a:r>
              <a:rPr lang="en-US" sz="2400"/>
              <a:t>.</a:t>
            </a:r>
          </a:p>
          <a:p>
            <a:endParaRPr lang="en-US" sz="2400"/>
          </a:p>
          <a:p>
            <a:r>
              <a:rPr lang="en-US" sz="2400"/>
              <a:t>If...</a:t>
            </a:r>
          </a:p>
          <a:p>
            <a:pPr marL="342900" indent="-342900">
              <a:buFont typeface="Arial" panose="020B0604020202020204" pitchFamily="34" charset="0"/>
              <a:buChar char="•"/>
            </a:pPr>
            <a:r>
              <a:rPr lang="en-US" sz="2400">
                <a:solidFill>
                  <a:schemeClr val="tx2"/>
                </a:solidFill>
              </a:rPr>
              <a:t>Neither suspect confesses</a:t>
            </a:r>
            <a:r>
              <a:rPr lang="en-US" sz="2400"/>
              <a:t>, they will </a:t>
            </a:r>
            <a:r>
              <a:rPr lang="en-US" sz="2400">
                <a:solidFill>
                  <a:schemeClr val="tx2"/>
                </a:solidFill>
              </a:rPr>
              <a:t>each get 1 years </a:t>
            </a:r>
            <a:r>
              <a:rPr lang="en-US" sz="2400"/>
              <a:t>in prison.</a:t>
            </a:r>
          </a:p>
          <a:p>
            <a:pPr marL="342900" indent="-342900">
              <a:buFont typeface="Arial" panose="020B0604020202020204" pitchFamily="34" charset="0"/>
              <a:buChar char="•"/>
            </a:pPr>
            <a:r>
              <a:rPr lang="en-US" sz="2400">
                <a:solidFill>
                  <a:schemeClr val="accent3"/>
                </a:solidFill>
              </a:rPr>
              <a:t>Both suspects confess</a:t>
            </a:r>
            <a:r>
              <a:rPr lang="en-US" sz="2400"/>
              <a:t>, they will </a:t>
            </a:r>
            <a:r>
              <a:rPr lang="en-US" sz="2400">
                <a:solidFill>
                  <a:schemeClr val="accent3"/>
                </a:solidFill>
              </a:rPr>
              <a:t>each get 5 years </a:t>
            </a:r>
            <a:r>
              <a:rPr lang="en-US" sz="2400"/>
              <a:t>in prison</a:t>
            </a:r>
          </a:p>
          <a:p>
            <a:pPr marL="342900" indent="-342900">
              <a:buFont typeface="Arial" panose="020B0604020202020204" pitchFamily="34" charset="0"/>
              <a:buChar char="•"/>
            </a:pPr>
            <a:r>
              <a:rPr lang="en-US" sz="2400"/>
              <a:t>If </a:t>
            </a:r>
            <a:r>
              <a:rPr lang="en-US" sz="2400">
                <a:solidFill>
                  <a:schemeClr val="accent4"/>
                </a:solidFill>
              </a:rPr>
              <a:t>one suspect confesses </a:t>
            </a:r>
            <a:r>
              <a:rPr lang="en-US" sz="2400"/>
              <a:t>and the </a:t>
            </a:r>
            <a:r>
              <a:rPr lang="en-US" sz="2400">
                <a:solidFill>
                  <a:schemeClr val="accent5"/>
                </a:solidFill>
              </a:rPr>
              <a:t>other does not confess</a:t>
            </a:r>
            <a:r>
              <a:rPr lang="en-US" sz="2400"/>
              <a:t>, the </a:t>
            </a:r>
            <a:r>
              <a:rPr lang="en-US" sz="2400">
                <a:solidFill>
                  <a:schemeClr val="accent4"/>
                </a:solidFill>
              </a:rPr>
              <a:t>one that confesses gets 0 years</a:t>
            </a:r>
            <a:r>
              <a:rPr lang="en-US" sz="2400"/>
              <a:t> in prison and the </a:t>
            </a:r>
            <a:r>
              <a:rPr lang="en-US" sz="2400">
                <a:solidFill>
                  <a:schemeClr val="accent5"/>
                </a:solidFill>
              </a:rPr>
              <a:t>one that did not confess gets 20 years </a:t>
            </a:r>
            <a:r>
              <a:rPr lang="en-US" sz="2400"/>
              <a:t>in prison.</a:t>
            </a:r>
          </a:p>
        </p:txBody>
      </p:sp>
    </p:spTree>
    <p:extLst>
      <p:ext uri="{BB962C8B-B14F-4D97-AF65-F5344CB8AC3E}">
        <p14:creationId xmlns:p14="http://schemas.microsoft.com/office/powerpoint/2010/main" val="1514480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Tree>
    <p:extLst>
      <p:ext uri="{BB962C8B-B14F-4D97-AF65-F5344CB8AC3E}">
        <p14:creationId xmlns:p14="http://schemas.microsoft.com/office/powerpoint/2010/main" val="3368734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
        <p:nvSpPr>
          <p:cNvPr id="4" name="TextBox 3">
            <a:extLst>
              <a:ext uri="{FF2B5EF4-FFF2-40B4-BE49-F238E27FC236}">
                <a16:creationId xmlns:a16="http://schemas.microsoft.com/office/drawing/2014/main" id="{CB1811F1-ABFB-561C-D136-BBCF6BE4FAF6}"/>
              </a:ext>
            </a:extLst>
          </p:cNvPr>
          <p:cNvSpPr txBox="1"/>
          <p:nvPr/>
        </p:nvSpPr>
        <p:spPr>
          <a:xfrm>
            <a:off x="409303" y="4378847"/>
            <a:ext cx="4920343" cy="1477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b="1"/>
              <a:t>Prompt A: Write a matrix form of the Prisoner’s Dilemma, in which each suspect chooses to confess or to not confess and each suspect’s payoff is the negative number of years she gets in prison.</a:t>
            </a:r>
          </a:p>
        </p:txBody>
      </p:sp>
    </p:spTree>
    <p:extLst>
      <p:ext uri="{BB962C8B-B14F-4D97-AF65-F5344CB8AC3E}">
        <p14:creationId xmlns:p14="http://schemas.microsoft.com/office/powerpoint/2010/main" val="3937666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
        <p:nvSpPr>
          <p:cNvPr id="4" name="TextBox 3">
            <a:extLst>
              <a:ext uri="{FF2B5EF4-FFF2-40B4-BE49-F238E27FC236}">
                <a16:creationId xmlns:a16="http://schemas.microsoft.com/office/drawing/2014/main" id="{CB1811F1-ABFB-561C-D136-BBCF6BE4FAF6}"/>
              </a:ext>
            </a:extLst>
          </p:cNvPr>
          <p:cNvSpPr txBox="1"/>
          <p:nvPr/>
        </p:nvSpPr>
        <p:spPr>
          <a:xfrm>
            <a:off x="409303" y="4378847"/>
            <a:ext cx="4920343" cy="1477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b="1"/>
              <a:t>Prompt A: Write a matrix form of the Prisoner’s Dilemma, in which each suspect chooses to confess or to not confess and each suspect’s payoff is the negative number of years she gets in prison.</a:t>
            </a:r>
          </a:p>
        </p:txBody>
      </p:sp>
      <p:sp>
        <p:nvSpPr>
          <p:cNvPr id="5" name="Rectangle 4">
            <a:extLst>
              <a:ext uri="{FF2B5EF4-FFF2-40B4-BE49-F238E27FC236}">
                <a16:creationId xmlns:a16="http://schemas.microsoft.com/office/drawing/2014/main" id="{448E35C2-8034-295E-1F56-C06FB485B507}"/>
              </a:ext>
            </a:extLst>
          </p:cNvPr>
          <p:cNvSpPr/>
          <p:nvPr/>
        </p:nvSpPr>
        <p:spPr>
          <a:xfrm>
            <a:off x="7916091" y="1611086"/>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9771017" y="1611086"/>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7916091" y="3435532"/>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8760821" y="470263"/>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5769430" y="3365863"/>
            <a:ext cx="2185852" cy="369332"/>
          </a:xfrm>
          <a:prstGeom prst="rect">
            <a:avLst/>
          </a:prstGeom>
          <a:noFill/>
        </p:spPr>
        <p:txBody>
          <a:bodyPr wrap="square" rtlCol="0">
            <a:spAutoFit/>
          </a:bodyPr>
          <a:lstStyle/>
          <a:p>
            <a:pPr algn="ctr"/>
            <a:r>
              <a:rPr lang="en-US">
                <a:solidFill>
                  <a:schemeClr val="accent3"/>
                </a:solidFill>
              </a:rPr>
              <a:t>suspect B</a:t>
            </a:r>
          </a:p>
        </p:txBody>
      </p:sp>
    </p:spTree>
    <p:extLst>
      <p:ext uri="{BB962C8B-B14F-4D97-AF65-F5344CB8AC3E}">
        <p14:creationId xmlns:p14="http://schemas.microsoft.com/office/powerpoint/2010/main" val="41310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
        <p:nvSpPr>
          <p:cNvPr id="4" name="TextBox 3">
            <a:extLst>
              <a:ext uri="{FF2B5EF4-FFF2-40B4-BE49-F238E27FC236}">
                <a16:creationId xmlns:a16="http://schemas.microsoft.com/office/drawing/2014/main" id="{CB1811F1-ABFB-561C-D136-BBCF6BE4FAF6}"/>
              </a:ext>
            </a:extLst>
          </p:cNvPr>
          <p:cNvSpPr txBox="1"/>
          <p:nvPr/>
        </p:nvSpPr>
        <p:spPr>
          <a:xfrm>
            <a:off x="409303" y="4378847"/>
            <a:ext cx="4920343" cy="1477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b="1"/>
              <a:t>Prompt A: Write a matrix form of the Prisoner’s Dilemma, in which each suspect chooses to confess or to not confess and each suspect’s payoff is the negative number of years she gets in prison.</a:t>
            </a:r>
          </a:p>
        </p:txBody>
      </p:sp>
      <p:sp>
        <p:nvSpPr>
          <p:cNvPr id="5" name="Rectangle 4">
            <a:extLst>
              <a:ext uri="{FF2B5EF4-FFF2-40B4-BE49-F238E27FC236}">
                <a16:creationId xmlns:a16="http://schemas.microsoft.com/office/drawing/2014/main" id="{448E35C2-8034-295E-1F56-C06FB485B507}"/>
              </a:ext>
            </a:extLst>
          </p:cNvPr>
          <p:cNvSpPr/>
          <p:nvPr/>
        </p:nvSpPr>
        <p:spPr>
          <a:xfrm>
            <a:off x="7916091" y="1611086"/>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9771017" y="1611086"/>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7916091" y="3435532"/>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8678091" y="741008"/>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072328" y="3348446"/>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7737563" y="1176047"/>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9596845" y="1176047"/>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6608015" y="238218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6644637" y="4106483"/>
            <a:ext cx="2185852" cy="369332"/>
          </a:xfrm>
          <a:prstGeom prst="rect">
            <a:avLst/>
          </a:prstGeom>
          <a:noFill/>
        </p:spPr>
        <p:txBody>
          <a:bodyPr wrap="square" rtlCol="0">
            <a:spAutoFit/>
          </a:bodyPr>
          <a:lstStyle/>
          <a:p>
            <a:pPr algn="ctr"/>
            <a:r>
              <a:rPr lang="en-US">
                <a:solidFill>
                  <a:schemeClr val="accent3"/>
                </a:solidFill>
              </a:rPr>
              <a:t>confess</a:t>
            </a:r>
          </a:p>
        </p:txBody>
      </p:sp>
    </p:spTree>
    <p:extLst>
      <p:ext uri="{BB962C8B-B14F-4D97-AF65-F5344CB8AC3E}">
        <p14:creationId xmlns:p14="http://schemas.microsoft.com/office/powerpoint/2010/main" val="1594104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
        <p:nvSpPr>
          <p:cNvPr id="4" name="TextBox 3">
            <a:extLst>
              <a:ext uri="{FF2B5EF4-FFF2-40B4-BE49-F238E27FC236}">
                <a16:creationId xmlns:a16="http://schemas.microsoft.com/office/drawing/2014/main" id="{CB1811F1-ABFB-561C-D136-BBCF6BE4FAF6}"/>
              </a:ext>
            </a:extLst>
          </p:cNvPr>
          <p:cNvSpPr txBox="1"/>
          <p:nvPr/>
        </p:nvSpPr>
        <p:spPr>
          <a:xfrm>
            <a:off x="409303" y="4378847"/>
            <a:ext cx="4920343" cy="1477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b="1"/>
              <a:t>Prompt A: Write a matrix form of the Prisoner’s Dilemma, in which each suspect chooses to confess or to not confess and each suspect’s payoff is the negative number of years she gets in prison.</a:t>
            </a:r>
          </a:p>
        </p:txBody>
      </p:sp>
      <p:sp>
        <p:nvSpPr>
          <p:cNvPr id="5" name="Rectangle 4">
            <a:extLst>
              <a:ext uri="{FF2B5EF4-FFF2-40B4-BE49-F238E27FC236}">
                <a16:creationId xmlns:a16="http://schemas.microsoft.com/office/drawing/2014/main" id="{448E35C2-8034-295E-1F56-C06FB485B507}"/>
              </a:ext>
            </a:extLst>
          </p:cNvPr>
          <p:cNvSpPr/>
          <p:nvPr/>
        </p:nvSpPr>
        <p:spPr>
          <a:xfrm>
            <a:off x="7916091" y="1611086"/>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9771017" y="1611086"/>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7916091" y="3435532"/>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8678091" y="741008"/>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072328" y="3348446"/>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7737563" y="1176047"/>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9596845" y="1176047"/>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6608015" y="238218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6644637" y="4106483"/>
            <a:ext cx="2185852" cy="369332"/>
          </a:xfrm>
          <a:prstGeom prst="rect">
            <a:avLst/>
          </a:prstGeom>
          <a:noFill/>
        </p:spPr>
        <p:txBody>
          <a:bodyPr wrap="square" rtlCol="0">
            <a:spAutoFit/>
          </a:bodyPr>
          <a:lstStyle/>
          <a:p>
            <a:pPr algn="ctr"/>
            <a:r>
              <a:rPr lang="en-US">
                <a:solidFill>
                  <a:schemeClr val="accent3"/>
                </a:solidFill>
              </a:rPr>
              <a:t>confess</a:t>
            </a:r>
          </a:p>
        </p:txBody>
      </p:sp>
      <p:sp>
        <p:nvSpPr>
          <p:cNvPr id="14" name="TextBox 13">
            <a:extLst>
              <a:ext uri="{FF2B5EF4-FFF2-40B4-BE49-F238E27FC236}">
                <a16:creationId xmlns:a16="http://schemas.microsoft.com/office/drawing/2014/main" id="{6C33343E-70F8-3DE9-9A54-3A1388F603E6}"/>
              </a:ext>
            </a:extLst>
          </p:cNvPr>
          <p:cNvSpPr txBox="1"/>
          <p:nvPr/>
        </p:nvSpPr>
        <p:spPr>
          <a:xfrm>
            <a:off x="8355871" y="2333897"/>
            <a:ext cx="1001484" cy="369332"/>
          </a:xfrm>
          <a:prstGeom prst="rect">
            <a:avLst/>
          </a:prstGeom>
          <a:noFill/>
        </p:spPr>
        <p:txBody>
          <a:bodyPr wrap="square" rtlCol="0">
            <a:spAutoFit/>
          </a:bodyPr>
          <a:lstStyle/>
          <a:p>
            <a:pPr algn="ctr"/>
            <a:r>
              <a:rPr lang="en-US"/>
              <a:t>(-1,-1)</a:t>
            </a:r>
          </a:p>
        </p:txBody>
      </p:sp>
      <p:sp>
        <p:nvSpPr>
          <p:cNvPr id="15" name="Rectangle 14">
            <a:extLst>
              <a:ext uri="{FF2B5EF4-FFF2-40B4-BE49-F238E27FC236}">
                <a16:creationId xmlns:a16="http://schemas.microsoft.com/office/drawing/2014/main" id="{301B2F3C-B65A-1D12-6FF5-22B414627F5C}"/>
              </a:ext>
            </a:extLst>
          </p:cNvPr>
          <p:cNvSpPr/>
          <p:nvPr/>
        </p:nvSpPr>
        <p:spPr>
          <a:xfrm>
            <a:off x="618309" y="1759131"/>
            <a:ext cx="4711337" cy="574766"/>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719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
        <p:nvSpPr>
          <p:cNvPr id="4" name="TextBox 3">
            <a:extLst>
              <a:ext uri="{FF2B5EF4-FFF2-40B4-BE49-F238E27FC236}">
                <a16:creationId xmlns:a16="http://schemas.microsoft.com/office/drawing/2014/main" id="{CB1811F1-ABFB-561C-D136-BBCF6BE4FAF6}"/>
              </a:ext>
            </a:extLst>
          </p:cNvPr>
          <p:cNvSpPr txBox="1"/>
          <p:nvPr/>
        </p:nvSpPr>
        <p:spPr>
          <a:xfrm>
            <a:off x="409303" y="4378847"/>
            <a:ext cx="4920343" cy="1477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b="1"/>
              <a:t>Prompt A: Write a matrix form of the Prisoner’s Dilemma, in which each suspect chooses to confess or to not confess and each suspect’s payoff is the negative number of years she gets in prison.</a:t>
            </a:r>
          </a:p>
        </p:txBody>
      </p:sp>
      <p:sp>
        <p:nvSpPr>
          <p:cNvPr id="5" name="Rectangle 4">
            <a:extLst>
              <a:ext uri="{FF2B5EF4-FFF2-40B4-BE49-F238E27FC236}">
                <a16:creationId xmlns:a16="http://schemas.microsoft.com/office/drawing/2014/main" id="{448E35C2-8034-295E-1F56-C06FB485B507}"/>
              </a:ext>
            </a:extLst>
          </p:cNvPr>
          <p:cNvSpPr/>
          <p:nvPr/>
        </p:nvSpPr>
        <p:spPr>
          <a:xfrm>
            <a:off x="7916091" y="1611086"/>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9771017" y="1611086"/>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7916091" y="3435532"/>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8678091" y="741008"/>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072328" y="3348446"/>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7737563" y="1176047"/>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9596845" y="1176047"/>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6608015" y="238218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6644637" y="4106483"/>
            <a:ext cx="2185852" cy="369332"/>
          </a:xfrm>
          <a:prstGeom prst="rect">
            <a:avLst/>
          </a:prstGeom>
          <a:noFill/>
        </p:spPr>
        <p:txBody>
          <a:bodyPr wrap="square" rtlCol="0">
            <a:spAutoFit/>
          </a:bodyPr>
          <a:lstStyle/>
          <a:p>
            <a:pPr algn="ctr"/>
            <a:r>
              <a:rPr lang="en-US">
                <a:solidFill>
                  <a:schemeClr val="accent3"/>
                </a:solidFill>
              </a:rPr>
              <a:t>confess</a:t>
            </a:r>
          </a:p>
        </p:txBody>
      </p:sp>
      <p:sp>
        <p:nvSpPr>
          <p:cNvPr id="15" name="Rectangle 14">
            <a:extLst>
              <a:ext uri="{FF2B5EF4-FFF2-40B4-BE49-F238E27FC236}">
                <a16:creationId xmlns:a16="http://schemas.microsoft.com/office/drawing/2014/main" id="{301B2F3C-B65A-1D12-6FF5-22B414627F5C}"/>
              </a:ext>
            </a:extLst>
          </p:cNvPr>
          <p:cNvSpPr/>
          <p:nvPr/>
        </p:nvSpPr>
        <p:spPr>
          <a:xfrm>
            <a:off x="642255" y="2279468"/>
            <a:ext cx="4711337" cy="574766"/>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71D1820-AE3D-20A2-3837-DF729EB82911}"/>
              </a:ext>
            </a:extLst>
          </p:cNvPr>
          <p:cNvSpPr txBox="1"/>
          <p:nvPr/>
        </p:nvSpPr>
        <p:spPr>
          <a:xfrm>
            <a:off x="10189029" y="4169620"/>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D611A862-757E-AC83-CC1F-FF8DD5AB93C8}"/>
              </a:ext>
            </a:extLst>
          </p:cNvPr>
          <p:cNvSpPr txBox="1"/>
          <p:nvPr/>
        </p:nvSpPr>
        <p:spPr>
          <a:xfrm>
            <a:off x="8355871" y="2333897"/>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194674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3" name="TextBox 2">
            <a:extLst>
              <a:ext uri="{FF2B5EF4-FFF2-40B4-BE49-F238E27FC236}">
                <a16:creationId xmlns:a16="http://schemas.microsoft.com/office/drawing/2014/main" id="{100DF0A1-87C6-FD8F-C886-ECFD19DD39DF}"/>
              </a:ext>
            </a:extLst>
          </p:cNvPr>
          <p:cNvSpPr txBox="1"/>
          <p:nvPr/>
        </p:nvSpPr>
        <p:spPr>
          <a:xfrm>
            <a:off x="409303" y="801188"/>
            <a:ext cx="4990013" cy="3046988"/>
          </a:xfrm>
          <a:prstGeom prst="rect">
            <a:avLst/>
          </a:prstGeom>
          <a:noFill/>
        </p:spPr>
        <p:txBody>
          <a:bodyPr wrap="square" rtlCol="0">
            <a:spAutoFit/>
          </a:bodyPr>
          <a:lstStyle/>
          <a:p>
            <a:r>
              <a:rPr lang="en-US" sz="1600"/>
              <a:t>Each suspect must choose whether to </a:t>
            </a:r>
            <a:r>
              <a:rPr lang="en-US" sz="1600" i="1"/>
              <a:t>confess</a:t>
            </a:r>
            <a:r>
              <a:rPr lang="en-US" sz="1600"/>
              <a:t> or to </a:t>
            </a:r>
            <a:r>
              <a:rPr lang="en-US" sz="1600" i="1"/>
              <a:t>not confess</a:t>
            </a:r>
            <a:r>
              <a:rPr lang="en-US" sz="1600"/>
              <a:t>.</a:t>
            </a:r>
          </a:p>
          <a:p>
            <a:endParaRPr lang="en-US" sz="1600"/>
          </a:p>
          <a:p>
            <a:r>
              <a:rPr lang="en-US" sz="1600"/>
              <a:t>If...</a:t>
            </a:r>
          </a:p>
          <a:p>
            <a:pPr marL="342900" indent="-342900">
              <a:buFont typeface="Arial" panose="020B0604020202020204" pitchFamily="34" charset="0"/>
              <a:buChar char="•"/>
            </a:pPr>
            <a:r>
              <a:rPr lang="en-US" sz="1600">
                <a:solidFill>
                  <a:schemeClr val="tx2"/>
                </a:solidFill>
              </a:rPr>
              <a:t>Neither suspect confesses</a:t>
            </a:r>
            <a:r>
              <a:rPr lang="en-US" sz="1600"/>
              <a:t>, they will </a:t>
            </a:r>
            <a:r>
              <a:rPr lang="en-US" sz="1600">
                <a:solidFill>
                  <a:schemeClr val="tx2"/>
                </a:solidFill>
              </a:rPr>
              <a:t>each get 1 years </a:t>
            </a:r>
            <a:r>
              <a:rPr lang="en-US" sz="1600"/>
              <a:t>in prison.</a:t>
            </a:r>
          </a:p>
          <a:p>
            <a:pPr marL="342900" indent="-342900">
              <a:buFont typeface="Arial" panose="020B0604020202020204" pitchFamily="34" charset="0"/>
              <a:buChar char="•"/>
            </a:pPr>
            <a:r>
              <a:rPr lang="en-US" sz="1600">
                <a:solidFill>
                  <a:schemeClr val="accent3"/>
                </a:solidFill>
              </a:rPr>
              <a:t>Both suspects confess</a:t>
            </a:r>
            <a:r>
              <a:rPr lang="en-US" sz="1600"/>
              <a:t>, they will </a:t>
            </a:r>
            <a:r>
              <a:rPr lang="en-US" sz="1600">
                <a:solidFill>
                  <a:schemeClr val="accent3"/>
                </a:solidFill>
              </a:rPr>
              <a:t>each get 5 years </a:t>
            </a:r>
            <a:r>
              <a:rPr lang="en-US" sz="1600"/>
              <a:t>in prison</a:t>
            </a:r>
          </a:p>
          <a:p>
            <a:pPr marL="342900" indent="-342900">
              <a:buFont typeface="Arial" panose="020B0604020202020204" pitchFamily="34" charset="0"/>
              <a:buChar char="•"/>
            </a:pPr>
            <a:r>
              <a:rPr lang="en-US" sz="1600"/>
              <a:t>If </a:t>
            </a:r>
            <a:r>
              <a:rPr lang="en-US" sz="1600">
                <a:solidFill>
                  <a:schemeClr val="accent4"/>
                </a:solidFill>
              </a:rPr>
              <a:t>one suspect confesses </a:t>
            </a:r>
            <a:r>
              <a:rPr lang="en-US" sz="1600"/>
              <a:t>and the </a:t>
            </a:r>
            <a:r>
              <a:rPr lang="en-US" sz="1600">
                <a:solidFill>
                  <a:schemeClr val="accent5"/>
                </a:solidFill>
              </a:rPr>
              <a:t>other does not confess</a:t>
            </a:r>
            <a:r>
              <a:rPr lang="en-US" sz="1600"/>
              <a:t>, the </a:t>
            </a:r>
            <a:r>
              <a:rPr lang="en-US" sz="1600">
                <a:solidFill>
                  <a:schemeClr val="accent4"/>
                </a:solidFill>
              </a:rPr>
              <a:t>one that confesses gets 0 years</a:t>
            </a:r>
            <a:r>
              <a:rPr lang="en-US" sz="1600"/>
              <a:t> in prison and the </a:t>
            </a:r>
            <a:r>
              <a:rPr lang="en-US" sz="1600">
                <a:solidFill>
                  <a:schemeClr val="accent5"/>
                </a:solidFill>
              </a:rPr>
              <a:t>one that did not confess gets 20 years </a:t>
            </a:r>
            <a:r>
              <a:rPr lang="en-US" sz="1600"/>
              <a:t>in prison.</a:t>
            </a:r>
          </a:p>
        </p:txBody>
      </p:sp>
      <p:sp>
        <p:nvSpPr>
          <p:cNvPr id="4" name="TextBox 3">
            <a:extLst>
              <a:ext uri="{FF2B5EF4-FFF2-40B4-BE49-F238E27FC236}">
                <a16:creationId xmlns:a16="http://schemas.microsoft.com/office/drawing/2014/main" id="{CB1811F1-ABFB-561C-D136-BBCF6BE4FAF6}"/>
              </a:ext>
            </a:extLst>
          </p:cNvPr>
          <p:cNvSpPr txBox="1"/>
          <p:nvPr/>
        </p:nvSpPr>
        <p:spPr>
          <a:xfrm>
            <a:off x="409303" y="4378847"/>
            <a:ext cx="4920343" cy="14773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b="1"/>
              <a:t>Prompt A: Write a matrix form of the Prisoner’s Dilemma, in which each suspect chooses to confess or to not confess and each suspect’s payoff is the negative number of years she gets in prison.</a:t>
            </a:r>
          </a:p>
        </p:txBody>
      </p:sp>
      <p:sp>
        <p:nvSpPr>
          <p:cNvPr id="5" name="Rectangle 4">
            <a:extLst>
              <a:ext uri="{FF2B5EF4-FFF2-40B4-BE49-F238E27FC236}">
                <a16:creationId xmlns:a16="http://schemas.microsoft.com/office/drawing/2014/main" id="{448E35C2-8034-295E-1F56-C06FB485B507}"/>
              </a:ext>
            </a:extLst>
          </p:cNvPr>
          <p:cNvSpPr/>
          <p:nvPr/>
        </p:nvSpPr>
        <p:spPr>
          <a:xfrm>
            <a:off x="7916091" y="1611086"/>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9771017" y="1611086"/>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7916091" y="3435532"/>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8678091" y="741008"/>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072328" y="3348446"/>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7737563" y="1176047"/>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9596845" y="1176047"/>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6608015" y="238218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6644637" y="4106483"/>
            <a:ext cx="2185852" cy="369332"/>
          </a:xfrm>
          <a:prstGeom prst="rect">
            <a:avLst/>
          </a:prstGeom>
          <a:noFill/>
        </p:spPr>
        <p:txBody>
          <a:bodyPr wrap="square" rtlCol="0">
            <a:spAutoFit/>
          </a:bodyPr>
          <a:lstStyle/>
          <a:p>
            <a:pPr algn="ctr"/>
            <a:r>
              <a:rPr lang="en-US">
                <a:solidFill>
                  <a:schemeClr val="accent3"/>
                </a:solidFill>
              </a:rPr>
              <a:t>confess</a:t>
            </a:r>
          </a:p>
        </p:txBody>
      </p:sp>
      <p:sp>
        <p:nvSpPr>
          <p:cNvPr id="15" name="Rectangle 14">
            <a:extLst>
              <a:ext uri="{FF2B5EF4-FFF2-40B4-BE49-F238E27FC236}">
                <a16:creationId xmlns:a16="http://schemas.microsoft.com/office/drawing/2014/main" id="{301B2F3C-B65A-1D12-6FF5-22B414627F5C}"/>
              </a:ext>
            </a:extLst>
          </p:cNvPr>
          <p:cNvSpPr/>
          <p:nvPr/>
        </p:nvSpPr>
        <p:spPr>
          <a:xfrm>
            <a:off x="718463" y="2718468"/>
            <a:ext cx="4711337" cy="112970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71D1820-AE3D-20A2-3837-DF729EB82911}"/>
              </a:ext>
            </a:extLst>
          </p:cNvPr>
          <p:cNvSpPr txBox="1"/>
          <p:nvPr/>
        </p:nvSpPr>
        <p:spPr>
          <a:xfrm>
            <a:off x="10189029" y="4169620"/>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8355871" y="4155774"/>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10204658" y="2345175"/>
            <a:ext cx="1001484" cy="369332"/>
          </a:xfrm>
          <a:prstGeom prst="rect">
            <a:avLst/>
          </a:prstGeom>
          <a:noFill/>
        </p:spPr>
        <p:txBody>
          <a:bodyPr wrap="square" rtlCol="0">
            <a:spAutoFit/>
          </a:bodyPr>
          <a:lstStyle/>
          <a:p>
            <a:pPr algn="ctr"/>
            <a:r>
              <a:rPr lang="en-US"/>
              <a:t>(-20,0)</a:t>
            </a:r>
          </a:p>
        </p:txBody>
      </p:sp>
      <p:sp>
        <p:nvSpPr>
          <p:cNvPr id="19" name="TextBox 18">
            <a:extLst>
              <a:ext uri="{FF2B5EF4-FFF2-40B4-BE49-F238E27FC236}">
                <a16:creationId xmlns:a16="http://schemas.microsoft.com/office/drawing/2014/main" id="{0165136F-2A9B-713B-EE53-2B3DE0BA31C2}"/>
              </a:ext>
            </a:extLst>
          </p:cNvPr>
          <p:cNvSpPr txBox="1"/>
          <p:nvPr/>
        </p:nvSpPr>
        <p:spPr>
          <a:xfrm>
            <a:off x="8355871" y="2333897"/>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437660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4" name="TextBox 13">
            <a:extLst>
              <a:ext uri="{FF2B5EF4-FFF2-40B4-BE49-F238E27FC236}">
                <a16:creationId xmlns:a16="http://schemas.microsoft.com/office/drawing/2014/main" id="{6C33343E-70F8-3DE9-9A54-3A1388F603E6}"/>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Tree>
    <p:extLst>
      <p:ext uri="{BB962C8B-B14F-4D97-AF65-F5344CB8AC3E}">
        <p14:creationId xmlns:p14="http://schemas.microsoft.com/office/powerpoint/2010/main" val="1016327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sp>
        <p:nvSpPr>
          <p:cNvPr id="19" name="TextBox 18">
            <a:extLst>
              <a:ext uri="{FF2B5EF4-FFF2-40B4-BE49-F238E27FC236}">
                <a16:creationId xmlns:a16="http://schemas.microsoft.com/office/drawing/2014/main" id="{12F1366B-EE37-57A4-3A14-BE0323416FD7}"/>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126340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3343F-9326-85C6-8107-CC1179F708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45EADD-AE9C-263E-4814-9EC77574A3C5}"/>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A38CC332-4D07-7EAF-FC06-A0F4BD544E65}"/>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C7994A5E-3830-717C-B465-75CF92FBBE3F}"/>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58B54B9-EF73-0E75-C27F-EF5A37333EC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76144E-0874-DE27-2D67-9205707143D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A3011D07-7F39-CDE6-78B0-11E0889A2B1B}"/>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A7EC87CF-A158-5FCB-4E75-0C452782CB07}"/>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4EFB2775-E29E-9C36-3904-991A1890DBB0}"/>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CD38ADCB-1262-934C-94D6-D0CA6F3417DF}"/>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09A7FE53-8962-944F-419F-EE95C55394EC}"/>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A70A0E9-61DF-F157-6BE9-1EC975CA6AEC}"/>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33E8EFB3-F41E-B3DF-EA90-299647302D1F}"/>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84790DC6-D55D-76D3-D464-3CF0A63E614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345AD066-C597-5CD6-B4DF-C88A82594107}"/>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sp>
        <p:nvSpPr>
          <p:cNvPr id="19" name="TextBox 18">
            <a:extLst>
              <a:ext uri="{FF2B5EF4-FFF2-40B4-BE49-F238E27FC236}">
                <a16:creationId xmlns:a16="http://schemas.microsoft.com/office/drawing/2014/main" id="{228D37F0-D87D-AE5D-DFDE-8646B93A340F}"/>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3597671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extLst>
              <p:ext uri="{D42A27DB-BD31-4B8C-83A1-F6EECF244321}">
                <p14:modId xmlns:p14="http://schemas.microsoft.com/office/powerpoint/2010/main" val="838777371"/>
              </p:ext>
            </p:extLst>
          </p:nvPr>
        </p:nvGraphicFramePr>
        <p:xfrm>
          <a:off x="5385471" y="303672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19" name="TextBox 18">
            <a:extLst>
              <a:ext uri="{FF2B5EF4-FFF2-40B4-BE49-F238E27FC236}">
                <a16:creationId xmlns:a16="http://schemas.microsoft.com/office/drawing/2014/main" id="{3C8C287B-34C8-29E3-B304-AE9B2EDC38C9}"/>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157740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extLst>
              <p:ext uri="{D42A27DB-BD31-4B8C-83A1-F6EECF244321}">
                <p14:modId xmlns:p14="http://schemas.microsoft.com/office/powerpoint/2010/main" val="2037033933"/>
              </p:ext>
            </p:extLst>
          </p:nvPr>
        </p:nvGraphicFramePr>
        <p:xfrm>
          <a:off x="5385471" y="303672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extLst>
              <p:ext uri="{D42A27DB-BD31-4B8C-83A1-F6EECF244321}">
                <p14:modId xmlns:p14="http://schemas.microsoft.com/office/powerpoint/2010/main" val="4293174388"/>
              </p:ext>
            </p:extLst>
          </p:nvPr>
        </p:nvGraphicFramePr>
        <p:xfrm>
          <a:off x="5385471" y="4686663"/>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TextBox 19">
            <a:extLst>
              <a:ext uri="{FF2B5EF4-FFF2-40B4-BE49-F238E27FC236}">
                <a16:creationId xmlns:a16="http://schemas.microsoft.com/office/drawing/2014/main" id="{2F438B52-20C6-3BDC-027B-21EE32E34A24}"/>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640026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extLst>
              <p:ext uri="{D42A27DB-BD31-4B8C-83A1-F6EECF244321}">
                <p14:modId xmlns:p14="http://schemas.microsoft.com/office/powerpoint/2010/main" val="583450292"/>
              </p:ext>
            </p:extLst>
          </p:nvPr>
        </p:nvGraphicFramePr>
        <p:xfrm>
          <a:off x="5385471" y="303672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extLst>
              <p:ext uri="{D42A27DB-BD31-4B8C-83A1-F6EECF244321}">
                <p14:modId xmlns:p14="http://schemas.microsoft.com/office/powerpoint/2010/main" val="2816925136"/>
              </p:ext>
            </p:extLst>
          </p:nvPr>
        </p:nvGraphicFramePr>
        <p:xfrm>
          <a:off x="5385471" y="4686663"/>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TextBox 19">
            <a:extLst>
              <a:ext uri="{FF2B5EF4-FFF2-40B4-BE49-F238E27FC236}">
                <a16:creationId xmlns:a16="http://schemas.microsoft.com/office/drawing/2014/main" id="{F0D54386-9EED-C984-9C2F-EBADB15C0D7C}"/>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729617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303672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nvGraphicFramePr>
        <p:xfrm>
          <a:off x="5385471" y="4686663"/>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3640631"/>
            <a:ext cx="6571398" cy="409752"/>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5B3BA6D-B381-277D-F9C1-80113D0AD199}"/>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391993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303672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nvGraphicFramePr>
        <p:xfrm>
          <a:off x="5385471" y="4686663"/>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3640631"/>
            <a:ext cx="6571398" cy="409752"/>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170634" y="3419507"/>
            <a:ext cx="3740336" cy="183007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C76C514-7ADE-282B-F096-A28D9BCD4882}"/>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592511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rgbClr val="00B0F0"/>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rgbClr val="FFFF00"/>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303672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nvGraphicFramePr>
        <p:xfrm>
          <a:off x="5385471" y="4686663"/>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3640631"/>
            <a:ext cx="6571398" cy="409752"/>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170634" y="3419507"/>
            <a:ext cx="3740336" cy="183007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EC05ACF-37E1-E41C-2AAA-4CB47ACAF2BD}"/>
              </a:ext>
            </a:extLst>
          </p:cNvPr>
          <p:cNvSpPr/>
          <p:nvPr/>
        </p:nvSpPr>
        <p:spPr>
          <a:xfrm>
            <a:off x="2020389" y="4050383"/>
            <a:ext cx="500185" cy="569123"/>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369D56D-D669-62E6-94C8-CE5E5CC45A00}"/>
              </a:ext>
            </a:extLst>
          </p:cNvPr>
          <p:cNvSpPr/>
          <p:nvPr/>
        </p:nvSpPr>
        <p:spPr>
          <a:xfrm>
            <a:off x="3868394" y="4064344"/>
            <a:ext cx="433640" cy="56912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03CA9E0-4291-C09A-92AF-EA255DD64A39}"/>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257697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rgbClr val="00B0F0"/>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rgbClr val="FFFF00"/>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extLst>
              <p:ext uri="{D42A27DB-BD31-4B8C-83A1-F6EECF244321}">
                <p14:modId xmlns:p14="http://schemas.microsoft.com/office/powerpoint/2010/main" val="2496339021"/>
              </p:ext>
            </p:extLst>
          </p:nvPr>
        </p:nvGraphicFramePr>
        <p:xfrm>
          <a:off x="5385471" y="3036722"/>
          <a:ext cx="6571398" cy="165100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extLst>
              <p:ext uri="{D42A27DB-BD31-4B8C-83A1-F6EECF244321}">
                <p14:modId xmlns:p14="http://schemas.microsoft.com/office/powerpoint/2010/main" val="3401910642"/>
              </p:ext>
            </p:extLst>
          </p:nvPr>
        </p:nvGraphicFramePr>
        <p:xfrm>
          <a:off x="5385471" y="500017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3640630"/>
            <a:ext cx="6571398" cy="661403"/>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170634" y="3419507"/>
            <a:ext cx="3740336" cy="183007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EC05ACF-37E1-E41C-2AAA-4CB47ACAF2BD}"/>
              </a:ext>
            </a:extLst>
          </p:cNvPr>
          <p:cNvSpPr/>
          <p:nvPr/>
        </p:nvSpPr>
        <p:spPr>
          <a:xfrm>
            <a:off x="2020389" y="4050383"/>
            <a:ext cx="500185" cy="569123"/>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369D56D-D669-62E6-94C8-CE5E5CC45A00}"/>
              </a:ext>
            </a:extLst>
          </p:cNvPr>
          <p:cNvSpPr/>
          <p:nvPr/>
        </p:nvSpPr>
        <p:spPr>
          <a:xfrm>
            <a:off x="3868394" y="4064344"/>
            <a:ext cx="433640" cy="56912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9F157EE-F16F-B79B-B57A-43EDB8C5DFE0}"/>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329750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3036722"/>
          <a:ext cx="6571398" cy="165100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nvGraphicFramePr>
        <p:xfrm>
          <a:off x="5385471" y="500017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4333909"/>
            <a:ext cx="6571398" cy="353814"/>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170634" y="1582609"/>
            <a:ext cx="3740336" cy="183007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956D7F7-AA39-C311-07CB-971AFF581543}"/>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36957534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rgbClr val="00B0F0"/>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rgbClr val="FFFF00"/>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3036722"/>
          <a:ext cx="6571398" cy="165100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nvGraphicFramePr>
        <p:xfrm>
          <a:off x="5385471" y="5000172"/>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4333909"/>
            <a:ext cx="6571398" cy="353814"/>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170634" y="1582609"/>
            <a:ext cx="3740336" cy="183007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58964DD-8BEE-EED4-488D-6CFE32B28A0E}"/>
              </a:ext>
            </a:extLst>
          </p:cNvPr>
          <p:cNvSpPr/>
          <p:nvPr/>
        </p:nvSpPr>
        <p:spPr>
          <a:xfrm>
            <a:off x="2081128" y="2272934"/>
            <a:ext cx="500185" cy="569123"/>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6793276-34EF-BE84-CD99-3B7DF1D1C907}"/>
              </a:ext>
            </a:extLst>
          </p:cNvPr>
          <p:cNvSpPr/>
          <p:nvPr/>
        </p:nvSpPr>
        <p:spPr>
          <a:xfrm>
            <a:off x="3929133" y="2286895"/>
            <a:ext cx="433640" cy="56912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E62C4D9-D011-5491-BFA8-0F612D993977}"/>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762197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rgbClr val="00B0F0"/>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rgbClr val="FFFF00"/>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2" y="688088"/>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extLst>
              <p:ext uri="{D42A27DB-BD31-4B8C-83A1-F6EECF244321}">
                <p14:modId xmlns:p14="http://schemas.microsoft.com/office/powerpoint/2010/main" val="2211187691"/>
              </p:ext>
            </p:extLst>
          </p:nvPr>
        </p:nvGraphicFramePr>
        <p:xfrm>
          <a:off x="5385471" y="3036722"/>
          <a:ext cx="6571398" cy="192024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r>
                        <a:rPr lang="en-US"/>
                        <a:t>prefers to confess instead of not confess</a:t>
                      </a:r>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extLst>
              <p:ext uri="{D42A27DB-BD31-4B8C-83A1-F6EECF244321}">
                <p14:modId xmlns:p14="http://schemas.microsoft.com/office/powerpoint/2010/main" val="1701371274"/>
              </p:ext>
            </p:extLst>
          </p:nvPr>
        </p:nvGraphicFramePr>
        <p:xfrm>
          <a:off x="5385471" y="5253445"/>
          <a:ext cx="6571398" cy="138176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endParaRPr lang="en-US"/>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4333908"/>
            <a:ext cx="6571398" cy="623053"/>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170634" y="1582609"/>
            <a:ext cx="3740336" cy="183007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58964DD-8BEE-EED4-488D-6CFE32B28A0E}"/>
              </a:ext>
            </a:extLst>
          </p:cNvPr>
          <p:cNvSpPr/>
          <p:nvPr/>
        </p:nvSpPr>
        <p:spPr>
          <a:xfrm>
            <a:off x="2081128" y="2272934"/>
            <a:ext cx="500185" cy="569123"/>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6793276-34EF-BE84-CD99-3B7DF1D1C907}"/>
              </a:ext>
            </a:extLst>
          </p:cNvPr>
          <p:cNvSpPr/>
          <p:nvPr/>
        </p:nvSpPr>
        <p:spPr>
          <a:xfrm>
            <a:off x="3929133" y="2286895"/>
            <a:ext cx="433640" cy="56912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4E84ADD-E322-F194-5AE7-11513BA90447}"/>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565324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1" y="53135"/>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extLst>
              <p:ext uri="{D42A27DB-BD31-4B8C-83A1-F6EECF244321}">
                <p14:modId xmlns:p14="http://schemas.microsoft.com/office/powerpoint/2010/main" val="1487796559"/>
              </p:ext>
            </p:extLst>
          </p:nvPr>
        </p:nvGraphicFramePr>
        <p:xfrm>
          <a:off x="5385471" y="2242848"/>
          <a:ext cx="6571398" cy="192024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r>
                        <a:rPr lang="en-US"/>
                        <a:t>prefers to confess instead of not confess</a:t>
                      </a:r>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extLst>
              <p:ext uri="{D42A27DB-BD31-4B8C-83A1-F6EECF244321}">
                <p14:modId xmlns:p14="http://schemas.microsoft.com/office/powerpoint/2010/main" val="2528340629"/>
              </p:ext>
            </p:extLst>
          </p:nvPr>
        </p:nvGraphicFramePr>
        <p:xfrm>
          <a:off x="5385471" y="4284617"/>
          <a:ext cx="6571398" cy="165100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415955" y="4886269"/>
            <a:ext cx="6571398" cy="690461"/>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3025560" y="1582609"/>
            <a:ext cx="1885410"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58964DD-8BEE-EED4-488D-6CFE32B28A0E}"/>
              </a:ext>
            </a:extLst>
          </p:cNvPr>
          <p:cNvSpPr/>
          <p:nvPr/>
        </p:nvSpPr>
        <p:spPr>
          <a:xfrm>
            <a:off x="3618301" y="2238747"/>
            <a:ext cx="500185" cy="569123"/>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6793276-34EF-BE84-CD99-3B7DF1D1C907}"/>
              </a:ext>
            </a:extLst>
          </p:cNvPr>
          <p:cNvSpPr/>
          <p:nvPr/>
        </p:nvSpPr>
        <p:spPr>
          <a:xfrm>
            <a:off x="3534625" y="4048111"/>
            <a:ext cx="433640" cy="56912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2A0CF4E-1BD1-5C56-5870-02B59E4A92B9}"/>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2168645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4" name="TextBox 13">
            <a:extLst>
              <a:ext uri="{FF2B5EF4-FFF2-40B4-BE49-F238E27FC236}">
                <a16:creationId xmlns:a16="http://schemas.microsoft.com/office/drawing/2014/main" id="{6C33343E-70F8-3DE9-9A54-3A1388F603E6}"/>
              </a:ext>
            </a:extLst>
          </p:cNvPr>
          <p:cNvSpPr txBox="1"/>
          <p:nvPr/>
        </p:nvSpPr>
        <p:spPr>
          <a:xfrm>
            <a:off x="1610414" y="2327365"/>
            <a:ext cx="1001484" cy="369332"/>
          </a:xfrm>
          <a:prstGeom prst="rect">
            <a:avLst/>
          </a:prstGeom>
          <a:noFill/>
        </p:spPr>
        <p:txBody>
          <a:bodyPr wrap="square" rtlCol="0">
            <a:spAutoFit/>
          </a:bodyPr>
          <a:lstStyle/>
          <a:p>
            <a:pPr algn="ctr"/>
            <a:r>
              <a:rPr lang="en-US"/>
              <a:t>(-10,-10)</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1" y="53135"/>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2242848"/>
          <a:ext cx="6571398" cy="192024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r>
                        <a:rPr lang="en-US"/>
                        <a:t>prefers to confess instead of not confess</a:t>
                      </a:r>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nvGraphicFramePr>
        <p:xfrm>
          <a:off x="5385471" y="4284617"/>
          <a:ext cx="6571398" cy="165100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endParaRPr lang="en-US"/>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415955" y="4886269"/>
            <a:ext cx="6571398" cy="690461"/>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3025560" y="1582609"/>
            <a:ext cx="1885410"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58964DD-8BEE-EED4-488D-6CFE32B28A0E}"/>
              </a:ext>
            </a:extLst>
          </p:cNvPr>
          <p:cNvSpPr/>
          <p:nvPr/>
        </p:nvSpPr>
        <p:spPr>
          <a:xfrm>
            <a:off x="3618301" y="2238747"/>
            <a:ext cx="500185" cy="569123"/>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6793276-34EF-BE84-CD99-3B7DF1D1C907}"/>
              </a:ext>
            </a:extLst>
          </p:cNvPr>
          <p:cNvSpPr/>
          <p:nvPr/>
        </p:nvSpPr>
        <p:spPr>
          <a:xfrm>
            <a:off x="3534625" y="4048111"/>
            <a:ext cx="433640" cy="56912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9071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BFF3A-554A-C8EB-B1B8-18A09F1B282E}"/>
              </a:ext>
            </a:extLst>
          </p:cNvPr>
          <p:cNvSpPr txBox="1"/>
          <p:nvPr/>
        </p:nvSpPr>
        <p:spPr>
          <a:xfrm>
            <a:off x="235131" y="226423"/>
            <a:ext cx="4990012" cy="461665"/>
          </a:xfrm>
          <a:prstGeom prst="rect">
            <a:avLst/>
          </a:prstGeom>
          <a:noFill/>
        </p:spPr>
        <p:txBody>
          <a:bodyPr wrap="square" rtlCol="0">
            <a:spAutoFit/>
          </a:bodyPr>
          <a:lstStyle/>
          <a:p>
            <a:r>
              <a:rPr lang="en-US" sz="2400" b="1" u="sng">
                <a:solidFill>
                  <a:schemeClr val="accent2"/>
                </a:solidFill>
              </a:rPr>
              <a:t>Refresher: Strategic Interdependance</a:t>
            </a:r>
          </a:p>
        </p:txBody>
      </p:sp>
      <p:sp>
        <p:nvSpPr>
          <p:cNvPr id="5" name="Rectangle 4">
            <a:extLst>
              <a:ext uri="{FF2B5EF4-FFF2-40B4-BE49-F238E27FC236}">
                <a16:creationId xmlns:a16="http://schemas.microsoft.com/office/drawing/2014/main" id="{448E35C2-8034-295E-1F56-C06FB485B507}"/>
              </a:ext>
            </a:extLst>
          </p:cNvPr>
          <p:cNvSpPr/>
          <p:nvPr/>
        </p:nvSpPr>
        <p:spPr>
          <a:xfrm>
            <a:off x="1170634" y="1604554"/>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F9EEA48-01E7-8C36-DE32-B66899E6D4DB}"/>
              </a:ext>
            </a:extLst>
          </p:cNvPr>
          <p:cNvCxnSpPr>
            <a:stCxn id="5" idx="0"/>
            <a:endCxn id="5" idx="2"/>
          </p:cNvCxnSpPr>
          <p:nvPr/>
        </p:nvCxnSpPr>
        <p:spPr>
          <a:xfrm>
            <a:off x="3025560" y="1604554"/>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40B5A41-2D15-0820-9EC1-80994F43C7E8}"/>
              </a:ext>
            </a:extLst>
          </p:cNvPr>
          <p:cNvCxnSpPr>
            <a:stCxn id="5" idx="1"/>
            <a:endCxn id="5" idx="3"/>
          </p:cNvCxnSpPr>
          <p:nvPr/>
        </p:nvCxnSpPr>
        <p:spPr>
          <a:xfrm>
            <a:off x="1170634" y="3429000"/>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86E64E-66A0-A5F2-C818-AC92E0D9C828}"/>
              </a:ext>
            </a:extLst>
          </p:cNvPr>
          <p:cNvSpPr txBox="1"/>
          <p:nvPr/>
        </p:nvSpPr>
        <p:spPr>
          <a:xfrm>
            <a:off x="1932634" y="734476"/>
            <a:ext cx="2185852" cy="369332"/>
          </a:xfrm>
          <a:prstGeom prst="rect">
            <a:avLst/>
          </a:prstGeom>
          <a:noFill/>
        </p:spPr>
        <p:txBody>
          <a:bodyPr wrap="square" rtlCol="0">
            <a:spAutoFit/>
          </a:bodyPr>
          <a:lstStyle/>
          <a:p>
            <a:pPr algn="ctr"/>
            <a:r>
              <a:rPr lang="en-US">
                <a:solidFill>
                  <a:schemeClr val="accent3"/>
                </a:solidFill>
              </a:rPr>
              <a:t>suspect A</a:t>
            </a:r>
          </a:p>
        </p:txBody>
      </p:sp>
      <p:sp>
        <p:nvSpPr>
          <p:cNvPr id="11" name="TextBox 10">
            <a:extLst>
              <a:ext uri="{FF2B5EF4-FFF2-40B4-BE49-F238E27FC236}">
                <a16:creationId xmlns:a16="http://schemas.microsoft.com/office/drawing/2014/main" id="{195E3E8D-6D42-08A1-B375-852366AAE918}"/>
              </a:ext>
            </a:extLst>
          </p:cNvPr>
          <p:cNvSpPr txBox="1"/>
          <p:nvPr/>
        </p:nvSpPr>
        <p:spPr>
          <a:xfrm rot="16200000">
            <a:off x="-673129" y="3341914"/>
            <a:ext cx="2185852" cy="369332"/>
          </a:xfrm>
          <a:prstGeom prst="rect">
            <a:avLst/>
          </a:prstGeom>
          <a:noFill/>
        </p:spPr>
        <p:txBody>
          <a:bodyPr wrap="square" rtlCol="0">
            <a:spAutoFit/>
          </a:bodyPr>
          <a:lstStyle/>
          <a:p>
            <a:pPr algn="ctr"/>
            <a:r>
              <a:rPr lang="en-US">
                <a:solidFill>
                  <a:schemeClr val="accent3"/>
                </a:solidFill>
              </a:rPr>
              <a:t>suspect B</a:t>
            </a:r>
          </a:p>
        </p:txBody>
      </p:sp>
      <p:sp>
        <p:nvSpPr>
          <p:cNvPr id="6" name="TextBox 5">
            <a:extLst>
              <a:ext uri="{FF2B5EF4-FFF2-40B4-BE49-F238E27FC236}">
                <a16:creationId xmlns:a16="http://schemas.microsoft.com/office/drawing/2014/main" id="{872B9207-17A8-7E72-803A-870C3C03D862}"/>
              </a:ext>
            </a:extLst>
          </p:cNvPr>
          <p:cNvSpPr txBox="1"/>
          <p:nvPr/>
        </p:nvSpPr>
        <p:spPr>
          <a:xfrm>
            <a:off x="992106" y="1169515"/>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8" name="TextBox 7">
            <a:extLst>
              <a:ext uri="{FF2B5EF4-FFF2-40B4-BE49-F238E27FC236}">
                <a16:creationId xmlns:a16="http://schemas.microsoft.com/office/drawing/2014/main" id="{F061AF12-727E-67E8-029F-7500F3FCBE57}"/>
              </a:ext>
            </a:extLst>
          </p:cNvPr>
          <p:cNvSpPr txBox="1"/>
          <p:nvPr/>
        </p:nvSpPr>
        <p:spPr>
          <a:xfrm>
            <a:off x="2851388" y="1169515"/>
            <a:ext cx="2185852" cy="369332"/>
          </a:xfrm>
          <a:prstGeom prst="rect">
            <a:avLst/>
          </a:prstGeom>
          <a:noFill/>
        </p:spPr>
        <p:txBody>
          <a:bodyPr wrap="square" rtlCol="0">
            <a:spAutoFit/>
          </a:bodyPr>
          <a:lstStyle/>
          <a:p>
            <a:pPr algn="ctr"/>
            <a:r>
              <a:rPr lang="en-US">
                <a:solidFill>
                  <a:schemeClr val="accent3"/>
                </a:solidFill>
              </a:rPr>
              <a:t>confess</a:t>
            </a:r>
          </a:p>
        </p:txBody>
      </p:sp>
      <p:sp>
        <p:nvSpPr>
          <p:cNvPr id="12" name="TextBox 11">
            <a:extLst>
              <a:ext uri="{FF2B5EF4-FFF2-40B4-BE49-F238E27FC236}">
                <a16:creationId xmlns:a16="http://schemas.microsoft.com/office/drawing/2014/main" id="{F8B113E5-1AB9-4B97-F845-55E7C88EACEB}"/>
              </a:ext>
            </a:extLst>
          </p:cNvPr>
          <p:cNvSpPr txBox="1"/>
          <p:nvPr/>
        </p:nvSpPr>
        <p:spPr>
          <a:xfrm rot="16200000">
            <a:off x="-137442" y="2375653"/>
            <a:ext cx="2185852" cy="369332"/>
          </a:xfrm>
          <a:prstGeom prst="rect">
            <a:avLst/>
          </a:prstGeom>
          <a:noFill/>
        </p:spPr>
        <p:txBody>
          <a:bodyPr wrap="square" rtlCol="0">
            <a:spAutoFit/>
          </a:bodyPr>
          <a:lstStyle/>
          <a:p>
            <a:pPr algn="ctr"/>
            <a:r>
              <a:rPr lang="en-US">
                <a:solidFill>
                  <a:schemeClr val="accent3"/>
                </a:solidFill>
              </a:rPr>
              <a:t>do not confess</a:t>
            </a:r>
          </a:p>
        </p:txBody>
      </p:sp>
      <p:sp>
        <p:nvSpPr>
          <p:cNvPr id="13" name="TextBox 12">
            <a:extLst>
              <a:ext uri="{FF2B5EF4-FFF2-40B4-BE49-F238E27FC236}">
                <a16:creationId xmlns:a16="http://schemas.microsoft.com/office/drawing/2014/main" id="{FCC2FE6B-E4B2-E564-3F87-A5F7C260699E}"/>
              </a:ext>
            </a:extLst>
          </p:cNvPr>
          <p:cNvSpPr txBox="1"/>
          <p:nvPr/>
        </p:nvSpPr>
        <p:spPr>
          <a:xfrm rot="16200000">
            <a:off x="-100820" y="4099951"/>
            <a:ext cx="2185852" cy="369332"/>
          </a:xfrm>
          <a:prstGeom prst="rect">
            <a:avLst/>
          </a:prstGeom>
          <a:noFill/>
        </p:spPr>
        <p:txBody>
          <a:bodyPr wrap="square" rtlCol="0">
            <a:spAutoFit/>
          </a:bodyPr>
          <a:lstStyle/>
          <a:p>
            <a:pPr algn="ctr"/>
            <a:r>
              <a:rPr lang="en-US">
                <a:solidFill>
                  <a:schemeClr val="accent3"/>
                </a:solidFill>
              </a:rPr>
              <a:t>confess</a:t>
            </a:r>
          </a:p>
        </p:txBody>
      </p:sp>
      <p:sp>
        <p:nvSpPr>
          <p:cNvPr id="16" name="TextBox 15">
            <a:extLst>
              <a:ext uri="{FF2B5EF4-FFF2-40B4-BE49-F238E27FC236}">
                <a16:creationId xmlns:a16="http://schemas.microsoft.com/office/drawing/2014/main" id="{671D1820-AE3D-20A2-3837-DF729EB82911}"/>
              </a:ext>
            </a:extLst>
          </p:cNvPr>
          <p:cNvSpPr txBox="1"/>
          <p:nvPr/>
        </p:nvSpPr>
        <p:spPr>
          <a:xfrm>
            <a:off x="3443572" y="4163088"/>
            <a:ext cx="1001484" cy="369332"/>
          </a:xfrm>
          <a:prstGeom prst="rect">
            <a:avLst/>
          </a:prstGeom>
          <a:noFill/>
        </p:spPr>
        <p:txBody>
          <a:bodyPr wrap="square" rtlCol="0">
            <a:spAutoFit/>
          </a:bodyPr>
          <a:lstStyle/>
          <a:p>
            <a:pPr algn="ctr"/>
            <a:r>
              <a:rPr lang="en-US"/>
              <a:t>(-5,-5)</a:t>
            </a:r>
          </a:p>
        </p:txBody>
      </p:sp>
      <p:sp>
        <p:nvSpPr>
          <p:cNvPr id="17" name="TextBox 16">
            <a:extLst>
              <a:ext uri="{FF2B5EF4-FFF2-40B4-BE49-F238E27FC236}">
                <a16:creationId xmlns:a16="http://schemas.microsoft.com/office/drawing/2014/main" id="{C93FDE40-E8DE-8AFD-5814-776360D8269D}"/>
              </a:ext>
            </a:extLst>
          </p:cNvPr>
          <p:cNvSpPr txBox="1"/>
          <p:nvPr/>
        </p:nvSpPr>
        <p:spPr>
          <a:xfrm>
            <a:off x="1610414" y="4149242"/>
            <a:ext cx="1001484" cy="369332"/>
          </a:xfrm>
          <a:prstGeom prst="rect">
            <a:avLst/>
          </a:prstGeom>
          <a:noFill/>
        </p:spPr>
        <p:txBody>
          <a:bodyPr wrap="square" rtlCol="0">
            <a:spAutoFit/>
          </a:bodyPr>
          <a:lstStyle/>
          <a:p>
            <a:pPr algn="ctr"/>
            <a:r>
              <a:rPr lang="en-US"/>
              <a:t>(0,-20)</a:t>
            </a:r>
          </a:p>
        </p:txBody>
      </p:sp>
      <p:sp>
        <p:nvSpPr>
          <p:cNvPr id="18" name="TextBox 17">
            <a:extLst>
              <a:ext uri="{FF2B5EF4-FFF2-40B4-BE49-F238E27FC236}">
                <a16:creationId xmlns:a16="http://schemas.microsoft.com/office/drawing/2014/main" id="{AC175A45-5EE1-FF0F-8A88-7EA09D4CAF56}"/>
              </a:ext>
            </a:extLst>
          </p:cNvPr>
          <p:cNvSpPr txBox="1"/>
          <p:nvPr/>
        </p:nvSpPr>
        <p:spPr>
          <a:xfrm>
            <a:off x="3459201" y="2338643"/>
            <a:ext cx="1001484" cy="369332"/>
          </a:xfrm>
          <a:prstGeom prst="rect">
            <a:avLst/>
          </a:prstGeom>
          <a:noFill/>
        </p:spPr>
        <p:txBody>
          <a:bodyPr wrap="square" rtlCol="0">
            <a:spAutoFit/>
          </a:bodyPr>
          <a:lstStyle/>
          <a:p>
            <a:pPr algn="ctr"/>
            <a:r>
              <a:rPr lang="en-US"/>
              <a:t>(-20,0)</a:t>
            </a:r>
          </a:p>
        </p:txBody>
      </p:sp>
      <p:sp>
        <p:nvSpPr>
          <p:cNvPr id="3" name="TextBox 2">
            <a:extLst>
              <a:ext uri="{FF2B5EF4-FFF2-40B4-BE49-F238E27FC236}">
                <a16:creationId xmlns:a16="http://schemas.microsoft.com/office/drawing/2014/main" id="{5F19065A-7F8F-C2E0-7D29-3621005D9EF6}"/>
              </a:ext>
            </a:extLst>
          </p:cNvPr>
          <p:cNvSpPr txBox="1"/>
          <p:nvPr/>
        </p:nvSpPr>
        <p:spPr>
          <a:xfrm>
            <a:off x="5385471" y="53135"/>
            <a:ext cx="6745568" cy="923330"/>
          </a:xfrm>
          <a:prstGeom prst="rect">
            <a:avLst/>
          </a:prstGeom>
          <a:noFill/>
        </p:spPr>
        <p:txBody>
          <a:bodyPr wrap="square" rtlCol="0">
            <a:spAutoFit/>
          </a:bodyPr>
          <a:lstStyle/>
          <a:p>
            <a:r>
              <a:rPr lang="en-US" b="1" i="1"/>
              <a:t>The Prisoners’ Dilemma does NOT depict strategic interdependence!</a:t>
            </a:r>
          </a:p>
          <a:p>
            <a:endParaRPr lang="en-US" b="1" i="1"/>
          </a:p>
          <a:p>
            <a:r>
              <a:rPr lang="en-US" b="1"/>
              <a:t>Why not?</a:t>
            </a:r>
          </a:p>
        </p:txBody>
      </p:sp>
      <p:graphicFrame>
        <p:nvGraphicFramePr>
          <p:cNvPr id="15" name="Table 18">
            <a:extLst>
              <a:ext uri="{FF2B5EF4-FFF2-40B4-BE49-F238E27FC236}">
                <a16:creationId xmlns:a16="http://schemas.microsoft.com/office/drawing/2014/main" id="{4E405186-B056-DCC7-C172-CE3A1C8B7EAB}"/>
              </a:ext>
            </a:extLst>
          </p:cNvPr>
          <p:cNvGraphicFramePr>
            <a:graphicFrameLocks noGrp="1"/>
          </p:cNvGraphicFramePr>
          <p:nvPr/>
        </p:nvGraphicFramePr>
        <p:xfrm>
          <a:off x="5385471" y="2242848"/>
          <a:ext cx="6571398" cy="192024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3"/>
                          </a:solidFill>
                        </a:rPr>
                        <a:t>suspect A’s </a:t>
                      </a:r>
                      <a:r>
                        <a:rPr lang="en-US"/>
                        <a:t>expectations about what suspect B will do</a:t>
                      </a:r>
                    </a:p>
                  </a:txBody>
                  <a:tcPr/>
                </a:tc>
                <a:tc>
                  <a:txBody>
                    <a:bodyPr/>
                    <a:lstStyle/>
                    <a:p>
                      <a:r>
                        <a:rPr lang="en-US">
                          <a:solidFill>
                            <a:schemeClr val="accent3"/>
                          </a:solidFill>
                        </a:rPr>
                        <a:t>suspect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B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B will not confess</a:t>
                      </a:r>
                    </a:p>
                  </a:txBody>
                  <a:tcPr/>
                </a:tc>
                <a:tc>
                  <a:txBody>
                    <a:bodyPr/>
                    <a:lstStyle/>
                    <a:p>
                      <a:r>
                        <a:rPr lang="en-US"/>
                        <a:t>prefers to confess instead of not confess</a:t>
                      </a:r>
                    </a:p>
                  </a:txBody>
                  <a:tcPr/>
                </a:tc>
                <a:extLst>
                  <a:ext uri="{0D108BD9-81ED-4DB2-BD59-A6C34878D82A}">
                    <a16:rowId xmlns:a16="http://schemas.microsoft.com/office/drawing/2014/main" val="2874394456"/>
                  </a:ext>
                </a:extLst>
              </a:tr>
            </a:tbl>
          </a:graphicData>
        </a:graphic>
      </p:graphicFrame>
      <p:graphicFrame>
        <p:nvGraphicFramePr>
          <p:cNvPr id="19" name="Table 18">
            <a:extLst>
              <a:ext uri="{FF2B5EF4-FFF2-40B4-BE49-F238E27FC236}">
                <a16:creationId xmlns:a16="http://schemas.microsoft.com/office/drawing/2014/main" id="{4357DE94-BAAE-D996-4AFA-32C270105F88}"/>
              </a:ext>
            </a:extLst>
          </p:cNvPr>
          <p:cNvGraphicFramePr>
            <a:graphicFrameLocks noGrp="1"/>
          </p:cNvGraphicFramePr>
          <p:nvPr>
            <p:extLst>
              <p:ext uri="{D42A27DB-BD31-4B8C-83A1-F6EECF244321}">
                <p14:modId xmlns:p14="http://schemas.microsoft.com/office/powerpoint/2010/main" val="821082228"/>
              </p:ext>
            </p:extLst>
          </p:nvPr>
        </p:nvGraphicFramePr>
        <p:xfrm>
          <a:off x="5385471" y="4284617"/>
          <a:ext cx="6571398" cy="1920240"/>
        </p:xfrm>
        <a:graphic>
          <a:graphicData uri="http://schemas.openxmlformats.org/drawingml/2006/table">
            <a:tbl>
              <a:tblPr firstRow="1" bandRow="1">
                <a:tableStyleId>{5C22544A-7EE6-4342-B048-85BDC9FD1C3A}</a:tableStyleId>
              </a:tblPr>
              <a:tblGrid>
                <a:gridCol w="3285699">
                  <a:extLst>
                    <a:ext uri="{9D8B030D-6E8A-4147-A177-3AD203B41FA5}">
                      <a16:colId xmlns:a16="http://schemas.microsoft.com/office/drawing/2014/main" val="4145540793"/>
                    </a:ext>
                  </a:extLst>
                </a:gridCol>
                <a:gridCol w="3285699">
                  <a:extLst>
                    <a:ext uri="{9D8B030D-6E8A-4147-A177-3AD203B41FA5}">
                      <a16:colId xmlns:a16="http://schemas.microsoft.com/office/drawing/2014/main" val="2628530634"/>
                    </a:ext>
                  </a:extLst>
                </a:gridCol>
              </a:tblGrid>
              <a:tr h="370840">
                <a:tc>
                  <a:txBody>
                    <a:bodyPr/>
                    <a:lstStyle/>
                    <a:p>
                      <a:r>
                        <a:rPr lang="en-US">
                          <a:solidFill>
                            <a:schemeClr val="accent5"/>
                          </a:solidFill>
                        </a:rPr>
                        <a:t>suspect B’s</a:t>
                      </a:r>
                      <a:r>
                        <a:rPr lang="en-US"/>
                        <a:t> expectations about what suspect A will do</a:t>
                      </a:r>
                    </a:p>
                  </a:txBody>
                  <a:tcPr/>
                </a:tc>
                <a:tc>
                  <a:txBody>
                    <a:bodyPr/>
                    <a:lstStyle/>
                    <a:p>
                      <a:r>
                        <a:rPr lang="en-US">
                          <a:solidFill>
                            <a:schemeClr val="accent5"/>
                          </a:solidFill>
                        </a:rPr>
                        <a:t>suspect B’s </a:t>
                      </a:r>
                      <a:r>
                        <a:rPr lang="en-US"/>
                        <a:t>preferences over his available actions</a:t>
                      </a:r>
                    </a:p>
                  </a:txBody>
                  <a:tcPr/>
                </a:tc>
                <a:extLst>
                  <a:ext uri="{0D108BD9-81ED-4DB2-BD59-A6C34878D82A}">
                    <a16:rowId xmlns:a16="http://schemas.microsoft.com/office/drawing/2014/main" val="3626194292"/>
                  </a:ext>
                </a:extLst>
              </a:tr>
              <a:tr h="370840">
                <a:tc>
                  <a:txBody>
                    <a:bodyPr/>
                    <a:lstStyle/>
                    <a:p>
                      <a:r>
                        <a:rPr lang="en-US"/>
                        <a:t>A will confess</a:t>
                      </a:r>
                    </a:p>
                  </a:txBody>
                  <a:tcPr/>
                </a:tc>
                <a:tc>
                  <a:txBody>
                    <a:bodyPr/>
                    <a:lstStyle/>
                    <a:p>
                      <a:r>
                        <a:rPr lang="en-US"/>
                        <a:t>prefers to confess instead of not confess</a:t>
                      </a:r>
                    </a:p>
                  </a:txBody>
                  <a:tcPr/>
                </a:tc>
                <a:extLst>
                  <a:ext uri="{0D108BD9-81ED-4DB2-BD59-A6C34878D82A}">
                    <a16:rowId xmlns:a16="http://schemas.microsoft.com/office/drawing/2014/main" val="4209888748"/>
                  </a:ext>
                </a:extLst>
              </a:tr>
              <a:tr h="370840">
                <a:tc>
                  <a:txBody>
                    <a:bodyPr/>
                    <a:lstStyle/>
                    <a:p>
                      <a:r>
                        <a:rPr lang="en-US"/>
                        <a:t>A will not confess</a:t>
                      </a:r>
                    </a:p>
                  </a:txBody>
                  <a:tcPr/>
                </a:tc>
                <a:tc>
                  <a:txBody>
                    <a:bodyPr/>
                    <a:lstStyle/>
                    <a:p>
                      <a:r>
                        <a:rPr lang="en-US"/>
                        <a:t>prefers to confess instead of not confess</a:t>
                      </a:r>
                    </a:p>
                  </a:txBody>
                  <a:tcPr/>
                </a:tc>
                <a:extLst>
                  <a:ext uri="{0D108BD9-81ED-4DB2-BD59-A6C34878D82A}">
                    <a16:rowId xmlns:a16="http://schemas.microsoft.com/office/drawing/2014/main" val="2874394456"/>
                  </a:ext>
                </a:extLst>
              </a:tr>
            </a:tbl>
          </a:graphicData>
        </a:graphic>
      </p:graphicFrame>
      <p:sp>
        <p:nvSpPr>
          <p:cNvPr id="20" name="Rectangle 19">
            <a:extLst>
              <a:ext uri="{FF2B5EF4-FFF2-40B4-BE49-F238E27FC236}">
                <a16:creationId xmlns:a16="http://schemas.microsoft.com/office/drawing/2014/main" id="{7D0DA6B2-4AB2-F716-73C7-70566D689C5D}"/>
              </a:ext>
            </a:extLst>
          </p:cNvPr>
          <p:cNvSpPr/>
          <p:nvPr/>
        </p:nvSpPr>
        <p:spPr>
          <a:xfrm>
            <a:off x="5385471" y="5526349"/>
            <a:ext cx="6571398" cy="690461"/>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53094E-3D96-522C-596F-A588359CEC87}"/>
              </a:ext>
            </a:extLst>
          </p:cNvPr>
          <p:cNvSpPr/>
          <p:nvPr/>
        </p:nvSpPr>
        <p:spPr>
          <a:xfrm>
            <a:off x="1207256" y="1581405"/>
            <a:ext cx="1885410"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58964DD-8BEE-EED4-488D-6CFE32B28A0E}"/>
              </a:ext>
            </a:extLst>
          </p:cNvPr>
          <p:cNvSpPr/>
          <p:nvPr/>
        </p:nvSpPr>
        <p:spPr>
          <a:xfrm>
            <a:off x="1728811" y="2287785"/>
            <a:ext cx="500185" cy="571390"/>
          </a:xfrm>
          <a:prstGeom prst="ellipse">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86793276-34EF-BE84-CD99-3B7DF1D1C907}"/>
              </a:ext>
            </a:extLst>
          </p:cNvPr>
          <p:cNvSpPr/>
          <p:nvPr/>
        </p:nvSpPr>
        <p:spPr>
          <a:xfrm>
            <a:off x="1645135" y="4097149"/>
            <a:ext cx="433640" cy="571390"/>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E6192EF-3D91-D3F1-0472-A07328980BB5}"/>
              </a:ext>
            </a:extLst>
          </p:cNvPr>
          <p:cNvSpPr txBox="1"/>
          <p:nvPr/>
        </p:nvSpPr>
        <p:spPr>
          <a:xfrm>
            <a:off x="1610414" y="2327365"/>
            <a:ext cx="1001484" cy="369332"/>
          </a:xfrm>
          <a:prstGeom prst="rect">
            <a:avLst/>
          </a:prstGeom>
          <a:noFill/>
        </p:spPr>
        <p:txBody>
          <a:bodyPr wrap="square" rtlCol="0">
            <a:spAutoFit/>
          </a:bodyPr>
          <a:lstStyle/>
          <a:p>
            <a:pPr algn="ctr"/>
            <a:r>
              <a:rPr lang="en-US"/>
              <a:t>(-1,-1)</a:t>
            </a:r>
          </a:p>
        </p:txBody>
      </p:sp>
    </p:spTree>
    <p:extLst>
      <p:ext uri="{BB962C8B-B14F-4D97-AF65-F5344CB8AC3E}">
        <p14:creationId xmlns:p14="http://schemas.microsoft.com/office/powerpoint/2010/main" val="406299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46C958-F69C-1863-0529-A9578797E8D6}"/>
              </a:ext>
            </a:extLst>
          </p:cNvPr>
          <p:cNvSpPr txBox="1"/>
          <p:nvPr/>
        </p:nvSpPr>
        <p:spPr>
          <a:xfrm>
            <a:off x="3600994" y="1680754"/>
            <a:ext cx="4990012" cy="2585323"/>
          </a:xfrm>
          <a:prstGeom prst="rect">
            <a:avLst/>
          </a:prstGeom>
          <a:noFill/>
        </p:spPr>
        <p:txBody>
          <a:bodyPr wrap="square" rtlCol="0">
            <a:spAutoFit/>
          </a:bodyPr>
          <a:lstStyle/>
          <a:p>
            <a:pPr algn="ctr"/>
            <a:r>
              <a:rPr lang="en-US" sz="5400">
                <a:solidFill>
                  <a:schemeClr val="tx2"/>
                </a:solidFill>
              </a:rPr>
              <a:t>Best Responses </a:t>
            </a:r>
          </a:p>
          <a:p>
            <a:pPr algn="ctr"/>
            <a:r>
              <a:rPr lang="en-US" sz="5400">
                <a:solidFill>
                  <a:schemeClr val="tx2"/>
                </a:solidFill>
              </a:rPr>
              <a:t>and </a:t>
            </a:r>
          </a:p>
          <a:p>
            <a:pPr algn="ctr"/>
            <a:r>
              <a:rPr lang="en-US" sz="5400">
                <a:solidFill>
                  <a:schemeClr val="tx2"/>
                </a:solidFill>
              </a:rPr>
              <a:t>Nash Equilibria</a:t>
            </a:r>
          </a:p>
        </p:txBody>
      </p:sp>
    </p:spTree>
    <p:extLst>
      <p:ext uri="{BB962C8B-B14F-4D97-AF65-F5344CB8AC3E}">
        <p14:creationId xmlns:p14="http://schemas.microsoft.com/office/powerpoint/2010/main" val="19944872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BD97E2-84E1-25C1-298F-D8BDA052B10E}"/>
              </a:ext>
            </a:extLst>
          </p:cNvPr>
          <p:cNvSpPr txBox="1"/>
          <p:nvPr/>
        </p:nvSpPr>
        <p:spPr>
          <a:xfrm>
            <a:off x="809898" y="1314995"/>
            <a:ext cx="3770811" cy="461665"/>
          </a:xfrm>
          <a:prstGeom prst="rect">
            <a:avLst/>
          </a:prstGeom>
          <a:noFill/>
        </p:spPr>
        <p:txBody>
          <a:bodyPr wrap="square" rtlCol="0">
            <a:spAutoFit/>
          </a:bodyPr>
          <a:lstStyle/>
          <a:p>
            <a:pPr algn="ctr"/>
            <a:r>
              <a:rPr lang="en-US" sz="2400" u="sng"/>
              <a:t>Game Theoretic Models</a:t>
            </a:r>
          </a:p>
        </p:txBody>
      </p:sp>
      <p:sp>
        <p:nvSpPr>
          <p:cNvPr id="4" name="TextBox 3">
            <a:extLst>
              <a:ext uri="{FF2B5EF4-FFF2-40B4-BE49-F238E27FC236}">
                <a16:creationId xmlns:a16="http://schemas.microsoft.com/office/drawing/2014/main" id="{DA5EDC57-452F-BA4B-97CF-A6E8FC8B9F96}"/>
              </a:ext>
            </a:extLst>
          </p:cNvPr>
          <p:cNvSpPr txBox="1"/>
          <p:nvPr/>
        </p:nvSpPr>
        <p:spPr>
          <a:xfrm>
            <a:off x="6278881" y="1314995"/>
            <a:ext cx="4846320" cy="461665"/>
          </a:xfrm>
          <a:prstGeom prst="rect">
            <a:avLst/>
          </a:prstGeom>
          <a:noFill/>
        </p:spPr>
        <p:txBody>
          <a:bodyPr wrap="square" rtlCol="0">
            <a:spAutoFit/>
          </a:bodyPr>
          <a:lstStyle/>
          <a:p>
            <a:pPr algn="ctr"/>
            <a:r>
              <a:rPr lang="en-US" sz="2400" u="sng"/>
              <a:t>Best Responses and Nash Equilibria</a:t>
            </a:r>
          </a:p>
        </p:txBody>
      </p:sp>
    </p:spTree>
    <p:extLst>
      <p:ext uri="{BB962C8B-B14F-4D97-AF65-F5344CB8AC3E}">
        <p14:creationId xmlns:p14="http://schemas.microsoft.com/office/powerpoint/2010/main" val="40815104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BD97E2-84E1-25C1-298F-D8BDA052B10E}"/>
              </a:ext>
            </a:extLst>
          </p:cNvPr>
          <p:cNvSpPr txBox="1"/>
          <p:nvPr/>
        </p:nvSpPr>
        <p:spPr>
          <a:xfrm>
            <a:off x="809898" y="1314995"/>
            <a:ext cx="3770811" cy="461665"/>
          </a:xfrm>
          <a:prstGeom prst="rect">
            <a:avLst/>
          </a:prstGeom>
          <a:noFill/>
        </p:spPr>
        <p:txBody>
          <a:bodyPr wrap="square" rtlCol="0">
            <a:spAutoFit/>
          </a:bodyPr>
          <a:lstStyle/>
          <a:p>
            <a:pPr algn="ctr"/>
            <a:r>
              <a:rPr lang="en-US" sz="2400" u="sng"/>
              <a:t>Game Theoretic Models</a:t>
            </a:r>
          </a:p>
        </p:txBody>
      </p:sp>
      <p:sp>
        <p:nvSpPr>
          <p:cNvPr id="4" name="TextBox 3">
            <a:extLst>
              <a:ext uri="{FF2B5EF4-FFF2-40B4-BE49-F238E27FC236}">
                <a16:creationId xmlns:a16="http://schemas.microsoft.com/office/drawing/2014/main" id="{DA5EDC57-452F-BA4B-97CF-A6E8FC8B9F96}"/>
              </a:ext>
            </a:extLst>
          </p:cNvPr>
          <p:cNvSpPr txBox="1"/>
          <p:nvPr/>
        </p:nvSpPr>
        <p:spPr>
          <a:xfrm>
            <a:off x="6278881" y="1314995"/>
            <a:ext cx="4846320" cy="461665"/>
          </a:xfrm>
          <a:prstGeom prst="rect">
            <a:avLst/>
          </a:prstGeom>
          <a:noFill/>
        </p:spPr>
        <p:txBody>
          <a:bodyPr wrap="square" rtlCol="0">
            <a:spAutoFit/>
          </a:bodyPr>
          <a:lstStyle/>
          <a:p>
            <a:pPr algn="ctr"/>
            <a:r>
              <a:rPr lang="en-US" sz="2400" u="sng"/>
              <a:t>Best Responses and Nash Equilibria</a:t>
            </a:r>
          </a:p>
        </p:txBody>
      </p:sp>
      <p:sp>
        <p:nvSpPr>
          <p:cNvPr id="2" name="TextBox 1">
            <a:extLst>
              <a:ext uri="{FF2B5EF4-FFF2-40B4-BE49-F238E27FC236}">
                <a16:creationId xmlns:a16="http://schemas.microsoft.com/office/drawing/2014/main" id="{0EB842CE-C735-33B1-02FD-575F065E4BC7}"/>
              </a:ext>
            </a:extLst>
          </p:cNvPr>
          <p:cNvSpPr txBox="1"/>
          <p:nvPr/>
        </p:nvSpPr>
        <p:spPr>
          <a:xfrm>
            <a:off x="809898" y="2386149"/>
            <a:ext cx="4345577" cy="1938992"/>
          </a:xfrm>
          <a:prstGeom prst="rect">
            <a:avLst/>
          </a:prstGeom>
          <a:noFill/>
        </p:spPr>
        <p:txBody>
          <a:bodyPr wrap="square" rtlCol="0">
            <a:spAutoFit/>
          </a:bodyPr>
          <a:lstStyle/>
          <a:p>
            <a:r>
              <a:rPr lang="en-US" sz="2400" i="1"/>
              <a:t>Depict the relationship between </a:t>
            </a:r>
            <a:r>
              <a:rPr lang="en-US" sz="2400" i="1">
                <a:solidFill>
                  <a:schemeClr val="accent2"/>
                </a:solidFill>
              </a:rPr>
              <a:t>persons’ expectations</a:t>
            </a:r>
            <a:r>
              <a:rPr lang="en-US" sz="2400" i="1"/>
              <a:t> about what others will do and </a:t>
            </a:r>
            <a:r>
              <a:rPr lang="en-US" sz="2400" i="1">
                <a:solidFill>
                  <a:schemeClr val="accent2"/>
                </a:solidFill>
              </a:rPr>
              <a:t>persons’ preferences</a:t>
            </a:r>
            <a:r>
              <a:rPr lang="en-US" sz="2400" i="1"/>
              <a:t> over their available actions.</a:t>
            </a:r>
          </a:p>
        </p:txBody>
      </p:sp>
    </p:spTree>
    <p:extLst>
      <p:ext uri="{BB962C8B-B14F-4D97-AF65-F5344CB8AC3E}">
        <p14:creationId xmlns:p14="http://schemas.microsoft.com/office/powerpoint/2010/main" val="4288774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BD97E2-84E1-25C1-298F-D8BDA052B10E}"/>
              </a:ext>
            </a:extLst>
          </p:cNvPr>
          <p:cNvSpPr txBox="1"/>
          <p:nvPr/>
        </p:nvSpPr>
        <p:spPr>
          <a:xfrm>
            <a:off x="809898" y="1314995"/>
            <a:ext cx="3770811" cy="461665"/>
          </a:xfrm>
          <a:prstGeom prst="rect">
            <a:avLst/>
          </a:prstGeom>
          <a:noFill/>
        </p:spPr>
        <p:txBody>
          <a:bodyPr wrap="square" rtlCol="0">
            <a:spAutoFit/>
          </a:bodyPr>
          <a:lstStyle/>
          <a:p>
            <a:pPr algn="ctr"/>
            <a:r>
              <a:rPr lang="en-US" sz="2400" u="sng"/>
              <a:t>Game Theoretic Models</a:t>
            </a:r>
          </a:p>
        </p:txBody>
      </p:sp>
      <p:sp>
        <p:nvSpPr>
          <p:cNvPr id="4" name="TextBox 3">
            <a:extLst>
              <a:ext uri="{FF2B5EF4-FFF2-40B4-BE49-F238E27FC236}">
                <a16:creationId xmlns:a16="http://schemas.microsoft.com/office/drawing/2014/main" id="{DA5EDC57-452F-BA4B-97CF-A6E8FC8B9F96}"/>
              </a:ext>
            </a:extLst>
          </p:cNvPr>
          <p:cNvSpPr txBox="1"/>
          <p:nvPr/>
        </p:nvSpPr>
        <p:spPr>
          <a:xfrm>
            <a:off x="6278881" y="1314995"/>
            <a:ext cx="4846320" cy="461665"/>
          </a:xfrm>
          <a:prstGeom prst="rect">
            <a:avLst/>
          </a:prstGeom>
          <a:noFill/>
        </p:spPr>
        <p:txBody>
          <a:bodyPr wrap="square" rtlCol="0">
            <a:spAutoFit/>
          </a:bodyPr>
          <a:lstStyle/>
          <a:p>
            <a:pPr algn="ctr"/>
            <a:r>
              <a:rPr lang="en-US" sz="2400" u="sng"/>
              <a:t>Best Responses and Nash Equilibria</a:t>
            </a:r>
          </a:p>
        </p:txBody>
      </p:sp>
      <p:sp>
        <p:nvSpPr>
          <p:cNvPr id="2" name="TextBox 1">
            <a:extLst>
              <a:ext uri="{FF2B5EF4-FFF2-40B4-BE49-F238E27FC236}">
                <a16:creationId xmlns:a16="http://schemas.microsoft.com/office/drawing/2014/main" id="{0EB842CE-C735-33B1-02FD-575F065E4BC7}"/>
              </a:ext>
            </a:extLst>
          </p:cNvPr>
          <p:cNvSpPr txBox="1"/>
          <p:nvPr/>
        </p:nvSpPr>
        <p:spPr>
          <a:xfrm>
            <a:off x="809898" y="2386149"/>
            <a:ext cx="4345577" cy="1938992"/>
          </a:xfrm>
          <a:prstGeom prst="rect">
            <a:avLst/>
          </a:prstGeom>
          <a:noFill/>
        </p:spPr>
        <p:txBody>
          <a:bodyPr wrap="square" rtlCol="0">
            <a:spAutoFit/>
          </a:bodyPr>
          <a:lstStyle/>
          <a:p>
            <a:r>
              <a:rPr lang="en-US" sz="2400" i="1"/>
              <a:t>Depict the relationship between </a:t>
            </a:r>
            <a:r>
              <a:rPr lang="en-US" sz="2400" i="1">
                <a:solidFill>
                  <a:schemeClr val="accent2"/>
                </a:solidFill>
              </a:rPr>
              <a:t>persons’ expectations</a:t>
            </a:r>
            <a:r>
              <a:rPr lang="en-US" sz="2400" i="1"/>
              <a:t> about what others will do and </a:t>
            </a:r>
            <a:r>
              <a:rPr lang="en-US" sz="2400" i="1">
                <a:solidFill>
                  <a:schemeClr val="accent2"/>
                </a:solidFill>
              </a:rPr>
              <a:t>persons’ preferences</a:t>
            </a:r>
            <a:r>
              <a:rPr lang="en-US" sz="2400" i="1"/>
              <a:t> over their available actions.</a:t>
            </a:r>
          </a:p>
        </p:txBody>
      </p:sp>
      <p:sp>
        <p:nvSpPr>
          <p:cNvPr id="5" name="TextBox 4">
            <a:extLst>
              <a:ext uri="{FF2B5EF4-FFF2-40B4-BE49-F238E27FC236}">
                <a16:creationId xmlns:a16="http://schemas.microsoft.com/office/drawing/2014/main" id="{8E882245-18BF-C819-2EAA-E76EFD1A2D37}"/>
              </a:ext>
            </a:extLst>
          </p:cNvPr>
          <p:cNvSpPr txBox="1"/>
          <p:nvPr/>
        </p:nvSpPr>
        <p:spPr>
          <a:xfrm>
            <a:off x="6779624" y="2386149"/>
            <a:ext cx="4345577" cy="1569660"/>
          </a:xfrm>
          <a:prstGeom prst="rect">
            <a:avLst/>
          </a:prstGeom>
          <a:noFill/>
        </p:spPr>
        <p:txBody>
          <a:bodyPr wrap="square" rtlCol="0">
            <a:spAutoFit/>
          </a:bodyPr>
          <a:lstStyle/>
          <a:p>
            <a:r>
              <a:rPr lang="en-US" sz="2400" i="1"/>
              <a:t>Depict the relationship between </a:t>
            </a:r>
            <a:r>
              <a:rPr lang="en-US" sz="2400" i="1">
                <a:solidFill>
                  <a:schemeClr val="accent5"/>
                </a:solidFill>
              </a:rPr>
              <a:t>persons’ expectations </a:t>
            </a:r>
            <a:r>
              <a:rPr lang="en-US" sz="2400" i="1"/>
              <a:t>about what others will do and the </a:t>
            </a:r>
            <a:r>
              <a:rPr lang="en-US" sz="2400" i="1">
                <a:solidFill>
                  <a:schemeClr val="accent5"/>
                </a:solidFill>
              </a:rPr>
              <a:t>actions persons take</a:t>
            </a:r>
            <a:r>
              <a:rPr lang="en-US" sz="2400" i="1"/>
              <a:t>.</a:t>
            </a:r>
          </a:p>
        </p:txBody>
      </p:sp>
    </p:spTree>
    <p:extLst>
      <p:ext uri="{BB962C8B-B14F-4D97-AF65-F5344CB8AC3E}">
        <p14:creationId xmlns:p14="http://schemas.microsoft.com/office/powerpoint/2010/main" val="41789503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BD97E2-84E1-25C1-298F-D8BDA052B10E}"/>
              </a:ext>
            </a:extLst>
          </p:cNvPr>
          <p:cNvSpPr txBox="1"/>
          <p:nvPr/>
        </p:nvSpPr>
        <p:spPr>
          <a:xfrm>
            <a:off x="809898" y="1314995"/>
            <a:ext cx="3770811" cy="461665"/>
          </a:xfrm>
          <a:prstGeom prst="rect">
            <a:avLst/>
          </a:prstGeom>
          <a:noFill/>
        </p:spPr>
        <p:txBody>
          <a:bodyPr wrap="square" rtlCol="0">
            <a:spAutoFit/>
          </a:bodyPr>
          <a:lstStyle/>
          <a:p>
            <a:pPr algn="ctr"/>
            <a:r>
              <a:rPr lang="en-US" sz="2400" u="sng"/>
              <a:t>Game Theoretic Models</a:t>
            </a:r>
          </a:p>
        </p:txBody>
      </p:sp>
      <p:sp>
        <p:nvSpPr>
          <p:cNvPr id="4" name="TextBox 3">
            <a:extLst>
              <a:ext uri="{FF2B5EF4-FFF2-40B4-BE49-F238E27FC236}">
                <a16:creationId xmlns:a16="http://schemas.microsoft.com/office/drawing/2014/main" id="{DA5EDC57-452F-BA4B-97CF-A6E8FC8B9F96}"/>
              </a:ext>
            </a:extLst>
          </p:cNvPr>
          <p:cNvSpPr txBox="1"/>
          <p:nvPr/>
        </p:nvSpPr>
        <p:spPr>
          <a:xfrm>
            <a:off x="6278881" y="1314995"/>
            <a:ext cx="4846320" cy="461665"/>
          </a:xfrm>
          <a:prstGeom prst="rect">
            <a:avLst/>
          </a:prstGeom>
          <a:noFill/>
        </p:spPr>
        <p:txBody>
          <a:bodyPr wrap="square" rtlCol="0">
            <a:spAutoFit/>
          </a:bodyPr>
          <a:lstStyle/>
          <a:p>
            <a:pPr algn="ctr"/>
            <a:r>
              <a:rPr lang="en-US" sz="2400" u="sng"/>
              <a:t>Best Responses and Nash Equilibria</a:t>
            </a:r>
          </a:p>
        </p:txBody>
      </p:sp>
      <p:sp>
        <p:nvSpPr>
          <p:cNvPr id="2" name="TextBox 1">
            <a:extLst>
              <a:ext uri="{FF2B5EF4-FFF2-40B4-BE49-F238E27FC236}">
                <a16:creationId xmlns:a16="http://schemas.microsoft.com/office/drawing/2014/main" id="{0EB842CE-C735-33B1-02FD-575F065E4BC7}"/>
              </a:ext>
            </a:extLst>
          </p:cNvPr>
          <p:cNvSpPr txBox="1"/>
          <p:nvPr/>
        </p:nvSpPr>
        <p:spPr>
          <a:xfrm>
            <a:off x="949234" y="2490651"/>
            <a:ext cx="4345577" cy="461665"/>
          </a:xfrm>
          <a:prstGeom prst="rect">
            <a:avLst/>
          </a:prstGeom>
          <a:noFill/>
        </p:spPr>
        <p:txBody>
          <a:bodyPr wrap="square" rtlCol="0">
            <a:spAutoFit/>
          </a:bodyPr>
          <a:lstStyle/>
          <a:p>
            <a:r>
              <a:rPr lang="en-US" sz="2400" i="1"/>
              <a:t>expectations &lt;-&gt; preferences</a:t>
            </a:r>
          </a:p>
        </p:txBody>
      </p:sp>
      <p:sp>
        <p:nvSpPr>
          <p:cNvPr id="5" name="TextBox 4">
            <a:extLst>
              <a:ext uri="{FF2B5EF4-FFF2-40B4-BE49-F238E27FC236}">
                <a16:creationId xmlns:a16="http://schemas.microsoft.com/office/drawing/2014/main" id="{8E882245-18BF-C819-2EAA-E76EFD1A2D37}"/>
              </a:ext>
            </a:extLst>
          </p:cNvPr>
          <p:cNvSpPr txBox="1"/>
          <p:nvPr/>
        </p:nvSpPr>
        <p:spPr>
          <a:xfrm>
            <a:off x="6966859" y="2412275"/>
            <a:ext cx="4345577" cy="461665"/>
          </a:xfrm>
          <a:prstGeom prst="rect">
            <a:avLst/>
          </a:prstGeom>
          <a:noFill/>
        </p:spPr>
        <p:txBody>
          <a:bodyPr wrap="square" rtlCol="0">
            <a:spAutoFit/>
          </a:bodyPr>
          <a:lstStyle/>
          <a:p>
            <a:r>
              <a:rPr lang="en-US" sz="2400" i="1"/>
              <a:t>expectations &lt;-&gt; behavior</a:t>
            </a:r>
          </a:p>
        </p:txBody>
      </p:sp>
    </p:spTree>
    <p:extLst>
      <p:ext uri="{BB962C8B-B14F-4D97-AF65-F5344CB8AC3E}">
        <p14:creationId xmlns:p14="http://schemas.microsoft.com/office/powerpoint/2010/main" val="1634118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Tree>
    <p:extLst>
      <p:ext uri="{BB962C8B-B14F-4D97-AF65-F5344CB8AC3E}">
        <p14:creationId xmlns:p14="http://schemas.microsoft.com/office/powerpoint/2010/main" val="3204333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2447109" y="1088572"/>
            <a:ext cx="7593874" cy="646331"/>
          </a:xfrm>
          <a:prstGeom prst="rect">
            <a:avLst/>
          </a:prstGeom>
          <a:noFill/>
        </p:spPr>
        <p:txBody>
          <a:bodyPr wrap="square" rtlCol="0">
            <a:spAutoFit/>
          </a:bodyPr>
          <a:lstStyle/>
          <a:p>
            <a:r>
              <a:rPr lang="en-US"/>
              <a:t>Imagine the leaders of two nations – “leader A”, “leader B” – each deciding whether to impose trade embargoes on a third “target” nation.</a:t>
            </a:r>
          </a:p>
        </p:txBody>
      </p:sp>
    </p:spTree>
    <p:extLst>
      <p:ext uri="{BB962C8B-B14F-4D97-AF65-F5344CB8AC3E}">
        <p14:creationId xmlns:p14="http://schemas.microsoft.com/office/powerpoint/2010/main" val="26835563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2447109" y="1088572"/>
            <a:ext cx="7593874" cy="1477328"/>
          </a:xfrm>
          <a:prstGeom prst="rect">
            <a:avLst/>
          </a:prstGeom>
          <a:noFill/>
        </p:spPr>
        <p:txBody>
          <a:bodyPr wrap="square" rtlCol="0">
            <a:spAutoFit/>
          </a:bodyPr>
          <a:lstStyle/>
          <a:p>
            <a:r>
              <a:rPr lang="en-US"/>
              <a:t>Imagine the leaders of two nations – “leader A”, “leader B” – each deciding whether to impose trade embargoes on a third “target” nation.</a:t>
            </a:r>
          </a:p>
          <a:p>
            <a:endParaRPr lang="en-US"/>
          </a:p>
          <a:p>
            <a:r>
              <a:rPr lang="en-US"/>
              <a:t>Suppose both leaders would like to see the target nation economically weakened.</a:t>
            </a:r>
          </a:p>
        </p:txBody>
      </p:sp>
    </p:spTree>
    <p:extLst>
      <p:ext uri="{BB962C8B-B14F-4D97-AF65-F5344CB8AC3E}">
        <p14:creationId xmlns:p14="http://schemas.microsoft.com/office/powerpoint/2010/main" val="16417716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2447109" y="1088572"/>
            <a:ext cx="7593874" cy="1754326"/>
          </a:xfrm>
          <a:prstGeom prst="rect">
            <a:avLst/>
          </a:prstGeom>
          <a:noFill/>
        </p:spPr>
        <p:txBody>
          <a:bodyPr wrap="square" rtlCol="0">
            <a:spAutoFit/>
          </a:bodyPr>
          <a:lstStyle/>
          <a:p>
            <a:r>
              <a:rPr lang="en-US"/>
              <a:t>Imagine the leaders of two nations – “leader A”, “leader B” – each deciding whether to impose trade embargoes on a third “target” nation.</a:t>
            </a:r>
          </a:p>
          <a:p>
            <a:endParaRPr lang="en-US"/>
          </a:p>
          <a:p>
            <a:r>
              <a:rPr lang="en-US"/>
              <a:t>Suppose both leaders would like to see the target nation economically weakened. But each leader will suffer politically if she imposes an embargo because doing so will cause consumer prices within her country to rise.</a:t>
            </a:r>
          </a:p>
        </p:txBody>
      </p:sp>
    </p:spTree>
    <p:extLst>
      <p:ext uri="{BB962C8B-B14F-4D97-AF65-F5344CB8AC3E}">
        <p14:creationId xmlns:p14="http://schemas.microsoft.com/office/powerpoint/2010/main" val="10075151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2447109" y="1088572"/>
            <a:ext cx="7593874" cy="3139321"/>
          </a:xfrm>
          <a:prstGeom prst="rect">
            <a:avLst/>
          </a:prstGeom>
          <a:noFill/>
        </p:spPr>
        <p:txBody>
          <a:bodyPr wrap="square" rtlCol="0">
            <a:spAutoFit/>
          </a:bodyPr>
          <a:lstStyle/>
          <a:p>
            <a:r>
              <a:rPr lang="en-US"/>
              <a:t>Imagine the leaders of two nations – “leader A”, “leader B” – each deciding whether to impose trade embargoes on a third “target” nation.</a:t>
            </a:r>
          </a:p>
          <a:p>
            <a:endParaRPr lang="en-US"/>
          </a:p>
          <a:p>
            <a:r>
              <a:rPr lang="en-US"/>
              <a:t>Suppose both leaders would like to see the target nation economically weakened. But each leader will suffer politically if she imposes an embargo because doing so will cause consumer prices within her country to rise.</a:t>
            </a:r>
          </a:p>
          <a:p>
            <a:endParaRPr lang="en-US"/>
          </a:p>
          <a:p>
            <a:r>
              <a:rPr lang="en-US"/>
              <a:t>Suppose further that the target nation will only be weakened if </a:t>
            </a:r>
            <a:r>
              <a:rPr lang="en-US" b="1"/>
              <a:t>both </a:t>
            </a:r>
            <a:r>
              <a:rPr lang="en-US"/>
              <a:t>leaders impose embargoes.  But if one nation imposes an embargo and the other does not, consumer prices will still rise in the nation that imposes the embargo, and thus its leader will suffer politically.</a:t>
            </a:r>
          </a:p>
        </p:txBody>
      </p:sp>
    </p:spTree>
    <p:extLst>
      <p:ext uri="{BB962C8B-B14F-4D97-AF65-F5344CB8AC3E}">
        <p14:creationId xmlns:p14="http://schemas.microsoft.com/office/powerpoint/2010/main" val="15573115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2447109" y="1088572"/>
            <a:ext cx="7593874" cy="3970318"/>
          </a:xfrm>
          <a:prstGeom prst="rect">
            <a:avLst/>
          </a:prstGeom>
          <a:noFill/>
        </p:spPr>
        <p:txBody>
          <a:bodyPr wrap="square" rtlCol="0">
            <a:spAutoFit/>
          </a:bodyPr>
          <a:lstStyle/>
          <a:p>
            <a:r>
              <a:rPr lang="en-US"/>
              <a:t>Imagine the leaders of two nations – “leader A”, “leader B” – each deciding whether to impose trade embargoes on a third “target” nation.</a:t>
            </a:r>
          </a:p>
          <a:p>
            <a:endParaRPr lang="en-US"/>
          </a:p>
          <a:p>
            <a:r>
              <a:rPr lang="en-US"/>
              <a:t>Suppose both leaders would like to see the target nation economically weakened. But each leader will suffer politically if she imposes an embargo because doing so will cause consumer prices within her country to rise.</a:t>
            </a:r>
          </a:p>
          <a:p>
            <a:endParaRPr lang="en-US"/>
          </a:p>
          <a:p>
            <a:r>
              <a:rPr lang="en-US"/>
              <a:t>Suppose further that the target nation will only be weakened if </a:t>
            </a:r>
            <a:r>
              <a:rPr lang="en-US" b="1"/>
              <a:t>both </a:t>
            </a:r>
            <a:r>
              <a:rPr lang="en-US"/>
              <a:t>leaders impose embargoes.  But if one nation imposes an embargo and the other does not, consumer prices will still rise in the nation that imposes the embargo, and thus its leader will suffer politically.</a:t>
            </a:r>
          </a:p>
          <a:p>
            <a:endParaRPr lang="en-US"/>
          </a:p>
          <a:p>
            <a:r>
              <a:rPr lang="en-US"/>
              <a:t>But each leader is willing to absorb the political costs of an embargo if by doing so she weakens the target nation.</a:t>
            </a:r>
          </a:p>
        </p:txBody>
      </p:sp>
    </p:spTree>
    <p:extLst>
      <p:ext uri="{BB962C8B-B14F-4D97-AF65-F5344CB8AC3E}">
        <p14:creationId xmlns:p14="http://schemas.microsoft.com/office/powerpoint/2010/main" val="24985485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365760" y="1254035"/>
            <a:ext cx="7593874" cy="369332"/>
          </a:xfrm>
          <a:prstGeom prst="rect">
            <a:avLst/>
          </a:prstGeom>
          <a:noFill/>
        </p:spPr>
        <p:txBody>
          <a:bodyPr wrap="square" rtlCol="0">
            <a:spAutoFit/>
          </a:bodyPr>
          <a:lstStyle/>
          <a:p>
            <a:r>
              <a:rPr lang="en-US"/>
              <a:t>Thus the two leaders are strategically interdependent:</a:t>
            </a:r>
          </a:p>
        </p:txBody>
      </p:sp>
      <p:graphicFrame>
        <p:nvGraphicFramePr>
          <p:cNvPr id="4" name="Table 18">
            <a:extLst>
              <a:ext uri="{FF2B5EF4-FFF2-40B4-BE49-F238E27FC236}">
                <a16:creationId xmlns:a16="http://schemas.microsoft.com/office/drawing/2014/main" id="{D20F9588-45D4-62F9-CF70-F107D65CA270}"/>
              </a:ext>
            </a:extLst>
          </p:cNvPr>
          <p:cNvGraphicFramePr>
            <a:graphicFrameLocks noGrp="1"/>
          </p:cNvGraphicFramePr>
          <p:nvPr>
            <p:extLst>
              <p:ext uri="{D42A27DB-BD31-4B8C-83A1-F6EECF244321}">
                <p14:modId xmlns:p14="http://schemas.microsoft.com/office/powerpoint/2010/main" val="3085472970"/>
              </p:ext>
            </p:extLst>
          </p:nvPr>
        </p:nvGraphicFramePr>
        <p:xfrm>
          <a:off x="748937" y="2735182"/>
          <a:ext cx="5059680" cy="2743200"/>
        </p:xfrm>
        <a:graphic>
          <a:graphicData uri="http://schemas.openxmlformats.org/drawingml/2006/table">
            <a:tbl>
              <a:tblPr firstRow="1" bandRow="1">
                <a:tableStyleId>{5C22544A-7EE6-4342-B048-85BDC9FD1C3A}</a:tableStyleId>
              </a:tblPr>
              <a:tblGrid>
                <a:gridCol w="2529840">
                  <a:extLst>
                    <a:ext uri="{9D8B030D-6E8A-4147-A177-3AD203B41FA5}">
                      <a16:colId xmlns:a16="http://schemas.microsoft.com/office/drawing/2014/main" val="4145540793"/>
                    </a:ext>
                  </a:extLst>
                </a:gridCol>
                <a:gridCol w="2529840">
                  <a:extLst>
                    <a:ext uri="{9D8B030D-6E8A-4147-A177-3AD203B41FA5}">
                      <a16:colId xmlns:a16="http://schemas.microsoft.com/office/drawing/2014/main" val="2628530634"/>
                    </a:ext>
                  </a:extLst>
                </a:gridCol>
              </a:tblGrid>
              <a:tr h="515683">
                <a:tc>
                  <a:txBody>
                    <a:bodyPr/>
                    <a:lstStyle/>
                    <a:p>
                      <a:r>
                        <a:rPr lang="en-US">
                          <a:solidFill>
                            <a:schemeClr val="accent3"/>
                          </a:solidFill>
                        </a:rPr>
                        <a:t>leader A’s </a:t>
                      </a:r>
                      <a:r>
                        <a:rPr lang="en-US"/>
                        <a:t>expectations about what </a:t>
                      </a:r>
                      <a:r>
                        <a:rPr lang="en-US">
                          <a:solidFill>
                            <a:schemeClr val="accent5"/>
                          </a:solidFill>
                        </a:rPr>
                        <a:t>leader B</a:t>
                      </a:r>
                      <a:r>
                        <a:rPr lang="en-US"/>
                        <a:t> will do</a:t>
                      </a:r>
                    </a:p>
                  </a:txBody>
                  <a:tcPr/>
                </a:tc>
                <a:tc>
                  <a:txBody>
                    <a:bodyPr/>
                    <a:lstStyle/>
                    <a:p>
                      <a:r>
                        <a:rPr lang="en-US">
                          <a:solidFill>
                            <a:schemeClr val="accent3"/>
                          </a:solidFill>
                        </a:rPr>
                        <a:t>leader A’s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impose embargo</a:t>
                      </a:r>
                    </a:p>
                  </a:txBody>
                  <a:tcPr/>
                </a:tc>
                <a:tc>
                  <a:txBody>
                    <a:bodyPr/>
                    <a:lstStyle/>
                    <a:p>
                      <a:r>
                        <a:rPr lang="en-US"/>
                        <a:t>prefers to impose embargo instead of not empose embargo</a:t>
                      </a:r>
                    </a:p>
                  </a:txBody>
                  <a:tcPr/>
                </a:tc>
                <a:extLst>
                  <a:ext uri="{0D108BD9-81ED-4DB2-BD59-A6C34878D82A}">
                    <a16:rowId xmlns:a16="http://schemas.microsoft.com/office/drawing/2014/main" val="4209888748"/>
                  </a:ext>
                </a:extLst>
              </a:tr>
              <a:tr h="370840">
                <a:tc>
                  <a:txBody>
                    <a:bodyPr/>
                    <a:lstStyle/>
                    <a:p>
                      <a:r>
                        <a:rPr lang="en-US"/>
                        <a:t>not impose embargo</a:t>
                      </a:r>
                    </a:p>
                  </a:txBody>
                  <a:tcPr/>
                </a:tc>
                <a:tc>
                  <a:txBody>
                    <a:bodyPr/>
                    <a:lstStyle/>
                    <a:p>
                      <a:r>
                        <a:rPr lang="en-US"/>
                        <a:t>prefers to not impose embargo instead of impose embargo</a:t>
                      </a:r>
                    </a:p>
                  </a:txBody>
                  <a:tcPr/>
                </a:tc>
                <a:extLst>
                  <a:ext uri="{0D108BD9-81ED-4DB2-BD59-A6C34878D82A}">
                    <a16:rowId xmlns:a16="http://schemas.microsoft.com/office/drawing/2014/main" val="2874394456"/>
                  </a:ext>
                </a:extLst>
              </a:tr>
            </a:tbl>
          </a:graphicData>
        </a:graphic>
      </p:graphicFrame>
      <p:graphicFrame>
        <p:nvGraphicFramePr>
          <p:cNvPr id="6" name="Table 18">
            <a:extLst>
              <a:ext uri="{FF2B5EF4-FFF2-40B4-BE49-F238E27FC236}">
                <a16:creationId xmlns:a16="http://schemas.microsoft.com/office/drawing/2014/main" id="{A266E398-6FC2-09D1-C9BE-C17889AD7977}"/>
              </a:ext>
            </a:extLst>
          </p:cNvPr>
          <p:cNvGraphicFramePr>
            <a:graphicFrameLocks noGrp="1"/>
          </p:cNvGraphicFramePr>
          <p:nvPr>
            <p:extLst>
              <p:ext uri="{D42A27DB-BD31-4B8C-83A1-F6EECF244321}">
                <p14:modId xmlns:p14="http://schemas.microsoft.com/office/powerpoint/2010/main" val="2157335131"/>
              </p:ext>
            </p:extLst>
          </p:nvPr>
        </p:nvGraphicFramePr>
        <p:xfrm>
          <a:off x="6500948" y="2739191"/>
          <a:ext cx="5059680" cy="2743200"/>
        </p:xfrm>
        <a:graphic>
          <a:graphicData uri="http://schemas.openxmlformats.org/drawingml/2006/table">
            <a:tbl>
              <a:tblPr firstRow="1" bandRow="1">
                <a:tableStyleId>{5C22544A-7EE6-4342-B048-85BDC9FD1C3A}</a:tableStyleId>
              </a:tblPr>
              <a:tblGrid>
                <a:gridCol w="2529840">
                  <a:extLst>
                    <a:ext uri="{9D8B030D-6E8A-4147-A177-3AD203B41FA5}">
                      <a16:colId xmlns:a16="http://schemas.microsoft.com/office/drawing/2014/main" val="4145540793"/>
                    </a:ext>
                  </a:extLst>
                </a:gridCol>
                <a:gridCol w="2529840">
                  <a:extLst>
                    <a:ext uri="{9D8B030D-6E8A-4147-A177-3AD203B41FA5}">
                      <a16:colId xmlns:a16="http://schemas.microsoft.com/office/drawing/2014/main" val="2628530634"/>
                    </a:ext>
                  </a:extLst>
                </a:gridCol>
              </a:tblGrid>
              <a:tr h="515683">
                <a:tc>
                  <a:txBody>
                    <a:bodyPr/>
                    <a:lstStyle/>
                    <a:p>
                      <a:r>
                        <a:rPr lang="en-US">
                          <a:solidFill>
                            <a:schemeClr val="accent5"/>
                          </a:solidFill>
                        </a:rPr>
                        <a:t>leader B’s</a:t>
                      </a:r>
                      <a:r>
                        <a:rPr lang="en-US">
                          <a:solidFill>
                            <a:schemeClr val="accent3"/>
                          </a:solidFill>
                        </a:rPr>
                        <a:t> </a:t>
                      </a:r>
                      <a:r>
                        <a:rPr lang="en-US"/>
                        <a:t>expectations about what </a:t>
                      </a:r>
                      <a:r>
                        <a:rPr lang="en-US">
                          <a:solidFill>
                            <a:schemeClr val="accent3"/>
                          </a:solidFill>
                        </a:rPr>
                        <a:t>leader A</a:t>
                      </a:r>
                      <a:r>
                        <a:rPr lang="en-US"/>
                        <a:t> will do</a:t>
                      </a:r>
                    </a:p>
                  </a:txBody>
                  <a:tcPr/>
                </a:tc>
                <a:tc>
                  <a:txBody>
                    <a:bodyPr/>
                    <a:lstStyle/>
                    <a:p>
                      <a:r>
                        <a:rPr lang="en-US">
                          <a:solidFill>
                            <a:schemeClr val="accent5"/>
                          </a:solidFill>
                        </a:rPr>
                        <a:t>leader B’s</a:t>
                      </a:r>
                      <a:r>
                        <a:rPr lang="en-US">
                          <a:solidFill>
                            <a:schemeClr val="accent3"/>
                          </a:solidFill>
                        </a:rPr>
                        <a:t> </a:t>
                      </a:r>
                      <a:r>
                        <a:rPr lang="en-US"/>
                        <a:t>preferences over her available actions</a:t>
                      </a:r>
                    </a:p>
                  </a:txBody>
                  <a:tcPr/>
                </a:tc>
                <a:extLst>
                  <a:ext uri="{0D108BD9-81ED-4DB2-BD59-A6C34878D82A}">
                    <a16:rowId xmlns:a16="http://schemas.microsoft.com/office/drawing/2014/main" val="3626194292"/>
                  </a:ext>
                </a:extLst>
              </a:tr>
              <a:tr h="370840">
                <a:tc>
                  <a:txBody>
                    <a:bodyPr/>
                    <a:lstStyle/>
                    <a:p>
                      <a:r>
                        <a:rPr lang="en-US"/>
                        <a:t>impose embargo</a:t>
                      </a:r>
                    </a:p>
                  </a:txBody>
                  <a:tcPr/>
                </a:tc>
                <a:tc>
                  <a:txBody>
                    <a:bodyPr/>
                    <a:lstStyle/>
                    <a:p>
                      <a:r>
                        <a:rPr lang="en-US"/>
                        <a:t>prefers to impose embargo instead of not empose embargo</a:t>
                      </a:r>
                    </a:p>
                  </a:txBody>
                  <a:tcPr/>
                </a:tc>
                <a:extLst>
                  <a:ext uri="{0D108BD9-81ED-4DB2-BD59-A6C34878D82A}">
                    <a16:rowId xmlns:a16="http://schemas.microsoft.com/office/drawing/2014/main" val="4209888748"/>
                  </a:ext>
                </a:extLst>
              </a:tr>
              <a:tr h="370840">
                <a:tc>
                  <a:txBody>
                    <a:bodyPr/>
                    <a:lstStyle/>
                    <a:p>
                      <a:r>
                        <a:rPr lang="en-US"/>
                        <a:t>not impose embargo</a:t>
                      </a:r>
                    </a:p>
                  </a:txBody>
                  <a:tcPr/>
                </a:tc>
                <a:tc>
                  <a:txBody>
                    <a:bodyPr/>
                    <a:lstStyle/>
                    <a:p>
                      <a:r>
                        <a:rPr lang="en-US"/>
                        <a:t>prefers to not impose embargo instead of impose embargo</a:t>
                      </a:r>
                    </a:p>
                  </a:txBody>
                  <a:tcPr/>
                </a:tc>
                <a:extLst>
                  <a:ext uri="{0D108BD9-81ED-4DB2-BD59-A6C34878D82A}">
                    <a16:rowId xmlns:a16="http://schemas.microsoft.com/office/drawing/2014/main" val="2874394456"/>
                  </a:ext>
                </a:extLst>
              </a:tr>
            </a:tbl>
          </a:graphicData>
        </a:graphic>
      </p:graphicFrame>
    </p:spTree>
    <p:extLst>
      <p:ext uri="{BB962C8B-B14F-4D97-AF65-F5344CB8AC3E}">
        <p14:creationId xmlns:p14="http://schemas.microsoft.com/office/powerpoint/2010/main" val="23211305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3" name="TextBox 2">
            <a:extLst>
              <a:ext uri="{FF2B5EF4-FFF2-40B4-BE49-F238E27FC236}">
                <a16:creationId xmlns:a16="http://schemas.microsoft.com/office/drawing/2014/main" id="{D142AAF4-0586-C991-27C8-9651925313CA}"/>
              </a:ext>
            </a:extLst>
          </p:cNvPr>
          <p:cNvSpPr txBox="1"/>
          <p:nvPr/>
        </p:nvSpPr>
        <p:spPr>
          <a:xfrm>
            <a:off x="365760" y="1254035"/>
            <a:ext cx="7593874" cy="369332"/>
          </a:xfrm>
          <a:prstGeom prst="rect">
            <a:avLst/>
          </a:prstGeom>
          <a:noFill/>
        </p:spPr>
        <p:txBody>
          <a:bodyPr wrap="square" rtlCol="0">
            <a:spAutoFit/>
          </a:bodyPr>
          <a:lstStyle/>
          <a:p>
            <a:r>
              <a:rPr lang="en-US"/>
              <a:t>Thus the two leaders are strategically interdependent:</a:t>
            </a:r>
          </a:p>
        </p:txBody>
      </p:sp>
      <p:sp>
        <p:nvSpPr>
          <p:cNvPr id="5" name="Rectangle 4">
            <a:extLst>
              <a:ext uri="{FF2B5EF4-FFF2-40B4-BE49-F238E27FC236}">
                <a16:creationId xmlns:a16="http://schemas.microsoft.com/office/drawing/2014/main" id="{391FC31F-2E03-8D4D-927C-5BEC1260E11A}"/>
              </a:ext>
            </a:extLst>
          </p:cNvPr>
          <p:cNvSpPr/>
          <p:nvPr/>
        </p:nvSpPr>
        <p:spPr>
          <a:xfrm>
            <a:off x="4584394" y="2806337"/>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6439320" y="2806337"/>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4584394" y="4630783"/>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5285434" y="1641454"/>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2382408" y="4534988"/>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3128275" y="358659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3165403" y="535102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5024174" y="3529148"/>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6857332" y="5364871"/>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5024174" y="5351025"/>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6872961" y="3540426"/>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6280777" y="2261159"/>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4431990" y="2146606"/>
            <a:ext cx="2185852" cy="646331"/>
          </a:xfrm>
          <a:prstGeom prst="rect">
            <a:avLst/>
          </a:prstGeom>
          <a:noFill/>
        </p:spPr>
        <p:txBody>
          <a:bodyPr wrap="square" rtlCol="0">
            <a:spAutoFit/>
          </a:bodyPr>
          <a:lstStyle/>
          <a:p>
            <a:pPr algn="ctr"/>
            <a:r>
              <a:rPr lang="en-US">
                <a:solidFill>
                  <a:schemeClr val="accent3"/>
                </a:solidFill>
              </a:rPr>
              <a:t>do not impose embrago</a:t>
            </a:r>
          </a:p>
        </p:txBody>
      </p:sp>
    </p:spTree>
    <p:extLst>
      <p:ext uri="{BB962C8B-B14F-4D97-AF65-F5344CB8AC3E}">
        <p14:creationId xmlns:p14="http://schemas.microsoft.com/office/powerpoint/2010/main" val="36303026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Tree>
    <p:extLst>
      <p:ext uri="{BB962C8B-B14F-4D97-AF65-F5344CB8AC3E}">
        <p14:creationId xmlns:p14="http://schemas.microsoft.com/office/powerpoint/2010/main" val="3957545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C4E5481-4613-E0F3-5A93-2F9AF19DDE5D}"/>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Tree>
    <p:extLst>
      <p:ext uri="{BB962C8B-B14F-4D97-AF65-F5344CB8AC3E}">
        <p14:creationId xmlns:p14="http://schemas.microsoft.com/office/powerpoint/2010/main" val="1433705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1E6F8-0385-04CE-AEB1-DE3593030F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E8044D7-1EAC-8CAC-95BC-37A81ABAB3D7}"/>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558E2236-863D-524E-9D59-9667BCEF8A5F}"/>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698E2856-7EDC-75CE-BF5B-7DEBF2AC0695}"/>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3BEA87D-435B-718F-5449-117BF9EEAC6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4A65BF7-E371-1A43-57C9-480656CD4ECE}"/>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6D7E3A6A-EC1B-CC6C-4CB9-BCBCB1049738}"/>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43D6A08-4016-E649-791C-BC89AF1365C1}"/>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701B8C65-CB3B-1722-D7CB-6B4F05370DAF}"/>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D42C6CA4-4CC8-9313-25FC-70C394843E26}"/>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890249AC-E99F-5069-1747-B05FD82E0A86}"/>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9A0E4954-6744-AFE4-B583-F74DE6E1B2A6}"/>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0B1478E9-48BB-AC0D-1860-8DB6879B1A4F}"/>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6A2D4D34-B2BF-4D4A-1347-E158D675112A}"/>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C9B65A3-57A1-1D6D-C571-A0DA48D725C4}"/>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994E8279-6B17-00D7-61AC-F8FC7D250614}"/>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880E58C-0616-C4D2-5494-966CBEA2BCF8}"/>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
        <p:nvSpPr>
          <p:cNvPr id="6" name="TextBox 5">
            <a:extLst>
              <a:ext uri="{FF2B5EF4-FFF2-40B4-BE49-F238E27FC236}">
                <a16:creationId xmlns:a16="http://schemas.microsoft.com/office/drawing/2014/main" id="{69D4F2AC-B4DE-DBFC-C891-E5A2C3521E10}"/>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cxnSp>
        <p:nvCxnSpPr>
          <p:cNvPr id="12" name="Straight Connector 11">
            <a:extLst>
              <a:ext uri="{FF2B5EF4-FFF2-40B4-BE49-F238E27FC236}">
                <a16:creationId xmlns:a16="http://schemas.microsoft.com/office/drawing/2014/main" id="{6F5AAA9F-3BC4-42A6-EFDC-7C088DE4D0CB}"/>
              </a:ext>
            </a:extLst>
          </p:cNvPr>
          <p:cNvCxnSpPr/>
          <p:nvPr/>
        </p:nvCxnSpPr>
        <p:spPr>
          <a:xfrm>
            <a:off x="9511553" y="1783976"/>
            <a:ext cx="1900518" cy="0"/>
          </a:xfrm>
          <a:prstGeom prst="line">
            <a:avLst/>
          </a:prstGeom>
          <a:ln w="38100">
            <a:solidFill>
              <a:schemeClr val="accent5"/>
            </a:solidFill>
          </a:ln>
        </p:spPr>
        <p:style>
          <a:lnRef idx="1">
            <a:schemeClr val="accent6"/>
          </a:lnRef>
          <a:fillRef idx="0">
            <a:schemeClr val="accent6"/>
          </a:fillRef>
          <a:effectRef idx="0">
            <a:schemeClr val="accent6"/>
          </a:effectRef>
          <a:fontRef idx="minor">
            <a:schemeClr val="tx1"/>
          </a:fontRef>
        </p:style>
      </p:cxnSp>
      <p:cxnSp>
        <p:nvCxnSpPr>
          <p:cNvPr id="21" name="Straight Connector 20">
            <a:extLst>
              <a:ext uri="{FF2B5EF4-FFF2-40B4-BE49-F238E27FC236}">
                <a16:creationId xmlns:a16="http://schemas.microsoft.com/office/drawing/2014/main" id="{48E71CB1-7682-E8D6-0036-50C88B13E52C}"/>
              </a:ext>
            </a:extLst>
          </p:cNvPr>
          <p:cNvCxnSpPr>
            <a:cxnSpLocks/>
          </p:cNvCxnSpPr>
          <p:nvPr/>
        </p:nvCxnSpPr>
        <p:spPr>
          <a:xfrm>
            <a:off x="6795247" y="2104405"/>
            <a:ext cx="1228165" cy="0"/>
          </a:xfrm>
          <a:prstGeom prst="line">
            <a:avLst/>
          </a:prstGeom>
          <a:ln w="38100">
            <a:solidFill>
              <a:schemeClr val="accent5"/>
            </a:solidFill>
          </a:ln>
        </p:spPr>
        <p:style>
          <a:lnRef idx="1">
            <a:schemeClr val="accent6"/>
          </a:lnRef>
          <a:fillRef idx="0">
            <a:schemeClr val="accent6"/>
          </a:fillRef>
          <a:effectRef idx="0">
            <a:schemeClr val="accent6"/>
          </a:effectRef>
          <a:fontRef idx="minor">
            <a:schemeClr val="tx1"/>
          </a:fontRef>
        </p:style>
      </p:cxnSp>
      <p:sp>
        <p:nvSpPr>
          <p:cNvPr id="23" name="TextBox 22">
            <a:extLst>
              <a:ext uri="{FF2B5EF4-FFF2-40B4-BE49-F238E27FC236}">
                <a16:creationId xmlns:a16="http://schemas.microsoft.com/office/drawing/2014/main" id="{CB6DD607-7FC5-7AE9-0F53-7451BB807C75}"/>
              </a:ext>
            </a:extLst>
          </p:cNvPr>
          <p:cNvSpPr txBox="1"/>
          <p:nvPr/>
        </p:nvSpPr>
        <p:spPr>
          <a:xfrm rot="20478019">
            <a:off x="4746718" y="725148"/>
            <a:ext cx="2692241" cy="646331"/>
          </a:xfrm>
          <a:prstGeom prst="rect">
            <a:avLst/>
          </a:prstGeom>
          <a:solidFill>
            <a:schemeClr val="accent5"/>
          </a:solidFill>
        </p:spPr>
        <p:txBody>
          <a:bodyPr wrap="square" rtlCol="0">
            <a:spAutoFit/>
          </a:bodyPr>
          <a:lstStyle/>
          <a:p>
            <a:r>
              <a:rPr lang="en-US" i="1"/>
              <a:t>A best response is always “to an expectation”!!!!</a:t>
            </a:r>
          </a:p>
        </p:txBody>
      </p:sp>
    </p:spTree>
    <p:extLst>
      <p:ext uri="{BB962C8B-B14F-4D97-AF65-F5344CB8AC3E}">
        <p14:creationId xmlns:p14="http://schemas.microsoft.com/office/powerpoint/2010/main" val="34838384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1477328"/>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p:txBody>
      </p:sp>
      <p:sp>
        <p:nvSpPr>
          <p:cNvPr id="21" name="TextBox 20">
            <a:extLst>
              <a:ext uri="{FF2B5EF4-FFF2-40B4-BE49-F238E27FC236}">
                <a16:creationId xmlns:a16="http://schemas.microsoft.com/office/drawing/2014/main" id="{7BE359C5-5E4C-8E1C-9EDC-B668514D1559}"/>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5683294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1477328"/>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0FC7C66-560E-AFB0-4527-B2B3F7F3EEA0}"/>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8853854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1477328"/>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D52D2D-7B96-F6A7-6C5D-979DA9AFAB96}"/>
              </a:ext>
            </a:extLst>
          </p:cNvPr>
          <p:cNvSpPr/>
          <p:nvPr/>
        </p:nvSpPr>
        <p:spPr>
          <a:xfrm>
            <a:off x="3383783" y="2636183"/>
            <a:ext cx="1854916" cy="366229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0DAE837-3A0F-8AAD-98CF-7FC9C39771E4}"/>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34366327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2031325"/>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a:p>
            <a:r>
              <a:rPr lang="en-US">
                <a:solidFill>
                  <a:schemeClr val="bg1"/>
                </a:solidFill>
              </a:rPr>
              <a:t>Utility levels leader B achieves at profiles in which leader A imposes embargo:</a:t>
            </a: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D52D2D-7B96-F6A7-6C5D-979DA9AFAB96}"/>
              </a:ext>
            </a:extLst>
          </p:cNvPr>
          <p:cNvSpPr/>
          <p:nvPr/>
        </p:nvSpPr>
        <p:spPr>
          <a:xfrm>
            <a:off x="3383783" y="2636183"/>
            <a:ext cx="1854916" cy="366229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720565A-C95A-58A2-34FD-7C284E78FA2A}"/>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16796781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2308324"/>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a:p>
            <a:r>
              <a:rPr lang="en-US">
                <a:solidFill>
                  <a:schemeClr val="bg1"/>
                </a:solidFill>
              </a:rPr>
              <a:t>Utility levels leader B achieves at profiles in which leader A imposes embargo: 0, 10</a:t>
            </a:r>
          </a:p>
          <a:p>
            <a:endParaRPr lang="en-US">
              <a:solidFill>
                <a:schemeClr val="bg1"/>
              </a:solidFill>
            </a:endParaRP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D52D2D-7B96-F6A7-6C5D-979DA9AFAB96}"/>
              </a:ext>
            </a:extLst>
          </p:cNvPr>
          <p:cNvSpPr/>
          <p:nvPr/>
        </p:nvSpPr>
        <p:spPr>
          <a:xfrm>
            <a:off x="3383783" y="2636183"/>
            <a:ext cx="1854916" cy="366229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1A501A9-30D4-5D3A-5E44-56BCF01A0B9C}"/>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15948468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2308324"/>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a:p>
            <a:r>
              <a:rPr lang="en-US">
                <a:solidFill>
                  <a:schemeClr val="bg1"/>
                </a:solidFill>
              </a:rPr>
              <a:t>Utility levels leader B achieves at profiles in which leader A imposes embargo: 0, 10</a:t>
            </a:r>
          </a:p>
          <a:p>
            <a:endParaRPr lang="en-US">
              <a:solidFill>
                <a:schemeClr val="bg1"/>
              </a:solidFill>
            </a:endParaRP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D52D2D-7B96-F6A7-6C5D-979DA9AFAB96}"/>
              </a:ext>
            </a:extLst>
          </p:cNvPr>
          <p:cNvSpPr/>
          <p:nvPr/>
        </p:nvSpPr>
        <p:spPr>
          <a:xfrm>
            <a:off x="3383783" y="2636183"/>
            <a:ext cx="1854916" cy="366229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EDFC57C-059F-D222-A7D8-E7DD0F4AC1D9}"/>
              </a:ext>
            </a:extLst>
          </p:cNvPr>
          <p:cNvSpPr/>
          <p:nvPr/>
        </p:nvSpPr>
        <p:spPr>
          <a:xfrm>
            <a:off x="3910149" y="3239026"/>
            <a:ext cx="409302" cy="644993"/>
          </a:xfrm>
          <a:prstGeom prst="ellips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2D4C53D-D23E-DF33-DD60-DCFF0E78902E}"/>
              </a:ext>
            </a:extLst>
          </p:cNvPr>
          <p:cNvSpPr/>
          <p:nvPr/>
        </p:nvSpPr>
        <p:spPr>
          <a:xfrm>
            <a:off x="8090247" y="4797030"/>
            <a:ext cx="296102" cy="424590"/>
          </a:xfrm>
          <a:prstGeom prst="ellips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B52B88D-A4A1-AD7E-6FA8-E5AA3263329B}"/>
              </a:ext>
            </a:extLst>
          </p:cNvPr>
          <p:cNvSpPr/>
          <p:nvPr/>
        </p:nvSpPr>
        <p:spPr>
          <a:xfrm>
            <a:off x="3922765" y="5063472"/>
            <a:ext cx="409302" cy="644993"/>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3C4602C-ACFA-70FF-30D5-ED475BBF1942}"/>
              </a:ext>
            </a:extLst>
          </p:cNvPr>
          <p:cNvSpPr/>
          <p:nvPr/>
        </p:nvSpPr>
        <p:spPr>
          <a:xfrm>
            <a:off x="8386349" y="4803561"/>
            <a:ext cx="296102" cy="42459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81B4EC39-530F-3675-17BB-09310A348FE3}"/>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31907814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416320"/>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a:p>
            <a:r>
              <a:rPr lang="en-US">
                <a:solidFill>
                  <a:schemeClr val="bg1"/>
                </a:solidFill>
              </a:rPr>
              <a:t>Utility levels leader B achieves at profiles in which leader A imposes embargo: 0, 10</a:t>
            </a:r>
          </a:p>
          <a:p>
            <a:endParaRPr lang="en-US">
              <a:solidFill>
                <a:schemeClr val="bg1"/>
              </a:solidFill>
            </a:endParaRPr>
          </a:p>
          <a:p>
            <a:r>
              <a:rPr lang="en-US">
                <a:solidFill>
                  <a:schemeClr val="bg1"/>
                </a:solidFill>
              </a:rPr>
              <a:t>Highest utility level leader B achieves at any profile in which leader A imposes embargo: 10</a:t>
            </a:r>
          </a:p>
          <a:p>
            <a:endParaRPr lang="en-US">
              <a:solidFill>
                <a:schemeClr val="bg1"/>
              </a:solidFill>
            </a:endParaRPr>
          </a:p>
          <a:p>
            <a:endParaRPr lang="en-US">
              <a:solidFill>
                <a:schemeClr val="bg1"/>
              </a:solidFill>
            </a:endParaRP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D52D2D-7B96-F6A7-6C5D-979DA9AFAB96}"/>
              </a:ext>
            </a:extLst>
          </p:cNvPr>
          <p:cNvSpPr/>
          <p:nvPr/>
        </p:nvSpPr>
        <p:spPr>
          <a:xfrm>
            <a:off x="3383783" y="2636183"/>
            <a:ext cx="1854916" cy="366229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EDFC57C-059F-D222-A7D8-E7DD0F4AC1D9}"/>
              </a:ext>
            </a:extLst>
          </p:cNvPr>
          <p:cNvSpPr/>
          <p:nvPr/>
        </p:nvSpPr>
        <p:spPr>
          <a:xfrm>
            <a:off x="3910149" y="3239026"/>
            <a:ext cx="409302" cy="644993"/>
          </a:xfrm>
          <a:prstGeom prst="ellips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2D4C53D-D23E-DF33-DD60-DCFF0E78902E}"/>
              </a:ext>
            </a:extLst>
          </p:cNvPr>
          <p:cNvSpPr/>
          <p:nvPr/>
        </p:nvSpPr>
        <p:spPr>
          <a:xfrm>
            <a:off x="8090247" y="4797030"/>
            <a:ext cx="296102" cy="424590"/>
          </a:xfrm>
          <a:prstGeom prst="ellips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B52B88D-A4A1-AD7E-6FA8-E5AA3263329B}"/>
              </a:ext>
            </a:extLst>
          </p:cNvPr>
          <p:cNvSpPr/>
          <p:nvPr/>
        </p:nvSpPr>
        <p:spPr>
          <a:xfrm>
            <a:off x="3922765" y="5063472"/>
            <a:ext cx="409302" cy="644993"/>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3C4602C-ACFA-70FF-30D5-ED475BBF1942}"/>
              </a:ext>
            </a:extLst>
          </p:cNvPr>
          <p:cNvSpPr/>
          <p:nvPr/>
        </p:nvSpPr>
        <p:spPr>
          <a:xfrm>
            <a:off x="8386349" y="4803561"/>
            <a:ext cx="296102" cy="42459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391906C-C3FA-4550-273B-2262624113A4}"/>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1910660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693319"/>
          </a:xfrm>
          <a:prstGeom prst="rect">
            <a:avLst/>
          </a:prstGeom>
          <a:noFill/>
        </p:spPr>
        <p:txBody>
          <a:bodyPr wrap="square" rtlCol="0">
            <a:spAutoFit/>
          </a:bodyPr>
          <a:lstStyle/>
          <a:p>
            <a:r>
              <a:rPr lang="en-US">
                <a:solidFill>
                  <a:schemeClr val="bg1"/>
                </a:solidFill>
              </a:rPr>
              <a:t>EXAMPLE:</a:t>
            </a:r>
          </a:p>
          <a:p>
            <a:endParaRPr lang="en-US">
              <a:solidFill>
                <a:schemeClr val="bg1"/>
              </a:solidFill>
            </a:endParaRPr>
          </a:p>
          <a:p>
            <a:r>
              <a:rPr lang="en-US" i="1">
                <a:solidFill>
                  <a:schemeClr val="bg1"/>
                </a:solidFill>
              </a:rPr>
              <a:t>Which actions by leader B are best responses to the expectation that leader A will impose an embargo?</a:t>
            </a:r>
          </a:p>
          <a:p>
            <a:endParaRPr lang="en-US" i="1">
              <a:solidFill>
                <a:schemeClr val="bg1"/>
              </a:solidFill>
            </a:endParaRPr>
          </a:p>
          <a:p>
            <a:r>
              <a:rPr lang="en-US">
                <a:solidFill>
                  <a:schemeClr val="bg1"/>
                </a:solidFill>
              </a:rPr>
              <a:t>Utility levels leader B achieves at profiles in which leader A imposes embargo: 0, 10</a:t>
            </a:r>
          </a:p>
          <a:p>
            <a:endParaRPr lang="en-US">
              <a:solidFill>
                <a:schemeClr val="bg1"/>
              </a:solidFill>
            </a:endParaRPr>
          </a:p>
          <a:p>
            <a:r>
              <a:rPr lang="en-US">
                <a:solidFill>
                  <a:schemeClr val="bg1"/>
                </a:solidFill>
              </a:rPr>
              <a:t>Highest utility level leader B achieves at any profile in which leader A imposes embargo: 10</a:t>
            </a:r>
          </a:p>
          <a:p>
            <a:endParaRPr lang="en-US">
              <a:solidFill>
                <a:schemeClr val="bg1"/>
              </a:solidFill>
            </a:endParaRPr>
          </a:p>
          <a:p>
            <a:r>
              <a:rPr lang="en-US">
                <a:solidFill>
                  <a:schemeClr val="bg1"/>
                </a:solidFill>
              </a:rPr>
              <a:t>Answer: ‘impose embargo’ is leader B’s only best response to the expectation that leader A will impose an embargo.</a:t>
            </a:r>
          </a:p>
        </p:txBody>
      </p:sp>
      <p:sp>
        <p:nvSpPr>
          <p:cNvPr id="21" name="Rectangle 20">
            <a:extLst>
              <a:ext uri="{FF2B5EF4-FFF2-40B4-BE49-F238E27FC236}">
                <a16:creationId xmlns:a16="http://schemas.microsoft.com/office/drawing/2014/main" id="{BBDE293D-0497-D319-FA08-B178AF6935F9}"/>
              </a:ext>
            </a:extLst>
          </p:cNvPr>
          <p:cNvSpPr/>
          <p:nvPr/>
        </p:nvSpPr>
        <p:spPr>
          <a:xfrm>
            <a:off x="6379521" y="4037701"/>
            <a:ext cx="4687382" cy="343318"/>
          </a:xfrm>
          <a:prstGeom prst="rect">
            <a:avLst/>
          </a:prstGeom>
          <a:no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D52D2D-7B96-F6A7-6C5D-979DA9AFAB96}"/>
              </a:ext>
            </a:extLst>
          </p:cNvPr>
          <p:cNvSpPr/>
          <p:nvPr/>
        </p:nvSpPr>
        <p:spPr>
          <a:xfrm>
            <a:off x="3383783" y="2636183"/>
            <a:ext cx="1854916" cy="366229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EDFC57C-059F-D222-A7D8-E7DD0F4AC1D9}"/>
              </a:ext>
            </a:extLst>
          </p:cNvPr>
          <p:cNvSpPr/>
          <p:nvPr/>
        </p:nvSpPr>
        <p:spPr>
          <a:xfrm>
            <a:off x="3910149" y="3239026"/>
            <a:ext cx="409302" cy="644993"/>
          </a:xfrm>
          <a:prstGeom prst="ellips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2D4C53D-D23E-DF33-DD60-DCFF0E78902E}"/>
              </a:ext>
            </a:extLst>
          </p:cNvPr>
          <p:cNvSpPr/>
          <p:nvPr/>
        </p:nvSpPr>
        <p:spPr>
          <a:xfrm>
            <a:off x="8090247" y="4797030"/>
            <a:ext cx="296102" cy="424590"/>
          </a:xfrm>
          <a:prstGeom prst="ellipse">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B52B88D-A4A1-AD7E-6FA8-E5AA3263329B}"/>
              </a:ext>
            </a:extLst>
          </p:cNvPr>
          <p:cNvSpPr/>
          <p:nvPr/>
        </p:nvSpPr>
        <p:spPr>
          <a:xfrm>
            <a:off x="3922765" y="5063472"/>
            <a:ext cx="409302" cy="644993"/>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3C4602C-ACFA-70FF-30D5-ED475BBF1942}"/>
              </a:ext>
            </a:extLst>
          </p:cNvPr>
          <p:cNvSpPr/>
          <p:nvPr/>
        </p:nvSpPr>
        <p:spPr>
          <a:xfrm>
            <a:off x="8386349" y="4803561"/>
            <a:ext cx="296102" cy="42459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D9033DCB-2B6F-3770-C12D-85BCCE398FD8}"/>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19873865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endParaRPr lang="en-US">
              <a:solidFill>
                <a:schemeClr val="bg1"/>
              </a:solidFill>
            </a:endParaRPr>
          </a:p>
          <a:p>
            <a:r>
              <a:rPr lang="en-US">
                <a:solidFill>
                  <a:schemeClr val="bg1"/>
                </a:solidFill>
              </a:rPr>
              <a:t>Which actions by leader A are best responses to the expectation that leader B will impose an embargo?</a:t>
            </a:r>
          </a:p>
          <a:p>
            <a:endParaRPr lang="en-US">
              <a:solidFill>
                <a:schemeClr val="bg1"/>
              </a:solidFill>
            </a:endParaRPr>
          </a:p>
          <a:p>
            <a:r>
              <a:rPr lang="en-US">
                <a:solidFill>
                  <a:schemeClr val="bg1"/>
                </a:solidFill>
              </a:rPr>
              <a:t>Which actions by leader A are best responses to the expectation that leader B will not impose an embargo.</a:t>
            </a:r>
          </a:p>
          <a:p>
            <a:endParaRPr lang="en-US">
              <a:solidFill>
                <a:schemeClr val="bg1"/>
              </a:solidFill>
            </a:endParaRPr>
          </a:p>
        </p:txBody>
      </p:sp>
      <p:sp>
        <p:nvSpPr>
          <p:cNvPr id="21" name="TextBox 20">
            <a:extLst>
              <a:ext uri="{FF2B5EF4-FFF2-40B4-BE49-F238E27FC236}">
                <a16:creationId xmlns:a16="http://schemas.microsoft.com/office/drawing/2014/main" id="{5CAEDF7E-B0B0-316E-4444-606B5E490293}"/>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4510487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endParaRPr lang="en-US">
              <a:solidFill>
                <a:schemeClr val="bg1"/>
              </a:solidFill>
            </a:endParaRPr>
          </a:p>
          <a:p>
            <a:r>
              <a:rPr lang="en-US">
                <a:solidFill>
                  <a:schemeClr val="bg1"/>
                </a:solidFill>
              </a:rPr>
              <a:t>Which actions by leader A are best responses to the expectation that leader B will impose an embargo?</a:t>
            </a:r>
          </a:p>
          <a:p>
            <a:endParaRPr lang="en-US">
              <a:solidFill>
                <a:schemeClr val="bg1"/>
              </a:solidFill>
            </a:endParaRPr>
          </a:p>
          <a:p>
            <a:r>
              <a:rPr lang="en-US">
                <a:solidFill>
                  <a:schemeClr val="bg1"/>
                </a:solidFill>
              </a:rPr>
              <a:t>Which actions by leader A are best responses to the expectation that leader B will not impose an embargo.</a:t>
            </a:r>
          </a:p>
          <a:p>
            <a:endParaRPr lang="en-US">
              <a:solidFill>
                <a:schemeClr val="bg1"/>
              </a:solidFill>
            </a:endParaRPr>
          </a:p>
        </p:txBody>
      </p:sp>
      <p:sp>
        <p:nvSpPr>
          <p:cNvPr id="21" name="Rectangle 20">
            <a:extLst>
              <a:ext uri="{FF2B5EF4-FFF2-40B4-BE49-F238E27FC236}">
                <a16:creationId xmlns:a16="http://schemas.microsoft.com/office/drawing/2014/main" id="{C6EE6736-0A97-C7CE-D0BE-49CB176E49C0}"/>
              </a:ext>
            </a:extLst>
          </p:cNvPr>
          <p:cNvSpPr/>
          <p:nvPr/>
        </p:nvSpPr>
        <p:spPr>
          <a:xfrm>
            <a:off x="6305006" y="3741726"/>
            <a:ext cx="5425440" cy="917360"/>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2B5E144-B8E5-D146-83B7-476C50057B8E}"/>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9101358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endParaRPr lang="en-US">
              <a:solidFill>
                <a:schemeClr val="bg1"/>
              </a:solidFill>
            </a:endParaRPr>
          </a:p>
          <a:p>
            <a:r>
              <a:rPr lang="en-US">
                <a:solidFill>
                  <a:schemeClr val="bg1"/>
                </a:solidFill>
              </a:rPr>
              <a:t>Which actions by leader A are best responses to the expectation that leader B will impose an embargo?</a:t>
            </a:r>
          </a:p>
          <a:p>
            <a:endParaRPr lang="en-US">
              <a:solidFill>
                <a:schemeClr val="bg1"/>
              </a:solidFill>
            </a:endParaRPr>
          </a:p>
          <a:p>
            <a:r>
              <a:rPr lang="en-US">
                <a:solidFill>
                  <a:schemeClr val="bg1"/>
                </a:solidFill>
              </a:rPr>
              <a:t>Which actions by leader A are best responses to the expectation that leader B will not impose an embargo.</a:t>
            </a:r>
          </a:p>
          <a:p>
            <a:endParaRPr lang="en-US">
              <a:solidFill>
                <a:schemeClr val="bg1"/>
              </a:solidFill>
            </a:endParaRPr>
          </a:p>
        </p:txBody>
      </p:sp>
      <p:sp>
        <p:nvSpPr>
          <p:cNvPr id="21" name="Rectangle 20">
            <a:extLst>
              <a:ext uri="{FF2B5EF4-FFF2-40B4-BE49-F238E27FC236}">
                <a16:creationId xmlns:a16="http://schemas.microsoft.com/office/drawing/2014/main" id="{C6EE6736-0A97-C7CE-D0BE-49CB176E49C0}"/>
              </a:ext>
            </a:extLst>
          </p:cNvPr>
          <p:cNvSpPr/>
          <p:nvPr/>
        </p:nvSpPr>
        <p:spPr>
          <a:xfrm>
            <a:off x="6305006" y="3741726"/>
            <a:ext cx="5425440" cy="917360"/>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122676-50D6-DC1E-8825-393A0CF26CA0}"/>
              </a:ext>
            </a:extLst>
          </p:cNvPr>
          <p:cNvSpPr/>
          <p:nvPr/>
        </p:nvSpPr>
        <p:spPr>
          <a:xfrm>
            <a:off x="1540634" y="2639699"/>
            <a:ext cx="1881847" cy="3648887"/>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C65CAEB-9DFA-51D3-4307-B263FD0310B9}"/>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1525292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endParaRPr lang="en-US">
              <a:solidFill>
                <a:schemeClr val="bg1"/>
              </a:solidFill>
            </a:endParaRPr>
          </a:p>
          <a:p>
            <a:r>
              <a:rPr lang="en-US">
                <a:solidFill>
                  <a:schemeClr val="bg1"/>
                </a:solidFill>
              </a:rPr>
              <a:t>Which actions by leader A are best responses to the expectation that leader B will impose an embargo?</a:t>
            </a:r>
          </a:p>
          <a:p>
            <a:endParaRPr lang="en-US">
              <a:solidFill>
                <a:schemeClr val="bg1"/>
              </a:solidFill>
            </a:endParaRPr>
          </a:p>
          <a:p>
            <a:r>
              <a:rPr lang="en-US">
                <a:solidFill>
                  <a:schemeClr val="bg1"/>
                </a:solidFill>
              </a:rPr>
              <a:t>Which actions by leader A are best responses to the expectation that leader B will not impose an embargo.</a:t>
            </a:r>
          </a:p>
          <a:p>
            <a:endParaRPr lang="en-US">
              <a:solidFill>
                <a:schemeClr val="bg1"/>
              </a:solidFill>
            </a:endParaRPr>
          </a:p>
        </p:txBody>
      </p:sp>
      <p:sp>
        <p:nvSpPr>
          <p:cNvPr id="21" name="Rectangle 20">
            <a:extLst>
              <a:ext uri="{FF2B5EF4-FFF2-40B4-BE49-F238E27FC236}">
                <a16:creationId xmlns:a16="http://schemas.microsoft.com/office/drawing/2014/main" id="{C6EE6736-0A97-C7CE-D0BE-49CB176E49C0}"/>
              </a:ext>
            </a:extLst>
          </p:cNvPr>
          <p:cNvSpPr/>
          <p:nvPr/>
        </p:nvSpPr>
        <p:spPr>
          <a:xfrm>
            <a:off x="6305006" y="3741726"/>
            <a:ext cx="5425440" cy="917360"/>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122676-50D6-DC1E-8825-393A0CF26CA0}"/>
              </a:ext>
            </a:extLst>
          </p:cNvPr>
          <p:cNvSpPr/>
          <p:nvPr/>
        </p:nvSpPr>
        <p:spPr>
          <a:xfrm>
            <a:off x="1540634" y="2639699"/>
            <a:ext cx="1881847" cy="3648887"/>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94E523D-FCF8-6930-1BF3-D97B5EA3B37A}"/>
              </a:ext>
            </a:extLst>
          </p:cNvPr>
          <p:cNvSpPr/>
          <p:nvPr/>
        </p:nvSpPr>
        <p:spPr>
          <a:xfrm>
            <a:off x="2119251" y="3316164"/>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4FCEFB7-96EC-387E-41FC-97D4C852F970}"/>
              </a:ext>
            </a:extLst>
          </p:cNvPr>
          <p:cNvSpPr/>
          <p:nvPr/>
        </p:nvSpPr>
        <p:spPr>
          <a:xfrm>
            <a:off x="2176112" y="5140610"/>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B7B1936-F30D-D5B0-EA00-0BAC6EA5D233}"/>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3821551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r>
              <a:rPr lang="en-US" b="1" i="1">
                <a:solidFill>
                  <a:schemeClr val="bg1"/>
                </a:solidFill>
              </a:rPr>
              <a:t>not impose an embago</a:t>
            </a:r>
          </a:p>
          <a:p>
            <a:r>
              <a:rPr lang="en-US">
                <a:solidFill>
                  <a:schemeClr val="bg1"/>
                </a:solidFill>
              </a:rPr>
              <a:t>Which actions by leader A are best responses to the expectation that leader B will impose an embargo?</a:t>
            </a:r>
          </a:p>
          <a:p>
            <a:endParaRPr lang="en-US">
              <a:solidFill>
                <a:schemeClr val="bg1"/>
              </a:solidFill>
            </a:endParaRPr>
          </a:p>
          <a:p>
            <a:r>
              <a:rPr lang="en-US">
                <a:solidFill>
                  <a:schemeClr val="bg1"/>
                </a:solidFill>
              </a:rPr>
              <a:t>Which actions by leader A are best responses to the expectation that leader B will not impose an embargo.</a:t>
            </a:r>
          </a:p>
          <a:p>
            <a:endParaRPr lang="en-US">
              <a:solidFill>
                <a:schemeClr val="bg1"/>
              </a:solidFill>
            </a:endParaRPr>
          </a:p>
        </p:txBody>
      </p:sp>
      <p:sp>
        <p:nvSpPr>
          <p:cNvPr id="21" name="Rectangle 20">
            <a:extLst>
              <a:ext uri="{FF2B5EF4-FFF2-40B4-BE49-F238E27FC236}">
                <a16:creationId xmlns:a16="http://schemas.microsoft.com/office/drawing/2014/main" id="{C6EE6736-0A97-C7CE-D0BE-49CB176E49C0}"/>
              </a:ext>
            </a:extLst>
          </p:cNvPr>
          <p:cNvSpPr/>
          <p:nvPr/>
        </p:nvSpPr>
        <p:spPr>
          <a:xfrm>
            <a:off x="6305006" y="3741726"/>
            <a:ext cx="5425440" cy="917360"/>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122676-50D6-DC1E-8825-393A0CF26CA0}"/>
              </a:ext>
            </a:extLst>
          </p:cNvPr>
          <p:cNvSpPr/>
          <p:nvPr/>
        </p:nvSpPr>
        <p:spPr>
          <a:xfrm>
            <a:off x="1540634" y="2639699"/>
            <a:ext cx="1881847" cy="3648887"/>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94E523D-FCF8-6930-1BF3-D97B5EA3B37A}"/>
              </a:ext>
            </a:extLst>
          </p:cNvPr>
          <p:cNvSpPr/>
          <p:nvPr/>
        </p:nvSpPr>
        <p:spPr>
          <a:xfrm>
            <a:off x="2119251" y="3316164"/>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4FCEFB7-96EC-387E-41FC-97D4C852F970}"/>
              </a:ext>
            </a:extLst>
          </p:cNvPr>
          <p:cNvSpPr/>
          <p:nvPr/>
        </p:nvSpPr>
        <p:spPr>
          <a:xfrm>
            <a:off x="2176112" y="5140610"/>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AC06548-BB8C-241B-70B8-3465191F7EFF}"/>
              </a:ext>
            </a:extLst>
          </p:cNvPr>
          <p:cNvSpPr/>
          <p:nvPr/>
        </p:nvSpPr>
        <p:spPr>
          <a:xfrm>
            <a:off x="830896" y="2672748"/>
            <a:ext cx="657934" cy="1824444"/>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6" name="TextBox 25">
            <a:extLst>
              <a:ext uri="{FF2B5EF4-FFF2-40B4-BE49-F238E27FC236}">
                <a16:creationId xmlns:a16="http://schemas.microsoft.com/office/drawing/2014/main" id="{20A48BF7-7F5A-4B63-D6E2-F52E65FCFF5F}"/>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8136051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r>
              <a:rPr lang="en-US" b="1" i="1">
                <a:solidFill>
                  <a:schemeClr val="bg1"/>
                </a:solidFill>
              </a:rPr>
              <a:t>not impose an embago</a:t>
            </a:r>
          </a:p>
          <a:p>
            <a:r>
              <a:rPr lang="en-US">
                <a:solidFill>
                  <a:schemeClr val="bg1"/>
                </a:solidFill>
              </a:rPr>
              <a:t>Which actions by leader A are best responses to the expectation that leader B will impose an embargo?</a:t>
            </a:r>
          </a:p>
          <a:p>
            <a:r>
              <a:rPr lang="en-US" b="1" i="1">
                <a:solidFill>
                  <a:schemeClr val="bg1"/>
                </a:solidFill>
              </a:rPr>
              <a:t>impose an embargo</a:t>
            </a:r>
          </a:p>
          <a:p>
            <a:r>
              <a:rPr lang="en-US">
                <a:solidFill>
                  <a:schemeClr val="bg1"/>
                </a:solidFill>
              </a:rPr>
              <a:t>Which actions by leader A are best responses to the expectation that leader B will not impose an embargo.</a:t>
            </a:r>
          </a:p>
          <a:p>
            <a:endParaRPr lang="en-US">
              <a:solidFill>
                <a:schemeClr val="bg1"/>
              </a:solidFill>
            </a:endParaRPr>
          </a:p>
        </p:txBody>
      </p:sp>
      <p:sp>
        <p:nvSpPr>
          <p:cNvPr id="21" name="Rectangle 20">
            <a:extLst>
              <a:ext uri="{FF2B5EF4-FFF2-40B4-BE49-F238E27FC236}">
                <a16:creationId xmlns:a16="http://schemas.microsoft.com/office/drawing/2014/main" id="{C6EE6736-0A97-C7CE-D0BE-49CB176E49C0}"/>
              </a:ext>
            </a:extLst>
          </p:cNvPr>
          <p:cNvSpPr/>
          <p:nvPr/>
        </p:nvSpPr>
        <p:spPr>
          <a:xfrm>
            <a:off x="6305006" y="4557176"/>
            <a:ext cx="5425440" cy="917360"/>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122676-50D6-DC1E-8825-393A0CF26CA0}"/>
              </a:ext>
            </a:extLst>
          </p:cNvPr>
          <p:cNvSpPr/>
          <p:nvPr/>
        </p:nvSpPr>
        <p:spPr>
          <a:xfrm>
            <a:off x="1540634" y="4464142"/>
            <a:ext cx="3698073" cy="182444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94E523D-FCF8-6930-1BF3-D97B5EA3B37A}"/>
              </a:ext>
            </a:extLst>
          </p:cNvPr>
          <p:cNvSpPr/>
          <p:nvPr/>
        </p:nvSpPr>
        <p:spPr>
          <a:xfrm>
            <a:off x="2406911" y="5126299"/>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4FCEFB7-96EC-387E-41FC-97D4C852F970}"/>
              </a:ext>
            </a:extLst>
          </p:cNvPr>
          <p:cNvSpPr/>
          <p:nvPr/>
        </p:nvSpPr>
        <p:spPr>
          <a:xfrm>
            <a:off x="4283331" y="5147548"/>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AC06548-BB8C-241B-70B8-3465191F7EFF}"/>
              </a:ext>
            </a:extLst>
          </p:cNvPr>
          <p:cNvSpPr/>
          <p:nvPr/>
        </p:nvSpPr>
        <p:spPr>
          <a:xfrm rot="5400000">
            <a:off x="4111202" y="1392676"/>
            <a:ext cx="419016" cy="1824444"/>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6" name="TextBox 25">
            <a:extLst>
              <a:ext uri="{FF2B5EF4-FFF2-40B4-BE49-F238E27FC236}">
                <a16:creationId xmlns:a16="http://schemas.microsoft.com/office/drawing/2014/main" id="{C329BE01-A9D8-9D48-60BE-FCCC0DC1C36E}"/>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24978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a:t>
            </a:r>
          </a:p>
        </p:txBody>
      </p:sp>
      <p:sp>
        <p:nvSpPr>
          <p:cNvPr id="11" name="TextBox 10">
            <a:extLst>
              <a:ext uri="{FF2B5EF4-FFF2-40B4-BE49-F238E27FC236}">
                <a16:creationId xmlns:a16="http://schemas.microsoft.com/office/drawing/2014/main" id="{FA3BA2F0-7924-DD48-EEB9-043537B7F18A}"/>
              </a:ext>
            </a:extLst>
          </p:cNvPr>
          <p:cNvSpPr txBox="1"/>
          <p:nvPr/>
        </p:nvSpPr>
        <p:spPr>
          <a:xfrm>
            <a:off x="6305006" y="3177350"/>
            <a:ext cx="5651863" cy="3139321"/>
          </a:xfrm>
          <a:prstGeom prst="rect">
            <a:avLst/>
          </a:prstGeom>
          <a:noFill/>
        </p:spPr>
        <p:txBody>
          <a:bodyPr wrap="square" rtlCol="0">
            <a:spAutoFit/>
          </a:bodyPr>
          <a:lstStyle/>
          <a:p>
            <a:r>
              <a:rPr lang="en-US" b="1">
                <a:solidFill>
                  <a:schemeClr val="bg1"/>
                </a:solidFill>
              </a:rPr>
              <a:t>Exercises</a:t>
            </a:r>
            <a:r>
              <a:rPr lang="en-US">
                <a:solidFill>
                  <a:schemeClr val="bg1"/>
                </a:solidFill>
              </a:rPr>
              <a:t>:</a:t>
            </a:r>
          </a:p>
          <a:p>
            <a:endParaRPr lang="en-US">
              <a:solidFill>
                <a:schemeClr val="bg1"/>
              </a:solidFill>
            </a:endParaRPr>
          </a:p>
          <a:p>
            <a:r>
              <a:rPr lang="en-US">
                <a:solidFill>
                  <a:schemeClr val="bg1"/>
                </a:solidFill>
              </a:rPr>
              <a:t>Which actions by leader B are best responses to the expectation that leader A will not impose an embargo?</a:t>
            </a:r>
          </a:p>
          <a:p>
            <a:r>
              <a:rPr lang="en-US" b="1" i="1">
                <a:solidFill>
                  <a:schemeClr val="bg1"/>
                </a:solidFill>
              </a:rPr>
              <a:t>not impose an embago</a:t>
            </a:r>
          </a:p>
          <a:p>
            <a:r>
              <a:rPr lang="en-US">
                <a:solidFill>
                  <a:schemeClr val="bg1"/>
                </a:solidFill>
              </a:rPr>
              <a:t>Which actions by leader A are best responses to the expectation that leader B will impose an embargo?</a:t>
            </a:r>
          </a:p>
          <a:p>
            <a:r>
              <a:rPr lang="en-US" b="1" i="1">
                <a:solidFill>
                  <a:schemeClr val="bg1"/>
                </a:solidFill>
              </a:rPr>
              <a:t>impose an embargo</a:t>
            </a:r>
          </a:p>
          <a:p>
            <a:r>
              <a:rPr lang="en-US">
                <a:solidFill>
                  <a:schemeClr val="bg1"/>
                </a:solidFill>
              </a:rPr>
              <a:t>Which actions by leader A are best responses to the expectation that leader B will not impose an embargo.</a:t>
            </a:r>
          </a:p>
          <a:p>
            <a:r>
              <a:rPr lang="en-US" b="1" i="1">
                <a:solidFill>
                  <a:schemeClr val="bg1"/>
                </a:solidFill>
              </a:rPr>
              <a:t>not impose an embargo</a:t>
            </a:r>
          </a:p>
        </p:txBody>
      </p:sp>
      <p:sp>
        <p:nvSpPr>
          <p:cNvPr id="21" name="Rectangle 20">
            <a:extLst>
              <a:ext uri="{FF2B5EF4-FFF2-40B4-BE49-F238E27FC236}">
                <a16:creationId xmlns:a16="http://schemas.microsoft.com/office/drawing/2014/main" id="{C6EE6736-0A97-C7CE-D0BE-49CB176E49C0}"/>
              </a:ext>
            </a:extLst>
          </p:cNvPr>
          <p:cNvSpPr/>
          <p:nvPr/>
        </p:nvSpPr>
        <p:spPr>
          <a:xfrm>
            <a:off x="6305006" y="5468618"/>
            <a:ext cx="5425440" cy="917360"/>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122676-50D6-DC1E-8825-393A0CF26CA0}"/>
              </a:ext>
            </a:extLst>
          </p:cNvPr>
          <p:cNvSpPr/>
          <p:nvPr/>
        </p:nvSpPr>
        <p:spPr>
          <a:xfrm>
            <a:off x="1563086" y="2634956"/>
            <a:ext cx="3698073" cy="182444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94E523D-FCF8-6930-1BF3-D97B5EA3B37A}"/>
              </a:ext>
            </a:extLst>
          </p:cNvPr>
          <p:cNvSpPr/>
          <p:nvPr/>
        </p:nvSpPr>
        <p:spPr>
          <a:xfrm>
            <a:off x="2393842" y="3306798"/>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4FCEFB7-96EC-387E-41FC-97D4C852F970}"/>
              </a:ext>
            </a:extLst>
          </p:cNvPr>
          <p:cNvSpPr/>
          <p:nvPr/>
        </p:nvSpPr>
        <p:spPr>
          <a:xfrm>
            <a:off x="4196440" y="3341960"/>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AC06548-BB8C-241B-70B8-3465191F7EFF}"/>
              </a:ext>
            </a:extLst>
          </p:cNvPr>
          <p:cNvSpPr/>
          <p:nvPr/>
        </p:nvSpPr>
        <p:spPr>
          <a:xfrm rot="5400000">
            <a:off x="2148153" y="1254069"/>
            <a:ext cx="642598" cy="1993118"/>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6" name="TextBox 25">
            <a:extLst>
              <a:ext uri="{FF2B5EF4-FFF2-40B4-BE49-F238E27FC236}">
                <a16:creationId xmlns:a16="http://schemas.microsoft.com/office/drawing/2014/main" id="{ACD95596-D899-DB68-5110-8BD34DCFA3AA}"/>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17400324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EA3AAE-3BF2-E6C7-D78A-7FF80F146068}"/>
              </a:ext>
            </a:extLst>
          </p:cNvPr>
          <p:cNvSpPr txBox="1"/>
          <p:nvPr/>
        </p:nvSpPr>
        <p:spPr>
          <a:xfrm>
            <a:off x="235131" y="226423"/>
            <a:ext cx="2211978" cy="461665"/>
          </a:xfrm>
          <a:prstGeom prst="rect">
            <a:avLst/>
          </a:prstGeom>
          <a:noFill/>
        </p:spPr>
        <p:txBody>
          <a:bodyPr wrap="square" rtlCol="0">
            <a:spAutoFit/>
          </a:bodyPr>
          <a:lstStyle/>
          <a:p>
            <a:r>
              <a:rPr lang="en-US" sz="2400" b="1" u="sng">
                <a:solidFill>
                  <a:schemeClr val="accent2"/>
                </a:solidFill>
              </a:rPr>
              <a:t>Best Responses</a:t>
            </a:r>
          </a:p>
        </p:txBody>
      </p:sp>
      <p:sp>
        <p:nvSpPr>
          <p:cNvPr id="5" name="Rectangle 4">
            <a:extLst>
              <a:ext uri="{FF2B5EF4-FFF2-40B4-BE49-F238E27FC236}">
                <a16:creationId xmlns:a16="http://schemas.microsoft.com/office/drawing/2014/main" id="{391FC31F-2E03-8D4D-927C-5BEC1260E1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8BD2FBE-28C7-C841-576A-8D78C4082923}"/>
              </a:ext>
            </a:extLst>
          </p:cNvPr>
          <p:cNvCxnSpPr>
            <a:stCxn id="5" idx="0"/>
            <a:endCxn id="5"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C39D9FF-0437-35A7-65E6-336ABA7A6A1E}"/>
              </a:ext>
            </a:extLst>
          </p:cNvPr>
          <p:cNvCxnSpPr>
            <a:stCxn id="5" idx="1"/>
            <a:endCxn id="5"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F093397-8D24-FB49-26B1-37062037E660}"/>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0" name="TextBox 9">
            <a:extLst>
              <a:ext uri="{FF2B5EF4-FFF2-40B4-BE49-F238E27FC236}">
                <a16:creationId xmlns:a16="http://schemas.microsoft.com/office/drawing/2014/main" id="{958053A6-1C85-C277-543D-C86DBCF2FD4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590DAC8-BE5A-CC00-DBFD-2F4AD108ABAE}"/>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004C47D4-69C1-F39E-1E71-61134FAB0D00}"/>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E1C252-AECE-C0AA-35E8-96222B971EF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B0F789A-C48C-7D89-2225-7678CDDFDC2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FB0497B-E109-DBAA-FCFA-13452AECCB3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E30A4D5-9263-2715-0ED7-737E1653687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36FDA18-602A-5C8D-D7D6-6DC288CF1E6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F668FD2-DC6F-1F1D-5428-CAD4CB933D1A}"/>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3" name="Rectangle 2">
            <a:extLst>
              <a:ext uri="{FF2B5EF4-FFF2-40B4-BE49-F238E27FC236}">
                <a16:creationId xmlns:a16="http://schemas.microsoft.com/office/drawing/2014/main" id="{27942C39-EA64-8AF3-DB5A-E90BAADEAEC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BA378C-6308-6354-A49F-9A731D149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Best Response</a:t>
            </a:r>
          </a:p>
        </p:txBody>
      </p:sp>
      <p:sp>
        <p:nvSpPr>
          <p:cNvPr id="12" name="Rectangle 11">
            <a:extLst>
              <a:ext uri="{FF2B5EF4-FFF2-40B4-BE49-F238E27FC236}">
                <a16:creationId xmlns:a16="http://schemas.microsoft.com/office/drawing/2014/main" id="{6DFA750F-5DDF-2746-3C4D-85E9B0A80A12}"/>
              </a:ext>
            </a:extLst>
          </p:cNvPr>
          <p:cNvSpPr/>
          <p:nvPr/>
        </p:nvSpPr>
        <p:spPr>
          <a:xfrm>
            <a:off x="6197372" y="3239026"/>
            <a:ext cx="5890125" cy="355366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F122676-50D6-DC1E-8825-393A0CF26CA0}"/>
              </a:ext>
            </a:extLst>
          </p:cNvPr>
          <p:cNvSpPr/>
          <p:nvPr/>
        </p:nvSpPr>
        <p:spPr>
          <a:xfrm>
            <a:off x="1563086" y="2634956"/>
            <a:ext cx="3698073" cy="1824444"/>
          </a:xfrm>
          <a:prstGeom prst="rect">
            <a:avLst/>
          </a:prstGeom>
          <a:noFill/>
          <a:ln w="571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494E523D-FCF8-6930-1BF3-D97B5EA3B37A}"/>
              </a:ext>
            </a:extLst>
          </p:cNvPr>
          <p:cNvSpPr/>
          <p:nvPr/>
        </p:nvSpPr>
        <p:spPr>
          <a:xfrm>
            <a:off x="2393842" y="3306798"/>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44FCEFB7-96EC-387E-41FC-97D4C852F970}"/>
              </a:ext>
            </a:extLst>
          </p:cNvPr>
          <p:cNvSpPr/>
          <p:nvPr/>
        </p:nvSpPr>
        <p:spPr>
          <a:xfrm>
            <a:off x="4196440" y="3341960"/>
            <a:ext cx="419016" cy="510017"/>
          </a:xfrm>
          <a:prstGeom prst="ellipse">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AAC06548-BB8C-241B-70B8-3465191F7EFF}"/>
              </a:ext>
            </a:extLst>
          </p:cNvPr>
          <p:cNvSpPr/>
          <p:nvPr/>
        </p:nvSpPr>
        <p:spPr>
          <a:xfrm rot="5400000">
            <a:off x="2148153" y="1254069"/>
            <a:ext cx="642598" cy="1993118"/>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6" name="TextBox 25">
            <a:extLst>
              <a:ext uri="{FF2B5EF4-FFF2-40B4-BE49-F238E27FC236}">
                <a16:creationId xmlns:a16="http://schemas.microsoft.com/office/drawing/2014/main" id="{586536D8-E9F5-ABF9-3356-9822E2E2E99B}"/>
              </a:ext>
            </a:extLst>
          </p:cNvPr>
          <p:cNvSpPr txBox="1"/>
          <p:nvPr/>
        </p:nvSpPr>
        <p:spPr>
          <a:xfrm>
            <a:off x="6461749" y="3624611"/>
            <a:ext cx="5521234" cy="2031325"/>
          </a:xfrm>
          <a:prstGeom prst="rect">
            <a:avLst/>
          </a:prstGeom>
          <a:noFill/>
        </p:spPr>
        <p:txBody>
          <a:bodyPr wrap="square" rtlCol="0">
            <a:spAutoFit/>
          </a:bodyPr>
          <a:lstStyle/>
          <a:p>
            <a:r>
              <a:rPr lang="en-US" b="1">
                <a:solidFill>
                  <a:schemeClr val="bg1"/>
                </a:solidFill>
              </a:rPr>
              <a:t>THINGS TO NOTICE:</a:t>
            </a:r>
          </a:p>
          <a:p>
            <a:endParaRPr lang="en-US" b="1">
              <a:solidFill>
                <a:schemeClr val="bg1"/>
              </a:solidFill>
            </a:endParaRPr>
          </a:p>
          <a:p>
            <a:r>
              <a:rPr lang="en-US">
                <a:solidFill>
                  <a:schemeClr val="bg1"/>
                </a:solidFill>
              </a:rPr>
              <a:t>A best response is always relative to an expected action.  (it’s always “a best response </a:t>
            </a:r>
            <a:r>
              <a:rPr lang="en-US" i="1">
                <a:solidFill>
                  <a:schemeClr val="bg1"/>
                </a:solidFill>
              </a:rPr>
              <a:t>to an expectation that</a:t>
            </a:r>
            <a:r>
              <a:rPr lang="en-US">
                <a:solidFill>
                  <a:schemeClr val="bg1"/>
                </a:solidFill>
              </a:rPr>
              <a:t>...”</a:t>
            </a:r>
          </a:p>
          <a:p>
            <a:endParaRPr lang="en-US">
              <a:solidFill>
                <a:schemeClr val="bg1"/>
              </a:solidFill>
            </a:endParaRPr>
          </a:p>
          <a:p>
            <a:r>
              <a:rPr lang="en-US">
                <a:solidFill>
                  <a:schemeClr val="bg1"/>
                </a:solidFill>
              </a:rPr>
              <a:t>There can be </a:t>
            </a:r>
            <a:r>
              <a:rPr lang="en-US" i="1">
                <a:solidFill>
                  <a:schemeClr val="bg1"/>
                </a:solidFill>
              </a:rPr>
              <a:t>more than one</a:t>
            </a:r>
            <a:r>
              <a:rPr lang="en-US">
                <a:solidFill>
                  <a:schemeClr val="bg1"/>
                </a:solidFill>
              </a:rPr>
              <a:t> best response to a given expectation.</a:t>
            </a:r>
          </a:p>
        </p:txBody>
      </p:sp>
      <p:sp>
        <p:nvSpPr>
          <p:cNvPr id="11" name="TextBox 10">
            <a:extLst>
              <a:ext uri="{FF2B5EF4-FFF2-40B4-BE49-F238E27FC236}">
                <a16:creationId xmlns:a16="http://schemas.microsoft.com/office/drawing/2014/main" id="{D8696302-D0E6-E780-122E-9F653E78605B}"/>
              </a:ext>
            </a:extLst>
          </p:cNvPr>
          <p:cNvSpPr txBox="1"/>
          <p:nvPr/>
        </p:nvSpPr>
        <p:spPr>
          <a:xfrm>
            <a:off x="6714309" y="930702"/>
            <a:ext cx="5082735" cy="2308324"/>
          </a:xfrm>
          <a:prstGeom prst="rect">
            <a:avLst/>
          </a:prstGeom>
          <a:noFill/>
        </p:spPr>
        <p:txBody>
          <a:bodyPr wrap="square" rtlCol="0">
            <a:spAutoFit/>
          </a:bodyPr>
          <a:lstStyle/>
          <a:p>
            <a:r>
              <a:rPr lang="en-US">
                <a:solidFill>
                  <a:schemeClr val="accent1">
                    <a:lumMod val="75000"/>
                  </a:schemeClr>
                </a:solidFill>
              </a:rPr>
              <a:t>Take any game with persons A and B.  </a:t>
            </a:r>
          </a:p>
          <a:p>
            <a:endParaRPr lang="en-US" b="1" i="1">
              <a:solidFill>
                <a:schemeClr val="accent1">
                  <a:lumMod val="75000"/>
                </a:schemeClr>
              </a:solidFill>
            </a:endParaRPr>
          </a:p>
          <a:p>
            <a:r>
              <a:rPr lang="en-US" b="1" i="1">
                <a:solidFill>
                  <a:schemeClr val="accent1">
                    <a:lumMod val="75000"/>
                  </a:schemeClr>
                </a:solidFill>
              </a:rPr>
              <a:t>An action X by person A </a:t>
            </a:r>
            <a:r>
              <a:rPr lang="en-US" b="1">
                <a:solidFill>
                  <a:schemeClr val="accent1">
                    <a:lumMod val="75000"/>
                  </a:schemeClr>
                </a:solidFill>
              </a:rPr>
              <a:t>is </a:t>
            </a:r>
            <a:r>
              <a:rPr lang="en-US" b="1" i="1">
                <a:solidFill>
                  <a:schemeClr val="accent1">
                    <a:lumMod val="75000"/>
                  </a:schemeClr>
                </a:solidFill>
              </a:rPr>
              <a:t>a best response to the expectation that the person B will take action Y...</a:t>
            </a:r>
            <a:endParaRPr lang="en-US" i="1">
              <a:solidFill>
                <a:schemeClr val="accent1">
                  <a:lumMod val="75000"/>
                </a:schemeClr>
              </a:solidFill>
            </a:endParaRPr>
          </a:p>
          <a:p>
            <a:endParaRPr lang="en-US" i="1">
              <a:solidFill>
                <a:schemeClr val="accent1">
                  <a:lumMod val="75000"/>
                </a:schemeClr>
              </a:solidFill>
            </a:endParaRPr>
          </a:p>
          <a:p>
            <a:r>
              <a:rPr lang="en-US">
                <a:solidFill>
                  <a:schemeClr val="accent1">
                    <a:lumMod val="75000"/>
                  </a:schemeClr>
                </a:solidFill>
              </a:rPr>
              <a:t>...if person A’s utility level at the profile (X,Y) is the highest utility level person A achieves at any profile in which person B takes action Y.</a:t>
            </a:r>
          </a:p>
        </p:txBody>
      </p:sp>
    </p:spTree>
    <p:extLst>
      <p:ext uri="{BB962C8B-B14F-4D97-AF65-F5344CB8AC3E}">
        <p14:creationId xmlns:p14="http://schemas.microsoft.com/office/powerpoint/2010/main" val="37573578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1CFD0E-C6AD-F8CD-883D-F958F7CC551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Tree>
    <p:extLst>
      <p:ext uri="{BB962C8B-B14F-4D97-AF65-F5344CB8AC3E}">
        <p14:creationId xmlns:p14="http://schemas.microsoft.com/office/powerpoint/2010/main" val="2239419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1CFD0E-C6AD-F8CD-883D-F958F7CC551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1C47C18D-0990-5BA6-6FC9-10A9E6E0E937}"/>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A37DA4-8D5A-1294-7147-26E197254D65}"/>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576283DC-BC2D-C129-2BE1-38E4D4EA5C9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Tree>
    <p:extLst>
      <p:ext uri="{BB962C8B-B14F-4D97-AF65-F5344CB8AC3E}">
        <p14:creationId xmlns:p14="http://schemas.microsoft.com/office/powerpoint/2010/main" val="31081733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1CFD0E-C6AD-F8CD-883D-F958F7CC551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1C47C18D-0990-5BA6-6FC9-10A9E6E0E937}"/>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A37DA4-8D5A-1294-7147-26E197254D65}"/>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576283DC-BC2D-C129-2BE1-38E4D4EA5C9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1CBA4F5A-72B7-80CB-707D-1072576DDFD0}"/>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DD2CD3-050F-672B-3637-409FF9957B9C}"/>
              </a:ext>
            </a:extLst>
          </p:cNvPr>
          <p:cNvSpPr txBox="1"/>
          <p:nvPr/>
        </p:nvSpPr>
        <p:spPr>
          <a:xfrm>
            <a:off x="6548846" y="2717074"/>
            <a:ext cx="5248198" cy="369332"/>
          </a:xfrm>
          <a:prstGeom prst="rect">
            <a:avLst/>
          </a:prstGeom>
          <a:noFill/>
        </p:spPr>
        <p:txBody>
          <a:bodyPr wrap="square" rtlCol="0">
            <a:spAutoFit/>
          </a:bodyPr>
          <a:lstStyle/>
          <a:p>
            <a:r>
              <a:rPr lang="en-US" b="1">
                <a:solidFill>
                  <a:schemeClr val="bg1"/>
                </a:solidFill>
              </a:rPr>
              <a:t>EXAMPLE</a:t>
            </a:r>
          </a:p>
        </p:txBody>
      </p:sp>
      <p:sp>
        <p:nvSpPr>
          <p:cNvPr id="8" name="Rectangle 7">
            <a:extLst>
              <a:ext uri="{FF2B5EF4-FFF2-40B4-BE49-F238E27FC236}">
                <a16:creationId xmlns:a16="http://schemas.microsoft.com/office/drawing/2014/main" id="{31301D3C-4F85-DB13-4210-03299CE16EDF}"/>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79BA13-49FD-23C9-3C3A-B3E3F80E0877}"/>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3209DF0-00EE-B3DF-9ED4-BCB7C539401D}"/>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AC2071-EBC3-D99E-E1AE-422817F5D934}"/>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50A6FD85-6AF3-D1C6-9CEE-C6C40CF5CD3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F5B72CCF-C5DC-B579-D80D-DBDF113C917F}"/>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92CDE781-E8FB-13CC-5ED1-8F4B22214BB8}"/>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596B4F-72C1-574D-C5EF-97CF5A413CD4}"/>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79DA0CD6-37B4-E5FF-A235-BCF26900CDE0}"/>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E1AA0AD6-161E-3A7F-ECDD-4CE65A3740F5}"/>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EF990150-AC10-A9ED-297F-84038E3BB578}"/>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4221DD68-9B48-2D9C-F5AA-EEFEC52F0F5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9245A66F-0395-7761-2335-62E476A94B60}"/>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Tree>
    <p:extLst>
      <p:ext uri="{BB962C8B-B14F-4D97-AF65-F5344CB8AC3E}">
        <p14:creationId xmlns:p14="http://schemas.microsoft.com/office/powerpoint/2010/main" val="2346326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1CFD0E-C6AD-F8CD-883D-F958F7CC551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1C47C18D-0990-5BA6-6FC9-10A9E6E0E937}"/>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A37DA4-8D5A-1294-7147-26E197254D65}"/>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576283DC-BC2D-C129-2BE1-38E4D4EA5C9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1CBA4F5A-72B7-80CB-707D-1072576DDFD0}"/>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DD2CD3-050F-672B-3637-409FF9957B9C}"/>
              </a:ext>
            </a:extLst>
          </p:cNvPr>
          <p:cNvSpPr txBox="1"/>
          <p:nvPr/>
        </p:nvSpPr>
        <p:spPr>
          <a:xfrm>
            <a:off x="6548846" y="2717074"/>
            <a:ext cx="5248198" cy="92333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endParaRPr lang="en-US" b="1">
              <a:solidFill>
                <a:schemeClr val="bg1"/>
              </a:solidFill>
            </a:endParaRPr>
          </a:p>
        </p:txBody>
      </p:sp>
      <p:sp>
        <p:nvSpPr>
          <p:cNvPr id="8" name="Rectangle 7">
            <a:extLst>
              <a:ext uri="{FF2B5EF4-FFF2-40B4-BE49-F238E27FC236}">
                <a16:creationId xmlns:a16="http://schemas.microsoft.com/office/drawing/2014/main" id="{31301D3C-4F85-DB13-4210-03299CE16EDF}"/>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79BA13-49FD-23C9-3C3A-B3E3F80E0877}"/>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3209DF0-00EE-B3DF-9ED4-BCB7C539401D}"/>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AC2071-EBC3-D99E-E1AE-422817F5D934}"/>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50A6FD85-6AF3-D1C6-9CEE-C6C40CF5CD3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F5B72CCF-C5DC-B579-D80D-DBDF113C917F}"/>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92CDE781-E8FB-13CC-5ED1-8F4B22214BB8}"/>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596B4F-72C1-574D-C5EF-97CF5A413CD4}"/>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79DA0CD6-37B4-E5FF-A235-BCF26900CDE0}"/>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E1AA0AD6-161E-3A7F-ECDD-4CE65A3740F5}"/>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EF990150-AC10-A9ED-297F-84038E3BB578}"/>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4221DD68-9B48-2D9C-F5AA-EEFEC52F0F5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9245A66F-0395-7761-2335-62E476A94B60}"/>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Tree>
    <p:extLst>
      <p:ext uri="{BB962C8B-B14F-4D97-AF65-F5344CB8AC3E}">
        <p14:creationId xmlns:p14="http://schemas.microsoft.com/office/powerpoint/2010/main" val="28073729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1CFD0E-C6AD-F8CD-883D-F958F7CC551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1C47C18D-0990-5BA6-6FC9-10A9E6E0E937}"/>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A37DA4-8D5A-1294-7147-26E197254D65}"/>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576283DC-BC2D-C129-2BE1-38E4D4EA5C9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1CBA4F5A-72B7-80CB-707D-1072576DDFD0}"/>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DD2CD3-050F-672B-3637-409FF9957B9C}"/>
              </a:ext>
            </a:extLst>
          </p:cNvPr>
          <p:cNvSpPr txBox="1"/>
          <p:nvPr/>
        </p:nvSpPr>
        <p:spPr>
          <a:xfrm>
            <a:off x="6548846" y="2717074"/>
            <a:ext cx="5248198" cy="92333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endParaRPr lang="en-US" b="1">
              <a:solidFill>
                <a:schemeClr val="bg1"/>
              </a:solidFill>
            </a:endParaRPr>
          </a:p>
        </p:txBody>
      </p:sp>
      <p:sp>
        <p:nvSpPr>
          <p:cNvPr id="8" name="Rectangle 7">
            <a:extLst>
              <a:ext uri="{FF2B5EF4-FFF2-40B4-BE49-F238E27FC236}">
                <a16:creationId xmlns:a16="http://schemas.microsoft.com/office/drawing/2014/main" id="{31301D3C-4F85-DB13-4210-03299CE16EDF}"/>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79BA13-49FD-23C9-3C3A-B3E3F80E0877}"/>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3209DF0-00EE-B3DF-9ED4-BCB7C539401D}"/>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AC2071-EBC3-D99E-E1AE-422817F5D934}"/>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50A6FD85-6AF3-D1C6-9CEE-C6C40CF5CD3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F5B72CCF-C5DC-B579-D80D-DBDF113C917F}"/>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92CDE781-E8FB-13CC-5ED1-8F4B22214BB8}"/>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596B4F-72C1-574D-C5EF-97CF5A413CD4}"/>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79DA0CD6-37B4-E5FF-A235-BCF26900CDE0}"/>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E1AA0AD6-161E-3A7F-ECDD-4CE65A3740F5}"/>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EF990150-AC10-A9ED-297F-84038E3BB578}"/>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4221DD68-9B48-2D9C-F5AA-EEFEC52F0F5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9245A66F-0395-7761-2335-62E476A94B60}"/>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E300315E-1FDA-6A7B-08F6-ADC112B17D93}"/>
              </a:ext>
            </a:extLst>
          </p:cNvPr>
          <p:cNvSpPr/>
          <p:nvPr/>
        </p:nvSpPr>
        <p:spPr>
          <a:xfrm>
            <a:off x="3383783"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00843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1CFD0E-C6AD-F8CD-883D-F958F7CC551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1C47C18D-0990-5BA6-6FC9-10A9E6E0E937}"/>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A37DA4-8D5A-1294-7147-26E197254D65}"/>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576283DC-BC2D-C129-2BE1-38E4D4EA5C9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1CBA4F5A-72B7-80CB-707D-1072576DDFD0}"/>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DD2CD3-050F-672B-3637-409FF9957B9C}"/>
              </a:ext>
            </a:extLst>
          </p:cNvPr>
          <p:cNvSpPr txBox="1"/>
          <p:nvPr/>
        </p:nvSpPr>
        <p:spPr>
          <a:xfrm>
            <a:off x="6548846" y="2717074"/>
            <a:ext cx="5248198" cy="3693319"/>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not 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not impose an embargo.</a:t>
            </a:r>
          </a:p>
        </p:txBody>
      </p:sp>
      <p:sp>
        <p:nvSpPr>
          <p:cNvPr id="8" name="Rectangle 7">
            <a:extLst>
              <a:ext uri="{FF2B5EF4-FFF2-40B4-BE49-F238E27FC236}">
                <a16:creationId xmlns:a16="http://schemas.microsoft.com/office/drawing/2014/main" id="{31301D3C-4F85-DB13-4210-03299CE16EDF}"/>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79BA13-49FD-23C9-3C3A-B3E3F80E0877}"/>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3209DF0-00EE-B3DF-9ED4-BCB7C539401D}"/>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AC2071-EBC3-D99E-E1AE-422817F5D934}"/>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50A6FD85-6AF3-D1C6-9CEE-C6C40CF5CD3D}"/>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F5B72CCF-C5DC-B579-D80D-DBDF113C917F}"/>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92CDE781-E8FB-13CC-5ED1-8F4B22214BB8}"/>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1596B4F-72C1-574D-C5EF-97CF5A413CD4}"/>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79DA0CD6-37B4-E5FF-A235-BCF26900CDE0}"/>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E1AA0AD6-161E-3A7F-ECDD-4CE65A3740F5}"/>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EF990150-AC10-A9ED-297F-84038E3BB578}"/>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4221DD68-9B48-2D9C-F5AA-EEFEC52F0F5C}"/>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9245A66F-0395-7761-2335-62E476A94B60}"/>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E300315E-1FDA-6A7B-08F6-ADC112B17D93}"/>
              </a:ext>
            </a:extLst>
          </p:cNvPr>
          <p:cNvSpPr/>
          <p:nvPr/>
        </p:nvSpPr>
        <p:spPr>
          <a:xfrm>
            <a:off x="3383783"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38252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11CDE-7734-B261-F5D9-7ABC43A0B5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6163F7-77DC-6822-D312-27AA06E09A8D}"/>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FC500DEE-2B65-2764-F5AC-CFCE2531A442}"/>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B8D1377-63B8-CF4F-DB1F-DF7EAD9D3152}"/>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31974FBE-7266-EC36-2E5A-6A34E24DD6D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E34AE467-1CDF-CACF-3A25-990C76FD6ADC}"/>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E13C5F8-C449-A9D2-B764-C00F0071359C}"/>
              </a:ext>
            </a:extLst>
          </p:cNvPr>
          <p:cNvSpPr txBox="1"/>
          <p:nvPr/>
        </p:nvSpPr>
        <p:spPr>
          <a:xfrm>
            <a:off x="6548846" y="2717074"/>
            <a:ext cx="5248198" cy="3693319"/>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not 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not impose an embargo.</a:t>
            </a:r>
          </a:p>
        </p:txBody>
      </p:sp>
      <p:sp>
        <p:nvSpPr>
          <p:cNvPr id="8" name="Rectangle 7">
            <a:extLst>
              <a:ext uri="{FF2B5EF4-FFF2-40B4-BE49-F238E27FC236}">
                <a16:creationId xmlns:a16="http://schemas.microsoft.com/office/drawing/2014/main" id="{62AD6D60-2D6C-1B10-D7B4-D6CBBCB8AB9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C0592BBA-2E71-F8F2-ED29-69E917BC5E55}"/>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6CC18DF-D49C-0F7B-EACD-F8BCCBF88698}"/>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669ED8C-99B3-49F5-ABC0-0D45C8FE0036}"/>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B0684E29-5C0D-A1B2-830E-269930D30293}"/>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C376FF34-35AC-084F-2F3F-88475CBB9F21}"/>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5B04D540-5E76-8F75-48AD-6B6A96D2DF75}"/>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ECF37B04-C9A0-420D-19DA-7B8EADF7DBD8}"/>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EA3AD615-3268-4263-8797-B1BCEB7CDEFE}"/>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BE71AFA3-B844-F5F8-6EBE-102F316D7947}"/>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49521A88-E169-F211-D032-61946E0895F2}"/>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E673CB35-FAAF-428F-773F-AB19ADE003E2}"/>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5F1F15BA-B7D7-A485-F886-80B1728605F5}"/>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15283B61-E550-E201-135B-9225D3504651}"/>
              </a:ext>
            </a:extLst>
          </p:cNvPr>
          <p:cNvSpPr/>
          <p:nvPr/>
        </p:nvSpPr>
        <p:spPr>
          <a:xfrm>
            <a:off x="3383783"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AF39DF-E081-7EBE-513A-0257ACB77386}"/>
              </a:ext>
            </a:extLst>
          </p:cNvPr>
          <p:cNvSpPr/>
          <p:nvPr/>
        </p:nvSpPr>
        <p:spPr>
          <a:xfrm>
            <a:off x="6548846" y="4356847"/>
            <a:ext cx="5248198" cy="690282"/>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Question Mark with solid fill">
            <a:extLst>
              <a:ext uri="{FF2B5EF4-FFF2-40B4-BE49-F238E27FC236}">
                <a16:creationId xmlns:a16="http://schemas.microsoft.com/office/drawing/2014/main" id="{DCA1062F-CFD0-D934-E3EA-896E841F061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65571" y="3628905"/>
            <a:ext cx="914400" cy="914400"/>
          </a:xfrm>
          <a:prstGeom prst="rect">
            <a:avLst/>
          </a:prstGeom>
        </p:spPr>
      </p:pic>
    </p:spTree>
    <p:extLst>
      <p:ext uri="{BB962C8B-B14F-4D97-AF65-F5344CB8AC3E}">
        <p14:creationId xmlns:p14="http://schemas.microsoft.com/office/powerpoint/2010/main" val="12340762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4005E-0B8A-65D1-86EB-6D8807A6A2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D4B2A8-638B-B6FE-16C6-59ACF835B18B}"/>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C800C30B-0F90-FDF9-FE4F-06C859D4C545}"/>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A8C88B4-8AD7-314B-FA68-B412C56CDD5C}"/>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4B016903-23EA-3326-66FB-EB56456F9BB6}"/>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4FDBF61E-010D-D333-FBE5-AD76C51D7975}"/>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6CFB580-36EC-CD3F-FBC6-69916493B461}"/>
              </a:ext>
            </a:extLst>
          </p:cNvPr>
          <p:cNvSpPr txBox="1"/>
          <p:nvPr/>
        </p:nvSpPr>
        <p:spPr>
          <a:xfrm>
            <a:off x="6548846" y="2717074"/>
            <a:ext cx="5248198" cy="3693319"/>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not 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not impose an embargo.</a:t>
            </a:r>
          </a:p>
        </p:txBody>
      </p:sp>
      <p:sp>
        <p:nvSpPr>
          <p:cNvPr id="8" name="Rectangle 7">
            <a:extLst>
              <a:ext uri="{FF2B5EF4-FFF2-40B4-BE49-F238E27FC236}">
                <a16:creationId xmlns:a16="http://schemas.microsoft.com/office/drawing/2014/main" id="{EE224F6D-2B40-B041-77E3-50FE5956C323}"/>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40439C9-6BAC-8ED3-931F-9F55D1D415E7}"/>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B498BD1-9E40-E326-658F-65018E695CDD}"/>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7594327-AFFB-9624-E424-CB52344AD79D}"/>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B1896816-50CA-E85D-5EFF-98F662D1C569}"/>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0A5EDFDF-C512-629B-50E3-93E2C1AA4D25}"/>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AAA2CB34-7993-AD47-1320-0709DABA6BC1}"/>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BE9BE28A-2C74-0BD4-2B52-F8A1D8EB1C9F}"/>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673F4CE-D4F3-B803-3EFF-C4C7196EDBE2}"/>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7D1EA1B-A1CD-D1AA-CF31-82ABAB3FBEB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50DAE330-E3CE-1C29-5B0B-02CF7320AC5A}"/>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2EA8B963-E1A3-D61B-C4CD-0DDA8869FC65}"/>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F605CFC7-BD38-F384-C661-E35947EB0F5C}"/>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927FC2A2-990A-A45A-ADBA-B18D33CE9B99}"/>
              </a:ext>
            </a:extLst>
          </p:cNvPr>
          <p:cNvSpPr/>
          <p:nvPr/>
        </p:nvSpPr>
        <p:spPr>
          <a:xfrm>
            <a:off x="3383783"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B1F45A5-32E1-6036-7855-8AC97099DFA6}"/>
              </a:ext>
            </a:extLst>
          </p:cNvPr>
          <p:cNvSpPr/>
          <p:nvPr/>
        </p:nvSpPr>
        <p:spPr>
          <a:xfrm>
            <a:off x="6548846" y="4356847"/>
            <a:ext cx="5248198" cy="690282"/>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Question Mark with solid fill">
            <a:extLst>
              <a:ext uri="{FF2B5EF4-FFF2-40B4-BE49-F238E27FC236}">
                <a16:creationId xmlns:a16="http://schemas.microsoft.com/office/drawing/2014/main" id="{1FDB6A40-EE69-B512-E2B2-4962B17487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65571" y="3628905"/>
            <a:ext cx="914400" cy="914400"/>
          </a:xfrm>
          <a:prstGeom prst="rect">
            <a:avLst/>
          </a:prstGeom>
        </p:spPr>
      </p:pic>
      <p:cxnSp>
        <p:nvCxnSpPr>
          <p:cNvPr id="25" name="Straight Connector 24">
            <a:extLst>
              <a:ext uri="{FF2B5EF4-FFF2-40B4-BE49-F238E27FC236}">
                <a16:creationId xmlns:a16="http://schemas.microsoft.com/office/drawing/2014/main" id="{43AF62C4-23C6-33E1-03B6-D7FBB58AD1ED}"/>
              </a:ext>
            </a:extLst>
          </p:cNvPr>
          <p:cNvCxnSpPr/>
          <p:nvPr/>
        </p:nvCxnSpPr>
        <p:spPr>
          <a:xfrm>
            <a:off x="6714309" y="4975412"/>
            <a:ext cx="4106091" cy="0"/>
          </a:xfrm>
          <a:prstGeom prst="line">
            <a:avLst/>
          </a:prstGeom>
          <a:ln w="76200">
            <a:solidFill>
              <a:srgbClr val="FFFF00"/>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E7743347-D45B-8D63-1518-5DEA2DD89C32}"/>
              </a:ext>
            </a:extLst>
          </p:cNvPr>
          <p:cNvSpPr/>
          <p:nvPr/>
        </p:nvSpPr>
        <p:spPr>
          <a:xfrm>
            <a:off x="3383783" y="2636183"/>
            <a:ext cx="1854926" cy="3662291"/>
          </a:xfrm>
          <a:prstGeom prst="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41754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ADA65-FF41-BC61-A668-138E969FB9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C2B576-444F-0D43-98C7-5F70FAE25768}"/>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762AB489-A6E8-F522-653C-018B2F1D0D3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09E1543-AD77-E89D-03AC-31A779991BE4}"/>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4E74237C-5072-7D97-9EC4-1F447B038526}"/>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C6B81EBC-4ADD-F9B4-3E56-0B3C992CF34F}"/>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336BC88-1751-F16C-1153-23F15ED25A2B}"/>
              </a:ext>
            </a:extLst>
          </p:cNvPr>
          <p:cNvSpPr txBox="1"/>
          <p:nvPr/>
        </p:nvSpPr>
        <p:spPr>
          <a:xfrm>
            <a:off x="6548846" y="2717074"/>
            <a:ext cx="5248198" cy="3693319"/>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not 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not impose an embargo.</a:t>
            </a:r>
          </a:p>
        </p:txBody>
      </p:sp>
      <p:sp>
        <p:nvSpPr>
          <p:cNvPr id="8" name="Rectangle 7">
            <a:extLst>
              <a:ext uri="{FF2B5EF4-FFF2-40B4-BE49-F238E27FC236}">
                <a16:creationId xmlns:a16="http://schemas.microsoft.com/office/drawing/2014/main" id="{A065BAE8-FFDA-97B7-00CD-2576861A492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FEE727A2-71CF-A532-5844-C80F9A3B53A9}"/>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E784B-23E2-1BEF-F652-39641D18B534}"/>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1CDE749-0619-FE4E-3BA2-B42B8CCD547B}"/>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FCD465CB-F01F-6F9B-1276-C22E23C731CE}"/>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C4AA0CB4-F61A-7408-2EE2-7320C643F34A}"/>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DDAD727D-377D-15C0-F643-AB7109E98AD7}"/>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16829A9B-D978-6533-D46F-4F7F34CD2B4E}"/>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28F9FAF5-2036-2DC0-CCA4-398DACC0E2C0}"/>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DB26B91F-B35C-484D-428E-82EEA6C19478}"/>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0593789B-0BA4-1CEF-7821-A246ADCAFD6C}"/>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850A31BD-5619-E1C9-2AFA-BB064DC92AEB}"/>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3785C3A0-7E7F-CB54-BC69-2D0E4D259A11}"/>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201E7B38-44AD-3564-261F-348B8CB167F7}"/>
              </a:ext>
            </a:extLst>
          </p:cNvPr>
          <p:cNvSpPr/>
          <p:nvPr/>
        </p:nvSpPr>
        <p:spPr>
          <a:xfrm>
            <a:off x="3383783"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A6DF53A-8769-9485-C553-00B3FF26CA3F}"/>
              </a:ext>
            </a:extLst>
          </p:cNvPr>
          <p:cNvSpPr/>
          <p:nvPr/>
        </p:nvSpPr>
        <p:spPr>
          <a:xfrm>
            <a:off x="6548846" y="4356847"/>
            <a:ext cx="5248198" cy="690282"/>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Question Mark with solid fill">
            <a:extLst>
              <a:ext uri="{FF2B5EF4-FFF2-40B4-BE49-F238E27FC236}">
                <a16:creationId xmlns:a16="http://schemas.microsoft.com/office/drawing/2014/main" id="{3D0A87D7-2DA1-A718-A540-25AAD0A0AE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65571" y="3628905"/>
            <a:ext cx="914400" cy="914400"/>
          </a:xfrm>
          <a:prstGeom prst="rect">
            <a:avLst/>
          </a:prstGeom>
        </p:spPr>
      </p:pic>
      <p:cxnSp>
        <p:nvCxnSpPr>
          <p:cNvPr id="25" name="Straight Connector 24">
            <a:extLst>
              <a:ext uri="{FF2B5EF4-FFF2-40B4-BE49-F238E27FC236}">
                <a16:creationId xmlns:a16="http://schemas.microsoft.com/office/drawing/2014/main" id="{AE73CCAE-8BCC-B1D3-50AE-B7E65135E3C8}"/>
              </a:ext>
            </a:extLst>
          </p:cNvPr>
          <p:cNvCxnSpPr/>
          <p:nvPr/>
        </p:nvCxnSpPr>
        <p:spPr>
          <a:xfrm>
            <a:off x="6714309" y="4975412"/>
            <a:ext cx="4106091" cy="0"/>
          </a:xfrm>
          <a:prstGeom prst="line">
            <a:avLst/>
          </a:prstGeom>
          <a:ln w="76200">
            <a:solidFill>
              <a:srgbClr val="FFFF00"/>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3AC2BFEC-48E9-A763-1B5F-7498C7F97680}"/>
              </a:ext>
            </a:extLst>
          </p:cNvPr>
          <p:cNvSpPr/>
          <p:nvPr/>
        </p:nvSpPr>
        <p:spPr>
          <a:xfrm>
            <a:off x="3383783" y="2636183"/>
            <a:ext cx="1854926" cy="3662291"/>
          </a:xfrm>
          <a:prstGeom prst="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FAA3D50-B352-E370-647A-4B60B4F2E7A2}"/>
              </a:ext>
            </a:extLst>
          </p:cNvPr>
          <p:cNvSpPr/>
          <p:nvPr/>
        </p:nvSpPr>
        <p:spPr>
          <a:xfrm>
            <a:off x="3948639" y="3338848"/>
            <a:ext cx="332458" cy="512213"/>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59FF202B-FE00-F7E7-32F9-9EB5BA849C73}"/>
              </a:ext>
            </a:extLst>
          </p:cNvPr>
          <p:cNvSpPr/>
          <p:nvPr/>
        </p:nvSpPr>
        <p:spPr>
          <a:xfrm>
            <a:off x="3994705" y="5157780"/>
            <a:ext cx="332458" cy="512213"/>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92956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B18B5-DACB-9017-27C9-59FB9495DF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EAA57B-768B-81A1-CEBF-6F97618A1CFF}"/>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A470F54C-8994-6C62-2464-ED21640A15AD}"/>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A2FB69D-548E-33AF-D98C-07B918EDBC11}"/>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269FB4C0-271A-87E7-77D0-2781F654AE6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6363852A-1E2F-B318-BB6B-6A569F45492F}"/>
              </a:ext>
            </a:extLst>
          </p:cNvPr>
          <p:cNvSpPr/>
          <p:nvPr/>
        </p:nvSpPr>
        <p:spPr>
          <a:xfrm>
            <a:off x="6278880" y="2412274"/>
            <a:ext cx="5808617" cy="433686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75CE8D6-F019-8730-EE59-05C2B75C69B6}"/>
              </a:ext>
            </a:extLst>
          </p:cNvPr>
          <p:cNvSpPr txBox="1"/>
          <p:nvPr/>
        </p:nvSpPr>
        <p:spPr>
          <a:xfrm>
            <a:off x="6548846" y="2717074"/>
            <a:ext cx="5248198" cy="3693319"/>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 does not impose an embargo and A imposes an embargo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not 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not impose an embargo.</a:t>
            </a:r>
          </a:p>
        </p:txBody>
      </p:sp>
      <p:sp>
        <p:nvSpPr>
          <p:cNvPr id="8" name="Rectangle 7">
            <a:extLst>
              <a:ext uri="{FF2B5EF4-FFF2-40B4-BE49-F238E27FC236}">
                <a16:creationId xmlns:a16="http://schemas.microsoft.com/office/drawing/2014/main" id="{FC1DDE43-44FE-457D-27BB-42EDB46C8DCE}"/>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EF4FF353-3001-033E-03B9-6CEE5ACF8998}"/>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B74EC28-905E-76A4-B187-20688B4F0332}"/>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3F0BB40-3461-F1F9-2417-CCE2298C687F}"/>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A46BBD2A-7F8D-4BDF-10AF-51C921AD6E1F}"/>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8A16712B-E2B7-FC54-58D7-DFC766E76DF8}"/>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A83A16B0-2B8B-5504-0A7C-BBDCC636E9EB}"/>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8286C5EC-FF34-2797-ED2E-7F058B917C3B}"/>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4248CD00-CA73-56DA-78EE-4E6A9EEF4811}"/>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F7D6B715-19FF-B891-6C56-E1316665A971}"/>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D17FC497-DA45-9319-1707-F9EBA26B98F9}"/>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C092A3EA-780E-329D-711E-6BE213721D18}"/>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033E4787-B61C-FE79-1D10-631FFC1374A6}"/>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70E9528E-8694-0272-3E7F-0CD56B5AA302}"/>
              </a:ext>
            </a:extLst>
          </p:cNvPr>
          <p:cNvSpPr/>
          <p:nvPr/>
        </p:nvSpPr>
        <p:spPr>
          <a:xfrm>
            <a:off x="3383783"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CE62EED-9F3C-AB16-9B86-1615572FED34}"/>
              </a:ext>
            </a:extLst>
          </p:cNvPr>
          <p:cNvSpPr/>
          <p:nvPr/>
        </p:nvSpPr>
        <p:spPr>
          <a:xfrm>
            <a:off x="6548846" y="4356847"/>
            <a:ext cx="5248198" cy="690282"/>
          </a:xfrm>
          <a:prstGeom prst="rect">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Question Mark with solid fill">
            <a:extLst>
              <a:ext uri="{FF2B5EF4-FFF2-40B4-BE49-F238E27FC236}">
                <a16:creationId xmlns:a16="http://schemas.microsoft.com/office/drawing/2014/main" id="{7F0810B3-A4C5-440D-E1DC-637F982950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65571" y="3628905"/>
            <a:ext cx="914400" cy="914400"/>
          </a:xfrm>
          <a:prstGeom prst="rect">
            <a:avLst/>
          </a:prstGeom>
        </p:spPr>
      </p:pic>
      <p:cxnSp>
        <p:nvCxnSpPr>
          <p:cNvPr id="25" name="Straight Connector 24">
            <a:extLst>
              <a:ext uri="{FF2B5EF4-FFF2-40B4-BE49-F238E27FC236}">
                <a16:creationId xmlns:a16="http://schemas.microsoft.com/office/drawing/2014/main" id="{3A33F0D4-64E1-0BD3-1753-83D6A791CE76}"/>
              </a:ext>
            </a:extLst>
          </p:cNvPr>
          <p:cNvCxnSpPr/>
          <p:nvPr/>
        </p:nvCxnSpPr>
        <p:spPr>
          <a:xfrm>
            <a:off x="6714309" y="4975412"/>
            <a:ext cx="4106091" cy="0"/>
          </a:xfrm>
          <a:prstGeom prst="line">
            <a:avLst/>
          </a:prstGeom>
          <a:ln w="76200">
            <a:solidFill>
              <a:srgbClr val="FFFF00"/>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7EE4D1B5-10CC-FDB2-8010-185F21EB120E}"/>
              </a:ext>
            </a:extLst>
          </p:cNvPr>
          <p:cNvSpPr/>
          <p:nvPr/>
        </p:nvSpPr>
        <p:spPr>
          <a:xfrm>
            <a:off x="3383783" y="2636183"/>
            <a:ext cx="1854926" cy="3662291"/>
          </a:xfrm>
          <a:prstGeom prst="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80BF236-5B15-96A6-5B4A-B442607316D8}"/>
              </a:ext>
            </a:extLst>
          </p:cNvPr>
          <p:cNvSpPr/>
          <p:nvPr/>
        </p:nvSpPr>
        <p:spPr>
          <a:xfrm>
            <a:off x="3948639" y="3338848"/>
            <a:ext cx="332458" cy="512213"/>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3B86F02-D05A-F695-7F3B-12768003B197}"/>
              </a:ext>
            </a:extLst>
          </p:cNvPr>
          <p:cNvSpPr/>
          <p:nvPr/>
        </p:nvSpPr>
        <p:spPr>
          <a:xfrm>
            <a:off x="3994705" y="5157780"/>
            <a:ext cx="332458" cy="512213"/>
          </a:xfrm>
          <a:prstGeom prst="ellipse">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B37E2EF-E6BF-C81B-8E08-F1C83980A35F}"/>
              </a:ext>
            </a:extLst>
          </p:cNvPr>
          <p:cNvSpPr txBox="1"/>
          <p:nvPr/>
        </p:nvSpPr>
        <p:spPr>
          <a:xfrm rot="1306725">
            <a:off x="4598629" y="1082207"/>
            <a:ext cx="5890558" cy="1754326"/>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a:t>Max utility B can achieve when A imposes an embargo is 10.</a:t>
            </a:r>
          </a:p>
          <a:p>
            <a:endParaRPr lang="en-US"/>
          </a:p>
          <a:p>
            <a:r>
              <a:rPr lang="en-US"/>
              <a:t>not emposing an embargo does not achieve this max level.</a:t>
            </a:r>
          </a:p>
          <a:p>
            <a:endParaRPr lang="en-US"/>
          </a:p>
          <a:p>
            <a:r>
              <a:rPr lang="en-US"/>
              <a:t>So NO, not imposing an embargo is not a best response by B to the expectation that A will impose an embargo</a:t>
            </a:r>
          </a:p>
        </p:txBody>
      </p:sp>
    </p:spTree>
    <p:extLst>
      <p:ext uri="{BB962C8B-B14F-4D97-AF65-F5344CB8AC3E}">
        <p14:creationId xmlns:p14="http://schemas.microsoft.com/office/powerpoint/2010/main" val="38068705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0B2BD-9C66-D176-67BB-32ADD6B6E2D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53CBA6-34EE-F75F-BC2D-4C016DC80448}"/>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BDF46166-0269-01D4-CC8C-758B57B85A76}"/>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23A4AF5-398D-6166-0018-67655A5937B5}"/>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D2F71D0F-935F-2C0F-5992-81560A64D025}"/>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8106FE8F-93EC-5DBD-1AAE-037167FA5EEB}"/>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E4A8238-9F52-C712-058A-0740CAAA642A}"/>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accent3"/>
                </a:solidFill>
              </a:rPr>
              <a:t>Yes if...</a:t>
            </a:r>
          </a:p>
          <a:p>
            <a:endParaRPr lang="en-US" i="1">
              <a:solidFill>
                <a:schemeClr val="accent3"/>
              </a:solidFill>
            </a:endParaRPr>
          </a:p>
          <a:p>
            <a:r>
              <a:rPr lang="en-US" i="1">
                <a:solidFill>
                  <a:schemeClr val="accent3"/>
                </a:solidFill>
              </a:rPr>
              <a:t>+ </a:t>
            </a:r>
            <a:r>
              <a:rPr lang="en-US">
                <a:solidFill>
                  <a:schemeClr val="accent3"/>
                </a:solidFill>
              </a:rPr>
              <a:t>not imposing an embargo is a best response by B to the expectation that A will impose an embargo</a:t>
            </a:r>
          </a:p>
          <a:p>
            <a:endParaRPr lang="en-US" i="1">
              <a:solidFill>
                <a:schemeClr val="accent3"/>
              </a:solidFill>
            </a:endParaRPr>
          </a:p>
          <a:p>
            <a:r>
              <a:rPr lang="en-US" i="1">
                <a:solidFill>
                  <a:schemeClr val="accent3"/>
                </a:solidFill>
              </a:rPr>
              <a:t>AND</a:t>
            </a:r>
          </a:p>
          <a:p>
            <a:endParaRPr lang="en-US" i="1">
              <a:solidFill>
                <a:schemeClr val="accent3"/>
              </a:solidFill>
            </a:endParaRPr>
          </a:p>
          <a:p>
            <a:r>
              <a:rPr lang="en-US" i="1">
                <a:solidFill>
                  <a:schemeClr val="accent3"/>
                </a:solidFill>
              </a:rPr>
              <a:t>+ imposing an embargo is a best response by A to the expectation that B will not impose an embargo.</a:t>
            </a:r>
          </a:p>
        </p:txBody>
      </p:sp>
      <p:sp>
        <p:nvSpPr>
          <p:cNvPr id="8" name="Rectangle 7">
            <a:extLst>
              <a:ext uri="{FF2B5EF4-FFF2-40B4-BE49-F238E27FC236}">
                <a16:creationId xmlns:a16="http://schemas.microsoft.com/office/drawing/2014/main" id="{1C720CC7-AE4C-54D4-4CC4-621613BFB19B}"/>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04E7B35-51BB-C8DE-F24E-9A97E77E0670}"/>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A992B2C-13EE-E434-2679-D8542E853B72}"/>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8D8A411-EFC3-0DD5-6644-9E97E33D8046}"/>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AD0CAA11-5FA6-EA45-41E7-C36774E48129}"/>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E4B709F7-35E3-4352-35A5-3D8602300A08}"/>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B9ABCDF0-87F0-39DA-BD9B-0C1A803CAF87}"/>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4448C3CF-E770-5BE4-2ECC-310F8A22EDFE}"/>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FC5CB058-0C95-9190-C9DE-A52C1B6DA58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2E9BFD38-75DF-E318-234D-009A351BE00A}"/>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F04B44C8-7213-9F2E-6FC5-3D314CB47A0F}"/>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4867F06E-F2E3-02EF-F0BE-5027BD3E57AE}"/>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DCD7132F-2727-C887-577E-7755A23223B1}"/>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4CE137B4-70C2-F611-6135-6E265D0A3E09}"/>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58575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908E-FB60-F727-339B-F38E5309C1F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91E5FB-CCC1-3A36-A4F5-E069550EFD15}"/>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77D35002-C5A6-93E5-F332-A51C0D4C2069}"/>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6F21D60-7356-A605-1267-BEAA172CBACD}"/>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F2A6CE6B-485C-C7DE-FCAF-E3C02DD86620}"/>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3781AC23-0282-89EC-BA5E-D78BD842BF4E}"/>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FE8E6CE-473D-79D8-10D3-DA940F29495B}"/>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6C29089D-E725-93C1-5DA8-977FC1F414D9}"/>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2998764F-5016-5FBF-E0EA-1444F138449D}"/>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528232F-2733-193A-BF12-B1FD7A670CD1}"/>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390E005-695E-DA39-41CD-52E1A503ACDB}"/>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5C68B548-DA9E-7FD8-F94F-18F688933EEB}"/>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42AD2607-5532-08C6-D4D1-45919478B8E9}"/>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6BF2261A-98AF-7320-58CB-E99A166E2612}"/>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40149D53-E3E9-34DB-8AEA-706882424064}"/>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646C3157-B0FD-2C97-2718-B690CA942D34}"/>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4EA0807B-063E-EFC4-CD29-B5580FBFB453}"/>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6C376CA3-E6F0-03E5-EC56-A9EDC5A84D4F}"/>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EE18B7E8-E06F-E97A-5171-5A9770FCD107}"/>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8D1E3BA2-014D-C214-FC6E-C4151E32150D}"/>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6ED97E03-2A82-A84D-F485-E601CD9BE5A7}"/>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48569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6EBF8-2C1E-6368-A5E9-867FD78887E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AE2620-78E6-FB1B-AFE0-59127CC1ABAD}"/>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31DCAEF1-006D-9A04-DD2E-03426A74BC58}"/>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5405C82-2175-8A64-E2B0-30AC02A35C41}"/>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BBC500C1-F204-BBD5-DB25-99F3790990A5}"/>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01ED1A1B-FE29-168F-0458-9E0B8BCACC62}"/>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E231E60-6CB8-8826-0B84-4FB7D7A03F96}"/>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C7FF98DC-C5C9-9196-7304-83BB2D203840}"/>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28870DCD-3F06-D228-4EDC-10EC7DCD1456}"/>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EC5C90B-AC58-6403-3AD3-F87F78312018}"/>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087F0A9-0D32-F207-3FAB-41918A1BD225}"/>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54AF47B6-4ED2-41A2-030D-4DC4F5BD3172}"/>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B020E4F3-CA51-D7BF-7F04-FDB1D11087F3}"/>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4CE0C822-AF7F-A599-9F11-46EC17772E6B}"/>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D22180BA-C902-4C89-A2AC-9B113A5F9906}"/>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0515E248-1625-DC80-0790-B7F7C8475458}"/>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563365D0-1A99-8B06-A275-A2235847C3AA}"/>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AA7EDCDE-62CF-62E5-51D5-6B48148DD72D}"/>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06997810-BD9F-3D38-5B90-2892F342BD30}"/>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0631CBDA-8FA5-255B-E91D-D2C2BC1EFCD6}"/>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128B43F5-6100-C418-A605-21E383680618}"/>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AD0F01C-0C81-24C4-D523-D868248A3081}"/>
              </a:ext>
            </a:extLst>
          </p:cNvPr>
          <p:cNvSpPr/>
          <p:nvPr/>
        </p:nvSpPr>
        <p:spPr>
          <a:xfrm>
            <a:off x="6548846" y="4052047"/>
            <a:ext cx="5248198" cy="79388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57404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2FE1C-A965-5B5F-C903-367937CEC9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8839CA-8BCA-3075-F909-A8B2EB8F97FA}"/>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34BF501B-DAA2-6600-8E47-84CE31743DB9}"/>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7EEC3F7-9DF5-BD18-DEDC-7363CB381CBC}"/>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595BF38E-45DC-3FA0-6781-D196E87B7022}"/>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0C71F2AD-5467-7CC2-67BF-D45E04349A67}"/>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CCF2475-2B1D-3A16-D6DB-DACEABAE076D}"/>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92A370EA-7CF1-8953-AFFE-E79C032186F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BF032E6-3776-3A46-0370-3A0FE251B403}"/>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AD7BE1-01C9-0535-576C-1DCEE3C513A3}"/>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84634D2-2E1E-B19A-DC00-AE7EEBAB0B81}"/>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1BB29B9F-932F-469C-AEEA-BE496D23F316}"/>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99161D11-50F5-B1FD-2E2F-247756A04FDC}"/>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D8BB39C2-91A2-1FAE-1AA7-C14D1698A10E}"/>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C2E8FB0A-58BC-0727-FF11-131BFD950ECD}"/>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7CF2DFBA-3877-59E7-250F-480AE009E77F}"/>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AC8DD18F-4428-BDB7-2AEE-4A92B65F9D19}"/>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C18484BC-B752-FD1D-D728-9732BFBFBC97}"/>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5C32811A-7FAF-A8A6-2913-96FB2C0EACF9}"/>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AB33B362-7D7C-2EBE-AB1E-44765136E023}"/>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CAC529C5-982E-55F6-1C4A-E2F3FF2696E7}"/>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676C86C-443E-FC50-1DFA-059184445647}"/>
              </a:ext>
            </a:extLst>
          </p:cNvPr>
          <p:cNvSpPr/>
          <p:nvPr/>
        </p:nvSpPr>
        <p:spPr>
          <a:xfrm>
            <a:off x="6548846" y="4052047"/>
            <a:ext cx="5248198" cy="79388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52C1E56-58E5-D278-A840-FEC818A2AA78}"/>
              </a:ext>
            </a:extLst>
          </p:cNvPr>
          <p:cNvSpPr/>
          <p:nvPr/>
        </p:nvSpPr>
        <p:spPr>
          <a:xfrm>
            <a:off x="3371561" y="2690550"/>
            <a:ext cx="1879370" cy="3621320"/>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C6772EB9-6DBB-DDC3-FB15-3A3AEC95F573}"/>
              </a:ext>
            </a:extLst>
          </p:cNvPr>
          <p:cNvSpPr/>
          <p:nvPr/>
        </p:nvSpPr>
        <p:spPr>
          <a:xfrm>
            <a:off x="4022525" y="3324260"/>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FC1A369-22AC-E34B-33D8-1D68916A4D6F}"/>
              </a:ext>
            </a:extLst>
          </p:cNvPr>
          <p:cNvSpPr/>
          <p:nvPr/>
        </p:nvSpPr>
        <p:spPr>
          <a:xfrm>
            <a:off x="3962401" y="5176338"/>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35036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0F96A-3641-BED8-B0EB-0641FBDE3D7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B16F5B3-BA16-DBE3-FB6A-20F9E182FBB1}"/>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BB2C8FAD-51F5-613A-FA47-87ECC2AC0C3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2C8C87C-7ECB-A4EE-4350-B8596C95F33B}"/>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BFEEB24A-E596-395C-32E1-C6F59B3A1D07}"/>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667ABE13-C09B-9C28-CFFB-801FB143EF6B}"/>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65EDE61-3E07-44FF-DAA3-4CB055F98801}"/>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4C033472-80DF-ECCE-91C6-2048417F071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2D215627-6FF7-E161-F027-6386208AC3BD}"/>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8A6337A-6741-164D-6281-BBE79927CAF5}"/>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59F8DE4-7C75-EF37-98C7-29758F6251D9}"/>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FE077573-357E-4098-88C1-663FBA2C9795}"/>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33BD5082-2A50-85EA-97BA-C74A71964B28}"/>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C3F2678B-94C3-1A6D-41D8-DFBD88F3891F}"/>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9674B162-C3E0-7B7D-B9B9-8A81D92CB55C}"/>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CB9D1270-BC4D-7EDB-8B10-FB50244BD5C5}"/>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8D787638-65F9-14C0-4470-DFCFECED512D}"/>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21762685-5B85-63B3-769E-6588ED3C7BB6}"/>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A96CB3C9-6AF3-F62D-B3BD-9DFCF90D3D84}"/>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52AD5978-1408-65A6-58D3-5B3F7BD5813B}"/>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50C30552-BDAD-6C6A-08C7-5DECE033C685}"/>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56D965E-488F-BFCA-3F72-82401F89E88D}"/>
              </a:ext>
            </a:extLst>
          </p:cNvPr>
          <p:cNvSpPr/>
          <p:nvPr/>
        </p:nvSpPr>
        <p:spPr>
          <a:xfrm>
            <a:off x="6548846" y="4052047"/>
            <a:ext cx="5248198" cy="79388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16BF51F-3E10-F36C-792A-18FA08E59B8D}"/>
              </a:ext>
            </a:extLst>
          </p:cNvPr>
          <p:cNvSpPr/>
          <p:nvPr/>
        </p:nvSpPr>
        <p:spPr>
          <a:xfrm>
            <a:off x="3371561" y="2690550"/>
            <a:ext cx="1879370" cy="3621320"/>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F93D58F-1100-7C28-E7A9-0B5E513725DC}"/>
              </a:ext>
            </a:extLst>
          </p:cNvPr>
          <p:cNvSpPr/>
          <p:nvPr/>
        </p:nvSpPr>
        <p:spPr>
          <a:xfrm>
            <a:off x="4022525" y="3324260"/>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ED51E3C8-55BE-D9DC-EA1A-431EDAEDB210}"/>
              </a:ext>
            </a:extLst>
          </p:cNvPr>
          <p:cNvSpPr/>
          <p:nvPr/>
        </p:nvSpPr>
        <p:spPr>
          <a:xfrm>
            <a:off x="3962401" y="5176338"/>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C3C21FF-5FAC-096C-A988-0B6144A39B43}"/>
              </a:ext>
            </a:extLst>
          </p:cNvPr>
          <p:cNvSpPr txBox="1"/>
          <p:nvPr/>
        </p:nvSpPr>
        <p:spPr>
          <a:xfrm rot="1900494">
            <a:off x="11143129" y="3741726"/>
            <a:ext cx="653915" cy="369332"/>
          </a:xfrm>
          <a:prstGeom prst="rect">
            <a:avLst/>
          </a:prstGeom>
          <a:solidFill>
            <a:schemeClr val="accent6"/>
          </a:solidFill>
        </p:spPr>
        <p:txBody>
          <a:bodyPr wrap="square" rtlCol="0">
            <a:spAutoFit/>
          </a:bodyPr>
          <a:lstStyle/>
          <a:p>
            <a:pPr algn="ctr"/>
            <a:r>
              <a:rPr lang="en-US"/>
              <a:t>YES!</a:t>
            </a:r>
          </a:p>
        </p:txBody>
      </p:sp>
    </p:spTree>
    <p:extLst>
      <p:ext uri="{BB962C8B-B14F-4D97-AF65-F5344CB8AC3E}">
        <p14:creationId xmlns:p14="http://schemas.microsoft.com/office/powerpoint/2010/main" val="16986943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E5123-CA33-2267-51B1-5E9B5011CB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6D7AD9-89CB-B1C2-9861-870A19B8BAAF}"/>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AE42D024-930F-96DE-2CA0-D582F918086E}"/>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BD39A4-4843-65CB-DD2E-75A3AA6B5A0A}"/>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0FD7D37A-70EB-72E9-CF82-7D5887C608D4}"/>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FE7F75AB-F2F2-E005-45C0-5F532737511D}"/>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740ED51-B15D-DDB5-9A2B-893F988C3968}"/>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2DDD9156-3011-8DFD-0081-796925CBCCB1}"/>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50B58FC-8950-790A-E8D2-E6F8C8C1B412}"/>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8633AE4-8BFB-C01E-B9E6-08032C0E4F53}"/>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CF15E11-A94B-41B9-9FA6-EE0779539262}"/>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3C0069C7-0D95-6D80-08D6-5B9078D6C386}"/>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64B813B7-FF93-BDE7-89C1-5DA8D03DC188}"/>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9A8336C8-CE47-474C-6DBA-FF12AB6BB386}"/>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D054394E-1E5D-B02C-8E95-D7269119D125}"/>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2E717A71-67A4-782F-8DCF-BF2EB2643945}"/>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FE1F0961-8E46-09A7-7955-90B30AF68C64}"/>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004179B1-4262-55E7-6319-C8B2739D3C4A}"/>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C60D0C3A-D5B2-DCC2-9D96-0E2674A1C513}"/>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1767359A-E502-27D4-426C-90647C25414E}"/>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A3948A30-19DF-C441-0BC3-8094F413D72C}"/>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B1A1F26-22E7-B58E-3FAC-BB4F4615A323}"/>
              </a:ext>
            </a:extLst>
          </p:cNvPr>
          <p:cNvSpPr/>
          <p:nvPr/>
        </p:nvSpPr>
        <p:spPr>
          <a:xfrm>
            <a:off x="6631577" y="5413884"/>
            <a:ext cx="5248198" cy="79388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5B6036C-5D04-C251-91AA-3619D4551DCD}"/>
              </a:ext>
            </a:extLst>
          </p:cNvPr>
          <p:cNvSpPr/>
          <p:nvPr/>
        </p:nvSpPr>
        <p:spPr>
          <a:xfrm>
            <a:off x="1563086" y="4464536"/>
            <a:ext cx="3687845" cy="184733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349B5FA-3EA7-AD7A-A5D3-A1DB019E62E5}"/>
              </a:ext>
            </a:extLst>
          </p:cNvPr>
          <p:cNvSpPr/>
          <p:nvPr/>
        </p:nvSpPr>
        <p:spPr>
          <a:xfrm>
            <a:off x="2543659" y="5155987"/>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EEA65F4-62F1-B453-3941-F18CF0A9394F}"/>
              </a:ext>
            </a:extLst>
          </p:cNvPr>
          <p:cNvSpPr/>
          <p:nvPr/>
        </p:nvSpPr>
        <p:spPr>
          <a:xfrm>
            <a:off x="4274095" y="5176337"/>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86930944-FFC6-289F-AC0E-CABE7083A8ED}"/>
              </a:ext>
            </a:extLst>
          </p:cNvPr>
          <p:cNvSpPr txBox="1"/>
          <p:nvPr/>
        </p:nvSpPr>
        <p:spPr>
          <a:xfrm rot="1900494">
            <a:off x="11143129" y="3741726"/>
            <a:ext cx="653915" cy="369332"/>
          </a:xfrm>
          <a:prstGeom prst="rect">
            <a:avLst/>
          </a:prstGeom>
          <a:solidFill>
            <a:schemeClr val="accent6"/>
          </a:solidFill>
        </p:spPr>
        <p:txBody>
          <a:bodyPr wrap="square" rtlCol="0">
            <a:spAutoFit/>
          </a:bodyPr>
          <a:lstStyle/>
          <a:p>
            <a:pPr algn="ctr"/>
            <a:r>
              <a:rPr lang="en-US"/>
              <a:t>YES!</a:t>
            </a:r>
          </a:p>
        </p:txBody>
      </p:sp>
    </p:spTree>
    <p:extLst>
      <p:ext uri="{BB962C8B-B14F-4D97-AF65-F5344CB8AC3E}">
        <p14:creationId xmlns:p14="http://schemas.microsoft.com/office/powerpoint/2010/main" val="5591933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EC77C-5676-207D-B75E-6F6AFAE577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9B354D-7E8F-16B2-2A58-034291745E00}"/>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DE16E746-BFB2-AFDC-6CBA-DFF752C3CB87}"/>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584D0A-C8C6-F142-8B1D-13C12D5F0FE4}"/>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C2DA1779-8378-DB06-2C75-F784D0D3CB8D}"/>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FDF0BB15-92F0-ED8C-EE09-7B7441CA2EE3}"/>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90FB8CF-7D82-B1BB-45B0-61A0B3F23216}"/>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E2D2218D-BB6F-E1F4-AE7E-4E4A273CC3B3}"/>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91AC3E1-C6CE-8854-0C57-29877F38F496}"/>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55A3AC5-6BB3-475B-2175-A40CBF0DAC56}"/>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7373875-8FF7-87E4-57ED-1062A1DC6385}"/>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996135B4-0C16-C581-7CBD-17F1BC7A4415}"/>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4431EC82-89FC-CEDA-0D8E-8945170DE60B}"/>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1242E9F5-FC82-CC29-581B-C48589303AC4}"/>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09A35D1A-A98D-C010-1C6D-325E250EE866}"/>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110A3650-EEAE-870F-F99A-69340FB598CB}"/>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71CC9B2E-BAF7-368A-23B2-F031EA8BDCB7}"/>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487AAD62-4BA1-050D-0E90-46A192E2F417}"/>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640CC244-5B52-9F4A-2957-59493AF50A0D}"/>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055593B4-47A2-9BD0-4AF2-15C7A913745B}"/>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5D7BE8ED-CBC8-C3B5-6DD0-6FF45692825E}"/>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91170FB-ADC8-5CA8-2B70-BB57FC842CBC}"/>
              </a:ext>
            </a:extLst>
          </p:cNvPr>
          <p:cNvSpPr/>
          <p:nvPr/>
        </p:nvSpPr>
        <p:spPr>
          <a:xfrm>
            <a:off x="6631577" y="5413884"/>
            <a:ext cx="5248198" cy="79388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2DD1F7F-0472-41D3-0E7D-852DE88D9114}"/>
              </a:ext>
            </a:extLst>
          </p:cNvPr>
          <p:cNvSpPr/>
          <p:nvPr/>
        </p:nvSpPr>
        <p:spPr>
          <a:xfrm>
            <a:off x="1563086" y="4464536"/>
            <a:ext cx="3687845" cy="1847333"/>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70D8459-1EEE-077B-E6B9-893398A9B252}"/>
              </a:ext>
            </a:extLst>
          </p:cNvPr>
          <p:cNvSpPr/>
          <p:nvPr/>
        </p:nvSpPr>
        <p:spPr>
          <a:xfrm>
            <a:off x="2543659" y="5155987"/>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255F90D-177A-FD46-2E05-6E63D2F465C9}"/>
              </a:ext>
            </a:extLst>
          </p:cNvPr>
          <p:cNvSpPr/>
          <p:nvPr/>
        </p:nvSpPr>
        <p:spPr>
          <a:xfrm>
            <a:off x="4274095" y="5176337"/>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3BA6877-EC35-E809-5423-3BBEB3E479DB}"/>
              </a:ext>
            </a:extLst>
          </p:cNvPr>
          <p:cNvSpPr txBox="1"/>
          <p:nvPr/>
        </p:nvSpPr>
        <p:spPr>
          <a:xfrm rot="1900494">
            <a:off x="11143129" y="3741726"/>
            <a:ext cx="653915" cy="369332"/>
          </a:xfrm>
          <a:prstGeom prst="rect">
            <a:avLst/>
          </a:prstGeom>
          <a:solidFill>
            <a:schemeClr val="accent6"/>
          </a:solidFill>
        </p:spPr>
        <p:txBody>
          <a:bodyPr wrap="square" rtlCol="0">
            <a:spAutoFit/>
          </a:bodyPr>
          <a:lstStyle/>
          <a:p>
            <a:pPr algn="ctr"/>
            <a:r>
              <a:rPr lang="en-US"/>
              <a:t>YES!</a:t>
            </a:r>
          </a:p>
        </p:txBody>
      </p:sp>
      <p:sp>
        <p:nvSpPr>
          <p:cNvPr id="27" name="TextBox 26">
            <a:extLst>
              <a:ext uri="{FF2B5EF4-FFF2-40B4-BE49-F238E27FC236}">
                <a16:creationId xmlns:a16="http://schemas.microsoft.com/office/drawing/2014/main" id="{A7FBCD78-8184-B1E1-1C5D-7DDC4D84E77C}"/>
              </a:ext>
            </a:extLst>
          </p:cNvPr>
          <p:cNvSpPr txBox="1"/>
          <p:nvPr/>
        </p:nvSpPr>
        <p:spPr>
          <a:xfrm rot="1900494">
            <a:off x="11385318" y="5100524"/>
            <a:ext cx="653915" cy="369332"/>
          </a:xfrm>
          <a:prstGeom prst="rect">
            <a:avLst/>
          </a:prstGeom>
          <a:solidFill>
            <a:schemeClr val="accent6"/>
          </a:solidFill>
        </p:spPr>
        <p:txBody>
          <a:bodyPr wrap="square" rtlCol="0">
            <a:spAutoFit/>
          </a:bodyPr>
          <a:lstStyle/>
          <a:p>
            <a:pPr algn="ctr"/>
            <a:r>
              <a:rPr lang="en-US"/>
              <a:t>YES!</a:t>
            </a:r>
          </a:p>
        </p:txBody>
      </p:sp>
    </p:spTree>
    <p:extLst>
      <p:ext uri="{BB962C8B-B14F-4D97-AF65-F5344CB8AC3E}">
        <p14:creationId xmlns:p14="http://schemas.microsoft.com/office/powerpoint/2010/main" val="15796437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7CF25-A9EB-7DF5-B111-A10DB8C3C7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608ABBD-CC9D-364A-34AF-BFFBD1E38907}"/>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3A8FE93C-0DBB-7895-D2D8-7059F4C0D090}"/>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912B919-F516-17CC-1D79-303C4EE727A0}"/>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D3B497AF-DA70-3663-84A7-714096C2D0CE}"/>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880A50FD-B278-9F9D-A53D-7BA5954E37D2}"/>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B2AA488-2754-9123-E473-09241B96DBD5}"/>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90EE8D45-71AA-6B65-8ED6-A932291ABF2A}"/>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1F637656-A75D-27DD-8632-817D89F62EEC}"/>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6AD257A-6FC7-CCBB-0704-84F84B6494C6}"/>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CAD09B1-F201-BB7D-5375-10A3D24A3D68}"/>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E87A59DD-FCA4-06D1-ECB6-4940AFD88E06}"/>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2AE6AC40-11EF-B5FF-492E-3DF1E685D83A}"/>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2DF3D1EC-E335-1928-B505-7AC6935A1A46}"/>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0A2F1384-C836-2C31-3F4F-98BB62630204}"/>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E55BA3DD-610C-74B9-3C01-5DB4621BF0B2}"/>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E0820E14-EE08-B180-F7BB-381C8525CA80}"/>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0BAA4E4F-0439-A75D-EB07-BD584F38677E}"/>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0F8122A1-E615-0773-9B06-7267277F4D8F}"/>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34F893A9-5268-8224-7CAE-FA1FA306B30E}"/>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0B97173F-FAAD-7E2F-2D6A-2EFB428B68EB}"/>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A7987F9-37DC-2BA7-10A5-B1AC247803A3}"/>
              </a:ext>
            </a:extLst>
          </p:cNvPr>
          <p:cNvSpPr txBox="1"/>
          <p:nvPr/>
        </p:nvSpPr>
        <p:spPr>
          <a:xfrm rot="1900494">
            <a:off x="11143129" y="3741726"/>
            <a:ext cx="653915" cy="369332"/>
          </a:xfrm>
          <a:prstGeom prst="rect">
            <a:avLst/>
          </a:prstGeom>
          <a:solidFill>
            <a:schemeClr val="accent6"/>
          </a:solidFill>
        </p:spPr>
        <p:txBody>
          <a:bodyPr wrap="square" rtlCol="0">
            <a:spAutoFit/>
          </a:bodyPr>
          <a:lstStyle/>
          <a:p>
            <a:pPr algn="ctr"/>
            <a:r>
              <a:rPr lang="en-US"/>
              <a:t>YES!</a:t>
            </a:r>
          </a:p>
        </p:txBody>
      </p:sp>
      <p:sp>
        <p:nvSpPr>
          <p:cNvPr id="27" name="TextBox 26">
            <a:extLst>
              <a:ext uri="{FF2B5EF4-FFF2-40B4-BE49-F238E27FC236}">
                <a16:creationId xmlns:a16="http://schemas.microsoft.com/office/drawing/2014/main" id="{368EEC5C-8A9A-F1C9-6ADD-016EF3F3D6A9}"/>
              </a:ext>
            </a:extLst>
          </p:cNvPr>
          <p:cNvSpPr txBox="1"/>
          <p:nvPr/>
        </p:nvSpPr>
        <p:spPr>
          <a:xfrm rot="1900494">
            <a:off x="11385318" y="5100524"/>
            <a:ext cx="653915" cy="369332"/>
          </a:xfrm>
          <a:prstGeom prst="rect">
            <a:avLst/>
          </a:prstGeom>
          <a:solidFill>
            <a:schemeClr val="accent6"/>
          </a:solidFill>
        </p:spPr>
        <p:txBody>
          <a:bodyPr wrap="square" rtlCol="0">
            <a:spAutoFit/>
          </a:bodyPr>
          <a:lstStyle/>
          <a:p>
            <a:pPr algn="ctr"/>
            <a:r>
              <a:rPr lang="en-US"/>
              <a:t>YES!</a:t>
            </a:r>
          </a:p>
        </p:txBody>
      </p:sp>
    </p:spTree>
    <p:extLst>
      <p:ext uri="{BB962C8B-B14F-4D97-AF65-F5344CB8AC3E}">
        <p14:creationId xmlns:p14="http://schemas.microsoft.com/office/powerpoint/2010/main" val="12516513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FDAB6-2D05-EFE8-D2FD-C29FBA0213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12CC54-2DC4-0F43-292F-E1F804216293}"/>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FFA42665-55F3-6C90-D216-D40CD0FB23B3}"/>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B59FAED-FFCF-CC54-53A7-07A1316A4984}"/>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72C317EE-EED0-8D82-731C-1F53DC9CFBED}"/>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C5F1CB02-2B0B-01AC-5410-704A8331720B}"/>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5DA4C2D-84BF-337D-868A-FF23EB6FFE39}"/>
              </a:ext>
            </a:extLst>
          </p:cNvPr>
          <p:cNvSpPr txBox="1"/>
          <p:nvPr/>
        </p:nvSpPr>
        <p:spPr>
          <a:xfrm>
            <a:off x="6548846" y="2717074"/>
            <a:ext cx="5248198" cy="3416320"/>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impose embargoes a Nash Equilibrium?</a:t>
            </a:r>
          </a:p>
          <a:p>
            <a:endParaRPr lang="en-US" b="1">
              <a:solidFill>
                <a:schemeClr val="bg1"/>
              </a:solidFill>
            </a:endParaRPr>
          </a:p>
          <a:p>
            <a:r>
              <a:rPr lang="en-US" i="1">
                <a:solidFill>
                  <a:schemeClr val="bg1"/>
                </a:solidFill>
              </a:rPr>
              <a:t>Yes if...</a:t>
            </a:r>
          </a:p>
          <a:p>
            <a:endParaRPr lang="en-US" i="1">
              <a:solidFill>
                <a:schemeClr val="bg1"/>
              </a:solidFill>
            </a:endParaRPr>
          </a:p>
          <a:p>
            <a:r>
              <a:rPr lang="en-US" i="1">
                <a:solidFill>
                  <a:schemeClr val="bg1"/>
                </a:solidFill>
              </a:rPr>
              <a:t>+ </a:t>
            </a:r>
            <a:r>
              <a:rPr lang="en-US">
                <a:solidFill>
                  <a:schemeClr val="bg1"/>
                </a:solidFill>
              </a:rPr>
              <a:t>imposing an embargo is a best response by B to the expectation that A will impose an embargo</a:t>
            </a:r>
          </a:p>
          <a:p>
            <a:endParaRPr lang="en-US" i="1">
              <a:solidFill>
                <a:schemeClr val="bg1"/>
              </a:solidFill>
            </a:endParaRPr>
          </a:p>
          <a:p>
            <a:r>
              <a:rPr lang="en-US" i="1">
                <a:solidFill>
                  <a:schemeClr val="bg1"/>
                </a:solidFill>
              </a:rPr>
              <a:t>AND</a:t>
            </a:r>
          </a:p>
          <a:p>
            <a:endParaRPr lang="en-US" i="1">
              <a:solidFill>
                <a:schemeClr val="bg1"/>
              </a:solidFill>
            </a:endParaRPr>
          </a:p>
          <a:p>
            <a:r>
              <a:rPr lang="en-US" i="1">
                <a:solidFill>
                  <a:schemeClr val="bg1"/>
                </a:solidFill>
              </a:rPr>
              <a:t>+ imposing an embargo is a best response by A to the expectation that B will impose an embargo.</a:t>
            </a:r>
          </a:p>
        </p:txBody>
      </p:sp>
      <p:sp>
        <p:nvSpPr>
          <p:cNvPr id="8" name="Rectangle 7">
            <a:extLst>
              <a:ext uri="{FF2B5EF4-FFF2-40B4-BE49-F238E27FC236}">
                <a16:creationId xmlns:a16="http://schemas.microsoft.com/office/drawing/2014/main" id="{4B947D59-4582-E955-D84E-450E9B21332E}"/>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F9C2802-308A-4973-B169-CEAD565305CB}"/>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6D3EDD3-12F4-2BEB-5FC6-88D7D55EB737}"/>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C93A506-90C7-57AF-122A-59660F2D5888}"/>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6C8B885B-6FEB-AAB6-1A83-F9DF85650B5B}"/>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8C92EBB4-9D3A-76CC-FD53-5C022EA54737}"/>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687785DE-8FD9-8C2A-305A-86A777EB3726}"/>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F22A5EFA-92EF-D266-F247-3DB2D85599D6}"/>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49BDC3C2-535A-9464-F5C9-624F175CAE74}"/>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31E50E54-72C7-AA0C-3C62-E0E3EF5A105A}"/>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EB94756B-E34D-933F-A21F-55EFEA6C02FF}"/>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4BD62289-DC68-B6B5-D30A-52C86C1CD83A}"/>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E8FE2D68-A0DC-561A-B058-AA0D89EB77A8}"/>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81FC9B97-3AF6-46F6-05E0-6DB2173B274F}"/>
              </a:ext>
            </a:extLst>
          </p:cNvPr>
          <p:cNvSpPr/>
          <p:nvPr/>
        </p:nvSpPr>
        <p:spPr>
          <a:xfrm>
            <a:off x="3396006" y="4495131"/>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AE3DCCA-A5B1-7260-4EDD-53AEBE3F426B}"/>
              </a:ext>
            </a:extLst>
          </p:cNvPr>
          <p:cNvSpPr txBox="1"/>
          <p:nvPr/>
        </p:nvSpPr>
        <p:spPr>
          <a:xfrm rot="1900494">
            <a:off x="11143129" y="3741726"/>
            <a:ext cx="653915" cy="369332"/>
          </a:xfrm>
          <a:prstGeom prst="rect">
            <a:avLst/>
          </a:prstGeom>
          <a:solidFill>
            <a:schemeClr val="accent6"/>
          </a:solidFill>
        </p:spPr>
        <p:txBody>
          <a:bodyPr wrap="square" rtlCol="0">
            <a:spAutoFit/>
          </a:bodyPr>
          <a:lstStyle/>
          <a:p>
            <a:pPr algn="ctr"/>
            <a:r>
              <a:rPr lang="en-US"/>
              <a:t>YES!</a:t>
            </a:r>
          </a:p>
        </p:txBody>
      </p:sp>
      <p:sp>
        <p:nvSpPr>
          <p:cNvPr id="27" name="TextBox 26">
            <a:extLst>
              <a:ext uri="{FF2B5EF4-FFF2-40B4-BE49-F238E27FC236}">
                <a16:creationId xmlns:a16="http://schemas.microsoft.com/office/drawing/2014/main" id="{AF13D4A0-A756-EA4D-549A-B0576FDF72D3}"/>
              </a:ext>
            </a:extLst>
          </p:cNvPr>
          <p:cNvSpPr txBox="1"/>
          <p:nvPr/>
        </p:nvSpPr>
        <p:spPr>
          <a:xfrm rot="1900494">
            <a:off x="11385318" y="5100524"/>
            <a:ext cx="653915" cy="369332"/>
          </a:xfrm>
          <a:prstGeom prst="rect">
            <a:avLst/>
          </a:prstGeom>
          <a:solidFill>
            <a:schemeClr val="accent6"/>
          </a:solidFill>
        </p:spPr>
        <p:txBody>
          <a:bodyPr wrap="square" rtlCol="0">
            <a:spAutoFit/>
          </a:bodyPr>
          <a:lstStyle/>
          <a:p>
            <a:pPr algn="ctr"/>
            <a:r>
              <a:rPr lang="en-US"/>
              <a:t>YES!</a:t>
            </a:r>
          </a:p>
        </p:txBody>
      </p:sp>
      <p:sp>
        <p:nvSpPr>
          <p:cNvPr id="22" name="TextBox 21">
            <a:extLst>
              <a:ext uri="{FF2B5EF4-FFF2-40B4-BE49-F238E27FC236}">
                <a16:creationId xmlns:a16="http://schemas.microsoft.com/office/drawing/2014/main" id="{9D720FDB-D832-7FF0-7033-707C76B71348}"/>
              </a:ext>
            </a:extLst>
          </p:cNvPr>
          <p:cNvSpPr txBox="1"/>
          <p:nvPr/>
        </p:nvSpPr>
        <p:spPr>
          <a:xfrm rot="1900494">
            <a:off x="9620293" y="3084039"/>
            <a:ext cx="653915" cy="369332"/>
          </a:xfrm>
          <a:prstGeom prst="rect">
            <a:avLst/>
          </a:prstGeom>
          <a:solidFill>
            <a:schemeClr val="accent6"/>
          </a:solidFill>
        </p:spPr>
        <p:txBody>
          <a:bodyPr wrap="square" rtlCol="0">
            <a:spAutoFit/>
          </a:bodyPr>
          <a:lstStyle/>
          <a:p>
            <a:pPr algn="ctr"/>
            <a:r>
              <a:rPr lang="en-US"/>
              <a:t>YES!</a:t>
            </a:r>
          </a:p>
        </p:txBody>
      </p:sp>
    </p:spTree>
    <p:extLst>
      <p:ext uri="{BB962C8B-B14F-4D97-AF65-F5344CB8AC3E}">
        <p14:creationId xmlns:p14="http://schemas.microsoft.com/office/powerpoint/2010/main" val="10798652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B30D3-000C-ECE0-260C-A74F6728D3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CB561A-C77C-B4E7-1F08-F539B87041A7}"/>
              </a:ext>
            </a:extLst>
          </p:cNvPr>
          <p:cNvSpPr txBox="1"/>
          <p:nvPr/>
        </p:nvSpPr>
        <p:spPr>
          <a:xfrm>
            <a:off x="235130" y="226423"/>
            <a:ext cx="2542903" cy="461665"/>
          </a:xfrm>
          <a:prstGeom prst="rect">
            <a:avLst/>
          </a:prstGeom>
          <a:noFill/>
        </p:spPr>
        <p:txBody>
          <a:bodyPr wrap="square" rtlCol="0">
            <a:spAutoFit/>
          </a:bodyPr>
          <a:lstStyle/>
          <a:p>
            <a:r>
              <a:rPr lang="en-US" sz="2400" b="1" u="sng">
                <a:solidFill>
                  <a:schemeClr val="accent2"/>
                </a:solidFill>
              </a:rPr>
              <a:t>Nash Equilibrium</a:t>
            </a:r>
          </a:p>
        </p:txBody>
      </p:sp>
      <p:sp>
        <p:nvSpPr>
          <p:cNvPr id="3" name="Rectangle 2">
            <a:extLst>
              <a:ext uri="{FF2B5EF4-FFF2-40B4-BE49-F238E27FC236}">
                <a16:creationId xmlns:a16="http://schemas.microsoft.com/office/drawing/2014/main" id="{71A54E66-5E3D-3586-7F0B-09D169605284}"/>
              </a:ext>
            </a:extLst>
          </p:cNvPr>
          <p:cNvSpPr/>
          <p:nvPr/>
        </p:nvSpPr>
        <p:spPr>
          <a:xfrm>
            <a:off x="6096000" y="0"/>
            <a:ext cx="6095987" cy="685799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9F233DD-4A25-F821-430B-93E7A6EA95D2}"/>
              </a:ext>
            </a:extLst>
          </p:cNvPr>
          <p:cNvSpPr txBox="1"/>
          <p:nvPr/>
        </p:nvSpPr>
        <p:spPr>
          <a:xfrm>
            <a:off x="6714309" y="930702"/>
            <a:ext cx="5082735" cy="1200329"/>
          </a:xfrm>
          <a:prstGeom prst="rect">
            <a:avLst/>
          </a:prstGeom>
          <a:noFill/>
        </p:spPr>
        <p:txBody>
          <a:bodyPr wrap="square" rtlCol="0">
            <a:spAutoFit/>
          </a:bodyPr>
          <a:lstStyle/>
          <a:p>
            <a:r>
              <a:rPr lang="en-US">
                <a:solidFill>
                  <a:schemeClr val="accent1">
                    <a:lumMod val="75000"/>
                  </a:schemeClr>
                </a:solidFill>
              </a:rPr>
              <a:t>A profile is a Nash Equilibrium if each action in the profile is a best response by the person taking the action to the expectation that everyone else in the game takes the actions listed for them in the profile.</a:t>
            </a:r>
          </a:p>
        </p:txBody>
      </p:sp>
      <p:sp>
        <p:nvSpPr>
          <p:cNvPr id="5" name="TextBox 4">
            <a:extLst>
              <a:ext uri="{FF2B5EF4-FFF2-40B4-BE49-F238E27FC236}">
                <a16:creationId xmlns:a16="http://schemas.microsoft.com/office/drawing/2014/main" id="{7987664E-1DC5-3660-232E-D28B2D63DAAE}"/>
              </a:ext>
            </a:extLst>
          </p:cNvPr>
          <p:cNvSpPr txBox="1"/>
          <p:nvPr/>
        </p:nvSpPr>
        <p:spPr>
          <a:xfrm>
            <a:off x="7225930" y="429343"/>
            <a:ext cx="3836126" cy="369332"/>
          </a:xfrm>
          <a:prstGeom prst="rect">
            <a:avLst/>
          </a:prstGeom>
          <a:noFill/>
        </p:spPr>
        <p:txBody>
          <a:bodyPr wrap="square" rtlCol="0">
            <a:spAutoFit/>
          </a:bodyPr>
          <a:lstStyle/>
          <a:p>
            <a:pPr algn="ctr"/>
            <a:r>
              <a:rPr lang="en-US">
                <a:solidFill>
                  <a:schemeClr val="accent1">
                    <a:lumMod val="75000"/>
                  </a:schemeClr>
                </a:solidFill>
              </a:rPr>
              <a:t>Definition: </a:t>
            </a:r>
            <a:r>
              <a:rPr lang="en-US" b="1">
                <a:solidFill>
                  <a:schemeClr val="accent1">
                    <a:lumMod val="75000"/>
                  </a:schemeClr>
                </a:solidFill>
              </a:rPr>
              <a:t>Nash Equilibrium</a:t>
            </a:r>
          </a:p>
        </p:txBody>
      </p:sp>
      <p:sp>
        <p:nvSpPr>
          <p:cNvPr id="6" name="Rectangle 5">
            <a:extLst>
              <a:ext uri="{FF2B5EF4-FFF2-40B4-BE49-F238E27FC236}">
                <a16:creationId xmlns:a16="http://schemas.microsoft.com/office/drawing/2014/main" id="{B39E2335-0C19-2FAB-059A-1503475F339E}"/>
              </a:ext>
            </a:extLst>
          </p:cNvPr>
          <p:cNvSpPr/>
          <p:nvPr/>
        </p:nvSpPr>
        <p:spPr>
          <a:xfrm>
            <a:off x="6278880" y="2412274"/>
            <a:ext cx="5808617" cy="43368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0419484-8066-EE1E-A560-95C0399B52A8}"/>
              </a:ext>
            </a:extLst>
          </p:cNvPr>
          <p:cNvSpPr txBox="1"/>
          <p:nvPr/>
        </p:nvSpPr>
        <p:spPr>
          <a:xfrm>
            <a:off x="6548846" y="2717074"/>
            <a:ext cx="5248198" cy="1477328"/>
          </a:xfrm>
          <a:prstGeom prst="rect">
            <a:avLst/>
          </a:prstGeom>
          <a:noFill/>
        </p:spPr>
        <p:txBody>
          <a:bodyPr wrap="square" rtlCol="0">
            <a:spAutoFit/>
          </a:bodyPr>
          <a:lstStyle/>
          <a:p>
            <a:r>
              <a:rPr lang="en-US" b="1">
                <a:solidFill>
                  <a:schemeClr val="bg1"/>
                </a:solidFill>
              </a:rPr>
              <a:t>EXAMPLE: </a:t>
            </a:r>
            <a:r>
              <a:rPr lang="en-US">
                <a:solidFill>
                  <a:schemeClr val="bg1"/>
                </a:solidFill>
              </a:rPr>
              <a:t>Is the profile in which both A and B do not impose embargoes a Nash Equilibrium?</a:t>
            </a:r>
          </a:p>
          <a:p>
            <a:endParaRPr lang="en-US" b="1">
              <a:solidFill>
                <a:schemeClr val="bg1"/>
              </a:solidFill>
            </a:endParaRPr>
          </a:p>
          <a:p>
            <a:endParaRPr lang="en-US" b="1">
              <a:solidFill>
                <a:schemeClr val="bg1"/>
              </a:solidFill>
            </a:endParaRPr>
          </a:p>
          <a:p>
            <a:r>
              <a:rPr lang="en-US" i="1">
                <a:solidFill>
                  <a:schemeClr val="bg1"/>
                </a:solidFill>
              </a:rPr>
              <a:t>left as an exercise</a:t>
            </a:r>
          </a:p>
        </p:txBody>
      </p:sp>
      <p:sp>
        <p:nvSpPr>
          <p:cNvPr id="8" name="Rectangle 7">
            <a:extLst>
              <a:ext uri="{FF2B5EF4-FFF2-40B4-BE49-F238E27FC236}">
                <a16:creationId xmlns:a16="http://schemas.microsoft.com/office/drawing/2014/main" id="{CDB50498-2C57-B3A3-7D41-42FAE6551E82}"/>
              </a:ext>
            </a:extLst>
          </p:cNvPr>
          <p:cNvSpPr/>
          <p:nvPr/>
        </p:nvSpPr>
        <p:spPr>
          <a:xfrm>
            <a:off x="1528857" y="2649583"/>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A7F66C01-9BEF-3466-CA31-E1996CC775DD}"/>
              </a:ext>
            </a:extLst>
          </p:cNvPr>
          <p:cNvCxnSpPr>
            <a:stCxn id="8" idx="0"/>
            <a:endCxn id="8" idx="2"/>
          </p:cNvCxnSpPr>
          <p:nvPr/>
        </p:nvCxnSpPr>
        <p:spPr>
          <a:xfrm>
            <a:off x="3383783" y="2649583"/>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464FFCD-E970-239A-45F7-5C909A89D235}"/>
              </a:ext>
            </a:extLst>
          </p:cNvPr>
          <p:cNvCxnSpPr>
            <a:stCxn id="8" idx="1"/>
            <a:endCxn id="8" idx="3"/>
          </p:cNvCxnSpPr>
          <p:nvPr/>
        </p:nvCxnSpPr>
        <p:spPr>
          <a:xfrm>
            <a:off x="1528857" y="4474029"/>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1C75A3C-2715-5CB7-83A4-DC06AF50E99F}"/>
              </a:ext>
            </a:extLst>
          </p:cNvPr>
          <p:cNvSpPr txBox="1"/>
          <p:nvPr/>
        </p:nvSpPr>
        <p:spPr>
          <a:xfrm>
            <a:off x="2229897" y="1484700"/>
            <a:ext cx="2185852" cy="369332"/>
          </a:xfrm>
          <a:prstGeom prst="rect">
            <a:avLst/>
          </a:prstGeom>
          <a:noFill/>
        </p:spPr>
        <p:txBody>
          <a:bodyPr wrap="square" rtlCol="0">
            <a:spAutoFit/>
          </a:bodyPr>
          <a:lstStyle/>
          <a:p>
            <a:pPr algn="ctr"/>
            <a:r>
              <a:rPr lang="en-US">
                <a:solidFill>
                  <a:schemeClr val="accent3"/>
                </a:solidFill>
              </a:rPr>
              <a:t>leader A</a:t>
            </a:r>
          </a:p>
        </p:txBody>
      </p:sp>
      <p:sp>
        <p:nvSpPr>
          <p:cNvPr id="12" name="TextBox 11">
            <a:extLst>
              <a:ext uri="{FF2B5EF4-FFF2-40B4-BE49-F238E27FC236}">
                <a16:creationId xmlns:a16="http://schemas.microsoft.com/office/drawing/2014/main" id="{099CF36D-AF3F-27B6-6D48-EA62DDB6E95B}"/>
              </a:ext>
            </a:extLst>
          </p:cNvPr>
          <p:cNvSpPr txBox="1"/>
          <p:nvPr/>
        </p:nvSpPr>
        <p:spPr>
          <a:xfrm rot="16200000">
            <a:off x="-673129" y="4378234"/>
            <a:ext cx="2185852" cy="369332"/>
          </a:xfrm>
          <a:prstGeom prst="rect">
            <a:avLst/>
          </a:prstGeom>
          <a:noFill/>
        </p:spPr>
        <p:txBody>
          <a:bodyPr wrap="square" rtlCol="0">
            <a:spAutoFit/>
          </a:bodyPr>
          <a:lstStyle/>
          <a:p>
            <a:pPr algn="ctr"/>
            <a:r>
              <a:rPr lang="en-US">
                <a:solidFill>
                  <a:schemeClr val="accent3"/>
                </a:solidFill>
              </a:rPr>
              <a:t>leader B</a:t>
            </a:r>
          </a:p>
        </p:txBody>
      </p:sp>
      <p:sp>
        <p:nvSpPr>
          <p:cNvPr id="13" name="TextBox 12">
            <a:extLst>
              <a:ext uri="{FF2B5EF4-FFF2-40B4-BE49-F238E27FC236}">
                <a16:creationId xmlns:a16="http://schemas.microsoft.com/office/drawing/2014/main" id="{24C35049-16BB-E715-B056-BB0E7921CB47}"/>
              </a:ext>
            </a:extLst>
          </p:cNvPr>
          <p:cNvSpPr txBox="1"/>
          <p:nvPr/>
        </p:nvSpPr>
        <p:spPr>
          <a:xfrm rot="16200000">
            <a:off x="72738" y="3429838"/>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14" name="TextBox 13">
            <a:extLst>
              <a:ext uri="{FF2B5EF4-FFF2-40B4-BE49-F238E27FC236}">
                <a16:creationId xmlns:a16="http://schemas.microsoft.com/office/drawing/2014/main" id="{AAC2224D-D27D-C93D-A9C3-41349397F9F5}"/>
              </a:ext>
            </a:extLst>
          </p:cNvPr>
          <p:cNvSpPr txBox="1"/>
          <p:nvPr/>
        </p:nvSpPr>
        <p:spPr>
          <a:xfrm rot="16200000">
            <a:off x="109866" y="5194271"/>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15" name="TextBox 14">
            <a:extLst>
              <a:ext uri="{FF2B5EF4-FFF2-40B4-BE49-F238E27FC236}">
                <a16:creationId xmlns:a16="http://schemas.microsoft.com/office/drawing/2014/main" id="{7574DD13-98EC-8AF9-9990-55E2AE90B547}"/>
              </a:ext>
            </a:extLst>
          </p:cNvPr>
          <p:cNvSpPr txBox="1"/>
          <p:nvPr/>
        </p:nvSpPr>
        <p:spPr>
          <a:xfrm>
            <a:off x="1968637" y="3372394"/>
            <a:ext cx="1001484" cy="369332"/>
          </a:xfrm>
          <a:prstGeom prst="rect">
            <a:avLst/>
          </a:prstGeom>
          <a:noFill/>
        </p:spPr>
        <p:txBody>
          <a:bodyPr wrap="square" rtlCol="0">
            <a:spAutoFit/>
          </a:bodyPr>
          <a:lstStyle/>
          <a:p>
            <a:pPr algn="ctr"/>
            <a:r>
              <a:rPr lang="en-US"/>
              <a:t>(0,0)</a:t>
            </a:r>
          </a:p>
        </p:txBody>
      </p:sp>
      <p:sp>
        <p:nvSpPr>
          <p:cNvPr id="16" name="TextBox 15">
            <a:extLst>
              <a:ext uri="{FF2B5EF4-FFF2-40B4-BE49-F238E27FC236}">
                <a16:creationId xmlns:a16="http://schemas.microsoft.com/office/drawing/2014/main" id="{B7C5568B-40B0-8E27-8C0A-6F9D4FE0AC4E}"/>
              </a:ext>
            </a:extLst>
          </p:cNvPr>
          <p:cNvSpPr txBox="1"/>
          <p:nvPr/>
        </p:nvSpPr>
        <p:spPr>
          <a:xfrm>
            <a:off x="3801795" y="5208117"/>
            <a:ext cx="1001484" cy="369332"/>
          </a:xfrm>
          <a:prstGeom prst="rect">
            <a:avLst/>
          </a:prstGeom>
          <a:noFill/>
        </p:spPr>
        <p:txBody>
          <a:bodyPr wrap="square" rtlCol="0">
            <a:spAutoFit/>
          </a:bodyPr>
          <a:lstStyle/>
          <a:p>
            <a:pPr algn="ctr"/>
            <a:r>
              <a:rPr lang="en-US"/>
              <a:t>(10,10)</a:t>
            </a:r>
          </a:p>
        </p:txBody>
      </p:sp>
      <p:sp>
        <p:nvSpPr>
          <p:cNvPr id="17" name="TextBox 16">
            <a:extLst>
              <a:ext uri="{FF2B5EF4-FFF2-40B4-BE49-F238E27FC236}">
                <a16:creationId xmlns:a16="http://schemas.microsoft.com/office/drawing/2014/main" id="{10590D61-7287-8A58-8C3E-98FE018A527F}"/>
              </a:ext>
            </a:extLst>
          </p:cNvPr>
          <p:cNvSpPr txBox="1"/>
          <p:nvPr/>
        </p:nvSpPr>
        <p:spPr>
          <a:xfrm>
            <a:off x="1968637" y="5194271"/>
            <a:ext cx="1001484" cy="369332"/>
          </a:xfrm>
          <a:prstGeom prst="rect">
            <a:avLst/>
          </a:prstGeom>
          <a:noFill/>
        </p:spPr>
        <p:txBody>
          <a:bodyPr wrap="square" rtlCol="0">
            <a:spAutoFit/>
          </a:bodyPr>
          <a:lstStyle/>
          <a:p>
            <a:pPr algn="ctr"/>
            <a:r>
              <a:rPr lang="en-US"/>
              <a:t>(-20,0)</a:t>
            </a:r>
          </a:p>
        </p:txBody>
      </p:sp>
      <p:sp>
        <p:nvSpPr>
          <p:cNvPr id="18" name="TextBox 17">
            <a:extLst>
              <a:ext uri="{FF2B5EF4-FFF2-40B4-BE49-F238E27FC236}">
                <a16:creationId xmlns:a16="http://schemas.microsoft.com/office/drawing/2014/main" id="{FE859292-9EB7-A92F-D88B-2D90B7780930}"/>
              </a:ext>
            </a:extLst>
          </p:cNvPr>
          <p:cNvSpPr txBox="1"/>
          <p:nvPr/>
        </p:nvSpPr>
        <p:spPr>
          <a:xfrm>
            <a:off x="3817424" y="3383672"/>
            <a:ext cx="1001484" cy="369332"/>
          </a:xfrm>
          <a:prstGeom prst="rect">
            <a:avLst/>
          </a:prstGeom>
          <a:noFill/>
        </p:spPr>
        <p:txBody>
          <a:bodyPr wrap="square" rtlCol="0">
            <a:spAutoFit/>
          </a:bodyPr>
          <a:lstStyle/>
          <a:p>
            <a:pPr algn="ctr"/>
            <a:r>
              <a:rPr lang="en-US"/>
              <a:t>(0,-20)</a:t>
            </a:r>
          </a:p>
        </p:txBody>
      </p:sp>
      <p:sp>
        <p:nvSpPr>
          <p:cNvPr id="19" name="TextBox 18">
            <a:extLst>
              <a:ext uri="{FF2B5EF4-FFF2-40B4-BE49-F238E27FC236}">
                <a16:creationId xmlns:a16="http://schemas.microsoft.com/office/drawing/2014/main" id="{8C17AD97-A9F1-4062-E2CB-FD22FA39B295}"/>
              </a:ext>
            </a:extLst>
          </p:cNvPr>
          <p:cNvSpPr txBox="1"/>
          <p:nvPr/>
        </p:nvSpPr>
        <p:spPr>
          <a:xfrm>
            <a:off x="3225240" y="2104405"/>
            <a:ext cx="2185852" cy="369332"/>
          </a:xfrm>
          <a:prstGeom prst="rect">
            <a:avLst/>
          </a:prstGeom>
          <a:noFill/>
        </p:spPr>
        <p:txBody>
          <a:bodyPr wrap="square" rtlCol="0">
            <a:spAutoFit/>
          </a:bodyPr>
          <a:lstStyle/>
          <a:p>
            <a:pPr algn="ctr"/>
            <a:r>
              <a:rPr lang="en-US">
                <a:solidFill>
                  <a:schemeClr val="accent3"/>
                </a:solidFill>
              </a:rPr>
              <a:t>impose embargo</a:t>
            </a:r>
          </a:p>
        </p:txBody>
      </p:sp>
      <p:sp>
        <p:nvSpPr>
          <p:cNvPr id="20" name="TextBox 19">
            <a:extLst>
              <a:ext uri="{FF2B5EF4-FFF2-40B4-BE49-F238E27FC236}">
                <a16:creationId xmlns:a16="http://schemas.microsoft.com/office/drawing/2014/main" id="{2CFEE5F5-9D7C-8814-F148-D7705342E37F}"/>
              </a:ext>
            </a:extLst>
          </p:cNvPr>
          <p:cNvSpPr txBox="1"/>
          <p:nvPr/>
        </p:nvSpPr>
        <p:spPr>
          <a:xfrm>
            <a:off x="1376453" y="1989852"/>
            <a:ext cx="2185852" cy="646331"/>
          </a:xfrm>
          <a:prstGeom prst="rect">
            <a:avLst/>
          </a:prstGeom>
          <a:noFill/>
        </p:spPr>
        <p:txBody>
          <a:bodyPr wrap="square" rtlCol="0">
            <a:spAutoFit/>
          </a:bodyPr>
          <a:lstStyle/>
          <a:p>
            <a:pPr algn="ctr"/>
            <a:r>
              <a:rPr lang="en-US">
                <a:solidFill>
                  <a:schemeClr val="accent3"/>
                </a:solidFill>
              </a:rPr>
              <a:t>do not impose embrago</a:t>
            </a:r>
          </a:p>
        </p:txBody>
      </p:sp>
      <p:sp>
        <p:nvSpPr>
          <p:cNvPr id="21" name="Rectangle 20">
            <a:extLst>
              <a:ext uri="{FF2B5EF4-FFF2-40B4-BE49-F238E27FC236}">
                <a16:creationId xmlns:a16="http://schemas.microsoft.com/office/drawing/2014/main" id="{A2C1ACCD-2AB3-8CD1-EA89-1D966C76EA8A}"/>
              </a:ext>
            </a:extLst>
          </p:cNvPr>
          <p:cNvSpPr/>
          <p:nvPr/>
        </p:nvSpPr>
        <p:spPr>
          <a:xfrm>
            <a:off x="1570338" y="2649583"/>
            <a:ext cx="1894948" cy="1837509"/>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07167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4A4160-4856-BEA0-9D4E-DF3CE94BE5EF}"/>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FEE7933E-8F6F-99DF-055C-18AFC9E89EC8}"/>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5E32BBFF-BAAF-3B92-1FD7-00305CFBE0BB}"/>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516330E-B09A-B2D3-1232-DC77D284BBE0}"/>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BDC3CF6-C345-1B94-D177-C702EBED6DD9}"/>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D2D92FC9-476C-53E8-2EBC-065E678DA209}"/>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F932B2A7-7B9C-4005-FDD3-4F9AA92FDBAB}"/>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4BDCC979-15D5-7811-684F-689CBEF37AD8}"/>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46CD6751-CFB8-6CEC-58E7-6AFCE39AC957}"/>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9630F055-7177-6B45-7327-7B6653AAB199}"/>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A3D9EDCE-99A4-95A8-EE9E-44525EF8EC8F}"/>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4E74FDFD-BDEC-6BE0-5A55-9EEA6D2FB1B6}"/>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85E95536-C80D-DDC4-B790-836034EDF6D2}"/>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339F2824-664E-D134-6493-900CCA7AAF6D}"/>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Tree>
    <p:extLst>
      <p:ext uri="{BB962C8B-B14F-4D97-AF65-F5344CB8AC3E}">
        <p14:creationId xmlns:p14="http://schemas.microsoft.com/office/powerpoint/2010/main" val="36726155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E96C9-BCE8-FF24-ACC0-39BD178509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F75494-5A08-144C-5C09-6ACBFF8736E8}"/>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9DC27D33-3C10-7C31-BF59-C18C1E12ED8B}"/>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0184BD2B-F3B7-D6AE-E897-F55488C3799A}"/>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4E4F61F-8E77-B487-4A17-B0DC23751A33}"/>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D57B753-D730-A6A2-BC29-BFFB4AE07188}"/>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5790C5DA-E733-E9D5-1387-5F2FF9EDC8EF}"/>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35219B93-4263-6DEE-F052-C57EA952B717}"/>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894FDD65-EEED-2DCB-A2BC-B4A428B4D29E}"/>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678FF340-2B80-D0A8-2AA1-D756EE7ADDBA}"/>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16481499-A412-E500-96A1-BE6533D665B1}"/>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AE1E682C-95DE-3DC0-811C-74BB9F6E5F13}"/>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68B4958C-8791-0848-C69A-168BFAF59130}"/>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897948CA-C007-0901-AA42-82C7C30D3674}"/>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C63CBAE1-2931-9E7E-AD1A-139FFD7DE90E}"/>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8E0E4CB6-7AA0-5B6F-F4DE-186110F018CA}"/>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Tree>
    <p:extLst>
      <p:ext uri="{BB962C8B-B14F-4D97-AF65-F5344CB8AC3E}">
        <p14:creationId xmlns:p14="http://schemas.microsoft.com/office/powerpoint/2010/main" val="181821662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3BA3D-E11F-50F8-8D70-7E596545EA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2F6863-C8DC-1FAB-266D-FC7C7FFE999B}"/>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0C8D9F07-1700-DB7E-D378-AEA2664BFBE5}"/>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996A7C00-6527-9EA5-B53F-EAF3A9ED8A22}"/>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F070766-09F4-5B3A-7E88-9FBB0593105C}"/>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93B2B34-C6CB-C753-FFEA-1C335DDCA6C7}"/>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BA3EA558-5BD7-9E98-8003-83B364CFD269}"/>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D881697B-0800-1834-9893-9218FF5A7825}"/>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CF207AF2-DCFB-8442-280B-23FEFABF0EEF}"/>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B3014DDF-B280-2DE5-0871-5C819B30A412}"/>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A4053BC9-09A5-8087-45FA-22E9D9B81E69}"/>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52EA7D87-FD69-C7FD-1074-4428BAE28F75}"/>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6763B764-9ECB-7360-2350-723F9C687699}"/>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F0727142-9775-E311-4FAB-072C9823E6D8}"/>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AF10DAD8-F5D1-9C7C-8C63-6EA12F2C538C}"/>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E492A85D-056F-3D43-B49F-1E937DBE9331}"/>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D03A9207-BA50-A436-4FEB-1633B7593A00}"/>
              </a:ext>
            </a:extLst>
          </p:cNvPr>
          <p:cNvSpPr/>
          <p:nvPr/>
        </p:nvSpPr>
        <p:spPr>
          <a:xfrm>
            <a:off x="7001435" y="788809"/>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92588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69FD0-3260-E875-2A1F-797B0988CF4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CCE213-EAEC-7D8E-466E-8FEDF456374B}"/>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356B665E-E8D0-714B-F4E9-D5561BC8C5BC}"/>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BAD17C9E-0E4F-015D-82A7-E9C19A7CBE95}"/>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A15FDEE-3309-CD92-8004-03696EE6CA1B}"/>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6131A9C-DB14-AE7F-4037-D624BD559175}"/>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0653AB2A-D7BB-D581-5AD0-CB78DE15210A}"/>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D742D31A-494E-E691-987B-DAE2F7CA72CE}"/>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9629B0DC-0DE9-F1A5-8614-31997A861E3F}"/>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B8F95C5E-7782-C965-8D72-9A5E5837846A}"/>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484E5635-4679-704D-F759-46C2D1A8F407}"/>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31470F9D-3BE0-B776-AA1F-B039531959F7}"/>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183EB34F-9B7C-8FD8-59B7-B4D9CC9156BB}"/>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B29396EB-6361-C787-2303-C7206A3DC88E}"/>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96B00636-196A-F64E-D013-B8001D09C907}"/>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43A15F8C-D8A8-607E-7EC5-C6A2D80D6295}"/>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82B2641B-DAEB-1CE4-0561-27207F1F429B}"/>
              </a:ext>
            </a:extLst>
          </p:cNvPr>
          <p:cNvSpPr/>
          <p:nvPr/>
        </p:nvSpPr>
        <p:spPr>
          <a:xfrm>
            <a:off x="7001435" y="788809"/>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1568C9D-B6D9-6A14-1B3E-0199F0D9A423}"/>
              </a:ext>
            </a:extLst>
          </p:cNvPr>
          <p:cNvSpPr/>
          <p:nvPr/>
        </p:nvSpPr>
        <p:spPr>
          <a:xfrm>
            <a:off x="2296097" y="2610451"/>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68707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98B6A-3609-8109-F054-856F35BA44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4C9965-E64A-7824-473B-5D2CF376D6F7}"/>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DAD76DA4-9C31-C725-846F-55F088E7D35D}"/>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C2E84893-E4D5-9827-E60E-CB45917A1FF3}"/>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C367B8-8A43-D4C6-E3DA-B9D4791DB16C}"/>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635A29D-4FC3-1C0C-AC42-30276D0479D4}"/>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6D2838E9-26A0-AA43-E76A-6106A0F18D93}"/>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3DAA47E7-DEBA-3A6F-CA2F-4DD3590B5943}"/>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4DF2497C-B63A-09B1-ADF6-9849F95F075E}"/>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AADDF927-A51A-F480-5E72-E91FD5F8FBE4}"/>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D1CC26E4-643B-A7AC-8777-DF177322F3E3}"/>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CEEB8A32-FF28-D21D-2E26-724D54C0180E}"/>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BAC33262-C097-13E8-A776-0504A2B914E4}"/>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4CEFDF3E-7474-B2FC-D762-AE8A69785748}"/>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C774CC4F-4B5E-ACC9-144C-D21F295BCC96}"/>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1C24E794-E968-3138-5BAA-414632AE3141}"/>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23530601-00BE-0F7A-91D6-4A73D5B270D9}"/>
              </a:ext>
            </a:extLst>
          </p:cNvPr>
          <p:cNvSpPr/>
          <p:nvPr/>
        </p:nvSpPr>
        <p:spPr>
          <a:xfrm>
            <a:off x="7001435" y="788809"/>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047C9BC-B4D9-5977-693B-555D72F779D1}"/>
              </a:ext>
            </a:extLst>
          </p:cNvPr>
          <p:cNvSpPr/>
          <p:nvPr/>
        </p:nvSpPr>
        <p:spPr>
          <a:xfrm>
            <a:off x="2296097" y="2610451"/>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FC93566-FA44-792A-A19A-487C665011E6}"/>
              </a:ext>
            </a:extLst>
          </p:cNvPr>
          <p:cNvSpPr/>
          <p:nvPr/>
        </p:nvSpPr>
        <p:spPr>
          <a:xfrm>
            <a:off x="1847498" y="1950813"/>
            <a:ext cx="3709852" cy="1832933"/>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46C1C2D-2E68-7D5B-EB44-E5CEA30A5E32}"/>
              </a:ext>
            </a:extLst>
          </p:cNvPr>
          <p:cNvSpPr/>
          <p:nvPr/>
        </p:nvSpPr>
        <p:spPr>
          <a:xfrm>
            <a:off x="2751399" y="2620554"/>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42370C51-2552-F0A1-A7E8-6AA422C891C5}"/>
              </a:ext>
            </a:extLst>
          </p:cNvPr>
          <p:cNvSpPr/>
          <p:nvPr/>
        </p:nvSpPr>
        <p:spPr>
          <a:xfrm>
            <a:off x="4580648" y="2633978"/>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62111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39387-C9C4-77B5-25B5-CDB96DDE11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1BC62B2-1903-1ACE-1D7A-DE9BF98F0B2B}"/>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AF9674D5-2131-AB35-7CA8-320C7108DED7}"/>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AED0C4EC-3FBC-35A8-3007-4A7EB88C3BB3}"/>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C43E0B9-1EC8-08C2-9011-F9A9E73A31F9}"/>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4147805-198F-F5B8-1148-6658D2BB01AC}"/>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46B1A642-B952-C293-96CE-433B2369A78E}"/>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B743ACE6-F88D-18A6-3235-4CD46C0D56FB}"/>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C7713285-B279-95B3-ACC6-C535C2A95FB8}"/>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C00F0A6D-9B1E-55A7-72B0-AD057DE9F503}"/>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8278965A-3A36-A1FB-49EB-2350E6E89C83}"/>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6A7DE116-7E0E-F14B-F3A8-B1B2F0171E00}"/>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81F2DF97-C8D1-EF0A-34B8-D3E09A79DD09}"/>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21189FDE-4310-CDF8-0C0F-6A0862929B91}"/>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C817281C-C892-1B41-F94C-F9367C0DCC53}"/>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503267A8-0B8A-C3AE-CBD3-2DA296C94778}"/>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7A5B2054-763F-CD3B-2C45-AF00F7124A71}"/>
              </a:ext>
            </a:extLst>
          </p:cNvPr>
          <p:cNvSpPr/>
          <p:nvPr/>
        </p:nvSpPr>
        <p:spPr>
          <a:xfrm>
            <a:off x="7001435" y="788809"/>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1EAF4A4-FB02-C501-90E4-770DF5B03A17}"/>
              </a:ext>
            </a:extLst>
          </p:cNvPr>
          <p:cNvSpPr/>
          <p:nvPr/>
        </p:nvSpPr>
        <p:spPr>
          <a:xfrm>
            <a:off x="2296097" y="2610451"/>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2235823-C80B-682E-7715-C70D3F35FB27}"/>
              </a:ext>
            </a:extLst>
          </p:cNvPr>
          <p:cNvSpPr/>
          <p:nvPr/>
        </p:nvSpPr>
        <p:spPr>
          <a:xfrm>
            <a:off x="1847498" y="1950813"/>
            <a:ext cx="3709852" cy="1832933"/>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7E2ACF5-7DCA-4A5D-B569-991413B9635E}"/>
              </a:ext>
            </a:extLst>
          </p:cNvPr>
          <p:cNvSpPr/>
          <p:nvPr/>
        </p:nvSpPr>
        <p:spPr>
          <a:xfrm>
            <a:off x="2751399" y="2620554"/>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3B894922-D0F7-DD5D-00EB-9CFD222A1615}"/>
              </a:ext>
            </a:extLst>
          </p:cNvPr>
          <p:cNvSpPr/>
          <p:nvPr/>
        </p:nvSpPr>
        <p:spPr>
          <a:xfrm>
            <a:off x="4580648" y="2633978"/>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C3A9009D-E6A9-7A72-0709-2810CD4CBA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spTree>
    <p:extLst>
      <p:ext uri="{BB962C8B-B14F-4D97-AF65-F5344CB8AC3E}">
        <p14:creationId xmlns:p14="http://schemas.microsoft.com/office/powerpoint/2010/main" val="25649060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93176-E215-A18D-5D02-590257D1B8E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1416565-2694-5528-3B7D-CABBB086B972}"/>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BD746E8D-8739-DD7E-8974-195DAFF638A2}"/>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90588055-67B1-B754-25C1-D19EA284AE38}"/>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7624DB7-FD0F-CC72-120A-9D1292B20A54}"/>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14840D6-0CEF-CB59-54F9-2B7B2F1C671E}"/>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FF38B673-9CBA-462C-3ECC-34E3478500CD}"/>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04668FE5-477B-9962-390A-9B0460BCE0EC}"/>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9E3A1C5F-0C68-2113-19B3-5F8D479CCCE0}"/>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6EBC3CE4-62F8-151D-C6F3-36845D2562E8}"/>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B77AA1F5-3F19-E64A-02FA-89B16743DDCF}"/>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7954F6D8-E277-BE1E-F012-ECEACBAFC1BB}"/>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24253022-421F-F3B4-4E34-42B274FCAE05}"/>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BC4D8DC3-D135-5AA6-D85F-DEC782152A44}"/>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C9E1B211-D8DE-FF23-E0D3-50B29C572EC1}"/>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1B6FC75F-A920-A2C7-5426-2EE16330372E}"/>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340EC90C-6B5A-261E-9E26-194B390A7DB6}"/>
              </a:ext>
            </a:extLst>
          </p:cNvPr>
          <p:cNvSpPr/>
          <p:nvPr/>
        </p:nvSpPr>
        <p:spPr>
          <a:xfrm>
            <a:off x="7001435" y="1872548"/>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834EEDF-37DD-9385-231D-948267358A2E}"/>
              </a:ext>
            </a:extLst>
          </p:cNvPr>
          <p:cNvSpPr/>
          <p:nvPr/>
        </p:nvSpPr>
        <p:spPr>
          <a:xfrm>
            <a:off x="4199628" y="2628664"/>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765DC8-7E88-F710-3C72-DE425DDA56C9}"/>
              </a:ext>
            </a:extLst>
          </p:cNvPr>
          <p:cNvSpPr/>
          <p:nvPr/>
        </p:nvSpPr>
        <p:spPr>
          <a:xfrm>
            <a:off x="3702422" y="1950813"/>
            <a:ext cx="1854927"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1C74172-95B1-2C3F-F7F1-871246C571CA}"/>
              </a:ext>
            </a:extLst>
          </p:cNvPr>
          <p:cNvSpPr/>
          <p:nvPr/>
        </p:nvSpPr>
        <p:spPr>
          <a:xfrm>
            <a:off x="4395517" y="2619586"/>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1958A4F-B476-BA03-A968-36A9688F5CBB}"/>
              </a:ext>
            </a:extLst>
          </p:cNvPr>
          <p:cNvSpPr/>
          <p:nvPr/>
        </p:nvSpPr>
        <p:spPr>
          <a:xfrm>
            <a:off x="4380990" y="4454146"/>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991A2F1A-ABB3-C585-BD45-38504D7FCC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spTree>
    <p:extLst>
      <p:ext uri="{BB962C8B-B14F-4D97-AF65-F5344CB8AC3E}">
        <p14:creationId xmlns:p14="http://schemas.microsoft.com/office/powerpoint/2010/main" val="31576908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CBC83-11AD-E6EF-C7BC-25289D97D2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6C925D-7DA7-EE88-9F64-EFB4564988FC}"/>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FDC5B111-A0D9-6530-7DE1-4986A097809D}"/>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5E74C722-90E0-DF7F-E303-0846CB1C9412}"/>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E051474-1CDD-9A65-0CD5-6A7A8906E69B}"/>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49D5AEA-936F-A99A-8C81-3271F232DE6F}"/>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EF00B0F1-0431-4B60-5848-6EE3CF9F0A3D}"/>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3050D325-82AB-AA1A-EA01-14815247572A}"/>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D210E902-4A25-F3F4-74EB-0215E10E922A}"/>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4747691D-DE61-6623-2C78-FE93EBC49257}"/>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C340DD21-6557-8E97-E16A-4B9E1E0A61CC}"/>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0A7CFCFA-6FFD-D876-593B-A7BC00F887C2}"/>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487825DF-7154-A834-1999-1D63EFA6D2B4}"/>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DC6A5553-8FDC-98ED-28B2-90711BFCCBF6}"/>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B28D7B0F-3DD3-0536-6ADE-F02FF55B94AA}"/>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9724BC81-CC67-79FF-0CF9-7574F97685E6}"/>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96FE68DC-C366-7121-9C4B-D2BC997E0DF7}"/>
              </a:ext>
            </a:extLst>
          </p:cNvPr>
          <p:cNvSpPr/>
          <p:nvPr/>
        </p:nvSpPr>
        <p:spPr>
          <a:xfrm>
            <a:off x="7001435" y="1872548"/>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0B3AE36-8C55-5375-0E0E-BC1C254D40E4}"/>
              </a:ext>
            </a:extLst>
          </p:cNvPr>
          <p:cNvSpPr/>
          <p:nvPr/>
        </p:nvSpPr>
        <p:spPr>
          <a:xfrm>
            <a:off x="4199628" y="2628664"/>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E276F9-591C-DE12-500C-F7B9D18D78A9}"/>
              </a:ext>
            </a:extLst>
          </p:cNvPr>
          <p:cNvSpPr/>
          <p:nvPr/>
        </p:nvSpPr>
        <p:spPr>
          <a:xfrm>
            <a:off x="3702422" y="1950813"/>
            <a:ext cx="1854927"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6390EFE-DFC2-8438-7DCD-20E2566EF124}"/>
              </a:ext>
            </a:extLst>
          </p:cNvPr>
          <p:cNvSpPr/>
          <p:nvPr/>
        </p:nvSpPr>
        <p:spPr>
          <a:xfrm>
            <a:off x="4395517" y="2619586"/>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8489939-62ED-8AF2-BD5F-FDC24E74E631}"/>
              </a:ext>
            </a:extLst>
          </p:cNvPr>
          <p:cNvSpPr/>
          <p:nvPr/>
        </p:nvSpPr>
        <p:spPr>
          <a:xfrm>
            <a:off x="4380990" y="4454146"/>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7AABDDC1-EAAB-EFBD-51D9-D2C3921163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pic>
        <p:nvPicPr>
          <p:cNvPr id="19" name="Graphic 18" descr="Close with solid fill">
            <a:extLst>
              <a:ext uri="{FF2B5EF4-FFF2-40B4-BE49-F238E27FC236}">
                <a16:creationId xmlns:a16="http://schemas.microsoft.com/office/drawing/2014/main" id="{E46065F4-4260-5CD7-F6B7-A44F726B566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1653818"/>
            <a:ext cx="914400" cy="914400"/>
          </a:xfrm>
          <a:prstGeom prst="rect">
            <a:avLst/>
          </a:prstGeom>
        </p:spPr>
      </p:pic>
    </p:spTree>
    <p:extLst>
      <p:ext uri="{BB962C8B-B14F-4D97-AF65-F5344CB8AC3E}">
        <p14:creationId xmlns:p14="http://schemas.microsoft.com/office/powerpoint/2010/main" val="75683462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E8C16-CAA3-D14F-8CB9-7F7D33F57B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430AEC-0656-B840-FA64-6308FBD2718C}"/>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0FCCB392-8255-D71E-3491-2071F233E8EF}"/>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95616FF8-29AF-C342-A052-0082FB6BD3CE}"/>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D223835-07A1-510F-4A76-1E75F682BA44}"/>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0E5CB3D-CE08-C6FD-F251-0555EFAD5A4D}"/>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9864FDE0-7058-4DD2-0CC2-8AE158A74546}"/>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32BE75AB-EEEC-EE2A-0ADE-AA849C5D7FE5}"/>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36882E2E-B73B-AFBF-9F35-4B50A05D11AA}"/>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01084F64-42F9-46C4-C0E3-F7DE40558AEC}"/>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F8D8F283-2D4A-04BE-55B4-CA4D2B2F2EFE}"/>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9D775A4F-7D04-57F3-69E1-CC6D2B4C5C66}"/>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6E0CFF93-446D-5F50-6FC3-986ED3B03957}"/>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814164D8-EFA2-3844-C2B6-B4DB7324E5F3}"/>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B22074AE-CA88-AD7B-DC58-EDB2693FB583}"/>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97BED5D4-83FF-98D3-7CC3-0A312F0A9D0A}"/>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AD1980ED-C021-BA82-E0BF-1321F14B3483}"/>
              </a:ext>
            </a:extLst>
          </p:cNvPr>
          <p:cNvSpPr/>
          <p:nvPr/>
        </p:nvSpPr>
        <p:spPr>
          <a:xfrm>
            <a:off x="7001435" y="2933700"/>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BC1B4B7-7AAF-3A28-193F-F3E097C38E7A}"/>
              </a:ext>
            </a:extLst>
          </p:cNvPr>
          <p:cNvSpPr/>
          <p:nvPr/>
        </p:nvSpPr>
        <p:spPr>
          <a:xfrm>
            <a:off x="2236357" y="4444076"/>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A6CE9D1-AFA4-1813-E382-9BE6C84F91FB}"/>
              </a:ext>
            </a:extLst>
          </p:cNvPr>
          <p:cNvSpPr/>
          <p:nvPr/>
        </p:nvSpPr>
        <p:spPr>
          <a:xfrm>
            <a:off x="1844191" y="1929571"/>
            <a:ext cx="1854927"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E5FBA45-BC4D-890F-ED46-44C0E16A56C4}"/>
              </a:ext>
            </a:extLst>
          </p:cNvPr>
          <p:cNvSpPr/>
          <p:nvPr/>
        </p:nvSpPr>
        <p:spPr>
          <a:xfrm>
            <a:off x="2492980" y="2619749"/>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E69B087-8327-7CDB-4F20-9A747164BD1F}"/>
              </a:ext>
            </a:extLst>
          </p:cNvPr>
          <p:cNvSpPr/>
          <p:nvPr/>
        </p:nvSpPr>
        <p:spPr>
          <a:xfrm>
            <a:off x="2487508" y="4443558"/>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24A375D1-7FAD-A474-63A6-723BAE7F382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pic>
        <p:nvPicPr>
          <p:cNvPr id="19" name="Graphic 18" descr="Close with solid fill">
            <a:extLst>
              <a:ext uri="{FF2B5EF4-FFF2-40B4-BE49-F238E27FC236}">
                <a16:creationId xmlns:a16="http://schemas.microsoft.com/office/drawing/2014/main" id="{CF986A52-5263-B1D7-5913-D577645309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1653818"/>
            <a:ext cx="914400" cy="914400"/>
          </a:xfrm>
          <a:prstGeom prst="rect">
            <a:avLst/>
          </a:prstGeom>
        </p:spPr>
      </p:pic>
    </p:spTree>
    <p:extLst>
      <p:ext uri="{BB962C8B-B14F-4D97-AF65-F5344CB8AC3E}">
        <p14:creationId xmlns:p14="http://schemas.microsoft.com/office/powerpoint/2010/main" val="34142627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27C70-54B6-92FD-11E7-5288AE7161E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394846-ED30-F385-F273-1334260094E4}"/>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D505C543-4086-A745-1F3A-8FC1912B383A}"/>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52C82713-CD98-3CBF-13B8-EA28231F5FCC}"/>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F550095-2B22-32CC-5A2B-58DAB025F5D3}"/>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05ED687-B900-E563-9883-4C98BF084B0B}"/>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ADC471CA-FB1D-48E0-BFB6-88BBE3E830D7}"/>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05A11A15-23A9-5A1B-752C-6B571DE24049}"/>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8E8282AF-408B-3D6C-449D-14367F1F5323}"/>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F83F828E-2197-CC49-6ACC-87BE67A28480}"/>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0A5D33F5-5965-81D9-84F4-6617122FB446}"/>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E7B9864B-9A8B-DFB6-D528-3885B9C51206}"/>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CE164EBB-F855-93ED-15A6-7117160D8513}"/>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F545E8CD-41FD-B500-B085-857EFCD25936}"/>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22C78679-E91D-8BCA-25E5-E7C7B0BFFAAF}"/>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363AC89D-C127-BE53-D852-C3C04706D6C4}"/>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8D22700B-E376-CC2A-E505-9FFCDFA74E4F}"/>
              </a:ext>
            </a:extLst>
          </p:cNvPr>
          <p:cNvSpPr/>
          <p:nvPr/>
        </p:nvSpPr>
        <p:spPr>
          <a:xfrm>
            <a:off x="7001435" y="2933700"/>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6AEB998-B5F1-3DD7-6BAC-718097D42038}"/>
              </a:ext>
            </a:extLst>
          </p:cNvPr>
          <p:cNvSpPr/>
          <p:nvPr/>
        </p:nvSpPr>
        <p:spPr>
          <a:xfrm>
            <a:off x="2236357" y="4444076"/>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40F1271-C253-415D-FD59-76C726913C58}"/>
              </a:ext>
            </a:extLst>
          </p:cNvPr>
          <p:cNvSpPr/>
          <p:nvPr/>
        </p:nvSpPr>
        <p:spPr>
          <a:xfrm>
            <a:off x="1844191" y="1929571"/>
            <a:ext cx="1854927" cy="3648891"/>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36B8660-0EA1-2271-3E39-A7C605F8263E}"/>
              </a:ext>
            </a:extLst>
          </p:cNvPr>
          <p:cNvSpPr/>
          <p:nvPr/>
        </p:nvSpPr>
        <p:spPr>
          <a:xfrm>
            <a:off x="2492980" y="2619749"/>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99B8BDC-8343-2DEE-61EE-8857789F69CD}"/>
              </a:ext>
            </a:extLst>
          </p:cNvPr>
          <p:cNvSpPr/>
          <p:nvPr/>
        </p:nvSpPr>
        <p:spPr>
          <a:xfrm>
            <a:off x="2487508" y="4443558"/>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357BEF69-EF4F-2044-2B08-4642317C2E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pic>
        <p:nvPicPr>
          <p:cNvPr id="19" name="Graphic 18" descr="Close with solid fill">
            <a:extLst>
              <a:ext uri="{FF2B5EF4-FFF2-40B4-BE49-F238E27FC236}">
                <a16:creationId xmlns:a16="http://schemas.microsoft.com/office/drawing/2014/main" id="{531ED4A0-2778-97BC-8900-5F8FEC4376E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1653818"/>
            <a:ext cx="914400" cy="914400"/>
          </a:xfrm>
          <a:prstGeom prst="rect">
            <a:avLst/>
          </a:prstGeom>
        </p:spPr>
      </p:pic>
      <p:pic>
        <p:nvPicPr>
          <p:cNvPr id="24" name="Graphic 23" descr="Close with solid fill">
            <a:extLst>
              <a:ext uri="{FF2B5EF4-FFF2-40B4-BE49-F238E27FC236}">
                <a16:creationId xmlns:a16="http://schemas.microsoft.com/office/drawing/2014/main" id="{152A42AA-0CB1-3917-3D95-6DFA6A27D9D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86185" y="2693390"/>
            <a:ext cx="914400" cy="914400"/>
          </a:xfrm>
          <a:prstGeom prst="rect">
            <a:avLst/>
          </a:prstGeom>
        </p:spPr>
      </p:pic>
    </p:spTree>
    <p:extLst>
      <p:ext uri="{BB962C8B-B14F-4D97-AF65-F5344CB8AC3E}">
        <p14:creationId xmlns:p14="http://schemas.microsoft.com/office/powerpoint/2010/main" val="7906851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EECB5-2557-3410-4F57-BF9520F70F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626067-62E8-6230-E6F3-A7470A3DEC4B}"/>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88FBCA60-FCA4-BFDE-46E1-8BCD9C51288B}"/>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1BC5823F-FB72-8F20-BDA5-135253987155}"/>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5FE07C9-6823-9AD3-ED87-9ED88FCED7DA}"/>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DB02E5E-4B52-632D-9D11-D43C49FC1459}"/>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11C85FEF-0D52-BE69-B748-1D5E75B62031}"/>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05D0D798-D34B-713E-5569-2AD84CBD82FB}"/>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4BF7248D-EF87-D54A-F2A9-DBC0B49B4C4D}"/>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AA409C88-A7FE-DF88-7559-3D8C1A120C8D}"/>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4ABD0214-84EF-4572-9A94-AE96881548C8}"/>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2FA332E9-90ED-5CAD-44AC-5999D5638B5B}"/>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AC8752A5-0A8B-D725-6B67-771109A9A052}"/>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0CE0C660-EC9C-45F2-542B-969CC61F5499}"/>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A77688E2-1FA0-EA59-A3FF-F65A15406F81}"/>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09386A2A-BDEA-6BDA-0042-8B126DCF15EE}"/>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6C52DD70-A18A-3BF9-B90D-6F5322F81571}"/>
              </a:ext>
            </a:extLst>
          </p:cNvPr>
          <p:cNvSpPr/>
          <p:nvPr/>
        </p:nvSpPr>
        <p:spPr>
          <a:xfrm>
            <a:off x="7004741" y="4009473"/>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46A3FA9-B126-6E1C-771D-24B7C07D6259}"/>
              </a:ext>
            </a:extLst>
          </p:cNvPr>
          <p:cNvSpPr/>
          <p:nvPr/>
        </p:nvSpPr>
        <p:spPr>
          <a:xfrm>
            <a:off x="4195974" y="4466938"/>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1D2FE69-86F6-69E3-A4A5-AC7B4F5661A6}"/>
              </a:ext>
            </a:extLst>
          </p:cNvPr>
          <p:cNvSpPr/>
          <p:nvPr/>
        </p:nvSpPr>
        <p:spPr>
          <a:xfrm>
            <a:off x="1844191" y="3795025"/>
            <a:ext cx="3709852" cy="178343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2FFD0DE-82C7-2EE7-F163-0DB5DF851F8E}"/>
              </a:ext>
            </a:extLst>
          </p:cNvPr>
          <p:cNvSpPr/>
          <p:nvPr/>
        </p:nvSpPr>
        <p:spPr>
          <a:xfrm>
            <a:off x="4680723" y="4425765"/>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FA75A67-8677-3D8F-1F39-A1EEE483D59D}"/>
              </a:ext>
            </a:extLst>
          </p:cNvPr>
          <p:cNvSpPr/>
          <p:nvPr/>
        </p:nvSpPr>
        <p:spPr>
          <a:xfrm>
            <a:off x="2678949" y="4412075"/>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42AFC6BD-7CC3-3288-C694-1808F43995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pic>
        <p:nvPicPr>
          <p:cNvPr id="19" name="Graphic 18" descr="Close with solid fill">
            <a:extLst>
              <a:ext uri="{FF2B5EF4-FFF2-40B4-BE49-F238E27FC236}">
                <a16:creationId xmlns:a16="http://schemas.microsoft.com/office/drawing/2014/main" id="{F68310A2-0C73-9796-EEB9-8E66CACF22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1653818"/>
            <a:ext cx="914400" cy="914400"/>
          </a:xfrm>
          <a:prstGeom prst="rect">
            <a:avLst/>
          </a:prstGeom>
        </p:spPr>
      </p:pic>
      <p:pic>
        <p:nvPicPr>
          <p:cNvPr id="24" name="Graphic 23" descr="Close with solid fill">
            <a:extLst>
              <a:ext uri="{FF2B5EF4-FFF2-40B4-BE49-F238E27FC236}">
                <a16:creationId xmlns:a16="http://schemas.microsoft.com/office/drawing/2014/main" id="{DC9C1062-D0BC-10BD-A314-FB6485AF77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86185" y="2693390"/>
            <a:ext cx="914400" cy="914400"/>
          </a:xfrm>
          <a:prstGeom prst="rect">
            <a:avLst/>
          </a:prstGeom>
        </p:spPr>
      </p:pic>
    </p:spTree>
    <p:extLst>
      <p:ext uri="{BB962C8B-B14F-4D97-AF65-F5344CB8AC3E}">
        <p14:creationId xmlns:p14="http://schemas.microsoft.com/office/powerpoint/2010/main" val="16003205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ED7ED-381F-16C1-CD9A-2F96D5366B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2F4133-954A-35CC-E5FA-DADDFDA1F77D}"/>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A300279E-FE39-D5E1-205A-5A612A17CE9A}"/>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A07375BB-A14E-E044-9A46-5A060861B9F6}"/>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BD0E17A-3DB3-6245-3545-4830B57DEE2D}"/>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9AE327B-0F39-3507-D73F-BB182785B03B}"/>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42E3FFDC-CF3C-ADE6-7A68-9EDE87E31E3F}"/>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6D9DA7AE-C021-24C2-940F-D6C06B17BAEF}"/>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E03AA21E-66DE-C581-83F5-34C87A0B3C5A}"/>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0D41C480-9D6D-5A00-2B35-ACDCFE506A1A}"/>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D2E0B648-F3B3-BCC0-282D-09296CC433C2}"/>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C2EC36CA-22BF-E4C9-FA80-CAACD09205D0}"/>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0B26A36B-E4EB-E098-7489-44AF6297A2F8}"/>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2111EF1F-042F-6E7A-2969-B3D193DF9B9A}"/>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54299521-D648-C43F-50DA-65836AE80BA7}"/>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D20495F9-42C0-5773-31AE-18C6B92300B0}"/>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sp>
        <p:nvSpPr>
          <p:cNvPr id="8" name="Rectangle 7">
            <a:extLst>
              <a:ext uri="{FF2B5EF4-FFF2-40B4-BE49-F238E27FC236}">
                <a16:creationId xmlns:a16="http://schemas.microsoft.com/office/drawing/2014/main" id="{53099123-6E30-BC79-5664-F8180209482E}"/>
              </a:ext>
            </a:extLst>
          </p:cNvPr>
          <p:cNvSpPr/>
          <p:nvPr/>
        </p:nvSpPr>
        <p:spPr>
          <a:xfrm>
            <a:off x="7004741" y="4009473"/>
            <a:ext cx="5190565"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C386617-BC7B-F94E-FC9F-7AF58D713733}"/>
              </a:ext>
            </a:extLst>
          </p:cNvPr>
          <p:cNvSpPr/>
          <p:nvPr/>
        </p:nvSpPr>
        <p:spPr>
          <a:xfrm>
            <a:off x="4195974" y="4466938"/>
            <a:ext cx="1100837" cy="495300"/>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3005838-688C-4A86-CFFA-0809D27C28F6}"/>
              </a:ext>
            </a:extLst>
          </p:cNvPr>
          <p:cNvSpPr/>
          <p:nvPr/>
        </p:nvSpPr>
        <p:spPr>
          <a:xfrm>
            <a:off x="1844191" y="3795025"/>
            <a:ext cx="3709852" cy="1783437"/>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2E541AA-C769-26F4-0535-A16FA5576547}"/>
              </a:ext>
            </a:extLst>
          </p:cNvPr>
          <p:cNvSpPr/>
          <p:nvPr/>
        </p:nvSpPr>
        <p:spPr>
          <a:xfrm>
            <a:off x="4680723" y="4425765"/>
            <a:ext cx="278674"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63063CD-B3DD-0783-BC6A-1F3EBD218194}"/>
              </a:ext>
            </a:extLst>
          </p:cNvPr>
          <p:cNvSpPr/>
          <p:nvPr/>
        </p:nvSpPr>
        <p:spPr>
          <a:xfrm>
            <a:off x="2678949" y="4412075"/>
            <a:ext cx="338798" cy="475093"/>
          </a:xfrm>
          <a:prstGeom prst="ellipse">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descr="Close with solid fill">
            <a:extLst>
              <a:ext uri="{FF2B5EF4-FFF2-40B4-BE49-F238E27FC236}">
                <a16:creationId xmlns:a16="http://schemas.microsoft.com/office/drawing/2014/main" id="{8CB03AF5-3AC8-02D9-0433-FC60BD3D733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pic>
        <p:nvPicPr>
          <p:cNvPr id="19" name="Graphic 18" descr="Close with solid fill">
            <a:extLst>
              <a:ext uri="{FF2B5EF4-FFF2-40B4-BE49-F238E27FC236}">
                <a16:creationId xmlns:a16="http://schemas.microsoft.com/office/drawing/2014/main" id="{E66037B7-755E-4285-812F-5E52B39EFD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1653818"/>
            <a:ext cx="914400" cy="914400"/>
          </a:xfrm>
          <a:prstGeom prst="rect">
            <a:avLst/>
          </a:prstGeom>
        </p:spPr>
      </p:pic>
      <p:pic>
        <p:nvPicPr>
          <p:cNvPr id="24" name="Graphic 23" descr="Close with solid fill">
            <a:extLst>
              <a:ext uri="{FF2B5EF4-FFF2-40B4-BE49-F238E27FC236}">
                <a16:creationId xmlns:a16="http://schemas.microsoft.com/office/drawing/2014/main" id="{2C84DA01-14A5-95FF-2641-5ED88FF361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86185" y="2693390"/>
            <a:ext cx="914400" cy="914400"/>
          </a:xfrm>
          <a:prstGeom prst="rect">
            <a:avLst/>
          </a:prstGeom>
        </p:spPr>
      </p:pic>
      <p:pic>
        <p:nvPicPr>
          <p:cNvPr id="25" name="Graphic 24" descr="Close with solid fill">
            <a:extLst>
              <a:ext uri="{FF2B5EF4-FFF2-40B4-BE49-F238E27FC236}">
                <a16:creationId xmlns:a16="http://schemas.microsoft.com/office/drawing/2014/main" id="{36DDD71F-F011-CD16-0AA3-9EE2186FD5F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86185" y="3816733"/>
            <a:ext cx="914400" cy="914400"/>
          </a:xfrm>
          <a:prstGeom prst="rect">
            <a:avLst/>
          </a:prstGeom>
        </p:spPr>
      </p:pic>
    </p:spTree>
    <p:extLst>
      <p:ext uri="{BB962C8B-B14F-4D97-AF65-F5344CB8AC3E}">
        <p14:creationId xmlns:p14="http://schemas.microsoft.com/office/powerpoint/2010/main" val="86594092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4149D-C3CE-89E0-2C0A-91000D7DA49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05276E-5D18-44E6-173F-BA41A01CBDDF}"/>
              </a:ext>
            </a:extLst>
          </p:cNvPr>
          <p:cNvSpPr txBox="1"/>
          <p:nvPr/>
        </p:nvSpPr>
        <p:spPr>
          <a:xfrm>
            <a:off x="206188" y="90097"/>
            <a:ext cx="4699176" cy="461665"/>
          </a:xfrm>
          <a:prstGeom prst="rect">
            <a:avLst/>
          </a:prstGeom>
          <a:noFill/>
        </p:spPr>
        <p:txBody>
          <a:bodyPr wrap="square" rtlCol="0">
            <a:spAutoFit/>
          </a:bodyPr>
          <a:lstStyle/>
          <a:p>
            <a:r>
              <a:rPr lang="en-US" sz="2400" u="sng"/>
              <a:t>Another exercise: penalty kicks</a:t>
            </a:r>
          </a:p>
        </p:txBody>
      </p:sp>
      <p:sp>
        <p:nvSpPr>
          <p:cNvPr id="3" name="Rectangle 2">
            <a:extLst>
              <a:ext uri="{FF2B5EF4-FFF2-40B4-BE49-F238E27FC236}">
                <a16:creationId xmlns:a16="http://schemas.microsoft.com/office/drawing/2014/main" id="{F24A45C6-8D7C-EBA3-67A1-129203A31FFF}"/>
              </a:ext>
            </a:extLst>
          </p:cNvPr>
          <p:cNvSpPr/>
          <p:nvPr/>
        </p:nvSpPr>
        <p:spPr>
          <a:xfrm>
            <a:off x="1847497" y="1959301"/>
            <a:ext cx="3709852" cy="3648891"/>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014BDA66-2A46-1474-745B-A1D2D93382A7}"/>
              </a:ext>
            </a:extLst>
          </p:cNvPr>
          <p:cNvCxnSpPr>
            <a:stCxn id="3" idx="0"/>
            <a:endCxn id="3" idx="2"/>
          </p:cNvCxnSpPr>
          <p:nvPr/>
        </p:nvCxnSpPr>
        <p:spPr>
          <a:xfrm>
            <a:off x="3702423" y="1959301"/>
            <a:ext cx="0" cy="364889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4A847F0-CD1D-90C0-31F8-D32BC5D8C27B}"/>
              </a:ext>
            </a:extLst>
          </p:cNvPr>
          <p:cNvCxnSpPr>
            <a:stCxn id="3" idx="1"/>
            <a:endCxn id="3" idx="3"/>
          </p:cNvCxnSpPr>
          <p:nvPr/>
        </p:nvCxnSpPr>
        <p:spPr>
          <a:xfrm>
            <a:off x="1847497" y="3783747"/>
            <a:ext cx="3709852"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2FFAEE4-900D-0974-4EE3-0C03BD1E4952}"/>
              </a:ext>
            </a:extLst>
          </p:cNvPr>
          <p:cNvSpPr txBox="1"/>
          <p:nvPr/>
        </p:nvSpPr>
        <p:spPr>
          <a:xfrm>
            <a:off x="2287277" y="2682112"/>
            <a:ext cx="1001484" cy="369332"/>
          </a:xfrm>
          <a:prstGeom prst="rect">
            <a:avLst/>
          </a:prstGeom>
          <a:noFill/>
        </p:spPr>
        <p:txBody>
          <a:bodyPr wrap="square" rtlCol="0">
            <a:spAutoFit/>
          </a:bodyPr>
          <a:lstStyle/>
          <a:p>
            <a:pPr algn="ctr"/>
            <a:r>
              <a:rPr lang="en-US"/>
              <a:t>(1,0)</a:t>
            </a:r>
          </a:p>
        </p:txBody>
      </p:sp>
      <p:sp>
        <p:nvSpPr>
          <p:cNvPr id="9" name="TextBox 8">
            <a:extLst>
              <a:ext uri="{FF2B5EF4-FFF2-40B4-BE49-F238E27FC236}">
                <a16:creationId xmlns:a16="http://schemas.microsoft.com/office/drawing/2014/main" id="{144E3253-DCBE-EAEE-D52B-192B86E790A5}"/>
              </a:ext>
            </a:extLst>
          </p:cNvPr>
          <p:cNvSpPr txBox="1"/>
          <p:nvPr/>
        </p:nvSpPr>
        <p:spPr>
          <a:xfrm>
            <a:off x="4136064" y="2693390"/>
            <a:ext cx="1001484" cy="369332"/>
          </a:xfrm>
          <a:prstGeom prst="rect">
            <a:avLst/>
          </a:prstGeom>
          <a:noFill/>
        </p:spPr>
        <p:txBody>
          <a:bodyPr wrap="square" rtlCol="0">
            <a:spAutoFit/>
          </a:bodyPr>
          <a:lstStyle/>
          <a:p>
            <a:pPr algn="ctr"/>
            <a:r>
              <a:rPr lang="en-US"/>
              <a:t>(0,1)</a:t>
            </a:r>
          </a:p>
        </p:txBody>
      </p:sp>
      <p:sp>
        <p:nvSpPr>
          <p:cNvPr id="10" name="TextBox 9">
            <a:extLst>
              <a:ext uri="{FF2B5EF4-FFF2-40B4-BE49-F238E27FC236}">
                <a16:creationId xmlns:a16="http://schemas.microsoft.com/office/drawing/2014/main" id="{8F77206D-6744-724C-09CA-F4ECDF0EB0B8}"/>
              </a:ext>
            </a:extLst>
          </p:cNvPr>
          <p:cNvSpPr txBox="1"/>
          <p:nvPr/>
        </p:nvSpPr>
        <p:spPr>
          <a:xfrm>
            <a:off x="2711823" y="1099443"/>
            <a:ext cx="1981200" cy="369332"/>
          </a:xfrm>
          <a:prstGeom prst="rect">
            <a:avLst/>
          </a:prstGeom>
          <a:noFill/>
        </p:spPr>
        <p:txBody>
          <a:bodyPr wrap="square" rtlCol="0">
            <a:spAutoFit/>
          </a:bodyPr>
          <a:lstStyle/>
          <a:p>
            <a:pPr algn="ctr"/>
            <a:r>
              <a:rPr lang="en-US"/>
              <a:t>goalie</a:t>
            </a:r>
          </a:p>
        </p:txBody>
      </p:sp>
      <p:sp>
        <p:nvSpPr>
          <p:cNvPr id="11" name="TextBox 10">
            <a:extLst>
              <a:ext uri="{FF2B5EF4-FFF2-40B4-BE49-F238E27FC236}">
                <a16:creationId xmlns:a16="http://schemas.microsoft.com/office/drawing/2014/main" id="{8AD843AE-2197-BE37-5A39-F96E175CFBFA}"/>
              </a:ext>
            </a:extLst>
          </p:cNvPr>
          <p:cNvSpPr txBox="1"/>
          <p:nvPr/>
        </p:nvSpPr>
        <p:spPr>
          <a:xfrm>
            <a:off x="2107085" y="1514507"/>
            <a:ext cx="1361868" cy="369332"/>
          </a:xfrm>
          <a:prstGeom prst="rect">
            <a:avLst/>
          </a:prstGeom>
          <a:noFill/>
        </p:spPr>
        <p:txBody>
          <a:bodyPr wrap="square" rtlCol="0">
            <a:spAutoFit/>
          </a:bodyPr>
          <a:lstStyle/>
          <a:p>
            <a:pPr algn="ctr"/>
            <a:r>
              <a:rPr lang="en-US"/>
              <a:t>dive left</a:t>
            </a:r>
          </a:p>
        </p:txBody>
      </p:sp>
      <p:sp>
        <p:nvSpPr>
          <p:cNvPr id="12" name="TextBox 11">
            <a:extLst>
              <a:ext uri="{FF2B5EF4-FFF2-40B4-BE49-F238E27FC236}">
                <a16:creationId xmlns:a16="http://schemas.microsoft.com/office/drawing/2014/main" id="{68B98B93-E93E-74B7-D0B2-ACF70D3EF31A}"/>
              </a:ext>
            </a:extLst>
          </p:cNvPr>
          <p:cNvSpPr txBox="1"/>
          <p:nvPr/>
        </p:nvSpPr>
        <p:spPr>
          <a:xfrm>
            <a:off x="3955872" y="1514507"/>
            <a:ext cx="1361868" cy="369332"/>
          </a:xfrm>
          <a:prstGeom prst="rect">
            <a:avLst/>
          </a:prstGeom>
          <a:noFill/>
        </p:spPr>
        <p:txBody>
          <a:bodyPr wrap="square" rtlCol="0">
            <a:spAutoFit/>
          </a:bodyPr>
          <a:lstStyle/>
          <a:p>
            <a:pPr algn="ctr"/>
            <a:r>
              <a:rPr lang="en-US"/>
              <a:t>dive right</a:t>
            </a:r>
          </a:p>
        </p:txBody>
      </p:sp>
      <p:sp>
        <p:nvSpPr>
          <p:cNvPr id="13" name="TextBox 12">
            <a:extLst>
              <a:ext uri="{FF2B5EF4-FFF2-40B4-BE49-F238E27FC236}">
                <a16:creationId xmlns:a16="http://schemas.microsoft.com/office/drawing/2014/main" id="{B5762E5B-A1E0-F809-3F9C-026D02EF94A4}"/>
              </a:ext>
            </a:extLst>
          </p:cNvPr>
          <p:cNvSpPr txBox="1"/>
          <p:nvPr/>
        </p:nvSpPr>
        <p:spPr>
          <a:xfrm rot="16200000">
            <a:off x="-118" y="3488046"/>
            <a:ext cx="1981200" cy="369332"/>
          </a:xfrm>
          <a:prstGeom prst="rect">
            <a:avLst/>
          </a:prstGeom>
          <a:noFill/>
        </p:spPr>
        <p:txBody>
          <a:bodyPr wrap="square" rtlCol="0">
            <a:spAutoFit/>
          </a:bodyPr>
          <a:lstStyle/>
          <a:p>
            <a:pPr algn="ctr"/>
            <a:r>
              <a:rPr lang="en-US"/>
              <a:t>shooter</a:t>
            </a:r>
          </a:p>
        </p:txBody>
      </p:sp>
      <p:sp>
        <p:nvSpPr>
          <p:cNvPr id="14" name="TextBox 13">
            <a:extLst>
              <a:ext uri="{FF2B5EF4-FFF2-40B4-BE49-F238E27FC236}">
                <a16:creationId xmlns:a16="http://schemas.microsoft.com/office/drawing/2014/main" id="{CAE2D692-9876-96C9-4B51-120E1C8A2656}"/>
              </a:ext>
            </a:extLst>
          </p:cNvPr>
          <p:cNvSpPr txBox="1"/>
          <p:nvPr/>
        </p:nvSpPr>
        <p:spPr>
          <a:xfrm rot="16200000">
            <a:off x="907876" y="4478646"/>
            <a:ext cx="1361868" cy="369332"/>
          </a:xfrm>
          <a:prstGeom prst="rect">
            <a:avLst/>
          </a:prstGeom>
          <a:noFill/>
        </p:spPr>
        <p:txBody>
          <a:bodyPr wrap="square" rtlCol="0">
            <a:spAutoFit/>
          </a:bodyPr>
          <a:lstStyle/>
          <a:p>
            <a:pPr algn="ctr"/>
            <a:r>
              <a:rPr lang="en-US"/>
              <a:t>shoot left</a:t>
            </a:r>
          </a:p>
        </p:txBody>
      </p:sp>
      <p:sp>
        <p:nvSpPr>
          <p:cNvPr id="15" name="TextBox 14">
            <a:extLst>
              <a:ext uri="{FF2B5EF4-FFF2-40B4-BE49-F238E27FC236}">
                <a16:creationId xmlns:a16="http://schemas.microsoft.com/office/drawing/2014/main" id="{66487DFF-2C9C-93EB-C7EA-0FB3BDAB4AC5}"/>
              </a:ext>
            </a:extLst>
          </p:cNvPr>
          <p:cNvSpPr txBox="1"/>
          <p:nvPr/>
        </p:nvSpPr>
        <p:spPr>
          <a:xfrm rot="16200000">
            <a:off x="907373" y="2682112"/>
            <a:ext cx="1361868" cy="369332"/>
          </a:xfrm>
          <a:prstGeom prst="rect">
            <a:avLst/>
          </a:prstGeom>
          <a:noFill/>
        </p:spPr>
        <p:txBody>
          <a:bodyPr wrap="square" rtlCol="0">
            <a:spAutoFit/>
          </a:bodyPr>
          <a:lstStyle/>
          <a:p>
            <a:pPr algn="ctr"/>
            <a:r>
              <a:rPr lang="en-US"/>
              <a:t>shoot right</a:t>
            </a:r>
          </a:p>
        </p:txBody>
      </p:sp>
      <p:sp>
        <p:nvSpPr>
          <p:cNvPr id="16" name="TextBox 15">
            <a:extLst>
              <a:ext uri="{FF2B5EF4-FFF2-40B4-BE49-F238E27FC236}">
                <a16:creationId xmlns:a16="http://schemas.microsoft.com/office/drawing/2014/main" id="{A81A6FAD-023B-4ABA-22BA-92E966400E4A}"/>
              </a:ext>
            </a:extLst>
          </p:cNvPr>
          <p:cNvSpPr txBox="1"/>
          <p:nvPr/>
        </p:nvSpPr>
        <p:spPr>
          <a:xfrm>
            <a:off x="2274218" y="4504773"/>
            <a:ext cx="1001484" cy="369332"/>
          </a:xfrm>
          <a:prstGeom prst="rect">
            <a:avLst/>
          </a:prstGeom>
          <a:noFill/>
        </p:spPr>
        <p:txBody>
          <a:bodyPr wrap="square" rtlCol="0">
            <a:spAutoFit/>
          </a:bodyPr>
          <a:lstStyle/>
          <a:p>
            <a:pPr algn="ctr"/>
            <a:r>
              <a:rPr lang="en-US"/>
              <a:t>(0,1)</a:t>
            </a:r>
          </a:p>
        </p:txBody>
      </p:sp>
      <p:sp>
        <p:nvSpPr>
          <p:cNvPr id="17" name="TextBox 16">
            <a:extLst>
              <a:ext uri="{FF2B5EF4-FFF2-40B4-BE49-F238E27FC236}">
                <a16:creationId xmlns:a16="http://schemas.microsoft.com/office/drawing/2014/main" id="{D58F513B-FC1F-D6CD-5F0F-CE64A8D776DB}"/>
              </a:ext>
            </a:extLst>
          </p:cNvPr>
          <p:cNvSpPr txBox="1"/>
          <p:nvPr/>
        </p:nvSpPr>
        <p:spPr>
          <a:xfrm>
            <a:off x="4192281" y="4489166"/>
            <a:ext cx="1001484" cy="369332"/>
          </a:xfrm>
          <a:prstGeom prst="rect">
            <a:avLst/>
          </a:prstGeom>
          <a:noFill/>
        </p:spPr>
        <p:txBody>
          <a:bodyPr wrap="square" rtlCol="0">
            <a:spAutoFit/>
          </a:bodyPr>
          <a:lstStyle/>
          <a:p>
            <a:pPr algn="ctr"/>
            <a:r>
              <a:rPr lang="en-US"/>
              <a:t>(1,0)</a:t>
            </a:r>
          </a:p>
        </p:txBody>
      </p:sp>
      <p:sp>
        <p:nvSpPr>
          <p:cNvPr id="7" name="TextBox 6">
            <a:extLst>
              <a:ext uri="{FF2B5EF4-FFF2-40B4-BE49-F238E27FC236}">
                <a16:creationId xmlns:a16="http://schemas.microsoft.com/office/drawing/2014/main" id="{0F225E0C-DACE-364E-7440-D4964756140D}"/>
              </a:ext>
            </a:extLst>
          </p:cNvPr>
          <p:cNvSpPr txBox="1"/>
          <p:nvPr/>
        </p:nvSpPr>
        <p:spPr>
          <a:xfrm>
            <a:off x="7001435" y="0"/>
            <a:ext cx="5190565" cy="6858000"/>
          </a:xfrm>
          <a:prstGeom prst="rect">
            <a:avLst/>
          </a:prstGeom>
          <a:solidFill>
            <a:schemeClr val="tx2"/>
          </a:solidFill>
        </p:spPr>
        <p:txBody>
          <a:bodyPr wrap="square" rtlCol="0">
            <a:noAutofit/>
          </a:bodyPr>
          <a:lstStyle/>
          <a:p>
            <a:r>
              <a:rPr lang="en-US" b="1">
                <a:solidFill>
                  <a:schemeClr val="bg1"/>
                </a:solidFill>
              </a:rPr>
              <a:t>Which profiles are Nash Equilibria?</a:t>
            </a:r>
          </a:p>
          <a:p>
            <a:endParaRPr lang="en-US">
              <a:solidFill>
                <a:schemeClr val="bg1"/>
              </a:solidFill>
            </a:endParaRPr>
          </a:p>
          <a:p>
            <a:endParaRPr lang="en-US">
              <a:solidFill>
                <a:schemeClr val="bg1"/>
              </a:solidFill>
            </a:endParaRPr>
          </a:p>
          <a:p>
            <a:r>
              <a:rPr lang="en-US">
                <a:solidFill>
                  <a:schemeClr val="bg1"/>
                </a:solidFill>
              </a:rPr>
              <a:t>(shoot right,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right, dive right)?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left)?</a:t>
            </a:r>
          </a:p>
          <a:p>
            <a:endParaRPr lang="en-US">
              <a:solidFill>
                <a:schemeClr val="bg1"/>
              </a:solidFill>
            </a:endParaRPr>
          </a:p>
          <a:p>
            <a:endParaRPr lang="en-US">
              <a:solidFill>
                <a:schemeClr val="bg1"/>
              </a:solidFill>
            </a:endParaRPr>
          </a:p>
          <a:p>
            <a:endParaRPr lang="en-US">
              <a:solidFill>
                <a:schemeClr val="bg1"/>
              </a:solidFill>
            </a:endParaRPr>
          </a:p>
          <a:p>
            <a:r>
              <a:rPr lang="en-US">
                <a:solidFill>
                  <a:schemeClr val="bg1"/>
                </a:solidFill>
              </a:rPr>
              <a:t>(shoot left, dive right)?</a:t>
            </a:r>
          </a:p>
        </p:txBody>
      </p:sp>
      <p:pic>
        <p:nvPicPr>
          <p:cNvPr id="23" name="Graphic 22" descr="Close with solid fill">
            <a:extLst>
              <a:ext uri="{FF2B5EF4-FFF2-40B4-BE49-F238E27FC236}">
                <a16:creationId xmlns:a16="http://schemas.microsoft.com/office/drawing/2014/main" id="{F618E49D-C3D7-E57D-0B96-B8E789514A4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369709"/>
            <a:ext cx="914400" cy="914400"/>
          </a:xfrm>
          <a:prstGeom prst="rect">
            <a:avLst/>
          </a:prstGeom>
        </p:spPr>
      </p:pic>
      <p:pic>
        <p:nvPicPr>
          <p:cNvPr id="19" name="Graphic 18" descr="Close with solid fill">
            <a:extLst>
              <a:ext uri="{FF2B5EF4-FFF2-40B4-BE49-F238E27FC236}">
                <a16:creationId xmlns:a16="http://schemas.microsoft.com/office/drawing/2014/main" id="{8750E065-2B45-1BCA-4B3C-D8A2A9B9EA6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2850" y="1653818"/>
            <a:ext cx="914400" cy="914400"/>
          </a:xfrm>
          <a:prstGeom prst="rect">
            <a:avLst/>
          </a:prstGeom>
        </p:spPr>
      </p:pic>
      <p:pic>
        <p:nvPicPr>
          <p:cNvPr id="24" name="Graphic 23" descr="Close with solid fill">
            <a:extLst>
              <a:ext uri="{FF2B5EF4-FFF2-40B4-BE49-F238E27FC236}">
                <a16:creationId xmlns:a16="http://schemas.microsoft.com/office/drawing/2014/main" id="{EB133262-6F6E-8208-F81E-E393EE8C48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86185" y="2693390"/>
            <a:ext cx="914400" cy="914400"/>
          </a:xfrm>
          <a:prstGeom prst="rect">
            <a:avLst/>
          </a:prstGeom>
        </p:spPr>
      </p:pic>
      <p:pic>
        <p:nvPicPr>
          <p:cNvPr id="25" name="Graphic 24" descr="Close with solid fill">
            <a:extLst>
              <a:ext uri="{FF2B5EF4-FFF2-40B4-BE49-F238E27FC236}">
                <a16:creationId xmlns:a16="http://schemas.microsoft.com/office/drawing/2014/main" id="{10455457-0FF9-113B-C46C-135632222D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86185" y="3816733"/>
            <a:ext cx="914400" cy="914400"/>
          </a:xfrm>
          <a:prstGeom prst="rect">
            <a:avLst/>
          </a:prstGeom>
        </p:spPr>
      </p:pic>
    </p:spTree>
    <p:extLst>
      <p:ext uri="{BB962C8B-B14F-4D97-AF65-F5344CB8AC3E}">
        <p14:creationId xmlns:p14="http://schemas.microsoft.com/office/powerpoint/2010/main" val="1968507010"/>
      </p:ext>
    </p:extLst>
  </p:cSld>
  <p:clrMapOvr>
    <a:masterClrMapping/>
  </p:clrMapOvr>
</p:sld>
</file>

<file path=ppt/theme/theme1.xml><?xml version="1.0" encoding="utf-8"?>
<a:theme xmlns:a="http://schemas.openxmlformats.org/drawingml/2006/main" name="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299</TotalTime>
  <Words>9019</Words>
  <Application>Microsoft Office PowerPoint</Application>
  <PresentationFormat>Widescreen</PresentationFormat>
  <Paragraphs>1662</Paragraphs>
  <Slides>94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94</vt:i4>
      </vt:variant>
    </vt:vector>
  </HeadingPairs>
  <TitlesOfParts>
    <vt:vector size="9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Jordan, Stuart</dc:creator>
  <cp:lastModifiedBy>Jordan, Stuart</cp:lastModifiedBy>
  <cp:revision>1</cp:revision>
  <dcterms:created xsi:type="dcterms:W3CDTF">2023-11-28T14:48:39Z</dcterms:created>
  <dcterms:modified xsi:type="dcterms:W3CDTF">2026-04-14T13:46:16Z</dcterms:modified>
</cp:coreProperties>
</file>